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9" r:id="rId4"/>
    <p:sldId id="329" r:id="rId5"/>
    <p:sldId id="277" r:id="rId6"/>
    <p:sldId id="278" r:id="rId7"/>
    <p:sldId id="283" r:id="rId8"/>
    <p:sldId id="298" r:id="rId9"/>
    <p:sldId id="299" r:id="rId10"/>
    <p:sldId id="300" r:id="rId11"/>
    <p:sldId id="301" r:id="rId12"/>
    <p:sldId id="302" r:id="rId13"/>
    <p:sldId id="303" r:id="rId14"/>
    <p:sldId id="330" r:id="rId15"/>
    <p:sldId id="331" r:id="rId16"/>
    <p:sldId id="309" r:id="rId17"/>
    <p:sldId id="310" r:id="rId18"/>
    <p:sldId id="311" r:id="rId19"/>
    <p:sldId id="312" r:id="rId20"/>
    <p:sldId id="313" r:id="rId21"/>
    <p:sldId id="314" r:id="rId22"/>
    <p:sldId id="316" r:id="rId23"/>
    <p:sldId id="317" r:id="rId24"/>
    <p:sldId id="327" r:id="rId25"/>
    <p:sldId id="318" r:id="rId26"/>
    <p:sldId id="319" r:id="rId27"/>
    <p:sldId id="320" r:id="rId28"/>
    <p:sldId id="321" r:id="rId29"/>
    <p:sldId id="322" r:id="rId30"/>
    <p:sldId id="323" r:id="rId31"/>
    <p:sldId id="324" r:id="rId32"/>
    <p:sldId id="325" r:id="rId33"/>
    <p:sldId id="326" r:id="rId34"/>
    <p:sldId id="328" r:id="rId35"/>
  </p:sldIdLst>
  <p:sldSz cx="12192000" cy="6858000"/>
  <p:notesSz cx="6858000" cy="9144000"/>
  <p:defaultText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492"/>
    <p:restoredTop sz="85510"/>
  </p:normalViewPr>
  <p:slideViewPr>
    <p:cSldViewPr snapToGrid="0">
      <p:cViewPr varScale="1">
        <p:scale>
          <a:sx n="108" d="100"/>
          <a:sy n="108" d="100"/>
        </p:scale>
        <p:origin x="80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8C1B42-17CE-6849-B5FC-06E078B7C2A5}" type="datetimeFigureOut">
              <a:rPr lang="en-GH" smtClean="0"/>
              <a:t>05/05/2026</a:t>
            </a:fld>
            <a:endParaRPr lang="en-G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ADC1B73-ACB2-D648-A0F7-CEAD4398E83D}" type="slidenum">
              <a:rPr lang="en-GH" smtClean="0"/>
              <a:t>‹#›</a:t>
            </a:fld>
            <a:endParaRPr lang="en-GH"/>
          </a:p>
        </p:txBody>
      </p:sp>
    </p:spTree>
    <p:extLst>
      <p:ext uri="{BB962C8B-B14F-4D97-AF65-F5344CB8AC3E}">
        <p14:creationId xmlns:p14="http://schemas.microsoft.com/office/powerpoint/2010/main" val="932208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6</a:t>
            </a:fld>
            <a:endParaRPr lang="en-GH"/>
          </a:p>
        </p:txBody>
      </p:sp>
    </p:spTree>
    <p:extLst>
      <p:ext uri="{BB962C8B-B14F-4D97-AF65-F5344CB8AC3E}">
        <p14:creationId xmlns:p14="http://schemas.microsoft.com/office/powerpoint/2010/main" val="38675589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Both of these types of antigen receptors are encoded within the immunoglobulin superfamily of genes and are expressed in literally millions of variations in different lymphocytes as a results of a complex and random rearrangement of cells’ DNA.</a:t>
            </a:r>
          </a:p>
        </p:txBody>
      </p:sp>
      <p:sp>
        <p:nvSpPr>
          <p:cNvPr id="4" name="Slide Number Placeholder 3"/>
          <p:cNvSpPr>
            <a:spLocks noGrp="1"/>
          </p:cNvSpPr>
          <p:nvPr>
            <p:ph type="sldNum" sz="quarter" idx="5"/>
          </p:nvPr>
        </p:nvSpPr>
        <p:spPr/>
        <p:txBody>
          <a:bodyPr/>
          <a:lstStyle/>
          <a:p>
            <a:fld id="{1948376D-CC24-F641-A38D-A904C20580D9}" type="slidenum">
              <a:rPr lang="en-GH" smtClean="0"/>
              <a:t>7</a:t>
            </a:fld>
            <a:endParaRPr lang="en-GH"/>
          </a:p>
        </p:txBody>
      </p:sp>
    </p:spTree>
    <p:extLst>
      <p:ext uri="{BB962C8B-B14F-4D97-AF65-F5344CB8AC3E}">
        <p14:creationId xmlns:p14="http://schemas.microsoft.com/office/powerpoint/2010/main" val="2975984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9</a:t>
            </a:fld>
            <a:endParaRPr lang="en-GH"/>
          </a:p>
        </p:txBody>
      </p:sp>
    </p:spTree>
    <p:extLst>
      <p:ext uri="{BB962C8B-B14F-4D97-AF65-F5344CB8AC3E}">
        <p14:creationId xmlns:p14="http://schemas.microsoft.com/office/powerpoint/2010/main" val="30343949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Th</a:t>
            </a:r>
            <a:r>
              <a:rPr lang="en-GB" dirty="0"/>
              <a:t>e </a:t>
            </a:r>
            <a:r>
              <a:rPr lang="en-GB" dirty="0" err="1"/>
              <a:t>th</a:t>
            </a:r>
            <a:r>
              <a:rPr lang="en-GH" dirty="0"/>
              <a:t>ymus is a bilobed structure located above the heart; it has an outer </a:t>
            </a:r>
            <a:r>
              <a:rPr lang="en-GH" b="1" dirty="0"/>
              <a:t>cortex</a:t>
            </a:r>
            <a:r>
              <a:rPr lang="en-GH" dirty="0"/>
              <a:t> packed with immature T cells and an inner </a:t>
            </a:r>
            <a:r>
              <a:rPr lang="en-GH" b="1" dirty="0"/>
              <a:t>medulla</a:t>
            </a:r>
            <a:r>
              <a:rPr lang="en-GH" dirty="0"/>
              <a:t> into which cells pass as they mature</a:t>
            </a:r>
          </a:p>
          <a:p>
            <a:pPr marL="171450" indent="-171450">
              <a:buFontTx/>
              <a:buChar char="-"/>
            </a:pPr>
            <a:r>
              <a:rPr lang="en-GH" dirty="0"/>
              <a:t>Both the cortex and the medulla are laced with a network of epithelial cells, dendritic cells, and macrophages which interact physically with developing thymocytes</a:t>
            </a:r>
          </a:p>
          <a:p>
            <a:pPr marL="171450" indent="-171450">
              <a:buFontTx/>
              <a:buChar char="-"/>
            </a:pPr>
            <a:endParaRPr lang="en-GH" dirty="0"/>
          </a:p>
          <a:p>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11</a:t>
            </a:fld>
            <a:endParaRPr lang="en-GH"/>
          </a:p>
        </p:txBody>
      </p:sp>
    </p:spTree>
    <p:extLst>
      <p:ext uri="{BB962C8B-B14F-4D97-AF65-F5344CB8AC3E}">
        <p14:creationId xmlns:p14="http://schemas.microsoft.com/office/powerpoint/2010/main" val="11039853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H" dirty="0"/>
          </a:p>
        </p:txBody>
      </p:sp>
      <p:sp>
        <p:nvSpPr>
          <p:cNvPr id="4" name="Slide Number Placeholder 3"/>
          <p:cNvSpPr>
            <a:spLocks noGrp="1"/>
          </p:cNvSpPr>
          <p:nvPr>
            <p:ph type="sldNum" sz="quarter" idx="5"/>
          </p:nvPr>
        </p:nvSpPr>
        <p:spPr/>
        <p:txBody>
          <a:bodyPr/>
          <a:lstStyle/>
          <a:p>
            <a:fld id="{1948376D-CC24-F641-A38D-A904C20580D9}" type="slidenum">
              <a:rPr lang="en-GH" smtClean="0"/>
              <a:t>14</a:t>
            </a:fld>
            <a:endParaRPr lang="en-GH"/>
          </a:p>
        </p:txBody>
      </p:sp>
    </p:spTree>
    <p:extLst>
      <p:ext uri="{BB962C8B-B14F-4D97-AF65-F5344CB8AC3E}">
        <p14:creationId xmlns:p14="http://schemas.microsoft.com/office/powerpoint/2010/main" val="2940762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a:t>
            </a:r>
            <a:r>
              <a:rPr lang="en-GB" dirty="0"/>
              <a:t>The adaptive immune response is initiated once antigen is processed and presented to a T cell</a:t>
            </a:r>
            <a:r>
              <a:rPr lang="en-GH" dirty="0"/>
              <a:t>. These interactions occur within the secondary lymphoid tissue. </a:t>
            </a:r>
          </a:p>
          <a:p>
            <a:r>
              <a:rPr lang="en-GH" dirty="0"/>
              <a:t>- </a:t>
            </a:r>
            <a:r>
              <a:rPr lang="en-GB" dirty="0"/>
              <a:t>T</a:t>
            </a:r>
            <a:r>
              <a:rPr lang="en-GH" dirty="0"/>
              <a:t>he purpose of these interactions is to generate effector cells, which will ultimately result in the elimination of the infection. </a:t>
            </a:r>
          </a:p>
          <a:p>
            <a:r>
              <a:rPr lang="en-GH" dirty="0"/>
              <a:t>- In order to generate specific effector cells, the activation of T cells via the TCR must go through several checkpionts to ensure antigen specificity and eventual T-cell activation. </a:t>
            </a:r>
          </a:p>
        </p:txBody>
      </p:sp>
      <p:sp>
        <p:nvSpPr>
          <p:cNvPr id="4" name="Slide Number Placeholder 3"/>
          <p:cNvSpPr>
            <a:spLocks noGrp="1"/>
          </p:cNvSpPr>
          <p:nvPr>
            <p:ph type="sldNum" sz="quarter" idx="5"/>
          </p:nvPr>
        </p:nvSpPr>
        <p:spPr/>
        <p:txBody>
          <a:bodyPr/>
          <a:lstStyle/>
          <a:p>
            <a:fld id="{77A1988F-3C8E-1D46-A27C-D623101102B5}" type="slidenum">
              <a:rPr lang="en-GH" smtClean="0"/>
              <a:t>17</a:t>
            </a:fld>
            <a:endParaRPr lang="en-GH"/>
          </a:p>
        </p:txBody>
      </p:sp>
    </p:spTree>
    <p:extLst>
      <p:ext uri="{BB962C8B-B14F-4D97-AF65-F5344CB8AC3E}">
        <p14:creationId xmlns:p14="http://schemas.microsoft.com/office/powerpoint/2010/main" val="36041698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Helper T lymphocytes serve as the orchestrators of virtually all the possible effector mechanisms that will arise to destroy the pathogen. </a:t>
            </a:r>
          </a:p>
          <a:p>
            <a:pPr marL="171450" indent="-171450">
              <a:buFontTx/>
              <a:buChar char="-"/>
            </a:pPr>
            <a:r>
              <a:rPr lang="en-GH" dirty="0"/>
              <a:t>The effector mechanisms – include antibody synthesis, macrophage activation and CTL killing.</a:t>
            </a:r>
          </a:p>
        </p:txBody>
      </p:sp>
      <p:sp>
        <p:nvSpPr>
          <p:cNvPr id="4" name="Slide Number Placeholder 3"/>
          <p:cNvSpPr>
            <a:spLocks noGrp="1"/>
          </p:cNvSpPr>
          <p:nvPr>
            <p:ph type="sldNum" sz="quarter" idx="5"/>
          </p:nvPr>
        </p:nvSpPr>
        <p:spPr/>
        <p:txBody>
          <a:bodyPr/>
          <a:lstStyle/>
          <a:p>
            <a:fld id="{77A1988F-3C8E-1D46-A27C-D623101102B5}" type="slidenum">
              <a:rPr lang="en-GH" smtClean="0"/>
              <a:t>18</a:t>
            </a:fld>
            <a:endParaRPr lang="en-GH"/>
          </a:p>
        </p:txBody>
      </p:sp>
    </p:spTree>
    <p:extLst>
      <p:ext uri="{BB962C8B-B14F-4D97-AF65-F5344CB8AC3E}">
        <p14:creationId xmlns:p14="http://schemas.microsoft.com/office/powerpoint/2010/main" val="39638562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Differentiation of a Th0 cell into a Th1 is stimulated by intracelluar pathogens (eg. </a:t>
            </a:r>
            <a:r>
              <a:rPr lang="en-GB" dirty="0"/>
              <a:t>V</a:t>
            </a:r>
            <a:r>
              <a:rPr lang="en-GH" dirty="0"/>
              <a:t>iruses and intracellular bacteria). These pathogens induce a strong innate immune response with the resultant production of IL-12 by macrophages and IFN-y by NK cells increasing the expression of the transcription factor T-bet. In turn, Th1 cells secrete high levels of the inflammatory cytokine IFN-y which ……..</a:t>
            </a:r>
          </a:p>
          <a:p>
            <a:pPr marL="171450" indent="-171450">
              <a:buFontTx/>
              <a:buChar char="-"/>
            </a:pPr>
            <a:r>
              <a:rPr lang="en-GH" dirty="0"/>
              <a:t>Th0 differentiate into Th2 via constitutive production of IL-4 through the induction of transcription factor GATA-3 in response to large extracellular parasites eg. </a:t>
            </a:r>
            <a:r>
              <a:rPr lang="en-GB" dirty="0"/>
              <a:t>H</a:t>
            </a:r>
            <a:r>
              <a:rPr lang="en-GH" dirty="0"/>
              <a:t>elminths. Also IL-4 production from eosinophils and masts cells by helminths or allergens further drive Th0 differentiation to Th2. </a:t>
            </a:r>
          </a:p>
        </p:txBody>
      </p:sp>
      <p:sp>
        <p:nvSpPr>
          <p:cNvPr id="4" name="Slide Number Placeholder 3"/>
          <p:cNvSpPr>
            <a:spLocks noGrp="1"/>
          </p:cNvSpPr>
          <p:nvPr>
            <p:ph type="sldNum" sz="quarter" idx="5"/>
          </p:nvPr>
        </p:nvSpPr>
        <p:spPr/>
        <p:txBody>
          <a:bodyPr/>
          <a:lstStyle/>
          <a:p>
            <a:fld id="{77A1988F-3C8E-1D46-A27C-D623101102B5}" type="slidenum">
              <a:rPr lang="en-GH" smtClean="0"/>
              <a:t>19</a:t>
            </a:fld>
            <a:endParaRPr lang="en-GH"/>
          </a:p>
        </p:txBody>
      </p:sp>
    </p:spTree>
    <p:extLst>
      <p:ext uri="{BB962C8B-B14F-4D97-AF65-F5344CB8AC3E}">
        <p14:creationId xmlns:p14="http://schemas.microsoft.com/office/powerpoint/2010/main" val="18934459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As mature na</a:t>
            </a:r>
            <a:r>
              <a:rPr lang="en-GB" dirty="0" err="1"/>
              <a:t>ï</a:t>
            </a:r>
            <a:r>
              <a:rPr lang="en-GH" dirty="0"/>
              <a:t>ve B lymphocytes leave the bone marrow following successful reaarangement of th</a:t>
            </a:r>
            <a:r>
              <a:rPr lang="en-GB" dirty="0" err="1"/>
              <a:t>ei</a:t>
            </a:r>
            <a:r>
              <a:rPr lang="en-GH" dirty="0"/>
              <a:t>r membrane immunoglobulin receptor genes, they recirculate in the blood, attracted to follicular areas of the lymph nodes and spleen. </a:t>
            </a:r>
          </a:p>
          <a:p>
            <a:pPr marL="171450" indent="-171450">
              <a:buFontTx/>
              <a:buChar char="-"/>
            </a:pPr>
            <a:r>
              <a:rPr lang="en-GH" dirty="0"/>
              <a:t>If antigen entering these secondary lymphoid organs binds to and cross-links the idiotypes of the immunglobulin, this provides the first signal for activation of b lymphocytes</a:t>
            </a:r>
          </a:p>
        </p:txBody>
      </p:sp>
      <p:sp>
        <p:nvSpPr>
          <p:cNvPr id="4" name="Slide Number Placeholder 3"/>
          <p:cNvSpPr>
            <a:spLocks noGrp="1"/>
          </p:cNvSpPr>
          <p:nvPr>
            <p:ph type="sldNum" sz="quarter" idx="5"/>
          </p:nvPr>
        </p:nvSpPr>
        <p:spPr/>
        <p:txBody>
          <a:bodyPr/>
          <a:lstStyle/>
          <a:p>
            <a:fld id="{77A1988F-3C8E-1D46-A27C-D623101102B5}" type="slidenum">
              <a:rPr lang="en-GH" smtClean="0"/>
              <a:t>21</a:t>
            </a:fld>
            <a:endParaRPr lang="en-GH"/>
          </a:p>
        </p:txBody>
      </p:sp>
    </p:spTree>
    <p:extLst>
      <p:ext uri="{BB962C8B-B14F-4D97-AF65-F5344CB8AC3E}">
        <p14:creationId xmlns:p14="http://schemas.microsoft.com/office/powerpoint/2010/main" val="16805803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B cells activated by TI antigens are found in the spleen and mucosa </a:t>
            </a:r>
          </a:p>
        </p:txBody>
      </p:sp>
      <p:sp>
        <p:nvSpPr>
          <p:cNvPr id="4" name="Slide Number Placeholder 3"/>
          <p:cNvSpPr>
            <a:spLocks noGrp="1"/>
          </p:cNvSpPr>
          <p:nvPr>
            <p:ph type="sldNum" sz="quarter" idx="5"/>
          </p:nvPr>
        </p:nvSpPr>
        <p:spPr/>
        <p:txBody>
          <a:bodyPr/>
          <a:lstStyle/>
          <a:p>
            <a:fld id="{77A1988F-3C8E-1D46-A27C-D623101102B5}" type="slidenum">
              <a:rPr lang="en-GH" smtClean="0"/>
              <a:t>22</a:t>
            </a:fld>
            <a:endParaRPr lang="en-GH"/>
          </a:p>
        </p:txBody>
      </p:sp>
    </p:spTree>
    <p:extLst>
      <p:ext uri="{BB962C8B-B14F-4D97-AF65-F5344CB8AC3E}">
        <p14:creationId xmlns:p14="http://schemas.microsoft.com/office/powerpoint/2010/main" val="12602792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Response to TD-antigens require direct contact B cells with helper T cells and are influence by secreted cytokines</a:t>
            </a:r>
          </a:p>
          <a:p>
            <a:pPr marL="171450" indent="-171450">
              <a:buFontTx/>
              <a:buChar char="-"/>
            </a:pPr>
            <a:endParaRPr lang="en-GH" dirty="0"/>
          </a:p>
        </p:txBody>
      </p:sp>
      <p:sp>
        <p:nvSpPr>
          <p:cNvPr id="4" name="Slide Number Placeholder 3"/>
          <p:cNvSpPr>
            <a:spLocks noGrp="1"/>
          </p:cNvSpPr>
          <p:nvPr>
            <p:ph type="sldNum" sz="quarter" idx="5"/>
          </p:nvPr>
        </p:nvSpPr>
        <p:spPr/>
        <p:txBody>
          <a:bodyPr/>
          <a:lstStyle/>
          <a:p>
            <a:fld id="{77A1988F-3C8E-1D46-A27C-D623101102B5}" type="slidenum">
              <a:rPr lang="en-GH" smtClean="0"/>
              <a:t>23</a:t>
            </a:fld>
            <a:endParaRPr lang="en-GH"/>
          </a:p>
        </p:txBody>
      </p:sp>
    </p:spTree>
    <p:extLst>
      <p:ext uri="{BB962C8B-B14F-4D97-AF65-F5344CB8AC3E}">
        <p14:creationId xmlns:p14="http://schemas.microsoft.com/office/powerpoint/2010/main" val="253354644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.This is because the coding for the constant domain of the heavy chain of IgM are the first sequences downstream from the coding of the idiotype of the molecule.</a:t>
            </a:r>
          </a:p>
          <a:p>
            <a:pPr marL="171450" indent="-171450">
              <a:buFontTx/>
              <a:buChar char="-"/>
            </a:pPr>
            <a:r>
              <a:rPr lang="en-GH" dirty="0"/>
              <a:t>Avidity ( no. of binding sites available to bind epitopes)</a:t>
            </a:r>
          </a:p>
          <a:p>
            <a:pPr marL="171450" indent="-171450">
              <a:buFontTx/>
              <a:buChar char="-"/>
            </a:pPr>
            <a:endParaRPr lang="en-GH" dirty="0"/>
          </a:p>
        </p:txBody>
      </p:sp>
      <p:sp>
        <p:nvSpPr>
          <p:cNvPr id="4" name="Slide Number Placeholder 3"/>
          <p:cNvSpPr>
            <a:spLocks noGrp="1"/>
          </p:cNvSpPr>
          <p:nvPr>
            <p:ph type="sldNum" sz="quarter" idx="5"/>
          </p:nvPr>
        </p:nvSpPr>
        <p:spPr/>
        <p:txBody>
          <a:bodyPr/>
          <a:lstStyle/>
          <a:p>
            <a:fld id="{77A1988F-3C8E-1D46-A27C-D623101102B5}" type="slidenum">
              <a:rPr lang="en-GH" smtClean="0"/>
              <a:t>25</a:t>
            </a:fld>
            <a:endParaRPr lang="en-GH"/>
          </a:p>
        </p:txBody>
      </p:sp>
    </p:spTree>
    <p:extLst>
      <p:ext uri="{BB962C8B-B14F-4D97-AF65-F5344CB8AC3E}">
        <p14:creationId xmlns:p14="http://schemas.microsoft.com/office/powerpoint/2010/main" val="7433654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H" dirty="0"/>
              <a:t>- The reaction mediated by Th1 cell via macrophage and CD8+ T cell activation is often referred to as delayed-type hypersensitivity researction (DTH).</a:t>
            </a:r>
          </a:p>
        </p:txBody>
      </p:sp>
      <p:sp>
        <p:nvSpPr>
          <p:cNvPr id="4" name="Slide Number Placeholder 3"/>
          <p:cNvSpPr>
            <a:spLocks noGrp="1"/>
          </p:cNvSpPr>
          <p:nvPr>
            <p:ph type="sldNum" sz="quarter" idx="5"/>
          </p:nvPr>
        </p:nvSpPr>
        <p:spPr/>
        <p:txBody>
          <a:bodyPr/>
          <a:lstStyle/>
          <a:p>
            <a:fld id="{77A1988F-3C8E-1D46-A27C-D623101102B5}" type="slidenum">
              <a:rPr lang="en-GH" smtClean="0"/>
              <a:t>31</a:t>
            </a:fld>
            <a:endParaRPr lang="en-GH"/>
          </a:p>
        </p:txBody>
      </p:sp>
    </p:spTree>
    <p:extLst>
      <p:ext uri="{BB962C8B-B14F-4D97-AF65-F5344CB8AC3E}">
        <p14:creationId xmlns:p14="http://schemas.microsoft.com/office/powerpoint/2010/main" val="24700911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H" dirty="0"/>
              <a:t>Death of target cell can be mediated in distinct fashion. First perforin in the CTL granules create pores in membrane of target cell through which granzymes enter, inducing activation of caspases, which activate the death domain. </a:t>
            </a:r>
          </a:p>
          <a:p>
            <a:pPr marL="171450" indent="-171450">
              <a:buFontTx/>
              <a:buChar char="-"/>
            </a:pPr>
            <a:r>
              <a:rPr lang="en-GH" dirty="0"/>
              <a:t>Also activated CTL expressing Fas ligand (FasL) can bind Fas on target cell which induce caspases and death occur.</a:t>
            </a:r>
          </a:p>
          <a:p>
            <a:pPr marL="171450" indent="-171450">
              <a:buFontTx/>
              <a:buChar char="-"/>
            </a:pPr>
            <a:r>
              <a:rPr lang="en-GH" dirty="0"/>
              <a:t>Another cell-mdeiated effector mechanism enhanced by Th1 cells is NK-cell killing.</a:t>
            </a:r>
          </a:p>
        </p:txBody>
      </p:sp>
      <p:sp>
        <p:nvSpPr>
          <p:cNvPr id="4" name="Slide Number Placeholder 3"/>
          <p:cNvSpPr>
            <a:spLocks noGrp="1"/>
          </p:cNvSpPr>
          <p:nvPr>
            <p:ph type="sldNum" sz="quarter" idx="5"/>
          </p:nvPr>
        </p:nvSpPr>
        <p:spPr/>
        <p:txBody>
          <a:bodyPr/>
          <a:lstStyle/>
          <a:p>
            <a:fld id="{77A1988F-3C8E-1D46-A27C-D623101102B5}" type="slidenum">
              <a:rPr lang="en-GH" smtClean="0"/>
              <a:t>32</a:t>
            </a:fld>
            <a:endParaRPr lang="en-GH"/>
          </a:p>
        </p:txBody>
      </p:sp>
    </p:spTree>
    <p:extLst>
      <p:ext uri="{BB962C8B-B14F-4D97-AF65-F5344CB8AC3E}">
        <p14:creationId xmlns:p14="http://schemas.microsoft.com/office/powerpoint/2010/main" val="37440417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279B4-3D8C-8305-00E6-626D2AEA141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H"/>
          </a:p>
        </p:txBody>
      </p:sp>
      <p:sp>
        <p:nvSpPr>
          <p:cNvPr id="3" name="Subtitle 2">
            <a:extLst>
              <a:ext uri="{FF2B5EF4-FFF2-40B4-BE49-F238E27FC236}">
                <a16:creationId xmlns:a16="http://schemas.microsoft.com/office/drawing/2014/main" id="{0AE35EC3-B0A4-5089-F8D4-9DD2261E1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H"/>
          </a:p>
        </p:txBody>
      </p:sp>
      <p:sp>
        <p:nvSpPr>
          <p:cNvPr id="4" name="Date Placeholder 3">
            <a:extLst>
              <a:ext uri="{FF2B5EF4-FFF2-40B4-BE49-F238E27FC236}">
                <a16:creationId xmlns:a16="http://schemas.microsoft.com/office/drawing/2014/main" id="{CC8B6A32-54AB-AD21-91AA-3DDD6BE2FC56}"/>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25977A70-4740-264B-A4B9-4AEBC0823C2A}"/>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6088FAB8-BAFF-4970-26B3-057DB90D84A8}"/>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4547370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992712-88D3-3EF7-176E-4C9492984310}"/>
              </a:ext>
            </a:extLst>
          </p:cNvPr>
          <p:cNvSpPr>
            <a:spLocks noGrp="1"/>
          </p:cNvSpPr>
          <p:nvPr>
            <p:ph type="title"/>
          </p:nvPr>
        </p:nvSpPr>
        <p:spPr/>
        <p:txBody>
          <a:bodyPr/>
          <a:lstStyle/>
          <a:p>
            <a:r>
              <a:rPr lang="en-GB"/>
              <a:t>Click to edit Master title style</a:t>
            </a:r>
            <a:endParaRPr lang="en-GH"/>
          </a:p>
        </p:txBody>
      </p:sp>
      <p:sp>
        <p:nvSpPr>
          <p:cNvPr id="3" name="Content Placeholder 2">
            <a:extLst>
              <a:ext uri="{FF2B5EF4-FFF2-40B4-BE49-F238E27FC236}">
                <a16:creationId xmlns:a16="http://schemas.microsoft.com/office/drawing/2014/main" id="{F970DE1F-5F25-1659-9ADD-249AD1AB967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CC2CA922-D677-A9B3-1A97-9439FF1B4836}"/>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ACF19ABE-4B86-C474-E612-C78EB8B22096}"/>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7C31CD99-578F-AD98-7F5F-DE8DE2ED714D}"/>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2776506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A662FA-A731-DCD4-B2B8-696D9075AEE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H"/>
          </a:p>
        </p:txBody>
      </p:sp>
      <p:sp>
        <p:nvSpPr>
          <p:cNvPr id="3" name="Text Placeholder 2">
            <a:extLst>
              <a:ext uri="{FF2B5EF4-FFF2-40B4-BE49-F238E27FC236}">
                <a16:creationId xmlns:a16="http://schemas.microsoft.com/office/drawing/2014/main" id="{06F4ABB1-70AA-173A-1B4A-4D59321980C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0EB0C31-612B-359C-51F1-C0EF96B3733C}"/>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E719E989-8FDC-693B-D9BB-09ABAEC9D45F}"/>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79E0C13C-37DB-B2FD-D6DD-26AB243F4E0C}"/>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20476320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EDD72-9F34-3711-8812-4ED0993B969A}"/>
              </a:ext>
            </a:extLst>
          </p:cNvPr>
          <p:cNvSpPr>
            <a:spLocks noGrp="1"/>
          </p:cNvSpPr>
          <p:nvPr>
            <p:ph type="title"/>
          </p:nvPr>
        </p:nvSpPr>
        <p:spPr/>
        <p:txBody>
          <a:bodyPr/>
          <a:lstStyle/>
          <a:p>
            <a:r>
              <a:rPr lang="en-GB"/>
              <a:t>Click to edit Master title style</a:t>
            </a:r>
            <a:endParaRPr lang="en-GH"/>
          </a:p>
        </p:txBody>
      </p:sp>
      <p:sp>
        <p:nvSpPr>
          <p:cNvPr id="3" name="Content Placeholder 2">
            <a:extLst>
              <a:ext uri="{FF2B5EF4-FFF2-40B4-BE49-F238E27FC236}">
                <a16:creationId xmlns:a16="http://schemas.microsoft.com/office/drawing/2014/main" id="{56C65590-C64B-BF16-5DDB-2E21F69CE625}"/>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Content Placeholder 3">
            <a:extLst>
              <a:ext uri="{FF2B5EF4-FFF2-40B4-BE49-F238E27FC236}">
                <a16:creationId xmlns:a16="http://schemas.microsoft.com/office/drawing/2014/main" id="{940B94D5-4D4B-1BCE-8EA2-7A21D1E4F30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Date Placeholder 4">
            <a:extLst>
              <a:ext uri="{FF2B5EF4-FFF2-40B4-BE49-F238E27FC236}">
                <a16:creationId xmlns:a16="http://schemas.microsoft.com/office/drawing/2014/main" id="{E210A126-73AF-0CF6-6754-528C77B99B99}"/>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6" name="Footer Placeholder 5">
            <a:extLst>
              <a:ext uri="{FF2B5EF4-FFF2-40B4-BE49-F238E27FC236}">
                <a16:creationId xmlns:a16="http://schemas.microsoft.com/office/drawing/2014/main" id="{5BC7A357-61AA-8F3E-E568-BA5AF866363A}"/>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D0694F30-4201-546F-D917-E3E65B4CF1EA}"/>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31450550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8A88D-A5AA-6B31-5CA7-C45B7CC614ED}"/>
              </a:ext>
            </a:extLst>
          </p:cNvPr>
          <p:cNvSpPr>
            <a:spLocks noGrp="1"/>
          </p:cNvSpPr>
          <p:nvPr>
            <p:ph type="title"/>
          </p:nvPr>
        </p:nvSpPr>
        <p:spPr>
          <a:xfrm>
            <a:off x="839788" y="365125"/>
            <a:ext cx="10515600" cy="1325563"/>
          </a:xfrm>
        </p:spPr>
        <p:txBody>
          <a:bodyPr/>
          <a:lstStyle/>
          <a:p>
            <a:r>
              <a:rPr lang="en-GB"/>
              <a:t>Click to edit Master title style</a:t>
            </a:r>
            <a:endParaRPr lang="en-GH"/>
          </a:p>
        </p:txBody>
      </p:sp>
      <p:sp>
        <p:nvSpPr>
          <p:cNvPr id="3" name="Text Placeholder 2">
            <a:extLst>
              <a:ext uri="{FF2B5EF4-FFF2-40B4-BE49-F238E27FC236}">
                <a16:creationId xmlns:a16="http://schemas.microsoft.com/office/drawing/2014/main" id="{5CD2459B-1CE3-165B-24DF-776C93E5DD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FE2F1C6-198A-989E-DAF1-4A8177B7299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5" name="Text Placeholder 4">
            <a:extLst>
              <a:ext uri="{FF2B5EF4-FFF2-40B4-BE49-F238E27FC236}">
                <a16:creationId xmlns:a16="http://schemas.microsoft.com/office/drawing/2014/main" id="{21A5220C-5710-6FC1-86E5-FF823AFA35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ABDE1D9-C223-80AA-D8A7-7C164CAB35A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7" name="Date Placeholder 6">
            <a:extLst>
              <a:ext uri="{FF2B5EF4-FFF2-40B4-BE49-F238E27FC236}">
                <a16:creationId xmlns:a16="http://schemas.microsoft.com/office/drawing/2014/main" id="{049C1967-A4C4-0293-10FD-A429931485DF}"/>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8" name="Footer Placeholder 7">
            <a:extLst>
              <a:ext uri="{FF2B5EF4-FFF2-40B4-BE49-F238E27FC236}">
                <a16:creationId xmlns:a16="http://schemas.microsoft.com/office/drawing/2014/main" id="{BDEF3DA2-4DCB-462C-2A74-A896214330D6}"/>
              </a:ext>
            </a:extLst>
          </p:cNvPr>
          <p:cNvSpPr>
            <a:spLocks noGrp="1"/>
          </p:cNvSpPr>
          <p:nvPr>
            <p:ph type="ftr" sz="quarter" idx="11"/>
          </p:nvPr>
        </p:nvSpPr>
        <p:spPr/>
        <p:txBody>
          <a:bodyPr/>
          <a:lstStyle/>
          <a:p>
            <a:endParaRPr lang="en-GH"/>
          </a:p>
        </p:txBody>
      </p:sp>
      <p:sp>
        <p:nvSpPr>
          <p:cNvPr id="9" name="Slide Number Placeholder 8">
            <a:extLst>
              <a:ext uri="{FF2B5EF4-FFF2-40B4-BE49-F238E27FC236}">
                <a16:creationId xmlns:a16="http://schemas.microsoft.com/office/drawing/2014/main" id="{E0DE0138-8DFE-152D-57B7-4731D1155B81}"/>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4233331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FA9AB-9CFB-8D90-ED34-4D02DDC94BA2}"/>
              </a:ext>
            </a:extLst>
          </p:cNvPr>
          <p:cNvSpPr>
            <a:spLocks noGrp="1"/>
          </p:cNvSpPr>
          <p:nvPr>
            <p:ph type="title"/>
          </p:nvPr>
        </p:nvSpPr>
        <p:spPr/>
        <p:txBody>
          <a:bodyPr/>
          <a:lstStyle/>
          <a:p>
            <a:r>
              <a:rPr lang="en-GB"/>
              <a:t>Click to edit Master title style</a:t>
            </a:r>
            <a:endParaRPr lang="en-GH"/>
          </a:p>
        </p:txBody>
      </p:sp>
      <p:sp>
        <p:nvSpPr>
          <p:cNvPr id="3" name="Date Placeholder 2">
            <a:extLst>
              <a:ext uri="{FF2B5EF4-FFF2-40B4-BE49-F238E27FC236}">
                <a16:creationId xmlns:a16="http://schemas.microsoft.com/office/drawing/2014/main" id="{A886C44A-E789-C666-F3CF-42EBA5CC387E}"/>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4" name="Footer Placeholder 3">
            <a:extLst>
              <a:ext uri="{FF2B5EF4-FFF2-40B4-BE49-F238E27FC236}">
                <a16:creationId xmlns:a16="http://schemas.microsoft.com/office/drawing/2014/main" id="{ABA68A54-9EE7-1F8B-2557-68BABE808A3A}"/>
              </a:ext>
            </a:extLst>
          </p:cNvPr>
          <p:cNvSpPr>
            <a:spLocks noGrp="1"/>
          </p:cNvSpPr>
          <p:nvPr>
            <p:ph type="ftr" sz="quarter" idx="11"/>
          </p:nvPr>
        </p:nvSpPr>
        <p:spPr/>
        <p:txBody>
          <a:bodyPr/>
          <a:lstStyle/>
          <a:p>
            <a:endParaRPr lang="en-GH"/>
          </a:p>
        </p:txBody>
      </p:sp>
      <p:sp>
        <p:nvSpPr>
          <p:cNvPr id="5" name="Slide Number Placeholder 4">
            <a:extLst>
              <a:ext uri="{FF2B5EF4-FFF2-40B4-BE49-F238E27FC236}">
                <a16:creationId xmlns:a16="http://schemas.microsoft.com/office/drawing/2014/main" id="{2FAE0E01-394A-5C22-41C7-6AA9075297B2}"/>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2420631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487B89-862F-CB28-A67D-3943B05A3133}"/>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3" name="Footer Placeholder 2">
            <a:extLst>
              <a:ext uri="{FF2B5EF4-FFF2-40B4-BE49-F238E27FC236}">
                <a16:creationId xmlns:a16="http://schemas.microsoft.com/office/drawing/2014/main" id="{AAE589A0-9048-7615-CC94-8A3F3AACED69}"/>
              </a:ext>
            </a:extLst>
          </p:cNvPr>
          <p:cNvSpPr>
            <a:spLocks noGrp="1"/>
          </p:cNvSpPr>
          <p:nvPr>
            <p:ph type="ftr" sz="quarter" idx="11"/>
          </p:nvPr>
        </p:nvSpPr>
        <p:spPr/>
        <p:txBody>
          <a:bodyPr/>
          <a:lstStyle/>
          <a:p>
            <a:endParaRPr lang="en-GH"/>
          </a:p>
        </p:txBody>
      </p:sp>
      <p:sp>
        <p:nvSpPr>
          <p:cNvPr id="4" name="Slide Number Placeholder 3">
            <a:extLst>
              <a:ext uri="{FF2B5EF4-FFF2-40B4-BE49-F238E27FC236}">
                <a16:creationId xmlns:a16="http://schemas.microsoft.com/office/drawing/2014/main" id="{BE1BB1EB-685E-2B59-56D9-6C621962D934}"/>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1585934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C0B17-D3E5-74D5-D5AB-2D44C24AE4A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H"/>
          </a:p>
        </p:txBody>
      </p:sp>
      <p:sp>
        <p:nvSpPr>
          <p:cNvPr id="3" name="Content Placeholder 2">
            <a:extLst>
              <a:ext uri="{FF2B5EF4-FFF2-40B4-BE49-F238E27FC236}">
                <a16:creationId xmlns:a16="http://schemas.microsoft.com/office/drawing/2014/main" id="{1CC38A6F-AE06-2D04-8637-6747B91A68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Text Placeholder 3">
            <a:extLst>
              <a:ext uri="{FF2B5EF4-FFF2-40B4-BE49-F238E27FC236}">
                <a16:creationId xmlns:a16="http://schemas.microsoft.com/office/drawing/2014/main" id="{032045CD-4619-43BF-C222-813D0858DE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36D81F2-5646-33A4-E61F-D2830CA908DB}"/>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6" name="Footer Placeholder 5">
            <a:extLst>
              <a:ext uri="{FF2B5EF4-FFF2-40B4-BE49-F238E27FC236}">
                <a16:creationId xmlns:a16="http://schemas.microsoft.com/office/drawing/2014/main" id="{89AB8978-6124-4FAE-650A-DCD629E93173}"/>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AFBBD87B-398D-1D39-90B4-A3CBF9279800}"/>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1258321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7917A-3BB9-5924-6D91-4D2606AA114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H"/>
          </a:p>
        </p:txBody>
      </p:sp>
      <p:sp>
        <p:nvSpPr>
          <p:cNvPr id="3" name="Picture Placeholder 2">
            <a:extLst>
              <a:ext uri="{FF2B5EF4-FFF2-40B4-BE49-F238E27FC236}">
                <a16:creationId xmlns:a16="http://schemas.microsoft.com/office/drawing/2014/main" id="{F190BD00-EA7B-992F-1DCD-E031C6C985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H"/>
          </a:p>
        </p:txBody>
      </p:sp>
      <p:sp>
        <p:nvSpPr>
          <p:cNvPr id="4" name="Text Placeholder 3">
            <a:extLst>
              <a:ext uri="{FF2B5EF4-FFF2-40B4-BE49-F238E27FC236}">
                <a16:creationId xmlns:a16="http://schemas.microsoft.com/office/drawing/2014/main" id="{CBFD5A9F-3EAD-5DAF-3A6D-5A85FC06E9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F558D6B-DF80-1668-D0BE-901B6D2C8E6D}"/>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6" name="Footer Placeholder 5">
            <a:extLst>
              <a:ext uri="{FF2B5EF4-FFF2-40B4-BE49-F238E27FC236}">
                <a16:creationId xmlns:a16="http://schemas.microsoft.com/office/drawing/2014/main" id="{A231C326-CB6C-1A6D-F50D-52535A4BA9C4}"/>
              </a:ext>
            </a:extLst>
          </p:cNvPr>
          <p:cNvSpPr>
            <a:spLocks noGrp="1"/>
          </p:cNvSpPr>
          <p:nvPr>
            <p:ph type="ftr" sz="quarter" idx="11"/>
          </p:nvPr>
        </p:nvSpPr>
        <p:spPr/>
        <p:txBody>
          <a:bodyPr/>
          <a:lstStyle/>
          <a:p>
            <a:endParaRPr lang="en-GH"/>
          </a:p>
        </p:txBody>
      </p:sp>
      <p:sp>
        <p:nvSpPr>
          <p:cNvPr id="7" name="Slide Number Placeholder 6">
            <a:extLst>
              <a:ext uri="{FF2B5EF4-FFF2-40B4-BE49-F238E27FC236}">
                <a16:creationId xmlns:a16="http://schemas.microsoft.com/office/drawing/2014/main" id="{9254E8B6-EB7F-378F-F289-AA94146D329C}"/>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24204699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8B58B3-8AE2-3549-44B2-863EAF8EF67F}"/>
              </a:ext>
            </a:extLst>
          </p:cNvPr>
          <p:cNvSpPr>
            <a:spLocks noGrp="1"/>
          </p:cNvSpPr>
          <p:nvPr>
            <p:ph type="title"/>
          </p:nvPr>
        </p:nvSpPr>
        <p:spPr/>
        <p:txBody>
          <a:bodyPr/>
          <a:lstStyle/>
          <a:p>
            <a:r>
              <a:rPr lang="en-GB"/>
              <a:t>Click to edit Master title style</a:t>
            </a:r>
            <a:endParaRPr lang="en-GH"/>
          </a:p>
        </p:txBody>
      </p:sp>
      <p:sp>
        <p:nvSpPr>
          <p:cNvPr id="3" name="Vertical Text Placeholder 2">
            <a:extLst>
              <a:ext uri="{FF2B5EF4-FFF2-40B4-BE49-F238E27FC236}">
                <a16:creationId xmlns:a16="http://schemas.microsoft.com/office/drawing/2014/main" id="{A7076A36-281B-3A8C-4972-DBE8D7A8F7D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31DD8071-83B4-A5D1-C910-4C278E2FA419}"/>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5E048CD9-7109-F948-7377-CB66D1727B3E}"/>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228F8469-06DE-9116-1CF6-092F20D459A9}"/>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921098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BE6A11E-40CD-6A12-4000-99721C145B8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GH"/>
          </a:p>
        </p:txBody>
      </p:sp>
      <p:sp>
        <p:nvSpPr>
          <p:cNvPr id="3" name="Vertical Text Placeholder 2">
            <a:extLst>
              <a:ext uri="{FF2B5EF4-FFF2-40B4-BE49-F238E27FC236}">
                <a16:creationId xmlns:a16="http://schemas.microsoft.com/office/drawing/2014/main" id="{98C0614E-48B4-C3A6-FAD5-4874A3C7420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A6CF031E-B13B-18C3-FD7C-5D7224917A5D}"/>
              </a:ext>
            </a:extLst>
          </p:cNvPr>
          <p:cNvSpPr>
            <a:spLocks noGrp="1"/>
          </p:cNvSpPr>
          <p:nvPr>
            <p:ph type="dt" sz="half" idx="10"/>
          </p:nvPr>
        </p:nvSpPr>
        <p:spPr/>
        <p:txBody>
          <a:body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05FA1CB8-1AD3-26EA-3056-A1070436F994}"/>
              </a:ext>
            </a:extLst>
          </p:cNvPr>
          <p:cNvSpPr>
            <a:spLocks noGrp="1"/>
          </p:cNvSpPr>
          <p:nvPr>
            <p:ph type="ftr" sz="quarter" idx="11"/>
          </p:nvPr>
        </p:nvSpPr>
        <p:spPr/>
        <p:txBody>
          <a:bodyPr/>
          <a:lstStyle/>
          <a:p>
            <a:endParaRPr lang="en-GH"/>
          </a:p>
        </p:txBody>
      </p:sp>
      <p:sp>
        <p:nvSpPr>
          <p:cNvPr id="6" name="Slide Number Placeholder 5">
            <a:extLst>
              <a:ext uri="{FF2B5EF4-FFF2-40B4-BE49-F238E27FC236}">
                <a16:creationId xmlns:a16="http://schemas.microsoft.com/office/drawing/2014/main" id="{7946E40F-E04B-D636-CDEA-5E25C8060ECF}"/>
              </a:ext>
            </a:extLst>
          </p:cNvPr>
          <p:cNvSpPr>
            <a:spLocks noGrp="1"/>
          </p:cNvSpPr>
          <p:nvPr>
            <p:ph type="sldNum" sz="quarter" idx="12"/>
          </p:nvPr>
        </p:nvSpPr>
        <p:spPr/>
        <p:txBody>
          <a:bodyPr/>
          <a:lstStyle/>
          <a:p>
            <a:fld id="{B749D4E7-7C08-9841-8175-5C049D7740BE}" type="slidenum">
              <a:rPr lang="en-GH" smtClean="0"/>
              <a:t>‹#›</a:t>
            </a:fld>
            <a:endParaRPr lang="en-GH"/>
          </a:p>
        </p:txBody>
      </p:sp>
    </p:spTree>
    <p:extLst>
      <p:ext uri="{BB962C8B-B14F-4D97-AF65-F5344CB8AC3E}">
        <p14:creationId xmlns:p14="http://schemas.microsoft.com/office/powerpoint/2010/main" val="17106690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9044F9E-7DCB-6E35-8587-E59F1999C5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H"/>
          </a:p>
        </p:txBody>
      </p:sp>
      <p:sp>
        <p:nvSpPr>
          <p:cNvPr id="3" name="Text Placeholder 2">
            <a:extLst>
              <a:ext uri="{FF2B5EF4-FFF2-40B4-BE49-F238E27FC236}">
                <a16:creationId xmlns:a16="http://schemas.microsoft.com/office/drawing/2014/main" id="{7C8167B8-681E-454F-FA5B-EF30FD5A63E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H"/>
          </a:p>
        </p:txBody>
      </p:sp>
      <p:sp>
        <p:nvSpPr>
          <p:cNvPr id="4" name="Date Placeholder 3">
            <a:extLst>
              <a:ext uri="{FF2B5EF4-FFF2-40B4-BE49-F238E27FC236}">
                <a16:creationId xmlns:a16="http://schemas.microsoft.com/office/drawing/2014/main" id="{705050E6-F23B-C95B-D38B-24E63E2384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ADEDE5-F320-5940-8DBE-63AD0B5CB939}" type="datetimeFigureOut">
              <a:rPr lang="en-GH" smtClean="0"/>
              <a:t>05/05/2026</a:t>
            </a:fld>
            <a:endParaRPr lang="en-GH"/>
          </a:p>
        </p:txBody>
      </p:sp>
      <p:sp>
        <p:nvSpPr>
          <p:cNvPr id="5" name="Footer Placeholder 4">
            <a:extLst>
              <a:ext uri="{FF2B5EF4-FFF2-40B4-BE49-F238E27FC236}">
                <a16:creationId xmlns:a16="http://schemas.microsoft.com/office/drawing/2014/main" id="{0B6E1BFC-6D46-A0D8-4797-915FEF7F98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H"/>
          </a:p>
        </p:txBody>
      </p:sp>
      <p:sp>
        <p:nvSpPr>
          <p:cNvPr id="6" name="Slide Number Placeholder 5">
            <a:extLst>
              <a:ext uri="{FF2B5EF4-FFF2-40B4-BE49-F238E27FC236}">
                <a16:creationId xmlns:a16="http://schemas.microsoft.com/office/drawing/2014/main" id="{473F6D85-5915-53C4-30E6-49DEC795008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749D4E7-7C08-9841-8175-5C049D7740BE}" type="slidenum">
              <a:rPr lang="en-GH" smtClean="0"/>
              <a:t>‹#›</a:t>
            </a:fld>
            <a:endParaRPr lang="en-GH"/>
          </a:p>
        </p:txBody>
      </p:sp>
    </p:spTree>
    <p:extLst>
      <p:ext uri="{BB962C8B-B14F-4D97-AF65-F5344CB8AC3E}">
        <p14:creationId xmlns:p14="http://schemas.microsoft.com/office/powerpoint/2010/main" val="16554856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D7DE7-C335-A15B-492C-1EEFD8AD8901}"/>
              </a:ext>
            </a:extLst>
          </p:cNvPr>
          <p:cNvSpPr>
            <a:spLocks noGrp="1"/>
          </p:cNvSpPr>
          <p:nvPr>
            <p:ph type="ctrTitle"/>
          </p:nvPr>
        </p:nvSpPr>
        <p:spPr/>
        <p:txBody>
          <a:bodyPr/>
          <a:lstStyle/>
          <a:p>
            <a:r>
              <a:rPr lang="en-GH" dirty="0">
                <a:solidFill>
                  <a:srgbClr val="C00000"/>
                </a:solidFill>
              </a:rPr>
              <a:t>ADAPTIVE IMMUNITY</a:t>
            </a:r>
          </a:p>
        </p:txBody>
      </p:sp>
      <p:sp>
        <p:nvSpPr>
          <p:cNvPr id="3" name="Subtitle 2">
            <a:extLst>
              <a:ext uri="{FF2B5EF4-FFF2-40B4-BE49-F238E27FC236}">
                <a16:creationId xmlns:a16="http://schemas.microsoft.com/office/drawing/2014/main" id="{AAF813DC-77FB-BDBF-6A4E-5C877F95C998}"/>
              </a:ext>
            </a:extLst>
          </p:cNvPr>
          <p:cNvSpPr>
            <a:spLocks noGrp="1"/>
          </p:cNvSpPr>
          <p:nvPr>
            <p:ph type="subTitle" idx="1"/>
          </p:nvPr>
        </p:nvSpPr>
        <p:spPr/>
        <p:txBody>
          <a:bodyPr/>
          <a:lstStyle/>
          <a:p>
            <a:r>
              <a:rPr lang="en-GH" dirty="0"/>
              <a:t>M</a:t>
            </a:r>
            <a:r>
              <a:rPr lang="en-GB" dirty="0" err="1"/>
              <a:t>i</a:t>
            </a:r>
            <a:r>
              <a:rPr lang="en-GH" dirty="0"/>
              <a:t>chael Frimpong</a:t>
            </a:r>
          </a:p>
          <a:p>
            <a:r>
              <a:rPr lang="en-GH" dirty="0"/>
              <a:t>Department of Molecular Medicine</a:t>
            </a:r>
          </a:p>
        </p:txBody>
      </p:sp>
    </p:spTree>
    <p:extLst>
      <p:ext uri="{BB962C8B-B14F-4D97-AF65-F5344CB8AC3E}">
        <p14:creationId xmlns:p14="http://schemas.microsoft.com/office/powerpoint/2010/main" val="21502665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F60E3-DE46-0CA6-CD89-A1E353DEEDCB}"/>
              </a:ext>
            </a:extLst>
          </p:cNvPr>
          <p:cNvSpPr>
            <a:spLocks noGrp="1"/>
          </p:cNvSpPr>
          <p:nvPr>
            <p:ph type="title"/>
          </p:nvPr>
        </p:nvSpPr>
        <p:spPr/>
        <p:txBody>
          <a:bodyPr/>
          <a:lstStyle/>
          <a:p>
            <a:r>
              <a:rPr lang="en-GB" b="1" dirty="0">
                <a:solidFill>
                  <a:srgbClr val="C00000"/>
                </a:solidFill>
              </a:rPr>
              <a:t>Learning Objectives</a:t>
            </a:r>
            <a:endParaRPr lang="en-GH" dirty="0">
              <a:solidFill>
                <a:srgbClr val="C00000"/>
              </a:solidFill>
            </a:endParaRPr>
          </a:p>
        </p:txBody>
      </p:sp>
      <p:sp>
        <p:nvSpPr>
          <p:cNvPr id="3" name="Content Placeholder 2">
            <a:extLst>
              <a:ext uri="{FF2B5EF4-FFF2-40B4-BE49-F238E27FC236}">
                <a16:creationId xmlns:a16="http://schemas.microsoft.com/office/drawing/2014/main" id="{A38FF89F-CBC3-513F-7C86-885B56884936}"/>
              </a:ext>
            </a:extLst>
          </p:cNvPr>
          <p:cNvSpPr>
            <a:spLocks noGrp="1"/>
          </p:cNvSpPr>
          <p:nvPr>
            <p:ph idx="1"/>
          </p:nvPr>
        </p:nvSpPr>
        <p:spPr/>
        <p:txBody>
          <a:bodyPr/>
          <a:lstStyle/>
          <a:p>
            <a:r>
              <a:rPr lang="en-GB" dirty="0"/>
              <a:t>To describe general characteristics of the specific immune response</a:t>
            </a:r>
          </a:p>
          <a:p>
            <a:r>
              <a:rPr lang="en-GB" dirty="0"/>
              <a:t>To describe the molecular events involved in class switching and membrane immunoglobulin expression</a:t>
            </a:r>
          </a:p>
          <a:p>
            <a:r>
              <a:rPr lang="en-GB" dirty="0"/>
              <a:t>To compare and contrast antigens recognized by the TCR and BCR.</a:t>
            </a:r>
          </a:p>
          <a:p>
            <a:r>
              <a:rPr lang="en-GB" dirty="0"/>
              <a:t>To describe the pathways involved in processing endogenous and exogenous antigens.</a:t>
            </a:r>
          </a:p>
          <a:p>
            <a:r>
              <a:rPr lang="en-GB" dirty="0"/>
              <a:t>To describe the major antigen presenting cells.</a:t>
            </a:r>
            <a:endParaRPr lang="en-GH" dirty="0"/>
          </a:p>
        </p:txBody>
      </p:sp>
    </p:spTree>
    <p:extLst>
      <p:ext uri="{BB962C8B-B14F-4D97-AF65-F5344CB8AC3E}">
        <p14:creationId xmlns:p14="http://schemas.microsoft.com/office/powerpoint/2010/main" val="23839462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87260-9BA6-2DD0-37EF-16413C9A9670}"/>
              </a:ext>
            </a:extLst>
          </p:cNvPr>
          <p:cNvSpPr>
            <a:spLocks noGrp="1"/>
          </p:cNvSpPr>
          <p:nvPr>
            <p:ph type="title"/>
          </p:nvPr>
        </p:nvSpPr>
        <p:spPr/>
        <p:txBody>
          <a:bodyPr/>
          <a:lstStyle/>
          <a:p>
            <a:pPr algn="ctr"/>
            <a:r>
              <a:rPr lang="en-GB" dirty="0">
                <a:solidFill>
                  <a:srgbClr val="C00000"/>
                </a:solidFill>
              </a:rPr>
              <a:t>Characteristics of the Adaptive Immune Response </a:t>
            </a:r>
            <a:endParaRPr lang="en-GH" dirty="0">
              <a:solidFill>
                <a:srgbClr val="C00000"/>
              </a:solidFill>
            </a:endParaRPr>
          </a:p>
        </p:txBody>
      </p:sp>
      <p:sp>
        <p:nvSpPr>
          <p:cNvPr id="3" name="Content Placeholder 2">
            <a:extLst>
              <a:ext uri="{FF2B5EF4-FFF2-40B4-BE49-F238E27FC236}">
                <a16:creationId xmlns:a16="http://schemas.microsoft.com/office/drawing/2014/main" id="{DDD883B0-C571-0853-C8CD-6C62B85A0617}"/>
              </a:ext>
            </a:extLst>
          </p:cNvPr>
          <p:cNvSpPr>
            <a:spLocks noGrp="1"/>
          </p:cNvSpPr>
          <p:nvPr>
            <p:ph idx="1"/>
          </p:nvPr>
        </p:nvSpPr>
        <p:spPr>
          <a:xfrm>
            <a:off x="838200" y="1909708"/>
            <a:ext cx="10515600" cy="4351338"/>
          </a:xfrm>
        </p:spPr>
        <p:txBody>
          <a:bodyPr>
            <a:normAutofit lnSpcReduction="10000"/>
          </a:bodyPr>
          <a:lstStyle/>
          <a:p>
            <a:r>
              <a:rPr lang="en-GB" b="1" dirty="0"/>
              <a:t>Self / non-self discrimination</a:t>
            </a:r>
          </a:p>
          <a:p>
            <a:pPr lvl="1"/>
            <a:r>
              <a:rPr lang="en-GB" dirty="0"/>
              <a:t>One characteristic feature of the specific immune system is that it normally distinguishes between self and non-self and only reacts against non-self.</a:t>
            </a:r>
          </a:p>
          <a:p>
            <a:r>
              <a:rPr lang="en-GB" b="1" dirty="0"/>
              <a:t>Memory</a:t>
            </a:r>
          </a:p>
          <a:p>
            <a:pPr lvl="1"/>
            <a:r>
              <a:rPr lang="en-GB" dirty="0"/>
              <a:t>The immune system "remembers" if it has seen an antigen before and it reacts to secondary exposures to an antigen in a manner different than after a primary exposure. </a:t>
            </a:r>
          </a:p>
          <a:p>
            <a:pPr lvl="1"/>
            <a:r>
              <a:rPr lang="en-GB" dirty="0"/>
              <a:t>Only an exposure to the same antigen will illicit this memory.</a:t>
            </a:r>
          </a:p>
          <a:p>
            <a:r>
              <a:rPr lang="en-GB" b="1" dirty="0"/>
              <a:t>Specificity</a:t>
            </a:r>
          </a:p>
          <a:p>
            <a:pPr lvl="1"/>
            <a:r>
              <a:rPr lang="en-GB" dirty="0"/>
              <a:t>High degree of specificity in its reactions.</a:t>
            </a:r>
          </a:p>
          <a:p>
            <a:pPr lvl="1"/>
            <a:r>
              <a:rPr lang="en-GB" dirty="0"/>
              <a:t>response to a particular antigen is specific for that antigen</a:t>
            </a:r>
            <a:endParaRPr lang="en-GH" dirty="0"/>
          </a:p>
        </p:txBody>
      </p:sp>
    </p:spTree>
    <p:extLst>
      <p:ext uri="{BB962C8B-B14F-4D97-AF65-F5344CB8AC3E}">
        <p14:creationId xmlns:p14="http://schemas.microsoft.com/office/powerpoint/2010/main" val="3107312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E83EDC8-E2AC-12CC-0465-EF553FDC3F09}"/>
              </a:ext>
            </a:extLst>
          </p:cNvPr>
          <p:cNvPicPr>
            <a:picLocks noChangeAspect="1"/>
          </p:cNvPicPr>
          <p:nvPr/>
        </p:nvPicPr>
        <p:blipFill>
          <a:blip r:embed="rId2"/>
          <a:stretch>
            <a:fillRect/>
          </a:stretch>
        </p:blipFill>
        <p:spPr>
          <a:xfrm>
            <a:off x="2014848" y="1128156"/>
            <a:ext cx="6879771" cy="5364718"/>
          </a:xfrm>
          <a:prstGeom prst="rect">
            <a:avLst/>
          </a:prstGeom>
        </p:spPr>
      </p:pic>
      <p:sp>
        <p:nvSpPr>
          <p:cNvPr id="5" name="Title 1">
            <a:extLst>
              <a:ext uri="{FF2B5EF4-FFF2-40B4-BE49-F238E27FC236}">
                <a16:creationId xmlns:a16="http://schemas.microsoft.com/office/drawing/2014/main" id="{B7B4FAD2-23C1-C9D4-37FD-25F9AB2E56B8}"/>
              </a:ext>
            </a:extLst>
          </p:cNvPr>
          <p:cNvSpPr>
            <a:spLocks noGrp="1"/>
          </p:cNvSpPr>
          <p:nvPr>
            <p:ph type="title"/>
          </p:nvPr>
        </p:nvSpPr>
        <p:spPr>
          <a:xfrm>
            <a:off x="838200" y="365126"/>
            <a:ext cx="9885218" cy="668028"/>
          </a:xfrm>
        </p:spPr>
        <p:txBody>
          <a:bodyPr>
            <a:normAutofit fontScale="90000"/>
          </a:bodyPr>
          <a:lstStyle/>
          <a:p>
            <a:pPr algn="ctr"/>
            <a:r>
              <a:rPr lang="en-GH" dirty="0">
                <a:solidFill>
                  <a:srgbClr val="C00000"/>
                </a:solidFill>
              </a:rPr>
              <a:t>Origin of cells of the immune system</a:t>
            </a:r>
          </a:p>
        </p:txBody>
      </p:sp>
    </p:spTree>
    <p:extLst>
      <p:ext uri="{BB962C8B-B14F-4D97-AF65-F5344CB8AC3E}">
        <p14:creationId xmlns:p14="http://schemas.microsoft.com/office/powerpoint/2010/main" val="33800314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ED3DD-D626-0BBC-8CB1-3D19A12F7661}"/>
              </a:ext>
            </a:extLst>
          </p:cNvPr>
          <p:cNvSpPr>
            <a:spLocks noGrp="1"/>
          </p:cNvSpPr>
          <p:nvPr>
            <p:ph type="title"/>
          </p:nvPr>
        </p:nvSpPr>
        <p:spPr/>
        <p:txBody>
          <a:bodyPr/>
          <a:lstStyle/>
          <a:p>
            <a:pPr algn="ctr"/>
            <a:r>
              <a:rPr lang="en-GH" dirty="0">
                <a:solidFill>
                  <a:srgbClr val="C00000"/>
                </a:solidFill>
              </a:rPr>
              <a:t>Cellular Components of the Adaptive Immune system</a:t>
            </a:r>
          </a:p>
        </p:txBody>
      </p:sp>
      <p:sp>
        <p:nvSpPr>
          <p:cNvPr id="3" name="Content Placeholder 2">
            <a:extLst>
              <a:ext uri="{FF2B5EF4-FFF2-40B4-BE49-F238E27FC236}">
                <a16:creationId xmlns:a16="http://schemas.microsoft.com/office/drawing/2014/main" id="{1A55BBCF-08FB-BDD0-40A8-A0D3CDCBC101}"/>
              </a:ext>
            </a:extLst>
          </p:cNvPr>
          <p:cNvSpPr>
            <a:spLocks noGrp="1"/>
          </p:cNvSpPr>
          <p:nvPr>
            <p:ph idx="1"/>
          </p:nvPr>
        </p:nvSpPr>
        <p:spPr/>
        <p:txBody>
          <a:bodyPr/>
          <a:lstStyle/>
          <a:p>
            <a:r>
              <a:rPr lang="en-GB" dirty="0"/>
              <a:t>C</a:t>
            </a:r>
            <a:r>
              <a:rPr lang="en-GH" dirty="0"/>
              <a:t>ells of the myeloid lineage, except erythrocytes or megakaryocytes, perform non-specific, stereotypic responses and are members of the innate immune response</a:t>
            </a:r>
          </a:p>
          <a:p>
            <a:endParaRPr lang="en-GH" dirty="0"/>
          </a:p>
          <a:p>
            <a:r>
              <a:rPr lang="en-GH" dirty="0"/>
              <a:t>B and T lymphocytes of the lymphoid lineage perform focused, antigen-specific roles in immunity</a:t>
            </a:r>
          </a:p>
          <a:p>
            <a:endParaRPr lang="en-GH" dirty="0"/>
          </a:p>
          <a:p>
            <a:r>
              <a:rPr lang="en-GH" dirty="0"/>
              <a:t>Natural killer cells also from the lymphoid lineage, participate in innate immunity</a:t>
            </a:r>
          </a:p>
        </p:txBody>
      </p:sp>
    </p:spTree>
    <p:extLst>
      <p:ext uri="{BB962C8B-B14F-4D97-AF65-F5344CB8AC3E}">
        <p14:creationId xmlns:p14="http://schemas.microsoft.com/office/powerpoint/2010/main" val="1286315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82202-B63B-A60D-1366-308FB061004E}"/>
              </a:ext>
            </a:extLst>
          </p:cNvPr>
          <p:cNvSpPr>
            <a:spLocks noGrp="1"/>
          </p:cNvSpPr>
          <p:nvPr>
            <p:ph type="title"/>
          </p:nvPr>
        </p:nvSpPr>
        <p:spPr/>
        <p:txBody>
          <a:bodyPr/>
          <a:lstStyle/>
          <a:p>
            <a:pPr algn="ctr"/>
            <a:r>
              <a:rPr lang="en-GH" dirty="0">
                <a:solidFill>
                  <a:srgbClr val="C00000"/>
                </a:solidFill>
              </a:rPr>
              <a:t>Lymphocytes</a:t>
            </a:r>
          </a:p>
        </p:txBody>
      </p:sp>
      <p:sp>
        <p:nvSpPr>
          <p:cNvPr id="3" name="Content Placeholder 2">
            <a:extLst>
              <a:ext uri="{FF2B5EF4-FFF2-40B4-BE49-F238E27FC236}">
                <a16:creationId xmlns:a16="http://schemas.microsoft.com/office/drawing/2014/main" id="{170C1887-806E-D7D5-9B02-7FE10E296FFD}"/>
              </a:ext>
            </a:extLst>
          </p:cNvPr>
          <p:cNvSpPr>
            <a:spLocks noGrp="1"/>
          </p:cNvSpPr>
          <p:nvPr>
            <p:ph idx="1"/>
          </p:nvPr>
        </p:nvSpPr>
        <p:spPr>
          <a:xfrm>
            <a:off x="838200" y="1696267"/>
            <a:ext cx="10515600" cy="4351338"/>
          </a:xfrm>
        </p:spPr>
        <p:txBody>
          <a:bodyPr>
            <a:normAutofit/>
          </a:bodyPr>
          <a:lstStyle/>
          <a:p>
            <a:r>
              <a:rPr lang="en-GH" dirty="0"/>
              <a:t>B and T lymphocytes in the </a:t>
            </a:r>
            <a:r>
              <a:rPr lang="en-GB" dirty="0"/>
              <a:t>bloodstream</a:t>
            </a:r>
            <a:r>
              <a:rPr lang="en-GH" dirty="0"/>
              <a:t> are almost morphologically indistinguishable at the light microscopic level, but represent 2 interdependent cell </a:t>
            </a:r>
            <a:r>
              <a:rPr lang="en-GB" dirty="0"/>
              <a:t>lineages</a:t>
            </a:r>
            <a:endParaRPr lang="en-GH" dirty="0"/>
          </a:p>
          <a:p>
            <a:r>
              <a:rPr lang="en-GH" b="1" dirty="0"/>
              <a:t>B lymphocytes </a:t>
            </a:r>
            <a:r>
              <a:rPr lang="en-GH" dirty="0"/>
              <a:t>remain in the </a:t>
            </a:r>
            <a:r>
              <a:rPr lang="en-GH" b="1" dirty="0"/>
              <a:t>bone marrow </a:t>
            </a:r>
            <a:r>
              <a:rPr lang="en-GH" dirty="0"/>
              <a:t>to complete their development</a:t>
            </a:r>
          </a:p>
          <a:p>
            <a:r>
              <a:rPr lang="en-GH" b="1" dirty="0"/>
              <a:t>T lymphocytes </a:t>
            </a:r>
            <a:r>
              <a:rPr lang="en-GH" dirty="0"/>
              <a:t>leave the bone marrow and undergo development in the </a:t>
            </a:r>
            <a:r>
              <a:rPr lang="en-GH" b="1" dirty="0"/>
              <a:t>thymus</a:t>
            </a:r>
          </a:p>
          <a:p>
            <a:pPr lvl="1"/>
            <a:r>
              <a:rPr lang="en-GH" sz="2400" dirty="0"/>
              <a:t>Both B and T lymphocytes have surface membrane receptors to bind specific antigens</a:t>
            </a:r>
          </a:p>
          <a:p>
            <a:pPr marL="457200" lvl="1" indent="0">
              <a:buNone/>
            </a:pPr>
            <a:endParaRPr lang="en-GH" b="1" dirty="0"/>
          </a:p>
        </p:txBody>
      </p:sp>
    </p:spTree>
    <p:extLst>
      <p:ext uri="{BB962C8B-B14F-4D97-AF65-F5344CB8AC3E}">
        <p14:creationId xmlns:p14="http://schemas.microsoft.com/office/powerpoint/2010/main" val="4258673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09BA7-A3EF-FBD9-8AE8-AFD504032F76}"/>
              </a:ext>
            </a:extLst>
          </p:cNvPr>
          <p:cNvSpPr>
            <a:spLocks noGrp="1"/>
          </p:cNvSpPr>
          <p:nvPr>
            <p:ph type="title"/>
          </p:nvPr>
        </p:nvSpPr>
        <p:spPr>
          <a:xfrm>
            <a:off x="838200" y="353092"/>
            <a:ext cx="10736179" cy="1325563"/>
          </a:xfrm>
        </p:spPr>
        <p:txBody>
          <a:bodyPr/>
          <a:lstStyle/>
          <a:p>
            <a:r>
              <a:rPr lang="en-GH" dirty="0">
                <a:solidFill>
                  <a:srgbClr val="C00000"/>
                </a:solidFill>
              </a:rPr>
              <a:t>Antigen recognition Molecules of lymphocytes</a:t>
            </a:r>
          </a:p>
        </p:txBody>
      </p:sp>
      <p:sp>
        <p:nvSpPr>
          <p:cNvPr id="3" name="Content Placeholder 2">
            <a:extLst>
              <a:ext uri="{FF2B5EF4-FFF2-40B4-BE49-F238E27FC236}">
                <a16:creationId xmlns:a16="http://schemas.microsoft.com/office/drawing/2014/main" id="{9B06FCE1-DB1A-74D3-00FA-D73FF9913696}"/>
              </a:ext>
            </a:extLst>
          </p:cNvPr>
          <p:cNvSpPr>
            <a:spLocks noGrp="1"/>
          </p:cNvSpPr>
          <p:nvPr>
            <p:ph idx="1"/>
          </p:nvPr>
        </p:nvSpPr>
        <p:spPr>
          <a:xfrm>
            <a:off x="239762" y="1678655"/>
            <a:ext cx="10515600" cy="4351338"/>
          </a:xfrm>
        </p:spPr>
        <p:txBody>
          <a:bodyPr/>
          <a:lstStyle/>
          <a:p>
            <a:r>
              <a:rPr lang="en-GH" dirty="0"/>
              <a:t>Each cell of the lymphoid lineage is clinically identified by the characteristic surface molecules that it possesses</a:t>
            </a:r>
          </a:p>
          <a:p>
            <a:endParaRPr lang="en-GH" dirty="0"/>
          </a:p>
          <a:p>
            <a:pPr lvl="1"/>
            <a:r>
              <a:rPr lang="en-GH" dirty="0"/>
              <a:t>The matured, na</a:t>
            </a:r>
            <a:r>
              <a:rPr lang="en-GB" dirty="0"/>
              <a:t>i</a:t>
            </a:r>
            <a:r>
              <a:rPr lang="en-GH" dirty="0"/>
              <a:t>ve </a:t>
            </a:r>
            <a:r>
              <a:rPr lang="en-GH" b="1" dirty="0"/>
              <a:t>B lymphocyte</a:t>
            </a:r>
            <a:r>
              <a:rPr lang="en-GH" dirty="0"/>
              <a:t>, in it </a:t>
            </a:r>
          </a:p>
          <a:p>
            <a:pPr marL="457200" lvl="1" indent="0">
              <a:buNone/>
            </a:pPr>
            <a:r>
              <a:rPr lang="en-GH" dirty="0"/>
              <a:t>matured ready-to-respond form, expresses </a:t>
            </a:r>
          </a:p>
          <a:p>
            <a:pPr marL="457200" lvl="1" indent="0">
              <a:buNone/>
            </a:pPr>
            <a:r>
              <a:rPr lang="en-GH" dirty="0"/>
              <a:t>2 isotypes of antibody or immunoglobulin </a:t>
            </a:r>
          </a:p>
          <a:p>
            <a:pPr marL="457200" lvl="1" indent="0">
              <a:buNone/>
            </a:pPr>
            <a:r>
              <a:rPr lang="en-GH" dirty="0"/>
              <a:t>called</a:t>
            </a:r>
            <a:r>
              <a:rPr lang="en-GH" b="1" dirty="0"/>
              <a:t> IgM </a:t>
            </a:r>
            <a:r>
              <a:rPr lang="en-GH" dirty="0"/>
              <a:t>and </a:t>
            </a:r>
            <a:r>
              <a:rPr lang="en-GH" b="1" dirty="0"/>
              <a:t>IgD</a:t>
            </a:r>
            <a:r>
              <a:rPr lang="en-GH" dirty="0"/>
              <a:t> within its surface membrane</a:t>
            </a:r>
          </a:p>
          <a:p>
            <a:pPr lvl="1"/>
            <a:r>
              <a:rPr lang="en-GH" dirty="0"/>
              <a:t> The matured, na</a:t>
            </a:r>
            <a:r>
              <a:rPr lang="en-GB" dirty="0"/>
              <a:t>i</a:t>
            </a:r>
            <a:r>
              <a:rPr lang="en-GH" dirty="0"/>
              <a:t>ve </a:t>
            </a:r>
            <a:r>
              <a:rPr lang="en-GH" b="1" dirty="0"/>
              <a:t>T cell </a:t>
            </a:r>
            <a:r>
              <a:rPr lang="en-GH" dirty="0"/>
              <a:t>expresses </a:t>
            </a:r>
          </a:p>
          <a:p>
            <a:pPr marL="457200" lvl="1" indent="0">
              <a:buNone/>
            </a:pPr>
            <a:r>
              <a:rPr lang="en-GH" dirty="0"/>
              <a:t>a single genetically related molecule, </a:t>
            </a:r>
          </a:p>
          <a:p>
            <a:pPr marL="457200" lvl="1" indent="0">
              <a:buNone/>
            </a:pPr>
            <a:r>
              <a:rPr lang="en-GH" dirty="0"/>
              <a:t>called </a:t>
            </a:r>
            <a:r>
              <a:rPr lang="en-GH" b="1" dirty="0"/>
              <a:t>T-cell receptor </a:t>
            </a:r>
            <a:r>
              <a:rPr lang="en-GH" dirty="0"/>
              <a:t>(</a:t>
            </a:r>
            <a:r>
              <a:rPr lang="en-GH" b="1" dirty="0"/>
              <a:t>TCR</a:t>
            </a:r>
            <a:r>
              <a:rPr lang="en-GH" dirty="0"/>
              <a:t>) on its surface </a:t>
            </a:r>
          </a:p>
        </p:txBody>
      </p:sp>
      <p:pic>
        <p:nvPicPr>
          <p:cNvPr id="5" name="Picture 4">
            <a:extLst>
              <a:ext uri="{FF2B5EF4-FFF2-40B4-BE49-F238E27FC236}">
                <a16:creationId xmlns:a16="http://schemas.microsoft.com/office/drawing/2014/main" id="{938D7490-59DF-0552-B4BC-1927C93469AD}"/>
              </a:ext>
            </a:extLst>
          </p:cNvPr>
          <p:cNvPicPr>
            <a:picLocks noChangeAspect="1"/>
          </p:cNvPicPr>
          <p:nvPr/>
        </p:nvPicPr>
        <p:blipFill>
          <a:blip r:embed="rId3"/>
          <a:stretch>
            <a:fillRect/>
          </a:stretch>
        </p:blipFill>
        <p:spPr>
          <a:xfrm>
            <a:off x="6759917" y="2535570"/>
            <a:ext cx="5207493" cy="3752769"/>
          </a:xfrm>
          <a:prstGeom prst="rect">
            <a:avLst/>
          </a:prstGeom>
        </p:spPr>
      </p:pic>
    </p:spTree>
    <p:extLst>
      <p:ext uri="{BB962C8B-B14F-4D97-AF65-F5344CB8AC3E}">
        <p14:creationId xmlns:p14="http://schemas.microsoft.com/office/powerpoint/2010/main" val="943683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2D069-D38A-3390-9C18-B11C09D657E0}"/>
              </a:ext>
            </a:extLst>
          </p:cNvPr>
          <p:cNvSpPr>
            <a:spLocks noGrp="1"/>
          </p:cNvSpPr>
          <p:nvPr>
            <p:ph type="title"/>
          </p:nvPr>
        </p:nvSpPr>
        <p:spPr/>
        <p:txBody>
          <a:bodyPr/>
          <a:lstStyle/>
          <a:p>
            <a:r>
              <a:rPr lang="en-GH" dirty="0">
                <a:solidFill>
                  <a:srgbClr val="C00000"/>
                </a:solidFill>
              </a:rPr>
              <a:t>Selection of T and B lymphocytes</a:t>
            </a:r>
          </a:p>
        </p:txBody>
      </p:sp>
      <p:sp>
        <p:nvSpPr>
          <p:cNvPr id="3" name="Content Placeholder 2">
            <a:extLst>
              <a:ext uri="{FF2B5EF4-FFF2-40B4-BE49-F238E27FC236}">
                <a16:creationId xmlns:a16="http://schemas.microsoft.com/office/drawing/2014/main" id="{AFAA7306-829F-F003-B96E-E8AE474144C3}"/>
              </a:ext>
            </a:extLst>
          </p:cNvPr>
          <p:cNvSpPr>
            <a:spLocks noGrp="1"/>
          </p:cNvSpPr>
          <p:nvPr>
            <p:ph idx="1"/>
          </p:nvPr>
        </p:nvSpPr>
        <p:spPr/>
        <p:txBody>
          <a:bodyPr>
            <a:normAutofit lnSpcReduction="10000"/>
          </a:bodyPr>
          <a:lstStyle/>
          <a:p>
            <a:r>
              <a:rPr lang="en-GB" dirty="0"/>
              <a:t>L</a:t>
            </a:r>
            <a:r>
              <a:rPr lang="en-GH" dirty="0"/>
              <a:t>ymphoid progenitors develop in the bone marrow, they make rearrangement</a:t>
            </a:r>
            <a:r>
              <a:rPr lang="en-GB" dirty="0"/>
              <a:t>s</a:t>
            </a:r>
            <a:r>
              <a:rPr lang="en-GH" dirty="0"/>
              <a:t> of their germline DNA to produce unique idiotypes of antigen recognition molecules</a:t>
            </a:r>
          </a:p>
          <a:p>
            <a:endParaRPr lang="en-GH" dirty="0"/>
          </a:p>
          <a:p>
            <a:r>
              <a:rPr lang="en-GH" dirty="0"/>
              <a:t>Bone marrow is a </a:t>
            </a:r>
            <a:r>
              <a:rPr lang="en-GH" b="1" dirty="0"/>
              <a:t>primary lymphoid organ</a:t>
            </a:r>
            <a:r>
              <a:rPr lang="en-GH" dirty="0"/>
              <a:t> because it supports and encourages these early developmental changes</a:t>
            </a:r>
          </a:p>
          <a:p>
            <a:endParaRPr lang="en-GH" dirty="0"/>
          </a:p>
          <a:p>
            <a:r>
              <a:rPr lang="en-GH" dirty="0"/>
              <a:t>B lymphocytes complete their entire formative period in the bone marrow and can be identified by the immunoglobulin chains they produce</a:t>
            </a:r>
          </a:p>
        </p:txBody>
      </p:sp>
    </p:spTree>
    <p:extLst>
      <p:ext uri="{BB962C8B-B14F-4D97-AF65-F5344CB8AC3E}">
        <p14:creationId xmlns:p14="http://schemas.microsoft.com/office/powerpoint/2010/main" val="1083565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F79E88-B5D1-1A2F-FB0A-16565FA1F5A7}"/>
              </a:ext>
            </a:extLst>
          </p:cNvPr>
          <p:cNvSpPr>
            <a:spLocks noGrp="1"/>
          </p:cNvSpPr>
          <p:nvPr>
            <p:ph type="title"/>
          </p:nvPr>
        </p:nvSpPr>
        <p:spPr/>
        <p:txBody>
          <a:bodyPr/>
          <a:lstStyle/>
          <a:p>
            <a:r>
              <a:rPr lang="en-GH" dirty="0">
                <a:solidFill>
                  <a:srgbClr val="C00000"/>
                </a:solidFill>
              </a:rPr>
              <a:t>B Lymphocyte development</a:t>
            </a:r>
          </a:p>
        </p:txBody>
      </p:sp>
      <p:sp>
        <p:nvSpPr>
          <p:cNvPr id="3" name="Content Placeholder 2">
            <a:extLst>
              <a:ext uri="{FF2B5EF4-FFF2-40B4-BE49-F238E27FC236}">
                <a16:creationId xmlns:a16="http://schemas.microsoft.com/office/drawing/2014/main" id="{B4A09956-0989-048D-9021-09F33D72AD92}"/>
              </a:ext>
            </a:extLst>
          </p:cNvPr>
          <p:cNvSpPr>
            <a:spLocks noGrp="1"/>
          </p:cNvSpPr>
          <p:nvPr>
            <p:ph idx="1"/>
          </p:nvPr>
        </p:nvSpPr>
        <p:spPr/>
        <p:txBody>
          <a:bodyPr/>
          <a:lstStyle/>
          <a:p>
            <a:r>
              <a:rPr lang="en-GH" dirty="0"/>
              <a:t>Gene segment rearrangements occur randomly and in the absence of stimulation with foreign antigen</a:t>
            </a:r>
          </a:p>
          <a:p>
            <a:r>
              <a:rPr lang="en-GH" dirty="0"/>
              <a:t>Cells whose idiotype ha</a:t>
            </a:r>
            <a:r>
              <a:rPr lang="en-GB" dirty="0"/>
              <a:t>s</a:t>
            </a:r>
            <a:r>
              <a:rPr lang="en-GH" dirty="0"/>
              <a:t> too great an affinity for normal cellular molecules are either deleted in the bone marrow (</a:t>
            </a:r>
            <a:r>
              <a:rPr lang="en-GH" b="1" dirty="0"/>
              <a:t>clonal deletion</a:t>
            </a:r>
            <a:r>
              <a:rPr lang="en-GH" dirty="0"/>
              <a:t>) or inactivated in the periphery (</a:t>
            </a:r>
            <a:r>
              <a:rPr lang="en-GH" b="1" dirty="0"/>
              <a:t>clonal anergy</a:t>
            </a:r>
            <a:r>
              <a:rPr lang="en-GH" dirty="0"/>
              <a:t>)</a:t>
            </a:r>
          </a:p>
          <a:p>
            <a:r>
              <a:rPr lang="en-GH" dirty="0"/>
              <a:t>Anergic B cells express high level of IgD on their surface rendering them inactive</a:t>
            </a:r>
          </a:p>
          <a:p>
            <a:r>
              <a:rPr lang="en-GH" dirty="0"/>
              <a:t>Only cells that are </a:t>
            </a:r>
            <a:r>
              <a:rPr lang="en-GH" b="1" dirty="0"/>
              <a:t>selectively unresponsive </a:t>
            </a:r>
            <a:r>
              <a:rPr lang="en-GH" dirty="0"/>
              <a:t>(</a:t>
            </a:r>
            <a:r>
              <a:rPr lang="en-GH" b="1" dirty="0"/>
              <a:t>tolerant</a:t>
            </a:r>
            <a:r>
              <a:rPr lang="en-GH" dirty="0"/>
              <a:t>) to self-antigens are allowed to leave the bone marrow</a:t>
            </a:r>
          </a:p>
        </p:txBody>
      </p:sp>
    </p:spTree>
    <p:extLst>
      <p:ext uri="{BB962C8B-B14F-4D97-AF65-F5344CB8AC3E}">
        <p14:creationId xmlns:p14="http://schemas.microsoft.com/office/powerpoint/2010/main" val="4141111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C59F2C5-7AC1-CB2B-5CCC-7C9916D2C24D}"/>
              </a:ext>
            </a:extLst>
          </p:cNvPr>
          <p:cNvPicPr>
            <a:picLocks noChangeAspect="1"/>
          </p:cNvPicPr>
          <p:nvPr/>
        </p:nvPicPr>
        <p:blipFill>
          <a:blip r:embed="rId2"/>
          <a:stretch>
            <a:fillRect/>
          </a:stretch>
        </p:blipFill>
        <p:spPr>
          <a:xfrm>
            <a:off x="2376497" y="207512"/>
            <a:ext cx="6875787" cy="6442976"/>
          </a:xfrm>
          <a:prstGeom prst="rect">
            <a:avLst/>
          </a:prstGeom>
        </p:spPr>
      </p:pic>
    </p:spTree>
    <p:extLst>
      <p:ext uri="{BB962C8B-B14F-4D97-AF65-F5344CB8AC3E}">
        <p14:creationId xmlns:p14="http://schemas.microsoft.com/office/powerpoint/2010/main" val="3093090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B71CC6E-CAC2-881F-298D-80DAB2BE91A9}"/>
              </a:ext>
            </a:extLst>
          </p:cNvPr>
          <p:cNvSpPr>
            <a:spLocks noGrp="1"/>
          </p:cNvSpPr>
          <p:nvPr>
            <p:ph type="title"/>
          </p:nvPr>
        </p:nvSpPr>
        <p:spPr/>
        <p:txBody>
          <a:bodyPr/>
          <a:lstStyle/>
          <a:p>
            <a:r>
              <a:rPr lang="en-GH" dirty="0">
                <a:solidFill>
                  <a:srgbClr val="C00000"/>
                </a:solidFill>
              </a:rPr>
              <a:t>T Lymphocyte development</a:t>
            </a:r>
          </a:p>
        </p:txBody>
      </p:sp>
      <p:sp>
        <p:nvSpPr>
          <p:cNvPr id="3" name="Content Placeholder 2">
            <a:extLst>
              <a:ext uri="{FF2B5EF4-FFF2-40B4-BE49-F238E27FC236}">
                <a16:creationId xmlns:a16="http://schemas.microsoft.com/office/drawing/2014/main" id="{5B2E4C07-4F65-85FF-CB35-555BA7E2C9F6}"/>
              </a:ext>
            </a:extLst>
          </p:cNvPr>
          <p:cNvSpPr>
            <a:spLocks noGrp="1"/>
          </p:cNvSpPr>
          <p:nvPr>
            <p:ph sz="half" idx="1"/>
          </p:nvPr>
        </p:nvSpPr>
        <p:spPr>
          <a:xfrm>
            <a:off x="838198" y="1589921"/>
            <a:ext cx="5181601" cy="4714625"/>
          </a:xfrm>
        </p:spPr>
        <p:txBody>
          <a:bodyPr>
            <a:normAutofit/>
          </a:bodyPr>
          <a:lstStyle/>
          <a:p>
            <a:r>
              <a:rPr lang="en-GB" dirty="0"/>
              <a:t>I</a:t>
            </a:r>
            <a:r>
              <a:rPr lang="en-GH" dirty="0"/>
              <a:t>mmature lymphocytes destined for T-cell lineage leave the bone marrow and proceed to the </a:t>
            </a:r>
            <a:r>
              <a:rPr lang="en-GH" b="1" dirty="0"/>
              <a:t>thymus, </a:t>
            </a:r>
            <a:r>
              <a:rPr lang="en-GB" b="1" dirty="0"/>
              <a:t>the </a:t>
            </a:r>
            <a:r>
              <a:rPr lang="en-GH" dirty="0"/>
              <a:t>second</a:t>
            </a:r>
            <a:r>
              <a:rPr lang="en-GH" b="1" dirty="0"/>
              <a:t> primary ly</a:t>
            </a:r>
            <a:r>
              <a:rPr lang="en-GB" b="1" dirty="0"/>
              <a:t>m</a:t>
            </a:r>
            <a:r>
              <a:rPr lang="en-GH" b="1" dirty="0"/>
              <a:t>phoid organ </a:t>
            </a:r>
            <a:r>
              <a:rPr lang="en-GH" dirty="0"/>
              <a:t>dedicated </a:t>
            </a:r>
            <a:r>
              <a:rPr lang="en-GB" dirty="0"/>
              <a:t>to</a:t>
            </a:r>
            <a:r>
              <a:rPr lang="en-GH" dirty="0"/>
              <a:t> T-cell maturation</a:t>
            </a:r>
            <a:endParaRPr lang="en-GH" b="1" dirty="0"/>
          </a:p>
          <a:p>
            <a:r>
              <a:rPr lang="en-GH" dirty="0"/>
              <a:t>These pre-thymic cells are referred to as </a:t>
            </a:r>
            <a:r>
              <a:rPr lang="en-GH" b="1" dirty="0"/>
              <a:t>double-negative T lymphocytes </a:t>
            </a:r>
            <a:r>
              <a:rPr lang="en-GH" dirty="0"/>
              <a:t>since they do not express CD4 or CD8 on their surface</a:t>
            </a:r>
          </a:p>
        </p:txBody>
      </p:sp>
      <p:pic>
        <p:nvPicPr>
          <p:cNvPr id="9" name="Picture 8">
            <a:extLst>
              <a:ext uri="{FF2B5EF4-FFF2-40B4-BE49-F238E27FC236}">
                <a16:creationId xmlns:a16="http://schemas.microsoft.com/office/drawing/2014/main" id="{BD46104D-3226-1237-39D9-DAF96C8D1DB8}"/>
              </a:ext>
            </a:extLst>
          </p:cNvPr>
          <p:cNvPicPr>
            <a:picLocks noChangeAspect="1"/>
          </p:cNvPicPr>
          <p:nvPr/>
        </p:nvPicPr>
        <p:blipFill>
          <a:blip r:embed="rId3"/>
          <a:stretch>
            <a:fillRect/>
          </a:stretch>
        </p:blipFill>
        <p:spPr>
          <a:xfrm>
            <a:off x="6172202" y="1825625"/>
            <a:ext cx="5965293" cy="3879933"/>
          </a:xfrm>
          <a:prstGeom prst="rect">
            <a:avLst/>
          </a:prstGeom>
        </p:spPr>
      </p:pic>
    </p:spTree>
    <p:extLst>
      <p:ext uri="{BB962C8B-B14F-4D97-AF65-F5344CB8AC3E}">
        <p14:creationId xmlns:p14="http://schemas.microsoft.com/office/powerpoint/2010/main" val="1779711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BEF6AE7F-66F9-488C-55EE-F161044DBAEF}"/>
              </a:ext>
            </a:extLst>
          </p:cNvPr>
          <p:cNvSpPr>
            <a:spLocks noGrp="1"/>
          </p:cNvSpPr>
          <p:nvPr>
            <p:ph idx="1"/>
          </p:nvPr>
        </p:nvSpPr>
        <p:spPr>
          <a:xfrm>
            <a:off x="838200" y="1343817"/>
            <a:ext cx="10515600" cy="4900571"/>
          </a:xfrm>
        </p:spPr>
        <p:txBody>
          <a:bodyPr>
            <a:normAutofit/>
          </a:bodyPr>
          <a:lstStyle/>
          <a:p>
            <a:r>
              <a:rPr lang="en-GB" dirty="0"/>
              <a:t>W</a:t>
            </a:r>
            <a:r>
              <a:rPr lang="en-GH" dirty="0"/>
              <a:t>ithin the cortex, the thymocytes will begin to rearrange the beta and alpha chains of the T-cell receptor (TCR) while coexpressing CD3 complex  as well as CD4 and CD8 co-receptors – </a:t>
            </a:r>
            <a:r>
              <a:rPr lang="en-GH" b="1" dirty="0"/>
              <a:t>double positive</a:t>
            </a:r>
          </a:p>
          <a:p>
            <a:r>
              <a:rPr lang="en-GB" dirty="0"/>
              <a:t>D</a:t>
            </a:r>
            <a:r>
              <a:rPr lang="en-GH" dirty="0"/>
              <a:t>eveloping T cells expressing TCRs are subjected to a rigorous 2-step selection process to remove;</a:t>
            </a:r>
          </a:p>
          <a:p>
            <a:pPr lvl="1"/>
            <a:r>
              <a:rPr lang="en-GH" dirty="0"/>
              <a:t>Cells that will bind to normal self-antigens and cause </a:t>
            </a:r>
            <a:r>
              <a:rPr lang="en-GH" b="1" dirty="0"/>
              <a:t>autoimmunity</a:t>
            </a:r>
          </a:p>
          <a:p>
            <a:pPr lvl="1"/>
            <a:r>
              <a:rPr lang="en-GB" dirty="0"/>
              <a:t>C</a:t>
            </a:r>
            <a:r>
              <a:rPr lang="en-GH" dirty="0"/>
              <a:t>ells with no attraction whatsoever for the surfaces of </a:t>
            </a:r>
            <a:r>
              <a:rPr lang="en-GH" b="1" dirty="0"/>
              <a:t>Antigen-Presenting cells </a:t>
            </a:r>
            <a:r>
              <a:rPr lang="en-GH" dirty="0"/>
              <a:t>(APCs)</a:t>
            </a:r>
            <a:endParaRPr lang="en-GH" b="1" dirty="0"/>
          </a:p>
          <a:p>
            <a:r>
              <a:rPr lang="en-GH" dirty="0"/>
              <a:t>This is accomplished by exposure of developing T cells to high levels of a unique group of membrane-bound molecules known as </a:t>
            </a:r>
            <a:r>
              <a:rPr lang="en-GH" b="1" dirty="0"/>
              <a:t>major histocompatibility complex</a:t>
            </a:r>
            <a:r>
              <a:rPr lang="en-GH" dirty="0"/>
              <a:t> (</a:t>
            </a:r>
            <a:r>
              <a:rPr lang="en-GH" b="1" dirty="0"/>
              <a:t>MHC</a:t>
            </a:r>
            <a:r>
              <a:rPr lang="en-GH" dirty="0"/>
              <a:t>) antigens</a:t>
            </a:r>
          </a:p>
        </p:txBody>
      </p:sp>
      <p:sp>
        <p:nvSpPr>
          <p:cNvPr id="7" name="Title 1">
            <a:extLst>
              <a:ext uri="{FF2B5EF4-FFF2-40B4-BE49-F238E27FC236}">
                <a16:creationId xmlns:a16="http://schemas.microsoft.com/office/drawing/2014/main" id="{4E57C535-518B-A4C4-D28D-659335A9FC5C}"/>
              </a:ext>
            </a:extLst>
          </p:cNvPr>
          <p:cNvSpPr>
            <a:spLocks noGrp="1"/>
          </p:cNvSpPr>
          <p:nvPr>
            <p:ph type="title"/>
          </p:nvPr>
        </p:nvSpPr>
        <p:spPr>
          <a:xfrm>
            <a:off x="669758" y="18255"/>
            <a:ext cx="10515600" cy="1325563"/>
          </a:xfrm>
        </p:spPr>
        <p:txBody>
          <a:bodyPr/>
          <a:lstStyle/>
          <a:p>
            <a:r>
              <a:rPr lang="en-GH" dirty="0">
                <a:solidFill>
                  <a:srgbClr val="C00000"/>
                </a:solidFill>
              </a:rPr>
              <a:t>T Lymphocyte development</a:t>
            </a:r>
          </a:p>
        </p:txBody>
      </p:sp>
    </p:spTree>
    <p:extLst>
      <p:ext uri="{BB962C8B-B14F-4D97-AF65-F5344CB8AC3E}">
        <p14:creationId xmlns:p14="http://schemas.microsoft.com/office/powerpoint/2010/main" val="8978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CFAC5-FE59-75E2-8B3C-4F68FEF929CB}"/>
              </a:ext>
            </a:extLst>
          </p:cNvPr>
          <p:cNvSpPr>
            <a:spLocks noGrp="1"/>
          </p:cNvSpPr>
          <p:nvPr>
            <p:ph type="title"/>
          </p:nvPr>
        </p:nvSpPr>
        <p:spPr/>
        <p:txBody>
          <a:bodyPr/>
          <a:lstStyle/>
          <a:p>
            <a:r>
              <a:rPr lang="en-GH" dirty="0">
                <a:solidFill>
                  <a:srgbClr val="C00000"/>
                </a:solidFill>
              </a:rPr>
              <a:t>Major Histocompatibility Complex (MHC)</a:t>
            </a:r>
          </a:p>
        </p:txBody>
      </p:sp>
      <p:sp>
        <p:nvSpPr>
          <p:cNvPr id="3" name="Content Placeholder 2">
            <a:extLst>
              <a:ext uri="{FF2B5EF4-FFF2-40B4-BE49-F238E27FC236}">
                <a16:creationId xmlns:a16="http://schemas.microsoft.com/office/drawing/2014/main" id="{6E547C44-7E60-11AE-F8D9-F070C5014209}"/>
              </a:ext>
            </a:extLst>
          </p:cNvPr>
          <p:cNvSpPr>
            <a:spLocks noGrp="1"/>
          </p:cNvSpPr>
          <p:nvPr>
            <p:ph idx="1"/>
          </p:nvPr>
        </p:nvSpPr>
        <p:spPr/>
        <p:txBody>
          <a:bodyPr/>
          <a:lstStyle/>
          <a:p>
            <a:r>
              <a:rPr lang="en-GH" dirty="0"/>
              <a:t>MHC is a collection of highly polymorphic genes on the short arm of chromosome 6 in human</a:t>
            </a:r>
          </a:p>
          <a:p>
            <a:r>
              <a:rPr lang="en-GH" dirty="0"/>
              <a:t>There are 2 major classes of cell-bound MHC gene products: I and II</a:t>
            </a:r>
          </a:p>
          <a:p>
            <a:r>
              <a:rPr lang="en-GH" dirty="0"/>
              <a:t>Both type I and II molecules are expressed at high density on the surface of cells of the thymic stroma</a:t>
            </a:r>
          </a:p>
          <a:p>
            <a:r>
              <a:rPr lang="en-GH" dirty="0"/>
              <a:t>MHC gene products are also called human leukocyte antigen (HLA)</a:t>
            </a:r>
          </a:p>
          <a:p>
            <a:pPr lvl="1"/>
            <a:r>
              <a:rPr lang="en-GH" dirty="0"/>
              <a:t>Class I MHC gene products: HLA-A, HLA-B, HLA-C</a:t>
            </a:r>
          </a:p>
          <a:p>
            <a:pPr lvl="1"/>
            <a:r>
              <a:rPr lang="en-GH" dirty="0"/>
              <a:t>Class II MHC gene products: HLA-DM, HLA-DP, HLA-DQ, HLA-DR</a:t>
            </a:r>
          </a:p>
        </p:txBody>
      </p:sp>
    </p:spTree>
    <p:extLst>
      <p:ext uri="{BB962C8B-B14F-4D97-AF65-F5344CB8AC3E}">
        <p14:creationId xmlns:p14="http://schemas.microsoft.com/office/powerpoint/2010/main" val="1812208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7F5D-C0AC-C5B4-154A-182EE89B5EF9}"/>
              </a:ext>
            </a:extLst>
          </p:cNvPr>
          <p:cNvSpPr>
            <a:spLocks noGrp="1"/>
          </p:cNvSpPr>
          <p:nvPr>
            <p:ph type="title"/>
          </p:nvPr>
        </p:nvSpPr>
        <p:spPr/>
        <p:txBody>
          <a:bodyPr/>
          <a:lstStyle/>
          <a:p>
            <a:pPr algn="ctr"/>
            <a:r>
              <a:rPr lang="en-GB" dirty="0">
                <a:solidFill>
                  <a:srgbClr val="C00000"/>
                </a:solidFill>
              </a:rPr>
              <a:t>Thymic Education</a:t>
            </a:r>
            <a:endParaRPr lang="en-GH" dirty="0">
              <a:solidFill>
                <a:srgbClr val="C00000"/>
              </a:solidFill>
            </a:endParaRPr>
          </a:p>
        </p:txBody>
      </p:sp>
      <p:sp>
        <p:nvSpPr>
          <p:cNvPr id="6" name="Content Placeholder 5">
            <a:extLst>
              <a:ext uri="{FF2B5EF4-FFF2-40B4-BE49-F238E27FC236}">
                <a16:creationId xmlns:a16="http://schemas.microsoft.com/office/drawing/2014/main" id="{51750E25-B738-5069-94BA-5EABC54A8D49}"/>
              </a:ext>
            </a:extLst>
          </p:cNvPr>
          <p:cNvSpPr>
            <a:spLocks noGrp="1"/>
          </p:cNvSpPr>
          <p:nvPr>
            <p:ph idx="1"/>
          </p:nvPr>
        </p:nvSpPr>
        <p:spPr/>
        <p:txBody>
          <a:bodyPr>
            <a:normAutofit fontScale="77500" lnSpcReduction="20000"/>
          </a:bodyPr>
          <a:lstStyle/>
          <a:p>
            <a:r>
              <a:rPr lang="en-GH" dirty="0"/>
              <a:t>Within the thymus, each of these MHC products, loaded with normal self-peptides,  is presented to the developing double-positive T cells</a:t>
            </a:r>
          </a:p>
          <a:p>
            <a:endParaRPr lang="en-GH" dirty="0"/>
          </a:p>
          <a:p>
            <a:pPr lvl="1"/>
            <a:r>
              <a:rPr lang="en-GH" dirty="0"/>
              <a:t>Those that have TCRs capable of binding with low affinity will receive a </a:t>
            </a:r>
            <a:r>
              <a:rPr lang="en-GH" b="1" dirty="0"/>
              <a:t>positive selection </a:t>
            </a:r>
            <a:r>
              <a:rPr lang="en-GH" dirty="0"/>
              <a:t>signal to divide and establish clones that will eventually mature in the medulla</a:t>
            </a:r>
          </a:p>
          <a:p>
            <a:pPr lvl="1"/>
            <a:r>
              <a:rPr lang="en-GH" dirty="0"/>
              <a:t>Those that fails to recognize self MHC at all will not be encourage to mature (</a:t>
            </a:r>
            <a:r>
              <a:rPr lang="en-GH" b="1" dirty="0"/>
              <a:t>failure of positive selection</a:t>
            </a:r>
            <a:r>
              <a:rPr lang="en-GH" dirty="0"/>
              <a:t>)</a:t>
            </a:r>
          </a:p>
          <a:p>
            <a:pPr lvl="1"/>
            <a:r>
              <a:rPr lang="en-GH" dirty="0"/>
              <a:t>Those that binds too strongly to self MHC molecules and self peptide will be induced to undergo apoptosis (</a:t>
            </a:r>
            <a:r>
              <a:rPr lang="en-GH" b="1" dirty="0"/>
              <a:t>negative selection</a:t>
            </a:r>
            <a:r>
              <a:rPr lang="en-GH" dirty="0"/>
              <a:t>) because these cells would have the potential to cause autoimmunity</a:t>
            </a:r>
          </a:p>
          <a:p>
            <a:pPr lvl="1"/>
            <a:endParaRPr lang="en-GH" dirty="0"/>
          </a:p>
          <a:p>
            <a:r>
              <a:rPr lang="en-GH" dirty="0"/>
              <a:t>Double positive T cells, are directed to express only CD8 if their TCR binds to class I molecules, and only CD4 if if their TCR binds to class II molecules. At this point T-cells are single positive</a:t>
            </a:r>
          </a:p>
          <a:p>
            <a:r>
              <a:rPr lang="en-GH" dirty="0"/>
              <a:t>CD4+ cells that recognize class II MHC are destined to become “T helper (Th) cells, and CD8+ that recognize class I MHC are destined to become cytotoxic T lymphocytes (CTLs)</a:t>
            </a:r>
          </a:p>
          <a:p>
            <a:endParaRPr lang="en-GH" dirty="0"/>
          </a:p>
          <a:p>
            <a:pPr lvl="1"/>
            <a:endParaRPr lang="en-GH" dirty="0"/>
          </a:p>
        </p:txBody>
      </p:sp>
    </p:spTree>
    <p:extLst>
      <p:ext uri="{BB962C8B-B14F-4D97-AF65-F5344CB8AC3E}">
        <p14:creationId xmlns:p14="http://schemas.microsoft.com/office/powerpoint/2010/main" val="1294434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4ACFE2-5C07-4D0C-D7D1-B795E32EECAE}"/>
              </a:ext>
            </a:extLst>
          </p:cNvPr>
          <p:cNvSpPr>
            <a:spLocks noGrp="1"/>
          </p:cNvSpPr>
          <p:nvPr>
            <p:ph type="title"/>
          </p:nvPr>
        </p:nvSpPr>
        <p:spPr/>
        <p:txBody>
          <a:bodyPr/>
          <a:lstStyle/>
          <a:p>
            <a:r>
              <a:rPr lang="en-GH" dirty="0">
                <a:solidFill>
                  <a:srgbClr val="C00000"/>
                </a:solidFill>
              </a:rPr>
              <a:t>Regulatory T cells (T-regs)</a:t>
            </a:r>
          </a:p>
        </p:txBody>
      </p:sp>
      <p:sp>
        <p:nvSpPr>
          <p:cNvPr id="3" name="Content Placeholder 2">
            <a:extLst>
              <a:ext uri="{FF2B5EF4-FFF2-40B4-BE49-F238E27FC236}">
                <a16:creationId xmlns:a16="http://schemas.microsoft.com/office/drawing/2014/main" id="{AD270FF1-EADB-CFBC-D411-FA45A4874BF2}"/>
              </a:ext>
            </a:extLst>
          </p:cNvPr>
          <p:cNvSpPr>
            <a:spLocks noGrp="1"/>
          </p:cNvSpPr>
          <p:nvPr>
            <p:ph idx="1"/>
          </p:nvPr>
        </p:nvSpPr>
        <p:spPr>
          <a:xfrm>
            <a:off x="838200" y="1690688"/>
            <a:ext cx="6849979" cy="4385260"/>
          </a:xfrm>
        </p:spPr>
        <p:txBody>
          <a:bodyPr>
            <a:normAutofit/>
          </a:bodyPr>
          <a:lstStyle/>
          <a:p>
            <a:r>
              <a:rPr lang="en-GH" sz="2400" dirty="0"/>
              <a:t>Most self-reactive T cells will be deleted in the thymus, a small proportion of these T cells will instead differentiate into </a:t>
            </a:r>
            <a:r>
              <a:rPr lang="en-GH" sz="2400" b="1" dirty="0"/>
              <a:t>T-regs</a:t>
            </a:r>
          </a:p>
          <a:p>
            <a:r>
              <a:rPr lang="en-GH" sz="2400" dirty="0"/>
              <a:t>T-regs inhibit self-reactive Th1 cells in the periphery</a:t>
            </a:r>
          </a:p>
          <a:p>
            <a:r>
              <a:rPr lang="en-GH" sz="2400" dirty="0"/>
              <a:t>Identified by th</a:t>
            </a:r>
            <a:r>
              <a:rPr lang="en-GB" sz="2400" dirty="0" err="1"/>
              <a:t>ei</a:t>
            </a:r>
            <a:r>
              <a:rPr lang="en-GH" sz="2400" dirty="0"/>
              <a:t>r constitutive expression of CD25 on the surface and expression of transcription factor FoxP3</a:t>
            </a:r>
          </a:p>
          <a:p>
            <a:r>
              <a:rPr lang="en-GB" sz="2400" dirty="0"/>
              <a:t>S</a:t>
            </a:r>
            <a:r>
              <a:rPr lang="en-GH" sz="2400" dirty="0"/>
              <a:t>ecrete IL-10 and TGF- 𝛃 which inhibit inflammation</a:t>
            </a:r>
          </a:p>
          <a:p>
            <a:r>
              <a:rPr lang="en-GH" sz="2400" dirty="0"/>
              <a:t>Critical in the prevention of autoimmunity</a:t>
            </a:r>
          </a:p>
        </p:txBody>
      </p:sp>
      <p:pic>
        <p:nvPicPr>
          <p:cNvPr id="5" name="Picture 4">
            <a:extLst>
              <a:ext uri="{FF2B5EF4-FFF2-40B4-BE49-F238E27FC236}">
                <a16:creationId xmlns:a16="http://schemas.microsoft.com/office/drawing/2014/main" id="{A8CF9E2B-7662-3170-DFA5-8191AC8CCE66}"/>
              </a:ext>
            </a:extLst>
          </p:cNvPr>
          <p:cNvPicPr>
            <a:picLocks noChangeAspect="1"/>
          </p:cNvPicPr>
          <p:nvPr/>
        </p:nvPicPr>
        <p:blipFill>
          <a:blip r:embed="rId2"/>
          <a:stretch>
            <a:fillRect/>
          </a:stretch>
        </p:blipFill>
        <p:spPr>
          <a:xfrm>
            <a:off x="7603290" y="1940092"/>
            <a:ext cx="4196805" cy="2977816"/>
          </a:xfrm>
          <a:prstGeom prst="rect">
            <a:avLst/>
          </a:prstGeom>
        </p:spPr>
      </p:pic>
    </p:spTree>
    <p:extLst>
      <p:ext uri="{BB962C8B-B14F-4D97-AF65-F5344CB8AC3E}">
        <p14:creationId xmlns:p14="http://schemas.microsoft.com/office/powerpoint/2010/main" val="3381619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B5CDD8-E00E-2FCD-9E89-938A5F67CCB7}"/>
              </a:ext>
            </a:extLst>
          </p:cNvPr>
          <p:cNvSpPr>
            <a:spLocks noGrp="1"/>
          </p:cNvSpPr>
          <p:nvPr>
            <p:ph type="title"/>
          </p:nvPr>
        </p:nvSpPr>
        <p:spPr>
          <a:xfrm>
            <a:off x="743606" y="2572298"/>
            <a:ext cx="10515600" cy="1325563"/>
          </a:xfrm>
        </p:spPr>
        <p:txBody>
          <a:bodyPr/>
          <a:lstStyle/>
          <a:p>
            <a:pPr algn="ctr"/>
            <a:r>
              <a:rPr lang="en-GH" dirty="0">
                <a:solidFill>
                  <a:srgbClr val="C00000"/>
                </a:solidFill>
              </a:rPr>
              <a:t>Secondary Lymphoid Tissues: B and T lymphocytes</a:t>
            </a:r>
          </a:p>
        </p:txBody>
      </p:sp>
    </p:spTree>
    <p:extLst>
      <p:ext uri="{BB962C8B-B14F-4D97-AF65-F5344CB8AC3E}">
        <p14:creationId xmlns:p14="http://schemas.microsoft.com/office/powerpoint/2010/main" val="30427335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A639-2C8D-88FE-2FA3-579AE655B6AC}"/>
              </a:ext>
            </a:extLst>
          </p:cNvPr>
          <p:cNvSpPr>
            <a:spLocks noGrp="1"/>
          </p:cNvSpPr>
          <p:nvPr>
            <p:ph type="title"/>
          </p:nvPr>
        </p:nvSpPr>
        <p:spPr/>
        <p:txBody>
          <a:bodyPr/>
          <a:lstStyle/>
          <a:p>
            <a:r>
              <a:rPr lang="en-GH" dirty="0">
                <a:solidFill>
                  <a:srgbClr val="C00000"/>
                </a:solidFill>
              </a:rPr>
              <a:t>Activation of T lymphocytes</a:t>
            </a:r>
          </a:p>
        </p:txBody>
      </p:sp>
      <p:pic>
        <p:nvPicPr>
          <p:cNvPr id="7" name="Content Placeholder 6">
            <a:extLst>
              <a:ext uri="{FF2B5EF4-FFF2-40B4-BE49-F238E27FC236}">
                <a16:creationId xmlns:a16="http://schemas.microsoft.com/office/drawing/2014/main" id="{CFB77DC6-1A57-D5C3-79EC-5A491950E21C}"/>
              </a:ext>
            </a:extLst>
          </p:cNvPr>
          <p:cNvPicPr>
            <a:picLocks noGrp="1" noChangeAspect="1"/>
          </p:cNvPicPr>
          <p:nvPr>
            <p:ph sz="half" idx="1"/>
          </p:nvPr>
        </p:nvPicPr>
        <p:blipFill>
          <a:blip r:embed="rId3"/>
          <a:stretch>
            <a:fillRect/>
          </a:stretch>
        </p:blipFill>
        <p:spPr>
          <a:xfrm>
            <a:off x="172036" y="2039007"/>
            <a:ext cx="5203426" cy="3798573"/>
          </a:xfrm>
        </p:spPr>
      </p:pic>
      <p:sp>
        <p:nvSpPr>
          <p:cNvPr id="5" name="Content Placeholder 4">
            <a:extLst>
              <a:ext uri="{FF2B5EF4-FFF2-40B4-BE49-F238E27FC236}">
                <a16:creationId xmlns:a16="http://schemas.microsoft.com/office/drawing/2014/main" id="{B6FAE8F3-2046-9D63-A0FD-393E009BB1C6}"/>
              </a:ext>
            </a:extLst>
          </p:cNvPr>
          <p:cNvSpPr>
            <a:spLocks noGrp="1"/>
          </p:cNvSpPr>
          <p:nvPr>
            <p:ph sz="half" idx="2"/>
          </p:nvPr>
        </p:nvSpPr>
        <p:spPr>
          <a:xfrm>
            <a:off x="5543627" y="1846646"/>
            <a:ext cx="5978338" cy="4351338"/>
          </a:xfrm>
        </p:spPr>
        <p:txBody>
          <a:bodyPr>
            <a:normAutofit lnSpcReduction="10000"/>
          </a:bodyPr>
          <a:lstStyle/>
          <a:p>
            <a:r>
              <a:rPr lang="en-GH" b="1" dirty="0"/>
              <a:t>First (primary) signal</a:t>
            </a:r>
            <a:r>
              <a:rPr lang="en-GH" dirty="0"/>
              <a:t>: recognition of the MHC:peptide complex by the T cell receptor and coreceptors (CD4 and CD8)</a:t>
            </a:r>
          </a:p>
          <a:p>
            <a:r>
              <a:rPr lang="en-GH" b="1" dirty="0"/>
              <a:t>Second (costimulatory) signal</a:t>
            </a:r>
            <a:r>
              <a:rPr lang="en-GH" dirty="0"/>
              <a:t>: recognition of B7 by CD28</a:t>
            </a:r>
          </a:p>
          <a:p>
            <a:r>
              <a:rPr lang="en-GH" dirty="0"/>
              <a:t>Cytokines secreted by APCs and the activating T cells themselves induce the proliferation (clonal expansion) and differentiation of T cells into </a:t>
            </a:r>
            <a:r>
              <a:rPr lang="en-GH" b="1" dirty="0"/>
              <a:t>effector cells </a:t>
            </a:r>
            <a:r>
              <a:rPr lang="en-GH" dirty="0"/>
              <a:t>or </a:t>
            </a:r>
            <a:r>
              <a:rPr lang="en-GH" b="1" dirty="0"/>
              <a:t>memory cells</a:t>
            </a:r>
          </a:p>
        </p:txBody>
      </p:sp>
    </p:spTree>
    <p:extLst>
      <p:ext uri="{BB962C8B-B14F-4D97-AF65-F5344CB8AC3E}">
        <p14:creationId xmlns:p14="http://schemas.microsoft.com/office/powerpoint/2010/main" val="2142881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C9032-ECB0-48F6-7040-5C4F4CA9D5CC}"/>
              </a:ext>
            </a:extLst>
          </p:cNvPr>
          <p:cNvSpPr>
            <a:spLocks noGrp="1"/>
          </p:cNvSpPr>
          <p:nvPr>
            <p:ph type="title"/>
          </p:nvPr>
        </p:nvSpPr>
        <p:spPr/>
        <p:txBody>
          <a:bodyPr/>
          <a:lstStyle/>
          <a:p>
            <a:r>
              <a:rPr lang="en-GH" dirty="0">
                <a:solidFill>
                  <a:srgbClr val="C00000"/>
                </a:solidFill>
              </a:rPr>
              <a:t>Development of Th1, Th2 and Th17 subsets</a:t>
            </a:r>
          </a:p>
        </p:txBody>
      </p:sp>
      <p:sp>
        <p:nvSpPr>
          <p:cNvPr id="3" name="Content Placeholder 2">
            <a:extLst>
              <a:ext uri="{FF2B5EF4-FFF2-40B4-BE49-F238E27FC236}">
                <a16:creationId xmlns:a16="http://schemas.microsoft.com/office/drawing/2014/main" id="{5DA995A9-2DE1-8AF1-9DDA-688A8C1D883C}"/>
              </a:ext>
            </a:extLst>
          </p:cNvPr>
          <p:cNvSpPr>
            <a:spLocks noGrp="1"/>
          </p:cNvSpPr>
          <p:nvPr>
            <p:ph idx="1"/>
          </p:nvPr>
        </p:nvSpPr>
        <p:spPr/>
        <p:txBody>
          <a:bodyPr/>
          <a:lstStyle/>
          <a:p>
            <a:pPr marL="0" indent="0">
              <a:buNone/>
            </a:pPr>
            <a:r>
              <a:rPr lang="en-GB" dirty="0"/>
              <a:t>3 major classes of helper T (Th) cell</a:t>
            </a:r>
            <a:r>
              <a:rPr lang="en-GH" dirty="0"/>
              <a:t> arise from the same precursor, the na</a:t>
            </a:r>
            <a:r>
              <a:rPr lang="en-GB" dirty="0" err="1"/>
              <a:t>ï</a:t>
            </a:r>
            <a:r>
              <a:rPr lang="en-GH" dirty="0"/>
              <a:t>ve Th lymphocyte (Th0):</a:t>
            </a:r>
          </a:p>
          <a:p>
            <a:pPr lvl="1"/>
            <a:r>
              <a:rPr lang="en-GH" dirty="0"/>
              <a:t>Th1</a:t>
            </a:r>
          </a:p>
          <a:p>
            <a:pPr lvl="1"/>
            <a:r>
              <a:rPr lang="en-GH" dirty="0"/>
              <a:t>Th2</a:t>
            </a:r>
          </a:p>
          <a:p>
            <a:pPr lvl="1"/>
            <a:r>
              <a:rPr lang="en-GH" dirty="0"/>
              <a:t>Th17</a:t>
            </a:r>
          </a:p>
          <a:p>
            <a:r>
              <a:rPr lang="en-GH" dirty="0"/>
              <a:t>The pattern of differentiation is determined by the antigen or </a:t>
            </a:r>
            <a:r>
              <a:rPr lang="en-GH" dirty="0">
                <a:solidFill>
                  <a:srgbClr val="C00000"/>
                </a:solidFill>
              </a:rPr>
              <a:t>type of pathogen causing the infection</a:t>
            </a:r>
            <a:r>
              <a:rPr lang="en-GH" dirty="0"/>
              <a:t>, and the </a:t>
            </a:r>
            <a:r>
              <a:rPr lang="en-GH" dirty="0">
                <a:solidFill>
                  <a:srgbClr val="C00000"/>
                </a:solidFill>
              </a:rPr>
              <a:t>cytokines produced </a:t>
            </a:r>
            <a:r>
              <a:rPr lang="en-GH" dirty="0"/>
              <a:t>in response to the antigen, and the </a:t>
            </a:r>
            <a:r>
              <a:rPr lang="en-GH" dirty="0">
                <a:solidFill>
                  <a:srgbClr val="C00000"/>
                </a:solidFill>
              </a:rPr>
              <a:t>transcription factors </a:t>
            </a:r>
            <a:r>
              <a:rPr lang="en-GH" dirty="0"/>
              <a:t>stimulated by the cytokines</a:t>
            </a:r>
          </a:p>
        </p:txBody>
      </p:sp>
    </p:spTree>
    <p:extLst>
      <p:ext uri="{BB962C8B-B14F-4D97-AF65-F5344CB8AC3E}">
        <p14:creationId xmlns:p14="http://schemas.microsoft.com/office/powerpoint/2010/main" val="191227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86EE2F3-7083-CFDF-AA2D-C6031EB10DA5}"/>
              </a:ext>
            </a:extLst>
          </p:cNvPr>
          <p:cNvPicPr>
            <a:picLocks noChangeAspect="1"/>
          </p:cNvPicPr>
          <p:nvPr/>
        </p:nvPicPr>
        <p:blipFill>
          <a:blip r:embed="rId3"/>
          <a:stretch>
            <a:fillRect/>
          </a:stretch>
        </p:blipFill>
        <p:spPr>
          <a:xfrm>
            <a:off x="774840" y="149854"/>
            <a:ext cx="10642320" cy="6558292"/>
          </a:xfrm>
          <a:prstGeom prst="rect">
            <a:avLst/>
          </a:prstGeom>
        </p:spPr>
      </p:pic>
    </p:spTree>
    <p:extLst>
      <p:ext uri="{BB962C8B-B14F-4D97-AF65-F5344CB8AC3E}">
        <p14:creationId xmlns:p14="http://schemas.microsoft.com/office/powerpoint/2010/main" val="1815832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D86B48-07CD-82A2-4CDB-B9D7052428FE}"/>
              </a:ext>
            </a:extLst>
          </p:cNvPr>
          <p:cNvSpPr>
            <a:spLocks noGrp="1"/>
          </p:cNvSpPr>
          <p:nvPr>
            <p:ph type="title"/>
          </p:nvPr>
        </p:nvSpPr>
        <p:spPr/>
        <p:txBody>
          <a:bodyPr/>
          <a:lstStyle/>
          <a:p>
            <a:r>
              <a:rPr lang="en-GH" dirty="0">
                <a:solidFill>
                  <a:srgbClr val="C00000"/>
                </a:solidFill>
              </a:rPr>
              <a:t>Development of Cytotoxic T Lymphocytes</a:t>
            </a:r>
          </a:p>
        </p:txBody>
      </p:sp>
      <p:sp>
        <p:nvSpPr>
          <p:cNvPr id="3" name="Content Placeholder 2">
            <a:extLst>
              <a:ext uri="{FF2B5EF4-FFF2-40B4-BE49-F238E27FC236}">
                <a16:creationId xmlns:a16="http://schemas.microsoft.com/office/drawing/2014/main" id="{4FCA9F02-C358-5E51-894B-B12C8B0E1C00}"/>
              </a:ext>
            </a:extLst>
          </p:cNvPr>
          <p:cNvSpPr>
            <a:spLocks noGrp="1"/>
          </p:cNvSpPr>
          <p:nvPr>
            <p:ph idx="1"/>
          </p:nvPr>
        </p:nvSpPr>
        <p:spPr/>
        <p:txBody>
          <a:bodyPr/>
          <a:lstStyle/>
          <a:p>
            <a:r>
              <a:rPr lang="en-GH" dirty="0"/>
              <a:t>CD8+ T cells require both a primary and a costimulatory signal to become activated.</a:t>
            </a:r>
          </a:p>
          <a:p>
            <a:endParaRPr lang="en-GH" dirty="0"/>
          </a:p>
          <a:p>
            <a:r>
              <a:rPr lang="en-GH" dirty="0"/>
              <a:t>The main difference to CD4+ T cells, is that CD8+ T cells recognize their specific antigen presented by MHC class I molecules.</a:t>
            </a:r>
          </a:p>
          <a:p>
            <a:endParaRPr lang="en-GH" dirty="0"/>
          </a:p>
          <a:p>
            <a:r>
              <a:rPr lang="en-GH" dirty="0"/>
              <a:t>CD8+ T cells also rely upon cytokines produced by T helper cells to proliferate and ultimately differentiate into cytotoxic T lymphocytes (CTLs).</a:t>
            </a:r>
          </a:p>
        </p:txBody>
      </p:sp>
    </p:spTree>
    <p:extLst>
      <p:ext uri="{BB962C8B-B14F-4D97-AF65-F5344CB8AC3E}">
        <p14:creationId xmlns:p14="http://schemas.microsoft.com/office/powerpoint/2010/main" val="910140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0D04-EE9E-C9A6-2955-084136220692}"/>
              </a:ext>
            </a:extLst>
          </p:cNvPr>
          <p:cNvSpPr>
            <a:spLocks noGrp="1"/>
          </p:cNvSpPr>
          <p:nvPr>
            <p:ph type="title"/>
          </p:nvPr>
        </p:nvSpPr>
        <p:spPr/>
        <p:txBody>
          <a:bodyPr/>
          <a:lstStyle/>
          <a:p>
            <a:r>
              <a:rPr lang="en-GH" dirty="0">
                <a:solidFill>
                  <a:srgbClr val="C00000"/>
                </a:solidFill>
              </a:rPr>
              <a:t>Activation of B lymphocytes</a:t>
            </a:r>
          </a:p>
        </p:txBody>
      </p:sp>
      <p:sp>
        <p:nvSpPr>
          <p:cNvPr id="3" name="Content Placeholder 2">
            <a:extLst>
              <a:ext uri="{FF2B5EF4-FFF2-40B4-BE49-F238E27FC236}">
                <a16:creationId xmlns:a16="http://schemas.microsoft.com/office/drawing/2014/main" id="{EBD02746-0755-7E3F-7E82-636F7F5DC7D8}"/>
              </a:ext>
            </a:extLst>
          </p:cNvPr>
          <p:cNvSpPr>
            <a:spLocks noGrp="1"/>
          </p:cNvSpPr>
          <p:nvPr>
            <p:ph idx="1"/>
          </p:nvPr>
        </p:nvSpPr>
        <p:spPr/>
        <p:txBody>
          <a:bodyPr/>
          <a:lstStyle/>
          <a:p>
            <a:r>
              <a:rPr lang="en-GH" dirty="0"/>
              <a:t>The antigens that B lymphocytes encounter are divided into 2 categories: </a:t>
            </a:r>
            <a:r>
              <a:rPr lang="en-GH" b="1" dirty="0"/>
              <a:t>thymus-independent (TI) </a:t>
            </a:r>
            <a:r>
              <a:rPr lang="en-GH" dirty="0"/>
              <a:t>antigens and </a:t>
            </a:r>
            <a:r>
              <a:rPr lang="en-GH" b="1" dirty="0"/>
              <a:t>thymus-dependent (TD) antigens</a:t>
            </a:r>
          </a:p>
        </p:txBody>
      </p:sp>
      <p:pic>
        <p:nvPicPr>
          <p:cNvPr id="5" name="Picture 4">
            <a:extLst>
              <a:ext uri="{FF2B5EF4-FFF2-40B4-BE49-F238E27FC236}">
                <a16:creationId xmlns:a16="http://schemas.microsoft.com/office/drawing/2014/main" id="{E8DA9320-4702-0D14-8E75-39F2D67AFC6B}"/>
              </a:ext>
            </a:extLst>
          </p:cNvPr>
          <p:cNvPicPr>
            <a:picLocks noChangeAspect="1"/>
          </p:cNvPicPr>
          <p:nvPr/>
        </p:nvPicPr>
        <p:blipFill>
          <a:blip r:embed="rId3"/>
          <a:stretch>
            <a:fillRect/>
          </a:stretch>
        </p:blipFill>
        <p:spPr>
          <a:xfrm>
            <a:off x="2177740" y="3217127"/>
            <a:ext cx="7200436" cy="3496508"/>
          </a:xfrm>
          <a:prstGeom prst="rect">
            <a:avLst/>
          </a:prstGeom>
        </p:spPr>
      </p:pic>
    </p:spTree>
    <p:extLst>
      <p:ext uri="{BB962C8B-B14F-4D97-AF65-F5344CB8AC3E}">
        <p14:creationId xmlns:p14="http://schemas.microsoft.com/office/powerpoint/2010/main" val="2716367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5A459-7543-9DF4-06B2-8EAF97FC4D33}"/>
              </a:ext>
            </a:extLst>
          </p:cNvPr>
          <p:cNvSpPr>
            <a:spLocks noGrp="1"/>
          </p:cNvSpPr>
          <p:nvPr>
            <p:ph type="title"/>
          </p:nvPr>
        </p:nvSpPr>
        <p:spPr/>
        <p:txBody>
          <a:bodyPr/>
          <a:lstStyle/>
          <a:p>
            <a:r>
              <a:rPr lang="en-GH" dirty="0">
                <a:solidFill>
                  <a:srgbClr val="C00000"/>
                </a:solidFill>
              </a:rPr>
              <a:t>TI-Antigen Activated B Lymphocytes</a:t>
            </a:r>
          </a:p>
        </p:txBody>
      </p:sp>
      <p:sp>
        <p:nvSpPr>
          <p:cNvPr id="3" name="Content Placeholder 2">
            <a:extLst>
              <a:ext uri="{FF2B5EF4-FFF2-40B4-BE49-F238E27FC236}">
                <a16:creationId xmlns:a16="http://schemas.microsoft.com/office/drawing/2014/main" id="{9F379CC5-596C-9431-94F7-FCB87A376E2A}"/>
              </a:ext>
            </a:extLst>
          </p:cNvPr>
          <p:cNvSpPr>
            <a:spLocks noGrp="1"/>
          </p:cNvSpPr>
          <p:nvPr>
            <p:ph idx="1"/>
          </p:nvPr>
        </p:nvSpPr>
        <p:spPr/>
        <p:txBody>
          <a:bodyPr/>
          <a:lstStyle/>
          <a:p>
            <a:r>
              <a:rPr lang="en-GH" dirty="0"/>
              <a:t>Thymus-independent antigens are molecules (lipids, polysaccharides, lipopolysaccharides) that can activate B cells without having to interact with helper T cells.</a:t>
            </a:r>
          </a:p>
          <a:p>
            <a:endParaRPr lang="en-GH" dirty="0"/>
          </a:p>
          <a:p>
            <a:r>
              <a:rPr lang="en-GH" dirty="0"/>
              <a:t>The stimulate B cells to proliferate and differentiate into plasma cells</a:t>
            </a:r>
          </a:p>
          <a:p>
            <a:pPr lvl="1"/>
            <a:r>
              <a:rPr lang="en-GH" dirty="0"/>
              <a:t> </a:t>
            </a:r>
            <a:r>
              <a:rPr lang="en-GH" b="1" dirty="0"/>
              <a:t>Secretion of IgM antibodies</a:t>
            </a:r>
          </a:p>
          <a:p>
            <a:pPr lvl="1"/>
            <a:r>
              <a:rPr lang="en-GB" b="1" dirty="0"/>
              <a:t>A</a:t>
            </a:r>
            <a:r>
              <a:rPr lang="en-GH" b="1" dirty="0"/>
              <a:t>bsence of immunologic memory</a:t>
            </a:r>
          </a:p>
          <a:p>
            <a:pPr lvl="1"/>
            <a:endParaRPr lang="en-GH" b="1" dirty="0"/>
          </a:p>
          <a:p>
            <a:r>
              <a:rPr lang="en-GH" dirty="0"/>
              <a:t>TI-antigens may also act a B-cell mitogens, directly causing mitosis regardless of the cell’s antigenic specificity</a:t>
            </a:r>
          </a:p>
        </p:txBody>
      </p:sp>
    </p:spTree>
    <p:extLst>
      <p:ext uri="{BB962C8B-B14F-4D97-AF65-F5344CB8AC3E}">
        <p14:creationId xmlns:p14="http://schemas.microsoft.com/office/powerpoint/2010/main" val="3410310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96203-97F5-2574-E997-1C997A048AED}"/>
              </a:ext>
            </a:extLst>
          </p:cNvPr>
          <p:cNvSpPr>
            <a:spLocks noGrp="1"/>
          </p:cNvSpPr>
          <p:nvPr>
            <p:ph type="title"/>
          </p:nvPr>
        </p:nvSpPr>
        <p:spPr/>
        <p:txBody>
          <a:bodyPr/>
          <a:lstStyle/>
          <a:p>
            <a:r>
              <a:rPr lang="en-GH" dirty="0">
                <a:solidFill>
                  <a:srgbClr val="C00000"/>
                </a:solidFill>
              </a:rPr>
              <a:t>TD-Antigen Activated B Lymphocytes</a:t>
            </a:r>
          </a:p>
        </p:txBody>
      </p:sp>
      <p:sp>
        <p:nvSpPr>
          <p:cNvPr id="3" name="Content Placeholder 2">
            <a:extLst>
              <a:ext uri="{FF2B5EF4-FFF2-40B4-BE49-F238E27FC236}">
                <a16:creationId xmlns:a16="http://schemas.microsoft.com/office/drawing/2014/main" id="{07A2E7D6-081A-F794-D4BA-5BBCC8CBA0F9}"/>
              </a:ext>
            </a:extLst>
          </p:cNvPr>
          <p:cNvSpPr>
            <a:spLocks noGrp="1"/>
          </p:cNvSpPr>
          <p:nvPr>
            <p:ph idx="1"/>
          </p:nvPr>
        </p:nvSpPr>
        <p:spPr/>
        <p:txBody>
          <a:bodyPr>
            <a:normAutofit lnSpcReduction="10000"/>
          </a:bodyPr>
          <a:lstStyle/>
          <a:p>
            <a:r>
              <a:rPr lang="en-GH" dirty="0"/>
              <a:t>B cell receptors crosslink with TD-antigen, processed them via exogenous pathway to generate MHC II:peptide complex </a:t>
            </a:r>
          </a:p>
          <a:p>
            <a:endParaRPr lang="en-GH" dirty="0"/>
          </a:p>
          <a:p>
            <a:r>
              <a:rPr lang="en-GH" dirty="0"/>
              <a:t>CD4+ T cells recognize the specific peptide on the MHC II and differentiate into T helper cells </a:t>
            </a:r>
          </a:p>
          <a:p>
            <a:r>
              <a:rPr lang="en-GH" dirty="0"/>
              <a:t>Expression of CD40L on Th cell interact with CD40 on B cell to provide the signal for Activation</a:t>
            </a:r>
          </a:p>
          <a:p>
            <a:endParaRPr lang="en-GH" dirty="0"/>
          </a:p>
          <a:p>
            <a:r>
              <a:rPr lang="en-GH" dirty="0"/>
              <a:t>B lymphocytes activated by TD-antigens respond by proliferating and differentiating into plasma cells and memory B cells</a:t>
            </a:r>
          </a:p>
        </p:txBody>
      </p:sp>
    </p:spTree>
    <p:extLst>
      <p:ext uri="{BB962C8B-B14F-4D97-AF65-F5344CB8AC3E}">
        <p14:creationId xmlns:p14="http://schemas.microsoft.com/office/powerpoint/2010/main" val="41797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E0A1D5CC-7434-31E3-1D3B-7B4A5B56A4FE}"/>
              </a:ext>
            </a:extLst>
          </p:cNvPr>
          <p:cNvSpPr>
            <a:spLocks noGrp="1"/>
          </p:cNvSpPr>
          <p:nvPr>
            <p:ph type="title"/>
          </p:nvPr>
        </p:nvSpPr>
        <p:spPr>
          <a:xfrm>
            <a:off x="298938" y="2229094"/>
            <a:ext cx="10515600" cy="1325563"/>
          </a:xfrm>
        </p:spPr>
        <p:txBody>
          <a:bodyPr/>
          <a:lstStyle/>
          <a:p>
            <a:pPr algn="ctr"/>
            <a:r>
              <a:rPr lang="en-GH" dirty="0">
                <a:solidFill>
                  <a:srgbClr val="C00000"/>
                </a:solidFill>
              </a:rPr>
              <a:t>Humoral Immunity</a:t>
            </a:r>
          </a:p>
        </p:txBody>
      </p:sp>
    </p:spTree>
    <p:extLst>
      <p:ext uri="{BB962C8B-B14F-4D97-AF65-F5344CB8AC3E}">
        <p14:creationId xmlns:p14="http://schemas.microsoft.com/office/powerpoint/2010/main" val="26750215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58D22-7A7B-8ABD-4240-E6BBB406A892}"/>
              </a:ext>
            </a:extLst>
          </p:cNvPr>
          <p:cNvSpPr>
            <a:spLocks noGrp="1"/>
          </p:cNvSpPr>
          <p:nvPr>
            <p:ph type="title"/>
          </p:nvPr>
        </p:nvSpPr>
        <p:spPr/>
        <p:txBody>
          <a:bodyPr/>
          <a:lstStyle/>
          <a:p>
            <a:r>
              <a:rPr lang="en-GH" dirty="0">
                <a:solidFill>
                  <a:srgbClr val="C00000"/>
                </a:solidFill>
              </a:rPr>
              <a:t>Humoral Immunity</a:t>
            </a:r>
          </a:p>
        </p:txBody>
      </p:sp>
      <p:sp>
        <p:nvSpPr>
          <p:cNvPr id="3" name="Content Placeholder 2">
            <a:extLst>
              <a:ext uri="{FF2B5EF4-FFF2-40B4-BE49-F238E27FC236}">
                <a16:creationId xmlns:a16="http://schemas.microsoft.com/office/drawing/2014/main" id="{DCB104C0-0713-4196-106F-19A9CFA1D072}"/>
              </a:ext>
            </a:extLst>
          </p:cNvPr>
          <p:cNvSpPr>
            <a:spLocks noGrp="1"/>
          </p:cNvSpPr>
          <p:nvPr>
            <p:ph sz="half" idx="1"/>
          </p:nvPr>
        </p:nvSpPr>
        <p:spPr>
          <a:xfrm>
            <a:off x="838199" y="1825625"/>
            <a:ext cx="5707567" cy="4351338"/>
          </a:xfrm>
        </p:spPr>
        <p:txBody>
          <a:bodyPr>
            <a:normAutofit fontScale="77500" lnSpcReduction="20000"/>
          </a:bodyPr>
          <a:lstStyle/>
          <a:p>
            <a:r>
              <a:rPr lang="en-GH" dirty="0"/>
              <a:t>The first isotype of immunoglobulin produce by B cell with or without T-cell help is IgM</a:t>
            </a:r>
          </a:p>
          <a:p>
            <a:endParaRPr lang="en-GH" dirty="0"/>
          </a:p>
          <a:p>
            <a:r>
              <a:rPr lang="en-GH" dirty="0"/>
              <a:t>IgM on the surface of B cell is a monomer, but secreted as a pentamer held together by J chain</a:t>
            </a:r>
          </a:p>
          <a:p>
            <a:endParaRPr lang="en-GH" dirty="0"/>
          </a:p>
          <a:p>
            <a:r>
              <a:rPr lang="en-GH" dirty="0"/>
              <a:t>The design makes it the most effective Ig isotype </a:t>
            </a:r>
          </a:p>
          <a:p>
            <a:pPr lvl="2"/>
            <a:r>
              <a:rPr lang="en-GB" dirty="0"/>
              <a:t>S</a:t>
            </a:r>
            <a:r>
              <a:rPr lang="en-GH" dirty="0"/>
              <a:t>ponging free antigens </a:t>
            </a:r>
          </a:p>
          <a:p>
            <a:pPr lvl="2"/>
            <a:r>
              <a:rPr lang="en-GH" dirty="0"/>
              <a:t>Activating complement</a:t>
            </a:r>
          </a:p>
          <a:p>
            <a:pPr lvl="2"/>
            <a:r>
              <a:rPr lang="en-GH" dirty="0"/>
              <a:t>Possesses the highest avidity</a:t>
            </a:r>
          </a:p>
          <a:p>
            <a:r>
              <a:rPr lang="en-GH" dirty="0"/>
              <a:t>Serum IgM cannot act as opsonin or a mediator of antibody-dependent cell-mediated cytotoxicity (ADCC)</a:t>
            </a:r>
          </a:p>
        </p:txBody>
      </p:sp>
      <p:pic>
        <p:nvPicPr>
          <p:cNvPr id="8" name="Picture 7">
            <a:extLst>
              <a:ext uri="{FF2B5EF4-FFF2-40B4-BE49-F238E27FC236}">
                <a16:creationId xmlns:a16="http://schemas.microsoft.com/office/drawing/2014/main" id="{4686A747-2071-F905-C975-391AC5F99B45}"/>
              </a:ext>
            </a:extLst>
          </p:cNvPr>
          <p:cNvPicPr>
            <a:picLocks noChangeAspect="1"/>
          </p:cNvPicPr>
          <p:nvPr/>
        </p:nvPicPr>
        <p:blipFill>
          <a:blip r:embed="rId3"/>
          <a:stretch>
            <a:fillRect/>
          </a:stretch>
        </p:blipFill>
        <p:spPr>
          <a:xfrm>
            <a:off x="6713032" y="1542121"/>
            <a:ext cx="4640767" cy="4634842"/>
          </a:xfrm>
          <a:prstGeom prst="rect">
            <a:avLst/>
          </a:prstGeom>
        </p:spPr>
      </p:pic>
    </p:spTree>
    <p:extLst>
      <p:ext uri="{BB962C8B-B14F-4D97-AF65-F5344CB8AC3E}">
        <p14:creationId xmlns:p14="http://schemas.microsoft.com/office/powerpoint/2010/main" val="19363440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2CA61-7348-FCF2-385C-0521BA4D1944}"/>
              </a:ext>
            </a:extLst>
          </p:cNvPr>
          <p:cNvSpPr>
            <a:spLocks noGrp="1"/>
          </p:cNvSpPr>
          <p:nvPr>
            <p:ph type="title"/>
          </p:nvPr>
        </p:nvSpPr>
        <p:spPr/>
        <p:txBody>
          <a:bodyPr/>
          <a:lstStyle/>
          <a:p>
            <a:r>
              <a:rPr lang="en-GH" dirty="0">
                <a:solidFill>
                  <a:srgbClr val="C00000"/>
                </a:solidFill>
              </a:rPr>
              <a:t>Class switching to IgG</a:t>
            </a:r>
          </a:p>
        </p:txBody>
      </p:sp>
      <p:pic>
        <p:nvPicPr>
          <p:cNvPr id="6" name="Content Placeholder 5">
            <a:extLst>
              <a:ext uri="{FF2B5EF4-FFF2-40B4-BE49-F238E27FC236}">
                <a16:creationId xmlns:a16="http://schemas.microsoft.com/office/drawing/2014/main" id="{56FEC31D-4D52-34BD-DC64-847E8D5A6AB6}"/>
              </a:ext>
            </a:extLst>
          </p:cNvPr>
          <p:cNvPicPr>
            <a:picLocks noGrp="1" noChangeAspect="1"/>
          </p:cNvPicPr>
          <p:nvPr>
            <p:ph sz="half" idx="1"/>
          </p:nvPr>
        </p:nvPicPr>
        <p:blipFill>
          <a:blip r:embed="rId2"/>
          <a:stretch>
            <a:fillRect/>
          </a:stretch>
        </p:blipFill>
        <p:spPr>
          <a:xfrm>
            <a:off x="392152" y="1690689"/>
            <a:ext cx="4302511" cy="3929526"/>
          </a:xfrm>
        </p:spPr>
      </p:pic>
      <p:sp>
        <p:nvSpPr>
          <p:cNvPr id="4" name="Content Placeholder 3">
            <a:extLst>
              <a:ext uri="{FF2B5EF4-FFF2-40B4-BE49-F238E27FC236}">
                <a16:creationId xmlns:a16="http://schemas.microsoft.com/office/drawing/2014/main" id="{FE326D6A-7E5E-79D5-37D3-B8EB317720D8}"/>
              </a:ext>
            </a:extLst>
          </p:cNvPr>
          <p:cNvSpPr>
            <a:spLocks noGrp="1"/>
          </p:cNvSpPr>
          <p:nvPr>
            <p:ph sz="half" idx="2"/>
          </p:nvPr>
        </p:nvSpPr>
        <p:spPr>
          <a:xfrm>
            <a:off x="5276389" y="1929160"/>
            <a:ext cx="6198215" cy="4092498"/>
          </a:xfrm>
        </p:spPr>
        <p:txBody>
          <a:bodyPr>
            <a:normAutofit fontScale="77500" lnSpcReduction="20000"/>
          </a:bodyPr>
          <a:lstStyle/>
          <a:p>
            <a:r>
              <a:rPr lang="en-GH" dirty="0"/>
              <a:t>IgG is produce after IgM during primary immune response</a:t>
            </a:r>
          </a:p>
          <a:p>
            <a:endParaRPr lang="en-GH" dirty="0"/>
          </a:p>
          <a:p>
            <a:r>
              <a:rPr lang="en-GH" dirty="0"/>
              <a:t>IgG is a monomeric molecule and produce in response to IFN-y</a:t>
            </a:r>
          </a:p>
          <a:p>
            <a:endParaRPr lang="en-GH" dirty="0"/>
          </a:p>
          <a:p>
            <a:r>
              <a:rPr lang="en-GH" dirty="0"/>
              <a:t>IgG has the following effector functions;</a:t>
            </a:r>
          </a:p>
          <a:p>
            <a:pPr lvl="2"/>
            <a:r>
              <a:rPr lang="en-GH" dirty="0"/>
              <a:t>Activate complement</a:t>
            </a:r>
          </a:p>
          <a:p>
            <a:pPr lvl="2"/>
            <a:r>
              <a:rPr lang="en-GH" dirty="0"/>
              <a:t>Acts as opsonin </a:t>
            </a:r>
          </a:p>
          <a:p>
            <a:pPr lvl="2"/>
            <a:r>
              <a:rPr lang="en-GH" dirty="0"/>
              <a:t>Neutralizes pathogen and toxin</a:t>
            </a:r>
          </a:p>
          <a:p>
            <a:pPr lvl="2"/>
            <a:r>
              <a:rPr lang="en-GB" dirty="0"/>
              <a:t>Me</a:t>
            </a:r>
            <a:r>
              <a:rPr lang="en-GH" dirty="0"/>
              <a:t>diates ADCC</a:t>
            </a:r>
          </a:p>
          <a:p>
            <a:pPr marL="914400" lvl="2" indent="0">
              <a:buNone/>
            </a:pPr>
            <a:endParaRPr lang="en-GH" dirty="0"/>
          </a:p>
          <a:p>
            <a:r>
              <a:rPr lang="en-GH" dirty="0"/>
              <a:t>IgG is also transported across placental for fetal protection </a:t>
            </a:r>
          </a:p>
        </p:txBody>
      </p:sp>
    </p:spTree>
    <p:extLst>
      <p:ext uri="{BB962C8B-B14F-4D97-AF65-F5344CB8AC3E}">
        <p14:creationId xmlns:p14="http://schemas.microsoft.com/office/powerpoint/2010/main" val="2937122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004631D3-3E62-D73B-2A7A-554C78CD13CA}"/>
              </a:ext>
            </a:extLst>
          </p:cNvPr>
          <p:cNvPicPr>
            <a:picLocks noGrp="1" noChangeAspect="1"/>
          </p:cNvPicPr>
          <p:nvPr>
            <p:ph sz="half" idx="1"/>
          </p:nvPr>
        </p:nvPicPr>
        <p:blipFill>
          <a:blip r:embed="rId2"/>
          <a:stretch>
            <a:fillRect/>
          </a:stretch>
        </p:blipFill>
        <p:spPr>
          <a:xfrm>
            <a:off x="551211" y="2281634"/>
            <a:ext cx="3195599" cy="3439319"/>
          </a:xfrm>
        </p:spPr>
      </p:pic>
      <p:sp>
        <p:nvSpPr>
          <p:cNvPr id="4" name="Content Placeholder 3">
            <a:extLst>
              <a:ext uri="{FF2B5EF4-FFF2-40B4-BE49-F238E27FC236}">
                <a16:creationId xmlns:a16="http://schemas.microsoft.com/office/drawing/2014/main" id="{183773A7-8D6F-6DE4-6796-B18F07904DB6}"/>
              </a:ext>
            </a:extLst>
          </p:cNvPr>
          <p:cNvSpPr>
            <a:spLocks noGrp="1"/>
          </p:cNvSpPr>
          <p:nvPr>
            <p:ph sz="half" idx="2"/>
          </p:nvPr>
        </p:nvSpPr>
        <p:spPr>
          <a:xfrm>
            <a:off x="4234521" y="1825624"/>
            <a:ext cx="6738279" cy="4351338"/>
          </a:xfrm>
        </p:spPr>
        <p:txBody>
          <a:bodyPr/>
          <a:lstStyle/>
          <a:p>
            <a:r>
              <a:rPr lang="en-GH" dirty="0"/>
              <a:t>IgA exist as dimer commonly produced in submucosa</a:t>
            </a:r>
          </a:p>
          <a:p>
            <a:r>
              <a:rPr lang="en-GH" dirty="0"/>
              <a:t>Serves as the major proctective defense of mucosal surfaces</a:t>
            </a:r>
          </a:p>
          <a:p>
            <a:pPr lvl="2"/>
            <a:r>
              <a:rPr lang="en-GH" dirty="0"/>
              <a:t>Induce by the production of TGF-𝛃 and IL-5 of infected cells</a:t>
            </a:r>
          </a:p>
          <a:p>
            <a:r>
              <a:rPr lang="en-GH" dirty="0"/>
              <a:t>Does not activate complement, act as opsonin or mediate ADCC</a:t>
            </a:r>
          </a:p>
          <a:p>
            <a:endParaRPr lang="en-GH" dirty="0"/>
          </a:p>
        </p:txBody>
      </p:sp>
      <p:sp>
        <p:nvSpPr>
          <p:cNvPr id="5" name="Title 1">
            <a:extLst>
              <a:ext uri="{FF2B5EF4-FFF2-40B4-BE49-F238E27FC236}">
                <a16:creationId xmlns:a16="http://schemas.microsoft.com/office/drawing/2014/main" id="{565D578A-AC3D-4A5D-31F3-E0B43C10EAA9}"/>
              </a:ext>
            </a:extLst>
          </p:cNvPr>
          <p:cNvSpPr>
            <a:spLocks noGrp="1"/>
          </p:cNvSpPr>
          <p:nvPr>
            <p:ph type="title"/>
          </p:nvPr>
        </p:nvSpPr>
        <p:spPr>
          <a:xfrm>
            <a:off x="838200" y="365125"/>
            <a:ext cx="10515600" cy="1325563"/>
          </a:xfrm>
        </p:spPr>
        <p:txBody>
          <a:bodyPr/>
          <a:lstStyle/>
          <a:p>
            <a:r>
              <a:rPr lang="en-GH" dirty="0">
                <a:solidFill>
                  <a:srgbClr val="C00000"/>
                </a:solidFill>
              </a:rPr>
              <a:t>Class switching to IgA</a:t>
            </a:r>
          </a:p>
        </p:txBody>
      </p:sp>
    </p:spTree>
    <p:extLst>
      <p:ext uri="{BB962C8B-B14F-4D97-AF65-F5344CB8AC3E}">
        <p14:creationId xmlns:p14="http://schemas.microsoft.com/office/powerpoint/2010/main" val="2149570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50BDE7-672F-DC6B-9869-0104FC229C96}"/>
              </a:ext>
            </a:extLst>
          </p:cNvPr>
          <p:cNvSpPr>
            <a:spLocks noGrp="1"/>
          </p:cNvSpPr>
          <p:nvPr>
            <p:ph sz="half" idx="1"/>
          </p:nvPr>
        </p:nvSpPr>
        <p:spPr>
          <a:xfrm>
            <a:off x="838199" y="1825625"/>
            <a:ext cx="10045391" cy="4351338"/>
          </a:xfrm>
        </p:spPr>
        <p:txBody>
          <a:bodyPr/>
          <a:lstStyle/>
          <a:p>
            <a:r>
              <a:rPr lang="en-GH" dirty="0"/>
              <a:t>IgE binds to Fc receptors on mast cells, eosinophils and basophils.</a:t>
            </a:r>
          </a:p>
          <a:p>
            <a:endParaRPr lang="en-GH" dirty="0"/>
          </a:p>
          <a:p>
            <a:r>
              <a:rPr lang="en-GH" dirty="0"/>
              <a:t>It involved in protective immune responses against parasites and</a:t>
            </a:r>
          </a:p>
          <a:p>
            <a:pPr marL="0" indent="0">
              <a:buNone/>
            </a:pPr>
            <a:r>
              <a:rPr lang="en-GH" dirty="0"/>
              <a:t> allergen</a:t>
            </a:r>
          </a:p>
          <a:p>
            <a:pPr marL="0" indent="0">
              <a:buNone/>
            </a:pPr>
            <a:endParaRPr lang="en-GH" dirty="0"/>
          </a:p>
          <a:p>
            <a:r>
              <a:rPr lang="en-GH" dirty="0"/>
              <a:t>It does not activate complement or act as opsonin</a:t>
            </a:r>
          </a:p>
        </p:txBody>
      </p:sp>
      <p:sp>
        <p:nvSpPr>
          <p:cNvPr id="5" name="Title 1">
            <a:extLst>
              <a:ext uri="{FF2B5EF4-FFF2-40B4-BE49-F238E27FC236}">
                <a16:creationId xmlns:a16="http://schemas.microsoft.com/office/drawing/2014/main" id="{2778B6FB-567E-002F-27D8-09B687F277A2}"/>
              </a:ext>
            </a:extLst>
          </p:cNvPr>
          <p:cNvSpPr>
            <a:spLocks noGrp="1"/>
          </p:cNvSpPr>
          <p:nvPr>
            <p:ph type="title"/>
          </p:nvPr>
        </p:nvSpPr>
        <p:spPr>
          <a:xfrm>
            <a:off x="838200" y="365125"/>
            <a:ext cx="10515600" cy="1325563"/>
          </a:xfrm>
        </p:spPr>
        <p:txBody>
          <a:bodyPr/>
          <a:lstStyle/>
          <a:p>
            <a:r>
              <a:rPr lang="en-GH" dirty="0">
                <a:solidFill>
                  <a:srgbClr val="C00000"/>
                </a:solidFill>
              </a:rPr>
              <a:t>Class switching to IgE</a:t>
            </a:r>
          </a:p>
        </p:txBody>
      </p:sp>
    </p:spTree>
    <p:extLst>
      <p:ext uri="{BB962C8B-B14F-4D97-AF65-F5344CB8AC3E}">
        <p14:creationId xmlns:p14="http://schemas.microsoft.com/office/powerpoint/2010/main" val="702442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70215-0553-B4E2-E1A8-B41B5C775DB5}"/>
              </a:ext>
            </a:extLst>
          </p:cNvPr>
          <p:cNvSpPr>
            <a:spLocks noGrp="1"/>
          </p:cNvSpPr>
          <p:nvPr>
            <p:ph type="title"/>
          </p:nvPr>
        </p:nvSpPr>
        <p:spPr>
          <a:xfrm>
            <a:off x="556846" y="2240818"/>
            <a:ext cx="10515600" cy="1325563"/>
          </a:xfrm>
        </p:spPr>
        <p:txBody>
          <a:bodyPr/>
          <a:lstStyle/>
          <a:p>
            <a:pPr algn="ctr"/>
            <a:r>
              <a:rPr lang="en-GH" dirty="0">
                <a:solidFill>
                  <a:srgbClr val="C00000"/>
                </a:solidFill>
              </a:rPr>
              <a:t>Cell-Mediated Immunity</a:t>
            </a:r>
          </a:p>
        </p:txBody>
      </p:sp>
    </p:spTree>
    <p:extLst>
      <p:ext uri="{BB962C8B-B14F-4D97-AF65-F5344CB8AC3E}">
        <p14:creationId xmlns:p14="http://schemas.microsoft.com/office/powerpoint/2010/main" val="32978023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1A91B-E4A4-AF46-6043-5B28CE353E48}"/>
              </a:ext>
            </a:extLst>
          </p:cNvPr>
          <p:cNvSpPr>
            <a:spLocks noGrp="1"/>
          </p:cNvSpPr>
          <p:nvPr>
            <p:ph type="title"/>
          </p:nvPr>
        </p:nvSpPr>
        <p:spPr/>
        <p:txBody>
          <a:bodyPr/>
          <a:lstStyle/>
          <a:p>
            <a:r>
              <a:rPr lang="en-GH" dirty="0">
                <a:solidFill>
                  <a:srgbClr val="C00000"/>
                </a:solidFill>
              </a:rPr>
              <a:t>Cell-Mediated Immunity</a:t>
            </a:r>
          </a:p>
        </p:txBody>
      </p:sp>
      <p:sp>
        <p:nvSpPr>
          <p:cNvPr id="3" name="Content Placeholder 2">
            <a:extLst>
              <a:ext uri="{FF2B5EF4-FFF2-40B4-BE49-F238E27FC236}">
                <a16:creationId xmlns:a16="http://schemas.microsoft.com/office/drawing/2014/main" id="{9C38B111-6A0F-10D4-AD4E-35165C3767D3}"/>
              </a:ext>
            </a:extLst>
          </p:cNvPr>
          <p:cNvSpPr>
            <a:spLocks noGrp="1"/>
          </p:cNvSpPr>
          <p:nvPr>
            <p:ph idx="1"/>
          </p:nvPr>
        </p:nvSpPr>
        <p:spPr/>
        <p:txBody>
          <a:bodyPr/>
          <a:lstStyle/>
          <a:p>
            <a:r>
              <a:rPr lang="en-GH" dirty="0"/>
              <a:t>Cell-mediated immunity has evolved to battle 2 types of pathogens</a:t>
            </a:r>
          </a:p>
          <a:p>
            <a:pPr lvl="1"/>
            <a:r>
              <a:rPr lang="en-GH" dirty="0"/>
              <a:t>Facultative intracellular pathogens</a:t>
            </a:r>
          </a:p>
          <a:p>
            <a:pPr lvl="1"/>
            <a:r>
              <a:rPr lang="en-GH" dirty="0"/>
              <a:t>Obligate intracellular pathogens</a:t>
            </a:r>
          </a:p>
          <a:p>
            <a:pPr lvl="1"/>
            <a:endParaRPr lang="en-GH" dirty="0"/>
          </a:p>
          <a:p>
            <a:r>
              <a:rPr lang="en-GH" dirty="0"/>
              <a:t>Is dictated by Th1 response and is mediated primarily via macrophages and CD8+ T cells</a:t>
            </a:r>
          </a:p>
          <a:p>
            <a:endParaRPr lang="en-GH" dirty="0"/>
          </a:p>
          <a:p>
            <a:r>
              <a:rPr lang="en-GH" dirty="0"/>
              <a:t>The primary mechanism by which Th1 cells direct immunity is through cytokine secretion</a:t>
            </a:r>
          </a:p>
          <a:p>
            <a:pPr lvl="1"/>
            <a:endParaRPr lang="en-GH" dirty="0"/>
          </a:p>
        </p:txBody>
      </p:sp>
    </p:spTree>
    <p:extLst>
      <p:ext uri="{BB962C8B-B14F-4D97-AF65-F5344CB8AC3E}">
        <p14:creationId xmlns:p14="http://schemas.microsoft.com/office/powerpoint/2010/main" val="121398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C7DCF1-0B22-AB4C-CE34-CBDF12274E00}"/>
              </a:ext>
            </a:extLst>
          </p:cNvPr>
          <p:cNvSpPr>
            <a:spLocks noGrp="1"/>
          </p:cNvSpPr>
          <p:nvPr>
            <p:ph type="title"/>
          </p:nvPr>
        </p:nvSpPr>
        <p:spPr/>
        <p:txBody>
          <a:bodyPr/>
          <a:lstStyle/>
          <a:p>
            <a:r>
              <a:rPr lang="en-GH" dirty="0">
                <a:solidFill>
                  <a:srgbClr val="C00000"/>
                </a:solidFill>
              </a:rPr>
              <a:t>Macrophages/B cells</a:t>
            </a:r>
          </a:p>
        </p:txBody>
      </p:sp>
      <p:pic>
        <p:nvPicPr>
          <p:cNvPr id="5" name="Content Placeholder 4">
            <a:extLst>
              <a:ext uri="{FF2B5EF4-FFF2-40B4-BE49-F238E27FC236}">
                <a16:creationId xmlns:a16="http://schemas.microsoft.com/office/drawing/2014/main" id="{75D73215-282D-02B1-E560-41553399BF60}"/>
              </a:ext>
            </a:extLst>
          </p:cNvPr>
          <p:cNvPicPr>
            <a:picLocks noGrp="1" noChangeAspect="1"/>
          </p:cNvPicPr>
          <p:nvPr>
            <p:ph sz="half" idx="1"/>
          </p:nvPr>
        </p:nvPicPr>
        <p:blipFill>
          <a:blip r:embed="rId3"/>
          <a:stretch>
            <a:fillRect/>
          </a:stretch>
        </p:blipFill>
        <p:spPr>
          <a:xfrm>
            <a:off x="565002" y="1825625"/>
            <a:ext cx="3547503" cy="4351338"/>
          </a:xfrm>
        </p:spPr>
      </p:pic>
      <p:sp>
        <p:nvSpPr>
          <p:cNvPr id="6" name="Content Placeholder 5">
            <a:extLst>
              <a:ext uri="{FF2B5EF4-FFF2-40B4-BE49-F238E27FC236}">
                <a16:creationId xmlns:a16="http://schemas.microsoft.com/office/drawing/2014/main" id="{2D30DEC2-8AB7-E9A5-70CB-E0F49A3404F5}"/>
              </a:ext>
            </a:extLst>
          </p:cNvPr>
          <p:cNvSpPr>
            <a:spLocks noGrp="1"/>
          </p:cNvSpPr>
          <p:nvPr>
            <p:ph sz="half" idx="2"/>
          </p:nvPr>
        </p:nvSpPr>
        <p:spPr>
          <a:xfrm>
            <a:off x="4454769" y="1825625"/>
            <a:ext cx="6899031" cy="4351338"/>
          </a:xfrm>
        </p:spPr>
        <p:txBody>
          <a:bodyPr>
            <a:normAutofit fontScale="92500" lnSpcReduction="20000"/>
          </a:bodyPr>
          <a:lstStyle/>
          <a:p>
            <a:r>
              <a:rPr lang="en-GH" dirty="0"/>
              <a:t>Th1 response activates both B cell and macrophages via cytokine IFN-y</a:t>
            </a:r>
          </a:p>
          <a:p>
            <a:endParaRPr lang="en-GH" dirty="0"/>
          </a:p>
          <a:p>
            <a:r>
              <a:rPr lang="en-GH" dirty="0"/>
              <a:t>IFN-y activates classical M1 macrophages to eradicate intracellular pathogens </a:t>
            </a:r>
          </a:p>
          <a:p>
            <a:endParaRPr lang="en-GH" dirty="0"/>
          </a:p>
          <a:p>
            <a:r>
              <a:rPr lang="en-GH" dirty="0"/>
              <a:t>IFN-y induces B cells to class switch to produce opsonizing IgG antibodies that assist macrophages with phagocytosis</a:t>
            </a:r>
          </a:p>
          <a:p>
            <a:endParaRPr lang="en-GH" dirty="0"/>
          </a:p>
          <a:p>
            <a:r>
              <a:rPr lang="en-GH" dirty="0"/>
              <a:t>Activated macrophages also produce Il-12 to activate Th cells</a:t>
            </a:r>
          </a:p>
        </p:txBody>
      </p:sp>
    </p:spTree>
    <p:extLst>
      <p:ext uri="{BB962C8B-B14F-4D97-AF65-F5344CB8AC3E}">
        <p14:creationId xmlns:p14="http://schemas.microsoft.com/office/powerpoint/2010/main" val="2488571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84DD-324B-376F-1EBD-78E11E29E6EE}"/>
              </a:ext>
            </a:extLst>
          </p:cNvPr>
          <p:cNvSpPr>
            <a:spLocks noGrp="1"/>
          </p:cNvSpPr>
          <p:nvPr>
            <p:ph type="title"/>
          </p:nvPr>
        </p:nvSpPr>
        <p:spPr/>
        <p:txBody>
          <a:bodyPr/>
          <a:lstStyle/>
          <a:p>
            <a:r>
              <a:rPr lang="en-GH" dirty="0">
                <a:solidFill>
                  <a:srgbClr val="C00000"/>
                </a:solidFill>
              </a:rPr>
              <a:t>Cytotoxic T Lymphocytes (CTLs)</a:t>
            </a:r>
          </a:p>
        </p:txBody>
      </p:sp>
      <p:sp>
        <p:nvSpPr>
          <p:cNvPr id="5" name="Content Placeholder 4">
            <a:extLst>
              <a:ext uri="{FF2B5EF4-FFF2-40B4-BE49-F238E27FC236}">
                <a16:creationId xmlns:a16="http://schemas.microsoft.com/office/drawing/2014/main" id="{67D80E41-4449-FFFE-E3C3-ACE2343E889C}"/>
              </a:ext>
            </a:extLst>
          </p:cNvPr>
          <p:cNvSpPr>
            <a:spLocks noGrp="1"/>
          </p:cNvSpPr>
          <p:nvPr>
            <p:ph sz="half" idx="1"/>
          </p:nvPr>
        </p:nvSpPr>
        <p:spPr/>
        <p:txBody>
          <a:bodyPr/>
          <a:lstStyle/>
          <a:p>
            <a:r>
              <a:rPr lang="en-GH" dirty="0"/>
              <a:t>CTLs recognize the cell to kill by interaction between their TCR and the MHC class I peptide complex on the target cell surface.</a:t>
            </a:r>
          </a:p>
          <a:p>
            <a:pPr marL="0" indent="0">
              <a:buNone/>
            </a:pPr>
            <a:endParaRPr lang="en-GH" dirty="0"/>
          </a:p>
          <a:p>
            <a:r>
              <a:rPr lang="en-GH" dirty="0"/>
              <a:t>CTLs kill their target cells by the delivery of toxin granule contents that induce apoptosis of the cell</a:t>
            </a:r>
          </a:p>
          <a:p>
            <a:pPr marL="0" indent="0">
              <a:buNone/>
            </a:pPr>
            <a:endParaRPr lang="en-GH" dirty="0"/>
          </a:p>
          <a:p>
            <a:endParaRPr lang="en-GH" dirty="0"/>
          </a:p>
        </p:txBody>
      </p:sp>
      <p:pic>
        <p:nvPicPr>
          <p:cNvPr id="8" name="Picture 7">
            <a:extLst>
              <a:ext uri="{FF2B5EF4-FFF2-40B4-BE49-F238E27FC236}">
                <a16:creationId xmlns:a16="http://schemas.microsoft.com/office/drawing/2014/main" id="{2BF0F47F-D684-C995-D224-D3417C09B7B2}"/>
              </a:ext>
            </a:extLst>
          </p:cNvPr>
          <p:cNvPicPr>
            <a:picLocks noChangeAspect="1"/>
          </p:cNvPicPr>
          <p:nvPr/>
        </p:nvPicPr>
        <p:blipFill>
          <a:blip r:embed="rId3"/>
          <a:stretch>
            <a:fillRect/>
          </a:stretch>
        </p:blipFill>
        <p:spPr>
          <a:xfrm>
            <a:off x="6281930" y="1825625"/>
            <a:ext cx="4826183" cy="4783015"/>
          </a:xfrm>
          <a:prstGeom prst="rect">
            <a:avLst/>
          </a:prstGeom>
        </p:spPr>
      </p:pic>
    </p:spTree>
    <p:extLst>
      <p:ext uri="{BB962C8B-B14F-4D97-AF65-F5344CB8AC3E}">
        <p14:creationId xmlns:p14="http://schemas.microsoft.com/office/powerpoint/2010/main" val="1192978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16E66-E04F-32B2-5399-242B0440BBCB}"/>
              </a:ext>
            </a:extLst>
          </p:cNvPr>
          <p:cNvSpPr>
            <a:spLocks noGrp="1"/>
          </p:cNvSpPr>
          <p:nvPr>
            <p:ph type="title"/>
          </p:nvPr>
        </p:nvSpPr>
        <p:spPr/>
        <p:txBody>
          <a:bodyPr/>
          <a:lstStyle/>
          <a:p>
            <a:r>
              <a:rPr lang="en-GH" dirty="0">
                <a:solidFill>
                  <a:srgbClr val="C00000"/>
                </a:solidFill>
              </a:rPr>
              <a:t>Antibody-dependent Cell-Mediated Cytotoxicity (ADCC)</a:t>
            </a:r>
          </a:p>
        </p:txBody>
      </p:sp>
      <p:pic>
        <p:nvPicPr>
          <p:cNvPr id="6" name="Content Placeholder 5">
            <a:extLst>
              <a:ext uri="{FF2B5EF4-FFF2-40B4-BE49-F238E27FC236}">
                <a16:creationId xmlns:a16="http://schemas.microsoft.com/office/drawing/2014/main" id="{9716335D-CF1F-03D8-73F5-FAA59013CFDF}"/>
              </a:ext>
            </a:extLst>
          </p:cNvPr>
          <p:cNvPicPr>
            <a:picLocks noGrp="1" noChangeAspect="1"/>
          </p:cNvPicPr>
          <p:nvPr>
            <p:ph sz="half" idx="1"/>
          </p:nvPr>
        </p:nvPicPr>
        <p:blipFill>
          <a:blip r:embed="rId2"/>
          <a:stretch>
            <a:fillRect/>
          </a:stretch>
        </p:blipFill>
        <p:spPr>
          <a:xfrm>
            <a:off x="521676" y="1925011"/>
            <a:ext cx="4613031" cy="4251952"/>
          </a:xfrm>
        </p:spPr>
      </p:pic>
      <p:sp>
        <p:nvSpPr>
          <p:cNvPr id="4" name="Content Placeholder 3">
            <a:extLst>
              <a:ext uri="{FF2B5EF4-FFF2-40B4-BE49-F238E27FC236}">
                <a16:creationId xmlns:a16="http://schemas.microsoft.com/office/drawing/2014/main" id="{782F5437-60EC-B499-D84F-D43EF03183D5}"/>
              </a:ext>
            </a:extLst>
          </p:cNvPr>
          <p:cNvSpPr>
            <a:spLocks noGrp="1"/>
          </p:cNvSpPr>
          <p:nvPr>
            <p:ph sz="half" idx="2"/>
          </p:nvPr>
        </p:nvSpPr>
        <p:spPr>
          <a:xfrm>
            <a:off x="5539152" y="1857619"/>
            <a:ext cx="6131171" cy="4351338"/>
          </a:xfrm>
        </p:spPr>
        <p:txBody>
          <a:bodyPr>
            <a:normAutofit fontScale="92500" lnSpcReduction="10000"/>
          </a:bodyPr>
          <a:lstStyle/>
          <a:p>
            <a:r>
              <a:rPr lang="en-GH" dirty="0"/>
              <a:t>ADCC bridges humoral and cell-mediated effector system</a:t>
            </a:r>
          </a:p>
          <a:p>
            <a:endParaRPr lang="en-GH" dirty="0"/>
          </a:p>
          <a:p>
            <a:r>
              <a:rPr lang="en-GH" dirty="0"/>
              <a:t>Cells with cytotoxic potential (NK cells, macrophages, neutrophils and eosinophils) have receptors for Fc region of IgG</a:t>
            </a:r>
          </a:p>
          <a:p>
            <a:endParaRPr lang="en-GH" dirty="0"/>
          </a:p>
          <a:p>
            <a:r>
              <a:rPr lang="en-GH" dirty="0"/>
              <a:t>When IgG bind to target cells, the cytotoxic cells bind to the Fc region of IgG causing lysis of the tarhet cell</a:t>
            </a:r>
          </a:p>
        </p:txBody>
      </p:sp>
    </p:spTree>
    <p:extLst>
      <p:ext uri="{BB962C8B-B14F-4D97-AF65-F5344CB8AC3E}">
        <p14:creationId xmlns:p14="http://schemas.microsoft.com/office/powerpoint/2010/main" val="4209342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35C0016-0BF0-7030-50CC-763AC6A6BEBA}"/>
              </a:ext>
            </a:extLst>
          </p:cNvPr>
          <p:cNvSpPr>
            <a:spLocks noGrp="1"/>
          </p:cNvSpPr>
          <p:nvPr>
            <p:ph type="title"/>
          </p:nvPr>
        </p:nvSpPr>
        <p:spPr>
          <a:xfrm>
            <a:off x="1076739" y="2975803"/>
            <a:ext cx="10515600" cy="1325563"/>
          </a:xfrm>
        </p:spPr>
        <p:txBody>
          <a:bodyPr/>
          <a:lstStyle/>
          <a:p>
            <a:pPr algn="ctr"/>
            <a:r>
              <a:rPr lang="en-GH" dirty="0">
                <a:solidFill>
                  <a:srgbClr val="C00000"/>
                </a:solidFill>
              </a:rPr>
              <a:t>Questions</a:t>
            </a:r>
          </a:p>
        </p:txBody>
      </p:sp>
    </p:spTree>
    <p:extLst>
      <p:ext uri="{BB962C8B-B14F-4D97-AF65-F5344CB8AC3E}">
        <p14:creationId xmlns:p14="http://schemas.microsoft.com/office/powerpoint/2010/main" val="42844227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2085</TotalTime>
  <Words>2418</Words>
  <Application>Microsoft Macintosh PowerPoint</Application>
  <PresentationFormat>Widescreen</PresentationFormat>
  <Paragraphs>213</Paragraphs>
  <Slides>34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34</vt:i4>
      </vt:variant>
    </vt:vector>
  </HeadingPairs>
  <TitlesOfParts>
    <vt:vector size="38" baseType="lpstr">
      <vt:lpstr>Arial</vt:lpstr>
      <vt:lpstr>Calibri</vt:lpstr>
      <vt:lpstr>Calibri Light</vt:lpstr>
      <vt:lpstr>Office Theme</vt:lpstr>
      <vt:lpstr>ADAPTIVE IMMUNITY</vt:lpstr>
      <vt:lpstr>Learning Objectives</vt:lpstr>
      <vt:lpstr>Characteristics of the Adaptive Immune Response </vt:lpstr>
      <vt:lpstr>Origin of cells of the immune system</vt:lpstr>
      <vt:lpstr>Cellular Components of the Adaptive Immune system</vt:lpstr>
      <vt:lpstr>Lymphocytes</vt:lpstr>
      <vt:lpstr>Antigen recognition Molecules of lymphocytes</vt:lpstr>
      <vt:lpstr>Selection of T and B lymphocytes</vt:lpstr>
      <vt:lpstr>B Lymphocyte development</vt:lpstr>
      <vt:lpstr>PowerPoint Presentation</vt:lpstr>
      <vt:lpstr>T Lymphocyte development</vt:lpstr>
      <vt:lpstr>T Lymphocyte development</vt:lpstr>
      <vt:lpstr>Major Histocompatibility Complex (MHC)</vt:lpstr>
      <vt:lpstr>Thymic Education</vt:lpstr>
      <vt:lpstr>Regulatory T cells (T-regs)</vt:lpstr>
      <vt:lpstr>Secondary Lymphoid Tissues: B and T lymphocytes</vt:lpstr>
      <vt:lpstr>Activation of T lymphocytes</vt:lpstr>
      <vt:lpstr>Development of Th1, Th2 and Th17 subsets</vt:lpstr>
      <vt:lpstr>PowerPoint Presentation</vt:lpstr>
      <vt:lpstr>Development of Cytotoxic T Lymphocytes</vt:lpstr>
      <vt:lpstr>Activation of B lymphocytes</vt:lpstr>
      <vt:lpstr>TI-Antigen Activated B Lymphocytes</vt:lpstr>
      <vt:lpstr>TD-Antigen Activated B Lymphocytes</vt:lpstr>
      <vt:lpstr>Humoral Immunity</vt:lpstr>
      <vt:lpstr>Humoral Immunity</vt:lpstr>
      <vt:lpstr>Class switching to IgG</vt:lpstr>
      <vt:lpstr>Class switching to IgA</vt:lpstr>
      <vt:lpstr>Class switching to IgE</vt:lpstr>
      <vt:lpstr>Cell-Mediated Immunity</vt:lpstr>
      <vt:lpstr>Cell-Mediated Immunity</vt:lpstr>
      <vt:lpstr>Macrophages/B cells</vt:lpstr>
      <vt:lpstr>Cytotoxic T Lymphocytes (CTLs)</vt:lpstr>
      <vt:lpstr>Antibody-dependent Cell-Mediated Cytotoxicity (ADCC)</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Michael Frimpong</dc:creator>
  <cp:lastModifiedBy>Michael Frimpong</cp:lastModifiedBy>
  <cp:revision>15</cp:revision>
  <dcterms:created xsi:type="dcterms:W3CDTF">2026-02-05T14:50:40Z</dcterms:created>
  <dcterms:modified xsi:type="dcterms:W3CDTF">2026-05-05T08:02:41Z</dcterms:modified>
</cp:coreProperties>
</file>