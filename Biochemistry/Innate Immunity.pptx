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344" r:id="rId4"/>
    <p:sldId id="258" r:id="rId5"/>
    <p:sldId id="259" r:id="rId6"/>
    <p:sldId id="311" r:id="rId7"/>
    <p:sldId id="261" r:id="rId8"/>
    <p:sldId id="262" r:id="rId9"/>
    <p:sldId id="263" r:id="rId10"/>
    <p:sldId id="264" r:id="rId11"/>
    <p:sldId id="265" r:id="rId12"/>
    <p:sldId id="268" r:id="rId13"/>
    <p:sldId id="266" r:id="rId14"/>
    <p:sldId id="267" r:id="rId15"/>
    <p:sldId id="269" r:id="rId16"/>
    <p:sldId id="326" r:id="rId17"/>
    <p:sldId id="270" r:id="rId18"/>
    <p:sldId id="328" r:id="rId19"/>
    <p:sldId id="329" r:id="rId20"/>
    <p:sldId id="330" r:id="rId21"/>
    <p:sldId id="331" r:id="rId22"/>
    <p:sldId id="332" r:id="rId23"/>
    <p:sldId id="333" r:id="rId24"/>
    <p:sldId id="335" r:id="rId25"/>
    <p:sldId id="336" r:id="rId26"/>
    <p:sldId id="337" r:id="rId27"/>
    <p:sldId id="338" r:id="rId28"/>
    <p:sldId id="339" r:id="rId29"/>
    <p:sldId id="340" r:id="rId30"/>
    <p:sldId id="341" r:id="rId31"/>
    <p:sldId id="343" r:id="rId32"/>
    <p:sldId id="342" r:id="rId33"/>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4"/>
    <p:restoredTop sz="84035"/>
  </p:normalViewPr>
  <p:slideViewPr>
    <p:cSldViewPr snapToGrid="0">
      <p:cViewPr varScale="1">
        <p:scale>
          <a:sx n="107" d="100"/>
          <a:sy n="107" d="100"/>
        </p:scale>
        <p:origin x="80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310B3-9F5E-D24F-BE8F-74540D1EB0C4}" type="datetimeFigureOut">
              <a:rPr lang="en-GH" smtClean="0"/>
              <a:t>03/05/2026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1F397-FE31-0145-90E3-5D583279C1DF}" type="slidenum">
              <a:rPr lang="en-GH" smtClean="0"/>
              <a:t>‹#›</a:t>
            </a:fld>
            <a:endParaRPr lang="en-GH"/>
          </a:p>
        </p:txBody>
      </p:sp>
    </p:spTree>
    <p:extLst>
      <p:ext uri="{BB962C8B-B14F-4D97-AF65-F5344CB8AC3E}">
        <p14:creationId xmlns:p14="http://schemas.microsoft.com/office/powerpoint/2010/main" val="2377034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We are constantly being exposed to infectious agents and yet, in most cases, we are able to resist these infections. </a:t>
            </a:r>
          </a:p>
          <a:p>
            <a:pPr marL="171450" indent="-171450">
              <a:buFontTx/>
              <a:buChar char="-"/>
            </a:pPr>
            <a:r>
              <a:rPr lang="en-GB" dirty="0"/>
              <a:t>It is our immune system that enables us to resist infections. The immune system is composed of two major subdivisions, the innate or non-specific immune system and the adaptive or specific immune system (Figure 1). </a:t>
            </a:r>
          </a:p>
          <a:p>
            <a:pPr marL="171450" indent="-171450">
              <a:buFontTx/>
              <a:buChar char="-"/>
            </a:pPr>
            <a:r>
              <a:rPr lang="en-GB" dirty="0"/>
              <a:t>Although these two arms of the immune system have distinct functions, there is interplay between these systems (i.e., components of the innate immune system influence the adaptive immune system and vice versa). </a:t>
            </a:r>
            <a:endParaRPr lang="en-GH" dirty="0"/>
          </a:p>
        </p:txBody>
      </p:sp>
      <p:sp>
        <p:nvSpPr>
          <p:cNvPr id="4" name="Slide Number Placeholder 3"/>
          <p:cNvSpPr>
            <a:spLocks noGrp="1"/>
          </p:cNvSpPr>
          <p:nvPr>
            <p:ph type="sldNum" sz="quarter" idx="5"/>
          </p:nvPr>
        </p:nvSpPr>
        <p:spPr/>
        <p:txBody>
          <a:bodyPr/>
          <a:lstStyle/>
          <a:p>
            <a:fld id="{5121F397-FE31-0145-90E3-5D583279C1DF}" type="slidenum">
              <a:rPr lang="en-GH" smtClean="0"/>
              <a:t>4</a:t>
            </a:fld>
            <a:endParaRPr lang="en-GH"/>
          </a:p>
        </p:txBody>
      </p:sp>
    </p:spTree>
    <p:extLst>
      <p:ext uri="{BB962C8B-B14F-4D97-AF65-F5344CB8AC3E}">
        <p14:creationId xmlns:p14="http://schemas.microsoft.com/office/powerpoint/2010/main" val="2553036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Innate immunity is responsible for reacting quickly to invading microbes and for keeping the host alive while the adaptive immune system is developing a very specific response</a:t>
            </a:r>
          </a:p>
          <a:p>
            <a:pPr marL="171450" indent="-171450">
              <a:buFontTx/>
              <a:buChar char="-"/>
            </a:pPr>
            <a:r>
              <a:rPr lang="en-GH" dirty="0"/>
              <a:t>The innate immune defenses are present at birth; they have limited diversity for antigen, and they attack microbes with the same basic vigor no matter how many times they seen the same pathogen</a:t>
            </a:r>
          </a:p>
          <a:p>
            <a:pPr marL="171450" indent="-171450">
              <a:buFontTx/>
              <a:buChar char="-"/>
            </a:pPr>
            <a:r>
              <a:rPr lang="en-GH" dirty="0"/>
              <a:t>Microbes may gain access to the tissue if the physical barriers are breached. </a:t>
            </a:r>
            <a:r>
              <a:rPr lang="en-GB" dirty="0"/>
              <a:t>I</a:t>
            </a:r>
            <a:r>
              <a:rPr lang="en-GH" dirty="0"/>
              <a:t>n the tissues, they come into contact with phagocytic cells such as neutrophils, macrophages and dendritic cells, which produce chemical messengers called cytokines that can initiate an inflammatory response.</a:t>
            </a:r>
          </a:p>
          <a:p>
            <a:pPr marL="171450" indent="-171450">
              <a:buFontTx/>
              <a:buChar char="-"/>
            </a:pPr>
            <a:r>
              <a:rPr lang="en-GH" dirty="0"/>
              <a:t>Many times this is enough to eliminate the pathogen, but not always. The pathogen may get access to the blood, in which the alternative pathway of complement activation may provide some additional help.</a:t>
            </a:r>
          </a:p>
          <a:p>
            <a:pPr marL="171450" indent="-171450">
              <a:buFontTx/>
              <a:buChar char="-"/>
            </a:pPr>
            <a:r>
              <a:rPr lang="en-GH" dirty="0"/>
              <a:t>But this is where the adaptive immunity may have to take over and resolve the infection and eliminate the pathogen.</a:t>
            </a:r>
          </a:p>
          <a:p>
            <a:pPr marL="171450" indent="-171450">
              <a:buFontTx/>
              <a:buChar char="-"/>
            </a:pPr>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6</a:t>
            </a:fld>
            <a:endParaRPr lang="en-GH"/>
          </a:p>
        </p:txBody>
      </p:sp>
    </p:spTree>
    <p:extLst>
      <p:ext uri="{BB962C8B-B14F-4D97-AF65-F5344CB8AC3E}">
        <p14:creationId xmlns:p14="http://schemas.microsoft.com/office/powerpoint/2010/main" val="2717401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The anatomical barriers are very effective in preventing colonization of tissues by microorganisms. However, when there is damage to tissues the anatomical barriers are breached and infection may occur. </a:t>
            </a:r>
          </a:p>
          <a:p>
            <a:pPr marL="171450" indent="-171450">
              <a:buFontTx/>
              <a:buChar char="-"/>
            </a:pPr>
            <a:endParaRPr lang="en-GH" dirty="0"/>
          </a:p>
        </p:txBody>
      </p:sp>
      <p:sp>
        <p:nvSpPr>
          <p:cNvPr id="4" name="Slide Number Placeholder 3"/>
          <p:cNvSpPr>
            <a:spLocks noGrp="1"/>
          </p:cNvSpPr>
          <p:nvPr>
            <p:ph type="sldNum" sz="quarter" idx="5"/>
          </p:nvPr>
        </p:nvSpPr>
        <p:spPr/>
        <p:txBody>
          <a:bodyPr/>
          <a:lstStyle/>
          <a:p>
            <a:fld id="{5121F397-FE31-0145-90E3-5D583279C1DF}" type="slidenum">
              <a:rPr lang="en-GH" smtClean="0"/>
              <a:t>9</a:t>
            </a:fld>
            <a:endParaRPr lang="en-GH"/>
          </a:p>
        </p:txBody>
      </p:sp>
    </p:spTree>
    <p:extLst>
      <p:ext uri="{BB962C8B-B14F-4D97-AF65-F5344CB8AC3E}">
        <p14:creationId xmlns:p14="http://schemas.microsoft.com/office/powerpoint/2010/main" val="201986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NADPH oxidase reduces O</a:t>
            </a:r>
            <a:r>
              <a:rPr lang="en-GH" baseline="-25000" dirty="0"/>
              <a:t>2</a:t>
            </a:r>
            <a:r>
              <a:rPr lang="en-GH" baseline="0" dirty="0"/>
              <a:t> to superoxide anion, which generates hydroxyl radicals and hydrogen peroxide, which are microbicidal.</a:t>
            </a:r>
          </a:p>
          <a:p>
            <a:pPr marL="171450" indent="-171450">
              <a:buFontTx/>
              <a:buChar char="-"/>
            </a:pPr>
            <a:r>
              <a:rPr lang="en-GH" baseline="0" dirty="0"/>
              <a:t>Myeloperoxidase from lysosome acts on hydrogen peroxide and chloride ions to produce hypochlorite (active ingredient in bleach), which is microbicidal.</a:t>
            </a:r>
          </a:p>
          <a:p>
            <a:pPr marL="171450" indent="-171450">
              <a:buFontTx/>
              <a:buChar char="-"/>
            </a:pPr>
            <a:r>
              <a:rPr lang="en-GB" baseline="0" dirty="0"/>
              <a:t>L</a:t>
            </a:r>
            <a:r>
              <a:rPr lang="en-GH" baseline="0" dirty="0"/>
              <a:t>ysozyme digest bacterial cell by cleaving peptidoglycans</a:t>
            </a:r>
          </a:p>
          <a:p>
            <a:pPr marL="171450" indent="-171450">
              <a:buFontTx/>
              <a:buChar char="-"/>
            </a:pPr>
            <a:r>
              <a:rPr lang="en-GH" baseline="0" dirty="0"/>
              <a:t>Defensins form channels in bacterial cell wall</a:t>
            </a:r>
          </a:p>
          <a:p>
            <a:pPr marL="171450" indent="-171450">
              <a:buFontTx/>
              <a:buChar char="-"/>
            </a:pPr>
            <a:r>
              <a:rPr lang="en-GB" baseline="0" dirty="0"/>
              <a:t>L</a:t>
            </a:r>
            <a:r>
              <a:rPr lang="en-GH" baseline="0" dirty="0"/>
              <a:t>actoferrin chelate iron</a:t>
            </a:r>
          </a:p>
          <a:p>
            <a:pPr marL="171450" indent="-171450">
              <a:buFontTx/>
              <a:buChar char="-"/>
            </a:pPr>
            <a:endParaRPr lang="en-GH" baseline="0" dirty="0"/>
          </a:p>
          <a:p>
            <a:pPr marL="171450" indent="-171450">
              <a:buFontTx/>
              <a:buChar char="-"/>
            </a:pPr>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20</a:t>
            </a:fld>
            <a:endParaRPr lang="en-GH"/>
          </a:p>
        </p:txBody>
      </p:sp>
    </p:spTree>
    <p:extLst>
      <p:ext uri="{BB962C8B-B14F-4D97-AF65-F5344CB8AC3E}">
        <p14:creationId xmlns:p14="http://schemas.microsoft.com/office/powerpoint/2010/main" val="3697404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During acute inflammatory response, pro-inflammatory cytokines, IL-1, TNF-a and IL-6 are produced. </a:t>
            </a:r>
          </a:p>
          <a:p>
            <a:r>
              <a:rPr lang="en-GH" dirty="0"/>
              <a:t>- These cytokines has systemic effect on tissues including fever, production of acute phase proteins and leukocytosis. </a:t>
            </a:r>
          </a:p>
        </p:txBody>
      </p:sp>
      <p:sp>
        <p:nvSpPr>
          <p:cNvPr id="4" name="Slide Number Placeholder 3"/>
          <p:cNvSpPr>
            <a:spLocks noGrp="1"/>
          </p:cNvSpPr>
          <p:nvPr>
            <p:ph type="sldNum" sz="quarter" idx="5"/>
          </p:nvPr>
        </p:nvSpPr>
        <p:spPr/>
        <p:txBody>
          <a:bodyPr/>
          <a:lstStyle/>
          <a:p>
            <a:fld id="{1948376D-CC24-F641-A38D-A904C20580D9}" type="slidenum">
              <a:rPr lang="en-GH" smtClean="0"/>
              <a:t>21</a:t>
            </a:fld>
            <a:endParaRPr lang="en-GH"/>
          </a:p>
        </p:txBody>
      </p:sp>
    </p:spTree>
    <p:extLst>
      <p:ext uri="{BB962C8B-B14F-4D97-AF65-F5344CB8AC3E}">
        <p14:creationId xmlns:p14="http://schemas.microsoft.com/office/powerpoint/2010/main" val="5729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Dendritic cells are probable the most efficient APC</a:t>
            </a:r>
          </a:p>
        </p:txBody>
      </p:sp>
      <p:sp>
        <p:nvSpPr>
          <p:cNvPr id="4" name="Slide Number Placeholder 3"/>
          <p:cNvSpPr>
            <a:spLocks noGrp="1"/>
          </p:cNvSpPr>
          <p:nvPr>
            <p:ph type="sldNum" sz="quarter" idx="5"/>
          </p:nvPr>
        </p:nvSpPr>
        <p:spPr/>
        <p:txBody>
          <a:bodyPr/>
          <a:lstStyle/>
          <a:p>
            <a:fld id="{1948376D-CC24-F641-A38D-A904C20580D9}" type="slidenum">
              <a:rPr lang="en-GH" smtClean="0"/>
              <a:t>25</a:t>
            </a:fld>
            <a:endParaRPr lang="en-GH"/>
          </a:p>
        </p:txBody>
      </p:sp>
    </p:spTree>
    <p:extLst>
      <p:ext uri="{BB962C8B-B14F-4D97-AF65-F5344CB8AC3E}">
        <p14:creationId xmlns:p14="http://schemas.microsoft.com/office/powerpoint/2010/main" val="3620319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HEVs – High endothelial venules</a:t>
            </a:r>
          </a:p>
          <a:p>
            <a:pPr marL="171450" indent="-171450">
              <a:buFontTx/>
              <a:buChar char="-"/>
            </a:pPr>
            <a:r>
              <a:rPr lang="en-GH" dirty="0"/>
              <a:t>Considering the vast number of pathogens that enter the body, it would be a nearly impossible task for lymphoid cells to travel to all body sites to protect the host. </a:t>
            </a:r>
          </a:p>
          <a:p>
            <a:pPr marL="171450" indent="-171450">
              <a:buFontTx/>
              <a:buChar char="-"/>
            </a:pPr>
            <a:r>
              <a:rPr lang="en-GH" dirty="0"/>
              <a:t>Thus, antigens are taken to the secondary lymphoid tissues where lymphocytes constantly recirculate in order to come into contact with specific antigen.</a:t>
            </a:r>
          </a:p>
        </p:txBody>
      </p:sp>
      <p:sp>
        <p:nvSpPr>
          <p:cNvPr id="4" name="Slide Number Placeholder 3"/>
          <p:cNvSpPr>
            <a:spLocks noGrp="1"/>
          </p:cNvSpPr>
          <p:nvPr>
            <p:ph type="sldNum" sz="quarter" idx="5"/>
          </p:nvPr>
        </p:nvSpPr>
        <p:spPr/>
        <p:txBody>
          <a:bodyPr/>
          <a:lstStyle/>
          <a:p>
            <a:fld id="{1948376D-CC24-F641-A38D-A904C20580D9}" type="slidenum">
              <a:rPr lang="en-GH" smtClean="0"/>
              <a:t>26</a:t>
            </a:fld>
            <a:endParaRPr lang="en-GH"/>
          </a:p>
        </p:txBody>
      </p:sp>
    </p:spTree>
    <p:extLst>
      <p:ext uri="{BB962C8B-B14F-4D97-AF65-F5344CB8AC3E}">
        <p14:creationId xmlns:p14="http://schemas.microsoft.com/office/powerpoint/2010/main" val="1061837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H" dirty="0"/>
              <a:t>The first critical step in the elicitation of the adaptive immune response to a primary antigenic challenge is the processing of antigen for presentation to na</a:t>
            </a:r>
            <a:r>
              <a:rPr lang="en-GB" dirty="0" err="1"/>
              <a:t>ï</a:t>
            </a:r>
            <a:r>
              <a:rPr lang="en-GH" dirty="0"/>
              <a:t>ve T lymphocytes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H" dirty="0"/>
              <a:t>Professional antigen-presenting cells (APCs) include dendritic cells, macrophages and B cells, load partially degraded peptides into the groove of the MHC class II molecules. </a:t>
            </a:r>
          </a:p>
          <a:p>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27</a:t>
            </a:fld>
            <a:endParaRPr lang="en-GH"/>
          </a:p>
        </p:txBody>
      </p:sp>
    </p:spTree>
    <p:extLst>
      <p:ext uri="{BB962C8B-B14F-4D97-AF65-F5344CB8AC3E}">
        <p14:creationId xmlns:p14="http://schemas.microsoft.com/office/powerpoint/2010/main" val="2429350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BC8B-9BA6-6718-AD7A-6FF3C94DC7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H"/>
          </a:p>
        </p:txBody>
      </p:sp>
      <p:sp>
        <p:nvSpPr>
          <p:cNvPr id="3" name="Subtitle 2">
            <a:extLst>
              <a:ext uri="{FF2B5EF4-FFF2-40B4-BE49-F238E27FC236}">
                <a16:creationId xmlns:a16="http://schemas.microsoft.com/office/drawing/2014/main" id="{3DC9965C-D1B5-E7AA-E916-E0A9772B9A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H"/>
          </a:p>
        </p:txBody>
      </p:sp>
      <p:sp>
        <p:nvSpPr>
          <p:cNvPr id="4" name="Date Placeholder 3">
            <a:extLst>
              <a:ext uri="{FF2B5EF4-FFF2-40B4-BE49-F238E27FC236}">
                <a16:creationId xmlns:a16="http://schemas.microsoft.com/office/drawing/2014/main" id="{30B6E7E2-099F-1B3E-E281-BD782922E533}"/>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E6CD8227-32B4-26BE-9BDD-626CF0932FC9}"/>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9F5A489-5E0E-1675-5C70-49BA64EFB60E}"/>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3644216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E635-F6BC-395C-3B9F-06CC518EEF24}"/>
              </a:ext>
            </a:extLst>
          </p:cNvPr>
          <p:cNvSpPr>
            <a:spLocks noGrp="1"/>
          </p:cNvSpPr>
          <p:nvPr>
            <p:ph type="title"/>
          </p:nvPr>
        </p:nvSpPr>
        <p:spPr/>
        <p:txBody>
          <a:bodyPr/>
          <a:lstStyle/>
          <a:p>
            <a:r>
              <a:rPr lang="en-GB"/>
              <a:t>Click to edit Master title style</a:t>
            </a:r>
            <a:endParaRPr lang="en-GH"/>
          </a:p>
        </p:txBody>
      </p:sp>
      <p:sp>
        <p:nvSpPr>
          <p:cNvPr id="3" name="Content Placeholder 2">
            <a:extLst>
              <a:ext uri="{FF2B5EF4-FFF2-40B4-BE49-F238E27FC236}">
                <a16:creationId xmlns:a16="http://schemas.microsoft.com/office/drawing/2014/main" id="{39CB0581-A223-E31E-9A3F-8826C1DDF89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5FB71C34-7EA0-1929-83C6-725E0188CA2B}"/>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EB8B03D3-E25B-0A00-0337-D020BF16F7FF}"/>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6D9C2B23-6CB0-03FB-F770-77DB74016CFF}"/>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44523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A143A-5862-49EE-2910-2EDE526BE67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H"/>
          </a:p>
        </p:txBody>
      </p:sp>
      <p:sp>
        <p:nvSpPr>
          <p:cNvPr id="3" name="Text Placeholder 2">
            <a:extLst>
              <a:ext uri="{FF2B5EF4-FFF2-40B4-BE49-F238E27FC236}">
                <a16:creationId xmlns:a16="http://schemas.microsoft.com/office/drawing/2014/main" id="{DE169B52-557F-2BF6-48C6-E36928FCC5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741E799-9026-A74A-A632-264C9DD384A7}"/>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D1DBF8F0-4E0F-7ABD-8647-92D219984AF8}"/>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566C559-CC90-B7A3-EE46-9C4A77219AAC}"/>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1417913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E5244-8185-ACA9-35AF-AEA402E92FD3}"/>
              </a:ext>
            </a:extLst>
          </p:cNvPr>
          <p:cNvSpPr>
            <a:spLocks noGrp="1"/>
          </p:cNvSpPr>
          <p:nvPr>
            <p:ph type="title"/>
          </p:nvPr>
        </p:nvSpPr>
        <p:spPr/>
        <p:txBody>
          <a:bodyPr/>
          <a:lstStyle/>
          <a:p>
            <a:r>
              <a:rPr lang="en-GB"/>
              <a:t>Click to edit Master title style</a:t>
            </a:r>
            <a:endParaRPr lang="en-GH"/>
          </a:p>
        </p:txBody>
      </p:sp>
      <p:sp>
        <p:nvSpPr>
          <p:cNvPr id="3" name="Content Placeholder 2">
            <a:extLst>
              <a:ext uri="{FF2B5EF4-FFF2-40B4-BE49-F238E27FC236}">
                <a16:creationId xmlns:a16="http://schemas.microsoft.com/office/drawing/2014/main" id="{932C1D8E-E14D-7CEA-EE4F-D5D39DA8E3C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Content Placeholder 3">
            <a:extLst>
              <a:ext uri="{FF2B5EF4-FFF2-40B4-BE49-F238E27FC236}">
                <a16:creationId xmlns:a16="http://schemas.microsoft.com/office/drawing/2014/main" id="{CDB72DE3-4B28-84BD-861A-A4C6456095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Date Placeholder 4">
            <a:extLst>
              <a:ext uri="{FF2B5EF4-FFF2-40B4-BE49-F238E27FC236}">
                <a16:creationId xmlns:a16="http://schemas.microsoft.com/office/drawing/2014/main" id="{EB22CFD4-8B1D-1799-137E-2D80FECE52BD}"/>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6" name="Footer Placeholder 5">
            <a:extLst>
              <a:ext uri="{FF2B5EF4-FFF2-40B4-BE49-F238E27FC236}">
                <a16:creationId xmlns:a16="http://schemas.microsoft.com/office/drawing/2014/main" id="{02B52996-1636-EF85-A5AB-905F340A8B64}"/>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6E0BF4ED-2E0D-2664-10D9-2569E638A34E}"/>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4248579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2BE64-5A40-6E83-A136-483FFBE328CE}"/>
              </a:ext>
            </a:extLst>
          </p:cNvPr>
          <p:cNvSpPr>
            <a:spLocks noGrp="1"/>
          </p:cNvSpPr>
          <p:nvPr>
            <p:ph type="title"/>
          </p:nvPr>
        </p:nvSpPr>
        <p:spPr>
          <a:xfrm>
            <a:off x="839788" y="365125"/>
            <a:ext cx="10515600" cy="1325563"/>
          </a:xfrm>
        </p:spPr>
        <p:txBody>
          <a:bodyPr/>
          <a:lstStyle/>
          <a:p>
            <a:r>
              <a:rPr lang="en-GB"/>
              <a:t>Click to edit Master title style</a:t>
            </a:r>
            <a:endParaRPr lang="en-GH"/>
          </a:p>
        </p:txBody>
      </p:sp>
      <p:sp>
        <p:nvSpPr>
          <p:cNvPr id="3" name="Text Placeholder 2">
            <a:extLst>
              <a:ext uri="{FF2B5EF4-FFF2-40B4-BE49-F238E27FC236}">
                <a16:creationId xmlns:a16="http://schemas.microsoft.com/office/drawing/2014/main" id="{F72FD226-B94C-8AD0-D1D7-B6B8D2978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867A7DD-3785-F0F1-438D-B55B224FDA0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Text Placeholder 4">
            <a:extLst>
              <a:ext uri="{FF2B5EF4-FFF2-40B4-BE49-F238E27FC236}">
                <a16:creationId xmlns:a16="http://schemas.microsoft.com/office/drawing/2014/main" id="{98CF0FEE-8613-E21F-8547-1A8FA6F43D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97B5EB6-573D-3613-FF2C-8B9AECB387C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7" name="Date Placeholder 6">
            <a:extLst>
              <a:ext uri="{FF2B5EF4-FFF2-40B4-BE49-F238E27FC236}">
                <a16:creationId xmlns:a16="http://schemas.microsoft.com/office/drawing/2014/main" id="{A879F4EB-BAC5-19FD-E707-4017A2921373}"/>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8" name="Footer Placeholder 7">
            <a:extLst>
              <a:ext uri="{FF2B5EF4-FFF2-40B4-BE49-F238E27FC236}">
                <a16:creationId xmlns:a16="http://schemas.microsoft.com/office/drawing/2014/main" id="{485D2D9B-7D1B-050F-1163-923981522EF7}"/>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723AD3A2-B1B8-0961-3965-7FACA1E930DC}"/>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221554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E06A4-C8BF-603B-BE50-D45998A91FBC}"/>
              </a:ext>
            </a:extLst>
          </p:cNvPr>
          <p:cNvSpPr>
            <a:spLocks noGrp="1"/>
          </p:cNvSpPr>
          <p:nvPr>
            <p:ph type="title"/>
          </p:nvPr>
        </p:nvSpPr>
        <p:spPr/>
        <p:txBody>
          <a:bodyPr/>
          <a:lstStyle/>
          <a:p>
            <a:r>
              <a:rPr lang="en-GB"/>
              <a:t>Click to edit Master title style</a:t>
            </a:r>
            <a:endParaRPr lang="en-GH"/>
          </a:p>
        </p:txBody>
      </p:sp>
      <p:sp>
        <p:nvSpPr>
          <p:cNvPr id="3" name="Date Placeholder 2">
            <a:extLst>
              <a:ext uri="{FF2B5EF4-FFF2-40B4-BE49-F238E27FC236}">
                <a16:creationId xmlns:a16="http://schemas.microsoft.com/office/drawing/2014/main" id="{CC8C110C-12E0-8F7A-C887-717B28E11701}"/>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4" name="Footer Placeholder 3">
            <a:extLst>
              <a:ext uri="{FF2B5EF4-FFF2-40B4-BE49-F238E27FC236}">
                <a16:creationId xmlns:a16="http://schemas.microsoft.com/office/drawing/2014/main" id="{916F0029-E35C-6FD9-7BFB-2D6DACFB7990}"/>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9C88755F-C56C-26CE-07AB-212AEEBA6BA3}"/>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338931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086A89-5772-A63D-44CD-C4718E47B53D}"/>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3" name="Footer Placeholder 2">
            <a:extLst>
              <a:ext uri="{FF2B5EF4-FFF2-40B4-BE49-F238E27FC236}">
                <a16:creationId xmlns:a16="http://schemas.microsoft.com/office/drawing/2014/main" id="{F74871B5-D24F-1672-5DF1-65B51D126431}"/>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49EC381B-FD42-43F0-FDEB-49C981F3F823}"/>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2258905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45C8-AA1F-8E6F-4B80-FED1F2AE22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H"/>
          </a:p>
        </p:txBody>
      </p:sp>
      <p:sp>
        <p:nvSpPr>
          <p:cNvPr id="3" name="Content Placeholder 2">
            <a:extLst>
              <a:ext uri="{FF2B5EF4-FFF2-40B4-BE49-F238E27FC236}">
                <a16:creationId xmlns:a16="http://schemas.microsoft.com/office/drawing/2014/main" id="{2171E9E6-DC60-191D-7F66-2F3F44E92A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Text Placeholder 3">
            <a:extLst>
              <a:ext uri="{FF2B5EF4-FFF2-40B4-BE49-F238E27FC236}">
                <a16:creationId xmlns:a16="http://schemas.microsoft.com/office/drawing/2014/main" id="{DEF67B04-B7F1-915C-10C4-AE1E398A7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2E398B-27C9-DE00-78FF-EFBB77D28560}"/>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6" name="Footer Placeholder 5">
            <a:extLst>
              <a:ext uri="{FF2B5EF4-FFF2-40B4-BE49-F238E27FC236}">
                <a16:creationId xmlns:a16="http://schemas.microsoft.com/office/drawing/2014/main" id="{46EB05D8-E5E2-5076-7FA4-D97581ED6D31}"/>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DEA752DE-D679-43DD-DC95-145F2DAD3686}"/>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25880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EC776-3750-6A27-12D5-B8FAC60BF3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H"/>
          </a:p>
        </p:txBody>
      </p:sp>
      <p:sp>
        <p:nvSpPr>
          <p:cNvPr id="3" name="Picture Placeholder 2">
            <a:extLst>
              <a:ext uri="{FF2B5EF4-FFF2-40B4-BE49-F238E27FC236}">
                <a16:creationId xmlns:a16="http://schemas.microsoft.com/office/drawing/2014/main" id="{2A2F71B0-FD30-C3F9-E707-8532EE08C8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1FEBAAA9-C8CB-405D-AFF5-D855FF489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4296EB-CAA6-0EC0-E0DF-E4AC741DCFE7}"/>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6" name="Footer Placeholder 5">
            <a:extLst>
              <a:ext uri="{FF2B5EF4-FFF2-40B4-BE49-F238E27FC236}">
                <a16:creationId xmlns:a16="http://schemas.microsoft.com/office/drawing/2014/main" id="{53156CA1-DE15-5257-EC16-6AF4763C8BBA}"/>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FFB2E7A7-50C7-C8CD-B63A-BE35A280545E}"/>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3590969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6DF8-C5A8-3600-5830-5C3F1E0F7B78}"/>
              </a:ext>
            </a:extLst>
          </p:cNvPr>
          <p:cNvSpPr>
            <a:spLocks noGrp="1"/>
          </p:cNvSpPr>
          <p:nvPr>
            <p:ph type="title"/>
          </p:nvPr>
        </p:nvSpPr>
        <p:spPr/>
        <p:txBody>
          <a:bodyPr/>
          <a:lstStyle/>
          <a:p>
            <a:r>
              <a:rPr lang="en-GB"/>
              <a:t>Click to edit Master title style</a:t>
            </a:r>
            <a:endParaRPr lang="en-GH"/>
          </a:p>
        </p:txBody>
      </p:sp>
      <p:sp>
        <p:nvSpPr>
          <p:cNvPr id="3" name="Vertical Text Placeholder 2">
            <a:extLst>
              <a:ext uri="{FF2B5EF4-FFF2-40B4-BE49-F238E27FC236}">
                <a16:creationId xmlns:a16="http://schemas.microsoft.com/office/drawing/2014/main" id="{70E52B55-5853-C558-E1F9-D3875EE53D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63A4E75C-2EBE-1EA9-5A9F-EED074E4A40A}"/>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AEDE2693-8325-3346-16B3-6932EBA3A616}"/>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BAC38A8-C919-E94B-EC95-6A906A5B7C71}"/>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2612819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72EB0-F6A4-E20D-9E85-59452C10C47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H"/>
          </a:p>
        </p:txBody>
      </p:sp>
      <p:sp>
        <p:nvSpPr>
          <p:cNvPr id="3" name="Vertical Text Placeholder 2">
            <a:extLst>
              <a:ext uri="{FF2B5EF4-FFF2-40B4-BE49-F238E27FC236}">
                <a16:creationId xmlns:a16="http://schemas.microsoft.com/office/drawing/2014/main" id="{5163AA90-4487-F58C-589B-C81E7118007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A8ECA997-60DC-AEA8-600A-A8555609C662}"/>
              </a:ext>
            </a:extLst>
          </p:cNvPr>
          <p:cNvSpPr>
            <a:spLocks noGrp="1"/>
          </p:cNvSpPr>
          <p:nvPr>
            <p:ph type="dt" sz="half" idx="10"/>
          </p:nvPr>
        </p:nvSpPr>
        <p:spPr/>
        <p:txBody>
          <a:body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BE4D30E4-9D31-5FA1-BFEE-F36A10CE9834}"/>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B03EB38-518D-113A-4DC1-914DE43C5B19}"/>
              </a:ext>
            </a:extLst>
          </p:cNvPr>
          <p:cNvSpPr>
            <a:spLocks noGrp="1"/>
          </p:cNvSpPr>
          <p:nvPr>
            <p:ph type="sldNum" sz="quarter" idx="12"/>
          </p:nvPr>
        </p:nvSpPr>
        <p:spPr/>
        <p:txBody>
          <a:bodyPr/>
          <a:lstStyle/>
          <a:p>
            <a:fld id="{CAB5E739-2472-0D4B-A55B-DD8388F6B077}" type="slidenum">
              <a:rPr lang="en-GH" smtClean="0"/>
              <a:t>‹#›</a:t>
            </a:fld>
            <a:endParaRPr lang="en-GH"/>
          </a:p>
        </p:txBody>
      </p:sp>
    </p:spTree>
    <p:extLst>
      <p:ext uri="{BB962C8B-B14F-4D97-AF65-F5344CB8AC3E}">
        <p14:creationId xmlns:p14="http://schemas.microsoft.com/office/powerpoint/2010/main" val="1980587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C6BF48-C3BD-E401-A52D-10ADCA5825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H"/>
          </a:p>
        </p:txBody>
      </p:sp>
      <p:sp>
        <p:nvSpPr>
          <p:cNvPr id="3" name="Text Placeholder 2">
            <a:extLst>
              <a:ext uri="{FF2B5EF4-FFF2-40B4-BE49-F238E27FC236}">
                <a16:creationId xmlns:a16="http://schemas.microsoft.com/office/drawing/2014/main" id="{6A865CD5-E786-C463-A925-54595992CF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8CDF3A04-E3DB-19D6-904D-C51C91F0F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7D7333-5971-6749-9F57-41388A14B3ED}" type="datetimeFigureOut">
              <a:rPr lang="en-GH" smtClean="0"/>
              <a:t>03/05/2026</a:t>
            </a:fld>
            <a:endParaRPr lang="en-GH"/>
          </a:p>
        </p:txBody>
      </p:sp>
      <p:sp>
        <p:nvSpPr>
          <p:cNvPr id="5" name="Footer Placeholder 4">
            <a:extLst>
              <a:ext uri="{FF2B5EF4-FFF2-40B4-BE49-F238E27FC236}">
                <a16:creationId xmlns:a16="http://schemas.microsoft.com/office/drawing/2014/main" id="{32AC7E32-2C77-3D65-0609-750C52B8CA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3F1B1005-B601-2AB8-2BC6-32A1FA19E4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B5E739-2472-0D4B-A55B-DD8388F6B077}" type="slidenum">
              <a:rPr lang="en-GH" smtClean="0"/>
              <a:t>‹#›</a:t>
            </a:fld>
            <a:endParaRPr lang="en-GH"/>
          </a:p>
        </p:txBody>
      </p:sp>
    </p:spTree>
    <p:extLst>
      <p:ext uri="{BB962C8B-B14F-4D97-AF65-F5344CB8AC3E}">
        <p14:creationId xmlns:p14="http://schemas.microsoft.com/office/powerpoint/2010/main" val="2850515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www.mondofacto.com/facts/dictionary?query=humoral&amp;action=look+it+up"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mondofacto.com/facts/dictionary?query=Defensi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mondofacto.com/facts/dictionary?query=edem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www.mondofacto.com/facts/dictionary?query=phagocyte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mondofacto.com/facts/dictionary?query=chemotactic" TargetMode="External"/><Relationship Id="rId2" Type="http://schemas.openxmlformats.org/officeDocument/2006/relationships/hyperlink" Target="http://www.mondofacto.com/facts/dictionary?query=opsonizati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mondofacto.com/facts/dictionary?query=defensin&amp;action=Search+OMD"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mondofacto.com/facts/dictionary?query=N-formyl-methionin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BE97-5A2D-8165-641A-918E061B735A}"/>
              </a:ext>
            </a:extLst>
          </p:cNvPr>
          <p:cNvSpPr>
            <a:spLocks noGrp="1"/>
          </p:cNvSpPr>
          <p:nvPr>
            <p:ph type="ctrTitle"/>
          </p:nvPr>
        </p:nvSpPr>
        <p:spPr/>
        <p:txBody>
          <a:bodyPr/>
          <a:lstStyle/>
          <a:p>
            <a:r>
              <a:rPr lang="en-GB" b="1" dirty="0">
                <a:solidFill>
                  <a:srgbClr val="C00000"/>
                </a:solidFill>
              </a:rPr>
              <a:t>INNATE (NON-SPECIFIC) IMMUNITY</a:t>
            </a:r>
            <a:endParaRPr lang="en-GH" dirty="0">
              <a:solidFill>
                <a:srgbClr val="C00000"/>
              </a:solidFill>
            </a:endParaRPr>
          </a:p>
        </p:txBody>
      </p:sp>
      <p:sp>
        <p:nvSpPr>
          <p:cNvPr id="3" name="Subtitle 2">
            <a:extLst>
              <a:ext uri="{FF2B5EF4-FFF2-40B4-BE49-F238E27FC236}">
                <a16:creationId xmlns:a16="http://schemas.microsoft.com/office/drawing/2014/main" id="{5DD22287-5834-2C92-3940-516CC56DA36B}"/>
              </a:ext>
            </a:extLst>
          </p:cNvPr>
          <p:cNvSpPr>
            <a:spLocks noGrp="1"/>
          </p:cNvSpPr>
          <p:nvPr>
            <p:ph type="subTitle" idx="1"/>
          </p:nvPr>
        </p:nvSpPr>
        <p:spPr/>
        <p:txBody>
          <a:bodyPr/>
          <a:lstStyle/>
          <a:p>
            <a:r>
              <a:rPr lang="en-GH" dirty="0"/>
              <a:t>Michael Frimpong, PhD</a:t>
            </a:r>
          </a:p>
          <a:p>
            <a:r>
              <a:rPr lang="en-GH" dirty="0"/>
              <a:t>Dept. Molecular Medicine, SMS, KNUST</a:t>
            </a:r>
          </a:p>
        </p:txBody>
      </p:sp>
    </p:spTree>
    <p:extLst>
      <p:ext uri="{BB962C8B-B14F-4D97-AF65-F5344CB8AC3E}">
        <p14:creationId xmlns:p14="http://schemas.microsoft.com/office/powerpoint/2010/main" val="1891161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16AD-261E-F9C9-0572-A4740C3C8796}"/>
              </a:ext>
            </a:extLst>
          </p:cNvPr>
          <p:cNvSpPr>
            <a:spLocks noGrp="1"/>
          </p:cNvSpPr>
          <p:nvPr>
            <p:ph type="title"/>
          </p:nvPr>
        </p:nvSpPr>
        <p:spPr/>
        <p:txBody>
          <a:bodyPr/>
          <a:lstStyle/>
          <a:p>
            <a:pPr algn="ctr"/>
            <a:r>
              <a:rPr lang="en-GB" dirty="0">
                <a:solidFill>
                  <a:srgbClr val="C00000"/>
                </a:solidFill>
              </a:rPr>
              <a:t>Teaching Objectives</a:t>
            </a:r>
            <a:endParaRPr lang="en-GH" dirty="0">
              <a:solidFill>
                <a:srgbClr val="C00000"/>
              </a:solidFill>
            </a:endParaRPr>
          </a:p>
        </p:txBody>
      </p:sp>
      <p:sp>
        <p:nvSpPr>
          <p:cNvPr id="3" name="Content Placeholder 2">
            <a:extLst>
              <a:ext uri="{FF2B5EF4-FFF2-40B4-BE49-F238E27FC236}">
                <a16:creationId xmlns:a16="http://schemas.microsoft.com/office/drawing/2014/main" id="{A9C7CB2F-F59B-548F-C6F0-DCCCB2BA04AB}"/>
              </a:ext>
            </a:extLst>
          </p:cNvPr>
          <p:cNvSpPr>
            <a:spLocks noGrp="1"/>
          </p:cNvSpPr>
          <p:nvPr>
            <p:ph idx="1"/>
          </p:nvPr>
        </p:nvSpPr>
        <p:spPr/>
        <p:txBody>
          <a:bodyPr>
            <a:normAutofit lnSpcReduction="10000"/>
          </a:bodyPr>
          <a:lstStyle/>
          <a:p>
            <a:r>
              <a:rPr lang="en-GB" dirty="0"/>
              <a:t>Recognize the significance of the immune system in combating infection and disease</a:t>
            </a:r>
          </a:p>
          <a:p>
            <a:r>
              <a:rPr lang="en-GB" dirty="0"/>
              <a:t>Distinguish between non-specific (innate) and specific (adaptive) immune systems</a:t>
            </a:r>
          </a:p>
          <a:p>
            <a:r>
              <a:rPr lang="en-GB" dirty="0"/>
              <a:t>Understand the mechanisms combating infection/disease (killing pathogens)</a:t>
            </a:r>
          </a:p>
          <a:p>
            <a:r>
              <a:rPr lang="en-GB" dirty="0"/>
              <a:t>Know the humoral and cellular components of the non-specific immunity</a:t>
            </a:r>
          </a:p>
          <a:p>
            <a:r>
              <a:rPr lang="en-GB" dirty="0"/>
              <a:t>Comprehend the mechanism of action of the humoral and cellular components of non-specific immunity</a:t>
            </a:r>
            <a:endParaRPr lang="en-GH" dirty="0"/>
          </a:p>
        </p:txBody>
      </p:sp>
    </p:spTree>
    <p:extLst>
      <p:ext uri="{BB962C8B-B14F-4D97-AF65-F5344CB8AC3E}">
        <p14:creationId xmlns:p14="http://schemas.microsoft.com/office/powerpoint/2010/main" val="2389817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26488-181C-9A20-01B2-91668B1DFFF6}"/>
              </a:ext>
            </a:extLst>
          </p:cNvPr>
          <p:cNvSpPr>
            <a:spLocks noGrp="1"/>
          </p:cNvSpPr>
          <p:nvPr>
            <p:ph type="title"/>
          </p:nvPr>
        </p:nvSpPr>
        <p:spPr/>
        <p:txBody>
          <a:bodyPr/>
          <a:lstStyle/>
          <a:p>
            <a:pPr algn="ctr"/>
            <a:r>
              <a:rPr lang="en-GH" dirty="0">
                <a:solidFill>
                  <a:srgbClr val="C00000"/>
                </a:solidFill>
              </a:rPr>
              <a:t>The Immune System</a:t>
            </a:r>
          </a:p>
        </p:txBody>
      </p:sp>
      <p:sp>
        <p:nvSpPr>
          <p:cNvPr id="3" name="Content Placeholder 2">
            <a:extLst>
              <a:ext uri="{FF2B5EF4-FFF2-40B4-BE49-F238E27FC236}">
                <a16:creationId xmlns:a16="http://schemas.microsoft.com/office/drawing/2014/main" id="{E1CE3C0C-F2CC-577A-992E-B86460955D85}"/>
              </a:ext>
            </a:extLst>
          </p:cNvPr>
          <p:cNvSpPr>
            <a:spLocks noGrp="1"/>
          </p:cNvSpPr>
          <p:nvPr>
            <p:ph idx="1"/>
          </p:nvPr>
        </p:nvSpPr>
        <p:spPr>
          <a:xfrm>
            <a:off x="838200" y="2004301"/>
            <a:ext cx="10515600" cy="4351338"/>
          </a:xfrm>
        </p:spPr>
        <p:txBody>
          <a:bodyPr/>
          <a:lstStyle/>
          <a:p>
            <a:r>
              <a:rPr lang="en-GH" dirty="0"/>
              <a:t>Design to recognize and respond to non-self antigen in a coordinated manner</a:t>
            </a:r>
          </a:p>
          <a:p>
            <a:r>
              <a:rPr lang="en-GH" dirty="0"/>
              <a:t>It recognizes and eliminate</a:t>
            </a:r>
            <a:r>
              <a:rPr lang="en-GB" dirty="0"/>
              <a:t>s</a:t>
            </a:r>
            <a:r>
              <a:rPr lang="en-GH" dirty="0"/>
              <a:t> cells that are diseased, damaged, distressed or dying</a:t>
            </a:r>
          </a:p>
          <a:p>
            <a:r>
              <a:rPr lang="en-GH" dirty="0"/>
              <a:t>It is divided into two (2) complementary arms: the </a:t>
            </a:r>
            <a:r>
              <a:rPr lang="en-GH" b="1" dirty="0"/>
              <a:t>innate</a:t>
            </a:r>
            <a:r>
              <a:rPr lang="en-GH" dirty="0"/>
              <a:t> and </a:t>
            </a:r>
            <a:r>
              <a:rPr lang="en-GH" b="1" dirty="0"/>
              <a:t>adaptive</a:t>
            </a:r>
            <a:r>
              <a:rPr lang="en-GH" dirty="0"/>
              <a:t> immune systems</a:t>
            </a:r>
          </a:p>
        </p:txBody>
      </p:sp>
    </p:spTree>
    <p:extLst>
      <p:ext uri="{BB962C8B-B14F-4D97-AF65-F5344CB8AC3E}">
        <p14:creationId xmlns:p14="http://schemas.microsoft.com/office/powerpoint/2010/main" val="256847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9270-5714-14D5-F11C-B32F7E781781}"/>
              </a:ext>
            </a:extLst>
          </p:cNvPr>
          <p:cNvSpPr>
            <a:spLocks noGrp="1"/>
          </p:cNvSpPr>
          <p:nvPr>
            <p:ph type="title"/>
          </p:nvPr>
        </p:nvSpPr>
        <p:spPr/>
        <p:txBody>
          <a:bodyPr/>
          <a:lstStyle/>
          <a:p>
            <a:pPr algn="ctr"/>
            <a:r>
              <a:rPr lang="en-GB" dirty="0">
                <a:solidFill>
                  <a:srgbClr val="C00000"/>
                </a:solidFill>
              </a:rPr>
              <a:t>Overview of the Immune System</a:t>
            </a:r>
            <a:endParaRPr lang="en-GH" dirty="0">
              <a:solidFill>
                <a:srgbClr val="C00000"/>
              </a:solidFill>
            </a:endParaRPr>
          </a:p>
        </p:txBody>
      </p:sp>
      <p:pic>
        <p:nvPicPr>
          <p:cNvPr id="5" name="Content Placeholder 4">
            <a:extLst>
              <a:ext uri="{FF2B5EF4-FFF2-40B4-BE49-F238E27FC236}">
                <a16:creationId xmlns:a16="http://schemas.microsoft.com/office/drawing/2014/main" id="{564A76B6-D0E4-685D-AD74-60DFD21A3E66}"/>
              </a:ext>
            </a:extLst>
          </p:cNvPr>
          <p:cNvPicPr>
            <a:picLocks noGrp="1" noChangeAspect="1"/>
          </p:cNvPicPr>
          <p:nvPr>
            <p:ph sz="half" idx="1"/>
          </p:nvPr>
        </p:nvPicPr>
        <p:blipFill>
          <a:blip r:embed="rId3"/>
          <a:srcRect l="1703" t="2285" b="2028"/>
          <a:stretch>
            <a:fillRect/>
          </a:stretch>
        </p:blipFill>
        <p:spPr>
          <a:xfrm>
            <a:off x="6749716" y="2039706"/>
            <a:ext cx="5093368" cy="3898232"/>
          </a:xfrm>
        </p:spPr>
      </p:pic>
      <p:sp>
        <p:nvSpPr>
          <p:cNvPr id="6" name="Content Placeholder 5">
            <a:extLst>
              <a:ext uri="{FF2B5EF4-FFF2-40B4-BE49-F238E27FC236}">
                <a16:creationId xmlns:a16="http://schemas.microsoft.com/office/drawing/2014/main" id="{BE9CABA2-2438-40BF-A4AA-A5ADD37E4753}"/>
              </a:ext>
            </a:extLst>
          </p:cNvPr>
          <p:cNvSpPr>
            <a:spLocks noGrp="1"/>
          </p:cNvSpPr>
          <p:nvPr>
            <p:ph sz="half" idx="2"/>
          </p:nvPr>
        </p:nvSpPr>
        <p:spPr>
          <a:xfrm>
            <a:off x="96254" y="2039706"/>
            <a:ext cx="6653462" cy="4351338"/>
          </a:xfrm>
        </p:spPr>
        <p:txBody>
          <a:bodyPr/>
          <a:lstStyle/>
          <a:p>
            <a:r>
              <a:rPr lang="en-GB" dirty="0"/>
              <a:t>The innate immune system is our first line of </a:t>
            </a:r>
            <a:r>
              <a:rPr lang="en-GB" dirty="0" err="1"/>
              <a:t>defense</a:t>
            </a:r>
            <a:r>
              <a:rPr lang="en-GB" dirty="0"/>
              <a:t> against invading organisms </a:t>
            </a:r>
          </a:p>
          <a:p>
            <a:r>
              <a:rPr lang="en-GB" dirty="0"/>
              <a:t>The adaptive immune system acts as a second line of </a:t>
            </a:r>
            <a:r>
              <a:rPr lang="en-GB" dirty="0" err="1"/>
              <a:t>defense</a:t>
            </a:r>
            <a:r>
              <a:rPr lang="en-GB" dirty="0"/>
              <a:t> and also affords protection against re-exposure to the same pathogen.</a:t>
            </a:r>
          </a:p>
          <a:p>
            <a:r>
              <a:rPr lang="en-GB" dirty="0"/>
              <a:t>Each of the major subdivisions of the immune system has both </a:t>
            </a:r>
            <a:r>
              <a:rPr lang="en-GB" dirty="0">
                <a:solidFill>
                  <a:schemeClr val="accent1">
                    <a:lumMod val="75000"/>
                  </a:schemeClr>
                </a:solidFill>
              </a:rPr>
              <a:t>cellular</a:t>
            </a:r>
            <a:r>
              <a:rPr lang="en-GB" dirty="0"/>
              <a:t> and </a:t>
            </a:r>
            <a:r>
              <a:rPr lang="en-GB" dirty="0">
                <a:hlinkClick r:id="rId4"/>
              </a:rPr>
              <a:t>humoral</a:t>
            </a:r>
            <a:r>
              <a:rPr lang="en-GB" dirty="0"/>
              <a:t> components by which they carry out their protective function</a:t>
            </a:r>
          </a:p>
          <a:p>
            <a:endParaRPr lang="en-GH" dirty="0"/>
          </a:p>
        </p:txBody>
      </p:sp>
    </p:spTree>
    <p:extLst>
      <p:ext uri="{BB962C8B-B14F-4D97-AF65-F5344CB8AC3E}">
        <p14:creationId xmlns:p14="http://schemas.microsoft.com/office/powerpoint/2010/main" val="328961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C7C89CC-90F6-E803-F606-4803CB1CCF1F}"/>
              </a:ext>
            </a:extLst>
          </p:cNvPr>
          <p:cNvSpPr>
            <a:spLocks noGrp="1"/>
          </p:cNvSpPr>
          <p:nvPr>
            <p:ph type="title"/>
          </p:nvPr>
        </p:nvSpPr>
        <p:spPr>
          <a:xfrm>
            <a:off x="838200" y="377000"/>
            <a:ext cx="10515600" cy="1325563"/>
          </a:xfrm>
        </p:spPr>
        <p:txBody>
          <a:bodyPr/>
          <a:lstStyle/>
          <a:p>
            <a:pPr algn="ctr"/>
            <a:r>
              <a:rPr lang="en-GB" dirty="0">
                <a:solidFill>
                  <a:srgbClr val="C00000"/>
                </a:solidFill>
              </a:rPr>
              <a:t>Overview of the Immune System</a:t>
            </a:r>
            <a:endParaRPr lang="en-GH" dirty="0">
              <a:solidFill>
                <a:srgbClr val="C00000"/>
              </a:solidFill>
            </a:endParaRPr>
          </a:p>
        </p:txBody>
      </p:sp>
      <p:pic>
        <p:nvPicPr>
          <p:cNvPr id="11" name="Picture 10">
            <a:extLst>
              <a:ext uri="{FF2B5EF4-FFF2-40B4-BE49-F238E27FC236}">
                <a16:creationId xmlns:a16="http://schemas.microsoft.com/office/drawing/2014/main" id="{47ADC738-AB64-381A-ABC2-BECA292E2A1B}"/>
              </a:ext>
            </a:extLst>
          </p:cNvPr>
          <p:cNvPicPr>
            <a:picLocks noChangeAspect="1"/>
          </p:cNvPicPr>
          <p:nvPr/>
        </p:nvPicPr>
        <p:blipFill>
          <a:blip r:embed="rId2"/>
          <a:stretch>
            <a:fillRect/>
          </a:stretch>
        </p:blipFill>
        <p:spPr>
          <a:xfrm>
            <a:off x="847375" y="1868570"/>
            <a:ext cx="10374046" cy="3786272"/>
          </a:xfrm>
          <a:prstGeom prst="rect">
            <a:avLst/>
          </a:prstGeom>
        </p:spPr>
      </p:pic>
    </p:spTree>
    <p:extLst>
      <p:ext uri="{BB962C8B-B14F-4D97-AF65-F5344CB8AC3E}">
        <p14:creationId xmlns:p14="http://schemas.microsoft.com/office/powerpoint/2010/main" val="1009135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4964B-0451-A8C4-5137-A004C006B5B2}"/>
              </a:ext>
            </a:extLst>
          </p:cNvPr>
          <p:cNvSpPr>
            <a:spLocks noGrp="1"/>
          </p:cNvSpPr>
          <p:nvPr>
            <p:ph type="title"/>
          </p:nvPr>
        </p:nvSpPr>
        <p:spPr/>
        <p:txBody>
          <a:bodyPr/>
          <a:lstStyle/>
          <a:p>
            <a:pPr algn="ctr"/>
            <a:r>
              <a:rPr lang="en-GH" dirty="0">
                <a:solidFill>
                  <a:srgbClr val="C00000"/>
                </a:solidFill>
              </a:rPr>
              <a:t>Innate Immunity</a:t>
            </a:r>
          </a:p>
        </p:txBody>
      </p:sp>
      <p:pic>
        <p:nvPicPr>
          <p:cNvPr id="5" name="Content Placeholder 4">
            <a:extLst>
              <a:ext uri="{FF2B5EF4-FFF2-40B4-BE49-F238E27FC236}">
                <a16:creationId xmlns:a16="http://schemas.microsoft.com/office/drawing/2014/main" id="{4B42F40B-39E1-0620-F32C-EE33DFDB0ED1}"/>
              </a:ext>
            </a:extLst>
          </p:cNvPr>
          <p:cNvPicPr>
            <a:picLocks noGrp="1" noChangeAspect="1"/>
          </p:cNvPicPr>
          <p:nvPr>
            <p:ph idx="1"/>
          </p:nvPr>
        </p:nvPicPr>
        <p:blipFill>
          <a:blip r:embed="rId3"/>
          <a:stretch>
            <a:fillRect/>
          </a:stretch>
        </p:blipFill>
        <p:spPr>
          <a:xfrm>
            <a:off x="838200" y="1810694"/>
            <a:ext cx="10515600" cy="3890278"/>
          </a:xfrm>
        </p:spPr>
      </p:pic>
    </p:spTree>
    <p:extLst>
      <p:ext uri="{BB962C8B-B14F-4D97-AF65-F5344CB8AC3E}">
        <p14:creationId xmlns:p14="http://schemas.microsoft.com/office/powerpoint/2010/main" val="32698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06065-7C38-CA1E-F911-9B4B0C257ABF}"/>
              </a:ext>
            </a:extLst>
          </p:cNvPr>
          <p:cNvSpPr>
            <a:spLocks noGrp="1"/>
          </p:cNvSpPr>
          <p:nvPr>
            <p:ph type="title"/>
          </p:nvPr>
        </p:nvSpPr>
        <p:spPr/>
        <p:txBody>
          <a:bodyPr/>
          <a:lstStyle/>
          <a:p>
            <a:pPr algn="ctr"/>
            <a:r>
              <a:rPr lang="en-GB" dirty="0">
                <a:solidFill>
                  <a:srgbClr val="C00000"/>
                </a:solidFill>
              </a:rPr>
              <a:t>Anatomical barriers to infections</a:t>
            </a:r>
            <a:endParaRPr lang="en-GH" dirty="0">
              <a:solidFill>
                <a:srgbClr val="C00000"/>
              </a:solidFill>
            </a:endParaRPr>
          </a:p>
        </p:txBody>
      </p:sp>
      <p:sp>
        <p:nvSpPr>
          <p:cNvPr id="3" name="Content Placeholder 2">
            <a:extLst>
              <a:ext uri="{FF2B5EF4-FFF2-40B4-BE49-F238E27FC236}">
                <a16:creationId xmlns:a16="http://schemas.microsoft.com/office/drawing/2014/main" id="{82F3650A-8A6F-F51F-A94F-FD1C124C7768}"/>
              </a:ext>
            </a:extLst>
          </p:cNvPr>
          <p:cNvSpPr>
            <a:spLocks noGrp="1"/>
          </p:cNvSpPr>
          <p:nvPr>
            <p:ph idx="1"/>
          </p:nvPr>
        </p:nvSpPr>
        <p:spPr/>
        <p:txBody>
          <a:bodyPr/>
          <a:lstStyle/>
          <a:p>
            <a:r>
              <a:rPr lang="en-GB" b="1" dirty="0"/>
              <a:t>Mechanical factors</a:t>
            </a:r>
          </a:p>
          <a:p>
            <a:pPr lvl="1"/>
            <a:r>
              <a:rPr lang="en-GB" dirty="0"/>
              <a:t>The skin and epithelial surfaces form a physical barrier that is very impermeable to most infectious agents. </a:t>
            </a:r>
          </a:p>
          <a:p>
            <a:pPr lvl="1"/>
            <a:r>
              <a:rPr lang="en-GB" dirty="0"/>
              <a:t>Movement due to cilia or peristalsis helps to keep air passages and the gastrointestinal tract free from microorganisms.</a:t>
            </a:r>
          </a:p>
          <a:p>
            <a:pPr lvl="1"/>
            <a:r>
              <a:rPr lang="en-GB" dirty="0"/>
              <a:t>The flushing action of tears and saliva helps prevent infection of the eyes and mouth. </a:t>
            </a:r>
          </a:p>
          <a:p>
            <a:pPr lvl="1"/>
            <a:r>
              <a:rPr lang="en-GB" dirty="0"/>
              <a:t>The trapping effect of mucus that lines the respiratory and gastrointestinal tract helps protect the lungs and digestive systems from infection. </a:t>
            </a:r>
            <a:endParaRPr lang="en-GH" dirty="0"/>
          </a:p>
        </p:txBody>
      </p:sp>
    </p:spTree>
    <p:extLst>
      <p:ext uri="{BB962C8B-B14F-4D97-AF65-F5344CB8AC3E}">
        <p14:creationId xmlns:p14="http://schemas.microsoft.com/office/powerpoint/2010/main" val="1290279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8C4E-099C-2A3D-7D2D-362515706EB8}"/>
              </a:ext>
            </a:extLst>
          </p:cNvPr>
          <p:cNvSpPr>
            <a:spLocks noGrp="1"/>
          </p:cNvSpPr>
          <p:nvPr>
            <p:ph type="title"/>
          </p:nvPr>
        </p:nvSpPr>
        <p:spPr/>
        <p:txBody>
          <a:bodyPr/>
          <a:lstStyle/>
          <a:p>
            <a:pPr algn="ctr"/>
            <a:r>
              <a:rPr lang="en-GB" dirty="0">
                <a:solidFill>
                  <a:srgbClr val="C00000"/>
                </a:solidFill>
              </a:rPr>
              <a:t>Anatomical barriers to infections</a:t>
            </a:r>
            <a:endParaRPr lang="en-GH" dirty="0">
              <a:solidFill>
                <a:srgbClr val="C00000"/>
              </a:solidFill>
            </a:endParaRPr>
          </a:p>
        </p:txBody>
      </p:sp>
      <p:sp>
        <p:nvSpPr>
          <p:cNvPr id="3" name="Content Placeholder 2">
            <a:extLst>
              <a:ext uri="{FF2B5EF4-FFF2-40B4-BE49-F238E27FC236}">
                <a16:creationId xmlns:a16="http://schemas.microsoft.com/office/drawing/2014/main" id="{8C512A36-D1A9-032C-199C-9D850B650CF1}"/>
              </a:ext>
            </a:extLst>
          </p:cNvPr>
          <p:cNvSpPr>
            <a:spLocks noGrp="1"/>
          </p:cNvSpPr>
          <p:nvPr>
            <p:ph idx="1"/>
          </p:nvPr>
        </p:nvSpPr>
        <p:spPr/>
        <p:txBody>
          <a:bodyPr/>
          <a:lstStyle/>
          <a:p>
            <a:r>
              <a:rPr lang="en-GB" b="1" dirty="0"/>
              <a:t>Chemical factors</a:t>
            </a:r>
          </a:p>
          <a:p>
            <a:pPr lvl="1"/>
            <a:r>
              <a:rPr lang="en-GB" b="1" dirty="0"/>
              <a:t>Fatty acids </a:t>
            </a:r>
            <a:r>
              <a:rPr lang="en-GB" dirty="0"/>
              <a:t>in sweat inhibit the growth of bacteria.</a:t>
            </a:r>
          </a:p>
          <a:p>
            <a:pPr lvl="1"/>
            <a:r>
              <a:rPr lang="en-GB" b="1" dirty="0"/>
              <a:t>Lysozyme</a:t>
            </a:r>
            <a:r>
              <a:rPr lang="en-GB" dirty="0"/>
              <a:t> and </a:t>
            </a:r>
            <a:r>
              <a:rPr lang="en-GB" b="1" dirty="0"/>
              <a:t>phospholipase</a:t>
            </a:r>
            <a:r>
              <a:rPr lang="en-GB" dirty="0"/>
              <a:t> found in tears, saliva and nasal secretions can breakdown the cell wall of bacteria and destabilize bacterial membranes.</a:t>
            </a:r>
          </a:p>
          <a:p>
            <a:pPr lvl="1"/>
            <a:r>
              <a:rPr lang="en-GB" dirty="0"/>
              <a:t>The low pH of sweat and gastric secretions prevents growth of bacteria. </a:t>
            </a:r>
          </a:p>
          <a:p>
            <a:pPr lvl="1"/>
            <a:r>
              <a:rPr lang="en-GB" dirty="0">
                <a:hlinkClick r:id="rId2"/>
              </a:rPr>
              <a:t>Defensins</a:t>
            </a:r>
            <a:r>
              <a:rPr lang="en-GB" dirty="0"/>
              <a:t> (low molecular weight proteins) found in the lung and gastrointestinal tract have antimicrobial activity.</a:t>
            </a:r>
          </a:p>
          <a:p>
            <a:pPr lvl="1"/>
            <a:r>
              <a:rPr lang="en-GB" dirty="0"/>
              <a:t>Surfactants in the lung act as </a:t>
            </a:r>
            <a:r>
              <a:rPr lang="en-GB" dirty="0" err="1"/>
              <a:t>opsonins</a:t>
            </a:r>
            <a:r>
              <a:rPr lang="en-GB" dirty="0"/>
              <a:t>. </a:t>
            </a:r>
          </a:p>
          <a:p>
            <a:r>
              <a:rPr lang="en-GB" b="1" dirty="0"/>
              <a:t>Biological factors</a:t>
            </a:r>
          </a:p>
          <a:p>
            <a:pPr lvl="1"/>
            <a:r>
              <a:rPr lang="en-GB" dirty="0"/>
              <a:t>The normal flora of the skin and in the gastrointestinal tract can prevent the colonization of pathogenic bacteria.</a:t>
            </a:r>
            <a:endParaRPr lang="en-GH" dirty="0"/>
          </a:p>
        </p:txBody>
      </p:sp>
    </p:spTree>
    <p:extLst>
      <p:ext uri="{BB962C8B-B14F-4D97-AF65-F5344CB8AC3E}">
        <p14:creationId xmlns:p14="http://schemas.microsoft.com/office/powerpoint/2010/main" val="30051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489E-A1A5-89AB-62AC-042D42AA3DD9}"/>
              </a:ext>
            </a:extLst>
          </p:cNvPr>
          <p:cNvSpPr>
            <a:spLocks noGrp="1"/>
          </p:cNvSpPr>
          <p:nvPr>
            <p:ph type="title"/>
          </p:nvPr>
        </p:nvSpPr>
        <p:spPr>
          <a:xfrm>
            <a:off x="838200" y="377000"/>
            <a:ext cx="10515600" cy="1325563"/>
          </a:xfrm>
        </p:spPr>
        <p:txBody>
          <a:bodyPr/>
          <a:lstStyle/>
          <a:p>
            <a:pPr algn="ctr"/>
            <a:r>
              <a:rPr lang="en-GB" dirty="0">
                <a:solidFill>
                  <a:srgbClr val="C00000"/>
                </a:solidFill>
              </a:rPr>
              <a:t>Humoral barriers to infection</a:t>
            </a:r>
            <a:endParaRPr lang="en-GH" dirty="0">
              <a:solidFill>
                <a:srgbClr val="C00000"/>
              </a:solidFill>
            </a:endParaRPr>
          </a:p>
        </p:txBody>
      </p:sp>
      <p:sp>
        <p:nvSpPr>
          <p:cNvPr id="3" name="Content Placeholder 2">
            <a:extLst>
              <a:ext uri="{FF2B5EF4-FFF2-40B4-BE49-F238E27FC236}">
                <a16:creationId xmlns:a16="http://schemas.microsoft.com/office/drawing/2014/main" id="{FECA1A7F-EF72-BB25-F9C3-68FC6E993057}"/>
              </a:ext>
            </a:extLst>
          </p:cNvPr>
          <p:cNvSpPr>
            <a:spLocks noGrp="1"/>
          </p:cNvSpPr>
          <p:nvPr>
            <p:ph idx="1"/>
          </p:nvPr>
        </p:nvSpPr>
        <p:spPr/>
        <p:txBody>
          <a:bodyPr/>
          <a:lstStyle/>
          <a:p>
            <a:r>
              <a:rPr lang="en-GB" dirty="0"/>
              <a:t>Once infectious agents have penetrated tissues, another innate </a:t>
            </a:r>
            <a:r>
              <a:rPr lang="en-GB" dirty="0" err="1"/>
              <a:t>defense</a:t>
            </a:r>
            <a:r>
              <a:rPr lang="en-GB" dirty="0"/>
              <a:t> mechanism comes into play, namely acute inflammation.</a:t>
            </a:r>
          </a:p>
          <a:p>
            <a:r>
              <a:rPr lang="en-GB" dirty="0"/>
              <a:t>Humoral factors play an important role in inflammation, which is characterized by </a:t>
            </a:r>
            <a:r>
              <a:rPr lang="en-GB" dirty="0">
                <a:hlinkClick r:id="rId3"/>
              </a:rPr>
              <a:t>edema</a:t>
            </a:r>
            <a:r>
              <a:rPr lang="en-GB" dirty="0"/>
              <a:t> and the recruitment of </a:t>
            </a:r>
            <a:r>
              <a:rPr lang="en-GB" dirty="0">
                <a:hlinkClick r:id="rId4"/>
              </a:rPr>
              <a:t>phagocytic cells</a:t>
            </a:r>
            <a:r>
              <a:rPr lang="en-GB" dirty="0"/>
              <a:t>. </a:t>
            </a:r>
          </a:p>
          <a:p>
            <a:r>
              <a:rPr lang="en-GB" dirty="0"/>
              <a:t>These humoral factors are found in serum or they are formed at the site of infection.</a:t>
            </a:r>
            <a:endParaRPr lang="en-GH" dirty="0"/>
          </a:p>
        </p:txBody>
      </p:sp>
    </p:spTree>
    <p:extLst>
      <p:ext uri="{BB962C8B-B14F-4D97-AF65-F5344CB8AC3E}">
        <p14:creationId xmlns:p14="http://schemas.microsoft.com/office/powerpoint/2010/main" val="2058037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609B-4C5B-A1EC-B4CE-77DEE32B604D}"/>
              </a:ext>
            </a:extLst>
          </p:cNvPr>
          <p:cNvSpPr>
            <a:spLocks noGrp="1"/>
          </p:cNvSpPr>
          <p:nvPr>
            <p:ph type="title"/>
          </p:nvPr>
        </p:nvSpPr>
        <p:spPr/>
        <p:txBody>
          <a:bodyPr/>
          <a:lstStyle/>
          <a:p>
            <a:pPr algn="ctr"/>
            <a:r>
              <a:rPr lang="en-GB" dirty="0">
                <a:solidFill>
                  <a:srgbClr val="C00000"/>
                </a:solidFill>
              </a:rPr>
              <a:t>Humoral barriers to infection</a:t>
            </a:r>
            <a:endParaRPr lang="en-GH" dirty="0">
              <a:solidFill>
                <a:srgbClr val="C00000"/>
              </a:solidFill>
            </a:endParaRPr>
          </a:p>
        </p:txBody>
      </p:sp>
      <p:sp>
        <p:nvSpPr>
          <p:cNvPr id="3" name="Content Placeholder 2">
            <a:extLst>
              <a:ext uri="{FF2B5EF4-FFF2-40B4-BE49-F238E27FC236}">
                <a16:creationId xmlns:a16="http://schemas.microsoft.com/office/drawing/2014/main" id="{6661217A-CCE6-687C-D431-48FECF926BFC}"/>
              </a:ext>
            </a:extLst>
          </p:cNvPr>
          <p:cNvSpPr>
            <a:spLocks noGrp="1"/>
          </p:cNvSpPr>
          <p:nvPr>
            <p:ph idx="1"/>
          </p:nvPr>
        </p:nvSpPr>
        <p:spPr>
          <a:xfrm>
            <a:off x="729916" y="1825625"/>
            <a:ext cx="10515600" cy="4351338"/>
          </a:xfrm>
        </p:spPr>
        <p:txBody>
          <a:bodyPr>
            <a:normAutofit lnSpcReduction="10000"/>
          </a:bodyPr>
          <a:lstStyle/>
          <a:p>
            <a:r>
              <a:rPr lang="en-GB" b="1" dirty="0"/>
              <a:t>Complement system</a:t>
            </a:r>
          </a:p>
          <a:p>
            <a:pPr lvl="1"/>
            <a:r>
              <a:rPr lang="en-GB" dirty="0"/>
              <a:t>The complement system is the major humoral non-specific </a:t>
            </a:r>
            <a:r>
              <a:rPr lang="en-GB" dirty="0" err="1"/>
              <a:t>defense</a:t>
            </a:r>
            <a:r>
              <a:rPr lang="en-GB" dirty="0"/>
              <a:t> mechanism.</a:t>
            </a:r>
          </a:p>
          <a:p>
            <a:pPr lvl="1"/>
            <a:r>
              <a:rPr lang="en-GB" dirty="0"/>
              <a:t>complement activation can lead to increased vascular permeability, recruitment of phagocytic cells, and lysis and </a:t>
            </a:r>
            <a:r>
              <a:rPr lang="en-GB" dirty="0">
                <a:hlinkClick r:id="rId2"/>
              </a:rPr>
              <a:t>opsonization</a:t>
            </a:r>
            <a:r>
              <a:rPr lang="en-GB" dirty="0"/>
              <a:t> of bacteria.</a:t>
            </a:r>
          </a:p>
          <a:p>
            <a:r>
              <a:rPr lang="en-GB" b="1" dirty="0"/>
              <a:t>Coagulation system</a:t>
            </a:r>
          </a:p>
          <a:p>
            <a:pPr lvl="1"/>
            <a:r>
              <a:rPr lang="en-GB" dirty="0"/>
              <a:t>The coagulation system may be activated depending on severity of tissue damage. </a:t>
            </a:r>
          </a:p>
          <a:p>
            <a:pPr lvl="1"/>
            <a:r>
              <a:rPr lang="en-GB" dirty="0"/>
              <a:t>products of the coagulation system can contribute to the non-specific </a:t>
            </a:r>
            <a:r>
              <a:rPr lang="en-GB" dirty="0" err="1"/>
              <a:t>defenses</a:t>
            </a:r>
            <a:r>
              <a:rPr lang="en-GB" dirty="0"/>
              <a:t> by increasing vascular permeability or act as </a:t>
            </a:r>
            <a:r>
              <a:rPr lang="en-GB" dirty="0">
                <a:hlinkClick r:id="rId3"/>
              </a:rPr>
              <a:t>chemotactic</a:t>
            </a:r>
            <a:r>
              <a:rPr lang="en-GB" dirty="0"/>
              <a:t> agents for phagocytic cells or directly as antimicrobial.</a:t>
            </a:r>
          </a:p>
          <a:p>
            <a:pPr lvl="2"/>
            <a:r>
              <a:rPr lang="en-GB" dirty="0"/>
              <a:t>Ex. beta-lysin, a protein produced by platelets during coagulation can lyse many Gram-positive bacteria by acting as a cationic detergent.</a:t>
            </a:r>
          </a:p>
          <a:p>
            <a:pPr lvl="1"/>
            <a:endParaRPr lang="en-GH" dirty="0"/>
          </a:p>
        </p:txBody>
      </p:sp>
    </p:spTree>
    <p:extLst>
      <p:ext uri="{BB962C8B-B14F-4D97-AF65-F5344CB8AC3E}">
        <p14:creationId xmlns:p14="http://schemas.microsoft.com/office/powerpoint/2010/main" val="96542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D9CDB-3EBD-6144-5748-E4E47E4DAE55}"/>
              </a:ext>
            </a:extLst>
          </p:cNvPr>
          <p:cNvSpPr>
            <a:spLocks noGrp="1"/>
          </p:cNvSpPr>
          <p:nvPr>
            <p:ph type="title"/>
          </p:nvPr>
        </p:nvSpPr>
        <p:spPr>
          <a:xfrm>
            <a:off x="838200" y="388875"/>
            <a:ext cx="10515600" cy="1325563"/>
          </a:xfrm>
        </p:spPr>
        <p:txBody>
          <a:bodyPr/>
          <a:lstStyle/>
          <a:p>
            <a:pPr algn="ctr"/>
            <a:r>
              <a:rPr lang="en-GB" dirty="0">
                <a:solidFill>
                  <a:srgbClr val="C00000"/>
                </a:solidFill>
              </a:rPr>
              <a:t>Humoral barriers to infection</a:t>
            </a:r>
            <a:endParaRPr lang="en-GH" dirty="0"/>
          </a:p>
        </p:txBody>
      </p:sp>
      <p:sp>
        <p:nvSpPr>
          <p:cNvPr id="3" name="Content Placeholder 2">
            <a:extLst>
              <a:ext uri="{FF2B5EF4-FFF2-40B4-BE49-F238E27FC236}">
                <a16:creationId xmlns:a16="http://schemas.microsoft.com/office/drawing/2014/main" id="{A4EDB668-5B71-2871-15BB-02EDA3968DBE}"/>
              </a:ext>
            </a:extLst>
          </p:cNvPr>
          <p:cNvSpPr>
            <a:spLocks noGrp="1"/>
          </p:cNvSpPr>
          <p:nvPr>
            <p:ph idx="1"/>
          </p:nvPr>
        </p:nvSpPr>
        <p:spPr/>
        <p:txBody>
          <a:bodyPr/>
          <a:lstStyle/>
          <a:p>
            <a:r>
              <a:rPr lang="en-GB" b="1" dirty="0"/>
              <a:t>Lactoferrin and transferrin</a:t>
            </a:r>
          </a:p>
          <a:p>
            <a:pPr lvl="1"/>
            <a:r>
              <a:rPr lang="en-GB" dirty="0"/>
              <a:t>By binding iron, an essential nutrient for bacteria, these proteins limit bacterial growth.</a:t>
            </a:r>
          </a:p>
          <a:p>
            <a:r>
              <a:rPr lang="en-GB" b="1" dirty="0"/>
              <a:t>Interferons</a:t>
            </a:r>
          </a:p>
          <a:p>
            <a:pPr lvl="1"/>
            <a:r>
              <a:rPr lang="en-GB" dirty="0"/>
              <a:t>Interferons are proteins that can limit virus replication in cells.</a:t>
            </a:r>
          </a:p>
          <a:p>
            <a:r>
              <a:rPr lang="en-GB" b="1" dirty="0"/>
              <a:t>Lysozyme</a:t>
            </a:r>
          </a:p>
          <a:p>
            <a:pPr lvl="1"/>
            <a:r>
              <a:rPr lang="en-GB" dirty="0"/>
              <a:t>Lysozyme breaks down the cell wall of bacteria. </a:t>
            </a:r>
          </a:p>
          <a:p>
            <a:r>
              <a:rPr lang="en-GB" b="1" dirty="0"/>
              <a:t>Interleukin-1</a:t>
            </a:r>
          </a:p>
          <a:p>
            <a:pPr lvl="1"/>
            <a:r>
              <a:rPr lang="en-GB" dirty="0"/>
              <a:t>Il-1 induces fever and the production of acute phase proteins, some of which are antimicrobial because they can opsonize bacteria. </a:t>
            </a:r>
            <a:endParaRPr lang="en-GH" dirty="0"/>
          </a:p>
        </p:txBody>
      </p:sp>
    </p:spTree>
    <p:extLst>
      <p:ext uri="{BB962C8B-B14F-4D97-AF65-F5344CB8AC3E}">
        <p14:creationId xmlns:p14="http://schemas.microsoft.com/office/powerpoint/2010/main" val="15762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F627-E306-2C33-05F6-7C3BECD71B65}"/>
              </a:ext>
            </a:extLst>
          </p:cNvPr>
          <p:cNvSpPr>
            <a:spLocks noGrp="1"/>
          </p:cNvSpPr>
          <p:nvPr>
            <p:ph type="title"/>
          </p:nvPr>
        </p:nvSpPr>
        <p:spPr/>
        <p:txBody>
          <a:bodyPr/>
          <a:lstStyle/>
          <a:p>
            <a:pPr algn="ctr"/>
            <a:r>
              <a:rPr lang="en-GB" dirty="0">
                <a:solidFill>
                  <a:srgbClr val="C00000"/>
                </a:solidFill>
              </a:rPr>
              <a:t>Cellular Components of the Innate Immunity</a:t>
            </a:r>
            <a:endParaRPr lang="en-GH" dirty="0">
              <a:solidFill>
                <a:srgbClr val="C00000"/>
              </a:solidFill>
            </a:endParaRPr>
          </a:p>
        </p:txBody>
      </p:sp>
      <p:sp>
        <p:nvSpPr>
          <p:cNvPr id="3" name="Content Placeholder 2">
            <a:extLst>
              <a:ext uri="{FF2B5EF4-FFF2-40B4-BE49-F238E27FC236}">
                <a16:creationId xmlns:a16="http://schemas.microsoft.com/office/drawing/2014/main" id="{97EC153F-3248-989B-830F-BCB075210DCA}"/>
              </a:ext>
            </a:extLst>
          </p:cNvPr>
          <p:cNvSpPr>
            <a:spLocks noGrp="1"/>
          </p:cNvSpPr>
          <p:nvPr>
            <p:ph idx="1"/>
          </p:nvPr>
        </p:nvSpPr>
        <p:spPr>
          <a:xfrm>
            <a:off x="717883" y="1690688"/>
            <a:ext cx="10976811" cy="4351338"/>
          </a:xfrm>
        </p:spPr>
        <p:txBody>
          <a:bodyPr/>
          <a:lstStyle/>
          <a:p>
            <a:r>
              <a:rPr lang="en-GB" b="1" dirty="0"/>
              <a:t>Neutrophils</a:t>
            </a:r>
          </a:p>
          <a:p>
            <a:pPr lvl="1"/>
            <a:r>
              <a:rPr lang="en-GB" dirty="0"/>
              <a:t>Polymorphonuclear cells (PMNs) are recruited to the site of infection where they phagocytose invading organisms and kill them intracellularly.</a:t>
            </a:r>
          </a:p>
          <a:p>
            <a:pPr lvl="1"/>
            <a:r>
              <a:rPr lang="en-GB" dirty="0"/>
              <a:t>PMNs contribute to collateral tissue damage that occurs during inflammation.</a:t>
            </a:r>
          </a:p>
          <a:p>
            <a:r>
              <a:rPr lang="en-GB" b="1" dirty="0"/>
              <a:t>Macrophages</a:t>
            </a:r>
          </a:p>
          <a:p>
            <a:pPr lvl="1"/>
            <a:r>
              <a:rPr lang="en-GB" dirty="0"/>
              <a:t>Tissue macrophages and newly recruited monocytes differentiate into macrophages, function in phagocytosis and intracellular killing of microorganisms.</a:t>
            </a:r>
          </a:p>
          <a:p>
            <a:pPr lvl="1"/>
            <a:r>
              <a:rPr lang="en-GB" dirty="0"/>
              <a:t>macrophages are capable of extracellular killing of infected or altered self target cells. </a:t>
            </a:r>
          </a:p>
          <a:p>
            <a:pPr lvl="1"/>
            <a:r>
              <a:rPr lang="en-GB" dirty="0"/>
              <a:t> macrophages contribute to tissue repair and act as antigen-presenting cells</a:t>
            </a:r>
            <a:endParaRPr lang="en-GH" dirty="0"/>
          </a:p>
        </p:txBody>
      </p:sp>
      <p:pic>
        <p:nvPicPr>
          <p:cNvPr id="4" name="Picture 3">
            <a:extLst>
              <a:ext uri="{FF2B5EF4-FFF2-40B4-BE49-F238E27FC236}">
                <a16:creationId xmlns:a16="http://schemas.microsoft.com/office/drawing/2014/main" id="{3A62A958-FCC9-10EC-A96A-656721F5735D}"/>
              </a:ext>
            </a:extLst>
          </p:cNvPr>
          <p:cNvPicPr>
            <a:picLocks noChangeAspect="1"/>
          </p:cNvPicPr>
          <p:nvPr/>
        </p:nvPicPr>
        <p:blipFill>
          <a:blip r:embed="rId2"/>
          <a:stretch>
            <a:fillRect/>
          </a:stretch>
        </p:blipFill>
        <p:spPr>
          <a:xfrm>
            <a:off x="3701717" y="4375146"/>
            <a:ext cx="7772400" cy="2117729"/>
          </a:xfrm>
          <a:prstGeom prst="rect">
            <a:avLst/>
          </a:prstGeom>
        </p:spPr>
      </p:pic>
    </p:spTree>
    <p:extLst>
      <p:ext uri="{BB962C8B-B14F-4D97-AF65-F5344CB8AC3E}">
        <p14:creationId xmlns:p14="http://schemas.microsoft.com/office/powerpoint/2010/main" val="346522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435A-AAB2-50E0-0428-B629E2943C41}"/>
              </a:ext>
            </a:extLst>
          </p:cNvPr>
          <p:cNvSpPr>
            <a:spLocks noGrp="1"/>
          </p:cNvSpPr>
          <p:nvPr>
            <p:ph idx="1"/>
          </p:nvPr>
        </p:nvSpPr>
        <p:spPr/>
        <p:txBody>
          <a:bodyPr/>
          <a:lstStyle/>
          <a:p>
            <a:r>
              <a:rPr lang="en-GB" b="1" dirty="0"/>
              <a:t>Natural killer (NK) and lymphokine activated killer (LAK) cells</a:t>
            </a:r>
          </a:p>
          <a:p>
            <a:pPr lvl="1"/>
            <a:r>
              <a:rPr lang="en-GB" dirty="0"/>
              <a:t>NK and LAK cells can </a:t>
            </a:r>
            <a:r>
              <a:rPr lang="en-GB" dirty="0" err="1"/>
              <a:t>nonspecifically</a:t>
            </a:r>
            <a:r>
              <a:rPr lang="en-GB" dirty="0"/>
              <a:t> kill virus infected and </a:t>
            </a:r>
            <a:r>
              <a:rPr lang="en-GB" dirty="0" err="1"/>
              <a:t>tumor</a:t>
            </a:r>
            <a:r>
              <a:rPr lang="en-GB" dirty="0"/>
              <a:t> cells. </a:t>
            </a:r>
          </a:p>
          <a:p>
            <a:pPr lvl="1"/>
            <a:r>
              <a:rPr lang="en-GB" dirty="0"/>
              <a:t>These cells are not part of the inflammatory response but they are important in nonspecific immunity to viral infections and </a:t>
            </a:r>
            <a:r>
              <a:rPr lang="en-GB" dirty="0" err="1"/>
              <a:t>tumor</a:t>
            </a:r>
            <a:r>
              <a:rPr lang="en-GB" dirty="0"/>
              <a:t> surveillance. </a:t>
            </a:r>
          </a:p>
          <a:p>
            <a:r>
              <a:rPr lang="en-GB" b="1" dirty="0"/>
              <a:t>Eosinophils</a:t>
            </a:r>
          </a:p>
          <a:p>
            <a:pPr lvl="1"/>
            <a:r>
              <a:rPr lang="en-GB" dirty="0"/>
              <a:t>Eosinophils have proteins in granules that are effective in killing certain parasites.</a:t>
            </a:r>
            <a:endParaRPr lang="en-GH" dirty="0"/>
          </a:p>
        </p:txBody>
      </p:sp>
      <p:pic>
        <p:nvPicPr>
          <p:cNvPr id="5" name="Picture 4">
            <a:extLst>
              <a:ext uri="{FF2B5EF4-FFF2-40B4-BE49-F238E27FC236}">
                <a16:creationId xmlns:a16="http://schemas.microsoft.com/office/drawing/2014/main" id="{428B6BE3-D6D4-6E17-34F7-87DD5BDD1BE0}"/>
              </a:ext>
            </a:extLst>
          </p:cNvPr>
          <p:cNvPicPr>
            <a:picLocks noChangeAspect="1"/>
          </p:cNvPicPr>
          <p:nvPr/>
        </p:nvPicPr>
        <p:blipFill>
          <a:blip r:embed="rId2"/>
          <a:stretch>
            <a:fillRect/>
          </a:stretch>
        </p:blipFill>
        <p:spPr>
          <a:xfrm>
            <a:off x="4473928" y="4435142"/>
            <a:ext cx="3244144" cy="2180636"/>
          </a:xfrm>
          <a:prstGeom prst="rect">
            <a:avLst/>
          </a:prstGeom>
        </p:spPr>
      </p:pic>
      <p:sp>
        <p:nvSpPr>
          <p:cNvPr id="7" name="Title 1">
            <a:extLst>
              <a:ext uri="{FF2B5EF4-FFF2-40B4-BE49-F238E27FC236}">
                <a16:creationId xmlns:a16="http://schemas.microsoft.com/office/drawing/2014/main" id="{A7FE0C86-8844-F83C-675D-D96E70482E7D}"/>
              </a:ext>
            </a:extLst>
          </p:cNvPr>
          <p:cNvSpPr txBox="1">
            <a:spLocks/>
          </p:cNvSpPr>
          <p:nvPr/>
        </p:nvSpPr>
        <p:spPr>
          <a:xfrm>
            <a:off x="943099" y="4937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rgbClr val="C00000"/>
                </a:solidFill>
              </a:rPr>
              <a:t>Cellular Components of the Innate Immunity</a:t>
            </a:r>
            <a:endParaRPr lang="en-GH" dirty="0">
              <a:solidFill>
                <a:srgbClr val="C00000"/>
              </a:solidFill>
            </a:endParaRPr>
          </a:p>
        </p:txBody>
      </p:sp>
    </p:spTree>
    <p:extLst>
      <p:ext uri="{BB962C8B-B14F-4D97-AF65-F5344CB8AC3E}">
        <p14:creationId xmlns:p14="http://schemas.microsoft.com/office/powerpoint/2010/main" val="929950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EA420-6D26-F626-1993-DE4D5BDFE9DC}"/>
              </a:ext>
            </a:extLst>
          </p:cNvPr>
          <p:cNvSpPr>
            <a:spLocks noGrp="1"/>
          </p:cNvSpPr>
          <p:nvPr>
            <p:ph type="title"/>
          </p:nvPr>
        </p:nvSpPr>
        <p:spPr/>
        <p:txBody>
          <a:bodyPr/>
          <a:lstStyle/>
          <a:p>
            <a:pPr algn="ctr"/>
            <a:r>
              <a:rPr lang="en-GB" dirty="0">
                <a:solidFill>
                  <a:srgbClr val="C00000"/>
                </a:solidFill>
              </a:rPr>
              <a:t>Phagocytosis and Intracellular Killing</a:t>
            </a:r>
            <a:endParaRPr lang="en-GH" dirty="0">
              <a:solidFill>
                <a:srgbClr val="C00000"/>
              </a:solidFill>
            </a:endParaRPr>
          </a:p>
        </p:txBody>
      </p:sp>
      <p:sp>
        <p:nvSpPr>
          <p:cNvPr id="3" name="Content Placeholder 2">
            <a:extLst>
              <a:ext uri="{FF2B5EF4-FFF2-40B4-BE49-F238E27FC236}">
                <a16:creationId xmlns:a16="http://schemas.microsoft.com/office/drawing/2014/main" id="{CF56E380-C70E-F838-6745-D8C5FA951073}"/>
              </a:ext>
            </a:extLst>
          </p:cNvPr>
          <p:cNvSpPr>
            <a:spLocks noGrp="1"/>
          </p:cNvSpPr>
          <p:nvPr>
            <p:ph idx="1"/>
          </p:nvPr>
        </p:nvSpPr>
        <p:spPr>
          <a:xfrm>
            <a:off x="702735" y="1803577"/>
            <a:ext cx="8204200" cy="4351338"/>
          </a:xfrm>
        </p:spPr>
        <p:txBody>
          <a:bodyPr>
            <a:normAutofit lnSpcReduction="10000"/>
          </a:bodyPr>
          <a:lstStyle/>
          <a:p>
            <a:r>
              <a:rPr lang="en-GB" b="1" dirty="0"/>
              <a:t>Phagocytic cells</a:t>
            </a:r>
          </a:p>
          <a:p>
            <a:r>
              <a:rPr lang="en-GB" b="1" dirty="0"/>
              <a:t>Neutrophiles/Polymorphonuclear cells</a:t>
            </a:r>
          </a:p>
          <a:p>
            <a:pPr lvl="1"/>
            <a:r>
              <a:rPr lang="en-GB" dirty="0"/>
              <a:t>PMNs are motile phagocytic cells that have lobed nuclei. </a:t>
            </a:r>
          </a:p>
          <a:p>
            <a:pPr lvl="1"/>
            <a:r>
              <a:rPr lang="en-GB" dirty="0"/>
              <a:t>They can be identified by their characteristic nucleus or by cell surface antigen called CD66.</a:t>
            </a:r>
          </a:p>
          <a:p>
            <a:pPr lvl="1"/>
            <a:r>
              <a:rPr lang="en-GB" dirty="0"/>
              <a:t>Their granules contain </a:t>
            </a:r>
          </a:p>
          <a:p>
            <a:pPr lvl="2"/>
            <a:r>
              <a:rPr lang="en-GB" dirty="0"/>
              <a:t>cationic proteins and </a:t>
            </a:r>
            <a:r>
              <a:rPr lang="en-GB" dirty="0">
                <a:hlinkClick r:id="rId2"/>
              </a:rPr>
              <a:t>defensins</a:t>
            </a:r>
            <a:r>
              <a:rPr lang="en-GB" dirty="0"/>
              <a:t> that can kill bacteria, </a:t>
            </a:r>
          </a:p>
          <a:p>
            <a:pPr lvl="2"/>
            <a:r>
              <a:rPr lang="en-GB" dirty="0"/>
              <a:t>proteolytic enzymes like elastase, and cathepsin G to breakdown proteins, </a:t>
            </a:r>
          </a:p>
          <a:p>
            <a:pPr lvl="2"/>
            <a:r>
              <a:rPr lang="en-GB" dirty="0"/>
              <a:t>lysozyme to break down bacterial cell walls </a:t>
            </a:r>
          </a:p>
          <a:p>
            <a:pPr lvl="2"/>
            <a:r>
              <a:rPr lang="en-GB" dirty="0"/>
              <a:t>myeloperoxidase, which is involved in the generation of </a:t>
            </a:r>
            <a:r>
              <a:rPr lang="en-GB" dirty="0" err="1"/>
              <a:t>bacteriocidal</a:t>
            </a:r>
            <a:r>
              <a:rPr lang="en-GB" dirty="0"/>
              <a:t> compounds. </a:t>
            </a:r>
            <a:endParaRPr lang="en-GH" dirty="0"/>
          </a:p>
        </p:txBody>
      </p:sp>
      <p:pic>
        <p:nvPicPr>
          <p:cNvPr id="5" name="Picture 4">
            <a:extLst>
              <a:ext uri="{FF2B5EF4-FFF2-40B4-BE49-F238E27FC236}">
                <a16:creationId xmlns:a16="http://schemas.microsoft.com/office/drawing/2014/main" id="{FC38772D-6883-1A4F-6F3A-4536D9E26FFD}"/>
              </a:ext>
            </a:extLst>
          </p:cNvPr>
          <p:cNvPicPr>
            <a:picLocks noChangeAspect="1"/>
          </p:cNvPicPr>
          <p:nvPr/>
        </p:nvPicPr>
        <p:blipFill>
          <a:blip r:embed="rId3"/>
          <a:stretch>
            <a:fillRect/>
          </a:stretch>
        </p:blipFill>
        <p:spPr>
          <a:xfrm>
            <a:off x="8906935" y="3059289"/>
            <a:ext cx="3042717" cy="2343433"/>
          </a:xfrm>
          <a:prstGeom prst="rect">
            <a:avLst/>
          </a:prstGeom>
        </p:spPr>
      </p:pic>
    </p:spTree>
    <p:extLst>
      <p:ext uri="{BB962C8B-B14F-4D97-AF65-F5344CB8AC3E}">
        <p14:creationId xmlns:p14="http://schemas.microsoft.com/office/powerpoint/2010/main" val="1018447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43D7E-88DE-CFA9-8E95-66AF3544B05E}"/>
              </a:ext>
            </a:extLst>
          </p:cNvPr>
          <p:cNvSpPr>
            <a:spLocks noGrp="1"/>
          </p:cNvSpPr>
          <p:nvPr>
            <p:ph idx="1"/>
          </p:nvPr>
        </p:nvSpPr>
        <p:spPr>
          <a:xfrm>
            <a:off x="838200" y="1825625"/>
            <a:ext cx="7188200" cy="4351338"/>
          </a:xfrm>
        </p:spPr>
        <p:txBody>
          <a:bodyPr/>
          <a:lstStyle/>
          <a:p>
            <a:r>
              <a:rPr lang="en-GB" b="1" dirty="0"/>
              <a:t>Phagocytic cells</a:t>
            </a:r>
          </a:p>
          <a:p>
            <a:pPr lvl="1"/>
            <a:r>
              <a:rPr lang="en-GB" b="1" dirty="0"/>
              <a:t>Monocytes/Macrophages</a:t>
            </a:r>
          </a:p>
          <a:p>
            <a:pPr lvl="1"/>
            <a:r>
              <a:rPr lang="en-GB" dirty="0"/>
              <a:t>Have a characteristic kidney-shaped nucleus.</a:t>
            </a:r>
          </a:p>
          <a:p>
            <a:pPr lvl="1"/>
            <a:r>
              <a:rPr lang="en-GB" dirty="0"/>
              <a:t>They can be identified morphologically or by the presence of the CD14 cell surface marker. </a:t>
            </a:r>
          </a:p>
          <a:p>
            <a:pPr lvl="1"/>
            <a:r>
              <a:rPr lang="en-GB" dirty="0"/>
              <a:t>Do not contain granules but they have numerous lysosomes which have contents similar to the PNM granules. </a:t>
            </a:r>
            <a:endParaRPr lang="en-GH" dirty="0"/>
          </a:p>
        </p:txBody>
      </p:sp>
      <p:pic>
        <p:nvPicPr>
          <p:cNvPr id="5" name="Picture 4">
            <a:extLst>
              <a:ext uri="{FF2B5EF4-FFF2-40B4-BE49-F238E27FC236}">
                <a16:creationId xmlns:a16="http://schemas.microsoft.com/office/drawing/2014/main" id="{935904E2-0F8A-61DE-1709-5AB7C610633C}"/>
              </a:ext>
            </a:extLst>
          </p:cNvPr>
          <p:cNvPicPr>
            <a:picLocks noChangeAspect="1"/>
          </p:cNvPicPr>
          <p:nvPr/>
        </p:nvPicPr>
        <p:blipFill>
          <a:blip r:embed="rId2"/>
          <a:stretch>
            <a:fillRect/>
          </a:stretch>
        </p:blipFill>
        <p:spPr>
          <a:xfrm>
            <a:off x="8116711" y="1998133"/>
            <a:ext cx="3420221" cy="2476712"/>
          </a:xfrm>
          <a:prstGeom prst="rect">
            <a:avLst/>
          </a:prstGeom>
        </p:spPr>
      </p:pic>
    </p:spTree>
    <p:extLst>
      <p:ext uri="{BB962C8B-B14F-4D97-AF65-F5344CB8AC3E}">
        <p14:creationId xmlns:p14="http://schemas.microsoft.com/office/powerpoint/2010/main" val="991861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D572-4D3A-DFC2-02C3-126264F39243}"/>
              </a:ext>
            </a:extLst>
          </p:cNvPr>
          <p:cNvSpPr>
            <a:spLocks noGrp="1"/>
          </p:cNvSpPr>
          <p:nvPr>
            <p:ph type="title"/>
          </p:nvPr>
        </p:nvSpPr>
        <p:spPr/>
        <p:txBody>
          <a:bodyPr/>
          <a:lstStyle/>
          <a:p>
            <a:pPr algn="ctr"/>
            <a:r>
              <a:rPr lang="en-GH" dirty="0">
                <a:solidFill>
                  <a:srgbClr val="C00000"/>
                </a:solidFill>
              </a:rPr>
              <a:t>Inflammatory Response</a:t>
            </a:r>
          </a:p>
        </p:txBody>
      </p:sp>
      <p:sp>
        <p:nvSpPr>
          <p:cNvPr id="3" name="Content Placeholder 2">
            <a:extLst>
              <a:ext uri="{FF2B5EF4-FFF2-40B4-BE49-F238E27FC236}">
                <a16:creationId xmlns:a16="http://schemas.microsoft.com/office/drawing/2014/main" id="{A5BB3F88-491C-AF35-E0C8-8CFB7384C7EE}"/>
              </a:ext>
            </a:extLst>
          </p:cNvPr>
          <p:cNvSpPr>
            <a:spLocks noGrp="1"/>
          </p:cNvSpPr>
          <p:nvPr>
            <p:ph idx="1"/>
          </p:nvPr>
        </p:nvSpPr>
        <p:spPr/>
        <p:txBody>
          <a:bodyPr/>
          <a:lstStyle/>
          <a:p>
            <a:r>
              <a:rPr lang="en-GH" dirty="0"/>
              <a:t>The first response to invasion and represents a response to </a:t>
            </a:r>
            <a:r>
              <a:rPr lang="en-GB" dirty="0"/>
              <a:t>the </a:t>
            </a:r>
            <a:r>
              <a:rPr lang="en-GH" dirty="0"/>
              <a:t>innate immune system to block a challenge.</a:t>
            </a:r>
          </a:p>
          <a:p>
            <a:r>
              <a:rPr lang="en-GH" dirty="0"/>
              <a:t>It starts with the activation of the vascular endothelium in the breached epithelial barrier. </a:t>
            </a:r>
          </a:p>
          <a:p>
            <a:r>
              <a:rPr lang="en-GH" dirty="0"/>
              <a:t>Cytokines and inflammatory mediators release</a:t>
            </a:r>
            <a:r>
              <a:rPr lang="en-GB" dirty="0"/>
              <a:t>d</a:t>
            </a:r>
            <a:r>
              <a:rPr lang="en-GH" dirty="0"/>
              <a:t> as a result of tissue damage induce the expression of selectin-type adhesion molecules on the epithelial cells.</a:t>
            </a:r>
          </a:p>
          <a:p>
            <a:r>
              <a:rPr lang="en-GH" dirty="0"/>
              <a:t>This allow</a:t>
            </a:r>
            <a:r>
              <a:rPr lang="en-GB" dirty="0"/>
              <a:t>s</a:t>
            </a:r>
            <a:r>
              <a:rPr lang="en-GH" dirty="0"/>
              <a:t> neutrophils to bind inflamed epithelium and extravasate into the tissue, followed by monocytes, </a:t>
            </a:r>
            <a:r>
              <a:rPr lang="en-GB" dirty="0"/>
              <a:t>and </a:t>
            </a:r>
            <a:r>
              <a:rPr lang="en-GH" dirty="0"/>
              <a:t>macrophages in response to neutrophil-released mediators</a:t>
            </a:r>
          </a:p>
        </p:txBody>
      </p:sp>
    </p:spTree>
    <p:extLst>
      <p:ext uri="{BB962C8B-B14F-4D97-AF65-F5344CB8AC3E}">
        <p14:creationId xmlns:p14="http://schemas.microsoft.com/office/powerpoint/2010/main" val="237016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E772C-2BA7-C810-3CD4-E2C8C2B0D8C5}"/>
              </a:ext>
            </a:extLst>
          </p:cNvPr>
          <p:cNvSpPr>
            <a:spLocks noGrp="1"/>
          </p:cNvSpPr>
          <p:nvPr>
            <p:ph type="title"/>
          </p:nvPr>
        </p:nvSpPr>
        <p:spPr/>
        <p:txBody>
          <a:bodyPr/>
          <a:lstStyle/>
          <a:p>
            <a:r>
              <a:rPr lang="en-GB" dirty="0">
                <a:solidFill>
                  <a:srgbClr val="C00000"/>
                </a:solidFill>
              </a:rPr>
              <a:t>Response of phagocytes to infection </a:t>
            </a:r>
            <a:br>
              <a:rPr lang="en-GB" dirty="0">
                <a:solidFill>
                  <a:srgbClr val="C00000"/>
                </a:solidFill>
              </a:rPr>
            </a:br>
            <a:endParaRPr lang="en-GH" dirty="0">
              <a:solidFill>
                <a:srgbClr val="C00000"/>
              </a:solidFill>
            </a:endParaRPr>
          </a:p>
        </p:txBody>
      </p:sp>
      <p:sp>
        <p:nvSpPr>
          <p:cNvPr id="3" name="Content Placeholder 2">
            <a:extLst>
              <a:ext uri="{FF2B5EF4-FFF2-40B4-BE49-F238E27FC236}">
                <a16:creationId xmlns:a16="http://schemas.microsoft.com/office/drawing/2014/main" id="{B9C2A1BB-A3D8-E737-6F8C-48681CF221C0}"/>
              </a:ext>
            </a:extLst>
          </p:cNvPr>
          <p:cNvSpPr>
            <a:spLocks noGrp="1"/>
          </p:cNvSpPr>
          <p:nvPr>
            <p:ph idx="1"/>
          </p:nvPr>
        </p:nvSpPr>
        <p:spPr>
          <a:xfrm>
            <a:off x="320842" y="1368871"/>
            <a:ext cx="10134600" cy="4351338"/>
          </a:xfrm>
        </p:spPr>
        <p:txBody>
          <a:bodyPr>
            <a:normAutofit lnSpcReduction="10000"/>
          </a:bodyPr>
          <a:lstStyle/>
          <a:p>
            <a:r>
              <a:rPr lang="en-GB" dirty="0"/>
              <a:t>Circulating PMNs and monocytes respond to danger (SOS) signals generated at the site of an infection. </a:t>
            </a:r>
          </a:p>
          <a:p>
            <a:r>
              <a:rPr lang="en-GB" dirty="0"/>
              <a:t>SOS signals include;</a:t>
            </a:r>
          </a:p>
          <a:p>
            <a:pPr lvl="1"/>
            <a:r>
              <a:rPr lang="en-GB" dirty="0">
                <a:hlinkClick r:id="rId2"/>
              </a:rPr>
              <a:t>N-formyl-methionine </a:t>
            </a:r>
            <a:r>
              <a:rPr lang="en-GB" dirty="0"/>
              <a:t>containing peptides released by bacteria</a:t>
            </a:r>
          </a:p>
          <a:p>
            <a:pPr lvl="1"/>
            <a:r>
              <a:rPr lang="en-GB" dirty="0"/>
              <a:t>clotting system peptides, complement products and cytokines released from tissue macrophages that have encountered bacteria in tissue.</a:t>
            </a:r>
          </a:p>
          <a:p>
            <a:pPr lvl="1"/>
            <a:r>
              <a:rPr lang="en-GB" dirty="0"/>
              <a:t>SOS signals stimulate endothelial cells near the site</a:t>
            </a:r>
          </a:p>
          <a:p>
            <a:pPr marL="457200" lvl="1" indent="0">
              <a:buNone/>
            </a:pPr>
            <a:r>
              <a:rPr lang="en-GB" dirty="0"/>
              <a:t>   of the infection to express cell adhesion molecules</a:t>
            </a:r>
          </a:p>
          <a:p>
            <a:pPr marL="457200" lvl="1" indent="0">
              <a:buNone/>
            </a:pPr>
            <a:r>
              <a:rPr lang="en-GB" dirty="0"/>
              <a:t>   such as ICAM-1 and selectins. </a:t>
            </a:r>
          </a:p>
          <a:p>
            <a:pPr lvl="1"/>
            <a:r>
              <a:rPr lang="en-GB" dirty="0"/>
              <a:t>Vasodilators enable phagocytes to cross endothelial</a:t>
            </a:r>
          </a:p>
          <a:p>
            <a:pPr marL="457200" lvl="1" indent="0">
              <a:buNone/>
            </a:pPr>
            <a:r>
              <a:rPr lang="en-GB" dirty="0"/>
              <a:t>   barrier.</a:t>
            </a:r>
          </a:p>
          <a:p>
            <a:pPr lvl="1"/>
            <a:endParaRPr lang="en-GH" dirty="0"/>
          </a:p>
        </p:txBody>
      </p:sp>
      <p:pic>
        <p:nvPicPr>
          <p:cNvPr id="5" name="Picture 4">
            <a:extLst>
              <a:ext uri="{FF2B5EF4-FFF2-40B4-BE49-F238E27FC236}">
                <a16:creationId xmlns:a16="http://schemas.microsoft.com/office/drawing/2014/main" id="{13A1656B-9EBF-8C07-4134-3E9C632AAE55}"/>
              </a:ext>
            </a:extLst>
          </p:cNvPr>
          <p:cNvPicPr>
            <a:picLocks noChangeAspect="1"/>
          </p:cNvPicPr>
          <p:nvPr/>
        </p:nvPicPr>
        <p:blipFill>
          <a:blip r:embed="rId3"/>
          <a:stretch>
            <a:fillRect/>
          </a:stretch>
        </p:blipFill>
        <p:spPr>
          <a:xfrm>
            <a:off x="7691186" y="3660080"/>
            <a:ext cx="4078784" cy="3063875"/>
          </a:xfrm>
          <a:prstGeom prst="rect">
            <a:avLst/>
          </a:prstGeom>
        </p:spPr>
      </p:pic>
    </p:spTree>
    <p:extLst>
      <p:ext uri="{BB962C8B-B14F-4D97-AF65-F5344CB8AC3E}">
        <p14:creationId xmlns:p14="http://schemas.microsoft.com/office/powerpoint/2010/main" val="2064100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4C9DA-099F-8600-06E2-9F44E3FEB6F5}"/>
              </a:ext>
            </a:extLst>
          </p:cNvPr>
          <p:cNvSpPr>
            <a:spLocks noGrp="1"/>
          </p:cNvSpPr>
          <p:nvPr>
            <p:ph type="title"/>
          </p:nvPr>
        </p:nvSpPr>
        <p:spPr/>
        <p:txBody>
          <a:bodyPr/>
          <a:lstStyle/>
          <a:p>
            <a:r>
              <a:rPr lang="en-GH" dirty="0">
                <a:solidFill>
                  <a:srgbClr val="C00000"/>
                </a:solidFill>
              </a:rPr>
              <a:t>Phagocytosis</a:t>
            </a:r>
          </a:p>
        </p:txBody>
      </p:sp>
      <p:pic>
        <p:nvPicPr>
          <p:cNvPr id="5" name="Content Placeholder 4">
            <a:extLst>
              <a:ext uri="{FF2B5EF4-FFF2-40B4-BE49-F238E27FC236}">
                <a16:creationId xmlns:a16="http://schemas.microsoft.com/office/drawing/2014/main" id="{12EA6223-FF64-71E7-13B2-E7DBD51714EA}"/>
              </a:ext>
            </a:extLst>
          </p:cNvPr>
          <p:cNvPicPr>
            <a:picLocks noGrp="1" noChangeAspect="1"/>
          </p:cNvPicPr>
          <p:nvPr>
            <p:ph sz="half" idx="1"/>
          </p:nvPr>
        </p:nvPicPr>
        <p:blipFill>
          <a:blip r:embed="rId2"/>
          <a:stretch>
            <a:fillRect/>
          </a:stretch>
        </p:blipFill>
        <p:spPr>
          <a:xfrm>
            <a:off x="224582" y="2093255"/>
            <a:ext cx="4512919" cy="3805740"/>
          </a:xfrm>
        </p:spPr>
      </p:pic>
      <p:sp>
        <p:nvSpPr>
          <p:cNvPr id="6" name="Content Placeholder 5">
            <a:extLst>
              <a:ext uri="{FF2B5EF4-FFF2-40B4-BE49-F238E27FC236}">
                <a16:creationId xmlns:a16="http://schemas.microsoft.com/office/drawing/2014/main" id="{98846F3A-E2B2-FEFD-0DE4-4F4D613E84D7}"/>
              </a:ext>
            </a:extLst>
          </p:cNvPr>
          <p:cNvSpPr>
            <a:spLocks noGrp="1"/>
          </p:cNvSpPr>
          <p:nvPr>
            <p:ph sz="half" idx="2"/>
          </p:nvPr>
        </p:nvSpPr>
        <p:spPr>
          <a:xfrm>
            <a:off x="4737501" y="1820456"/>
            <a:ext cx="6748346" cy="4351338"/>
          </a:xfrm>
        </p:spPr>
        <p:txBody>
          <a:bodyPr>
            <a:normAutofit fontScale="92500" lnSpcReduction="10000"/>
          </a:bodyPr>
          <a:lstStyle/>
          <a:p>
            <a:r>
              <a:rPr lang="en-GH" dirty="0"/>
              <a:t>Once chemotaxis of phagocytic cells into the area of antigen is accomplished.</a:t>
            </a:r>
          </a:p>
          <a:p>
            <a:r>
              <a:rPr lang="en-GH" dirty="0"/>
              <a:t>Cells ingest and digest particulate debris, pathogen</a:t>
            </a:r>
            <a:r>
              <a:rPr lang="en-GB" dirty="0"/>
              <a:t>s</a:t>
            </a:r>
            <a:r>
              <a:rPr lang="en-GH" dirty="0"/>
              <a:t> etc.</a:t>
            </a:r>
          </a:p>
          <a:p>
            <a:r>
              <a:rPr lang="en-GH" dirty="0"/>
              <a:t>Phagocytosis involves these stages;</a:t>
            </a:r>
          </a:p>
          <a:p>
            <a:pPr lvl="1"/>
            <a:r>
              <a:rPr lang="en-GH" dirty="0"/>
              <a:t>Extension of pseudopodia to engulf material</a:t>
            </a:r>
          </a:p>
          <a:p>
            <a:pPr lvl="1"/>
            <a:r>
              <a:rPr lang="en-GH" dirty="0"/>
              <a:t>Fusion of pseudopodia to trap material in phagosome</a:t>
            </a:r>
          </a:p>
          <a:p>
            <a:pPr lvl="1"/>
            <a:r>
              <a:rPr lang="en-GH" dirty="0"/>
              <a:t>Fusion of phagosome with lysosome to form a phagolysosome</a:t>
            </a:r>
          </a:p>
          <a:p>
            <a:pPr lvl="1"/>
            <a:r>
              <a:rPr lang="en-GH" dirty="0"/>
              <a:t>Digestion </a:t>
            </a:r>
          </a:p>
          <a:p>
            <a:pPr lvl="1"/>
            <a:r>
              <a:rPr lang="en-GH" dirty="0"/>
              <a:t>Exocytosis of digested content</a:t>
            </a:r>
          </a:p>
        </p:txBody>
      </p:sp>
    </p:spTree>
    <p:extLst>
      <p:ext uri="{BB962C8B-B14F-4D97-AF65-F5344CB8AC3E}">
        <p14:creationId xmlns:p14="http://schemas.microsoft.com/office/powerpoint/2010/main" val="50227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A132-2883-1A27-2B08-89C6A69FE6F5}"/>
              </a:ext>
            </a:extLst>
          </p:cNvPr>
          <p:cNvSpPr>
            <a:spLocks noGrp="1"/>
          </p:cNvSpPr>
          <p:nvPr>
            <p:ph type="title"/>
          </p:nvPr>
        </p:nvSpPr>
        <p:spPr/>
        <p:txBody>
          <a:bodyPr/>
          <a:lstStyle/>
          <a:p>
            <a:r>
              <a:rPr lang="en-GH" dirty="0">
                <a:solidFill>
                  <a:srgbClr val="C00000"/>
                </a:solidFill>
              </a:rPr>
              <a:t>Opsonization</a:t>
            </a:r>
          </a:p>
        </p:txBody>
      </p:sp>
      <p:sp>
        <p:nvSpPr>
          <p:cNvPr id="3" name="Content Placeholder 2">
            <a:extLst>
              <a:ext uri="{FF2B5EF4-FFF2-40B4-BE49-F238E27FC236}">
                <a16:creationId xmlns:a16="http://schemas.microsoft.com/office/drawing/2014/main" id="{A6723C84-F6F1-32F9-A870-43FF0A2450C9}"/>
              </a:ext>
            </a:extLst>
          </p:cNvPr>
          <p:cNvSpPr>
            <a:spLocks noGrp="1"/>
          </p:cNvSpPr>
          <p:nvPr>
            <p:ph sz="half" idx="1"/>
          </p:nvPr>
        </p:nvSpPr>
        <p:spPr>
          <a:xfrm>
            <a:off x="494371" y="1833601"/>
            <a:ext cx="6900746" cy="4351338"/>
          </a:xfrm>
        </p:spPr>
        <p:txBody>
          <a:bodyPr/>
          <a:lstStyle/>
          <a:p>
            <a:r>
              <a:rPr lang="en-GH" dirty="0"/>
              <a:t>Macrophages and neutrophils have membrane receptors for antibody and complement components.</a:t>
            </a:r>
          </a:p>
          <a:p>
            <a:r>
              <a:rPr lang="en-GH" dirty="0"/>
              <a:t>Antigens coated by antibody or complement components enhance phagocytosis by 4K fold</a:t>
            </a:r>
          </a:p>
          <a:p>
            <a:r>
              <a:rPr lang="en-GH" dirty="0"/>
              <a:t>The process of enhance phagocytosis by opsonins is called opsonization.</a:t>
            </a:r>
          </a:p>
        </p:txBody>
      </p:sp>
      <p:pic>
        <p:nvPicPr>
          <p:cNvPr id="6" name="Picture 5">
            <a:extLst>
              <a:ext uri="{FF2B5EF4-FFF2-40B4-BE49-F238E27FC236}">
                <a16:creationId xmlns:a16="http://schemas.microsoft.com/office/drawing/2014/main" id="{4689C4E2-1F8B-DA5E-1039-4C23EAF1132C}"/>
              </a:ext>
            </a:extLst>
          </p:cNvPr>
          <p:cNvPicPr>
            <a:picLocks noChangeAspect="1"/>
          </p:cNvPicPr>
          <p:nvPr/>
        </p:nvPicPr>
        <p:blipFill>
          <a:blip r:embed="rId2"/>
          <a:stretch>
            <a:fillRect/>
          </a:stretch>
        </p:blipFill>
        <p:spPr>
          <a:xfrm>
            <a:off x="7365382" y="2026347"/>
            <a:ext cx="4332247" cy="3677423"/>
          </a:xfrm>
          <a:prstGeom prst="rect">
            <a:avLst/>
          </a:prstGeom>
        </p:spPr>
      </p:pic>
    </p:spTree>
    <p:extLst>
      <p:ext uri="{BB962C8B-B14F-4D97-AF65-F5344CB8AC3E}">
        <p14:creationId xmlns:p14="http://schemas.microsoft.com/office/powerpoint/2010/main" val="111846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F7E59-3F95-9691-D4DB-9766AF573048}"/>
              </a:ext>
            </a:extLst>
          </p:cNvPr>
          <p:cNvSpPr>
            <a:spLocks noGrp="1"/>
          </p:cNvSpPr>
          <p:nvPr>
            <p:ph type="title"/>
          </p:nvPr>
        </p:nvSpPr>
        <p:spPr/>
        <p:txBody>
          <a:bodyPr/>
          <a:lstStyle/>
          <a:p>
            <a:r>
              <a:rPr lang="en-GH" dirty="0">
                <a:solidFill>
                  <a:srgbClr val="C00000"/>
                </a:solidFill>
              </a:rPr>
              <a:t>Intracellular Killing</a:t>
            </a:r>
          </a:p>
        </p:txBody>
      </p:sp>
      <p:pic>
        <p:nvPicPr>
          <p:cNvPr id="6" name="Content Placeholder 5">
            <a:extLst>
              <a:ext uri="{FF2B5EF4-FFF2-40B4-BE49-F238E27FC236}">
                <a16:creationId xmlns:a16="http://schemas.microsoft.com/office/drawing/2014/main" id="{D71F1462-E3F0-926F-66C8-8351FEA57229}"/>
              </a:ext>
            </a:extLst>
          </p:cNvPr>
          <p:cNvPicPr>
            <a:picLocks noGrp="1" noChangeAspect="1"/>
          </p:cNvPicPr>
          <p:nvPr>
            <p:ph sz="half" idx="1"/>
          </p:nvPr>
        </p:nvPicPr>
        <p:blipFill>
          <a:blip r:embed="rId3"/>
          <a:stretch>
            <a:fillRect/>
          </a:stretch>
        </p:blipFill>
        <p:spPr>
          <a:xfrm>
            <a:off x="670931" y="1825625"/>
            <a:ext cx="4358269" cy="4351338"/>
          </a:xfrm>
        </p:spPr>
      </p:pic>
      <p:sp>
        <p:nvSpPr>
          <p:cNvPr id="4" name="Content Placeholder 3">
            <a:extLst>
              <a:ext uri="{FF2B5EF4-FFF2-40B4-BE49-F238E27FC236}">
                <a16:creationId xmlns:a16="http://schemas.microsoft.com/office/drawing/2014/main" id="{B5FF0A47-E808-F6E9-50FD-0789D2E435C9}"/>
              </a:ext>
            </a:extLst>
          </p:cNvPr>
          <p:cNvSpPr>
            <a:spLocks noGrp="1"/>
          </p:cNvSpPr>
          <p:nvPr>
            <p:ph sz="half" idx="2"/>
          </p:nvPr>
        </p:nvSpPr>
        <p:spPr>
          <a:xfrm>
            <a:off x="5397191" y="2182967"/>
            <a:ext cx="6235390" cy="4351338"/>
          </a:xfrm>
        </p:spPr>
        <p:txBody>
          <a:bodyPr>
            <a:normAutofit/>
          </a:bodyPr>
          <a:lstStyle/>
          <a:p>
            <a:r>
              <a:rPr lang="en-GH" sz="2400" dirty="0"/>
              <a:t>During phagocytosis, a metabolic process known as respiratory burst activate membrane-bound oxidase that generate oxygen metabolites </a:t>
            </a:r>
          </a:p>
          <a:p>
            <a:endParaRPr lang="en-GH" sz="2400" dirty="0"/>
          </a:p>
          <a:p>
            <a:pPr lvl="1"/>
            <a:r>
              <a:rPr lang="en-GH" sz="2000" dirty="0"/>
              <a:t>Two oxygen-dependent mechanisms of intracellular digestion</a:t>
            </a:r>
          </a:p>
          <a:p>
            <a:pPr lvl="1"/>
            <a:r>
              <a:rPr lang="en-GH" sz="2000" dirty="0"/>
              <a:t>Lysosomal contents of oxygen-independent degradative material</a:t>
            </a:r>
          </a:p>
        </p:txBody>
      </p:sp>
      <p:sp>
        <p:nvSpPr>
          <p:cNvPr id="8" name="TextBox 7">
            <a:extLst>
              <a:ext uri="{FF2B5EF4-FFF2-40B4-BE49-F238E27FC236}">
                <a16:creationId xmlns:a16="http://schemas.microsoft.com/office/drawing/2014/main" id="{C219FF0B-8F06-C6B0-0D2F-96924FA35120}"/>
              </a:ext>
            </a:extLst>
          </p:cNvPr>
          <p:cNvSpPr txBox="1"/>
          <p:nvPr/>
        </p:nvSpPr>
        <p:spPr>
          <a:xfrm>
            <a:off x="3049859" y="3244334"/>
            <a:ext cx="6099716" cy="369332"/>
          </a:xfrm>
          <a:prstGeom prst="rect">
            <a:avLst/>
          </a:prstGeom>
          <a:noFill/>
        </p:spPr>
        <p:txBody>
          <a:bodyPr wrap="square">
            <a:spAutoFit/>
          </a:bodyPr>
          <a:lstStyle/>
          <a:p>
            <a:endParaRPr lang="en-GH" dirty="0"/>
          </a:p>
        </p:txBody>
      </p:sp>
    </p:spTree>
    <p:extLst>
      <p:ext uri="{BB962C8B-B14F-4D97-AF65-F5344CB8AC3E}">
        <p14:creationId xmlns:p14="http://schemas.microsoft.com/office/powerpoint/2010/main" val="378376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E24E-5E2B-7733-2DE2-32EF8BCF72E9}"/>
              </a:ext>
            </a:extLst>
          </p:cNvPr>
          <p:cNvSpPr>
            <a:spLocks noGrp="1"/>
          </p:cNvSpPr>
          <p:nvPr>
            <p:ph type="title"/>
          </p:nvPr>
        </p:nvSpPr>
        <p:spPr/>
        <p:txBody>
          <a:bodyPr/>
          <a:lstStyle/>
          <a:p>
            <a:r>
              <a:rPr lang="en-GH" dirty="0">
                <a:solidFill>
                  <a:srgbClr val="C00000"/>
                </a:solidFill>
              </a:rPr>
              <a:t>Systemic Inflammation</a:t>
            </a:r>
          </a:p>
        </p:txBody>
      </p:sp>
      <p:pic>
        <p:nvPicPr>
          <p:cNvPr id="6" name="Picture 5">
            <a:extLst>
              <a:ext uri="{FF2B5EF4-FFF2-40B4-BE49-F238E27FC236}">
                <a16:creationId xmlns:a16="http://schemas.microsoft.com/office/drawing/2014/main" id="{B6579693-7B7D-E1FA-7D16-E3BD95A10199}"/>
              </a:ext>
            </a:extLst>
          </p:cNvPr>
          <p:cNvPicPr>
            <a:picLocks noChangeAspect="1"/>
          </p:cNvPicPr>
          <p:nvPr/>
        </p:nvPicPr>
        <p:blipFill>
          <a:blip r:embed="rId3"/>
          <a:stretch>
            <a:fillRect/>
          </a:stretch>
        </p:blipFill>
        <p:spPr>
          <a:xfrm>
            <a:off x="1700561" y="1690688"/>
            <a:ext cx="7162800" cy="4381500"/>
          </a:xfrm>
          <a:prstGeom prst="rect">
            <a:avLst/>
          </a:prstGeom>
        </p:spPr>
      </p:pic>
    </p:spTree>
    <p:extLst>
      <p:ext uri="{BB962C8B-B14F-4D97-AF65-F5344CB8AC3E}">
        <p14:creationId xmlns:p14="http://schemas.microsoft.com/office/powerpoint/2010/main" val="274383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C037-8062-A0E6-E047-0287B01C5C6E}"/>
              </a:ext>
            </a:extLst>
          </p:cNvPr>
          <p:cNvSpPr>
            <a:spLocks noGrp="1"/>
          </p:cNvSpPr>
          <p:nvPr>
            <p:ph type="title"/>
          </p:nvPr>
        </p:nvSpPr>
        <p:spPr/>
        <p:txBody>
          <a:bodyPr/>
          <a:lstStyle/>
          <a:p>
            <a:r>
              <a:rPr lang="en-GH" dirty="0">
                <a:solidFill>
                  <a:srgbClr val="C00000"/>
                </a:solidFill>
              </a:rPr>
              <a:t>Innate Response to Viruses</a:t>
            </a:r>
          </a:p>
        </p:txBody>
      </p:sp>
      <p:sp>
        <p:nvSpPr>
          <p:cNvPr id="3" name="Content Placeholder 2">
            <a:extLst>
              <a:ext uri="{FF2B5EF4-FFF2-40B4-BE49-F238E27FC236}">
                <a16:creationId xmlns:a16="http://schemas.microsoft.com/office/drawing/2014/main" id="{E569E968-C148-88B2-AE2B-35046CAA836B}"/>
              </a:ext>
            </a:extLst>
          </p:cNvPr>
          <p:cNvSpPr>
            <a:spLocks noGrp="1"/>
          </p:cNvSpPr>
          <p:nvPr>
            <p:ph sz="half" idx="1"/>
          </p:nvPr>
        </p:nvSpPr>
        <p:spPr/>
        <p:txBody>
          <a:bodyPr>
            <a:normAutofit lnSpcReduction="10000"/>
          </a:bodyPr>
          <a:lstStyle/>
          <a:p>
            <a:r>
              <a:rPr lang="en-GH" dirty="0"/>
              <a:t>Two major mechanisms for dealing with viral infections</a:t>
            </a:r>
          </a:p>
          <a:p>
            <a:pPr lvl="1"/>
            <a:r>
              <a:rPr lang="en-GH" dirty="0"/>
              <a:t>IFN-⍺/𝛃 and NK cells</a:t>
            </a:r>
          </a:p>
          <a:p>
            <a:pPr marL="0" indent="0">
              <a:buNone/>
            </a:pPr>
            <a:r>
              <a:rPr lang="en-GH" dirty="0">
                <a:solidFill>
                  <a:srgbClr val="C00000"/>
                </a:solidFill>
              </a:rPr>
              <a:t>Interferons</a:t>
            </a:r>
          </a:p>
          <a:p>
            <a:r>
              <a:rPr lang="en-GH" dirty="0"/>
              <a:t>IFN- ⍺ and IFN-𝛃 are produced by viral-infected cells</a:t>
            </a:r>
          </a:p>
          <a:p>
            <a:r>
              <a:rPr lang="en-GH" dirty="0"/>
              <a:t>Act on target cell to inhibit viral replication, not the virus</a:t>
            </a:r>
          </a:p>
          <a:p>
            <a:r>
              <a:rPr lang="en-GH" dirty="0"/>
              <a:t>They also inhibit viral protein synthesis</a:t>
            </a:r>
          </a:p>
        </p:txBody>
      </p:sp>
      <p:pic>
        <p:nvPicPr>
          <p:cNvPr id="6" name="Picture 5">
            <a:extLst>
              <a:ext uri="{FF2B5EF4-FFF2-40B4-BE49-F238E27FC236}">
                <a16:creationId xmlns:a16="http://schemas.microsoft.com/office/drawing/2014/main" id="{6F1B5B95-D246-031D-E3E0-B76A3EC0ADD6}"/>
              </a:ext>
            </a:extLst>
          </p:cNvPr>
          <p:cNvPicPr>
            <a:picLocks noChangeAspect="1"/>
          </p:cNvPicPr>
          <p:nvPr/>
        </p:nvPicPr>
        <p:blipFill>
          <a:blip r:embed="rId2"/>
          <a:stretch>
            <a:fillRect/>
          </a:stretch>
        </p:blipFill>
        <p:spPr>
          <a:xfrm>
            <a:off x="6096000" y="1825625"/>
            <a:ext cx="6184900" cy="3822700"/>
          </a:xfrm>
          <a:prstGeom prst="rect">
            <a:avLst/>
          </a:prstGeom>
        </p:spPr>
      </p:pic>
    </p:spTree>
    <p:extLst>
      <p:ext uri="{BB962C8B-B14F-4D97-AF65-F5344CB8AC3E}">
        <p14:creationId xmlns:p14="http://schemas.microsoft.com/office/powerpoint/2010/main" val="220401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646C0-A69B-F41A-CC48-0628F6F553DA}"/>
              </a:ext>
            </a:extLst>
          </p:cNvPr>
          <p:cNvSpPr>
            <a:spLocks noGrp="1"/>
          </p:cNvSpPr>
          <p:nvPr>
            <p:ph type="title"/>
          </p:nvPr>
        </p:nvSpPr>
        <p:spPr/>
        <p:txBody>
          <a:bodyPr/>
          <a:lstStyle/>
          <a:p>
            <a:r>
              <a:rPr lang="en-GH" dirty="0">
                <a:solidFill>
                  <a:srgbClr val="C00000"/>
                </a:solidFill>
              </a:rPr>
              <a:t>NK cells</a:t>
            </a:r>
          </a:p>
        </p:txBody>
      </p:sp>
      <p:sp>
        <p:nvSpPr>
          <p:cNvPr id="3" name="Content Placeholder 2">
            <a:extLst>
              <a:ext uri="{FF2B5EF4-FFF2-40B4-BE49-F238E27FC236}">
                <a16:creationId xmlns:a16="http://schemas.microsoft.com/office/drawing/2014/main" id="{C8BC187C-3FA7-8C21-5305-3CF1BCD39914}"/>
              </a:ext>
            </a:extLst>
          </p:cNvPr>
          <p:cNvSpPr>
            <a:spLocks noGrp="1"/>
          </p:cNvSpPr>
          <p:nvPr>
            <p:ph sz="half" idx="1"/>
          </p:nvPr>
        </p:nvSpPr>
        <p:spPr>
          <a:xfrm>
            <a:off x="838200" y="1690688"/>
            <a:ext cx="5506844" cy="4486275"/>
          </a:xfrm>
        </p:spPr>
        <p:txBody>
          <a:bodyPr/>
          <a:lstStyle/>
          <a:p>
            <a:r>
              <a:rPr lang="en-GH" dirty="0"/>
              <a:t>NK cells exhibit capacity to kill virally infected cells and tumor cells</a:t>
            </a:r>
          </a:p>
          <a:p>
            <a:r>
              <a:rPr lang="en-GH" dirty="0"/>
              <a:t>They kill be inducing apoptosis</a:t>
            </a:r>
          </a:p>
          <a:p>
            <a:r>
              <a:rPr lang="en-GH" dirty="0"/>
              <a:t>NK activity is increased in the presence of interferons and IL-12</a:t>
            </a:r>
          </a:p>
          <a:p>
            <a:r>
              <a:rPr lang="en-GH" dirty="0"/>
              <a:t>NK cells employ 2 receptors;</a:t>
            </a:r>
          </a:p>
          <a:p>
            <a:pPr lvl="1"/>
            <a:r>
              <a:rPr lang="en-GB" dirty="0"/>
              <a:t>K</a:t>
            </a:r>
            <a:r>
              <a:rPr lang="en-GH" dirty="0"/>
              <a:t>iller activating receptor (KAR)</a:t>
            </a:r>
          </a:p>
          <a:p>
            <a:pPr lvl="1"/>
            <a:r>
              <a:rPr lang="en-GB" dirty="0"/>
              <a:t>K</a:t>
            </a:r>
            <a:r>
              <a:rPr lang="en-GH" dirty="0"/>
              <a:t>iller inhibiting receptor (KIR)</a:t>
            </a:r>
          </a:p>
          <a:p>
            <a:pPr lvl="2"/>
            <a:endParaRPr lang="en-GH" dirty="0"/>
          </a:p>
        </p:txBody>
      </p:sp>
      <p:pic>
        <p:nvPicPr>
          <p:cNvPr id="6" name="Picture 5">
            <a:extLst>
              <a:ext uri="{FF2B5EF4-FFF2-40B4-BE49-F238E27FC236}">
                <a16:creationId xmlns:a16="http://schemas.microsoft.com/office/drawing/2014/main" id="{483A0CFE-5369-C735-9360-02B1CA0643D6}"/>
              </a:ext>
            </a:extLst>
          </p:cNvPr>
          <p:cNvPicPr>
            <a:picLocks noChangeAspect="1"/>
          </p:cNvPicPr>
          <p:nvPr/>
        </p:nvPicPr>
        <p:blipFill>
          <a:blip r:embed="rId2"/>
          <a:stretch>
            <a:fillRect/>
          </a:stretch>
        </p:blipFill>
        <p:spPr>
          <a:xfrm>
            <a:off x="6612935" y="1366929"/>
            <a:ext cx="4259503" cy="4821757"/>
          </a:xfrm>
          <a:prstGeom prst="rect">
            <a:avLst/>
          </a:prstGeom>
        </p:spPr>
      </p:pic>
    </p:spTree>
    <p:extLst>
      <p:ext uri="{BB962C8B-B14F-4D97-AF65-F5344CB8AC3E}">
        <p14:creationId xmlns:p14="http://schemas.microsoft.com/office/powerpoint/2010/main" val="338298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0254-82FE-7349-2E8E-55AC0664EB30}"/>
              </a:ext>
            </a:extLst>
          </p:cNvPr>
          <p:cNvSpPr>
            <a:spLocks noGrp="1"/>
          </p:cNvSpPr>
          <p:nvPr>
            <p:ph type="title"/>
          </p:nvPr>
        </p:nvSpPr>
        <p:spPr>
          <a:xfrm>
            <a:off x="1038922" y="2766218"/>
            <a:ext cx="10515600" cy="1325563"/>
          </a:xfrm>
        </p:spPr>
        <p:txBody>
          <a:bodyPr/>
          <a:lstStyle/>
          <a:p>
            <a:pPr algn="ctr"/>
            <a:r>
              <a:rPr lang="en-GH" dirty="0">
                <a:solidFill>
                  <a:srgbClr val="C00000"/>
                </a:solidFill>
              </a:rPr>
              <a:t>Secondary Lymphoid Tissue: Innate Meets Adaptive</a:t>
            </a:r>
          </a:p>
        </p:txBody>
      </p:sp>
    </p:spTree>
    <p:extLst>
      <p:ext uri="{BB962C8B-B14F-4D97-AF65-F5344CB8AC3E}">
        <p14:creationId xmlns:p14="http://schemas.microsoft.com/office/powerpoint/2010/main" val="1254681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C481-A2A5-2E75-B1B9-D4316F32CBA4}"/>
              </a:ext>
            </a:extLst>
          </p:cNvPr>
          <p:cNvSpPr>
            <a:spLocks noGrp="1"/>
          </p:cNvSpPr>
          <p:nvPr>
            <p:ph type="title"/>
          </p:nvPr>
        </p:nvSpPr>
        <p:spPr/>
        <p:txBody>
          <a:bodyPr/>
          <a:lstStyle/>
          <a:p>
            <a:r>
              <a:rPr lang="en-GB" dirty="0">
                <a:solidFill>
                  <a:srgbClr val="C00000"/>
                </a:solidFill>
              </a:rPr>
              <a:t>Mi</a:t>
            </a:r>
            <a:r>
              <a:rPr lang="en-GH" dirty="0">
                <a:solidFill>
                  <a:srgbClr val="C00000"/>
                </a:solidFill>
              </a:rPr>
              <a:t>gration to the Secondary Lymphoid tissue</a:t>
            </a:r>
          </a:p>
        </p:txBody>
      </p:sp>
      <p:sp>
        <p:nvSpPr>
          <p:cNvPr id="3" name="Content Placeholder 2">
            <a:extLst>
              <a:ext uri="{FF2B5EF4-FFF2-40B4-BE49-F238E27FC236}">
                <a16:creationId xmlns:a16="http://schemas.microsoft.com/office/drawing/2014/main" id="{7BA5DF01-277A-EA23-93DF-67CD0780BB90}"/>
              </a:ext>
            </a:extLst>
          </p:cNvPr>
          <p:cNvSpPr>
            <a:spLocks noGrp="1"/>
          </p:cNvSpPr>
          <p:nvPr>
            <p:ph idx="1"/>
          </p:nvPr>
        </p:nvSpPr>
        <p:spPr/>
        <p:txBody>
          <a:bodyPr/>
          <a:lstStyle/>
          <a:p>
            <a:r>
              <a:rPr lang="en-GH" dirty="0"/>
              <a:t>Following acute inflammatory response, the professional APCs that have phagocytosed and processed invading antigens begin to leave the area via lymphatic vessels</a:t>
            </a:r>
          </a:p>
          <a:p>
            <a:r>
              <a:rPr lang="en-GH" dirty="0"/>
              <a:t>Pro-inflammatory cytokines produce during acute inflammatory response cause a change  the phenotype of the phagocyte which eventually alter their migration pattern and enhances their function</a:t>
            </a:r>
          </a:p>
          <a:p>
            <a:r>
              <a:rPr lang="en-GH" dirty="0"/>
              <a:t>Activated dendritic cells begin to express a chemokine receptor CCR7</a:t>
            </a:r>
          </a:p>
          <a:p>
            <a:r>
              <a:rPr lang="en-GH" dirty="0"/>
              <a:t>CCR7 is activated by chemokines that are produce by the endothelium </a:t>
            </a:r>
          </a:p>
          <a:p>
            <a:endParaRPr lang="en-GH" dirty="0"/>
          </a:p>
          <a:p>
            <a:pPr marL="0" indent="0">
              <a:buNone/>
            </a:pPr>
            <a:endParaRPr lang="en-GH" dirty="0"/>
          </a:p>
        </p:txBody>
      </p:sp>
    </p:spTree>
    <p:extLst>
      <p:ext uri="{BB962C8B-B14F-4D97-AF65-F5344CB8AC3E}">
        <p14:creationId xmlns:p14="http://schemas.microsoft.com/office/powerpoint/2010/main" val="224397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6401FC5-1B40-CF38-3FC8-50BAA5D32BE6}"/>
              </a:ext>
            </a:extLst>
          </p:cNvPr>
          <p:cNvSpPr>
            <a:spLocks noGrp="1"/>
          </p:cNvSpPr>
          <p:nvPr>
            <p:ph type="title"/>
          </p:nvPr>
        </p:nvSpPr>
        <p:spPr/>
        <p:txBody>
          <a:bodyPr/>
          <a:lstStyle/>
          <a:p>
            <a:r>
              <a:rPr lang="en-GB" dirty="0">
                <a:solidFill>
                  <a:srgbClr val="C00000"/>
                </a:solidFill>
              </a:rPr>
              <a:t>Mi</a:t>
            </a:r>
            <a:r>
              <a:rPr lang="en-GH" dirty="0">
                <a:solidFill>
                  <a:srgbClr val="C00000"/>
                </a:solidFill>
              </a:rPr>
              <a:t>gration to the Secondary Lymphoid tissue</a:t>
            </a:r>
          </a:p>
        </p:txBody>
      </p:sp>
      <p:sp>
        <p:nvSpPr>
          <p:cNvPr id="5" name="Content Placeholder 4">
            <a:extLst>
              <a:ext uri="{FF2B5EF4-FFF2-40B4-BE49-F238E27FC236}">
                <a16:creationId xmlns:a16="http://schemas.microsoft.com/office/drawing/2014/main" id="{10981276-7A97-785B-1CE5-153CB6FE3C7E}"/>
              </a:ext>
            </a:extLst>
          </p:cNvPr>
          <p:cNvSpPr>
            <a:spLocks noGrp="1"/>
          </p:cNvSpPr>
          <p:nvPr>
            <p:ph sz="half" idx="1"/>
          </p:nvPr>
        </p:nvSpPr>
        <p:spPr>
          <a:xfrm>
            <a:off x="838200" y="1825625"/>
            <a:ext cx="6437244" cy="4351338"/>
          </a:xfrm>
        </p:spPr>
        <p:txBody>
          <a:bodyPr/>
          <a:lstStyle/>
          <a:p>
            <a:r>
              <a:rPr lang="en-GH" dirty="0"/>
              <a:t>Chemokines bind to CCR7 on DCs, allowing them to exit the tissue</a:t>
            </a:r>
          </a:p>
          <a:p>
            <a:r>
              <a:rPr lang="en-GH" dirty="0"/>
              <a:t>DCs switch focus from antigen-capture to antigen-presentation</a:t>
            </a:r>
          </a:p>
          <a:p>
            <a:r>
              <a:rPr lang="en-GH" dirty="0"/>
              <a:t>Activated DCs concentrate in draining lymph nodes and become trapped in the paracortex</a:t>
            </a:r>
          </a:p>
          <a:p>
            <a:r>
              <a:rPr lang="en-GH" dirty="0"/>
              <a:t>Na</a:t>
            </a:r>
            <a:r>
              <a:rPr lang="en-GB" dirty="0" err="1"/>
              <a:t>ï</a:t>
            </a:r>
            <a:r>
              <a:rPr lang="en-GH" dirty="0"/>
              <a:t>ve T cells expressing CCR7 bind to chemokines on HEVs and migrate to the paracortex</a:t>
            </a:r>
          </a:p>
        </p:txBody>
      </p:sp>
      <p:pic>
        <p:nvPicPr>
          <p:cNvPr id="8" name="Picture 7">
            <a:extLst>
              <a:ext uri="{FF2B5EF4-FFF2-40B4-BE49-F238E27FC236}">
                <a16:creationId xmlns:a16="http://schemas.microsoft.com/office/drawing/2014/main" id="{D2609CFF-4A55-50AE-55EA-AF4BD677552E}"/>
              </a:ext>
            </a:extLst>
          </p:cNvPr>
          <p:cNvPicPr>
            <a:picLocks noChangeAspect="1"/>
          </p:cNvPicPr>
          <p:nvPr/>
        </p:nvPicPr>
        <p:blipFill>
          <a:blip r:embed="rId3"/>
          <a:stretch>
            <a:fillRect/>
          </a:stretch>
        </p:blipFill>
        <p:spPr>
          <a:xfrm>
            <a:off x="7583832" y="2065613"/>
            <a:ext cx="4483328" cy="4111349"/>
          </a:xfrm>
          <a:prstGeom prst="rect">
            <a:avLst/>
          </a:prstGeom>
        </p:spPr>
      </p:pic>
    </p:spTree>
    <p:extLst>
      <p:ext uri="{BB962C8B-B14F-4D97-AF65-F5344CB8AC3E}">
        <p14:creationId xmlns:p14="http://schemas.microsoft.com/office/powerpoint/2010/main" val="257004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6C268-864D-4484-5F31-6E994B19D06D}"/>
              </a:ext>
            </a:extLst>
          </p:cNvPr>
          <p:cNvSpPr>
            <a:spLocks noGrp="1"/>
          </p:cNvSpPr>
          <p:nvPr>
            <p:ph type="title"/>
          </p:nvPr>
        </p:nvSpPr>
        <p:spPr/>
        <p:txBody>
          <a:bodyPr/>
          <a:lstStyle/>
          <a:p>
            <a:r>
              <a:rPr lang="en-GH" dirty="0">
                <a:solidFill>
                  <a:srgbClr val="C00000"/>
                </a:solidFill>
              </a:rPr>
              <a:t>Antigen Processing and Presentation</a:t>
            </a:r>
          </a:p>
        </p:txBody>
      </p:sp>
      <p:sp>
        <p:nvSpPr>
          <p:cNvPr id="5" name="Content Placeholder 4">
            <a:extLst>
              <a:ext uri="{FF2B5EF4-FFF2-40B4-BE49-F238E27FC236}">
                <a16:creationId xmlns:a16="http://schemas.microsoft.com/office/drawing/2014/main" id="{5A733633-1A90-F228-1CDC-BCDD9D801D26}"/>
              </a:ext>
            </a:extLst>
          </p:cNvPr>
          <p:cNvSpPr>
            <a:spLocks noGrp="1"/>
          </p:cNvSpPr>
          <p:nvPr>
            <p:ph idx="1"/>
          </p:nvPr>
        </p:nvSpPr>
        <p:spPr/>
        <p:txBody>
          <a:bodyPr/>
          <a:lstStyle/>
          <a:p>
            <a:r>
              <a:rPr lang="en-GH" b="1" dirty="0"/>
              <a:t>Dendritic cells </a:t>
            </a:r>
            <a:r>
              <a:rPr lang="en-GH" dirty="0"/>
              <a:t>are the most prolific of the APCs, as they do not have to be activated in order to present antigen to T cells. </a:t>
            </a:r>
          </a:p>
          <a:p>
            <a:pPr lvl="1"/>
            <a:r>
              <a:rPr lang="en-GH" dirty="0"/>
              <a:t>They express the co-stimulatory molecules needed to activate the T cells</a:t>
            </a:r>
          </a:p>
          <a:p>
            <a:endParaRPr lang="en-GH" dirty="0"/>
          </a:p>
          <a:p>
            <a:r>
              <a:rPr lang="en-GH" b="1" dirty="0"/>
              <a:t>Macrophages</a:t>
            </a:r>
            <a:r>
              <a:rPr lang="en-GH" dirty="0"/>
              <a:t> help activate the Th1 response by digesting microbes and presenting them to the T cells to elicit a cell-mediated immunity</a:t>
            </a:r>
          </a:p>
          <a:p>
            <a:endParaRPr lang="en-GH" dirty="0"/>
          </a:p>
          <a:p>
            <a:r>
              <a:rPr lang="en-GH" b="1" dirty="0"/>
              <a:t>B cells </a:t>
            </a:r>
            <a:r>
              <a:rPr lang="en-GH" dirty="0"/>
              <a:t>present specific protein antigens to T cells to help elicit a humoral immune response or a Th2 response. </a:t>
            </a:r>
          </a:p>
        </p:txBody>
      </p:sp>
    </p:spTree>
    <p:extLst>
      <p:ext uri="{BB962C8B-B14F-4D97-AF65-F5344CB8AC3E}">
        <p14:creationId xmlns:p14="http://schemas.microsoft.com/office/powerpoint/2010/main" val="132940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753D03-28FB-75F3-797B-2872E99697B3}"/>
              </a:ext>
            </a:extLst>
          </p:cNvPr>
          <p:cNvPicPr>
            <a:picLocks noChangeAspect="1"/>
          </p:cNvPicPr>
          <p:nvPr/>
        </p:nvPicPr>
        <p:blipFill>
          <a:blip r:embed="rId2"/>
          <a:stretch>
            <a:fillRect/>
          </a:stretch>
        </p:blipFill>
        <p:spPr>
          <a:xfrm>
            <a:off x="193172" y="702365"/>
            <a:ext cx="11673026" cy="5857461"/>
          </a:xfrm>
          <a:prstGeom prst="rect">
            <a:avLst/>
          </a:prstGeom>
        </p:spPr>
      </p:pic>
    </p:spTree>
    <p:extLst>
      <p:ext uri="{BB962C8B-B14F-4D97-AF65-F5344CB8AC3E}">
        <p14:creationId xmlns:p14="http://schemas.microsoft.com/office/powerpoint/2010/main" val="3000805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5107C-BF9C-1D14-7E9D-57CF3FA9740C}"/>
              </a:ext>
            </a:extLst>
          </p:cNvPr>
          <p:cNvSpPr>
            <a:spLocks noGrp="1"/>
          </p:cNvSpPr>
          <p:nvPr>
            <p:ph type="title"/>
          </p:nvPr>
        </p:nvSpPr>
        <p:spPr/>
        <p:txBody>
          <a:bodyPr/>
          <a:lstStyle/>
          <a:p>
            <a:r>
              <a:rPr lang="en-GH" dirty="0">
                <a:solidFill>
                  <a:srgbClr val="C00000"/>
                </a:solidFill>
              </a:rPr>
              <a:t>Endogenous Pathway of Antigen-Presentation</a:t>
            </a:r>
          </a:p>
        </p:txBody>
      </p:sp>
      <p:sp>
        <p:nvSpPr>
          <p:cNvPr id="3" name="Content Placeholder 2">
            <a:extLst>
              <a:ext uri="{FF2B5EF4-FFF2-40B4-BE49-F238E27FC236}">
                <a16:creationId xmlns:a16="http://schemas.microsoft.com/office/drawing/2014/main" id="{F3712AB7-6476-5763-F29C-364B88FE2C32}"/>
              </a:ext>
            </a:extLst>
          </p:cNvPr>
          <p:cNvSpPr>
            <a:spLocks noGrp="1"/>
          </p:cNvSpPr>
          <p:nvPr>
            <p:ph idx="1"/>
          </p:nvPr>
        </p:nvSpPr>
        <p:spPr/>
        <p:txBody>
          <a:bodyPr/>
          <a:lstStyle/>
          <a:p>
            <a:r>
              <a:rPr lang="en-GH" dirty="0"/>
              <a:t>This pathway of antigen-processing handles threats to the host which are intracellular (viruses, tumors) or even peptides from pathogens that may escape phagosomes.</a:t>
            </a:r>
          </a:p>
          <a:p>
            <a:r>
              <a:rPr lang="en-GH" dirty="0"/>
              <a:t>These peptides are transported through </a:t>
            </a:r>
            <a:r>
              <a:rPr lang="en-GH" b="1" dirty="0"/>
              <a:t>TAP complex (transporter of antigen processing</a:t>
            </a:r>
            <a:r>
              <a:rPr lang="en-GH" dirty="0"/>
              <a:t>)</a:t>
            </a:r>
          </a:p>
          <a:p>
            <a:r>
              <a:rPr lang="en-GH" dirty="0"/>
              <a:t>Tapasin bridges the TAP tranporter to the MHC class I molecule</a:t>
            </a:r>
          </a:p>
          <a:p>
            <a:r>
              <a:rPr lang="en-GH" dirty="0"/>
              <a:t>The peptide-MHC class I complexes are then transported to the cell membrane where they may be presented to CD8+ T cells.</a:t>
            </a:r>
          </a:p>
          <a:p>
            <a:endParaRPr lang="en-GH" dirty="0"/>
          </a:p>
          <a:p>
            <a:pPr marL="0" indent="0">
              <a:buNone/>
            </a:pPr>
            <a:endParaRPr lang="en-GH" dirty="0"/>
          </a:p>
        </p:txBody>
      </p:sp>
    </p:spTree>
    <p:extLst>
      <p:ext uri="{BB962C8B-B14F-4D97-AF65-F5344CB8AC3E}">
        <p14:creationId xmlns:p14="http://schemas.microsoft.com/office/powerpoint/2010/main" val="8960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1780E-192D-8677-C5EA-23DCA79994EF}"/>
              </a:ext>
            </a:extLst>
          </p:cNvPr>
          <p:cNvSpPr>
            <a:spLocks noGrp="1"/>
          </p:cNvSpPr>
          <p:nvPr>
            <p:ph type="title"/>
          </p:nvPr>
        </p:nvSpPr>
        <p:spPr/>
        <p:txBody>
          <a:bodyPr/>
          <a:lstStyle/>
          <a:p>
            <a:r>
              <a:rPr lang="en-GH" dirty="0">
                <a:solidFill>
                  <a:srgbClr val="C00000"/>
                </a:solidFill>
              </a:rPr>
              <a:t>Cross Preseantation</a:t>
            </a:r>
          </a:p>
        </p:txBody>
      </p:sp>
      <p:pic>
        <p:nvPicPr>
          <p:cNvPr id="5" name="Picture 4">
            <a:extLst>
              <a:ext uri="{FF2B5EF4-FFF2-40B4-BE49-F238E27FC236}">
                <a16:creationId xmlns:a16="http://schemas.microsoft.com/office/drawing/2014/main" id="{9F6229DD-1B63-11EC-25B7-4F509B85EE46}"/>
              </a:ext>
            </a:extLst>
          </p:cNvPr>
          <p:cNvPicPr>
            <a:picLocks noChangeAspect="1"/>
          </p:cNvPicPr>
          <p:nvPr/>
        </p:nvPicPr>
        <p:blipFill>
          <a:blip r:embed="rId2"/>
          <a:stretch>
            <a:fillRect/>
          </a:stretch>
        </p:blipFill>
        <p:spPr>
          <a:xfrm>
            <a:off x="1540013" y="1951935"/>
            <a:ext cx="8111750" cy="3958534"/>
          </a:xfrm>
          <a:prstGeom prst="rect">
            <a:avLst/>
          </a:prstGeom>
        </p:spPr>
      </p:pic>
    </p:spTree>
    <p:extLst>
      <p:ext uri="{BB962C8B-B14F-4D97-AF65-F5344CB8AC3E}">
        <p14:creationId xmlns:p14="http://schemas.microsoft.com/office/powerpoint/2010/main" val="325855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49D8-6187-DC33-FCB5-7ACE410D9563}"/>
              </a:ext>
            </a:extLst>
          </p:cNvPr>
          <p:cNvSpPr>
            <a:spLocks noGrp="1"/>
          </p:cNvSpPr>
          <p:nvPr>
            <p:ph type="title"/>
          </p:nvPr>
        </p:nvSpPr>
        <p:spPr/>
        <p:txBody>
          <a:bodyPr/>
          <a:lstStyle/>
          <a:p>
            <a:r>
              <a:rPr lang="en-GB" dirty="0">
                <a:solidFill>
                  <a:srgbClr val="C00000"/>
                </a:solidFill>
              </a:rPr>
              <a:t>At this time you should know the following:</a:t>
            </a:r>
            <a:endParaRPr lang="en-GH" dirty="0">
              <a:solidFill>
                <a:srgbClr val="C00000"/>
              </a:solidFill>
            </a:endParaRPr>
          </a:p>
        </p:txBody>
      </p:sp>
      <p:sp>
        <p:nvSpPr>
          <p:cNvPr id="3" name="Content Placeholder 2">
            <a:extLst>
              <a:ext uri="{FF2B5EF4-FFF2-40B4-BE49-F238E27FC236}">
                <a16:creationId xmlns:a16="http://schemas.microsoft.com/office/drawing/2014/main" id="{86E76CE9-6B5B-048F-0A89-EF2E1B48FDAE}"/>
              </a:ext>
            </a:extLst>
          </p:cNvPr>
          <p:cNvSpPr>
            <a:spLocks noGrp="1"/>
          </p:cNvSpPr>
          <p:nvPr>
            <p:ph idx="1"/>
          </p:nvPr>
        </p:nvSpPr>
        <p:spPr/>
        <p:txBody>
          <a:bodyPr>
            <a:normAutofit fontScale="92500"/>
          </a:bodyPr>
          <a:lstStyle/>
          <a:p>
            <a:pPr marL="514350" indent="-514350">
              <a:buAutoNum type="arabicPeriod"/>
            </a:pPr>
            <a:r>
              <a:rPr lang="en-GB" dirty="0"/>
              <a:t>Differences between the non-specific and specific immune functions</a:t>
            </a:r>
          </a:p>
          <a:p>
            <a:pPr marL="514350" indent="-514350">
              <a:buAutoNum type="arabicPeriod"/>
            </a:pPr>
            <a:r>
              <a:rPr lang="en-GB" dirty="0"/>
              <a:t>Humoral components of the non-specific immune system and their action</a:t>
            </a:r>
          </a:p>
          <a:p>
            <a:pPr marL="514350" indent="-514350">
              <a:buAutoNum type="arabicPeriod"/>
            </a:pPr>
            <a:r>
              <a:rPr lang="en-GB" dirty="0"/>
              <a:t>Cellular components of the non-specific immune function and their action</a:t>
            </a:r>
          </a:p>
          <a:p>
            <a:pPr marL="514350" indent="-514350">
              <a:buAutoNum type="arabicPeriod"/>
            </a:pPr>
            <a:r>
              <a:rPr lang="en-GB" dirty="0"/>
              <a:t>Pathways of intracellular killing of bacteria by phagocytes and their characteristic features</a:t>
            </a:r>
          </a:p>
          <a:p>
            <a:pPr marL="514350" indent="-514350">
              <a:buAutoNum type="arabicPeriod"/>
            </a:pPr>
            <a:r>
              <a:rPr lang="en-GB" dirty="0"/>
              <a:t>Effect of humoral components such as interferon, TNF, IL-2, complement etc. on cellular components of the non-specific immune system</a:t>
            </a:r>
            <a:endParaRPr lang="en-GH" dirty="0"/>
          </a:p>
        </p:txBody>
      </p:sp>
    </p:spTree>
    <p:extLst>
      <p:ext uri="{BB962C8B-B14F-4D97-AF65-F5344CB8AC3E}">
        <p14:creationId xmlns:p14="http://schemas.microsoft.com/office/powerpoint/2010/main" val="1272298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38F2-3687-E82D-D65F-F267111C0567}"/>
              </a:ext>
            </a:extLst>
          </p:cNvPr>
          <p:cNvSpPr>
            <a:spLocks noGrp="1"/>
          </p:cNvSpPr>
          <p:nvPr>
            <p:ph type="title"/>
          </p:nvPr>
        </p:nvSpPr>
        <p:spPr>
          <a:xfrm>
            <a:off x="1076739" y="2975803"/>
            <a:ext cx="10515600" cy="1325563"/>
          </a:xfrm>
        </p:spPr>
        <p:txBody>
          <a:bodyPr/>
          <a:lstStyle/>
          <a:p>
            <a:pPr algn="ctr"/>
            <a:r>
              <a:rPr lang="en-GH" dirty="0">
                <a:solidFill>
                  <a:srgbClr val="C00000"/>
                </a:solidFill>
              </a:rPr>
              <a:t>Questions</a:t>
            </a:r>
          </a:p>
        </p:txBody>
      </p:sp>
    </p:spTree>
    <p:extLst>
      <p:ext uri="{BB962C8B-B14F-4D97-AF65-F5344CB8AC3E}">
        <p14:creationId xmlns:p14="http://schemas.microsoft.com/office/powerpoint/2010/main" val="2449851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2198</Words>
  <Application>Microsoft Macintosh PowerPoint</Application>
  <PresentationFormat>Widescreen</PresentationFormat>
  <Paragraphs>193</Paragraphs>
  <Slides>32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INNATE (NON-SPECIFIC) IMMUNITY</vt:lpstr>
      <vt:lpstr>Teaching Objectives</vt:lpstr>
      <vt:lpstr>The Immune System</vt:lpstr>
      <vt:lpstr>Overview of the Immune System</vt:lpstr>
      <vt:lpstr>Overview of the Immune System</vt:lpstr>
      <vt:lpstr>Innate Immunity</vt:lpstr>
      <vt:lpstr>Anatomical barriers to infections</vt:lpstr>
      <vt:lpstr>Anatomical barriers to infections</vt:lpstr>
      <vt:lpstr>Humoral barriers to infection</vt:lpstr>
      <vt:lpstr>Humoral barriers to infection</vt:lpstr>
      <vt:lpstr>Humoral barriers to infection</vt:lpstr>
      <vt:lpstr>Cellular Components of the Innate Immunity</vt:lpstr>
      <vt:lpstr>PowerPoint Presentation</vt:lpstr>
      <vt:lpstr>Phagocytosis and Intracellular Killing</vt:lpstr>
      <vt:lpstr>PowerPoint Presentation</vt:lpstr>
      <vt:lpstr>Inflammatory Response</vt:lpstr>
      <vt:lpstr>Response of phagocytes to infection  </vt:lpstr>
      <vt:lpstr>Phagocytosis</vt:lpstr>
      <vt:lpstr>Opsonization</vt:lpstr>
      <vt:lpstr>Intracellular Killing</vt:lpstr>
      <vt:lpstr>Systemic Inflammation</vt:lpstr>
      <vt:lpstr>Innate Response to Viruses</vt:lpstr>
      <vt:lpstr>NK cells</vt:lpstr>
      <vt:lpstr>Secondary Lymphoid Tissue: Innate Meets Adaptive</vt:lpstr>
      <vt:lpstr>Migration to the Secondary Lymphoid tissue</vt:lpstr>
      <vt:lpstr>Migration to the Secondary Lymphoid tissue</vt:lpstr>
      <vt:lpstr>Antigen Processing and Presentation</vt:lpstr>
      <vt:lpstr>PowerPoint Presentation</vt:lpstr>
      <vt:lpstr>Endogenous Pathway of Antigen-Presentation</vt:lpstr>
      <vt:lpstr>Cross Preseantation</vt:lpstr>
      <vt:lpstr>At this time you should know the following: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Frimpong</dc:creator>
  <cp:lastModifiedBy>Michael Frimpong</cp:lastModifiedBy>
  <cp:revision>14</cp:revision>
  <dcterms:created xsi:type="dcterms:W3CDTF">2026-02-01T16:14:28Z</dcterms:created>
  <dcterms:modified xsi:type="dcterms:W3CDTF">2026-05-03T08:06:47Z</dcterms:modified>
</cp:coreProperties>
</file>