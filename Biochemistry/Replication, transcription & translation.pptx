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1066" r:id="rId11"/>
    <p:sldId id="265" r:id="rId12"/>
    <p:sldId id="266" r:id="rId13"/>
    <p:sldId id="267" r:id="rId14"/>
    <p:sldId id="1067" r:id="rId15"/>
    <p:sldId id="1068" r:id="rId16"/>
    <p:sldId id="1069" r:id="rId17"/>
    <p:sldId id="1070" r:id="rId18"/>
    <p:sldId id="1071" r:id="rId19"/>
    <p:sldId id="1075" r:id="rId20"/>
    <p:sldId id="1055" r:id="rId21"/>
    <p:sldId id="1056" r:id="rId22"/>
    <p:sldId id="1057" r:id="rId23"/>
    <p:sldId id="1059" r:id="rId24"/>
    <p:sldId id="1060" r:id="rId25"/>
    <p:sldId id="1061" r:id="rId26"/>
    <p:sldId id="1063" r:id="rId27"/>
    <p:sldId id="1064" r:id="rId28"/>
    <p:sldId id="1076" r:id="rId29"/>
    <p:sldId id="1065" r:id="rId30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556"/>
    <p:restoredTop sz="86909"/>
  </p:normalViewPr>
  <p:slideViewPr>
    <p:cSldViewPr snapToGrid="0">
      <p:cViewPr varScale="1">
        <p:scale>
          <a:sx n="118" d="100"/>
          <a:sy n="118" d="100"/>
        </p:scale>
        <p:origin x="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C6BA5-5628-AF40-9B2E-7BD9833E6350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6E79E-B477-ED48-B642-EBCF53D04FB1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0697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DNA replication is semi-conservative because each new DNA molecule consists of one original (parental) strand and one newly synthesized strand.</a:t>
            </a:r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6E79E-B477-ED48-B642-EBCF53D04FB1}" type="slidenum">
              <a:rPr lang="en-GH" smtClean="0"/>
              <a:t>3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95407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H" dirty="0"/>
              <a:t>- </a:t>
            </a:r>
            <a:r>
              <a:rPr lang="en-GB" dirty="0"/>
              <a:t>Transcription – the synthesis of RNA, using DNA as a template, because RNA is a single-stranded, transcription only occurs along one of the two strands of DNA</a:t>
            </a:r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6E79E-B477-ED48-B642-EBCF53D04FB1}" type="slidenum">
              <a:rPr lang="en-GH" smtClean="0"/>
              <a:t>13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697728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In eukaryotic cells, the newly-formed mRNA transcript (also called heterogenous nuclear RNA or </a:t>
            </a:r>
            <a:r>
              <a:rPr lang="en-GB" dirty="0" err="1"/>
              <a:t>hnRNA</a:t>
            </a:r>
            <a:r>
              <a:rPr lang="en-GB" dirty="0"/>
              <a:t>) must be further modified before it can be used.</a:t>
            </a:r>
          </a:p>
          <a:p>
            <a:pPr marL="171450" indent="-171450">
              <a:buFontTx/>
              <a:buChar char="-"/>
            </a:pPr>
            <a:r>
              <a:rPr lang="en-GB" dirty="0"/>
              <a:t>The newly-formed mRNA has regions that do not contain a genetic message.</a:t>
            </a:r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6E79E-B477-ED48-B642-EBCF53D04FB1}" type="slidenum">
              <a:rPr lang="en-GH" smtClean="0"/>
              <a:t>15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95423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H" dirty="0"/>
              <a:t>- This allows “custom-built” DNA wich may contained desired mutations. </a:t>
            </a:r>
          </a:p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7D613-3A94-0F47-96C1-E644345D979C}" type="slidenum">
              <a:rPr lang="en-GH" smtClean="0"/>
              <a:t>21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4462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H" dirty="0"/>
              <a:t>ORI (origin of replication – the portion of the plasmid that allows the plasmid to be replicated in host cells. </a:t>
            </a:r>
          </a:p>
          <a:p>
            <a:pPr marL="171450" indent="-171450">
              <a:buFontTx/>
              <a:buChar char="-"/>
            </a:pPr>
            <a:r>
              <a:rPr lang="en-GH" dirty="0"/>
              <a:t>Tracking marker – ampr – allows us to differentiate cells tha express the plasmids from those that do not. </a:t>
            </a:r>
          </a:p>
          <a:p>
            <a:pPr marL="171450" indent="-171450">
              <a:buFontTx/>
              <a:buChar char="-"/>
            </a:pPr>
            <a:r>
              <a:rPr lang="en-GH" dirty="0"/>
              <a:t>Cloning sites have multiple restriction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7D613-3A94-0F47-96C1-E644345D979C}" type="slidenum">
              <a:rPr lang="en-GH" smtClean="0"/>
              <a:t>22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72161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H" dirty="0"/>
              <a:t>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7D613-3A94-0F47-96C1-E644345D979C}" type="slidenum">
              <a:rPr lang="en-GH" smtClean="0"/>
              <a:t>23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446034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H" dirty="0"/>
              <a:t>The most common restriction enzymes binds to six-mers (6 base pairs of DNA).</a:t>
            </a:r>
          </a:p>
          <a:p>
            <a:pPr marL="171450" indent="-171450">
              <a:buFontTx/>
              <a:buChar char="-"/>
            </a:pPr>
            <a:r>
              <a:rPr lang="en-GH" dirty="0"/>
              <a:t>Internal complementarity (palindrome)</a:t>
            </a:r>
          </a:p>
          <a:p>
            <a:pPr marL="171450" indent="-171450">
              <a:buFontTx/>
              <a:buChar char="-"/>
            </a:pPr>
            <a:r>
              <a:rPr lang="en-GH" dirty="0"/>
              <a:t>Palindrome – is a word or phrase with letters that read the same backwards as forward (racecar)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7D613-3A94-0F47-96C1-E644345D979C}" type="slidenum">
              <a:rPr lang="en-GH" smtClean="0"/>
              <a:t>24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51909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H" dirty="0"/>
              <a:t>- Sticky ends are portions or single-stranded overhangs that are hungry for or are ready to base pair to their complementary base sequence.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7D613-3A94-0F47-96C1-E644345D979C}" type="slidenum">
              <a:rPr lang="en-GH" smtClean="0"/>
              <a:t>25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832900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H" dirty="0"/>
              <a:t> Gene therapy – first gene therapy in humans was conducted in the 1990 by researchers at NIH on a 4 year old with severe immunodeficiency caused by lack of adenosine deaminase (ADA). </a:t>
            </a:r>
          </a:p>
          <a:p>
            <a:r>
              <a:rPr lang="en-GB" dirty="0"/>
              <a:t>S</a:t>
            </a:r>
            <a:r>
              <a:rPr lang="en-GH" dirty="0"/>
              <a:t>he was transfused with her own blood engineered to contain a functional ADA.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7D613-3A94-0F47-96C1-E644345D979C}" type="slidenum">
              <a:rPr lang="en-GH" smtClean="0"/>
              <a:t>29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336899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A4213-4410-A97A-4A34-133B8DC5A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0A351-4B61-F7E4-0E05-5FF686407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6325-7A07-B0ED-57FC-3E9D07BD0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B411E-BA08-9843-0587-C6C72DC30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905DB-BEE0-68D2-EEFA-E07742A9E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9169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A8ED-8548-0614-0E42-93AF0554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81580-2D0E-3C04-9899-EC7B6A80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8DB9F-DB66-4347-37A8-F9F83151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ED8D0-03E6-86EC-D11E-B407B2560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483E3-1B18-F6C6-5992-CD9D555A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1831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B509-AFBC-05BA-823E-51CA4747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099DF-E9E8-3F78-7261-A56190792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F1B02-7C80-9488-B567-E0B9ED07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765BD-3A1B-146A-EFB3-89162B22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7FEF5-819B-0882-71BF-F7B8CEA27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01196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0152-192B-9363-01D5-58A888B6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5869F-6111-C3AB-29C6-C0441A044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611FA-FA3F-987F-D898-EB5E14692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ED11-2883-0B3E-9FA5-E171EAD2E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58DD0-8677-F9F2-45A7-A8DA7A311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DCD01-0BD7-FF21-60EF-F8F30E7E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0673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77CF3-4000-8097-026D-1DE62376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99D9B-3468-FDDD-28E8-881C625C2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849B5-3BA1-345D-FC0F-9AD6BAD45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8B7CDC-7036-D7F2-05BC-AF33FB614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40CF9-F223-8A0E-6FC5-1B2203DD9E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790BC-C969-5087-F3C7-F9FEC296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BF4C0-5FA5-0163-69B1-8C9530BA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EA4C2-D194-7186-0528-D11FF209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8592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14DF-D1FD-1834-A226-566C11BA2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1009C0-13DC-1478-1AAB-D70460EF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B7C3D-49F0-7BF1-FDBF-7CA3B5D1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EB20F-73CA-F5F8-C82D-3DF21B1C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2169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2C3A37-50FA-F413-2E71-D6ACABCB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FFE08C-7BAC-8633-0559-E0132A90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D7F91-3D2B-C602-98CA-CFAE1D755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4165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4A1D-CCEC-03D2-F88B-109142BDC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97C6A-9EB8-B1B9-E732-44F5491B3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D1333-E459-5A9A-EA58-8A8726242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F4EFD-E787-6F3B-C10F-D753FE45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CC573-278B-1E1C-BCDA-EF49F098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38ACC-7398-7A89-F159-14B15E8F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83059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2BAC-ACE4-A122-D45C-7B1F0EF7C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8C2EC-C91E-B6D8-F53E-FBA44FA3F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8EF76-2920-5728-8495-5306E1BA6E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82AE2-E108-FEB7-48B1-FFD66B18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44978-B150-25B3-A7AF-1315C833A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DD557-1228-7450-9E5D-27B1D32E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18419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BC03-0081-D6C3-104D-975A7E1D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DE6D6-40FA-00D4-C650-B04CFB8D7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613D-06EA-7EA4-FDDA-BF306411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57DD9-6157-DF83-9AD4-A0E7933A8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72DB6-D71E-85E5-2E3E-55094972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2410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D69711-1CC2-53E4-8132-C3DB8DEDE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3F4948-1A5D-6792-955B-0B837F39C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02D2B-0244-E889-0048-A6229AA1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DB1F9-809F-8132-FDAC-AC01DE14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8B7A6-6629-60AE-21A0-C0D9DCF9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967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B8BA7-1BDE-3915-1F85-2A1F6006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C381B-F079-7C9A-905C-FA481789E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2A1AD-0BBB-3D84-5F30-0726C4409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15126-596C-C841-A2AF-9E77D8DDF422}" type="datetimeFigureOut">
              <a:rPr lang="en-GH" smtClean="0"/>
              <a:t>06/05/2026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94C91-87BF-AF8B-F402-E3317D86C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F8A86-814F-0A49-B75B-C977138E0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8B202-2AFF-B540-9861-4FB22BDD5296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432102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7D81-454B-9ED0-B942-8235DD074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DNA Replication, Transcription and Translation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6BFF0-722A-A544-39CA-3BC0FEAF7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GH" dirty="0"/>
              <a:t>Dr. Michael Frimpong</a:t>
            </a:r>
          </a:p>
          <a:p>
            <a:r>
              <a:rPr lang="en-GH" dirty="0"/>
              <a:t>Senior Lecturer, Department of Molecular Medicine</a:t>
            </a:r>
          </a:p>
        </p:txBody>
      </p:sp>
    </p:spTree>
    <p:extLst>
      <p:ext uri="{BB962C8B-B14F-4D97-AF65-F5344CB8AC3E}">
        <p14:creationId xmlns:p14="http://schemas.microsoft.com/office/powerpoint/2010/main" val="345203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C3AC-4007-13BE-19B1-95BBF30CF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Essential 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697B-DB84-CECD-44D7-6C19E3889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Genetic information in DNA can be accurately copied and can be translated to make the proteins needed by the cell.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FE2728-CEF2-A0DA-9246-A6C388232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194" y="2766848"/>
            <a:ext cx="5454869" cy="409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4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AC7C-F8EF-6C13-67FB-AE90D0CF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DNA Replication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BF79C-CDD5-61C4-1AC9-03C2AF288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28" y="1930728"/>
            <a:ext cx="5100145" cy="4351338"/>
          </a:xfrm>
        </p:spPr>
        <p:txBody>
          <a:bodyPr>
            <a:normAutofit/>
          </a:bodyPr>
          <a:lstStyle/>
          <a:p>
            <a:r>
              <a:rPr lang="en-GB" sz="2400" dirty="0"/>
              <a:t>DNA replication is semi-conservative and depends on complementary base pairing. </a:t>
            </a:r>
          </a:p>
          <a:p>
            <a:r>
              <a:rPr lang="en-GB" sz="2400" dirty="0"/>
              <a:t>Helicase unwinds the double helix and separates the two strands by breaking hydrogen bonds.</a:t>
            </a:r>
          </a:p>
          <a:p>
            <a:r>
              <a:rPr lang="en-GB" sz="2400" dirty="0"/>
              <a:t>DNA polymerase links nucleotides together to form a new strand, using the pre-existing strand as a template. </a:t>
            </a:r>
            <a:endParaRPr lang="en-GH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1A916-B521-318F-43DF-F7E8998B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576" y="1788510"/>
            <a:ext cx="5281231" cy="425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49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F311-CF6E-2E02-4752-B64FF8F5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Steps in DNA Replication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D604-EA45-6841-A8CE-9162896DA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4680" cy="4351338"/>
          </a:xfrm>
        </p:spPr>
        <p:txBody>
          <a:bodyPr/>
          <a:lstStyle/>
          <a:p>
            <a:r>
              <a:rPr lang="en-GH" dirty="0"/>
              <a:t>Begins at a specific sequence of nucleotides (</a:t>
            </a:r>
            <a:r>
              <a:rPr lang="en-GH" b="1" dirty="0"/>
              <a:t>Origins of replication</a:t>
            </a:r>
            <a:r>
              <a:rPr lang="en-GH" dirty="0"/>
              <a:t>)</a:t>
            </a:r>
          </a:p>
          <a:p>
            <a:r>
              <a:rPr lang="en-GH" dirty="0"/>
              <a:t>Helicase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 Breaks hydrogen bonds between paired bases.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Unwinds parent DNA strand.</a:t>
            </a:r>
          </a:p>
          <a:p>
            <a:r>
              <a:rPr lang="en-GH" b="1" dirty="0"/>
              <a:t>Single-strand binding proteins </a:t>
            </a:r>
            <a:r>
              <a:rPr lang="en-GH" dirty="0"/>
              <a:t>keep the strands apart.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C1346-9B12-CA10-33CA-A9766B9D4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880" y="1825625"/>
            <a:ext cx="5496560" cy="401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4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9C4EC-8C17-7910-9D17-70787D531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1690688"/>
            <a:ext cx="10515600" cy="4351338"/>
          </a:xfrm>
        </p:spPr>
        <p:txBody>
          <a:bodyPr/>
          <a:lstStyle/>
          <a:p>
            <a:r>
              <a:rPr lang="en-GH" b="1" dirty="0"/>
              <a:t>RNA primer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M</a:t>
            </a:r>
            <a:r>
              <a:rPr lang="en-GH" dirty="0"/>
              <a:t>ust be bound to DNA segment to begin replication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Short segments of RNA (10 nucleotides long) formed by </a:t>
            </a:r>
            <a:r>
              <a:rPr lang="en-GH" b="1" dirty="0"/>
              <a:t>primase.</a:t>
            </a:r>
          </a:p>
          <a:p>
            <a:r>
              <a:rPr lang="en-GH" dirty="0"/>
              <a:t>Free nucleotides </a:t>
            </a:r>
            <a:r>
              <a:rPr lang="en-GH" b="1" dirty="0"/>
              <a:t>(Nucleoside triphosphates) </a:t>
            </a:r>
            <a:r>
              <a:rPr lang="en-GH" dirty="0"/>
              <a:t>bind with complementary bases on unzipped portions of DNA.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New strands grow in the 5’ to 3’ direction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3’ end contains hydroxyl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5’ end contains phosphate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Process is catalyzed by </a:t>
            </a:r>
            <a:r>
              <a:rPr lang="en-GH" b="1" dirty="0"/>
              <a:t>DNA polymerase</a:t>
            </a:r>
            <a:r>
              <a:rPr lang="en-GH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C852C8-52BB-B423-6B53-B521D888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Steps in DNA Replication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958642-AFCA-10B9-858D-4EE7E83E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4094480"/>
            <a:ext cx="5461000" cy="239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50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F0568-B0AB-F5AE-C280-A80CBDE3F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520825"/>
            <a:ext cx="9362440" cy="4351338"/>
          </a:xfrm>
        </p:spPr>
        <p:txBody>
          <a:bodyPr/>
          <a:lstStyle/>
          <a:p>
            <a:r>
              <a:rPr lang="en-GH" dirty="0"/>
              <a:t>DNA Polymerase can only elongate at 3’ end.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Continuous synthesis creates a </a:t>
            </a:r>
            <a:r>
              <a:rPr lang="en-GH" b="1" dirty="0"/>
              <a:t>leading strand.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Discontinuous synthesis of the complementary strand creates a </a:t>
            </a:r>
            <a:r>
              <a:rPr lang="en-GH" b="1" dirty="0"/>
              <a:t>lagging strand.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Lagging strand produces </a:t>
            </a:r>
            <a:r>
              <a:rPr lang="en-GH" b="1" dirty="0"/>
              <a:t>Okazaki fragments.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Fragments are linked by </a:t>
            </a:r>
            <a:r>
              <a:rPr lang="en-GH" b="1" dirty="0"/>
              <a:t>DNA ligase.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DE5B8E-FFD8-2B1A-F6B5-3E85A4E5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Steps in DNA Replication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DB555-22D6-28D5-0334-5CDE416E2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520440"/>
            <a:ext cx="650240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2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81F63-EFB8-782B-9214-4D4C6A45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Polymerase Chain Reaction (PCR)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CEAF2-E0EF-F731-BE59-7FF4A3801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029" y="1929797"/>
            <a:ext cx="6743218" cy="4351338"/>
          </a:xfrm>
        </p:spPr>
        <p:txBody>
          <a:bodyPr/>
          <a:lstStyle/>
          <a:p>
            <a:r>
              <a:rPr lang="en-GH" dirty="0"/>
              <a:t>Uses Taq polymerase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H" dirty="0"/>
              <a:t>A thermostable DNA polymerase named after the thermophile bacterium </a:t>
            </a:r>
            <a:r>
              <a:rPr lang="en-GH" i="1" dirty="0">
                <a:solidFill>
                  <a:srgbClr val="C00000"/>
                </a:solidFill>
              </a:rPr>
              <a:t>T</a:t>
            </a:r>
            <a:r>
              <a:rPr lang="en-GH" i="1" dirty="0"/>
              <a:t>hermus </a:t>
            </a:r>
            <a:r>
              <a:rPr lang="en-GH" i="1" dirty="0">
                <a:solidFill>
                  <a:srgbClr val="C00000"/>
                </a:solidFill>
              </a:rPr>
              <a:t>aq</a:t>
            </a:r>
            <a:r>
              <a:rPr lang="en-GH" i="1" dirty="0"/>
              <a:t>uaticus</a:t>
            </a:r>
          </a:p>
          <a:p>
            <a:r>
              <a:rPr lang="en-GH" dirty="0"/>
              <a:t>Produces large quantities of a specific target sequence of DNA. </a:t>
            </a:r>
          </a:p>
          <a:p>
            <a:r>
              <a:rPr lang="en-GH" dirty="0"/>
              <a:t>It is useful when only a small amount of DNA is available for testing.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1A129-BB50-0552-7B3F-5539EC873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247" y="1790900"/>
            <a:ext cx="4378284" cy="414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49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5054A-F3F0-98B0-5E8D-7D97D8E5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Polymerase Chain Reaction (PCR)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8B888-AE38-33EB-5C1F-E7DE6443A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GH" dirty="0"/>
              <a:t>Occurs in a thermal cycler and involves a repeat procedure of 3 steps.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H" b="1" dirty="0"/>
              <a:t>Denaturation</a:t>
            </a:r>
            <a:r>
              <a:rPr lang="en-GH" dirty="0"/>
              <a:t>: DNA sample is heated to separate it into two strands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H" b="1" dirty="0"/>
              <a:t>Annealing</a:t>
            </a:r>
            <a:r>
              <a:rPr lang="en-GH" dirty="0"/>
              <a:t>: DNA primers attach to opposite ends of the target sequence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H" b="1" dirty="0"/>
              <a:t>Elongation</a:t>
            </a:r>
            <a:r>
              <a:rPr lang="en-GH" dirty="0"/>
              <a:t>: A heat-tolerant DNA polymerase (Taq) copies the strands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003DEF2-9E78-6F1D-198B-D3958E7FA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120" y="1312522"/>
            <a:ext cx="5499080" cy="537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64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3417D-C4EB-8778-471E-55C2947C8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H" dirty="0"/>
              <a:t>One cycle of PCR yields two identical copies of the DNA sequence.</a:t>
            </a:r>
          </a:p>
          <a:p>
            <a:r>
              <a:rPr lang="en-GH" dirty="0"/>
              <a:t>A standard reaction of 30 cycles would yield 1,073,741,826 (2</a:t>
            </a:r>
            <a:r>
              <a:rPr lang="en-GH" baseline="30000" dirty="0"/>
              <a:t>30</a:t>
            </a:r>
            <a:r>
              <a:rPr lang="en-GH" dirty="0"/>
              <a:t>) copies of DNA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DE8DDA-3EA2-9CC0-73B8-21255F36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Polymerase Chain Reaction (PCR)</a:t>
            </a:r>
          </a:p>
        </p:txBody>
      </p:sp>
      <p:pic>
        <p:nvPicPr>
          <p:cNvPr id="6" name="Picture 2" descr="pcrcopies">
            <a:extLst>
              <a:ext uri="{FF2B5EF4-FFF2-40B4-BE49-F238E27FC236}">
                <a16:creationId xmlns:a16="http://schemas.microsoft.com/office/drawing/2014/main" id="{5D0B78DE-AF58-E6ED-9177-35F447CEA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628" y="3428999"/>
            <a:ext cx="8494938" cy="3145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806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8A783-89A9-D181-FFA6-887B22D0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2" y="2890611"/>
            <a:ext cx="10515600" cy="1325563"/>
          </a:xfrm>
        </p:spPr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Transcription</a:t>
            </a:r>
          </a:p>
        </p:txBody>
      </p:sp>
    </p:spTree>
    <p:extLst>
      <p:ext uri="{BB962C8B-B14F-4D97-AF65-F5344CB8AC3E}">
        <p14:creationId xmlns:p14="http://schemas.microsoft.com/office/powerpoint/2010/main" val="425868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CFCE-C5E8-F175-F96D-73EAB6536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Ribonucleic Acid (RNA) 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DCDF9-04DB-0017-4674-A4852C2BF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911"/>
            <a:ext cx="6520543" cy="4351338"/>
          </a:xfrm>
        </p:spPr>
        <p:txBody>
          <a:bodyPr>
            <a:normAutofit/>
          </a:bodyPr>
          <a:lstStyle/>
          <a:p>
            <a:r>
              <a:rPr lang="en-GH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RNA is a single-stranded nucleic acid molecule and </a:t>
            </a:r>
            <a:r>
              <a:rPr lang="en-GB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is made</a:t>
            </a:r>
            <a:r>
              <a:rPr lang="en-GH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up of ribonucleotides</a:t>
            </a:r>
            <a:r>
              <a:rPr lang="en-GH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H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ribose nucleotide in the chain of RNA consists of a ribose sugar, </a:t>
            </a:r>
            <a:r>
              <a:rPr lang="en-GB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phosphate</a:t>
            </a:r>
            <a:r>
              <a:rPr lang="en-GH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group, and a base</a:t>
            </a:r>
            <a:r>
              <a:rPr lang="en-GH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H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 each ribose sugar, one of the four bases is added: Adenine (A), Guanine (G), Cytosine (C), and Uracil (U)</a:t>
            </a:r>
            <a:r>
              <a:rPr lang="en-GH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H" sz="2600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base is attached to a ribose sugar with the help of a phosphodiester bond</a:t>
            </a:r>
            <a:r>
              <a:rPr lang="en-GH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GH" sz="2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45A30A-5697-6B9E-BA46-BA56615F41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575"/>
          <a:stretch/>
        </p:blipFill>
        <p:spPr>
          <a:xfrm>
            <a:off x="7500257" y="1690688"/>
            <a:ext cx="4310743" cy="415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6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F1A9-782A-256C-6F83-01F7189AA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Functions of RNA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7633A-7CFF-174B-F59E-4B79EFFCA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H" dirty="0"/>
              <a:t>Messenger RNA (</a:t>
            </a:r>
            <a:r>
              <a:rPr lang="en-GH" b="1" dirty="0"/>
              <a:t>mRNA</a:t>
            </a:r>
            <a:r>
              <a:rPr lang="en-GH" dirty="0"/>
              <a:t>) </a:t>
            </a:r>
            <a:r>
              <a:rPr lang="en-GB" dirty="0"/>
              <a:t>carries a message from DNA in the nucleus to ribosomes in the</a:t>
            </a:r>
            <a:r>
              <a:rPr lang="en-GH" dirty="0"/>
              <a:t> cytoplasm.</a:t>
            </a:r>
          </a:p>
          <a:p>
            <a:r>
              <a:rPr lang="en-GH" dirty="0"/>
              <a:t>Ribosomal RNA (</a:t>
            </a:r>
            <a:r>
              <a:rPr lang="en-GH" b="1" dirty="0"/>
              <a:t>rRNA</a:t>
            </a:r>
            <a:r>
              <a:rPr lang="en-GH" dirty="0"/>
              <a:t>) and proteins make up </a:t>
            </a:r>
            <a:r>
              <a:rPr lang="en-GB" dirty="0"/>
              <a:t>ribosomes,</a:t>
            </a:r>
            <a:r>
              <a:rPr lang="en-GH" dirty="0"/>
              <a:t> where proteins are synthesized.</a:t>
            </a:r>
          </a:p>
          <a:p>
            <a:r>
              <a:rPr lang="en-GH" dirty="0"/>
              <a:t>Transfer RNA (</a:t>
            </a:r>
            <a:r>
              <a:rPr lang="en-GH" b="1" dirty="0"/>
              <a:t>tRNA</a:t>
            </a:r>
            <a:r>
              <a:rPr lang="en-GH" dirty="0"/>
              <a:t>) </a:t>
            </a:r>
            <a:r>
              <a:rPr lang="en-GB" dirty="0"/>
              <a:t>transports</a:t>
            </a:r>
            <a:r>
              <a:rPr lang="en-GH" dirty="0"/>
              <a:t> amino acids to the ribosomes during protein synthesis.</a:t>
            </a:r>
          </a:p>
          <a:p>
            <a:r>
              <a:rPr lang="en-GH" dirty="0"/>
              <a:t>RNA interference (RNAi)</a:t>
            </a:r>
          </a:p>
          <a:p>
            <a:pPr lvl="2"/>
            <a:r>
              <a:rPr lang="en-GH" sz="2400" dirty="0"/>
              <a:t>Regulation of gene expression at the level of mRNA transcription. </a:t>
            </a:r>
          </a:p>
          <a:p>
            <a:pPr lvl="2"/>
            <a:r>
              <a:rPr lang="en-GH" sz="2400" dirty="0"/>
              <a:t>Includes miRNA (micro) and siRNA (small interfering).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393451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9CDA8-4D29-153E-5656-CF513A912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Transcription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8A439-B2F2-8C8D-6BAF-147809927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37658"/>
            <a:ext cx="5867400" cy="4351338"/>
          </a:xfrm>
        </p:spPr>
        <p:txBody>
          <a:bodyPr>
            <a:normAutofit lnSpcReduction="10000"/>
          </a:bodyPr>
          <a:lstStyle/>
          <a:p>
            <a:r>
              <a:rPr lang="en-GH" dirty="0"/>
              <a:t>Transcription is the synthesis of mRNA copied from the DNA base sequences by RNA polymerase.</a:t>
            </a:r>
          </a:p>
          <a:p>
            <a:endParaRPr lang="en-GH" dirty="0"/>
          </a:p>
          <a:p>
            <a:r>
              <a:rPr lang="en-GH" dirty="0"/>
              <a:t>Takes place in the nucleus. </a:t>
            </a:r>
          </a:p>
          <a:p>
            <a:endParaRPr lang="en-GH" dirty="0"/>
          </a:p>
          <a:p>
            <a:r>
              <a:rPr lang="en-GB" dirty="0"/>
              <a:t>Only one strand of DNA is copied</a:t>
            </a:r>
          </a:p>
          <a:p>
            <a:endParaRPr lang="en-GB" dirty="0"/>
          </a:p>
          <a:p>
            <a:r>
              <a:rPr lang="en-GB" b="1" dirty="0"/>
              <a:t>After transcription, the DNA strands rejoin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75F54-6484-B859-E0FC-201D69AFB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43" y="1937658"/>
            <a:ext cx="5304422" cy="379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67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CA3A7-A4F9-4DA0-D56E-824301F7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Steps in Transcription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A878D-52DF-B4AF-2035-49C648753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GH" dirty="0"/>
              <a:t>DNA unwinds.</a:t>
            </a:r>
          </a:p>
          <a:p>
            <a:r>
              <a:rPr lang="en-GB" b="1" i="1" dirty="0"/>
              <a:t>RNA polymerase </a:t>
            </a:r>
            <a:r>
              <a:rPr lang="en-GB" dirty="0"/>
              <a:t>recognizes a specific DNA sequence called a </a:t>
            </a:r>
            <a:r>
              <a:rPr lang="en-GB" b="1" dirty="0"/>
              <a:t>promoter </a:t>
            </a:r>
            <a:r>
              <a:rPr lang="en-GB" dirty="0"/>
              <a:t>and binds to it.</a:t>
            </a:r>
          </a:p>
          <a:p>
            <a:r>
              <a:rPr lang="en-GB" dirty="0"/>
              <a:t>The promoter identifies the start of a gene, which strand is to be copied, and the direction that it is to be copied.</a:t>
            </a:r>
          </a:p>
          <a:p>
            <a:r>
              <a:rPr lang="en-GB" dirty="0"/>
              <a:t>Complementary bases are assembled (U instead of T).</a:t>
            </a:r>
          </a:p>
          <a:p>
            <a:r>
              <a:rPr lang="en-GB" dirty="0"/>
              <a:t>A </a:t>
            </a:r>
            <a:r>
              <a:rPr lang="en-GB" b="1" i="1" dirty="0"/>
              <a:t>termination code </a:t>
            </a:r>
            <a:r>
              <a:rPr lang="en-GB" dirty="0"/>
              <a:t>in the DNA indicates where transcription will stop.</a:t>
            </a:r>
          </a:p>
          <a:p>
            <a:r>
              <a:rPr lang="en-GB" dirty="0"/>
              <a:t>The mRNA produced is called a </a:t>
            </a:r>
            <a:r>
              <a:rPr lang="en-GB" b="1" i="1" dirty="0"/>
              <a:t>mRNA transcript</a:t>
            </a:r>
            <a:r>
              <a:rPr lang="en-GB" dirty="0"/>
              <a:t>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935301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5626-ED0E-D0AB-7853-66EF7CE54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1885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Post-Transcription</a:t>
            </a:r>
            <a:r>
              <a:rPr lang="en-GH" dirty="0">
                <a:solidFill>
                  <a:srgbClr val="C00000"/>
                </a:solidFill>
              </a:rPr>
              <a:t>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ECF03-BE39-56C5-9198-E5150955A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1815816"/>
            <a:ext cx="6694714" cy="4351338"/>
          </a:xfrm>
        </p:spPr>
        <p:txBody>
          <a:bodyPr/>
          <a:lstStyle/>
          <a:p>
            <a:r>
              <a:rPr lang="en-GB" dirty="0"/>
              <a:t>A cap is added to the 5’ end  (GTP cap – modified guanine)</a:t>
            </a:r>
          </a:p>
          <a:p>
            <a:r>
              <a:rPr lang="en-GB" dirty="0"/>
              <a:t>A poly-A tail (150 to 200 Adenines) is added to the 3’ end of the molecule.</a:t>
            </a:r>
          </a:p>
          <a:p>
            <a:r>
              <a:rPr lang="en-GB" dirty="0"/>
              <a:t>The newly-formed mRNA has regions that do not contain a genetic message (</a:t>
            </a:r>
            <a:r>
              <a:rPr lang="en-GB" b="1" i="1" dirty="0"/>
              <a:t>introns</a:t>
            </a:r>
            <a:r>
              <a:rPr lang="en-GB" dirty="0"/>
              <a:t>) that must be removed.</a:t>
            </a:r>
            <a:endParaRPr lang="en-GH" dirty="0"/>
          </a:p>
          <a:p>
            <a:r>
              <a:rPr lang="en-GB" dirty="0"/>
              <a:t>The remaining portions of mRNA are called exons. They are spliced together to form a </a:t>
            </a:r>
            <a:r>
              <a:rPr lang="en-GB" b="1" dirty="0"/>
              <a:t>mature mRNA transcript</a:t>
            </a:r>
            <a:r>
              <a:rPr lang="en-GB" dirty="0"/>
              <a:t>.</a:t>
            </a:r>
            <a:endParaRPr lang="en-G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1718A2-05C2-1D0A-C792-9EBC5FC5A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71" y="2229474"/>
            <a:ext cx="5076713" cy="305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01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0F183-B361-B556-F82D-B36B3D7BE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The Genetic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5785-9F12-9942-4E97-C08FFA477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3886" cy="4351338"/>
          </a:xfrm>
        </p:spPr>
        <p:txBody>
          <a:bodyPr/>
          <a:lstStyle/>
          <a:p>
            <a:r>
              <a:rPr lang="en-GH" dirty="0"/>
              <a:t>Codons are three sequential bases on mRNA corresponding to one amino acid in a polypeptide.</a:t>
            </a:r>
          </a:p>
          <a:p>
            <a:r>
              <a:rPr lang="en-GH" dirty="0"/>
              <a:t>mRNA triplets (codons) are the </a:t>
            </a:r>
            <a:r>
              <a:rPr lang="en-GH" b="1" dirty="0"/>
              <a:t>genetic code</a:t>
            </a:r>
            <a:r>
              <a:rPr lang="en-GH" dirty="0"/>
              <a:t>. </a:t>
            </a:r>
          </a:p>
          <a:p>
            <a:r>
              <a:rPr lang="en-GH" dirty="0"/>
              <a:t>64 codons (4</a:t>
            </a:r>
            <a:r>
              <a:rPr lang="en-GH" baseline="30000" dirty="0"/>
              <a:t>3 </a:t>
            </a:r>
            <a:r>
              <a:rPr lang="en-GH" dirty="0"/>
              <a:t>– 64) </a:t>
            </a:r>
            <a:r>
              <a:rPr lang="en-GB" dirty="0"/>
              <a:t>code</a:t>
            </a:r>
            <a:r>
              <a:rPr lang="en-GH" dirty="0"/>
              <a:t> for 20 amino acids, one start </a:t>
            </a:r>
            <a:r>
              <a:rPr lang="en-GB" dirty="0"/>
              <a:t>codon,</a:t>
            </a:r>
            <a:r>
              <a:rPr lang="en-GH" dirty="0"/>
              <a:t> and 3 stop codons.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CA304-E373-7F58-279B-2A7AA2CA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916" y="1603547"/>
            <a:ext cx="5310868" cy="462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94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6211-2603-C985-4B76-AACF2C3A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C4164-C7A7-8623-0032-E59721B74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Translation is the process where ribosomes synthesize proteins using the mature mRNA transcript.</a:t>
            </a:r>
          </a:p>
          <a:p>
            <a:r>
              <a:rPr lang="en-GB" dirty="0"/>
              <a:t>Is the synthesis of polypeptides on ribosomes.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Translation depends on complementary base pairing between </a:t>
            </a:r>
            <a:r>
              <a:rPr lang="en-GB" b="1" dirty="0"/>
              <a:t>codons on mRNA </a:t>
            </a:r>
            <a:r>
              <a:rPr lang="en-GB" dirty="0"/>
              <a:t>and </a:t>
            </a:r>
            <a:r>
              <a:rPr lang="en-GB" b="1" dirty="0"/>
              <a:t>anticodons on tRNA</a:t>
            </a:r>
            <a:r>
              <a:rPr lang="en-GB" dirty="0"/>
              <a:t>.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E69BB-942E-BE44-BEB2-D0AA1DEFB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6" y="3311159"/>
            <a:ext cx="9383486" cy="148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2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43D9-8B3B-2DA9-BC54-2DF5ABC29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Steps in Translation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33D77A-0713-8920-40B0-62A24FFE99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443184"/>
            <a:ext cx="4116071" cy="345687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3452D-4494-3990-3C8A-5A3942883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5171" y="1847397"/>
            <a:ext cx="7315200" cy="4351338"/>
          </a:xfrm>
        </p:spPr>
        <p:txBody>
          <a:bodyPr>
            <a:normAutofit/>
          </a:bodyPr>
          <a:lstStyle/>
          <a:p>
            <a:r>
              <a:rPr lang="en-GB" sz="2400" dirty="0"/>
              <a:t>Ribosomes bind to mRNA in the cytoplasm and move along the molecule in a 5’ – 3’ direction until it reaches a start codon (AUG). </a:t>
            </a:r>
          </a:p>
          <a:p>
            <a:r>
              <a:rPr lang="en-GB" sz="2400" dirty="0"/>
              <a:t>Anticodons on tRNA molecules align opposite appropriate codons according to complementary base pairing (e.g. AUG = UAC).</a:t>
            </a:r>
          </a:p>
          <a:p>
            <a:r>
              <a:rPr lang="en-GB" sz="2400" dirty="0"/>
              <a:t>Each tRNA molecule carries a specific amino acid (according to the genetic code).</a:t>
            </a:r>
          </a:p>
          <a:p>
            <a:r>
              <a:rPr lang="en-GB" sz="2400" dirty="0"/>
              <a:t>Ribosomes catalyse the formation of peptide bonds between adjacent amino acids 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3822214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5A053-4D80-6005-50B4-F939D41F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1008-5278-FA6C-EEB1-5F7E6CB9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Steps in Translation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31A961-41C7-A54F-A9C0-A0F88EEFED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443184"/>
            <a:ext cx="4116071" cy="3456873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E2414-0732-441F-4DC5-4247035B6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65171" y="1847397"/>
            <a:ext cx="7315200" cy="4351338"/>
          </a:xfrm>
        </p:spPr>
        <p:txBody>
          <a:bodyPr>
            <a:normAutofit/>
          </a:bodyPr>
          <a:lstStyle/>
          <a:p>
            <a:r>
              <a:rPr lang="en-GB" sz="2400" dirty="0"/>
              <a:t>The ribosome moves along the mRNA molecule, synthesising a polypeptide chain until it reaches a stop codon.</a:t>
            </a:r>
          </a:p>
          <a:p>
            <a:r>
              <a:rPr lang="en-GB" sz="2400" dirty="0"/>
              <a:t>Release factor protein binds to stop codon. </a:t>
            </a:r>
          </a:p>
          <a:p>
            <a:r>
              <a:rPr lang="en-GB" sz="2400" dirty="0"/>
              <a:t>The polypeptide is enzymatically cleaved from the last tRNA.</a:t>
            </a:r>
          </a:p>
          <a:p>
            <a:r>
              <a:rPr lang="en-GB" sz="2400" dirty="0"/>
              <a:t>At this point translation ceases and the polypeptide chain is released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2588951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EB68-F6C4-B1FA-757F-29DFD44E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2" y="2766218"/>
            <a:ext cx="10515600" cy="1325563"/>
          </a:xfrm>
        </p:spPr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Recombinant DNA Techniques </a:t>
            </a:r>
          </a:p>
        </p:txBody>
      </p:sp>
    </p:spTree>
    <p:extLst>
      <p:ext uri="{BB962C8B-B14F-4D97-AF65-F5344CB8AC3E}">
        <p14:creationId xmlns:p14="http://schemas.microsoft.com/office/powerpoint/2010/main" val="350407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144A-AAC1-C7E4-FCFB-9AC156B08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Constructing Novel DNA Molecules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430B-362C-9950-A702-00F5AF3EF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009435" cy="4351338"/>
          </a:xfrm>
        </p:spPr>
        <p:txBody>
          <a:bodyPr/>
          <a:lstStyle/>
          <a:p>
            <a:r>
              <a:rPr lang="en-GH" b="1" dirty="0"/>
              <a:t>Recombinant DNA molecules </a:t>
            </a:r>
            <a:r>
              <a:rPr lang="en-GH" dirty="0"/>
              <a:t>(i.e., </a:t>
            </a:r>
            <a:r>
              <a:rPr lang="en-GH" dirty="0">
                <a:solidFill>
                  <a:srgbClr val="002060"/>
                </a:solidFill>
              </a:rPr>
              <a:t>DNA molecules/sequences that are not naturally occuring</a:t>
            </a:r>
            <a:r>
              <a:rPr lang="en-GH" dirty="0"/>
              <a:t> and </a:t>
            </a:r>
            <a:r>
              <a:rPr lang="en-GH" dirty="0">
                <a:solidFill>
                  <a:schemeClr val="accent6">
                    <a:lumMod val="75000"/>
                  </a:schemeClr>
                </a:solidFill>
              </a:rPr>
              <a:t>artificially made in a lab</a:t>
            </a:r>
            <a:r>
              <a:rPr lang="en-GH" dirty="0"/>
              <a:t>) are often created by taking two different pieces of DNA and ‘gluing’ them together with LIGASE. </a:t>
            </a:r>
          </a:p>
          <a:p>
            <a:pPr lvl="1"/>
            <a:r>
              <a:rPr lang="en-GH" sz="2800" dirty="0"/>
              <a:t>These can be from different organisms, be synthesized</a:t>
            </a:r>
          </a:p>
          <a:p>
            <a:r>
              <a:rPr lang="en-GB" sz="3200" dirty="0"/>
              <a:t>W</a:t>
            </a:r>
            <a:r>
              <a:rPr lang="en-GH" sz="3200" dirty="0"/>
              <a:t>ith PCR, RE digestions, Cloning,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37E7F-67C7-B8D3-C581-832D731AA8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93"/>
          <a:stretch/>
        </p:blipFill>
        <p:spPr>
          <a:xfrm>
            <a:off x="8484241" y="1353585"/>
            <a:ext cx="3251279" cy="529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51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4175-6751-3CFE-DB69-63AED574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Overview of Plasmids/Vectors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08A84-6422-68F4-6E75-56D0E040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6" y="1690688"/>
            <a:ext cx="5110290" cy="4150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CE536-FBD2-7726-575B-74BB04E87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04638"/>
            <a:ext cx="5661565" cy="35365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8374A0-05AA-0CA8-67A1-E1006E8C2E5F}"/>
              </a:ext>
            </a:extLst>
          </p:cNvPr>
          <p:cNvSpPr txBox="1"/>
          <p:nvPr/>
        </p:nvSpPr>
        <p:spPr>
          <a:xfrm>
            <a:off x="749311" y="1377395"/>
            <a:ext cx="7854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H" sz="2800" dirty="0"/>
              <a:t>Plasmids are circular double-stranded DNA Molecule</a:t>
            </a:r>
          </a:p>
        </p:txBody>
      </p:sp>
    </p:spTree>
    <p:extLst>
      <p:ext uri="{BB962C8B-B14F-4D97-AF65-F5344CB8AC3E}">
        <p14:creationId xmlns:p14="http://schemas.microsoft.com/office/powerpoint/2010/main" val="378870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070A-F1D7-64E1-B053-55ACACB2F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Overview of Cloning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293B1-3D6A-06F1-EF21-8E11C91E4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726" y="1690688"/>
            <a:ext cx="3574284" cy="47435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9EC6CB-8E77-815E-DBCE-BB44A5781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710" y="1555369"/>
            <a:ext cx="4418737" cy="521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9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E1F85-CFD4-66C8-2B1A-C6F825A7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Restriction Enzymes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80D2-2A3F-75B5-07CF-F5E05847CC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H" dirty="0"/>
              <a:t>These are proteins that cut DNA molecules at specific nucleotide sequences.</a:t>
            </a:r>
          </a:p>
          <a:p>
            <a:pPr lvl="1"/>
            <a:r>
              <a:rPr lang="en-GH" dirty="0"/>
              <a:t>Bind to specific sequence (6-mers)</a:t>
            </a:r>
          </a:p>
          <a:p>
            <a:pPr lvl="1"/>
            <a:r>
              <a:rPr lang="en-GH" dirty="0"/>
              <a:t>Cut (Blunt or sticky end)</a:t>
            </a:r>
          </a:p>
          <a:p>
            <a:pPr lvl="1"/>
            <a:endParaRPr lang="en-GH" dirty="0"/>
          </a:p>
          <a:p>
            <a:r>
              <a:rPr lang="en-GH" dirty="0"/>
              <a:t>RE have palindromic sequences</a:t>
            </a:r>
          </a:p>
          <a:p>
            <a:r>
              <a:rPr lang="en-GH" dirty="0"/>
              <a:t>RE create double strand breaks when they cut.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CAA18-5398-85B5-06A5-5F887265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350" y="1169827"/>
            <a:ext cx="427261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74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A0C6017-7178-CC5F-2DA0-645E77C5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Restriction Enzymes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22DB10-A7B3-3280-610D-C876CD4C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61" y="1575836"/>
            <a:ext cx="6545242" cy="50069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46149E-76B0-F9B6-D505-7C408E024EA4}"/>
              </a:ext>
            </a:extLst>
          </p:cNvPr>
          <p:cNvSpPr txBox="1"/>
          <p:nvPr/>
        </p:nvSpPr>
        <p:spPr>
          <a:xfrm>
            <a:off x="7556018" y="2370228"/>
            <a:ext cx="44237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H" sz="2800" dirty="0"/>
              <a:t>RE do not cut methylated DNA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H" sz="2800" dirty="0"/>
              <a:t>In order to prevent bacterial cut genome in nature, restriction sites are methylated</a:t>
            </a:r>
          </a:p>
        </p:txBody>
      </p:sp>
    </p:spTree>
    <p:extLst>
      <p:ext uri="{BB962C8B-B14F-4D97-AF65-F5344CB8AC3E}">
        <p14:creationId xmlns:p14="http://schemas.microsoft.com/office/powerpoint/2010/main" val="795226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61F6-99CD-11F1-4B96-AC96317E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Cloning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90727-324C-FFC7-D3AE-42203B50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20" y="1130148"/>
            <a:ext cx="7772400" cy="51780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8AE37D-2EB7-8DD6-BF2B-9440EE42B0E4}"/>
              </a:ext>
            </a:extLst>
          </p:cNvPr>
          <p:cNvSpPr txBox="1"/>
          <p:nvPr/>
        </p:nvSpPr>
        <p:spPr>
          <a:xfrm>
            <a:off x="665544" y="6308209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H" dirty="0"/>
              <a:t>https://www.youtube.com/watch?v=KRpik9mNRm0</a:t>
            </a:r>
          </a:p>
        </p:txBody>
      </p:sp>
    </p:spTree>
    <p:extLst>
      <p:ext uri="{BB962C8B-B14F-4D97-AF65-F5344CB8AC3E}">
        <p14:creationId xmlns:p14="http://schemas.microsoft.com/office/powerpoint/2010/main" val="5960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BB17-6611-F048-7615-BB6E9BF16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557" y="191505"/>
            <a:ext cx="10515600" cy="1325563"/>
          </a:xfrm>
        </p:spPr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Cloning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1EA47-848E-205A-C2D9-D1AFEFBF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19" y="365125"/>
            <a:ext cx="5661586" cy="644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07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AF13-620B-C1C5-A766-A8A6CB75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H" dirty="0">
                <a:solidFill>
                  <a:srgbClr val="C00000"/>
                </a:solidFill>
              </a:rPr>
              <a:t>Recombinant DNA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02EFDF-BFE8-1CA7-871B-8CFD9AC686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7829" y="1975043"/>
            <a:ext cx="5181600" cy="387833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C2F0E-EDCA-EBB5-3566-C8C6FFB7D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6371" y="1825625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The gene responsible for insulin production is extracted from a human cell.</a:t>
            </a:r>
          </a:p>
          <a:p>
            <a:r>
              <a:rPr lang="en-GB" sz="2400" dirty="0"/>
              <a:t>It is spliced into a plasmid vector before being inserted into a bacterial cell. </a:t>
            </a:r>
          </a:p>
          <a:p>
            <a:r>
              <a:rPr lang="en-GB" sz="2400" dirty="0"/>
              <a:t>The transgenic bacteria (typically E. coli) are then selected and cultured in a fermentation tank. </a:t>
            </a:r>
          </a:p>
          <a:p>
            <a:r>
              <a:rPr lang="en-GB" sz="2400" dirty="0"/>
              <a:t>The bacteria now produce human insulin, which is harvested, purified and packaged for human use (i.e. by diabetics). </a:t>
            </a:r>
          </a:p>
        </p:txBody>
      </p:sp>
    </p:spTree>
    <p:extLst>
      <p:ext uri="{BB962C8B-B14F-4D97-AF65-F5344CB8AC3E}">
        <p14:creationId xmlns:p14="http://schemas.microsoft.com/office/powerpoint/2010/main" val="973958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2B6C-F657-7C87-544C-086ADECF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>
                <a:solidFill>
                  <a:srgbClr val="C00000"/>
                </a:solidFill>
              </a:rPr>
              <a:t>Applications of Recombinant DNA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740F-2551-1099-0FCB-FF4E3F0A6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H" b="1" dirty="0"/>
              <a:t>Disease Diagnosis</a:t>
            </a:r>
            <a:r>
              <a:rPr lang="en-GH" dirty="0"/>
              <a:t>: </a:t>
            </a:r>
            <a:r>
              <a:rPr lang="en-GB" dirty="0"/>
              <a:t>It aids in the diagnosis of genetic diseases and cancers by identifying specific DNA sequences associated with these conditions.</a:t>
            </a:r>
          </a:p>
          <a:p>
            <a:endParaRPr lang="en-GB" dirty="0"/>
          </a:p>
          <a:p>
            <a:r>
              <a:rPr lang="en-GB" b="1" dirty="0"/>
              <a:t>Gene therapy</a:t>
            </a:r>
            <a:r>
              <a:rPr lang="en-GB" dirty="0"/>
              <a:t>: This involves inserting new genes into a patient's cells to replace defective ones, potentially treating genetic disorders.</a:t>
            </a:r>
          </a:p>
          <a:p>
            <a:endParaRPr lang="en-GB" dirty="0"/>
          </a:p>
          <a:p>
            <a:r>
              <a:rPr lang="en-GB" b="1" dirty="0"/>
              <a:t>Vaccine Development</a:t>
            </a:r>
            <a:r>
              <a:rPr lang="en-GB" dirty="0"/>
              <a:t>: It is used to produce subunit vaccines, which contain specific parts of a pathogen's proteins, triggering an immune response without exposing individuals to the full pathogen.</a:t>
            </a:r>
          </a:p>
        </p:txBody>
      </p:sp>
    </p:spTree>
    <p:extLst>
      <p:ext uri="{BB962C8B-B14F-4D97-AF65-F5344CB8AC3E}">
        <p14:creationId xmlns:p14="http://schemas.microsoft.com/office/powerpoint/2010/main" val="1932118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1557</Words>
  <Application>Microsoft Macintosh PowerPoint</Application>
  <PresentationFormat>Widescreen</PresentationFormat>
  <Paragraphs>153</Paragraphs>
  <Slides>29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Office Theme</vt:lpstr>
      <vt:lpstr>DNA Replication, Transcription and Translation</vt:lpstr>
      <vt:lpstr>Essential idea:</vt:lpstr>
      <vt:lpstr>DNA Replication Overview</vt:lpstr>
      <vt:lpstr>Steps in DNA Replication</vt:lpstr>
      <vt:lpstr>Steps in DNA Replication</vt:lpstr>
      <vt:lpstr>Steps in DNA Replication</vt:lpstr>
      <vt:lpstr>Polymerase Chain Reaction (PCR)</vt:lpstr>
      <vt:lpstr>Polymerase Chain Reaction (PCR)</vt:lpstr>
      <vt:lpstr>Polymerase Chain Reaction (PCR)</vt:lpstr>
      <vt:lpstr>Transcription</vt:lpstr>
      <vt:lpstr>Ribonucleic Acid (RNA) </vt:lpstr>
      <vt:lpstr>Functions of RNA</vt:lpstr>
      <vt:lpstr>Transcription Overview</vt:lpstr>
      <vt:lpstr>Steps in Transcription</vt:lpstr>
      <vt:lpstr>Post-Transcription Modification</vt:lpstr>
      <vt:lpstr>The Genetic Code</vt:lpstr>
      <vt:lpstr>Translation</vt:lpstr>
      <vt:lpstr>Steps in Translation</vt:lpstr>
      <vt:lpstr>Steps in Translation</vt:lpstr>
      <vt:lpstr>Recombinant DNA Techniques </vt:lpstr>
      <vt:lpstr>Constructing Novel DNA Molecules</vt:lpstr>
      <vt:lpstr>Overview of Plasmids/Vectors</vt:lpstr>
      <vt:lpstr>Overview of Cloning</vt:lpstr>
      <vt:lpstr>Restriction Enzymes</vt:lpstr>
      <vt:lpstr>Restriction Enzymes</vt:lpstr>
      <vt:lpstr>Cloning</vt:lpstr>
      <vt:lpstr>Cloning</vt:lpstr>
      <vt:lpstr>Recombinant DNA application</vt:lpstr>
      <vt:lpstr>Applications of Recombinant DNA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Frimpong</dc:creator>
  <cp:lastModifiedBy>Michael Frimpong</cp:lastModifiedBy>
  <cp:revision>12</cp:revision>
  <dcterms:created xsi:type="dcterms:W3CDTF">2026-04-24T14:08:08Z</dcterms:created>
  <dcterms:modified xsi:type="dcterms:W3CDTF">2026-05-06T07:55:01Z</dcterms:modified>
</cp:coreProperties>
</file>