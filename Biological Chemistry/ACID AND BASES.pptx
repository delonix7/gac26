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8"/>
  </p:notesMasterIdLst>
  <p:sldIdLst>
    <p:sldId id="309" r:id="rId2"/>
    <p:sldId id="275" r:id="rId3"/>
    <p:sldId id="287" r:id="rId4"/>
    <p:sldId id="276" r:id="rId5"/>
    <p:sldId id="288" r:id="rId6"/>
    <p:sldId id="293" r:id="rId7"/>
    <p:sldId id="289" r:id="rId8"/>
    <p:sldId id="290" r:id="rId9"/>
    <p:sldId id="291" r:id="rId10"/>
    <p:sldId id="292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281" r:id="rId23"/>
    <p:sldId id="257" r:id="rId24"/>
    <p:sldId id="282" r:id="rId25"/>
    <p:sldId id="283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306" r:id="rId42"/>
    <p:sldId id="307" r:id="rId43"/>
    <p:sldId id="308" r:id="rId44"/>
    <p:sldId id="278" r:id="rId45"/>
    <p:sldId id="279" r:id="rId46"/>
    <p:sldId id="277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71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8" autoAdjust="0"/>
    <p:restoredTop sz="94660"/>
  </p:normalViewPr>
  <p:slideViewPr>
    <p:cSldViewPr snapToGrid="0">
      <p:cViewPr varScale="1">
        <p:scale>
          <a:sx n="66" d="100"/>
          <a:sy n="66" d="100"/>
        </p:scale>
        <p:origin x="516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D3BD4-E2DE-4752-88A5-04655EBAF4A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D4457D-D584-4A54-B718-41587300F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26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E7604-DF1E-4B6F-81E8-68F44BE4570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79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0700-799C-4421-8D96-B27DDDC58B85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2161-BBAA-4EF2-A587-0E5515FC4D20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2440" y="307011"/>
            <a:ext cx="6787025" cy="29860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02440" y="3883454"/>
            <a:ext cx="6787025" cy="79228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3411" y="5266097"/>
            <a:ext cx="1482526" cy="365125"/>
          </a:xfrm>
        </p:spPr>
        <p:txBody>
          <a:bodyPr/>
          <a:lstStyle/>
          <a:p>
            <a:fld id="{B54443D7-F2FB-4481-BB67-84F57D6C1D34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71167" y="5266096"/>
            <a:ext cx="202653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62931" y="5266095"/>
            <a:ext cx="2026534" cy="365125"/>
          </a:xfrm>
        </p:spPr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4F20-1C8D-47C0-A0B5-265646562D82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B083B-7D55-4A23-8AE1-236459B2105C}" type="datetime1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AEFBD-FEB3-486C-A911-D1B305CCB571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E3A29-AED9-428C-96E5-51238774F769}" type="datetime1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51ED1-F6CD-46CB-8A4D-BF297D02ADDB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8BF11-36BD-4FAD-A88C-CCA763A044CC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1FEF-3B0E-4862-8DA2-0FD74473BB46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F7DF1-03A8-4802-9938-9701E0D79661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089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71081"/>
            <a:ext cx="10515600" cy="4277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194F1-0580-4311-A49B-1ABED12DD8AE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>
              <a:lumMod val="50000"/>
            </a:schemeClr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EF596-529B-78F0-A4D0-DC9DC3B25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318" y="1067407"/>
            <a:ext cx="6787025" cy="298608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GAC 175: BIOLOGICAL CHEMISTRY</a:t>
            </a:r>
            <a:b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itchFamily="34" charset="0"/>
              </a:rPr>
            </a:br>
            <a:br>
              <a:rPr lang="en-GB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67382-2F5E-1E1A-0819-E6CAE5E2F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 Amma Larbi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DF68D-70A2-5CAC-1B98-3E18CC7B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72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8270" y="1729274"/>
            <a:ext cx="6943811" cy="221841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 AND BASES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14852" y="4357061"/>
            <a:ext cx="7100595" cy="1371774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Amma Larbi, PhD</a:t>
            </a:r>
          </a:p>
        </p:txBody>
      </p:sp>
      <p:sp>
        <p:nvSpPr>
          <p:cNvPr id="6" name="Text Placeholder 2"/>
          <p:cNvSpPr txBox="1"/>
          <p:nvPr/>
        </p:nvSpPr>
        <p:spPr>
          <a:xfrm>
            <a:off x="4902438" y="4542392"/>
            <a:ext cx="6787025" cy="10011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19969-3EC4-7ACF-AAC4-E77CFB99B6F2}"/>
              </a:ext>
            </a:extLst>
          </p:cNvPr>
          <p:cNvSpPr txBox="1"/>
          <p:nvPr/>
        </p:nvSpPr>
        <p:spPr>
          <a:xfrm>
            <a:off x="11912081" y="6298163"/>
            <a:ext cx="559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3F1A9-777C-A812-2F31-4C3AB9C9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DE11B-5928-8B78-0E17-84710929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5505"/>
            <a:ext cx="10515600" cy="1018170"/>
          </a:xfrm>
        </p:spPr>
        <p:txBody>
          <a:bodyPr/>
          <a:lstStyle/>
          <a:p>
            <a:pPr algn="ctr"/>
            <a:r>
              <a:rPr lang="en-US" dirty="0"/>
              <a:t>FOCUS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A13307-F57B-02CA-39ED-A6A116C7A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8C4E91-7FC0-91FE-343E-E433F6206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901" y="1154695"/>
            <a:ext cx="9810198" cy="52578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This lecture will focus on;</a:t>
            </a:r>
          </a:p>
          <a:p>
            <a:pPr marL="0" indent="0" algn="just">
              <a:buNone/>
            </a:pPr>
            <a:endParaRPr lang="en-US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The various concepts/theories on acids and bases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How to calculate pH and acid/base dissociation constants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How to determine the strength of acids and bases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Measurement of pH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Buffers and their mode of operation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How to calculate the pH of buffers and buffer capacity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The mechanism of some physiological buffers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19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6694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CORE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26CD8-314A-CD3E-B1D1-154A39F8D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8536" y="1170640"/>
            <a:ext cx="10515600" cy="4059382"/>
          </a:xfrm>
        </p:spPr>
        <p:txBody>
          <a:bodyPr>
            <a:normAutofit/>
          </a:bodyPr>
          <a:lstStyle/>
          <a:p>
            <a:pPr lvl="2"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2"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2"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4800" dirty="0"/>
              <a:t>Arrhenius Concept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4800" dirty="0"/>
              <a:t>Bronsted-Lowry Concept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4800" dirty="0"/>
              <a:t>Lewis Concept</a:t>
            </a:r>
          </a:p>
          <a:p>
            <a:pPr marL="0" indent="0">
              <a:lnSpc>
                <a:spcPct val="170000"/>
              </a:lnSpc>
              <a:buNone/>
            </a:pPr>
            <a:endParaRPr lang="en-US" sz="12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sz="2400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sz="2400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sz="2400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sz="2400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400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2BDB2-8B74-4567-83DA-8535DEB61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CB1F0-80CD-60F2-F9EA-C78A3D2727F8}"/>
              </a:ext>
            </a:extLst>
          </p:cNvPr>
          <p:cNvSpPr txBox="1"/>
          <p:nvPr/>
        </p:nvSpPr>
        <p:spPr>
          <a:xfrm>
            <a:off x="11863873" y="6368143"/>
            <a:ext cx="480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56ABD-78B8-0C7B-A931-948ADA00B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A906C-0B51-452A-B42B-063841405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Arrhenius Concept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243AD-B6DE-06A1-9FA0-F99734665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614" y="1821365"/>
            <a:ext cx="10756770" cy="3612301"/>
          </a:xfrm>
        </p:spPr>
        <p:txBody>
          <a:bodyPr>
            <a:normAutofit fontScale="85000" lnSpcReduction="20000"/>
          </a:bodyPr>
          <a:lstStyle/>
          <a:p>
            <a:pPr lvl="0" algn="just"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dirty="0"/>
              <a:t>An </a:t>
            </a:r>
            <a:r>
              <a:rPr lang="en-US" b="1" dirty="0">
                <a:solidFill>
                  <a:srgbClr val="FF0000"/>
                </a:solidFill>
              </a:rPr>
              <a:t>acid</a:t>
            </a:r>
            <a:r>
              <a:rPr lang="en-US" b="1" dirty="0"/>
              <a:t> </a:t>
            </a:r>
            <a:r>
              <a:rPr lang="en-US" dirty="0"/>
              <a:t>is a substance that releases </a:t>
            </a:r>
            <a:r>
              <a:rPr lang="en-US" b="1" dirty="0">
                <a:solidFill>
                  <a:srgbClr val="FF0000"/>
                </a:solidFill>
              </a:rPr>
              <a:t>hydrogen ions (H</a:t>
            </a:r>
            <a:r>
              <a:rPr lang="en-US" b="1" baseline="30000" dirty="0">
                <a:solidFill>
                  <a:srgbClr val="FF0000"/>
                </a:solidFill>
              </a:rPr>
              <a:t>+</a:t>
            </a:r>
            <a:r>
              <a:rPr lang="en-US" b="1" dirty="0">
                <a:solidFill>
                  <a:srgbClr val="FF0000"/>
                </a:solidFill>
              </a:rPr>
              <a:t>) </a:t>
            </a:r>
            <a:r>
              <a:rPr lang="en-US" dirty="0"/>
              <a:t>when dissolved in water </a:t>
            </a:r>
          </a:p>
          <a:p>
            <a:pPr marL="0" lvl="0" indent="0" algn="just">
              <a:spcBef>
                <a:spcPts val="0"/>
              </a:spcBef>
              <a:buClrTx/>
              <a:buSzTx/>
              <a:buNone/>
              <a:defRPr/>
            </a:pPr>
            <a:r>
              <a:rPr lang="en-US" dirty="0"/>
              <a:t>			HCl</a:t>
            </a:r>
            <a:r>
              <a:rPr lang="en-US" baseline="-25000" dirty="0"/>
              <a:t>(</a:t>
            </a:r>
            <a:r>
              <a:rPr lang="en-US" baseline="-25000" dirty="0" err="1"/>
              <a:t>aq</a:t>
            </a:r>
            <a:r>
              <a:rPr lang="en-US" baseline="-25000" dirty="0"/>
              <a:t>)</a:t>
            </a:r>
            <a:r>
              <a:rPr lang="en-US" dirty="0"/>
              <a:t>→H</a:t>
            </a:r>
            <a:r>
              <a:rPr lang="en-US" baseline="30000" dirty="0"/>
              <a:t>+</a:t>
            </a:r>
            <a:r>
              <a:rPr lang="en-US" baseline="-25000" dirty="0"/>
              <a:t>(</a:t>
            </a:r>
            <a:r>
              <a:rPr lang="en-US" baseline="-25000" dirty="0" err="1"/>
              <a:t>aq</a:t>
            </a:r>
            <a:r>
              <a:rPr lang="en-US" baseline="-25000" dirty="0"/>
              <a:t>)</a:t>
            </a:r>
            <a:r>
              <a:rPr lang="en-US" dirty="0"/>
              <a:t> + Cl</a:t>
            </a:r>
            <a:r>
              <a:rPr lang="en-US" baseline="30000" dirty="0"/>
              <a:t>-</a:t>
            </a:r>
            <a:r>
              <a:rPr lang="en-US" baseline="-25000" dirty="0"/>
              <a:t>(</a:t>
            </a:r>
            <a:r>
              <a:rPr lang="en-US" baseline="-25000" dirty="0" err="1"/>
              <a:t>aq</a:t>
            </a:r>
            <a:r>
              <a:rPr lang="en-US" baseline="-25000" dirty="0"/>
              <a:t>)</a:t>
            </a:r>
          </a:p>
          <a:p>
            <a:pPr marL="0" lvl="0" indent="0" algn="just">
              <a:spcBef>
                <a:spcPts val="0"/>
              </a:spcBef>
              <a:buClrTx/>
              <a:buSzTx/>
              <a:buNone/>
              <a:defRPr/>
            </a:pPr>
            <a:endParaRPr lang="en-US" baseline="-25000" dirty="0"/>
          </a:p>
          <a:p>
            <a:pPr marL="0" lvl="0" indent="0" algn="just">
              <a:spcBef>
                <a:spcPts val="0"/>
              </a:spcBef>
              <a:buClrTx/>
              <a:buSzTx/>
              <a:buNone/>
              <a:defRPr/>
            </a:pPr>
            <a:endParaRPr lang="en-US" baseline="-25000" dirty="0"/>
          </a:p>
          <a:p>
            <a:pPr lvl="0" algn="just"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base</a:t>
            </a:r>
            <a:r>
              <a:rPr lang="en-US" dirty="0"/>
              <a:t> is a substance that releases </a:t>
            </a:r>
            <a:r>
              <a:rPr lang="en-US" b="1" dirty="0">
                <a:solidFill>
                  <a:srgbClr val="FF0000"/>
                </a:solidFill>
              </a:rPr>
              <a:t>hydroxide ions (OH</a:t>
            </a:r>
            <a:r>
              <a:rPr lang="en-US" b="1" baseline="30000" dirty="0">
                <a:solidFill>
                  <a:srgbClr val="FF0000"/>
                </a:solidFill>
              </a:rPr>
              <a:t>-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b="1" dirty="0"/>
              <a:t> </a:t>
            </a:r>
            <a:r>
              <a:rPr lang="en-US" dirty="0"/>
              <a:t>when dissolved in water </a:t>
            </a:r>
          </a:p>
          <a:p>
            <a:pPr marL="0" lvl="0" indent="0" algn="just">
              <a:spcBef>
                <a:spcPts val="0"/>
              </a:spcBef>
              <a:buClrTx/>
              <a:buSzTx/>
              <a:buNone/>
              <a:defRPr/>
            </a:pPr>
            <a:r>
              <a:rPr lang="en-US" dirty="0"/>
              <a:t>		      NaOH</a:t>
            </a:r>
            <a:r>
              <a:rPr lang="en-US" baseline="-25000" dirty="0"/>
              <a:t>(</a:t>
            </a:r>
            <a:r>
              <a:rPr lang="en-US" baseline="-25000" dirty="0" err="1"/>
              <a:t>aq</a:t>
            </a:r>
            <a:r>
              <a:rPr lang="en-US" baseline="-25000" dirty="0"/>
              <a:t>)</a:t>
            </a:r>
            <a:r>
              <a:rPr lang="en-US" dirty="0"/>
              <a:t>→Na</a:t>
            </a:r>
            <a:r>
              <a:rPr lang="en-US" baseline="30000" dirty="0"/>
              <a:t>+</a:t>
            </a:r>
            <a:r>
              <a:rPr lang="en-US" baseline="-25000" dirty="0"/>
              <a:t>(</a:t>
            </a:r>
            <a:r>
              <a:rPr lang="en-US" baseline="-25000" dirty="0" err="1"/>
              <a:t>aq</a:t>
            </a:r>
            <a:r>
              <a:rPr lang="en-US" baseline="-25000" dirty="0"/>
              <a:t>)</a:t>
            </a:r>
            <a:r>
              <a:rPr lang="en-US" dirty="0"/>
              <a:t> + OH</a:t>
            </a:r>
            <a:r>
              <a:rPr lang="en-US" baseline="30000" dirty="0"/>
              <a:t>-</a:t>
            </a:r>
            <a:r>
              <a:rPr lang="en-US" baseline="-25000" dirty="0"/>
              <a:t>(</a:t>
            </a:r>
            <a:r>
              <a:rPr lang="en-US" baseline="-25000" dirty="0" err="1"/>
              <a:t>aq</a:t>
            </a:r>
            <a:r>
              <a:rPr lang="en-US" baseline="-25000" dirty="0"/>
              <a:t>)</a:t>
            </a:r>
          </a:p>
          <a:p>
            <a:pPr marL="0" lvl="0" indent="0" algn="just">
              <a:spcBef>
                <a:spcPts val="0"/>
              </a:spcBef>
              <a:buClrTx/>
              <a:buSzTx/>
              <a:buNone/>
              <a:defRPr/>
            </a:pPr>
            <a:endParaRPr lang="en-US" baseline="-25000" dirty="0"/>
          </a:p>
          <a:p>
            <a:pPr marL="0" lvl="0" indent="0" algn="just">
              <a:spcBef>
                <a:spcPts val="0"/>
              </a:spcBef>
              <a:buClrTx/>
              <a:buSzTx/>
              <a:buNone/>
              <a:defRPr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Limitations</a:t>
            </a:r>
          </a:p>
          <a:p>
            <a:pPr marL="0" indent="0" algn="just">
              <a:buNone/>
            </a:pPr>
            <a:r>
              <a:rPr lang="en-US" dirty="0"/>
              <a:t>1. Applies to water only (Free OH</a:t>
            </a:r>
            <a:r>
              <a:rPr lang="en-US" baseline="30000" dirty="0"/>
              <a:t>- </a:t>
            </a:r>
            <a:r>
              <a:rPr lang="en-US" dirty="0"/>
              <a:t>and H</a:t>
            </a:r>
            <a:r>
              <a:rPr lang="en-US" baseline="30000" dirty="0"/>
              <a:t>+</a:t>
            </a:r>
            <a:r>
              <a:rPr lang="en-US" baseline="-25000" dirty="0"/>
              <a:t> </a:t>
            </a:r>
            <a:r>
              <a:rPr lang="en-US" dirty="0"/>
              <a:t>do not exist in water)</a:t>
            </a:r>
          </a:p>
          <a:p>
            <a:pPr marL="1074420" lvl="2" indent="-342900" algn="just"/>
            <a:r>
              <a:rPr lang="en-US" sz="2100" dirty="0"/>
              <a:t>H</a:t>
            </a:r>
            <a:r>
              <a:rPr lang="en-US" sz="2100" baseline="30000" dirty="0"/>
              <a:t>+</a:t>
            </a:r>
            <a:r>
              <a:rPr lang="en-US" sz="2100" baseline="-25000" dirty="0"/>
              <a:t> </a:t>
            </a:r>
            <a:r>
              <a:rPr lang="en-US" sz="2100" dirty="0"/>
              <a:t>forms H</a:t>
            </a:r>
            <a:r>
              <a:rPr lang="en-US" sz="2100" baseline="-25000" dirty="0"/>
              <a:t>3</a:t>
            </a:r>
            <a:r>
              <a:rPr lang="en-US" sz="2100" dirty="0"/>
              <a:t>O</a:t>
            </a:r>
            <a:r>
              <a:rPr lang="en-US" sz="2100" baseline="30000" dirty="0"/>
              <a:t>+</a:t>
            </a:r>
          </a:p>
          <a:p>
            <a:pPr marL="1074420" lvl="2" indent="-342900" algn="just">
              <a:spcBef>
                <a:spcPts val="0"/>
              </a:spcBef>
              <a:defRPr/>
            </a:pPr>
            <a:r>
              <a:rPr lang="en-US" sz="2100" dirty="0"/>
              <a:t>OH</a:t>
            </a:r>
            <a:r>
              <a:rPr lang="en-US" sz="2100" baseline="30000" dirty="0"/>
              <a:t>- </a:t>
            </a:r>
            <a:r>
              <a:rPr lang="en-US" sz="2100" dirty="0"/>
              <a:t>forms H</a:t>
            </a:r>
            <a:r>
              <a:rPr lang="en-US" sz="2100" baseline="-25000" dirty="0"/>
              <a:t>3</a:t>
            </a:r>
            <a:r>
              <a:rPr lang="en-US" sz="2100" dirty="0"/>
              <a:t>O</a:t>
            </a:r>
            <a:r>
              <a:rPr lang="en-US" sz="2100" baseline="-25000" dirty="0"/>
              <a:t>2</a:t>
            </a:r>
            <a:r>
              <a:rPr lang="en-US" sz="2100" baseline="30000" dirty="0"/>
              <a:t>-</a:t>
            </a:r>
          </a:p>
          <a:p>
            <a:pPr marL="0" indent="0" algn="just">
              <a:buNone/>
            </a:pPr>
            <a:r>
              <a:rPr lang="en-US" dirty="0"/>
              <a:t>2. Some bases do not contain OH</a:t>
            </a:r>
            <a:r>
              <a:rPr lang="en-US" baseline="30000" dirty="0"/>
              <a:t>-  </a:t>
            </a:r>
            <a:r>
              <a:rPr lang="en-US" dirty="0"/>
              <a:t> </a:t>
            </a:r>
          </a:p>
          <a:p>
            <a:pPr lvl="2" algn="just"/>
            <a:r>
              <a:rPr lang="en-US" sz="2100" dirty="0"/>
              <a:t>Ammonia (NH</a:t>
            </a:r>
            <a:r>
              <a:rPr lang="en-US" sz="2100" baseline="-25000" dirty="0"/>
              <a:t>3</a:t>
            </a:r>
            <a:r>
              <a:rPr lang="en-US" sz="2100" dirty="0"/>
              <a:t>)</a:t>
            </a:r>
          </a:p>
          <a:p>
            <a:pPr lvl="2" algn="just"/>
            <a:r>
              <a:rPr lang="en-US" sz="2100" dirty="0"/>
              <a:t>Calcium oxide (CaO)</a:t>
            </a:r>
          </a:p>
          <a:p>
            <a:pPr lvl="2" algn="just"/>
            <a:endParaRPr lang="en-US" sz="2100" dirty="0"/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v"/>
            </a:pP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C27AA-7CB6-69A5-0CC7-EBB21C0EB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7A462A-356B-36A5-9805-7ADC23D92AEC}"/>
              </a:ext>
            </a:extLst>
          </p:cNvPr>
          <p:cNvSpPr txBox="1"/>
          <p:nvPr/>
        </p:nvSpPr>
        <p:spPr>
          <a:xfrm>
            <a:off x="11863873" y="6368143"/>
            <a:ext cx="480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60477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FB6A2-F211-1A2F-064D-0166A7ED1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CB826-FC88-67DB-4A66-8E9FC9EB3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98" y="3712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Bronsted-Lowry Concept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8043A-6AAC-FDC0-7B1F-0CBC97472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998" y="1423448"/>
            <a:ext cx="10756770" cy="3670301"/>
          </a:xfrm>
        </p:spPr>
        <p:txBody>
          <a:bodyPr>
            <a:noAutofit/>
          </a:bodyPr>
          <a:lstStyle/>
          <a:p>
            <a:pPr algn="just" fontAlgn="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An </a:t>
            </a:r>
            <a:r>
              <a:rPr lang="en-US" sz="2400" b="1" dirty="0">
                <a:solidFill>
                  <a:srgbClr val="FF0000"/>
                </a:solidFill>
              </a:rPr>
              <a:t>acid </a:t>
            </a:r>
            <a:r>
              <a:rPr lang="en-US" sz="2400" dirty="0"/>
              <a:t>is a molecule or ion that can </a:t>
            </a:r>
            <a:r>
              <a:rPr lang="en-US" sz="2400" b="1" dirty="0">
                <a:solidFill>
                  <a:srgbClr val="FF0000"/>
                </a:solidFill>
              </a:rPr>
              <a:t>donate</a:t>
            </a:r>
            <a:r>
              <a:rPr lang="en-US" sz="2400" dirty="0"/>
              <a:t> a proton (H</a:t>
            </a:r>
            <a:r>
              <a:rPr lang="en-US" sz="2400" baseline="30000" dirty="0"/>
              <a:t>+</a:t>
            </a:r>
            <a:r>
              <a:rPr lang="en-US" sz="2400" dirty="0"/>
              <a:t>) </a:t>
            </a:r>
          </a:p>
          <a:p>
            <a:pPr algn="just" fontAlgn="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FF0000"/>
                </a:solidFill>
              </a:rPr>
              <a:t>base</a:t>
            </a:r>
            <a:r>
              <a:rPr lang="en-US" sz="2400" dirty="0"/>
              <a:t> is a molecule or ion that can </a:t>
            </a:r>
            <a:r>
              <a:rPr lang="en-US" sz="2400" b="1" dirty="0">
                <a:solidFill>
                  <a:srgbClr val="FF0000"/>
                </a:solidFill>
              </a:rPr>
              <a:t>accept</a:t>
            </a:r>
            <a:r>
              <a:rPr lang="en-US" sz="2400" dirty="0"/>
              <a:t> a proton</a:t>
            </a:r>
          </a:p>
          <a:p>
            <a:pPr algn="just" fontAlgn="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This concept identifies acids and bases as conjugate pairs.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rgbClr val="000000"/>
                </a:solidFill>
                <a:latin typeface="Minion Pro"/>
              </a:rPr>
              <a:t>Consider a reaction</a:t>
            </a:r>
            <a:endParaRPr lang="pt-BR" sz="2400" dirty="0">
              <a:latin typeface="Minion Pro"/>
            </a:endParaRPr>
          </a:p>
          <a:p>
            <a:pPr algn="ctr">
              <a:lnSpc>
                <a:spcPct val="100000"/>
              </a:lnSpc>
            </a:pPr>
            <a:r>
              <a:rPr lang="pt-BR" sz="2400" dirty="0">
                <a:solidFill>
                  <a:srgbClr val="000000"/>
                </a:solidFill>
                <a:latin typeface="Minion Pro"/>
              </a:rPr>
              <a:t>Acid</a:t>
            </a:r>
            <a:r>
              <a:rPr lang="pt-BR" sz="2400" baseline="-25000" dirty="0">
                <a:solidFill>
                  <a:srgbClr val="000000"/>
                </a:solidFill>
                <a:latin typeface="Minion Pro"/>
              </a:rPr>
              <a:t>1</a:t>
            </a:r>
            <a:r>
              <a:rPr lang="pt-BR" sz="2400" dirty="0">
                <a:solidFill>
                  <a:srgbClr val="000000"/>
                </a:solidFill>
                <a:latin typeface="Minion Pro"/>
              </a:rPr>
              <a:t>  +  Base</a:t>
            </a:r>
            <a:r>
              <a:rPr lang="pt-BR" sz="2400" baseline="-25000" dirty="0">
                <a:solidFill>
                  <a:srgbClr val="000000"/>
                </a:solidFill>
                <a:latin typeface="Minion Pro"/>
              </a:rPr>
              <a:t>2</a:t>
            </a:r>
            <a:r>
              <a:rPr lang="pt-BR" sz="2400" dirty="0">
                <a:solidFill>
                  <a:srgbClr val="000000"/>
                </a:solidFill>
                <a:latin typeface="Minion Pro"/>
              </a:rPr>
              <a:t>  →  Acid</a:t>
            </a:r>
            <a:r>
              <a:rPr lang="pt-BR" sz="2400" baseline="-25000" dirty="0">
                <a:solidFill>
                  <a:srgbClr val="000000"/>
                </a:solidFill>
                <a:latin typeface="Minion Pro"/>
              </a:rPr>
              <a:t>2</a:t>
            </a:r>
            <a:r>
              <a:rPr lang="pt-BR" sz="2400" dirty="0">
                <a:solidFill>
                  <a:srgbClr val="000000"/>
                </a:solidFill>
                <a:latin typeface="Minion Pro"/>
              </a:rPr>
              <a:t>  +  Base</a:t>
            </a:r>
            <a:r>
              <a:rPr lang="pt-BR" sz="2400" baseline="-25000" dirty="0">
                <a:solidFill>
                  <a:srgbClr val="000000"/>
                </a:solidFill>
                <a:latin typeface="Minion Pro"/>
              </a:rPr>
              <a:t>1</a:t>
            </a:r>
            <a:endParaRPr lang="pt-BR" sz="2400" dirty="0">
              <a:latin typeface="Minion Pro"/>
            </a:endParaRPr>
          </a:p>
          <a:p>
            <a:pPr algn="ctr">
              <a:lnSpc>
                <a:spcPct val="100000"/>
              </a:lnSpc>
            </a:pPr>
            <a:r>
              <a:rPr lang="pt-BR" sz="2400" dirty="0">
                <a:solidFill>
                  <a:srgbClr val="000000"/>
                </a:solidFill>
                <a:latin typeface="Minion Pro"/>
              </a:rPr>
              <a:t>HCl + H</a:t>
            </a:r>
            <a:r>
              <a:rPr lang="pt-BR" sz="2400" baseline="-25000" dirty="0">
                <a:solidFill>
                  <a:srgbClr val="000000"/>
                </a:solidFill>
                <a:latin typeface="Minion Pro"/>
              </a:rPr>
              <a:t>2</a:t>
            </a:r>
            <a:r>
              <a:rPr lang="pt-BR" sz="2400" dirty="0">
                <a:solidFill>
                  <a:srgbClr val="000000"/>
                </a:solidFill>
                <a:latin typeface="Minion Pro"/>
              </a:rPr>
              <a:t>O  ⇔ H</a:t>
            </a:r>
            <a:r>
              <a:rPr lang="pt-BR" sz="2400" baseline="-25000" dirty="0">
                <a:solidFill>
                  <a:srgbClr val="000000"/>
                </a:solidFill>
                <a:latin typeface="Minion Pro"/>
              </a:rPr>
              <a:t>3</a:t>
            </a:r>
            <a:r>
              <a:rPr lang="pt-BR" sz="2400" dirty="0">
                <a:solidFill>
                  <a:srgbClr val="000000"/>
                </a:solidFill>
                <a:latin typeface="Minion Pro"/>
              </a:rPr>
              <a:t>O</a:t>
            </a:r>
            <a:r>
              <a:rPr lang="pt-BR" sz="2400" baseline="30000" dirty="0">
                <a:solidFill>
                  <a:srgbClr val="000000"/>
                </a:solidFill>
                <a:latin typeface="Minion Pro"/>
              </a:rPr>
              <a:t>+  </a:t>
            </a:r>
            <a:r>
              <a:rPr lang="pt-BR" sz="2400" dirty="0">
                <a:solidFill>
                  <a:srgbClr val="000000"/>
                </a:solidFill>
                <a:latin typeface="Minion Pro"/>
              </a:rPr>
              <a:t>+ Cl</a:t>
            </a:r>
            <a:r>
              <a:rPr lang="pt-BR" sz="2400" baseline="30000" dirty="0">
                <a:solidFill>
                  <a:srgbClr val="000000"/>
                </a:solidFill>
                <a:latin typeface="Minion Pro"/>
              </a:rPr>
              <a:t>–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GB" dirty="0"/>
          </a:p>
          <a:p>
            <a:r>
              <a:rPr lang="en-GB" dirty="0"/>
              <a:t>NH₃ + H₂O ⇌ NH₄⁺ + OH⁻ </a:t>
            </a:r>
          </a:p>
          <a:p>
            <a:pPr lvl="1"/>
            <a:r>
              <a:rPr lang="en-GB" dirty="0"/>
              <a:t>NH₃ = base </a:t>
            </a:r>
            <a:r>
              <a:rPr lang="en-GB" dirty="0">
                <a:solidFill>
                  <a:srgbClr val="FF0000"/>
                </a:solidFill>
              </a:rPr>
              <a:t>(accepts H⁺) </a:t>
            </a:r>
          </a:p>
          <a:p>
            <a:pPr lvl="1"/>
            <a:r>
              <a:rPr lang="en-GB" dirty="0"/>
              <a:t>H₂O = acid </a:t>
            </a:r>
            <a:r>
              <a:rPr lang="en-GB" dirty="0">
                <a:solidFill>
                  <a:srgbClr val="FF0000"/>
                </a:solidFill>
              </a:rPr>
              <a:t>(donates H⁺)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167D4-B862-2EBF-A4B6-E9A9EF78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073DF8-75DC-DA9A-F13E-5F31DE6188DA}"/>
              </a:ext>
            </a:extLst>
          </p:cNvPr>
          <p:cNvSpPr txBox="1"/>
          <p:nvPr/>
        </p:nvSpPr>
        <p:spPr>
          <a:xfrm>
            <a:off x="11863873" y="6368143"/>
            <a:ext cx="480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7958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0AD3C-89D4-7016-78D4-7BE66FEDF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E8586F-A3FB-6B10-BC03-3338017DB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37" y="1725105"/>
            <a:ext cx="10703351" cy="451454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strong acid easily gives away protons to a base to form a weak conjugate base while a strong base will accept the proton more easily to from a weak conjugate acid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formation of conjugate pairs are important in the considerations of </a:t>
            </a:r>
            <a:r>
              <a:rPr lang="en-US" dirty="0">
                <a:solidFill>
                  <a:srgbClr val="FF0000"/>
                </a:solidFill>
              </a:rPr>
              <a:t>buffers and buffer mechanisms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D39C8-8A9F-C3CE-BCA8-B79539F63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992E5E-1B15-AB7B-4464-13BC522BAA50}"/>
              </a:ext>
            </a:extLst>
          </p:cNvPr>
          <p:cNvSpPr txBox="1"/>
          <p:nvPr/>
        </p:nvSpPr>
        <p:spPr>
          <a:xfrm>
            <a:off x="11863873" y="6368143"/>
            <a:ext cx="480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97476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5C8D-CCA6-5E7F-A525-A7B944CA0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71" y="34206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LEWIS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8854A-6009-0E74-E987-AB09D057B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695" y="1575155"/>
            <a:ext cx="10515600" cy="427799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An </a:t>
            </a:r>
            <a:r>
              <a:rPr lang="en-US" sz="2400" b="1" dirty="0">
                <a:solidFill>
                  <a:srgbClr val="FF0000"/>
                </a:solidFill>
              </a:rPr>
              <a:t>acid</a:t>
            </a:r>
            <a:r>
              <a:rPr lang="en-US" sz="2400" dirty="0"/>
              <a:t> is an electron pair </a:t>
            </a:r>
            <a:r>
              <a:rPr lang="en-US" sz="2400" b="1" dirty="0">
                <a:solidFill>
                  <a:srgbClr val="FF0000"/>
                </a:solidFill>
              </a:rPr>
              <a:t>acceptor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FF0000"/>
                </a:solidFill>
              </a:rPr>
              <a:t>base</a:t>
            </a:r>
            <a:r>
              <a:rPr lang="en-US" sz="2400" dirty="0"/>
              <a:t> is an electron pair </a:t>
            </a:r>
            <a:r>
              <a:rPr lang="en-US" sz="2400" b="1" dirty="0">
                <a:solidFill>
                  <a:srgbClr val="FF0000"/>
                </a:solidFill>
              </a:rPr>
              <a:t>donor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Lewis acid and base share the electron pair provided by the base creating a covalent bond (or coordinate bond) between them. The resulting combination is called a </a:t>
            </a:r>
            <a:r>
              <a:rPr lang="en-US" sz="2400" b="1" dirty="0"/>
              <a:t>Complex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400" dirty="0"/>
              <a:t>BF₃ + NH₃ → F₃B←NH₃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BF₃ = </a:t>
            </a:r>
            <a:r>
              <a:rPr lang="en-US" sz="2400" dirty="0">
                <a:solidFill>
                  <a:srgbClr val="FF0000"/>
                </a:solidFill>
              </a:rPr>
              <a:t>Lewis acid (electron-deficient)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NH₃ = </a:t>
            </a:r>
            <a:r>
              <a:rPr lang="en-US" sz="2400" dirty="0">
                <a:solidFill>
                  <a:srgbClr val="FF0000"/>
                </a:solidFill>
              </a:rPr>
              <a:t>Lewis base (lone pair donor)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26C5F-C417-92AE-357D-41084CCA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84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780C5-E141-99BE-7DB7-E80DBC33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293516-44F1-580A-B045-1DB922081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890" y="452486"/>
            <a:ext cx="10832219" cy="427034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B6929-76B7-D3E1-B5F3-8F62592D1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640247-E435-1EAC-774A-7B98D8B48813}"/>
              </a:ext>
            </a:extLst>
          </p:cNvPr>
          <p:cNvSpPr txBox="1"/>
          <p:nvPr/>
        </p:nvSpPr>
        <p:spPr>
          <a:xfrm>
            <a:off x="1018095" y="4694549"/>
            <a:ext cx="10515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solidFill>
                  <a:srgbClr val="FF0000"/>
                </a:solidFill>
              </a:rPr>
              <a:t>According to the theory, the process of neutralization is simply the formation of a coordinate bond between an acid and a base</a:t>
            </a:r>
          </a:p>
          <a:p>
            <a:endParaRPr lang="en-GB" sz="32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540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769DB-B420-DD17-8AEC-AF9B15607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Relative Strength of Acids and Bases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02B74-C378-7A29-DF0E-64E60067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10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578E61-7E50-68A2-4384-340DE3049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695" y="1782545"/>
            <a:ext cx="10515600" cy="4277995"/>
          </a:xfrm>
        </p:spPr>
        <p:txBody>
          <a:bodyPr/>
          <a:lstStyle/>
          <a:p>
            <a:r>
              <a:rPr lang="en-US" dirty="0"/>
              <a:t>The strength of an acid or base is </a:t>
            </a:r>
            <a:r>
              <a:rPr lang="en-US" b="1" dirty="0"/>
              <a:t>not about the number of protons (monoprotic or polyprotic)</a:t>
            </a:r>
            <a:r>
              <a:rPr lang="en-US" dirty="0"/>
              <a:t>. </a:t>
            </a:r>
          </a:p>
          <a:p>
            <a:r>
              <a:rPr lang="en-US" dirty="0"/>
              <a:t>It is about </a:t>
            </a:r>
            <a:r>
              <a:rPr lang="en-US" b="1" dirty="0"/>
              <a:t>how easily it behaves as an acid or base</a:t>
            </a:r>
            <a:r>
              <a:rPr lang="en-US" dirty="0"/>
              <a:t>. </a:t>
            </a:r>
          </a:p>
          <a:p>
            <a:r>
              <a:rPr lang="en-US" b="1" dirty="0"/>
              <a:t>Acid strength</a:t>
            </a:r>
            <a:r>
              <a:rPr lang="en-US" dirty="0"/>
              <a:t> = how easily it </a:t>
            </a:r>
            <a:r>
              <a:rPr lang="en-US" b="1" dirty="0"/>
              <a:t>donates H⁺ (protons)</a:t>
            </a:r>
            <a:r>
              <a:rPr lang="en-US" dirty="0"/>
              <a:t>. </a:t>
            </a:r>
          </a:p>
          <a:p>
            <a:r>
              <a:rPr lang="en-US" b="1" dirty="0"/>
              <a:t>Base strength</a:t>
            </a:r>
            <a:r>
              <a:rPr lang="en-US" dirty="0"/>
              <a:t> = how easily it </a:t>
            </a:r>
            <a:r>
              <a:rPr lang="en-US" b="1" dirty="0"/>
              <a:t>accepts H⁺ (protons)</a:t>
            </a:r>
            <a:r>
              <a:rPr lang="en-US" dirty="0"/>
              <a:t>. The strength of acids and bases can change depending on their </a:t>
            </a:r>
            <a:r>
              <a:rPr lang="en-US" b="1" dirty="0"/>
              <a:t>environment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(e.g., solvent, surrounding conditions).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74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FB1D7-5BCD-30D7-8700-1876DE677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9E18-C174-3A93-A9DE-CE0D9481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233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Calculating Strength of Strong Acids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73B43-464F-C89D-E444-6011FB6B1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5C6885B-9380-6805-EBEE-02B209D055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7796" y="1829796"/>
                <a:ext cx="10776408" cy="463124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HA </a:t>
                </a:r>
                <a:r>
                  <a:rPr lang="en-US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↔ H</a:t>
                </a:r>
                <a:r>
                  <a:rPr lang="en-US" b="1" baseline="300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+</a:t>
                </a:r>
                <a:r>
                  <a:rPr lang="en-US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+ A</a:t>
                </a:r>
                <a:r>
                  <a:rPr lang="en-US" b="1" baseline="300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-</a:t>
                </a:r>
                <a:endParaRPr lang="en-US" baseline="30000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cs typeface="Times New Roman" panose="02020603050405020304" pitchFamily="18" charset="0"/>
                  </a:rPr>
                  <a:t>This equation represents the dissociation of acid HA into H</a:t>
                </a:r>
                <a:r>
                  <a:rPr lang="en-US" baseline="30000" dirty="0">
                    <a:cs typeface="Times New Roman" panose="02020603050405020304" pitchFamily="18" charset="0"/>
                  </a:rPr>
                  <a:t>+</a:t>
                </a:r>
                <a:r>
                  <a:rPr lang="en-US" dirty="0">
                    <a:cs typeface="Times New Roman" panose="02020603050405020304" pitchFamily="18" charset="0"/>
                  </a:rPr>
                  <a:t> ion and A</a:t>
                </a:r>
                <a:r>
                  <a:rPr lang="en-US" baseline="30000" dirty="0">
                    <a:cs typeface="Times New Roman" panose="02020603050405020304" pitchFamily="18" charset="0"/>
                  </a:rPr>
                  <a:t>-</a:t>
                </a:r>
                <a:r>
                  <a:rPr lang="en-US" dirty="0">
                    <a:cs typeface="Times New Roman" panose="02020603050405020304" pitchFamily="18" charset="0"/>
                  </a:rPr>
                  <a:t> ion</a:t>
                </a:r>
              </a:p>
              <a:p>
                <a:r>
                  <a:rPr lang="en-US" b="1" dirty="0">
                    <a:cs typeface="Times New Roman" panose="02020603050405020304" pitchFamily="18" charset="0"/>
                  </a:rPr>
                  <a:t>                                                 K</a:t>
                </a:r>
                <a:r>
                  <a:rPr lang="en-US" b="1" baseline="-25000" dirty="0">
                    <a:cs typeface="Times New Roman" panose="02020603050405020304" pitchFamily="18" charset="0"/>
                  </a:rPr>
                  <a:t>a</a:t>
                </a:r>
                <a:r>
                  <a:rPr lang="en-US" b="1" dirty="0"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𝑯</m:t>
                            </m:r>
                            <m:r>
                              <a:rPr lang="en-US" b="1" i="1" baseline="30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[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  <m:r>
                          <a:rPr lang="en-US" b="1" i="1" baseline="30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𝑯𝑨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den>
                    </m:f>
                  </m:oMath>
                </a14:m>
                <a:endParaRPr lang="en-US" b="1" dirty="0">
                  <a:cs typeface="Times New Roman" panose="02020603050405020304" pitchFamily="18" charset="0"/>
                </a:endParaRPr>
              </a:p>
              <a:p>
                <a:r>
                  <a:rPr lang="en-US" dirty="0"/>
                  <a:t>K</a:t>
                </a:r>
                <a:r>
                  <a:rPr lang="en-US" baseline="-25000" dirty="0"/>
                  <a:t>a </a:t>
                </a:r>
                <a:r>
                  <a:rPr lang="en-US" dirty="0"/>
                  <a:t>is the acid dissociation or ionization constant</a:t>
                </a:r>
              </a:p>
              <a:p>
                <a:r>
                  <a:rPr lang="en-US" dirty="0"/>
                  <a:t>The strength of an acid can be defined as the concentration of H</a:t>
                </a:r>
                <a:r>
                  <a:rPr lang="en-US" baseline="30000" dirty="0"/>
                  <a:t>+</a:t>
                </a:r>
                <a:r>
                  <a:rPr lang="en-US" dirty="0"/>
                  <a:t> in its aqueous solution at a given temperature</a:t>
                </a:r>
              </a:p>
              <a:p>
                <a:r>
                  <a:rPr lang="en-US" dirty="0"/>
                  <a:t>From the above equation, it can been noticed that the concentration of H</a:t>
                </a:r>
                <a:r>
                  <a:rPr lang="en-US" baseline="30000" dirty="0"/>
                  <a:t>+</a:t>
                </a:r>
                <a:r>
                  <a:rPr lang="en-US" dirty="0"/>
                  <a:t> is directly proportional to K</a:t>
                </a:r>
                <a:r>
                  <a:rPr lang="en-US" baseline="-25000" dirty="0"/>
                  <a:t>a</a:t>
                </a:r>
                <a:r>
                  <a:rPr lang="en-US" dirty="0"/>
                  <a:t>. </a:t>
                </a:r>
                <a:r>
                  <a:rPr lang="en-US" b="1" dirty="0">
                    <a:solidFill>
                      <a:srgbClr val="FF0000"/>
                    </a:solidFill>
                  </a:rPr>
                  <a:t>Therefore, the value of K</a:t>
                </a:r>
                <a:r>
                  <a:rPr lang="en-US" b="1" baseline="-25000" dirty="0">
                    <a:solidFill>
                      <a:srgbClr val="FF0000"/>
                    </a:solidFill>
                  </a:rPr>
                  <a:t>a </a:t>
                </a:r>
                <a:r>
                  <a:rPr lang="en-US" b="1" dirty="0">
                    <a:solidFill>
                      <a:srgbClr val="FF0000"/>
                    </a:solidFill>
                  </a:rPr>
                  <a:t>for a particular acid is a measure of its strength</a:t>
                </a:r>
              </a:p>
              <a:p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5C6885B-9380-6805-EBEE-02B209D055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7796" y="1829796"/>
                <a:ext cx="10776408" cy="4631245"/>
              </a:xfrm>
              <a:blipFill>
                <a:blip r:embed="rId2"/>
                <a:stretch>
                  <a:fillRect l="-962" t="-2895" r="-11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6653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99171-D956-B0B2-1777-1D4B62353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0DD9-A533-3F1B-5C73-CC8C2741F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233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Strength of Strong Acids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E62B0-0152-28EB-20D3-8EFD013A4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228C888-F2B6-656D-2981-7BF0509BCD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7796" y="1829796"/>
                <a:ext cx="10776408" cy="463124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HA </a:t>
                </a:r>
                <a:r>
                  <a:rPr lang="en-US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↔ H</a:t>
                </a:r>
                <a:r>
                  <a:rPr lang="en-US" b="1" baseline="300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+</a:t>
                </a:r>
                <a:r>
                  <a:rPr lang="en-US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+ A</a:t>
                </a:r>
                <a:r>
                  <a:rPr lang="en-US" b="1" baseline="300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-</a:t>
                </a:r>
                <a:endParaRPr lang="en-US" baseline="30000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cs typeface="Times New Roman" panose="02020603050405020304" pitchFamily="18" charset="0"/>
                  </a:rPr>
                  <a:t>This equation represents the dissociation of acid HA into H</a:t>
                </a:r>
                <a:r>
                  <a:rPr lang="en-US" baseline="30000" dirty="0">
                    <a:cs typeface="Times New Roman" panose="02020603050405020304" pitchFamily="18" charset="0"/>
                  </a:rPr>
                  <a:t>+</a:t>
                </a:r>
                <a:r>
                  <a:rPr lang="en-US" dirty="0">
                    <a:cs typeface="Times New Roman" panose="02020603050405020304" pitchFamily="18" charset="0"/>
                  </a:rPr>
                  <a:t> ion and A</a:t>
                </a:r>
                <a:r>
                  <a:rPr lang="en-US" baseline="30000" dirty="0">
                    <a:cs typeface="Times New Roman" panose="02020603050405020304" pitchFamily="18" charset="0"/>
                  </a:rPr>
                  <a:t>-</a:t>
                </a:r>
                <a:r>
                  <a:rPr lang="en-US" dirty="0">
                    <a:cs typeface="Times New Roman" panose="02020603050405020304" pitchFamily="18" charset="0"/>
                  </a:rPr>
                  <a:t> ion</a:t>
                </a:r>
              </a:p>
              <a:p>
                <a:r>
                  <a:rPr lang="en-US" b="1" dirty="0">
                    <a:cs typeface="Times New Roman" panose="02020603050405020304" pitchFamily="18" charset="0"/>
                  </a:rPr>
                  <a:t>                                                 K</a:t>
                </a:r>
                <a:r>
                  <a:rPr lang="en-US" b="1" baseline="-25000" dirty="0">
                    <a:cs typeface="Times New Roman" panose="02020603050405020304" pitchFamily="18" charset="0"/>
                  </a:rPr>
                  <a:t>a</a:t>
                </a:r>
                <a:r>
                  <a:rPr lang="en-US" b="1" dirty="0"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𝑯</m:t>
                            </m:r>
                            <m:r>
                              <a:rPr lang="en-US" b="1" i="1" baseline="30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[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  <m:r>
                          <a:rPr lang="en-US" b="1" i="1" baseline="30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𝑯𝑨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den>
                    </m:f>
                  </m:oMath>
                </a14:m>
                <a:endParaRPr lang="en-US" b="1" dirty="0">
                  <a:cs typeface="Times New Roman" panose="02020603050405020304" pitchFamily="18" charset="0"/>
                </a:endParaRPr>
              </a:p>
              <a:p>
                <a:r>
                  <a:rPr lang="en-US" dirty="0"/>
                  <a:t>K</a:t>
                </a:r>
                <a:r>
                  <a:rPr lang="en-US" baseline="-25000" dirty="0"/>
                  <a:t>a </a:t>
                </a:r>
                <a:r>
                  <a:rPr lang="en-US" dirty="0"/>
                  <a:t>is the acid dissociation or ionization constant</a:t>
                </a:r>
              </a:p>
              <a:p>
                <a:r>
                  <a:rPr lang="en-US" dirty="0"/>
                  <a:t>The strength of an acid can be defined as the concentration of H</a:t>
                </a:r>
                <a:r>
                  <a:rPr lang="en-US" baseline="30000" dirty="0"/>
                  <a:t>+</a:t>
                </a:r>
                <a:r>
                  <a:rPr lang="en-US" dirty="0"/>
                  <a:t> in its aqueous solution at a given temperature</a:t>
                </a:r>
              </a:p>
              <a:p>
                <a:r>
                  <a:rPr lang="en-US" dirty="0"/>
                  <a:t>From the above equation, it can been noticed that the concentration of H</a:t>
                </a:r>
                <a:r>
                  <a:rPr lang="en-US" baseline="30000" dirty="0"/>
                  <a:t>+</a:t>
                </a:r>
                <a:r>
                  <a:rPr lang="en-US" dirty="0"/>
                  <a:t> is directly proportional to K</a:t>
                </a:r>
                <a:r>
                  <a:rPr lang="en-US" baseline="-25000" dirty="0"/>
                  <a:t>a</a:t>
                </a:r>
                <a:r>
                  <a:rPr lang="en-US" dirty="0"/>
                  <a:t>. </a:t>
                </a:r>
                <a:r>
                  <a:rPr lang="en-US" b="1" dirty="0">
                    <a:solidFill>
                      <a:srgbClr val="FF0000"/>
                    </a:solidFill>
                  </a:rPr>
                  <a:t>Therefore, the value of K</a:t>
                </a:r>
                <a:r>
                  <a:rPr lang="en-US" b="1" baseline="-25000" dirty="0">
                    <a:solidFill>
                      <a:srgbClr val="FF0000"/>
                    </a:solidFill>
                  </a:rPr>
                  <a:t>a </a:t>
                </a:r>
                <a:r>
                  <a:rPr lang="en-US" b="1" dirty="0">
                    <a:solidFill>
                      <a:srgbClr val="FF0000"/>
                    </a:solidFill>
                  </a:rPr>
                  <a:t>for a particular acid is a measure of its strength</a:t>
                </a:r>
              </a:p>
              <a:p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228C888-F2B6-656D-2981-7BF0509BCD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7796" y="1829796"/>
                <a:ext cx="10776408" cy="4631245"/>
              </a:xfrm>
              <a:blipFill>
                <a:blip r:embed="rId2"/>
                <a:stretch>
                  <a:fillRect l="-962" t="-2895" r="-11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81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EE27-DF8C-62A5-0353-48267AFC2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555" y="699038"/>
            <a:ext cx="10515600" cy="545992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Strong acids dissociate fully in water, resulting in a large </a:t>
            </a:r>
            <a:r>
              <a:rPr lang="en-US" dirty="0"/>
              <a:t>Ka</a:t>
            </a:r>
            <a:r>
              <a:rPr lang="en-US" sz="2400" dirty="0"/>
              <a:t> value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In contrast, weak acids only partially break apart in water, which results in a low Ka value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Thus, in general, the value of the acid dissociation constant is large for a strong acid and small for a weak acid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Since strong acids fully dissociate in water, the concentration of hydrogen ions (</a:t>
            </a:r>
            <a:r>
              <a:rPr lang="en-US" dirty="0"/>
              <a:t>H</a:t>
            </a:r>
            <a:r>
              <a:rPr lang="en-US" baseline="30000" dirty="0"/>
              <a:t>+</a:t>
            </a:r>
            <a:r>
              <a:rPr lang="en-US" sz="2400" dirty="0"/>
              <a:t>) is identical to the initial concentration of the acid. For instance, a </a:t>
            </a:r>
            <a:r>
              <a:rPr lang="en-US" dirty="0"/>
              <a:t>0.1 M</a:t>
            </a:r>
            <a:r>
              <a:rPr lang="en-US" sz="2400" dirty="0"/>
              <a:t> solution of </a:t>
            </a:r>
            <a:r>
              <a:rPr lang="en-US" dirty="0"/>
              <a:t>HCl</a:t>
            </a:r>
            <a:r>
              <a:rPr lang="en-US" sz="2400" dirty="0"/>
              <a:t> yields exactly </a:t>
            </a:r>
            <a:r>
              <a:rPr lang="en-US" dirty="0"/>
              <a:t>0.1M</a:t>
            </a:r>
            <a:r>
              <a:rPr lang="en-US" sz="2400" dirty="0"/>
              <a:t> of </a:t>
            </a:r>
            <a:r>
              <a:rPr lang="en-US" dirty="0"/>
              <a:t>H</a:t>
            </a:r>
            <a:r>
              <a:rPr lang="en-US" baseline="30000" dirty="0"/>
              <a:t>+</a:t>
            </a:r>
            <a:endParaRPr lang="en-US" sz="2400" baseline="30000" dirty="0"/>
          </a:p>
          <a:p>
            <a:pPr marL="0" indent="0" algn="just">
              <a:buNone/>
            </a:pPr>
            <a:endParaRPr lang="en-US" sz="2400" b="1" dirty="0"/>
          </a:p>
          <a:p>
            <a:pPr marL="0" indent="0" algn="just">
              <a:buNone/>
            </a:pPr>
            <a:r>
              <a:rPr lang="en-US" sz="2400" i="1" dirty="0">
                <a:solidFill>
                  <a:srgbClr val="FF0000"/>
                </a:solidFill>
              </a:rPr>
              <a:t>Because weak acids like ethanoic acid only partially break apart, the concentration of free </a:t>
            </a:r>
            <a:r>
              <a:rPr lang="en-US" i="1" dirty="0">
                <a:solidFill>
                  <a:srgbClr val="FF0000"/>
                </a:solidFill>
              </a:rPr>
              <a:t>H</a:t>
            </a:r>
            <a:r>
              <a:rPr lang="en-US" i="1" baseline="30000" dirty="0">
                <a:solidFill>
                  <a:srgbClr val="FF0000"/>
                </a:solidFill>
              </a:rPr>
              <a:t>+</a:t>
            </a:r>
            <a:r>
              <a:rPr lang="en-US" sz="2400" i="1" dirty="0">
                <a:solidFill>
                  <a:srgbClr val="FF0000"/>
                </a:solidFill>
              </a:rPr>
              <a:t> ions will always be much smaller than the original concentration of the acid."</a:t>
            </a:r>
            <a:endParaRPr lang="en-GB" sz="2400" i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0C389-41F4-D6D8-1F2D-7145BA6C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13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87FC1-2B4B-C5D3-DE9B-E671E3AF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945" y="334433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Strength of a Base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A35355-6894-2234-8F10-6F59DF0530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8455" y="1499740"/>
                <a:ext cx="10515600" cy="4277995"/>
              </a:xfrm>
            </p:spPr>
            <p:txBody>
              <a:bodyPr/>
              <a:lstStyle/>
              <a:p>
                <a:r>
                  <a:rPr lang="en-US" b="1" dirty="0"/>
                  <a:t>BOH </a:t>
                </a:r>
                <a:r>
                  <a:rPr lang="en-US" b="1" dirty="0">
                    <a:cs typeface="Times New Roman" panose="02020603050405020304" pitchFamily="18" charset="0"/>
                  </a:rPr>
                  <a:t>↔ B</a:t>
                </a:r>
                <a:r>
                  <a:rPr lang="en-US" b="1" baseline="30000" dirty="0">
                    <a:cs typeface="Times New Roman" panose="02020603050405020304" pitchFamily="18" charset="0"/>
                  </a:rPr>
                  <a:t>+</a:t>
                </a:r>
                <a:r>
                  <a:rPr lang="en-US" b="1" dirty="0">
                    <a:cs typeface="Times New Roman" panose="02020603050405020304" pitchFamily="18" charset="0"/>
                  </a:rPr>
                  <a:t> + OH</a:t>
                </a:r>
                <a:r>
                  <a:rPr lang="en-US" b="1" baseline="30000" dirty="0">
                    <a:cs typeface="Times New Roman" panose="02020603050405020304" pitchFamily="18" charset="0"/>
                  </a:rPr>
                  <a:t>-</a:t>
                </a:r>
                <a:endParaRPr lang="en-US" baseline="30000" dirty="0"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dirty="0">
                    <a:cs typeface="Times New Roman" panose="02020603050405020304" pitchFamily="18" charset="0"/>
                  </a:rPr>
                  <a:t>This equation represents the dissociation of base BOH into B</a:t>
                </a:r>
                <a:r>
                  <a:rPr lang="en-US" baseline="30000" dirty="0">
                    <a:cs typeface="Times New Roman" panose="02020603050405020304" pitchFamily="18" charset="0"/>
                  </a:rPr>
                  <a:t>+</a:t>
                </a:r>
                <a:r>
                  <a:rPr lang="en-US" dirty="0">
                    <a:cs typeface="Times New Roman" panose="02020603050405020304" pitchFamily="18" charset="0"/>
                  </a:rPr>
                  <a:t> ion and OH</a:t>
                </a:r>
                <a:r>
                  <a:rPr lang="en-US" baseline="30000" dirty="0">
                    <a:cs typeface="Times New Roman" panose="02020603050405020304" pitchFamily="18" charset="0"/>
                  </a:rPr>
                  <a:t>-</a:t>
                </a:r>
                <a:r>
                  <a:rPr lang="en-US" dirty="0">
                    <a:cs typeface="Times New Roman" panose="02020603050405020304" pitchFamily="18" charset="0"/>
                  </a:rPr>
                  <a:t> ion</a:t>
                </a:r>
              </a:p>
              <a:p>
                <a:pPr marL="0" indent="0" algn="ctr">
                  <a:buNone/>
                </a:pPr>
                <a:r>
                  <a:rPr lang="en-US" sz="3200" b="1" dirty="0">
                    <a:cs typeface="Times New Roman" panose="02020603050405020304" pitchFamily="18" charset="0"/>
                  </a:rPr>
                  <a:t>K</a:t>
                </a:r>
                <a:r>
                  <a:rPr lang="en-US" sz="3200" b="1" baseline="-25000" dirty="0">
                    <a:cs typeface="Times New Roman" panose="02020603050405020304" pitchFamily="18" charset="0"/>
                  </a:rPr>
                  <a:t>b </a:t>
                </a:r>
                <a:r>
                  <a:rPr lang="en-US" sz="3200" b="1" dirty="0"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sz="32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𝑩</m:t>
                            </m:r>
                            <m:r>
                              <a:rPr lang="en-US" sz="3200" b="1" i="1" baseline="30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e>
                        </m:d>
                        <m:r>
                          <a:rPr lang="en-US" sz="3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[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𝑶𝑯</m:t>
                        </m:r>
                        <m:r>
                          <a:rPr lang="en-US" sz="3200" b="1" i="1" baseline="30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3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𝑩𝑶𝑯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den>
                    </m:f>
                  </m:oMath>
                </a14:m>
                <a:endParaRPr lang="en-US" sz="3200" b="1" dirty="0">
                  <a:cs typeface="Times New Roman" panose="02020603050405020304" pitchFamily="18" charset="0"/>
                </a:endParaRPr>
              </a:p>
              <a:p>
                <a:r>
                  <a:rPr lang="en-US" dirty="0" err="1"/>
                  <a:t>K</a:t>
                </a:r>
                <a:r>
                  <a:rPr lang="en-US" baseline="-25000" dirty="0" err="1"/>
                  <a:t>b</a:t>
                </a:r>
                <a:r>
                  <a:rPr lang="en-US" baseline="-25000" dirty="0"/>
                  <a:t> </a:t>
                </a:r>
                <a:r>
                  <a:rPr lang="en-US" dirty="0"/>
                  <a:t>is the base dissociation or ionization constant</a:t>
                </a:r>
              </a:p>
              <a:p>
                <a:r>
                  <a:rPr lang="en-US" dirty="0"/>
                  <a:t>The strength of a base can be defined as the concentration of OH</a:t>
                </a:r>
                <a:r>
                  <a:rPr lang="en-US" baseline="30000" dirty="0"/>
                  <a:t>-</a:t>
                </a:r>
                <a:r>
                  <a:rPr lang="en-US" dirty="0"/>
                  <a:t> in its aqueous solution at a given temperature</a:t>
                </a:r>
              </a:p>
              <a:p>
                <a:r>
                  <a:rPr lang="en-US" b="1" dirty="0"/>
                  <a:t>The value of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K</a:t>
                </a:r>
                <a:r>
                  <a:rPr lang="en-US" b="1" baseline="-25000" dirty="0" err="1">
                    <a:solidFill>
                      <a:srgbClr val="FF0000"/>
                    </a:solidFill>
                  </a:rPr>
                  <a:t>b</a:t>
                </a:r>
                <a:r>
                  <a:rPr lang="en-US" b="1" baseline="-25000" dirty="0"/>
                  <a:t> </a:t>
                </a:r>
                <a:r>
                  <a:rPr lang="en-US" b="1" dirty="0"/>
                  <a:t>for a particular base is a measure of its strength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A35355-6894-2234-8F10-6F59DF0530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8455" y="1499740"/>
                <a:ext cx="10515600" cy="4277995"/>
              </a:xfrm>
              <a:blipFill>
                <a:blip r:embed="rId2"/>
                <a:stretch>
                  <a:fillRect l="-1043" t="-2279" r="-1159" b="-5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C2283-E4B9-FD87-98BF-5E161184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54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9486-80A6-95FD-9953-02A7E1952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Values of </a:t>
            </a:r>
            <a:r>
              <a:rPr lang="en-GB" dirty="0" err="1"/>
              <a:t>Kb</a:t>
            </a:r>
            <a:r>
              <a:rPr lang="en-GB" dirty="0"/>
              <a:t> for some common Weak bases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4E51B-30B6-0D7D-7C52-7068B30A9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15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961BE74-2806-CDF8-97AF-081211350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65" y="1687398"/>
            <a:ext cx="11086769" cy="444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851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30BA7-57D2-A24D-9308-DCA6B3742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468" y="1735411"/>
            <a:ext cx="10515600" cy="4277995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Factors that influence the strength of acids and bases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800" i="1" dirty="0">
                <a:solidFill>
                  <a:srgbClr val="FF0000"/>
                </a:solidFill>
              </a:rPr>
              <a:t>The polarity of the bond to which the hydrogen or hydroxyl atom is attached</a:t>
            </a:r>
          </a:p>
          <a:p>
            <a:pPr marL="457200" lvl="1" indent="0" algn="just">
              <a:buNone/>
            </a:pPr>
            <a:endParaRPr lang="en-US" sz="2800" i="1" dirty="0">
              <a:solidFill>
                <a:srgbClr val="FF0000"/>
              </a:solidFill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800" i="1" dirty="0">
                <a:solidFill>
                  <a:srgbClr val="FF0000"/>
                </a:solidFill>
              </a:rPr>
              <a:t>The strength of the bond 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9F791-2C09-E77B-0156-0539643E9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14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41073-5ECD-6371-EBB5-2FDB7F59A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088" y="538244"/>
            <a:ext cx="10515600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Calculating  acidity and basicity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0A8F8-1677-F246-F4EC-368DC3F8F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the amounts of H⁺ and OH⁻ in water are usually very small, a simpler way of measuring them was created, called </a:t>
            </a:r>
            <a:r>
              <a:rPr lang="en-US" dirty="0" err="1"/>
              <a:t>pH.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pH is the method of expressing the concentration of hydrogen or hydronium ions in a solution</a:t>
            </a:r>
          </a:p>
          <a:p>
            <a:r>
              <a:rPr lang="en-US" dirty="0"/>
              <a:t>It may be expressed as  </a:t>
            </a:r>
            <a:r>
              <a:rPr lang="en-US" b="1" dirty="0">
                <a:solidFill>
                  <a:srgbClr val="FF0000"/>
                </a:solidFill>
              </a:rPr>
              <a:t>pH = - </a:t>
            </a:r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og [H</a:t>
            </a:r>
            <a:r>
              <a:rPr lang="en-US" b="1" baseline="30000" dirty="0">
                <a:solidFill>
                  <a:srgbClr val="FF0000"/>
                </a:solidFill>
              </a:rPr>
              <a:t>+</a:t>
            </a:r>
            <a:r>
              <a:rPr lang="en-US" b="1" dirty="0">
                <a:solidFill>
                  <a:srgbClr val="FF0000"/>
                </a:solidFill>
              </a:rPr>
              <a:t>]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pOH is the method of expressing the concentration of hydroxide ions in a solution</a:t>
            </a:r>
          </a:p>
          <a:p>
            <a:pPr lvl="1" algn="just"/>
            <a:r>
              <a:rPr lang="en-US" dirty="0"/>
              <a:t>It may be expressed as  </a:t>
            </a:r>
            <a:r>
              <a:rPr lang="en-US" b="1" dirty="0">
                <a:solidFill>
                  <a:srgbClr val="FF0000"/>
                </a:solidFill>
              </a:rPr>
              <a:t>pOH = - </a:t>
            </a:r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og [OH</a:t>
            </a:r>
            <a:r>
              <a:rPr lang="en-US" b="1" baseline="34000" dirty="0">
                <a:solidFill>
                  <a:srgbClr val="FF0000"/>
                </a:solidFill>
                <a:cs typeface="Times New Roman" panose="02020603050405020304" pitchFamily="18" charset="0"/>
              </a:rPr>
              <a:t>−</a:t>
            </a:r>
            <a:r>
              <a:rPr lang="en-US" b="1" dirty="0">
                <a:solidFill>
                  <a:srgbClr val="FF0000"/>
                </a:solidFill>
              </a:rPr>
              <a:t>]</a:t>
            </a:r>
          </a:p>
          <a:p>
            <a:pPr lvl="1" algn="just"/>
            <a:endParaRPr lang="en-US" b="1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40E86-7CEE-36AE-892C-11815BB3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41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E07B2-8E1D-39E6-4880-320552250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4381" y="1612863"/>
            <a:ext cx="10515600" cy="427799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Since K</a:t>
            </a:r>
            <a:r>
              <a:rPr lang="en-US" baseline="-25000" dirty="0">
                <a:cs typeface="Times New Roman" panose="02020603050405020304" pitchFamily="18" charset="0"/>
              </a:rPr>
              <a:t>w</a:t>
            </a:r>
            <a:r>
              <a:rPr lang="en-US" dirty="0"/>
              <a:t> = [H</a:t>
            </a:r>
            <a:r>
              <a:rPr lang="en-US" baseline="30000" dirty="0"/>
              <a:t>+</a:t>
            </a:r>
            <a:r>
              <a:rPr lang="en-US" dirty="0"/>
              <a:t>] [OH</a:t>
            </a:r>
            <a:r>
              <a:rPr lang="en-US" baseline="34000" dirty="0">
                <a:cs typeface="Times New Roman" panose="02020603050405020304" pitchFamily="18" charset="0"/>
              </a:rPr>
              <a:t>−</a:t>
            </a:r>
            <a:r>
              <a:rPr lang="en-US" dirty="0"/>
              <a:t>], </a:t>
            </a:r>
            <a:r>
              <a:rPr lang="en-US" dirty="0" err="1"/>
              <a:t>p</a:t>
            </a:r>
            <a:r>
              <a:rPr lang="en-US" dirty="0" err="1">
                <a:cs typeface="Times New Roman" panose="02020603050405020304" pitchFamily="18" charset="0"/>
              </a:rPr>
              <a:t>K</a:t>
            </a:r>
            <a:r>
              <a:rPr lang="en-US" baseline="-25000" dirty="0" err="1">
                <a:cs typeface="Times New Roman" panose="02020603050405020304" pitchFamily="18" charset="0"/>
              </a:rPr>
              <a:t>w</a:t>
            </a:r>
            <a:r>
              <a:rPr lang="en-US" dirty="0">
                <a:cs typeface="Times New Roman" panose="02020603050405020304" pitchFamily="18" charset="0"/>
              </a:rPr>
              <a:t> = - log K</a:t>
            </a:r>
            <a:r>
              <a:rPr lang="en-US" baseline="-25000" dirty="0">
                <a:cs typeface="Times New Roman" panose="02020603050405020304" pitchFamily="18" charset="0"/>
              </a:rPr>
              <a:t>w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baseline="-25000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/>
              <a:t>				  = -log (1.0 </a:t>
            </a:r>
            <a:r>
              <a:rPr lang="en-US" dirty="0">
                <a:cs typeface="Times New Roman" panose="02020603050405020304" pitchFamily="18" charset="0"/>
              </a:rPr>
              <a:t>× 10</a:t>
            </a:r>
            <a:r>
              <a:rPr lang="en-US" baseline="30000" dirty="0">
                <a:cs typeface="Times New Roman" panose="02020603050405020304" pitchFamily="18" charset="0"/>
              </a:rPr>
              <a:t>-14</a:t>
            </a:r>
            <a:r>
              <a:rPr lang="en-US" dirty="0">
                <a:cs typeface="Times New Roman" panose="02020603050405020304" pitchFamily="18" charset="0"/>
              </a:rPr>
              <a:t>) =14</a:t>
            </a:r>
          </a:p>
          <a:p>
            <a:pPr marL="0" indent="0" algn="just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Hence </a:t>
            </a:r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pH + pOH =14 </a:t>
            </a:r>
            <a:endParaRPr lang="en-US" b="1" dirty="0">
              <a:solidFill>
                <a:srgbClr val="FF0000"/>
              </a:solidFill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B7CAE-C98A-28A0-DA1F-9C8A70AE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93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8A0C2-E6A6-FB8D-E69D-2A4A6206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Measurement of 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C0989-0FB5-53C2-279D-AA683E873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There are several ways of measuring pH of a solution.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Addition of pH indicator to solution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Using a pH or indicator paper that changes colour in correspondence to the colours on a colour key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F5E8B-4F65-480C-138A-82A959E46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 descr="Ph Level Chart Stock Illustrations – 241 Ph Level Chart Stock  Illustrations, Vectors &amp; Clipart - Dreamstime">
            <a:extLst>
              <a:ext uri="{FF2B5EF4-FFF2-40B4-BE49-F238E27FC236}">
                <a16:creationId xmlns:a16="http://schemas.microsoft.com/office/drawing/2014/main" id="{ADB9B81A-A86D-B64D-5F73-7B807E7C2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0" y="4427836"/>
            <a:ext cx="1828800" cy="187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37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F409F-5A37-B026-BFD2-63D2F700A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046"/>
            <a:ext cx="10515600" cy="4277995"/>
          </a:xfrm>
        </p:spPr>
        <p:txBody>
          <a:bodyPr/>
          <a:lstStyle/>
          <a:p>
            <a:r>
              <a:rPr lang="en-GB" dirty="0"/>
              <a:t>Using a pH meter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9EA0B-2054-B22E-2E13-1051085FC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 descr="pH Meter | Principle, Calibration, and Working » Pharmaguddu">
            <a:extLst>
              <a:ext uri="{FF2B5EF4-FFF2-40B4-BE49-F238E27FC236}">
                <a16:creationId xmlns:a16="http://schemas.microsoft.com/office/drawing/2014/main" id="{DF920BFA-7617-A136-7898-D8AD1D2DC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903" y="2044721"/>
            <a:ext cx="4973710" cy="397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39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A760-8E3F-42DE-13BE-93189DB7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Importance of Acids and Bases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DD2C5-940A-811E-C73C-B747E377B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Acid-base reactions are used to create or modify salts for effervescent formulations.</a:t>
            </a:r>
          </a:p>
          <a:p>
            <a:r>
              <a:rPr lang="en-US" dirty="0"/>
              <a:t>They are used in analytical procedures, i.e., titration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They are used as therapeutic agents in the control of and adjustment of the pH of GIT, body fluid and urine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113A6-D518-F509-CDEE-037A1193B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35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33600" y="21336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8000" dirty="0">
                <a:latin typeface="Bahnschrift SemiBold" pitchFamily="34" charset="0"/>
              </a:rPr>
              <a:t>Isomerism</a:t>
            </a:r>
            <a:br>
              <a:rPr lang="en-US" sz="8000">
                <a:latin typeface="Bahnschrift SemiBold" pitchFamily="34" charset="0"/>
              </a:rPr>
            </a:br>
            <a:endParaRPr lang="en-US" sz="8000" dirty="0">
              <a:latin typeface="Bahnschrift Semi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594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658" y="473903"/>
            <a:ext cx="11410683" cy="4102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cs typeface="Calibri" pitchFamily="34" charset="0"/>
              </a:rPr>
              <a:t>Objectives:</a:t>
            </a:r>
          </a:p>
          <a:p>
            <a:pPr marL="0" indent="0">
              <a:buNone/>
            </a:pPr>
            <a:endParaRPr lang="en-US" b="1" dirty="0">
              <a:latin typeface="Calibri" pitchFamily="34" charset="0"/>
              <a:cs typeface="Calibri" pitchFamily="34" charset="0"/>
            </a:endParaRPr>
          </a:p>
          <a:p>
            <a:pPr marL="457200" indent="-457200"/>
            <a:r>
              <a:rPr lang="en-US" dirty="0">
                <a:latin typeface="Calibri" pitchFamily="34" charset="0"/>
                <a:cs typeface="Calibri" pitchFamily="34" charset="0"/>
              </a:rPr>
              <a:t>By the end of this topic, you should have learnt the following;</a:t>
            </a:r>
          </a:p>
          <a:p>
            <a:pPr marL="457200" indent="-457200"/>
            <a:endParaRPr lang="en-US" dirty="0">
              <a:latin typeface="Calibri" pitchFamily="34" charset="0"/>
              <a:cs typeface="Calibri" pitchFamily="34" charset="0"/>
            </a:endParaRPr>
          </a:p>
          <a:p>
            <a:pPr lvl="3">
              <a:lnSpc>
                <a:spcPct val="150000"/>
              </a:lnSpc>
            </a:pPr>
            <a:r>
              <a:rPr lang="en-US" sz="2400" b="1" dirty="0">
                <a:latin typeface="Calibri" pitchFamily="34" charset="0"/>
                <a:cs typeface="Calibri" pitchFamily="34" charset="0"/>
              </a:rPr>
              <a:t>Structural or constitutional isomerism</a:t>
            </a:r>
          </a:p>
          <a:p>
            <a:pPr lvl="3">
              <a:lnSpc>
                <a:spcPct val="150000"/>
              </a:lnSpc>
            </a:pPr>
            <a:r>
              <a:rPr lang="en-US" sz="2400" b="1" dirty="0">
                <a:latin typeface="Calibri" pitchFamily="34" charset="0"/>
                <a:cs typeface="Calibri" pitchFamily="34" charset="0"/>
              </a:rPr>
              <a:t>Geometric isomerism</a:t>
            </a:r>
          </a:p>
          <a:p>
            <a:pPr lvl="3">
              <a:lnSpc>
                <a:spcPct val="150000"/>
              </a:lnSpc>
            </a:pPr>
            <a:r>
              <a:rPr lang="en-US" sz="2400" b="1" dirty="0">
                <a:latin typeface="Calibri" pitchFamily="34" charset="0"/>
                <a:cs typeface="Calibri" pitchFamily="34" charset="0"/>
              </a:rPr>
              <a:t>Optical isomerism</a:t>
            </a: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828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914400"/>
            <a:ext cx="8763000" cy="5486400"/>
          </a:xfrm>
        </p:spPr>
        <p:txBody>
          <a:bodyPr>
            <a:normAutofit/>
          </a:bodyPr>
          <a:lstStyle/>
          <a:p>
            <a:r>
              <a:rPr lang="en-US" sz="2400" dirty="0"/>
              <a:t>It is a common feature to come across compounds with the same molecular formula but with different physical and chemical properties</a:t>
            </a:r>
          </a:p>
          <a:p>
            <a:endParaRPr lang="en-US" sz="2400" dirty="0"/>
          </a:p>
          <a:p>
            <a:r>
              <a:rPr lang="en-US" sz="2400" dirty="0"/>
              <a:t>These differences in properties may be slight or very remarkable</a:t>
            </a:r>
          </a:p>
          <a:p>
            <a:endParaRPr lang="en-US" sz="2400" dirty="0"/>
          </a:p>
          <a:p>
            <a:r>
              <a:rPr lang="en-US" sz="2400" dirty="0"/>
              <a:t>The reason for the difference is may be due to how the constituents atoms may be linked to each other or how they are arranged in the 3-D space</a:t>
            </a:r>
          </a:p>
          <a:p>
            <a:endParaRPr lang="en-US" sz="2400" dirty="0"/>
          </a:p>
          <a:p>
            <a:r>
              <a:rPr lang="en-US" sz="2400" dirty="0"/>
              <a:t>Isomerism therefore is a situation where compounds having the same molecular formula can be represented by different structures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0"/>
            <a:ext cx="8229600" cy="11430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871720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two primary types of isomerism, which can be further categorized into different subtypes. </a:t>
            </a:r>
          </a:p>
          <a:p>
            <a:endParaRPr lang="en-US" dirty="0"/>
          </a:p>
          <a:p>
            <a:r>
              <a:rPr lang="en-US" dirty="0"/>
              <a:t>These primary types are </a:t>
            </a:r>
            <a:r>
              <a:rPr lang="en-US" b="1" dirty="0"/>
              <a:t>Structural Isomerism</a:t>
            </a:r>
            <a:r>
              <a:rPr lang="en-US" dirty="0"/>
              <a:t> and </a:t>
            </a:r>
            <a:r>
              <a:rPr lang="en-US" b="1" dirty="0"/>
              <a:t>Stereoisomerism</a:t>
            </a:r>
            <a:r>
              <a:rPr lang="en-US" dirty="0"/>
              <a:t>. The classification of different types of isomers is illustrated below.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Isomerism</a:t>
            </a:r>
          </a:p>
        </p:txBody>
      </p:sp>
    </p:spTree>
    <p:extLst>
      <p:ext uri="{BB962C8B-B14F-4D97-AF65-F5344CB8AC3E}">
        <p14:creationId xmlns:p14="http://schemas.microsoft.com/office/powerpoint/2010/main" val="2573154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036" y="149385"/>
            <a:ext cx="8839217" cy="5608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5602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828800" y="685800"/>
            <a:ext cx="8534400" cy="594360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Structural isomerism is commonly referred to as constitutional isomerism. The functional groups and the atoms in the molecules of these isomers are linked in different ways. </a:t>
            </a: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Different structural isomers are assigned different IUPAC names since they may or may not contain the same functional group. </a:t>
            </a: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Several forms of constitutional isomers</a:t>
            </a:r>
          </a:p>
          <a:p>
            <a:pPr lvl="4"/>
            <a:r>
              <a:rPr lang="en-US" dirty="0">
                <a:latin typeface="Calibri" pitchFamily="34" charset="0"/>
                <a:cs typeface="Calibri" pitchFamily="34" charset="0"/>
              </a:rPr>
              <a:t>Chain isomers </a:t>
            </a:r>
          </a:p>
          <a:p>
            <a:pPr lvl="4"/>
            <a:r>
              <a:rPr lang="en-US" dirty="0">
                <a:latin typeface="Calibri" pitchFamily="34" charset="0"/>
                <a:cs typeface="Calibri" pitchFamily="34" charset="0"/>
              </a:rPr>
              <a:t>Positional isomers</a:t>
            </a:r>
          </a:p>
          <a:p>
            <a:pPr lvl="4"/>
            <a:r>
              <a:rPr lang="en-US" dirty="0">
                <a:latin typeface="Calibri" pitchFamily="34" charset="0"/>
                <a:cs typeface="Calibri" pitchFamily="34" charset="0"/>
              </a:rPr>
              <a:t>Functional group isomers</a:t>
            </a:r>
          </a:p>
          <a:p>
            <a:pPr lvl="4"/>
            <a:r>
              <a:rPr lang="en-US" dirty="0" err="1">
                <a:latin typeface="Calibri" pitchFamily="34" charset="0"/>
                <a:cs typeface="Calibri" pitchFamily="34" charset="0"/>
              </a:rPr>
              <a:t>Tautomers</a:t>
            </a:r>
            <a:r>
              <a:rPr lang="en-US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etc</a:t>
            </a:r>
            <a:endParaRPr lang="en-US" dirty="0">
              <a:latin typeface="Calibri" pitchFamily="34" charset="0"/>
              <a:cs typeface="Calibri" pitchFamily="34" charset="0"/>
            </a:endParaRPr>
          </a:p>
          <a:p>
            <a:pPr lvl="4"/>
            <a:endParaRPr lang="en-US" dirty="0">
              <a:latin typeface="Calibri" pitchFamily="34" charset="0"/>
              <a:cs typeface="Calibri" pitchFamily="34" charset="0"/>
            </a:endParaRPr>
          </a:p>
          <a:p>
            <a:pPr lvl="4"/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Structural Isomerism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006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05000" y="914400"/>
            <a:ext cx="8382000" cy="5715000"/>
          </a:xfrm>
        </p:spPr>
        <p:txBody>
          <a:bodyPr>
            <a:normAutofit fontScale="92500"/>
          </a:bodyPr>
          <a:lstStyle/>
          <a:p>
            <a:r>
              <a:rPr lang="en-US" dirty="0"/>
              <a:t>It is also known as skeletal isomerism.</a:t>
            </a:r>
          </a:p>
          <a:p>
            <a:pPr marL="109728" indent="0">
              <a:buNone/>
            </a:pPr>
            <a:endParaRPr lang="en-US" dirty="0"/>
          </a:p>
          <a:p>
            <a:r>
              <a:rPr lang="en-US" dirty="0"/>
              <a:t>The components of these isomers display differences in the way atoms are arranged as straight chains or as branched compounds</a:t>
            </a:r>
          </a:p>
          <a:p>
            <a:pPr marL="109728" indent="0">
              <a:buNone/>
            </a:pPr>
            <a:endParaRPr lang="en-US" dirty="0"/>
          </a:p>
          <a:p>
            <a:r>
              <a:rPr lang="en-US" dirty="0"/>
              <a:t>Commonly, chain isomers differ in the branching of </a:t>
            </a:r>
            <a:r>
              <a:rPr lang="en-US" b="1" dirty="0"/>
              <a:t>carbon</a:t>
            </a:r>
          </a:p>
          <a:p>
            <a:pPr marL="109728" indent="0">
              <a:buNone/>
            </a:pPr>
            <a:endParaRPr lang="en-US" dirty="0"/>
          </a:p>
          <a:p>
            <a:r>
              <a:rPr lang="en-US" dirty="0"/>
              <a:t>An example of chain isomerism can be observed in the compound C</a:t>
            </a:r>
            <a:r>
              <a:rPr lang="en-US" baseline="-25000" dirty="0"/>
              <a:t>5</a:t>
            </a:r>
            <a:r>
              <a:rPr lang="en-US" dirty="0"/>
              <a:t>H</a:t>
            </a:r>
            <a:r>
              <a:rPr lang="en-US" baseline="-25000" dirty="0"/>
              <a:t>12</a:t>
            </a:r>
            <a:r>
              <a:rPr lang="en-US" dirty="0"/>
              <a:t>, as illustrated below.</a:t>
            </a:r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Chain Isomerism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36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"/>
            <a:ext cx="8610600" cy="5186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0164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81200" y="838200"/>
            <a:ext cx="8534400" cy="5715000"/>
          </a:xfrm>
        </p:spPr>
        <p:txBody>
          <a:bodyPr>
            <a:normAutofit/>
          </a:bodyPr>
          <a:lstStyle/>
          <a:p>
            <a:r>
              <a:rPr lang="en-US" sz="2400" dirty="0"/>
              <a:t>The positions of the functional groups or substituent atoms are different in position isomers.</a:t>
            </a:r>
          </a:p>
          <a:p>
            <a:pPr marL="109728" indent="0">
              <a:buNone/>
            </a:pPr>
            <a:endParaRPr lang="en-US" sz="2400" dirty="0"/>
          </a:p>
          <a:p>
            <a:r>
              <a:rPr lang="en-US" sz="2400" dirty="0"/>
              <a:t>Typically, this isomerism involves the attachment of the functional groups to different carbon atoms in the carbon chain.</a:t>
            </a:r>
          </a:p>
          <a:p>
            <a:pPr marL="109728" indent="0">
              <a:buNone/>
            </a:pPr>
            <a:endParaRPr lang="en-US" sz="2400" dirty="0"/>
          </a:p>
          <a:p>
            <a:r>
              <a:rPr lang="en-US" sz="2400" dirty="0"/>
              <a:t>An example of this type of isomerism can be observed in the compounds having the formula C</a:t>
            </a:r>
            <a:r>
              <a:rPr lang="en-US" sz="2400" baseline="-25000" dirty="0"/>
              <a:t>3</a:t>
            </a:r>
            <a:r>
              <a:rPr lang="en-US" sz="2400" dirty="0"/>
              <a:t>H</a:t>
            </a:r>
            <a:r>
              <a:rPr lang="en-US" sz="2400" baseline="-25000" dirty="0"/>
              <a:t>7</a:t>
            </a:r>
            <a:r>
              <a:rPr lang="en-US" sz="2400" dirty="0"/>
              <a:t>Cl</a:t>
            </a:r>
          </a:p>
          <a:p>
            <a:endParaRPr lang="en-US" sz="2400" dirty="0"/>
          </a:p>
          <a:p>
            <a:pPr marL="109728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Positional Isomerism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061" y="4137993"/>
            <a:ext cx="6019800" cy="1719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6132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752600" y="639762"/>
            <a:ext cx="8686800" cy="5410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It is also known as functional group isomerism.</a:t>
            </a:r>
          </a:p>
          <a:p>
            <a:pPr marL="109728" indent="0">
              <a:buNone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As the name suggests, it refers to the compounds that have the same chemical formula but different functional groups attached to them.</a:t>
            </a:r>
          </a:p>
          <a:p>
            <a:pPr marL="109728" indent="0">
              <a:buNone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An example of functional isomerism can be observed in the compound C</a:t>
            </a:r>
            <a:r>
              <a:rPr lang="en-US" sz="2400" baseline="-25000" dirty="0">
                <a:latin typeface="Calibri" pitchFamily="34" charset="0"/>
                <a:cs typeface="Calibri" pitchFamily="34" charset="0"/>
              </a:rPr>
              <a:t>3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H</a:t>
            </a:r>
            <a:r>
              <a:rPr lang="en-US" sz="2400" baseline="-25000" dirty="0">
                <a:latin typeface="Calibri" pitchFamily="34" charset="0"/>
                <a:cs typeface="Calibri" pitchFamily="34" charset="0"/>
              </a:rPr>
              <a:t>6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O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28800" y="152400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Functional Isomerism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366" y="3936565"/>
            <a:ext cx="5319017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28657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49896" y="639762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sz="2600" dirty="0">
                <a:latin typeface="Calibri" pitchFamily="34" charset="0"/>
                <a:cs typeface="Calibri" pitchFamily="34" charset="0"/>
              </a:rPr>
              <a:t>A tautomer of a compound refers to the isomer of the compound which only differs in the position of protons and electrons.</a:t>
            </a:r>
          </a:p>
          <a:p>
            <a:endParaRPr lang="en-US" sz="2600" dirty="0">
              <a:latin typeface="Calibri" pitchFamily="34" charset="0"/>
              <a:cs typeface="Calibri" pitchFamily="34" charset="0"/>
            </a:endParaRPr>
          </a:p>
          <a:p>
            <a:r>
              <a:rPr lang="en-US" sz="2600" dirty="0">
                <a:latin typeface="Calibri" pitchFamily="34" charset="0"/>
                <a:cs typeface="Calibri" pitchFamily="34" charset="0"/>
              </a:rPr>
              <a:t>Typically, the </a:t>
            </a:r>
            <a:r>
              <a:rPr lang="en-US" sz="2600" dirty="0" err="1">
                <a:latin typeface="Calibri" pitchFamily="34" charset="0"/>
                <a:cs typeface="Calibri" pitchFamily="34" charset="0"/>
              </a:rPr>
              <a:t>tautomers</a:t>
            </a:r>
            <a:r>
              <a:rPr lang="en-US" sz="2600" dirty="0">
                <a:latin typeface="Calibri" pitchFamily="34" charset="0"/>
                <a:cs typeface="Calibri" pitchFamily="34" charset="0"/>
              </a:rPr>
              <a:t> of a compound exist together in equilibrium and easily interchange.</a:t>
            </a:r>
          </a:p>
          <a:p>
            <a:endParaRPr lang="en-US" sz="2600" dirty="0">
              <a:latin typeface="Calibri" pitchFamily="34" charset="0"/>
              <a:cs typeface="Calibri" pitchFamily="34" charset="0"/>
            </a:endParaRPr>
          </a:p>
          <a:p>
            <a:r>
              <a:rPr lang="en-US" sz="2600" dirty="0">
                <a:latin typeface="Calibri" pitchFamily="34" charset="0"/>
                <a:cs typeface="Calibri" pitchFamily="34" charset="0"/>
              </a:rPr>
              <a:t>It occurs via an </a:t>
            </a:r>
            <a:r>
              <a:rPr lang="en-US" sz="2600" dirty="0" err="1">
                <a:latin typeface="Calibri" pitchFamily="34" charset="0"/>
                <a:cs typeface="Calibri" pitchFamily="34" charset="0"/>
              </a:rPr>
              <a:t>intramolecular</a:t>
            </a:r>
            <a:r>
              <a:rPr lang="en-US" sz="2600" dirty="0">
                <a:latin typeface="Calibri" pitchFamily="34" charset="0"/>
                <a:cs typeface="Calibri" pitchFamily="34" charset="0"/>
              </a:rPr>
              <a:t> proton transfer.</a:t>
            </a:r>
          </a:p>
          <a:p>
            <a:pPr marL="109728" indent="0">
              <a:buNone/>
            </a:pPr>
            <a:endParaRPr lang="en-US" sz="2600" dirty="0">
              <a:latin typeface="Calibri" pitchFamily="34" charset="0"/>
              <a:cs typeface="Calibri" pitchFamily="34" charset="0"/>
            </a:endParaRPr>
          </a:p>
          <a:p>
            <a:r>
              <a:rPr lang="en-US" sz="2600" dirty="0">
                <a:latin typeface="Calibri" pitchFamily="34" charset="0"/>
                <a:cs typeface="Calibri" pitchFamily="34" charset="0"/>
              </a:rPr>
              <a:t>An important example of this phenomenon is </a:t>
            </a:r>
            <a:r>
              <a:rPr lang="en-US" sz="2600" dirty="0" err="1">
                <a:latin typeface="Calibri" pitchFamily="34" charset="0"/>
                <a:cs typeface="Calibri" pitchFamily="34" charset="0"/>
              </a:rPr>
              <a:t>Keto-enol</a:t>
            </a:r>
            <a:r>
              <a:rPr lang="en-US" sz="26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>
                <a:latin typeface="Calibri" pitchFamily="34" charset="0"/>
                <a:cs typeface="Calibri" pitchFamily="34" charset="0"/>
              </a:rPr>
              <a:t>tautomerism</a:t>
            </a:r>
            <a:r>
              <a:rPr lang="en-US" sz="2600" dirty="0">
                <a:latin typeface="Calibri" pitchFamily="34" charset="0"/>
                <a:cs typeface="Calibri" pitchFamily="34" charset="0"/>
              </a:rPr>
              <a:t>.</a:t>
            </a:r>
          </a:p>
          <a:p>
            <a:endParaRPr lang="en-US" sz="2600" dirty="0">
              <a:latin typeface="Calibri" pitchFamily="34" charset="0"/>
              <a:cs typeface="Calibri" pitchFamily="34" charset="0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28800" y="228600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Tautomerism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8" b="30204"/>
          <a:stretch/>
        </p:blipFill>
        <p:spPr bwMode="auto">
          <a:xfrm>
            <a:off x="4403035" y="4567348"/>
            <a:ext cx="4681330" cy="1483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67888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752600" y="762000"/>
            <a:ext cx="8686800" cy="51054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alibri" pitchFamily="34" charset="0"/>
                <a:cs typeface="Calibri" pitchFamily="34" charset="0"/>
              </a:rPr>
              <a:t>This type of isomerism arises in compounds having the same chemical formula but different orientations of the atoms belonging to the molecule in three-dimensional space.</a:t>
            </a:r>
          </a:p>
          <a:p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r>
              <a:rPr lang="en-US" sz="2800" dirty="0">
                <a:latin typeface="Calibri" pitchFamily="34" charset="0"/>
                <a:cs typeface="Calibri" pitchFamily="34" charset="0"/>
              </a:rPr>
              <a:t> The compounds that exhibit stereoisomerism are often referred to as stereoisomers. This phenomenon can be further categorized into two subtypes. </a:t>
            </a:r>
          </a:p>
          <a:p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Stereoisomerism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2807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00200" y="582386"/>
            <a:ext cx="8305800" cy="3733800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This type of isomerism is due to hindered rotation about a double bond system or a ring system. The presence of </a:t>
            </a:r>
            <a:r>
              <a:rPr lang="en-US" sz="2400" b="1" dirty="0">
                <a:latin typeface="Calibri" pitchFamily="34" charset="0"/>
                <a:cs typeface="Calibri" pitchFamily="34" charset="0"/>
              </a:rPr>
              <a:t>c=c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introduces remarkable rigidity in the molecule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It is popularly known as 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cis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-trans isomerism. These isomers have different spatial arrangements of atoms in three-dimensional space.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An illustration describing the geometric isomerism observed in the </a:t>
            </a:r>
            <a:r>
              <a:rPr lang="en-US" sz="2400" b="1" dirty="0">
                <a:latin typeface="Calibri" pitchFamily="34" charset="0"/>
                <a:cs typeface="Calibri" pitchFamily="34" charset="0"/>
              </a:rPr>
              <a:t>acyclic But-2-ene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molecule is provided below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76400" y="1088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Geometric Isomerism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188" y="4195891"/>
            <a:ext cx="5448812" cy="1867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178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61641" y="228601"/>
            <a:ext cx="9106359" cy="531144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Note that as a result of the double bond, it is not possible to obtain the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cis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from the trans just by rotating one of the doubly bonded carbons as it may appear so. Therefore the two isomers are two different compounds with different physical properties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Apart from the double bond for an alkene to show geometric isomerism, the groups attached to the doubly bonded carbon atoms should be different .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Cis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-trans isomers differ in stability, boiling point and melting point</a:t>
            </a:r>
          </a:p>
          <a:p>
            <a:pPr marL="109728" indent="0">
              <a:buNone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Take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cis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-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butanedioic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acid (maleic acid) and trans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butanedioic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acid (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fumaric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acid) for instance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914" y="4666636"/>
            <a:ext cx="2143125" cy="1339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 descr="Image result for maleic aci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726" y="4754967"/>
            <a:ext cx="1981201" cy="1018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604308" y="6166833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Maleic acid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48389" y="6063734"/>
            <a:ext cx="13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Fumaric</a:t>
            </a:r>
            <a:r>
              <a:rPr lang="en-US" dirty="0"/>
              <a:t> acid</a:t>
            </a:r>
          </a:p>
        </p:txBody>
      </p:sp>
    </p:spTree>
    <p:extLst>
      <p:ext uri="{BB962C8B-B14F-4D97-AF65-F5344CB8AC3E}">
        <p14:creationId xmlns:p14="http://schemas.microsoft.com/office/powerpoint/2010/main" val="18285569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76400" y="381000"/>
            <a:ext cx="8610600" cy="5181600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With the COOH groups being so close in the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cis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-isomer, there can be interaction between them, leading to the elimination of water to form a ring anhydride </a:t>
            </a:r>
          </a:p>
          <a:p>
            <a:pPr marL="109728" indent="0">
              <a:buNone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cis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isomer can lose water at about 150</a:t>
            </a:r>
            <a:r>
              <a:rPr lang="en-US" sz="2400" baseline="30000" dirty="0">
                <a:latin typeface="Calibri" pitchFamily="34" charset="0"/>
                <a:cs typeface="Calibri" pitchFamily="34" charset="0"/>
              </a:rPr>
              <a:t>o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C  to  form the anhydride which can readily be reconverted to the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cis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-isomer in the presence of water. The trans isomer cannot form such anhydride</a:t>
            </a:r>
          </a:p>
          <a:p>
            <a:pPr marL="109728" indent="0">
              <a:buNone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In living cells, there can be hydration of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fumaric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acid in a reaction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catalysed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by and enzyme called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fumarase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.</a:t>
            </a:r>
          </a:p>
          <a:p>
            <a:pPr marL="109728" indent="0">
              <a:buNone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The enzyme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fumarase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is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sterospecific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for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fumaric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acid but not the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cis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7763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52600" y="545162"/>
            <a:ext cx="8686800" cy="5017438"/>
          </a:xfrm>
        </p:spPr>
        <p:txBody>
          <a:bodyPr/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A similar situation can be seen in ring structures where the ring introduces molecular rigidity and causes geometric isomerism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905000"/>
            <a:ext cx="6629400" cy="398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88719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52600" y="609600"/>
            <a:ext cx="8763000" cy="54102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Compounds that exhibit optical isomerism feature similar bonds but different spatial arrangements of atoms forming non-superimposable mirror images. 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These arrangement of atoms enable them to interact with plane polarized light. Therefore molecules that are able to interact with plane polarized light are said to be </a:t>
            </a:r>
            <a:r>
              <a:rPr lang="en-US" sz="2400" b="1" i="1" dirty="0">
                <a:latin typeface="Calibri" pitchFamily="34" charset="0"/>
                <a:cs typeface="Calibri" pitchFamily="34" charset="0"/>
              </a:rPr>
              <a:t>optically active and so show optical isomerism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Depending on the spatial arrangement of the component atoms, optically active compounds may rotate the light either to the right or to the left.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Compounds that rotate the light to the right are said to be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d</a:t>
            </a:r>
            <a:r>
              <a:rPr lang="en-US" sz="2400" b="1" dirty="0" err="1">
                <a:latin typeface="Calibri" pitchFamily="34" charset="0"/>
                <a:cs typeface="Calibri" pitchFamily="34" charset="0"/>
              </a:rPr>
              <a:t>extro</a:t>
            </a:r>
            <a:r>
              <a:rPr lang="en-US" sz="2400" b="1" dirty="0">
                <a:latin typeface="Calibri" pitchFamily="34" charset="0"/>
                <a:cs typeface="Calibri" pitchFamily="34" charset="0"/>
              </a:rPr>
              <a:t>-rotatory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and those that rotate to the left are </a:t>
            </a:r>
            <a:r>
              <a:rPr lang="en-US" sz="2400" b="1" dirty="0" err="1">
                <a:latin typeface="Calibri" pitchFamily="34" charset="0"/>
                <a:cs typeface="Calibri" pitchFamily="34" charset="0"/>
              </a:rPr>
              <a:t>leavo</a:t>
            </a:r>
            <a:r>
              <a:rPr lang="en-US" sz="2400" b="1" dirty="0">
                <a:latin typeface="Calibri" pitchFamily="34" charset="0"/>
                <a:cs typeface="Calibri" pitchFamily="34" charset="0"/>
              </a:rPr>
              <a:t>-rotatory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109728" indent="0">
              <a:buNone/>
            </a:pPr>
            <a:br>
              <a:rPr lang="en-US" sz="2400" dirty="0">
                <a:latin typeface="Calibri" pitchFamily="34" charset="0"/>
                <a:cs typeface="Calibri" pitchFamily="34" charset="0"/>
              </a:rPr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764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Optical Isomerism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9695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52600" y="762002"/>
            <a:ext cx="8458200" cy="3809999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Compounds with tetrahedral structure in which four different groups are bonded to the central carbon.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Such a carbon becomes an asymmetric carbon, a chiral center or a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center.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Therefore optically active compounds are also chiral molecules.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These optical isomers that are related as an object is related to its mirror image are termed enantiomers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76400" y="152400"/>
            <a:ext cx="8229600" cy="56356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Why Some compounds are Optically Active</a:t>
            </a:r>
          </a:p>
        </p:txBody>
      </p:sp>
      <p:pic>
        <p:nvPicPr>
          <p:cNvPr id="10244" name="Picture 4" descr="Image result for enantiom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470" y="4207667"/>
            <a:ext cx="4456459" cy="188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0014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7748" y="132150"/>
            <a:ext cx="8382000" cy="5778691"/>
          </a:xfrm>
        </p:spPr>
        <p:txBody>
          <a:bodyPr/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Some optically active compounds may have more than one isomers due to presence of several chiral carbons.</a:t>
            </a: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The number of optically active isomers a compound can have may be calculated as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2</a:t>
            </a:r>
            <a:r>
              <a:rPr lang="en-US" b="1" baseline="30000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 where n refers to the number of chiral centers</a:t>
            </a:r>
          </a:p>
          <a:p>
            <a:endParaRPr lang="en-US" baseline="30000" dirty="0">
              <a:latin typeface="Calibri" pitchFamily="34" charset="0"/>
              <a:cs typeface="Calibri" pitchFamily="34" charset="0"/>
            </a:endParaRP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Lets take the case of tartaric acid as an example</a:t>
            </a: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9748" y="2355574"/>
            <a:ext cx="3391151" cy="272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1704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05000" y="838200"/>
            <a:ext cx="8305800" cy="5486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These are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equimolar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mixtures of two optically active isomers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Such mixtures are optically inactive.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Eg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. (+)-lactic acid and (-)-Lactic acid when mixed in equal proportions gives a racemic mixture which is optically inactive.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Some biological systems are able to separate racemic mixtures. The separation of racemic mixtures is called </a:t>
            </a:r>
            <a:r>
              <a:rPr lang="en-US" sz="2400" b="1" dirty="0">
                <a:latin typeface="Calibri" pitchFamily="34" charset="0"/>
                <a:cs typeface="Calibri" pitchFamily="34" charset="0"/>
              </a:rPr>
              <a:t>Resolution.</a:t>
            </a:r>
          </a:p>
          <a:p>
            <a:endParaRPr lang="en-US" sz="2400" b="1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Penicillium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glaucum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are able to utilize (+)-lactic acid but not the (-)-Lactic acid.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28800" y="2286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Racemic Mixtures</a:t>
            </a:r>
          </a:p>
        </p:txBody>
      </p:sp>
    </p:spTree>
    <p:extLst>
      <p:ext uri="{BB962C8B-B14F-4D97-AF65-F5344CB8AC3E}">
        <p14:creationId xmlns:p14="http://schemas.microsoft.com/office/powerpoint/2010/main" val="23192353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0" y="762000"/>
            <a:ext cx="9144000" cy="60960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itchFamily="34" charset="0"/>
                <a:cs typeface="Calibri" pitchFamily="34" charset="0"/>
              </a:rPr>
              <a:t>The physical properties of enantiomers, like melting point, boiling point, density and solubility in common solvents are identical. However, the direction of plane polarized light differs.</a:t>
            </a:r>
          </a:p>
          <a:p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r>
              <a:rPr lang="en-US" sz="2000" dirty="0">
                <a:latin typeface="Calibri" pitchFamily="34" charset="0"/>
                <a:cs typeface="Calibri" pitchFamily="34" charset="0"/>
              </a:rPr>
              <a:t>Enantiomers form crystals of the same type except that one crystal is the mirror image of the other. The two are called enantiomorphs.</a:t>
            </a:r>
          </a:p>
          <a:p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marL="109728" indent="0">
              <a:buNone/>
            </a:pPr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r>
              <a:rPr lang="en-US" sz="2000" dirty="0">
                <a:latin typeface="Calibri" pitchFamily="34" charset="0"/>
                <a:cs typeface="Calibri" pitchFamily="34" charset="0"/>
              </a:rPr>
              <a:t>The chemical properties for enantiomers are identical for the reactions with compounds which are not optically active. </a:t>
            </a:r>
          </a:p>
          <a:p>
            <a:pPr marL="109728" indent="0">
              <a:buNone/>
            </a:pPr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r>
              <a:rPr lang="en-US" sz="2000" dirty="0">
                <a:latin typeface="Calibri" pitchFamily="34" charset="0"/>
                <a:cs typeface="Calibri" pitchFamily="34" charset="0"/>
              </a:rPr>
              <a:t>Enantiomers have different physiochemical properties. For example, (-) -adrenaline is more active in contracting blood capillaries than (+) -adrenaline. Then, (-) -nicotine is more poisonous than (+) -nicotine.</a:t>
            </a:r>
          </a:p>
          <a:p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endParaRPr 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90600"/>
          </a:xfrm>
        </p:spPr>
        <p:txBody>
          <a:bodyPr/>
          <a:lstStyle/>
          <a:p>
            <a:r>
              <a:rPr lang="en-US" dirty="0"/>
              <a:t>Properties of Enantiomers</a:t>
            </a:r>
          </a:p>
        </p:txBody>
      </p:sp>
    </p:spTree>
    <p:extLst>
      <p:ext uri="{BB962C8B-B14F-4D97-AF65-F5344CB8AC3E}">
        <p14:creationId xmlns:p14="http://schemas.microsoft.com/office/powerpoint/2010/main" val="30189882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0" y="457200"/>
            <a:ext cx="9144000" cy="6400800"/>
          </a:xfrm>
        </p:spPr>
        <p:txBody>
          <a:bodyPr>
            <a:normAutofit/>
          </a:bodyPr>
          <a:lstStyle/>
          <a:p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r>
              <a:rPr lang="en-US" sz="2000" dirty="0" err="1">
                <a:latin typeface="Calibri" pitchFamily="34" charset="0"/>
                <a:cs typeface="Calibri" pitchFamily="34" charset="0"/>
              </a:rPr>
              <a:t>Polarimety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 is the process of producing plane polarized light and finding the extent of rotation of the light by optically active compounds.</a:t>
            </a:r>
          </a:p>
          <a:p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r>
              <a:rPr lang="en-US" sz="2000" dirty="0">
                <a:latin typeface="Calibri" pitchFamily="34" charset="0"/>
                <a:cs typeface="Calibri" pitchFamily="34" charset="0"/>
              </a:rPr>
              <a:t> The polarimeter is used to measure polarity. It is comprised of the following components:</a:t>
            </a:r>
          </a:p>
          <a:p>
            <a:pPr lvl="1"/>
            <a:r>
              <a:rPr lang="en-US" sz="2000" b="1" dirty="0">
                <a:latin typeface="Calibri" pitchFamily="34" charset="0"/>
                <a:cs typeface="Calibri" pitchFamily="34" charset="0"/>
              </a:rPr>
              <a:t>Light source: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sodium lamp is commonly used. It produces a yellow light of wavelength 589.3nm (often called the D-line of sodium).</a:t>
            </a:r>
          </a:p>
          <a:p>
            <a:pPr lvl="1"/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en-US" sz="2000" b="1" dirty="0">
                <a:latin typeface="Calibri" pitchFamily="34" charset="0"/>
                <a:cs typeface="Calibri" pitchFamily="34" charset="0"/>
              </a:rPr>
              <a:t>Polarizer: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this could be a polaroid or Nicol prism. The light passes through the polarizer to produce a plane-polarized light.</a:t>
            </a:r>
          </a:p>
          <a:p>
            <a:pPr lvl="1"/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en-US" sz="2000" b="1" dirty="0">
                <a:latin typeface="Calibri" pitchFamily="34" charset="0"/>
                <a:cs typeface="Calibri" pitchFamily="34" charset="0"/>
              </a:rPr>
              <a:t>Sample tube: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holds the solution of the compound under investigation.</a:t>
            </a:r>
          </a:p>
          <a:p>
            <a:pPr lvl="1"/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en-US" sz="2000" b="1" dirty="0">
                <a:latin typeface="Calibri" pitchFamily="34" charset="0"/>
                <a:cs typeface="Calibri" pitchFamily="34" charset="0"/>
              </a:rPr>
              <a:t>Analyzer: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this is also a polaroid or Nicol prism. The light finally goes through the analyzer which rotates in order to obtain a reading on a scale attached to it.</a:t>
            </a:r>
          </a:p>
          <a:p>
            <a:pPr lvl="1"/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marL="393192" lvl="1" indent="0">
              <a:buNone/>
            </a:pPr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marL="393192" lvl="1" indent="0">
              <a:buNone/>
            </a:pPr>
            <a:endParaRPr 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/>
              <a:t>POLARIMETRY</a:t>
            </a:r>
          </a:p>
        </p:txBody>
      </p:sp>
    </p:spTree>
    <p:extLst>
      <p:ext uri="{BB962C8B-B14F-4D97-AF65-F5344CB8AC3E}">
        <p14:creationId xmlns:p14="http://schemas.microsoft.com/office/powerpoint/2010/main" val="22111944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0" y="0"/>
            <a:ext cx="9144000" cy="6858000"/>
          </a:xfrm>
        </p:spPr>
        <p:txBody>
          <a:bodyPr>
            <a:normAutofit/>
          </a:bodyPr>
          <a:lstStyle/>
          <a:p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r>
              <a:rPr lang="en-US" sz="2000" dirty="0">
                <a:latin typeface="Calibri" pitchFamily="34" charset="0"/>
                <a:cs typeface="Calibri" pitchFamily="34" charset="0"/>
              </a:rPr>
              <a:t>The angle of rotation given by a solution depends on the:</a:t>
            </a:r>
          </a:p>
          <a:p>
            <a:pPr marL="681228" indent="-571500">
              <a:buFont typeface="+mj-lt"/>
              <a:buAutoNum type="romanUcPeriod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Nature of the molecules</a:t>
            </a:r>
          </a:p>
          <a:p>
            <a:pPr marL="681228" indent="-571500">
              <a:buFont typeface="+mj-lt"/>
              <a:buAutoNum type="romanUcPeriod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Concentration</a:t>
            </a:r>
          </a:p>
          <a:p>
            <a:pPr marL="681228" indent="-571500">
              <a:buFont typeface="+mj-lt"/>
              <a:buAutoNum type="romanUcPeriod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Temperature</a:t>
            </a:r>
          </a:p>
          <a:p>
            <a:pPr marL="681228" indent="-571500">
              <a:buFont typeface="+mj-lt"/>
              <a:buAutoNum type="romanUcPeriod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Wavelength of light</a:t>
            </a:r>
          </a:p>
          <a:p>
            <a:pPr marL="681228" indent="-571500">
              <a:buFont typeface="+mj-lt"/>
              <a:buAutoNum type="romanUcPeriod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Type of solvent</a:t>
            </a:r>
          </a:p>
          <a:p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r>
              <a:rPr lang="en-US" sz="2000" dirty="0">
                <a:latin typeface="Calibri" pitchFamily="34" charset="0"/>
                <a:cs typeface="Calibri" pitchFamily="34" charset="0"/>
              </a:rPr>
              <a:t>The specific rotation can be calculated from the observed rotation, which is measured in degrees (could be positive or negative), on the polarimeter.</a:t>
            </a:r>
          </a:p>
          <a:p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r>
              <a:rPr lang="en-US" sz="2000" dirty="0">
                <a:latin typeface="Calibri" pitchFamily="34" charset="0"/>
                <a:cs typeface="Calibri" pitchFamily="34" charset="0"/>
              </a:rPr>
              <a:t>The specific rotation is the amount of rotation given by 1.0gram of optically active sample in 1.0ml of solution in a polarimeter tube with a path length of 1.0dm at a specified temperature, wavelength, using a known solvent.</a:t>
            </a:r>
          </a:p>
          <a:p>
            <a:pPr marL="109728" indent="0">
              <a:buNone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 </a:t>
            </a:r>
          </a:p>
          <a:p>
            <a:r>
              <a:rPr lang="en-US" sz="2000" dirty="0">
                <a:latin typeface="Calibri" pitchFamily="34" charset="0"/>
                <a:cs typeface="Calibri" pitchFamily="34" charset="0"/>
              </a:rPr>
              <a:t>The specific rotation of a compound at 25</a:t>
            </a:r>
            <a:r>
              <a:rPr lang="he-IL" sz="2000" dirty="0"/>
              <a:t> ℃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, using the sodium D line can be calculated using the formula:</a:t>
            </a:r>
          </a:p>
        </p:txBody>
      </p:sp>
    </p:spTree>
    <p:extLst>
      <p:ext uri="{BB962C8B-B14F-4D97-AF65-F5344CB8AC3E}">
        <p14:creationId xmlns:p14="http://schemas.microsoft.com/office/powerpoint/2010/main" val="7981259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0" y="0"/>
            <a:ext cx="9144000" cy="6858000"/>
          </a:xfrm>
        </p:spPr>
        <p:txBody>
          <a:bodyPr/>
          <a:lstStyle/>
          <a:p>
            <a:pPr marL="109728" indent="0">
              <a:buNone/>
            </a:pPr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marL="109728" indent="0">
              <a:buNone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		</a:t>
            </a:r>
          </a:p>
          <a:p>
            <a:pPr marL="109728" indent="0">
              <a:buNone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			[</a:t>
            </a:r>
            <a:r>
              <a:rPr lang="el-GR" sz="2000" dirty="0">
                <a:latin typeface="Calibri" pitchFamily="34" charset="0"/>
                <a:cs typeface="Calibri" pitchFamily="34" charset="0"/>
              </a:rPr>
              <a:t>α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]</a:t>
            </a:r>
            <a:r>
              <a:rPr lang="he-IL" sz="2000" dirty="0">
                <a:latin typeface="Calibri" pitchFamily="34" charset="0"/>
                <a:cs typeface="Calibri" pitchFamily="34" charset="0"/>
              </a:rPr>
              <a:t> </a:t>
            </a:r>
            <a:r>
              <a:rPr lang="he-IL" sz="2000" baseline="-25000" dirty="0">
                <a:latin typeface="Calibri" pitchFamily="34" charset="0"/>
                <a:cs typeface="Calibri" pitchFamily="34" charset="0"/>
              </a:rPr>
              <a:t>‣</a:t>
            </a:r>
            <a:r>
              <a:rPr lang="he-IL" sz="20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aseline="30000" dirty="0">
                <a:latin typeface="Calibri" pitchFamily="34" charset="0"/>
                <a:cs typeface="Calibri" pitchFamily="34" charset="0"/>
              </a:rPr>
              <a:t>25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= </a:t>
            </a:r>
            <a:r>
              <a:rPr lang="el-GR" sz="2000" dirty="0">
                <a:latin typeface="Calibri" pitchFamily="34" charset="0"/>
                <a:cs typeface="Calibri" pitchFamily="34" charset="0"/>
              </a:rPr>
              <a:t>θ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/l c</a:t>
            </a:r>
          </a:p>
          <a:p>
            <a:pPr marL="109728" indent="0">
              <a:buNone/>
            </a:pPr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marL="109728" indent="0">
              <a:buNone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	where [</a:t>
            </a:r>
            <a:r>
              <a:rPr lang="el-GR" sz="2000" dirty="0">
                <a:latin typeface="Calibri" pitchFamily="34" charset="0"/>
                <a:cs typeface="Calibri" pitchFamily="34" charset="0"/>
              </a:rPr>
              <a:t>α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]</a:t>
            </a:r>
            <a:r>
              <a:rPr lang="he-IL" sz="2000" dirty="0">
                <a:latin typeface="Calibri" pitchFamily="34" charset="0"/>
                <a:cs typeface="Calibri" pitchFamily="34" charset="0"/>
              </a:rPr>
              <a:t> </a:t>
            </a:r>
            <a:r>
              <a:rPr lang="he-IL" sz="2000" baseline="-25000" dirty="0">
                <a:latin typeface="Calibri" pitchFamily="34" charset="0"/>
                <a:cs typeface="Calibri" pitchFamily="34" charset="0"/>
              </a:rPr>
              <a:t>‣</a:t>
            </a:r>
            <a:r>
              <a:rPr lang="he-IL" sz="20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aseline="30000" dirty="0">
                <a:latin typeface="Calibri" pitchFamily="34" charset="0"/>
                <a:cs typeface="Calibri" pitchFamily="34" charset="0"/>
              </a:rPr>
              <a:t>25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 is the specific rotation of sodium D-line at 25</a:t>
            </a:r>
            <a:r>
              <a:rPr lang="he-IL" sz="2000" dirty="0">
                <a:latin typeface="Calibri" pitchFamily="34" charset="0"/>
                <a:cs typeface="Calibri" pitchFamily="34" charset="0"/>
              </a:rPr>
              <a:t> ℃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en-US" dirty="0"/>
              <a:t>	</a:t>
            </a:r>
            <a:r>
              <a:rPr lang="el-GR" sz="2000" dirty="0">
                <a:latin typeface="Calibri" pitchFamily="34" charset="0"/>
                <a:cs typeface="Calibri" pitchFamily="34" charset="0"/>
              </a:rPr>
              <a:t>θ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 = observed rotation</a:t>
            </a:r>
          </a:p>
          <a:p>
            <a:pPr marL="109728" indent="0">
              <a:buNone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	 l = length of polarimeter tube in decimeter (1 dm=10cm)</a:t>
            </a:r>
          </a:p>
          <a:p>
            <a:pPr marL="109728" indent="0">
              <a:buNone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	 c = concentration of sample in g/ml</a:t>
            </a:r>
          </a:p>
        </p:txBody>
      </p:sp>
    </p:spTree>
    <p:extLst>
      <p:ext uri="{BB962C8B-B14F-4D97-AF65-F5344CB8AC3E}">
        <p14:creationId xmlns:p14="http://schemas.microsoft.com/office/powerpoint/2010/main" val="3782328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C5FFE-908D-587E-375A-20E144D43E55}"/>
              </a:ext>
            </a:extLst>
          </p:cNvPr>
          <p:cNvSpPr txBox="1"/>
          <p:nvPr/>
        </p:nvSpPr>
        <p:spPr>
          <a:xfrm>
            <a:off x="12115800" y="6334780"/>
            <a:ext cx="629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KWC light</Template>
  <TotalTime>11786</TotalTime>
  <Words>2694</Words>
  <Application>Microsoft Office PowerPoint</Application>
  <PresentationFormat>Widescreen</PresentationFormat>
  <Paragraphs>324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Arial</vt:lpstr>
      <vt:lpstr>Arial Rounded MT Bold</vt:lpstr>
      <vt:lpstr>Bahnschrift SemiBold</vt:lpstr>
      <vt:lpstr>Calibri</vt:lpstr>
      <vt:lpstr>Cambria Math</vt:lpstr>
      <vt:lpstr>Minion Pro</vt:lpstr>
      <vt:lpstr>Times New Roman</vt:lpstr>
      <vt:lpstr>Wingdings</vt:lpstr>
      <vt:lpstr>Office Theme</vt:lpstr>
      <vt:lpstr>GAC 175: BIOLOGICAL CHEMISTRY  </vt:lpstr>
      <vt:lpstr>ACID AND BASES</vt:lpstr>
      <vt:lpstr>FOCUS</vt:lpstr>
      <vt:lpstr>THREE CORE CONCEPTS</vt:lpstr>
      <vt:lpstr>Arrhenius Concept</vt:lpstr>
      <vt:lpstr>Bronsted-Lowry Concept</vt:lpstr>
      <vt:lpstr>PowerPoint Presentation</vt:lpstr>
      <vt:lpstr>LEWIS CONCEPT</vt:lpstr>
      <vt:lpstr> </vt:lpstr>
      <vt:lpstr>Relative Strength of Acids and Bases </vt:lpstr>
      <vt:lpstr>Calculating Strength of Strong Acids</vt:lpstr>
      <vt:lpstr>Strength of Strong Acids</vt:lpstr>
      <vt:lpstr>PowerPoint Presentation</vt:lpstr>
      <vt:lpstr>Strength of a Base</vt:lpstr>
      <vt:lpstr>Values of Kb for some common Weak bases</vt:lpstr>
      <vt:lpstr>PowerPoint Presentation</vt:lpstr>
      <vt:lpstr>Calculating  acidity and basicity</vt:lpstr>
      <vt:lpstr>PowerPoint Presentation</vt:lpstr>
      <vt:lpstr>Measurement of pH</vt:lpstr>
      <vt:lpstr>PowerPoint Presentation</vt:lpstr>
      <vt:lpstr>Importance of Acids and Bases </vt:lpstr>
      <vt:lpstr>Isomerism </vt:lpstr>
      <vt:lpstr>PowerPoint Presentation</vt:lpstr>
      <vt:lpstr>Introduction</vt:lpstr>
      <vt:lpstr>Types of Isomerism</vt:lpstr>
      <vt:lpstr>PowerPoint Presentation</vt:lpstr>
      <vt:lpstr>Structural Isomerism </vt:lpstr>
      <vt:lpstr>Chain Isomerism </vt:lpstr>
      <vt:lpstr>PowerPoint Presentation</vt:lpstr>
      <vt:lpstr>Positional Isomerism </vt:lpstr>
      <vt:lpstr>Functional Isomerism</vt:lpstr>
      <vt:lpstr>Tautomerism</vt:lpstr>
      <vt:lpstr>Stereoisomerism </vt:lpstr>
      <vt:lpstr>Geometric Isomerism </vt:lpstr>
      <vt:lpstr>PowerPoint Presentation</vt:lpstr>
      <vt:lpstr>PowerPoint Presentation</vt:lpstr>
      <vt:lpstr>PowerPoint Presentation</vt:lpstr>
      <vt:lpstr>Optical Isomerism </vt:lpstr>
      <vt:lpstr>Why Some compounds are Optically Active</vt:lpstr>
      <vt:lpstr>PowerPoint Presentation</vt:lpstr>
      <vt:lpstr>Racemic Mixtures</vt:lpstr>
      <vt:lpstr>Properties of Enantiomers</vt:lpstr>
      <vt:lpstr>POLARIMETRY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 Hope</dc:creator>
  <cp:lastModifiedBy>Amma Aboagyewa LARBI</cp:lastModifiedBy>
  <cp:revision>183</cp:revision>
  <dcterms:created xsi:type="dcterms:W3CDTF">2023-07-24T13:47:00Z</dcterms:created>
  <dcterms:modified xsi:type="dcterms:W3CDTF">2026-04-29T12:37:50Z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1033-11.2.0.9629</vt:lpwstr>
  </property>
</Properties>
</file>