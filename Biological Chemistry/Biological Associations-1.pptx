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5" r:id="rId10"/>
    <p:sldId id="326" r:id="rId11"/>
    <p:sldId id="330" r:id="rId12"/>
    <p:sldId id="331" r:id="rId13"/>
    <p:sldId id="332" r:id="rId14"/>
    <p:sldId id="333" r:id="rId15"/>
    <p:sldId id="262" r:id="rId16"/>
    <p:sldId id="280" r:id="rId17"/>
    <p:sldId id="327" r:id="rId18"/>
    <p:sldId id="328" r:id="rId19"/>
    <p:sldId id="334" r:id="rId20"/>
    <p:sldId id="329" r:id="rId21"/>
    <p:sldId id="335" r:id="rId22"/>
    <p:sldId id="336" r:id="rId23"/>
    <p:sldId id="32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8" autoAdjust="0"/>
    <p:restoredTop sz="94842" autoAdjust="0"/>
  </p:normalViewPr>
  <p:slideViewPr>
    <p:cSldViewPr snapToGrid="0">
      <p:cViewPr varScale="1">
        <p:scale>
          <a:sx n="66" d="100"/>
          <a:sy n="66" d="100"/>
        </p:scale>
        <p:origin x="51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8992A-A482-4EB1-AEE9-95D98E38D75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3A218-3910-4F57-A977-B82FC47AB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58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F2F37-7539-4117-A8D2-5286C229266F}" type="datetime1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06E63-5643-47E3-9C31-FE0E1505122E}" type="datetime1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760BC-110A-4F3B-87EC-E2E3F1A145DE}" type="datetime1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7965F-706A-4A9D-BCFD-AEAB47E341C9}" type="datetime1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F6D6E-59B3-4095-98A1-541C721A7390}" type="datetime1">
              <a:rPr lang="en-GB" smtClean="0"/>
              <a:t>30/04/2026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CFEC6-5CB7-464B-A741-DA49BD131A27}" type="datetime1">
              <a:rPr lang="en-GB" smtClean="0"/>
              <a:t>30/04/2026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0A5E-3960-4C0E-9448-E8D3EAE605BA}" type="datetime1">
              <a:rPr lang="en-GB" smtClean="0"/>
              <a:t>30/04/2026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7FFF0-0792-420C-8872-3BD218B6E95A}" type="datetime1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DB5F1-6B2A-42BD-A27C-5DFDAA38772B}" type="datetime1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27A81-E881-4906-9229-7EBFA3BE8482}" type="datetime1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87A73-16C1-45A7-B7EA-7A5B61F5753E}" type="datetime1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07FBD96-60D4-4FE8-A24B-239DB5F0EB25}" type="datetime1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316C4710-B4F7-4359-B1ED-F19BB5470050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BABE33-EA44-850B-CEA3-02EAB69E598D}"/>
              </a:ext>
            </a:extLst>
          </p:cNvPr>
          <p:cNvSpPr txBox="1">
            <a:spLocks/>
          </p:cNvSpPr>
          <p:nvPr/>
        </p:nvSpPr>
        <p:spPr>
          <a:xfrm>
            <a:off x="928048" y="641445"/>
            <a:ext cx="9930452" cy="2368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kern="1200" spc="-1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sz="5400" b="1" dirty="0">
                <a:solidFill>
                  <a:srgbClr val="C00000"/>
                </a:solidFill>
              </a:rPr>
              <a:t>GAC 175: BIOLOGICAL CHEMISTRY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42B2184-8A62-7416-574D-D466CBC54E20}"/>
              </a:ext>
            </a:extLst>
          </p:cNvPr>
          <p:cNvSpPr txBox="1">
            <a:spLocks/>
          </p:cNvSpPr>
          <p:nvPr/>
        </p:nvSpPr>
        <p:spPr bwMode="auto">
          <a:xfrm>
            <a:off x="5943601" y="3848101"/>
            <a:ext cx="5638800" cy="266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182563" indent="-1825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5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0250" indent="-1825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4888" indent="-1825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7450" indent="-1365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b="1" i="1" dirty="0">
                <a:cs typeface="Times New Roman" panose="02020603050405020304" pitchFamily="18" charset="0"/>
              </a:rPr>
              <a:t>Amma A Larbi, PhD   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900" i="1" dirty="0">
                <a:cs typeface="Times New Roman" panose="02020603050405020304" pitchFamily="18" charset="0"/>
              </a:rPr>
              <a:t>Department of Biochemistry and Biotechnology,</a:t>
            </a:r>
          </a:p>
          <a:p>
            <a:pPr>
              <a:lnSpc>
                <a:spcPct val="120000"/>
              </a:lnSpc>
            </a:pPr>
            <a:r>
              <a:rPr lang="en-US" sz="1900" i="1" dirty="0">
                <a:cs typeface="Times New Roman" panose="02020603050405020304" pitchFamily="18" charset="0"/>
              </a:rPr>
              <a:t>Office: SCB, RM 11                      ammalarbi@gmail.com</a:t>
            </a:r>
          </a:p>
          <a:p>
            <a:r>
              <a:rPr lang="en-US" sz="1900" i="1" dirty="0"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1B9C61-A2FB-84E8-1769-39BAF95F3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581400"/>
            <a:ext cx="44196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772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56DAF-E59E-32F1-BC24-277305E7F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32645"/>
            <a:ext cx="10972800" cy="2196922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BIOLOGICAL ASSOCIATIONS</a:t>
            </a:r>
            <a:endParaRPr lang="en-US" sz="6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F2737-EDD1-49EA-390D-B9CD93EAC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2</a:t>
            </a:fld>
            <a:endParaRPr lang="en-GB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888000-C4AA-95E0-BED9-ACCD23585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98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2BC3-5546-E828-690C-E935DF26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DFF25-6F2C-26DA-7A68-0B6464840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biomedical research, a biological association refers to a statistical or observed relationship between two or more variables . Such as </a:t>
            </a:r>
          </a:p>
          <a:p>
            <a:r>
              <a:rPr lang="en-US" dirty="0"/>
              <a:t>Exposure (e.g., smoking)</a:t>
            </a:r>
          </a:p>
          <a:p>
            <a:r>
              <a:rPr lang="en-US" dirty="0"/>
              <a:t>Outcome (e.g., lung cancer)</a:t>
            </a:r>
          </a:p>
          <a:p>
            <a:r>
              <a:rPr lang="en-US" dirty="0"/>
              <a:t>Confounders (e.g., age, socioeconomic status)</a:t>
            </a:r>
          </a:p>
          <a:p>
            <a:endParaRPr lang="en-US" dirty="0"/>
          </a:p>
          <a:p>
            <a:r>
              <a:rPr lang="en-US" dirty="0"/>
              <a:t>It does not imply causation on its own.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DDEA9-908C-678E-6592-F7ED0BB9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0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9CFA0-498C-4F7B-4FF4-13632FC2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Spectrum of Symbiotic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40429-E3C1-E0D9-4487-E37B232F3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Biologically, organisms exist on a spectrum of interdependence. Understanding this spectrum is crucial for microbiology and immunology .</a:t>
            </a:r>
          </a:p>
          <a:p>
            <a:r>
              <a:rPr lang="en-US" b="1" dirty="0"/>
              <a:t>Mutualism (+/+):</a:t>
            </a:r>
            <a:r>
              <a:rPr lang="en-US" dirty="0"/>
              <a:t> Both organisms benefit.</a:t>
            </a:r>
          </a:p>
          <a:p>
            <a:pPr lvl="1"/>
            <a:r>
              <a:rPr lang="en-US" i="1" dirty="0"/>
              <a:t>Clinical Example:</a:t>
            </a:r>
            <a:r>
              <a:rPr lang="en-US" dirty="0"/>
              <a:t> </a:t>
            </a:r>
            <a:r>
              <a:rPr lang="en-US" i="1" dirty="0"/>
              <a:t>E. coli</a:t>
            </a:r>
            <a:r>
              <a:rPr lang="en-US" dirty="0"/>
              <a:t> in the human gut synthesizing Vitamin K for the host while receiving nutrients.</a:t>
            </a:r>
          </a:p>
          <a:p>
            <a:pPr lvl="1"/>
            <a:endParaRPr lang="en-US" dirty="0"/>
          </a:p>
          <a:p>
            <a:r>
              <a:rPr lang="en-US" b="1" dirty="0"/>
              <a:t>Commensalism (+/0):</a:t>
            </a:r>
            <a:r>
              <a:rPr lang="en-US" dirty="0"/>
              <a:t> One organism benefits, the other is unaffected.</a:t>
            </a:r>
          </a:p>
          <a:p>
            <a:pPr lvl="1"/>
            <a:r>
              <a:rPr lang="en-US" i="1" dirty="0"/>
              <a:t>Clinical Example:</a:t>
            </a:r>
            <a:r>
              <a:rPr lang="en-US" dirty="0"/>
              <a:t> </a:t>
            </a:r>
            <a:r>
              <a:rPr lang="en-US" i="1" dirty="0"/>
              <a:t>Staphylococcus epidermidis</a:t>
            </a:r>
            <a:r>
              <a:rPr lang="en-US" dirty="0"/>
              <a:t> residing on human skin.</a:t>
            </a:r>
          </a:p>
          <a:p>
            <a:pPr lvl="1"/>
            <a:endParaRPr lang="en-US" dirty="0"/>
          </a:p>
          <a:p>
            <a:r>
              <a:rPr lang="en-US" b="1" dirty="0"/>
              <a:t>Parasitism (+/-):</a:t>
            </a:r>
            <a:r>
              <a:rPr lang="en-US" dirty="0"/>
              <a:t> The parasite benefits at the expense of the host.</a:t>
            </a:r>
          </a:p>
          <a:p>
            <a:pPr lvl="1"/>
            <a:r>
              <a:rPr lang="en-US" i="1" dirty="0"/>
              <a:t>Clinical Example:</a:t>
            </a:r>
            <a:r>
              <a:rPr lang="en-US" dirty="0"/>
              <a:t> </a:t>
            </a:r>
            <a:r>
              <a:rPr lang="en-US" i="1" dirty="0"/>
              <a:t>Plasmodium falciparum</a:t>
            </a:r>
            <a:r>
              <a:rPr lang="en-US" dirty="0"/>
              <a:t> (malaria) or </a:t>
            </a:r>
            <a:r>
              <a:rPr lang="en-US" i="1" dirty="0"/>
              <a:t>Mycobacterium tuberculosis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8CB0A-69E1-C09C-1117-0486ACD7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333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4622-9732-7F4F-0488-287D7F1F1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From Association to Causation (Koch's Postulates)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791B1-1D93-5709-0E08-45BD28FA3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gold standard for infectious disease causation remains Koch's Postulates </a:t>
            </a:r>
          </a:p>
          <a:p>
            <a:r>
              <a:rPr lang="en-US" b="1" dirty="0"/>
              <a:t>Association:</a:t>
            </a:r>
            <a:r>
              <a:rPr lang="en-US" dirty="0"/>
              <a:t> The microorganism must be present in every case of the disease.</a:t>
            </a:r>
          </a:p>
          <a:p>
            <a:r>
              <a:rPr lang="en-US" b="1" dirty="0"/>
              <a:t>Isolation:</a:t>
            </a:r>
            <a:r>
              <a:rPr lang="en-US" dirty="0"/>
              <a:t> The organism must be isolated from the diseased host and grown in pure culture.</a:t>
            </a:r>
          </a:p>
          <a:p>
            <a:r>
              <a:rPr lang="en-US" b="1" dirty="0"/>
              <a:t>Causation:</a:t>
            </a:r>
            <a:r>
              <a:rPr lang="en-US" dirty="0"/>
              <a:t> The specific disease must be reproduced when the pure culture is inoculated into a healthy susceptible host.</a:t>
            </a:r>
          </a:p>
          <a:p>
            <a:r>
              <a:rPr lang="en-US" b="1" dirty="0"/>
              <a:t>Re-isolation:</a:t>
            </a:r>
            <a:r>
              <a:rPr lang="en-US" dirty="0"/>
              <a:t> The organism must be re-isolated from the experimentally infected host.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97449-3AA7-03E7-FBB7-63EE34AC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184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E6C92-5B41-2B11-330D-CB2FD00D3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Types of Associations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D4F9B-36E5-9208-0DEA-0D4CC51D3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Positive association</a:t>
            </a:r>
            <a:br>
              <a:rPr lang="en-US" dirty="0"/>
            </a:br>
            <a:r>
              <a:rPr lang="en-US" dirty="0"/>
              <a:t>Increase in one variable → increase in another</a:t>
            </a:r>
            <a:br>
              <a:rPr lang="en-US" dirty="0"/>
            </a:br>
            <a:r>
              <a:rPr lang="en-US" i="1" dirty="0" err="1"/>
              <a:t>eg.</a:t>
            </a:r>
            <a:r>
              <a:rPr lang="en-US" i="1" dirty="0"/>
              <a:t> </a:t>
            </a:r>
            <a:r>
              <a:rPr lang="en-US" dirty="0"/>
              <a:t>Blood pressure vs age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Negative association</a:t>
            </a:r>
            <a:br>
              <a:rPr lang="en-US" dirty="0"/>
            </a:br>
            <a:r>
              <a:rPr lang="en-US" dirty="0"/>
              <a:t>Increase in one variable → decrease in another</a:t>
            </a:r>
            <a:br>
              <a:rPr lang="en-US" dirty="0"/>
            </a:br>
            <a:r>
              <a:rPr lang="en-US" i="1" dirty="0" err="1"/>
              <a:t>eg</a:t>
            </a:r>
            <a:r>
              <a:rPr lang="en-US" i="1" dirty="0"/>
              <a:t> </a:t>
            </a:r>
            <a:r>
              <a:rPr lang="en-US" dirty="0"/>
              <a:t> Physical activity vs BMI </a:t>
            </a:r>
          </a:p>
          <a:p>
            <a:endParaRPr lang="en-US" dirty="0"/>
          </a:p>
          <a:p>
            <a:r>
              <a:rPr lang="en-US" b="1" dirty="0"/>
              <a:t>No association</a:t>
            </a:r>
            <a:br>
              <a:rPr lang="en-US" dirty="0"/>
            </a:br>
            <a:r>
              <a:rPr lang="en-US" dirty="0"/>
              <a:t>Variables are independent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D184A-17BF-3FC5-8FB1-D5C50DC8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77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6F71B-7D6E-B174-8A4A-DCD2EF996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Association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750C4-1414-925E-3D7B-656B90086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(a) </a:t>
            </a:r>
            <a:r>
              <a:rPr lang="en-US" b="1" dirty="0"/>
              <a:t>Relative Risk (RR)</a:t>
            </a:r>
          </a:p>
          <a:p>
            <a:r>
              <a:rPr lang="en-US" dirty="0"/>
              <a:t>Used in cohort studies</a:t>
            </a:r>
          </a:p>
          <a:p>
            <a:r>
              <a:rPr lang="en-US" dirty="0"/>
              <a:t>RR=Incidence in exposed/Incidence </a:t>
            </a:r>
            <a:r>
              <a:rPr lang="en-US"/>
              <a:t>in unexposed</a:t>
            </a:r>
            <a:r>
              <a:rPr lang="en-US" dirty="0"/>
              <a:t>	</a:t>
            </a:r>
          </a:p>
          <a:p>
            <a:r>
              <a:rPr lang="en-US" dirty="0"/>
              <a:t>​RR = 1 → No association</a:t>
            </a:r>
          </a:p>
          <a:p>
            <a:r>
              <a:rPr lang="en-US" dirty="0"/>
              <a:t>RR &gt; 1 → Risk factor</a:t>
            </a:r>
          </a:p>
          <a:p>
            <a:r>
              <a:rPr lang="en-US" dirty="0"/>
              <a:t>RR &lt; 1 → Protective factor</a:t>
            </a:r>
          </a:p>
          <a:p>
            <a:endParaRPr lang="en-US" dirty="0"/>
          </a:p>
          <a:p>
            <a:r>
              <a:rPr lang="en-US" dirty="0"/>
              <a:t>(b) </a:t>
            </a:r>
            <a:r>
              <a:rPr lang="en-US" b="1" dirty="0"/>
              <a:t>Odds Ratio (OR)</a:t>
            </a:r>
          </a:p>
          <a:p>
            <a:r>
              <a:rPr lang="en-US" dirty="0"/>
              <a:t>Used in case-control studies</a:t>
            </a:r>
          </a:p>
          <a:p>
            <a:r>
              <a:rPr lang="en-US" dirty="0"/>
              <a:t>OR=</a:t>
            </a:r>
            <a:r>
              <a:rPr lang="en-US" dirty="0" err="1"/>
              <a:t>bc</a:t>
            </a:r>
            <a:r>
              <a:rPr lang="en-US" dirty="0"/>
              <a:t>/ad	</a:t>
            </a:r>
          </a:p>
          <a:p>
            <a:r>
              <a:rPr lang="en-US" dirty="0"/>
              <a:t>​Interpretation similar to RR for rare diseases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B59CD-4A51-9C9F-F12B-567416FF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545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EFE2C-07B4-3429-B2FC-8B5B1E213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718A7-8C72-CCC2-A9CF-747E64BCC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.(c) Correlation Coefficient (r)</a:t>
            </a:r>
          </a:p>
          <a:p>
            <a:r>
              <a:rPr lang="en-US" dirty="0"/>
              <a:t>Range: -1 to +1  Measures linear relationship</a:t>
            </a:r>
          </a:p>
          <a:p>
            <a:r>
              <a:rPr lang="en-US" dirty="0"/>
              <a:t>Value of r	</a:t>
            </a:r>
          </a:p>
          <a:p>
            <a:r>
              <a:rPr lang="en-US" dirty="0"/>
              <a:t>Interpretation+1	Perfect positive    0	No correlation    -1	Perfect negative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b="1" dirty="0"/>
              <a:t>Confounding and Bias Confounder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/>
              <a:t>Variable associated with both exposure and outcome  Bias: Systematic error in study design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eg.</a:t>
            </a:r>
            <a:r>
              <a:rPr lang="en-US" dirty="0"/>
              <a:t> Smoking confounding alcohol–cancer relationship </a:t>
            </a:r>
          </a:p>
          <a:p>
            <a:pPr marL="0" indent="0">
              <a:buNone/>
            </a:pPr>
            <a:r>
              <a:rPr lang="en-US" dirty="0"/>
              <a:t>Selection bias in hospital-based studies</a:t>
            </a:r>
          </a:p>
          <a:p>
            <a:endParaRPr lang="en-US" dirty="0"/>
          </a:p>
          <a:p>
            <a:r>
              <a:rPr lang="en-US" b="1" dirty="0"/>
              <a:t>Clinical Relevance </a:t>
            </a:r>
            <a:r>
              <a:rPr lang="en-US" dirty="0"/>
              <a:t>Identifying disease risk factors, Evaluating interventions and Evidence-based medicine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9ED80-BA0D-E27B-ECE4-EC3EEFD5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77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D7CB4-C8C1-16AE-8DC3-4150C3E1C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Oxidation and Reduction Reactions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D80D5-D078-C3A8-7233-23EADAA1A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5FF4D-13F1-3E46-3E8E-F509EF636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496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4110-2202-9DF8-C8EF-8D1DD2E5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1E369-484F-AB04-F1E9-A354B922E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Oxidation</a:t>
            </a:r>
          </a:p>
          <a:p>
            <a:r>
              <a:rPr lang="en-US" dirty="0"/>
              <a:t>Loss of electrons </a:t>
            </a:r>
          </a:p>
          <a:p>
            <a:r>
              <a:rPr lang="en-US" dirty="0"/>
              <a:t>Increase in oxidation state </a:t>
            </a:r>
          </a:p>
          <a:p>
            <a:r>
              <a:rPr lang="en-US" dirty="0"/>
              <a:t>Loss of electrons; often results in the gain of oxygen or loss of hydrogen.</a:t>
            </a:r>
          </a:p>
          <a:p>
            <a:endParaRPr lang="en-US" dirty="0"/>
          </a:p>
          <a:p>
            <a:r>
              <a:rPr lang="en-US" b="1" dirty="0"/>
              <a:t>Reduction</a:t>
            </a:r>
          </a:p>
          <a:p>
            <a:r>
              <a:rPr lang="en-US" dirty="0"/>
              <a:t>Gain of electrons </a:t>
            </a:r>
          </a:p>
          <a:p>
            <a:r>
              <a:rPr lang="en-US" dirty="0"/>
              <a:t>Decrease in oxidation state </a:t>
            </a:r>
          </a:p>
          <a:p>
            <a:r>
              <a:rPr lang="en-US" dirty="0"/>
              <a:t>Gain of electrons; often results in the loss of oxygen or gain of hydrogen.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1768F-D13D-F19F-8EC2-CEB804AA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8543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7932D-EC48-C169-CC3F-022DFEC5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Redox Reactions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EE3D7-A8FA-CBF8-DED8-146C2D469D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Oxidation and reduction always occur together.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𝑍𝑛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𝑍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𝐶𝑢</m:t>
                    </m:r>
                  </m:oMath>
                </a14:m>
                <a:endParaRPr lang="ar-AE" dirty="0"/>
              </a:p>
              <a:p>
                <a:r>
                  <a:rPr lang="en-US" dirty="0"/>
                  <a:t>Zn is oxidized </a:t>
                </a:r>
              </a:p>
              <a:p>
                <a:r>
                  <a:rPr lang="en-US" dirty="0"/>
                  <a:t>Cu²⁺ is reduced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5EE3D7-A8FA-CBF8-DED8-146C2D469D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0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D1E6C-4EFF-ED7C-C8F1-22E6C94E6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524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A29D2-FE7B-871E-905B-8B2E1C0E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Oxidizing and Reducing Agents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EF018FD-AF4F-3429-3EBD-7B4FE8A1C0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0139" y="2483318"/>
          <a:ext cx="11232682" cy="2714325"/>
        </p:xfrm>
        <a:graphic>
          <a:graphicData uri="http://schemas.openxmlformats.org/drawingml/2006/table">
            <a:tbl>
              <a:tblPr/>
              <a:tblGrid>
                <a:gridCol w="5616341">
                  <a:extLst>
                    <a:ext uri="{9D8B030D-6E8A-4147-A177-3AD203B41FA5}">
                      <a16:colId xmlns:a16="http://schemas.microsoft.com/office/drawing/2014/main" val="3345518989"/>
                    </a:ext>
                  </a:extLst>
                </a:gridCol>
                <a:gridCol w="5616341">
                  <a:extLst>
                    <a:ext uri="{9D8B030D-6E8A-4147-A177-3AD203B41FA5}">
                      <a16:colId xmlns:a16="http://schemas.microsoft.com/office/drawing/2014/main" val="320005850"/>
                    </a:ext>
                  </a:extLst>
                </a:gridCol>
              </a:tblGrid>
              <a:tr h="9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41929"/>
                  </a:ext>
                </a:extLst>
              </a:tr>
              <a:tr h="9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Oxidizing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Accepts electrons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741821"/>
                  </a:ext>
                </a:extLst>
              </a:tr>
              <a:tr h="904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Reducing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Donates electrons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76156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9A7E3-4823-0B13-496B-2A7FA946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0718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DD89-2565-5A46-328B-75F1738E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Biological Redox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9BCD0-F118-FD04-F582-3DAE84E6B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(a) Cellular Respiration</a:t>
            </a:r>
          </a:p>
          <a:p>
            <a:r>
              <a:rPr lang="en-US" dirty="0"/>
              <a:t>Occurs in mitochondria </a:t>
            </a:r>
          </a:p>
          <a:p>
            <a:endParaRPr lang="en-US" dirty="0"/>
          </a:p>
          <a:p>
            <a:r>
              <a:rPr lang="en-US" dirty="0"/>
              <a:t>Involves electron transfer through the </a:t>
            </a:r>
            <a:r>
              <a:rPr lang="en-US" b="1" dirty="0"/>
              <a:t>Electron Transport Chain (ETC)</a:t>
            </a:r>
            <a:r>
              <a:rPr lang="en-US" dirty="0"/>
              <a:t> </a:t>
            </a:r>
          </a:p>
          <a:p>
            <a:r>
              <a:rPr lang="en-US" dirty="0"/>
              <a:t>Key molecules:</a:t>
            </a:r>
          </a:p>
          <a:p>
            <a:r>
              <a:rPr lang="en-US" dirty="0"/>
              <a:t>NAD⁺ / NADH </a:t>
            </a:r>
          </a:p>
          <a:p>
            <a:r>
              <a:rPr lang="en-US" dirty="0"/>
              <a:t>FAD / FADH₂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DB6D4-1FDF-330B-82CF-40C35BDC6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844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9BF9-1135-8162-41DD-70A61ED6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62777-B019-3894-8D12-CFC3D2788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257" y="533400"/>
            <a:ext cx="11332143" cy="5943600"/>
          </a:xfrm>
        </p:spPr>
        <p:txBody>
          <a:bodyPr>
            <a:normAutofit/>
          </a:bodyPr>
          <a:lstStyle/>
          <a:p>
            <a:r>
              <a:rPr lang="en-US" dirty="0"/>
              <a:t>The flow of energy in metabolism depends on electron carriers .</a:t>
            </a:r>
          </a:p>
          <a:p>
            <a:r>
              <a:rPr lang="en-US" b="1" dirty="0"/>
              <a:t>NAD⁺/NADH:</a:t>
            </a:r>
            <a:r>
              <a:rPr lang="en-US" dirty="0"/>
              <a:t> Primarily involved in </a:t>
            </a:r>
            <a:r>
              <a:rPr lang="en-US" b="1" dirty="0"/>
              <a:t>Catabolism</a:t>
            </a:r>
            <a:r>
              <a:rPr lang="en-US" dirty="0"/>
              <a:t> (breaking down glucose/fats to produce ATP). NADH is an electron donor for the Electron Transport Chain (ETC).</a:t>
            </a:r>
          </a:p>
          <a:p>
            <a:endParaRPr lang="en-US" dirty="0"/>
          </a:p>
          <a:p>
            <a:r>
              <a:rPr lang="en-US" b="1" dirty="0"/>
              <a:t>NADP⁺/NADPH:</a:t>
            </a:r>
            <a:r>
              <a:rPr lang="en-US" dirty="0"/>
              <a:t> Primarily involved in </a:t>
            </a:r>
            <a:r>
              <a:rPr lang="en-US" b="1" dirty="0"/>
              <a:t>Anabolism</a:t>
            </a:r>
            <a:r>
              <a:rPr lang="en-US" dirty="0"/>
              <a:t> (biosynthesis of lipids and cholesterol) and combating oxidative stress. NADPH is the reducing power for glutathione reductase.</a:t>
            </a:r>
          </a:p>
          <a:p>
            <a:r>
              <a:rPr lang="en-US" b="1" dirty="0"/>
              <a:t>FAD/FADH₂:</a:t>
            </a:r>
            <a:r>
              <a:rPr lang="en-US" dirty="0"/>
              <a:t> Bound to enzymes like succinate dehydrogenase (Krebs Cycle/Citric Acid Cycle).</a:t>
            </a:r>
          </a:p>
          <a:p>
            <a:pPr marL="0" indent="0">
              <a:buNone/>
            </a:pPr>
            <a:r>
              <a:rPr lang="en-US" b="1" dirty="0"/>
              <a:t>(b) Role of ATP</a:t>
            </a:r>
          </a:p>
          <a:p>
            <a:r>
              <a:rPr lang="en-US" dirty="0"/>
              <a:t>Energy currency of the cell </a:t>
            </a:r>
          </a:p>
          <a:p>
            <a:r>
              <a:rPr lang="en-US" dirty="0"/>
              <a:t>Generated via oxidative phosphorylation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458BE-2A9D-1877-CB55-2BA23A22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1879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00" y="347472"/>
            <a:ext cx="11188700" cy="655828"/>
          </a:xfrm>
        </p:spPr>
        <p:txBody>
          <a:bodyPr>
            <a:normAutofit fontScale="90000"/>
          </a:bodyPr>
          <a:lstStyle/>
          <a:p>
            <a:r>
              <a:rPr lang="en-GB" dirty="0"/>
              <a:t> </a:t>
            </a:r>
            <a:br>
              <a:rPr lang="en-US" dirty="0"/>
            </a:br>
            <a:r>
              <a:rPr lang="en-GB" b="1" i="1" dirty="0">
                <a:solidFill>
                  <a:srgbClr val="FF0000"/>
                </a:solidFill>
                <a:latin typeface="Arial (Body)"/>
                <a:cs typeface="Times New Roman" panose="02020603050405020304" pitchFamily="18" charset="0"/>
              </a:rPr>
              <a:t>Oxidation-reduction reactions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6300"/>
            <a:ext cx="10654748" cy="5702300"/>
          </a:xfrm>
        </p:spPr>
        <p:txBody>
          <a:bodyPr>
            <a:normAutofit/>
          </a:bodyPr>
          <a:lstStyle/>
          <a:p>
            <a:pPr algn="just"/>
            <a:endParaRPr lang="en-GB" dirty="0">
              <a:latin typeface="Arial (Body)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Arial (Body)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GB" dirty="0">
                <a:latin typeface="Arial (Body)"/>
                <a:cs typeface="Times New Roman" panose="02020603050405020304" pitchFamily="18" charset="0"/>
              </a:rPr>
              <a:t>These are essential components of many pathways. Useful energy  is often derived from the oxidation of carbon compounds. Such reactions are catalysed by </a:t>
            </a:r>
            <a:r>
              <a:rPr lang="en-GB" i="1" dirty="0">
                <a:latin typeface="Arial (Body)"/>
                <a:cs typeface="Times New Roman" panose="02020603050405020304" pitchFamily="18" charset="0"/>
              </a:rPr>
              <a:t>oxidoreductases</a:t>
            </a:r>
            <a:r>
              <a:rPr lang="en-GB" dirty="0">
                <a:latin typeface="Arial (Body)"/>
                <a:cs typeface="Times New Roman" panose="02020603050405020304" pitchFamily="18" charset="0"/>
              </a:rPr>
              <a:t> or </a:t>
            </a:r>
            <a:r>
              <a:rPr lang="en-GB" i="1" dirty="0">
                <a:latin typeface="Arial (Body)"/>
                <a:cs typeface="Times New Roman" panose="02020603050405020304" pitchFamily="18" charset="0"/>
              </a:rPr>
              <a:t>dehydrogenases</a:t>
            </a:r>
            <a:r>
              <a:rPr lang="en-GB" dirty="0">
                <a:latin typeface="Arial (Body)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en-GB" b="1" dirty="0">
              <a:latin typeface="Arial (Body)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b="1" dirty="0">
              <a:latin typeface="Arial (Body)"/>
            </a:endParaRPr>
          </a:p>
          <a:p>
            <a:pPr marL="0" indent="0" algn="just">
              <a:buNone/>
            </a:pPr>
            <a:endParaRPr lang="en-US" b="1" dirty="0">
              <a:latin typeface="Arial (Body)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833100" y="18288"/>
            <a:ext cx="749300" cy="329184"/>
          </a:xfrm>
        </p:spPr>
        <p:txBody>
          <a:bodyPr/>
          <a:lstStyle/>
          <a:p>
            <a:fld id="{B26062E3-39C9-4D15-B129-EB2F8CA31363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229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27338-72F1-497C-86C7-31F75D00D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306956"/>
            <a:ext cx="10972800" cy="2342322"/>
          </a:xfrm>
        </p:spPr>
        <p:txBody>
          <a:bodyPr/>
          <a:lstStyle/>
          <a:p>
            <a:r>
              <a:rPr lang="en-US" dirty="0">
                <a:latin typeface="Arial (Body)"/>
              </a:rPr>
              <a:t>These two oxidation-reduction reactions are components of the citric acid cycle, which completely oxidizes the activated two-carbon fragment of acetyl CoA to two molecules of CO</a:t>
            </a:r>
            <a:r>
              <a:rPr lang="en-US" baseline="-25000" dirty="0">
                <a:latin typeface="Arial (Body)"/>
              </a:rPr>
              <a:t>2</a:t>
            </a:r>
            <a:r>
              <a:rPr lang="en-US" dirty="0">
                <a:latin typeface="Arial (Body)"/>
              </a:rPr>
              <a:t>. In reaction 1, FADH</a:t>
            </a:r>
            <a:r>
              <a:rPr lang="en-US" baseline="-25000" dirty="0">
                <a:latin typeface="Arial (Body)"/>
              </a:rPr>
              <a:t>2</a:t>
            </a:r>
            <a:r>
              <a:rPr lang="en-US" dirty="0">
                <a:latin typeface="Arial (Body)"/>
              </a:rPr>
              <a:t> carries the electrons, whereas, in reaction 2, electrons are carried by NADH. In biosynthetic oxidation-reduction reactions, NADPH is the reductant.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598C5-FD7D-4F62-B70C-5C7DA9D76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062E3-39C9-4D15-B129-EB2F8CA31363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4B5084-B673-4EDD-8C97-54D2FA2C2C47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061"/>
          <a:stretch/>
        </p:blipFill>
        <p:spPr bwMode="auto">
          <a:xfrm>
            <a:off x="609600" y="551975"/>
            <a:ext cx="10795000" cy="33782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19828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A0806-E958-D0E3-0695-C77D6117F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Thermodynamics of Redox (The ΔG Connection)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6F6DC-36F6-6B45-DE73-58E8E408E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reactions occur spontaneously.</a:t>
            </a:r>
          </a:p>
          <a:p>
            <a:r>
              <a:rPr lang="en-US" b="1" dirty="0"/>
              <a:t>Electrochemical Gradient:</a:t>
            </a:r>
            <a:r>
              <a:rPr lang="en-US" dirty="0"/>
              <a:t> The Electron Transport Chain uses the energy from electrons moving from high reduction potential to low reduction potential to pump protons.</a:t>
            </a:r>
          </a:p>
          <a:p>
            <a:endParaRPr lang="en-US" dirty="0"/>
          </a:p>
          <a:p>
            <a:r>
              <a:rPr lang="en-US" b="1" dirty="0"/>
              <a:t>The Nernst Equation:</a:t>
            </a:r>
            <a:r>
              <a:rPr lang="en-US" dirty="0"/>
              <a:t> </a:t>
            </a:r>
            <a:r>
              <a:rPr lang="en-US" dirty="0" err="1"/>
              <a:t>E_cell</a:t>
            </a:r>
            <a:r>
              <a:rPr lang="en-US" dirty="0"/>
              <a:t> = </a:t>
            </a:r>
            <a:r>
              <a:rPr lang="en-US" dirty="0" err="1"/>
              <a:t>E°_cell</a:t>
            </a:r>
            <a:r>
              <a:rPr lang="en-US" dirty="0"/>
              <a:t> - (RT/</a:t>
            </a:r>
            <a:r>
              <a:rPr lang="en-US" dirty="0" err="1"/>
              <a:t>nF</a:t>
            </a:r>
            <a:r>
              <a:rPr lang="en-US" dirty="0"/>
              <a:t>) ln Q .</a:t>
            </a:r>
          </a:p>
          <a:p>
            <a:pPr lvl="1"/>
            <a:r>
              <a:rPr lang="en-US" b="1" dirty="0"/>
              <a:t>Clinical Translation:</a:t>
            </a:r>
            <a:r>
              <a:rPr lang="en-US" dirty="0"/>
              <a:t> This equation explains how the electrical gradient across a neuron membrane changes during action potentials.</a:t>
            </a:r>
          </a:p>
          <a:p>
            <a:pPr lvl="1"/>
            <a:endParaRPr lang="en-US" dirty="0"/>
          </a:p>
          <a:p>
            <a:r>
              <a:rPr lang="en-US" b="1" dirty="0"/>
              <a:t>Gibbs Free Energy:</a:t>
            </a:r>
            <a:r>
              <a:rPr lang="en-US" dirty="0"/>
              <a:t> ΔG° = -</a:t>
            </a:r>
            <a:r>
              <a:rPr lang="en-US" dirty="0" err="1"/>
              <a:t>nFE°cell</a:t>
            </a:r>
            <a:r>
              <a:rPr lang="en-US" dirty="0"/>
              <a:t> .</a:t>
            </a:r>
          </a:p>
          <a:p>
            <a:pPr lvl="1"/>
            <a:r>
              <a:rPr lang="en-US" dirty="0"/>
              <a:t>If </a:t>
            </a:r>
            <a:r>
              <a:rPr lang="en-US" dirty="0" err="1"/>
              <a:t>E°cell</a:t>
            </a:r>
            <a:r>
              <a:rPr lang="en-US" dirty="0"/>
              <a:t> is positive, ΔG is negative → </a:t>
            </a:r>
            <a:r>
              <a:rPr lang="en-US" b="1" dirty="0"/>
              <a:t>Spontaneous reaction</a:t>
            </a:r>
            <a:r>
              <a:rPr lang="en-US" dirty="0"/>
              <a:t> (exergonic).</a:t>
            </a:r>
          </a:p>
          <a:p>
            <a:pPr lvl="1"/>
            <a:r>
              <a:rPr lang="en-US" dirty="0"/>
              <a:t>If </a:t>
            </a:r>
            <a:r>
              <a:rPr lang="en-US" dirty="0" err="1"/>
              <a:t>E°cell</a:t>
            </a:r>
            <a:r>
              <a:rPr lang="en-US" dirty="0"/>
              <a:t> is negative, ΔG is positive → </a:t>
            </a:r>
            <a:r>
              <a:rPr lang="en-US" b="1" dirty="0"/>
              <a:t>Non-spontaneous</a:t>
            </a:r>
            <a:r>
              <a:rPr lang="en-US" dirty="0"/>
              <a:t> (requires energy input).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77C10-BE64-ACF9-37C4-329C9D37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325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123D-4161-7852-13A9-DD9E85C4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Clinical Correlations: The "Double-Edged Sword"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EF809-407D-E95B-32BB-68BCFA5C4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b="1" dirty="0"/>
              <a:t>The Friend (Innate Immunity):</a:t>
            </a:r>
            <a:r>
              <a:rPr lang="en-US" dirty="0"/>
              <a:t> Phagocytes (Neutrophils/Macrophages) undergo a </a:t>
            </a:r>
            <a:r>
              <a:rPr lang="en-US" b="1" dirty="0"/>
              <a:t>Respiratory Burst</a:t>
            </a:r>
            <a:r>
              <a:rPr lang="en-US" dirty="0"/>
              <a:t>. They activate NADPH Oxidase to produce </a:t>
            </a:r>
            <a:r>
              <a:rPr lang="en-US" b="1" dirty="0"/>
              <a:t>Superoxide (O₂⁻)</a:t>
            </a:r>
            <a:r>
              <a:rPr lang="en-US" dirty="0"/>
              <a:t> and Hydrogen Peroxide (H₂O₂)—Reactive Oxygen Species (ROS)—to kill ingested bacteria.</a:t>
            </a:r>
          </a:p>
          <a:p>
            <a:endParaRPr lang="en-US" dirty="0"/>
          </a:p>
          <a:p>
            <a:r>
              <a:rPr lang="en-US" b="1" dirty="0"/>
              <a:t>The Foe (Oxidative Stress):</a:t>
            </a:r>
            <a:r>
              <a:rPr lang="en-US" dirty="0"/>
              <a:t> Chronic inflammation or ischemia-reperfusion injury (e.g., after a heart attack or stroke) leads to excessive ROS. This causes lipid peroxidation (cell membrane damage), DNA strand breaks, and protein carbonylation. This is implicated in aging, cancer, and neurodegeneration (Alzheimer's/Parkinson's).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6EB9D-8156-756F-4545-F79A23A5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026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A77A9-2E53-3EF7-6C69-8520ABE7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Reactive Oxygen Species (ROS)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53524-7DF6-90EA-1189-02ECC33B7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600200"/>
            <a:ext cx="11479731" cy="5239512"/>
          </a:xfrm>
        </p:spPr>
        <p:txBody>
          <a:bodyPr>
            <a:normAutofit/>
          </a:bodyPr>
          <a:lstStyle/>
          <a:p>
            <a:r>
              <a:rPr lang="en-US" dirty="0"/>
              <a:t>Superoxide (O₂⁻) </a:t>
            </a:r>
          </a:p>
          <a:p>
            <a:r>
              <a:rPr lang="en-US" dirty="0"/>
              <a:t>Hydrogen peroxide (H₂O₂) </a:t>
            </a:r>
          </a:p>
          <a:p>
            <a:r>
              <a:rPr lang="en-US" dirty="0"/>
              <a:t>Hydroxyl radical (OH•) </a:t>
            </a:r>
          </a:p>
          <a:p>
            <a:pPr marL="0" indent="0">
              <a:buNone/>
            </a:pPr>
            <a:r>
              <a:rPr lang="en-US" b="1" dirty="0"/>
              <a:t>Effects</a:t>
            </a:r>
          </a:p>
          <a:p>
            <a:r>
              <a:rPr lang="en-US" dirty="0"/>
              <a:t>DNA damage </a:t>
            </a:r>
          </a:p>
          <a:p>
            <a:r>
              <a:rPr lang="en-US" dirty="0"/>
              <a:t>Lipid peroxidation </a:t>
            </a:r>
          </a:p>
          <a:p>
            <a:r>
              <a:rPr lang="en-US" dirty="0"/>
              <a:t>Protein denaturation </a:t>
            </a:r>
          </a:p>
          <a:p>
            <a:pPr marL="0" indent="0">
              <a:buNone/>
            </a:pPr>
            <a:r>
              <a:rPr lang="en-US" b="1" dirty="0"/>
              <a:t>Associated diseases include</a:t>
            </a:r>
          </a:p>
          <a:p>
            <a:r>
              <a:rPr lang="en-US" dirty="0"/>
              <a:t>Cancer </a:t>
            </a:r>
          </a:p>
          <a:p>
            <a:r>
              <a:rPr lang="en-US" dirty="0"/>
              <a:t>Cardiovascular diseases </a:t>
            </a:r>
          </a:p>
          <a:p>
            <a:r>
              <a:rPr lang="en-US" dirty="0"/>
              <a:t>Neurodegenerative disorders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82FD1-C48F-94BA-AD6A-CD67560B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28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B9B5-07D8-03AB-8023-F0394E2B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Redox Axis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533D1-433E-8284-69FC-A754864AD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[High Energy State]</a:t>
            </a:r>
            <a:br>
              <a:rPr lang="en-US" dirty="0"/>
            </a:br>
            <a:r>
              <a:rPr lang="en-US" dirty="0"/>
              <a:t>||</a:t>
            </a:r>
            <a:br>
              <a:rPr lang="en-US" dirty="0"/>
            </a:br>
            <a:r>
              <a:rPr lang="en-US" dirty="0"/>
              <a:t>[NADH / FADH₂] --&gt; Donate e⁻ --&gt; [Electron Transport Chain] --&gt; [ATP Synthesis]</a:t>
            </a:r>
            <a:br>
              <a:rPr lang="en-US" dirty="0"/>
            </a:br>
            <a:r>
              <a:rPr lang="en-US" dirty="0"/>
              <a:t>||</a:t>
            </a:r>
            <a:br>
              <a:rPr lang="en-US" dirty="0"/>
            </a:br>
            <a:r>
              <a:rPr lang="en-US" dirty="0"/>
              <a:t>[NAD⁺ / FAD] &lt;-- Accept e⁻ &lt;-- [Krebs Cycle / Glycolysis]</a:t>
            </a:r>
            <a:br>
              <a:rPr lang="en-US" dirty="0"/>
            </a:br>
            <a:r>
              <a:rPr lang="en-US" dirty="0"/>
              <a:t>[Low Energy State]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859EA-9FDE-A3C8-3501-D865D8E3A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922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E807-DB23-3F4D-D69F-A46877F87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Antioxidant Systems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1F191-5BF8-188E-CDCF-265186D3E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Enzymatic</a:t>
            </a:r>
          </a:p>
          <a:p>
            <a:r>
              <a:rPr lang="en-US" dirty="0"/>
              <a:t>Superoxide dismutase (SOD) </a:t>
            </a:r>
          </a:p>
          <a:p>
            <a:r>
              <a:rPr lang="en-US" dirty="0"/>
              <a:t>Catalase </a:t>
            </a:r>
          </a:p>
          <a:p>
            <a:r>
              <a:rPr lang="en-US" dirty="0"/>
              <a:t>Glutathione peroxidase </a:t>
            </a:r>
          </a:p>
          <a:p>
            <a:endParaRPr lang="en-US" dirty="0"/>
          </a:p>
          <a:p>
            <a:r>
              <a:rPr lang="en-US" b="1" dirty="0"/>
              <a:t>Non-enzymatic</a:t>
            </a:r>
          </a:p>
          <a:p>
            <a:r>
              <a:rPr lang="en-US" dirty="0"/>
              <a:t>Vitamin C </a:t>
            </a:r>
          </a:p>
          <a:p>
            <a:r>
              <a:rPr lang="en-US" dirty="0"/>
              <a:t>Vitamin E </a:t>
            </a:r>
          </a:p>
          <a:p>
            <a:r>
              <a:rPr lang="en-US" dirty="0"/>
              <a:t>Glutathione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32930-880F-E36F-DFFC-650D1BD0B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394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65A5-1E7C-CA3F-4701-06861293E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C73D-E250-BB4A-5B38-4CC026A59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Textbooks</a:t>
            </a:r>
          </a:p>
          <a:p>
            <a:r>
              <a:rPr lang="en-US" dirty="0"/>
              <a:t>Guyton and Hall Textbook of Medical Physiology </a:t>
            </a:r>
          </a:p>
          <a:p>
            <a:r>
              <a:rPr lang="en-US" dirty="0"/>
              <a:t>Harper's Illustrated Biochemistry </a:t>
            </a:r>
          </a:p>
          <a:p>
            <a:r>
              <a:rPr lang="en-US" dirty="0"/>
              <a:t>Essential Medical Statistics </a:t>
            </a:r>
          </a:p>
          <a:p>
            <a:endParaRPr lang="en-US" dirty="0"/>
          </a:p>
          <a:p>
            <a:r>
              <a:rPr lang="en-US" b="1" dirty="0"/>
              <a:t>Key Articles</a:t>
            </a:r>
          </a:p>
          <a:p>
            <a:r>
              <a:rPr lang="en-US" dirty="0"/>
              <a:t>Halliwell &amp; Gutteridge (2015) – Free radicals in biology and medicine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72700-8AF4-D521-057C-A455907B0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541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E707C-9508-4CCB-8C71-EAE8E7BF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9F9C-D736-5982-C908-77D1A4B51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THANK YOU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FD0FD-36B9-C426-8C0C-142EC5D2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C4710-B4F7-4359-B1ED-F19BB5470050}" type="slidenum">
              <a:rPr lang="en-GB" smtClean="0"/>
              <a:t>23</a:t>
            </a:fld>
            <a:endParaRPr lang="en-GB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5528D45-FD95-D58A-9E29-0730BF25E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6477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4443</TotalTime>
  <Words>1210</Words>
  <Application>Microsoft Office PowerPoint</Application>
  <PresentationFormat>Widescreen</PresentationFormat>
  <Paragraphs>177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(Body)</vt:lpstr>
      <vt:lpstr>Bahnschrift SemiBold</vt:lpstr>
      <vt:lpstr>Calibri</vt:lpstr>
      <vt:lpstr>Cambria Math</vt:lpstr>
      <vt:lpstr>Times New Roman</vt:lpstr>
      <vt:lpstr>Clarity</vt:lpstr>
      <vt:lpstr>PowerPoint Presentation</vt:lpstr>
      <vt:lpstr>BIOLOGICAL ASSOCIATIONS</vt:lpstr>
      <vt:lpstr>Introduction</vt:lpstr>
      <vt:lpstr>Spectrum of Symbiotic Relationships</vt:lpstr>
      <vt:lpstr>From Association to Causation (Koch's Postulates) </vt:lpstr>
      <vt:lpstr>Types of Associations </vt:lpstr>
      <vt:lpstr>Measures of Association</vt:lpstr>
      <vt:lpstr>PowerPoint Presentation</vt:lpstr>
      <vt:lpstr> Oxidation and Reduction Reactions   </vt:lpstr>
      <vt:lpstr>Introduction</vt:lpstr>
      <vt:lpstr>Redox Reactions </vt:lpstr>
      <vt:lpstr>Oxidizing and Reducing Agents</vt:lpstr>
      <vt:lpstr>Biological Redox Systems </vt:lpstr>
      <vt:lpstr> </vt:lpstr>
      <vt:lpstr>  Oxidation-reduction reactions </vt:lpstr>
      <vt:lpstr>PowerPoint Presentation</vt:lpstr>
      <vt:lpstr>Thermodynamics of Redox (The ΔG Connection) </vt:lpstr>
      <vt:lpstr>Clinical Correlations: The "Double-Edged Sword" </vt:lpstr>
      <vt:lpstr>Reactive Oxygen Species (ROS) </vt:lpstr>
      <vt:lpstr>The Redox Axis</vt:lpstr>
      <vt:lpstr>Antioxidant Systems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Amma Aboagyewa LARBI</cp:lastModifiedBy>
  <cp:revision>77</cp:revision>
  <dcterms:created xsi:type="dcterms:W3CDTF">2020-04-16T23:49:44Z</dcterms:created>
  <dcterms:modified xsi:type="dcterms:W3CDTF">2026-04-30T08:15:37Z</dcterms:modified>
</cp:coreProperties>
</file>