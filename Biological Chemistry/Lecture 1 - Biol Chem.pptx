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handoutMasterIdLst>
    <p:handoutMasterId r:id="rId74"/>
  </p:handoutMasterIdLst>
  <p:sldIdLst>
    <p:sldId id="257" r:id="rId2"/>
    <p:sldId id="259" r:id="rId3"/>
    <p:sldId id="260" r:id="rId4"/>
    <p:sldId id="298" r:id="rId5"/>
    <p:sldId id="299" r:id="rId6"/>
    <p:sldId id="300" r:id="rId7"/>
    <p:sldId id="301" r:id="rId8"/>
    <p:sldId id="261" r:id="rId9"/>
    <p:sldId id="292" r:id="rId10"/>
    <p:sldId id="302" r:id="rId11"/>
    <p:sldId id="303" r:id="rId12"/>
    <p:sldId id="304" r:id="rId13"/>
    <p:sldId id="293" r:id="rId14"/>
    <p:sldId id="262" r:id="rId15"/>
    <p:sldId id="263" r:id="rId16"/>
    <p:sldId id="305" r:id="rId17"/>
    <p:sldId id="306" r:id="rId18"/>
    <p:sldId id="294" r:id="rId19"/>
    <p:sldId id="264" r:id="rId20"/>
    <p:sldId id="265" r:id="rId21"/>
    <p:sldId id="307" r:id="rId22"/>
    <p:sldId id="266" r:id="rId23"/>
    <p:sldId id="267" r:id="rId24"/>
    <p:sldId id="268" r:id="rId25"/>
    <p:sldId id="269" r:id="rId26"/>
    <p:sldId id="276" r:id="rId27"/>
    <p:sldId id="308" r:id="rId28"/>
    <p:sldId id="270" r:id="rId29"/>
    <p:sldId id="271" r:id="rId30"/>
    <p:sldId id="272" r:id="rId31"/>
    <p:sldId id="273" r:id="rId32"/>
    <p:sldId id="274" r:id="rId33"/>
    <p:sldId id="275" r:id="rId34"/>
    <p:sldId id="277" r:id="rId35"/>
    <p:sldId id="278" r:id="rId36"/>
    <p:sldId id="279" r:id="rId37"/>
    <p:sldId id="280" r:id="rId38"/>
    <p:sldId id="281" r:id="rId39"/>
    <p:sldId id="282" r:id="rId40"/>
    <p:sldId id="284" r:id="rId41"/>
    <p:sldId id="295" r:id="rId42"/>
    <p:sldId id="285" r:id="rId43"/>
    <p:sldId id="286" r:id="rId44"/>
    <p:sldId id="287" r:id="rId45"/>
    <p:sldId id="297" r:id="rId46"/>
    <p:sldId id="288" r:id="rId47"/>
    <p:sldId id="289" r:id="rId48"/>
    <p:sldId id="290" r:id="rId49"/>
    <p:sldId id="291" r:id="rId50"/>
    <p:sldId id="296" r:id="rId51"/>
    <p:sldId id="256" r:id="rId52"/>
    <p:sldId id="258"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Lst>
  <p:sldSz cx="12192000" cy="6858000"/>
  <p:notesSz cx="9942513" cy="67611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41BF24-D70B-4F47-9A54-1311CDFE035E}">
          <p14:sldIdLst>
            <p14:sldId id="257"/>
            <p14:sldId id="259"/>
            <p14:sldId id="260"/>
            <p14:sldId id="298"/>
            <p14:sldId id="299"/>
            <p14:sldId id="300"/>
            <p14:sldId id="301"/>
            <p14:sldId id="261"/>
            <p14:sldId id="292"/>
            <p14:sldId id="302"/>
            <p14:sldId id="303"/>
            <p14:sldId id="304"/>
            <p14:sldId id="293"/>
            <p14:sldId id="262"/>
            <p14:sldId id="263"/>
            <p14:sldId id="305"/>
            <p14:sldId id="306"/>
            <p14:sldId id="294"/>
            <p14:sldId id="264"/>
            <p14:sldId id="265"/>
            <p14:sldId id="307"/>
            <p14:sldId id="266"/>
            <p14:sldId id="267"/>
            <p14:sldId id="268"/>
            <p14:sldId id="269"/>
            <p14:sldId id="276"/>
            <p14:sldId id="308"/>
            <p14:sldId id="270"/>
            <p14:sldId id="271"/>
            <p14:sldId id="272"/>
            <p14:sldId id="273"/>
            <p14:sldId id="274"/>
            <p14:sldId id="275"/>
            <p14:sldId id="277"/>
            <p14:sldId id="278"/>
            <p14:sldId id="279"/>
            <p14:sldId id="280"/>
            <p14:sldId id="281"/>
          </p14:sldIdLst>
        </p14:section>
        <p14:section name="Untitled Section" id="{EB21BA2C-6EDA-418C-ABDA-FC4305EC11C1}">
          <p14:sldIdLst>
            <p14:sldId id="282"/>
            <p14:sldId id="284"/>
            <p14:sldId id="295"/>
            <p14:sldId id="285"/>
            <p14:sldId id="286"/>
            <p14:sldId id="287"/>
            <p14:sldId id="297"/>
            <p14:sldId id="288"/>
            <p14:sldId id="289"/>
            <p14:sldId id="290"/>
            <p14:sldId id="291"/>
            <p14:sldId id="296"/>
            <p14:sldId id="256"/>
            <p14:sldId id="258"/>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3"/>
  </p:normalViewPr>
  <p:slideViewPr>
    <p:cSldViewPr>
      <p:cViewPr varScale="1">
        <p:scale>
          <a:sx n="105" d="100"/>
          <a:sy n="105" d="100"/>
        </p:scale>
        <p:origin x="744"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8422" cy="33805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631790" y="0"/>
            <a:ext cx="4308422" cy="338058"/>
          </a:xfrm>
          <a:prstGeom prst="rect">
            <a:avLst/>
          </a:prstGeom>
        </p:spPr>
        <p:txBody>
          <a:bodyPr vert="horz" lIns="91440" tIns="45720" rIns="91440" bIns="45720" rtlCol="0"/>
          <a:lstStyle>
            <a:lvl1pPr algn="r">
              <a:defRPr sz="1200"/>
            </a:lvl1pPr>
          </a:lstStyle>
          <a:p>
            <a:fld id="{0BE12FE2-763F-4739-98E7-B1C569536E7D}" type="datetimeFigureOut">
              <a:rPr lang="en-GB" smtClean="0"/>
              <a:t>28/04/2026</a:t>
            </a:fld>
            <a:endParaRPr lang="en-GB"/>
          </a:p>
        </p:txBody>
      </p:sp>
      <p:sp>
        <p:nvSpPr>
          <p:cNvPr id="4" name="Footer Placeholder 3"/>
          <p:cNvSpPr>
            <a:spLocks noGrp="1"/>
          </p:cNvSpPr>
          <p:nvPr>
            <p:ph type="ftr" sz="quarter" idx="2"/>
          </p:nvPr>
        </p:nvSpPr>
        <p:spPr>
          <a:xfrm>
            <a:off x="0" y="6421932"/>
            <a:ext cx="4308422" cy="33805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631790" y="6421932"/>
            <a:ext cx="4308422" cy="338058"/>
          </a:xfrm>
          <a:prstGeom prst="rect">
            <a:avLst/>
          </a:prstGeom>
        </p:spPr>
        <p:txBody>
          <a:bodyPr vert="horz" lIns="91440" tIns="45720" rIns="91440" bIns="45720" rtlCol="0" anchor="b"/>
          <a:lstStyle>
            <a:lvl1pPr algn="r">
              <a:defRPr sz="1200"/>
            </a:lvl1pPr>
          </a:lstStyle>
          <a:p>
            <a:fld id="{82104AE6-8335-4809-9D0B-131B87171FAD}" type="slidenum">
              <a:rPr lang="en-GB" smtClean="0"/>
              <a:t>‹#›</a:t>
            </a:fld>
            <a:endParaRPr lang="en-GB"/>
          </a:p>
        </p:txBody>
      </p:sp>
    </p:spTree>
    <p:extLst>
      <p:ext uri="{BB962C8B-B14F-4D97-AF65-F5344CB8AC3E}">
        <p14:creationId xmlns:p14="http://schemas.microsoft.com/office/powerpoint/2010/main" val="39745545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C4D8-7267-481C-97FB-88531F8E742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045EB4-C8E9-4276-9892-A8BD1C24C1F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E1952CF-CF54-495A-A737-C76F22C5330D}"/>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5" name="Footer Placeholder 4">
            <a:extLst>
              <a:ext uri="{FF2B5EF4-FFF2-40B4-BE49-F238E27FC236}">
                <a16:creationId xmlns:a16="http://schemas.microsoft.com/office/drawing/2014/main" id="{DA2F82B9-480E-49D4-AFD3-A3BC21B8A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CFFCE-F9B6-482C-816E-091792F26E49}"/>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2979999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7FC0-FF7C-4F6B-A842-ECAEDD7558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F3BD4-EEBC-444E-88DB-259F6F33A3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C2BFAAB-6BAC-4D88-8AF7-FC846BF0456E}"/>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5" name="Footer Placeholder 4">
            <a:extLst>
              <a:ext uri="{FF2B5EF4-FFF2-40B4-BE49-F238E27FC236}">
                <a16:creationId xmlns:a16="http://schemas.microsoft.com/office/drawing/2014/main" id="{546DD7F4-E6AC-4CB6-B687-556E6DB5B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A703C-113A-46CC-AC65-292EB067D462}"/>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365469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7A4B-0F44-4E42-939A-CDE6C4A492D0}"/>
              </a:ext>
            </a:extLst>
          </p:cNvPr>
          <p:cNvSpPr>
            <a:spLocks noGrp="1"/>
          </p:cNvSpPr>
          <p:nvPr>
            <p:ph type="title"/>
          </p:nvPr>
        </p:nvSpPr>
        <p:spPr>
          <a:xfrm>
            <a:off x="4902440" y="307011"/>
            <a:ext cx="6787025" cy="2986087"/>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3B6593-CC60-4C4A-B097-A7D3799BD55C}"/>
              </a:ext>
            </a:extLst>
          </p:cNvPr>
          <p:cNvSpPr>
            <a:spLocks noGrp="1"/>
          </p:cNvSpPr>
          <p:nvPr>
            <p:ph type="body" idx="1"/>
          </p:nvPr>
        </p:nvSpPr>
        <p:spPr>
          <a:xfrm>
            <a:off x="4902440" y="3883454"/>
            <a:ext cx="6787025" cy="792283"/>
          </a:xfrm>
        </p:spPr>
        <p:txBody>
          <a:bodyPr/>
          <a:lstStyle>
            <a:lvl1pPr marL="0" indent="0" algn="ctr">
              <a:buNone/>
              <a:defRPr sz="240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56C689-8E98-4045-AAAC-AC66298D8CDB}"/>
              </a:ext>
            </a:extLst>
          </p:cNvPr>
          <p:cNvSpPr>
            <a:spLocks noGrp="1"/>
          </p:cNvSpPr>
          <p:nvPr>
            <p:ph type="dt" sz="half" idx="10"/>
          </p:nvPr>
        </p:nvSpPr>
        <p:spPr>
          <a:xfrm>
            <a:off x="5023411" y="5266097"/>
            <a:ext cx="1482526" cy="365125"/>
          </a:xfrm>
        </p:spPr>
        <p:txBody>
          <a:bodyPr/>
          <a:lstStyle/>
          <a:p>
            <a:fld id="{4FFFF590-287F-4CD4-B8A1-4BE6E8254601}" type="datetimeFigureOut">
              <a:rPr lang="en-US" smtClean="0"/>
              <a:t>4/28/26</a:t>
            </a:fld>
            <a:endParaRPr lang="en-US"/>
          </a:p>
        </p:txBody>
      </p:sp>
      <p:sp>
        <p:nvSpPr>
          <p:cNvPr id="5" name="Footer Placeholder 4">
            <a:extLst>
              <a:ext uri="{FF2B5EF4-FFF2-40B4-BE49-F238E27FC236}">
                <a16:creationId xmlns:a16="http://schemas.microsoft.com/office/drawing/2014/main" id="{F3A7DCE6-A108-4CE1-BB08-97701D342A20}"/>
              </a:ext>
            </a:extLst>
          </p:cNvPr>
          <p:cNvSpPr>
            <a:spLocks noGrp="1"/>
          </p:cNvSpPr>
          <p:nvPr>
            <p:ph type="ftr" sz="quarter" idx="11"/>
          </p:nvPr>
        </p:nvSpPr>
        <p:spPr>
          <a:xfrm>
            <a:off x="7071167" y="5266096"/>
            <a:ext cx="2026534" cy="365125"/>
          </a:xfrm>
        </p:spPr>
        <p:txBody>
          <a:bodyPr/>
          <a:lstStyle/>
          <a:p>
            <a:endParaRPr lang="en-US"/>
          </a:p>
        </p:txBody>
      </p:sp>
      <p:sp>
        <p:nvSpPr>
          <p:cNvPr id="6" name="Slide Number Placeholder 5">
            <a:extLst>
              <a:ext uri="{FF2B5EF4-FFF2-40B4-BE49-F238E27FC236}">
                <a16:creationId xmlns:a16="http://schemas.microsoft.com/office/drawing/2014/main" id="{0428B96D-492C-4CC3-A033-5EA3A2F3CCEE}"/>
              </a:ext>
            </a:extLst>
          </p:cNvPr>
          <p:cNvSpPr>
            <a:spLocks noGrp="1"/>
          </p:cNvSpPr>
          <p:nvPr>
            <p:ph type="sldNum" sz="quarter" idx="12"/>
          </p:nvPr>
        </p:nvSpPr>
        <p:spPr>
          <a:xfrm>
            <a:off x="9662931" y="5266095"/>
            <a:ext cx="2026534" cy="365125"/>
          </a:xfrm>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1285099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1157-304E-4446-9FA2-A0D0F7A50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B4CE9E-70A6-48AD-A24A-13D5743836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0BE2C5-1B89-4EE8-A540-906472A1F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4BB858-CDD0-459B-8AA4-9272BD26A46B}"/>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6" name="Footer Placeholder 5">
            <a:extLst>
              <a:ext uri="{FF2B5EF4-FFF2-40B4-BE49-F238E27FC236}">
                <a16:creationId xmlns:a16="http://schemas.microsoft.com/office/drawing/2014/main" id="{4DB7E86D-82BE-4E26-A9C3-95CC0F497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D830B-C931-46B1-8F17-16243BFDFA90}"/>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974492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ABEE-5ED7-4733-B755-CB96ADE7AA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1A0618-A658-46BD-AB6D-8208DA7FC8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867DBE-C48C-42A1-94A3-9527A0944B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F27F4C-4D8F-4F03-9881-DADD3BC80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57925D-369F-411F-B885-734AB70D29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3643A2-98F3-42F1-9A82-FA5FFD7F88F9}"/>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8" name="Footer Placeholder 7">
            <a:extLst>
              <a:ext uri="{FF2B5EF4-FFF2-40B4-BE49-F238E27FC236}">
                <a16:creationId xmlns:a16="http://schemas.microsoft.com/office/drawing/2014/main" id="{AC162CF4-4E17-4D39-8E8E-8949A9CD9E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DEEB83-1757-489A-8EE3-E5F48A357EBB}"/>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2866847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650B1-6BD1-4645-81EE-9AC7858D85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7856AC-1564-422B-A261-A405B2217D42}"/>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4" name="Footer Placeholder 3">
            <a:extLst>
              <a:ext uri="{FF2B5EF4-FFF2-40B4-BE49-F238E27FC236}">
                <a16:creationId xmlns:a16="http://schemas.microsoft.com/office/drawing/2014/main" id="{AA5EC8FB-F905-4A5D-AB53-12C1AADB93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C74DBB-D2BA-424E-A50D-E0D78897E9E2}"/>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1787160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92351-298C-4CA7-A9E3-56F637FA48B9}"/>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3" name="Footer Placeholder 2">
            <a:extLst>
              <a:ext uri="{FF2B5EF4-FFF2-40B4-BE49-F238E27FC236}">
                <a16:creationId xmlns:a16="http://schemas.microsoft.com/office/drawing/2014/main" id="{13F81D90-C9C0-4B17-89C3-13DA3A911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9E314D-FD1B-4975-AE16-9CDCC6342C3D}"/>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266444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9E3F-372A-407D-B334-3FD277550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240B83-8870-4B46-9F59-5CC84DEFB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8CC3D7-7F10-42DA-8696-266C3AE69E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E5CF6-7F8D-4850-9864-97DA86EA78D4}"/>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6" name="Footer Placeholder 5">
            <a:extLst>
              <a:ext uri="{FF2B5EF4-FFF2-40B4-BE49-F238E27FC236}">
                <a16:creationId xmlns:a16="http://schemas.microsoft.com/office/drawing/2014/main" id="{73646AFE-B880-46F5-B5C6-2DEC8AAFB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375EDA-D7C7-4D5B-8ADA-2C4C0D169E46}"/>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3153907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A279-B977-4A7C-87E5-62231D946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C0D755-8571-44A5-AE1A-89C9201F5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5F734A2E-AFFE-48A4-A1FD-8FC6BEE61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5560A-540C-47FC-A6B0-665522069079}"/>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6" name="Footer Placeholder 5">
            <a:extLst>
              <a:ext uri="{FF2B5EF4-FFF2-40B4-BE49-F238E27FC236}">
                <a16:creationId xmlns:a16="http://schemas.microsoft.com/office/drawing/2014/main" id="{949A1103-4151-4737-9D9F-ECB366AA7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0B3C5-F017-4E10-86F3-4C24DEFA8BD4}"/>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2829533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1024C-8551-48EC-85CB-36598BBE26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7669F4-208D-4BAB-82BE-F275945E2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81D84-11A2-4845-9DEE-21A1FB2F7749}"/>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5" name="Footer Placeholder 4">
            <a:extLst>
              <a:ext uri="{FF2B5EF4-FFF2-40B4-BE49-F238E27FC236}">
                <a16:creationId xmlns:a16="http://schemas.microsoft.com/office/drawing/2014/main" id="{82F461C0-7A06-45C8-A0F8-23FAD46F3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6CCC8-2ED3-42E3-8030-B0E9DF79659C}"/>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2624099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5E5C2-3281-4A33-88C5-C97138BFAC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B8C3E-19EC-4156-82C4-FA8E3ACF7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8D120-4C33-4D5C-A088-1E77796376A1}"/>
              </a:ext>
            </a:extLst>
          </p:cNvPr>
          <p:cNvSpPr>
            <a:spLocks noGrp="1"/>
          </p:cNvSpPr>
          <p:nvPr>
            <p:ph type="dt" sz="half" idx="10"/>
          </p:nvPr>
        </p:nvSpPr>
        <p:spPr/>
        <p:txBody>
          <a:bodyPr/>
          <a:lstStyle/>
          <a:p>
            <a:fld id="{4FFFF590-287F-4CD4-B8A1-4BE6E8254601}" type="datetimeFigureOut">
              <a:rPr lang="en-US" smtClean="0"/>
              <a:t>4/28/26</a:t>
            </a:fld>
            <a:endParaRPr lang="en-US"/>
          </a:p>
        </p:txBody>
      </p:sp>
      <p:sp>
        <p:nvSpPr>
          <p:cNvPr id="5" name="Footer Placeholder 4">
            <a:extLst>
              <a:ext uri="{FF2B5EF4-FFF2-40B4-BE49-F238E27FC236}">
                <a16:creationId xmlns:a16="http://schemas.microsoft.com/office/drawing/2014/main" id="{B418C907-51F8-4CCC-8671-CA5B649EB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480B0B-A14D-4BA5-A718-F6E7ADBC49CD}"/>
              </a:ext>
            </a:extLst>
          </p:cNvPr>
          <p:cNvSpPr>
            <a:spLocks noGrp="1"/>
          </p:cNvSpPr>
          <p:nvPr>
            <p:ph type="sldNum" sz="quarter" idx="12"/>
          </p:nvPr>
        </p:nvSpPr>
        <p:spPr/>
        <p:txBody>
          <a:bodyPr/>
          <a:lstStyle/>
          <a:p>
            <a:fld id="{B26062E3-39C9-4D15-B129-EB2F8CA31363}" type="slidenum">
              <a:rPr lang="en-US" smtClean="0"/>
              <a:t>‹#›</a:t>
            </a:fld>
            <a:endParaRPr lang="en-US"/>
          </a:p>
        </p:txBody>
      </p:sp>
    </p:spTree>
    <p:extLst>
      <p:ext uri="{BB962C8B-B14F-4D97-AF65-F5344CB8AC3E}">
        <p14:creationId xmlns:p14="http://schemas.microsoft.com/office/powerpoint/2010/main" val="98090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EBDDA-E62D-4396-A585-79909DF65F1D}"/>
              </a:ext>
            </a:extLst>
          </p:cNvPr>
          <p:cNvSpPr>
            <a:spLocks noGrp="1"/>
          </p:cNvSpPr>
          <p:nvPr>
            <p:ph type="title"/>
          </p:nvPr>
        </p:nvSpPr>
        <p:spPr>
          <a:xfrm>
            <a:off x="838200" y="608924"/>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D21B46D-FE47-4863-91F5-8DF27DBA3FBD}"/>
              </a:ext>
            </a:extLst>
          </p:cNvPr>
          <p:cNvSpPr>
            <a:spLocks noGrp="1"/>
          </p:cNvSpPr>
          <p:nvPr>
            <p:ph type="body" idx="1"/>
          </p:nvPr>
        </p:nvSpPr>
        <p:spPr>
          <a:xfrm>
            <a:off x="838200" y="1971081"/>
            <a:ext cx="10515600" cy="427799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B7AB05-0A06-4E1C-9ABC-94BB04320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FFF590-287F-4CD4-B8A1-4BE6E8254601}" type="datetimeFigureOut">
              <a:rPr lang="en-US" smtClean="0"/>
              <a:t>4/28/26</a:t>
            </a:fld>
            <a:endParaRPr lang="en-US"/>
          </a:p>
        </p:txBody>
      </p:sp>
      <p:sp>
        <p:nvSpPr>
          <p:cNvPr id="5" name="Footer Placeholder 4">
            <a:extLst>
              <a:ext uri="{FF2B5EF4-FFF2-40B4-BE49-F238E27FC236}">
                <a16:creationId xmlns:a16="http://schemas.microsoft.com/office/drawing/2014/main" id="{3443E9AF-D197-4E5B-86F0-EB12503E8F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D37BCB-A864-4AA7-AA0C-5BBFBA97E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062E3-39C9-4D15-B129-EB2F8CA31363}" type="slidenum">
              <a:rPr lang="en-US" smtClean="0"/>
              <a:t>‹#›</a:t>
            </a:fld>
            <a:endParaRPr lang="en-US"/>
          </a:p>
        </p:txBody>
      </p:sp>
    </p:spTree>
    <p:extLst>
      <p:ext uri="{BB962C8B-B14F-4D97-AF65-F5344CB8AC3E}">
        <p14:creationId xmlns:p14="http://schemas.microsoft.com/office/powerpoint/2010/main" val="39007918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b="1" kern="1200">
          <a:solidFill>
            <a:schemeClr val="accent6">
              <a:lumMod val="50000"/>
            </a:schemeClr>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n.wikipedia.org/wiki/Kepler-6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youtube.com/watch?v=QbocejG0o2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cUyLODoZiV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youtube.com/watch?v=HdPzOWlLrbE"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en.wikipedia.org/wiki/Californium"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57200"/>
            <a:ext cx="7772400" cy="2590800"/>
          </a:xfrm>
        </p:spPr>
        <p:txBody>
          <a:bodyPr/>
          <a:lstStyle/>
          <a:p>
            <a:r>
              <a:rPr lang="en-US" sz="4400" b="1" dirty="0"/>
              <a:t>GEMP ACCESS COURSE: </a:t>
            </a:r>
            <a:br>
              <a:rPr lang="en-US" sz="4400" b="1" dirty="0"/>
            </a:br>
            <a:r>
              <a:rPr lang="en-US" sz="4400" b="1" dirty="0"/>
              <a:t>BIOLOGICAL CHEMISTRY</a:t>
            </a:r>
            <a:endParaRPr lang="en-US" sz="4400" dirty="0"/>
          </a:p>
        </p:txBody>
      </p:sp>
      <p:sp>
        <p:nvSpPr>
          <p:cNvPr id="3" name="Subtitle 2"/>
          <p:cNvSpPr>
            <a:spLocks noGrp="1"/>
          </p:cNvSpPr>
          <p:nvPr>
            <p:ph type="subTitle" idx="1"/>
          </p:nvPr>
        </p:nvSpPr>
        <p:spPr>
          <a:xfrm>
            <a:off x="1524000" y="3048000"/>
            <a:ext cx="9144000" cy="2209800"/>
          </a:xfrm>
        </p:spPr>
        <p:txBody>
          <a:bodyPr>
            <a:normAutofit/>
          </a:bodyPr>
          <a:lstStyle/>
          <a:p>
            <a:r>
              <a:rPr lang="en-US" dirty="0"/>
              <a:t>Lecturer: </a:t>
            </a:r>
            <a:r>
              <a:rPr lang="en-US" b="1" dirty="0"/>
              <a:t>Christopher Larbie, </a:t>
            </a:r>
            <a:r>
              <a:rPr lang="en-US" b="1" i="1" dirty="0"/>
              <a:t>PhD</a:t>
            </a:r>
          </a:p>
          <a:p>
            <a:endParaRPr lang="en-US" b="1" i="1" dirty="0"/>
          </a:p>
          <a:p>
            <a:r>
              <a:rPr lang="en-US" dirty="0"/>
              <a:t>Lecture 1:</a:t>
            </a:r>
          </a:p>
          <a:p>
            <a:r>
              <a:rPr lang="en-US" b="1" dirty="0"/>
              <a:t>Origin of Life and Biological Concepts </a:t>
            </a:r>
            <a:endParaRPr lang="en-US" dirty="0"/>
          </a:p>
          <a:p>
            <a:endParaRPr lang="en-US" dirty="0"/>
          </a:p>
        </p:txBody>
      </p:sp>
    </p:spTree>
    <p:extLst>
      <p:ext uri="{BB962C8B-B14F-4D97-AF65-F5344CB8AC3E}">
        <p14:creationId xmlns:p14="http://schemas.microsoft.com/office/powerpoint/2010/main" val="626742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OBJECTIVES</a:t>
            </a:r>
          </a:p>
        </p:txBody>
      </p:sp>
      <p:sp>
        <p:nvSpPr>
          <p:cNvPr id="3" name="Content Placeholder 2"/>
          <p:cNvSpPr>
            <a:spLocks noGrp="1"/>
          </p:cNvSpPr>
          <p:nvPr>
            <p:ph idx="1"/>
          </p:nvPr>
        </p:nvSpPr>
        <p:spPr>
          <a:xfrm>
            <a:off x="838200" y="1600200"/>
            <a:ext cx="10363200" cy="4343400"/>
          </a:xfrm>
        </p:spPr>
        <p:txBody>
          <a:bodyPr>
            <a:normAutofit/>
          </a:bodyPr>
          <a:lstStyle/>
          <a:p>
            <a:r>
              <a:rPr lang="en-US" sz="2800" dirty="0"/>
              <a:t>In this lecture, the following would be learnt:</a:t>
            </a:r>
          </a:p>
          <a:p>
            <a:endParaRPr lang="en-US" sz="2800" dirty="0"/>
          </a:p>
          <a:p>
            <a:pPr lvl="1">
              <a:buFont typeface="Wingdings" pitchFamily="2" charset="2"/>
              <a:buChar char="q"/>
            </a:pPr>
            <a:r>
              <a:rPr lang="en-US" sz="2400" dirty="0"/>
              <a:t>Definition of Life</a:t>
            </a:r>
          </a:p>
          <a:p>
            <a:pPr lvl="1">
              <a:buFont typeface="Wingdings" pitchFamily="2" charset="2"/>
              <a:buChar char="q"/>
            </a:pPr>
            <a:endParaRPr lang="en-US" sz="2400" dirty="0"/>
          </a:p>
          <a:p>
            <a:pPr lvl="1">
              <a:buFont typeface="Wingdings" pitchFamily="2" charset="2"/>
              <a:buChar char="q"/>
            </a:pPr>
            <a:r>
              <a:rPr lang="en-US" sz="2400" dirty="0"/>
              <a:t>Life is not possible on all planets. </a:t>
            </a:r>
          </a:p>
          <a:p>
            <a:pPr lvl="1">
              <a:buFont typeface="Wingdings" pitchFamily="2" charset="2"/>
              <a:buChar char="q"/>
            </a:pPr>
            <a:endParaRPr lang="en-US" sz="2400" dirty="0"/>
          </a:p>
          <a:p>
            <a:pPr lvl="1">
              <a:buFont typeface="Wingdings" pitchFamily="2" charset="2"/>
              <a:buChar char="q"/>
            </a:pPr>
            <a:r>
              <a:rPr lang="en-US" sz="2400" dirty="0"/>
              <a:t>An account of the various ideas about the origin of life. </a:t>
            </a:r>
          </a:p>
          <a:p>
            <a:pPr lvl="1" indent="0">
              <a:buNone/>
            </a:pPr>
            <a:endParaRPr lang="en-US" sz="2400" dirty="0"/>
          </a:p>
          <a:p>
            <a:pPr lvl="1">
              <a:buFont typeface="Wingdings" pitchFamily="2" charset="2"/>
              <a:buChar char="q"/>
            </a:pPr>
            <a:r>
              <a:rPr lang="en-US" sz="2400" dirty="0"/>
              <a:t>The simplest structure within which life is invested is a cell with a well deﬁned boundary</a:t>
            </a:r>
          </a:p>
          <a:p>
            <a:pPr lvl="1">
              <a:buFont typeface="Wingdings" pitchFamily="2" charset="2"/>
              <a:buChar char="q"/>
            </a:pPr>
            <a:endParaRPr lang="en-US" sz="2400" dirty="0"/>
          </a:p>
        </p:txBody>
      </p:sp>
    </p:spTree>
    <p:extLst>
      <p:ext uri="{BB962C8B-B14F-4D97-AF65-F5344CB8AC3E}">
        <p14:creationId xmlns:p14="http://schemas.microsoft.com/office/powerpoint/2010/main" val="4118604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3238"/>
            <a:ext cx="9372600" cy="715962"/>
          </a:xfrm>
        </p:spPr>
        <p:txBody>
          <a:bodyPr>
            <a:normAutofit/>
          </a:bodyPr>
          <a:lstStyle/>
          <a:p>
            <a:r>
              <a:rPr lang="en-US" dirty="0"/>
              <a:t>Various views on origin of life</a:t>
            </a:r>
          </a:p>
        </p:txBody>
      </p:sp>
      <p:sp>
        <p:nvSpPr>
          <p:cNvPr id="3" name="Content Placeholder 2"/>
          <p:cNvSpPr>
            <a:spLocks noGrp="1"/>
          </p:cNvSpPr>
          <p:nvPr>
            <p:ph idx="1"/>
          </p:nvPr>
        </p:nvSpPr>
        <p:spPr>
          <a:xfrm>
            <a:off x="533400" y="1295400"/>
            <a:ext cx="11049000" cy="4648200"/>
          </a:xfrm>
        </p:spPr>
        <p:txBody>
          <a:bodyPr>
            <a:normAutofit/>
          </a:bodyPr>
          <a:lstStyle/>
          <a:p>
            <a:r>
              <a:rPr lang="en-US" sz="2800" dirty="0"/>
              <a:t>Life is a process which is capable of self-sustenance, replication and mutation.</a:t>
            </a:r>
          </a:p>
          <a:p>
            <a:endParaRPr lang="en-US" sz="2800" dirty="0"/>
          </a:p>
          <a:p>
            <a:pPr lvl="1"/>
            <a:r>
              <a:rPr lang="en-US" sz="2400" dirty="0"/>
              <a:t>Self-sustenance ensures that some damage or loss of material may occur, and these have to be made up for. </a:t>
            </a:r>
          </a:p>
          <a:p>
            <a:pPr lvl="1"/>
            <a:endParaRPr lang="en-US" sz="2400" dirty="0"/>
          </a:p>
          <a:p>
            <a:pPr lvl="1"/>
            <a:r>
              <a:rPr lang="en-US" sz="2400" dirty="0"/>
              <a:t>Replication is to ensure the continuity of life so that it does not become extinct. </a:t>
            </a:r>
          </a:p>
          <a:p>
            <a:pPr lvl="1"/>
            <a:endParaRPr lang="en-US" sz="2400" dirty="0"/>
          </a:p>
          <a:p>
            <a:pPr lvl="1"/>
            <a:r>
              <a:rPr lang="en-US" sz="2400" dirty="0"/>
              <a:t>Mutation permits the emerging progeny to change under the pressure of natural selection in order to compete efficiently for matter and energy in an increasingly changing environment. </a:t>
            </a:r>
          </a:p>
          <a:p>
            <a:endParaRPr lang="en-US" sz="2800" dirty="0"/>
          </a:p>
        </p:txBody>
      </p:sp>
    </p:spTree>
    <p:extLst>
      <p:ext uri="{BB962C8B-B14F-4D97-AF65-F5344CB8AC3E}">
        <p14:creationId xmlns:p14="http://schemas.microsoft.com/office/powerpoint/2010/main" val="858446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609600"/>
            <a:ext cx="10515600" cy="5867400"/>
          </a:xfrm>
        </p:spPr>
        <p:txBody>
          <a:bodyPr>
            <a:normAutofit/>
          </a:bodyPr>
          <a:lstStyle/>
          <a:p>
            <a:r>
              <a:rPr lang="en-GB" sz="2800" dirty="0"/>
              <a:t>Life is a characteristic distinguishing physical entities having biological processes, such as </a:t>
            </a:r>
            <a:r>
              <a:rPr lang="en-GB" sz="2800" dirty="0">
                <a:solidFill>
                  <a:srgbClr val="FF0000"/>
                </a:solidFill>
              </a:rPr>
              <a:t>signalling</a:t>
            </a:r>
            <a:r>
              <a:rPr lang="en-GB" sz="2800" dirty="0"/>
              <a:t> and </a:t>
            </a:r>
            <a:r>
              <a:rPr lang="en-GB" sz="2800" dirty="0">
                <a:solidFill>
                  <a:srgbClr val="FF0000"/>
                </a:solidFill>
              </a:rPr>
              <a:t>self-sustaining processes</a:t>
            </a:r>
            <a:r>
              <a:rPr lang="en-GB" sz="2800" dirty="0"/>
              <a:t>, from those that do not, either because such functions have ceased, or because they never had such functions and are classified as inanimate. </a:t>
            </a:r>
          </a:p>
          <a:p>
            <a:pPr lvl="1"/>
            <a:r>
              <a:rPr lang="en-GB" sz="2400" dirty="0"/>
              <a:t>Various forms of life exist such as plants, animals, fungi, protists, archaea, and bacteria.</a:t>
            </a:r>
          </a:p>
          <a:p>
            <a:endParaRPr lang="en-GB" sz="2800" dirty="0"/>
          </a:p>
          <a:p>
            <a:r>
              <a:rPr lang="en-GB" sz="2800" dirty="0"/>
              <a:t>Other definition is </a:t>
            </a:r>
          </a:p>
          <a:p>
            <a:pPr marL="0" indent="0">
              <a:buNone/>
            </a:pPr>
            <a:r>
              <a:rPr lang="en-GB" sz="2800" dirty="0"/>
              <a:t>“Organisms maintain </a:t>
            </a:r>
            <a:r>
              <a:rPr lang="en-GB" sz="2800" dirty="0">
                <a:solidFill>
                  <a:srgbClr val="FF0000"/>
                </a:solidFill>
              </a:rPr>
              <a:t>homeostasis</a:t>
            </a:r>
            <a:r>
              <a:rPr lang="en-GB" sz="2800" dirty="0"/>
              <a:t>, are </a:t>
            </a:r>
            <a:r>
              <a:rPr lang="en-GB" sz="2800" dirty="0">
                <a:solidFill>
                  <a:srgbClr val="FF0000"/>
                </a:solidFill>
              </a:rPr>
              <a:t>composed of cells</a:t>
            </a:r>
            <a:r>
              <a:rPr lang="en-GB" sz="2800" dirty="0"/>
              <a:t>, undergo </a:t>
            </a:r>
            <a:r>
              <a:rPr lang="en-GB" sz="2800" dirty="0">
                <a:solidFill>
                  <a:srgbClr val="FF0000"/>
                </a:solidFill>
              </a:rPr>
              <a:t>metabolism</a:t>
            </a:r>
            <a:r>
              <a:rPr lang="en-GB" sz="2800" dirty="0"/>
              <a:t>, can </a:t>
            </a:r>
            <a:r>
              <a:rPr lang="en-GB" sz="2800" dirty="0">
                <a:solidFill>
                  <a:srgbClr val="FF0000"/>
                </a:solidFill>
              </a:rPr>
              <a:t>grow</a:t>
            </a:r>
            <a:r>
              <a:rPr lang="en-GB" sz="2800" dirty="0"/>
              <a:t>, </a:t>
            </a:r>
            <a:r>
              <a:rPr lang="en-GB" sz="2800" dirty="0">
                <a:solidFill>
                  <a:srgbClr val="FF0000"/>
                </a:solidFill>
              </a:rPr>
              <a:t>adapt</a:t>
            </a:r>
            <a:r>
              <a:rPr lang="en-GB" sz="2800" dirty="0"/>
              <a:t> to their environment, respond to </a:t>
            </a:r>
            <a:r>
              <a:rPr lang="en-GB" sz="2800" dirty="0">
                <a:solidFill>
                  <a:srgbClr val="FF0000"/>
                </a:solidFill>
              </a:rPr>
              <a:t>stimuli</a:t>
            </a:r>
            <a:r>
              <a:rPr lang="en-GB" sz="2800" dirty="0"/>
              <a:t>, and </a:t>
            </a:r>
            <a:r>
              <a:rPr lang="en-GB" sz="2800" dirty="0">
                <a:solidFill>
                  <a:srgbClr val="FF0000"/>
                </a:solidFill>
              </a:rPr>
              <a:t>reproduce</a:t>
            </a:r>
            <a:r>
              <a:rPr lang="en-GB" sz="2800" dirty="0"/>
              <a:t> (MRS GREN; 7 life processes).</a:t>
            </a:r>
          </a:p>
        </p:txBody>
      </p:sp>
    </p:spTree>
    <p:extLst>
      <p:ext uri="{BB962C8B-B14F-4D97-AF65-F5344CB8AC3E}">
        <p14:creationId xmlns:p14="http://schemas.microsoft.com/office/powerpoint/2010/main" val="2473751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Life as living System</a:t>
            </a:r>
          </a:p>
        </p:txBody>
      </p:sp>
      <p:sp>
        <p:nvSpPr>
          <p:cNvPr id="3" name="Content Placeholder 2"/>
          <p:cNvSpPr>
            <a:spLocks noGrp="1"/>
          </p:cNvSpPr>
          <p:nvPr>
            <p:ph idx="1"/>
          </p:nvPr>
        </p:nvSpPr>
        <p:spPr/>
        <p:txBody>
          <a:bodyPr>
            <a:normAutofit fontScale="92500" lnSpcReduction="10000"/>
          </a:bodyPr>
          <a:lstStyle/>
          <a:p>
            <a:r>
              <a:rPr lang="en-GB" sz="2800" dirty="0"/>
              <a:t>Living systems are open self-organizing living things that interact with their environment. </a:t>
            </a:r>
          </a:p>
          <a:p>
            <a:endParaRPr lang="en-GB" sz="2800" dirty="0"/>
          </a:p>
          <a:p>
            <a:r>
              <a:rPr lang="en-GB" sz="2800" dirty="0"/>
              <a:t>These systems are maintained by flows of information, energy and matter. </a:t>
            </a:r>
          </a:p>
          <a:p>
            <a:endParaRPr lang="en-GB" sz="2800" dirty="0"/>
          </a:p>
          <a:p>
            <a:r>
              <a:rPr lang="en-GB" sz="2800" dirty="0"/>
              <a:t>Some scientists have proposed in the last few decades that a general living systems theory is required to explain the nature of life. </a:t>
            </a:r>
          </a:p>
          <a:p>
            <a:endParaRPr lang="en-GB" sz="2800" dirty="0"/>
          </a:p>
          <a:p>
            <a:r>
              <a:rPr lang="en-GB" sz="2800" dirty="0"/>
              <a:t>Such a general theory, arising out of the ecological and biological sciences, attempts to map general principles for how all living systems work. </a:t>
            </a:r>
          </a:p>
          <a:p>
            <a:endParaRPr lang="en-GB" sz="2800" dirty="0"/>
          </a:p>
        </p:txBody>
      </p:sp>
    </p:spTree>
    <p:extLst>
      <p:ext uri="{BB962C8B-B14F-4D97-AF65-F5344CB8AC3E}">
        <p14:creationId xmlns:p14="http://schemas.microsoft.com/office/powerpoint/2010/main" val="4200331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Gaia hypothesis</a:t>
            </a:r>
          </a:p>
        </p:txBody>
      </p:sp>
      <p:sp>
        <p:nvSpPr>
          <p:cNvPr id="3" name="Content Placeholder 2"/>
          <p:cNvSpPr>
            <a:spLocks noGrp="1"/>
          </p:cNvSpPr>
          <p:nvPr>
            <p:ph idx="1"/>
          </p:nvPr>
        </p:nvSpPr>
        <p:spPr/>
        <p:txBody>
          <a:bodyPr>
            <a:normAutofit/>
          </a:bodyPr>
          <a:lstStyle/>
          <a:p>
            <a:r>
              <a:rPr lang="en-GB" sz="2600" dirty="0"/>
              <a:t>Gaia hypothesis, also known as Gaia theory or Gaia principle (developed by James Lovelock), proposes that organisms interact with their inorganic surroundings on Earth to form a synergistic self-regulating, complex system that helps to maintain and perpetuate the conditions for life on the planet. </a:t>
            </a:r>
          </a:p>
          <a:p>
            <a:endParaRPr lang="en-GB" sz="2600" dirty="0"/>
          </a:p>
          <a:p>
            <a:r>
              <a:rPr lang="en-GB" sz="2600" dirty="0"/>
              <a:t>Topics of interest include how the biosphere and the evolution of life forms affect the stability of global temperature, ocean salinity, oxygen in the atmosphere, the maintenance of a hydrosphere of liquid water and other environmental variables that affect the habitability of Earth.</a:t>
            </a:r>
          </a:p>
          <a:p>
            <a:endParaRPr lang="en-GB" sz="2600" dirty="0"/>
          </a:p>
        </p:txBody>
      </p:sp>
    </p:spTree>
    <p:extLst>
      <p:ext uri="{BB962C8B-B14F-4D97-AF65-F5344CB8AC3E}">
        <p14:creationId xmlns:p14="http://schemas.microsoft.com/office/powerpoint/2010/main" val="2800773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Life as a Complex System </a:t>
            </a:r>
          </a:p>
        </p:txBody>
      </p:sp>
      <p:sp>
        <p:nvSpPr>
          <p:cNvPr id="3" name="Content Placeholder 2"/>
          <p:cNvSpPr>
            <a:spLocks noGrp="1"/>
          </p:cNvSpPr>
          <p:nvPr>
            <p:ph idx="1"/>
          </p:nvPr>
        </p:nvSpPr>
        <p:spPr>
          <a:xfrm>
            <a:off x="609600" y="1600200"/>
            <a:ext cx="10972800" cy="5105400"/>
          </a:xfrm>
        </p:spPr>
        <p:txBody>
          <a:bodyPr>
            <a:normAutofit fontScale="92500" lnSpcReduction="10000"/>
          </a:bodyPr>
          <a:lstStyle/>
          <a:p>
            <a:r>
              <a:rPr lang="en-GB" sz="2800" dirty="0">
                <a:solidFill>
                  <a:srgbClr val="FF0000"/>
                </a:solidFill>
              </a:rPr>
              <a:t>Complex systems biology</a:t>
            </a:r>
            <a:r>
              <a:rPr lang="en-GB" sz="2800" dirty="0"/>
              <a:t> (CSB) is a branch or subfield of mathematical and theoretical biology concerned with complexity of both structure and function in biological organisms, as well as the emergence and evolution of organisms and species, with emphasis being placed on the complex interactions of, and within, bionetworks,</a:t>
            </a:r>
            <a:r>
              <a:rPr lang="en-GB" sz="2800" baseline="30000" dirty="0"/>
              <a:t> </a:t>
            </a:r>
            <a:r>
              <a:rPr lang="en-GB" sz="2800" dirty="0"/>
              <a:t>and on the fundamental relations and relational patterns that are essential to life.</a:t>
            </a:r>
            <a:endParaRPr lang="en-GB" sz="2800" baseline="30000" dirty="0"/>
          </a:p>
          <a:p>
            <a:endParaRPr lang="en-GB" sz="2800" baseline="30000" dirty="0"/>
          </a:p>
          <a:p>
            <a:r>
              <a:rPr lang="en-GB" sz="2800" dirty="0"/>
              <a:t>CSB is thus a field of theoretical sciences aimed at discovering and modelling the relational patterns essential to life that has only a partial overlap with complex systems theory, and also with the systems approach to biology called systems biology; </a:t>
            </a:r>
          </a:p>
          <a:p>
            <a:pPr lvl="1"/>
            <a:r>
              <a:rPr lang="en-GB" sz="2400" dirty="0"/>
              <a:t>this is because the latter is restricted primarily to simplified models of biological organization and organisms, as well as to only a general consideration of philosophical or semantic questions related to complexity in biology.</a:t>
            </a:r>
          </a:p>
          <a:p>
            <a:endParaRPr lang="en-GB" sz="2800" dirty="0"/>
          </a:p>
        </p:txBody>
      </p:sp>
    </p:spTree>
    <p:extLst>
      <p:ext uri="{BB962C8B-B14F-4D97-AF65-F5344CB8AC3E}">
        <p14:creationId xmlns:p14="http://schemas.microsoft.com/office/powerpoint/2010/main" val="93412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618806"/>
            <a:ext cx="9525000" cy="676594"/>
          </a:xfrm>
        </p:spPr>
        <p:txBody>
          <a:bodyPr>
            <a:normAutofit/>
          </a:bodyPr>
          <a:lstStyle/>
          <a:p>
            <a:r>
              <a:rPr lang="en-GB" sz="3600" dirty="0"/>
              <a:t>Is life possible on all planets?</a:t>
            </a:r>
          </a:p>
        </p:txBody>
      </p:sp>
      <p:sp>
        <p:nvSpPr>
          <p:cNvPr id="3" name="Content Placeholder 2"/>
          <p:cNvSpPr>
            <a:spLocks noGrp="1"/>
          </p:cNvSpPr>
          <p:nvPr>
            <p:ph idx="1"/>
          </p:nvPr>
        </p:nvSpPr>
        <p:spPr>
          <a:xfrm>
            <a:off x="762000" y="1524000"/>
            <a:ext cx="10744200" cy="4953000"/>
          </a:xfrm>
        </p:spPr>
        <p:txBody>
          <a:bodyPr>
            <a:normAutofit/>
          </a:bodyPr>
          <a:lstStyle/>
          <a:p>
            <a:r>
              <a:rPr lang="en-US" sz="2800" dirty="0"/>
              <a:t>Life does not occur on all planets because conditions in most of the planets do not support life. </a:t>
            </a:r>
          </a:p>
          <a:p>
            <a:endParaRPr lang="en-US" sz="2800" dirty="0"/>
          </a:p>
          <a:p>
            <a:r>
              <a:rPr lang="en-US" sz="2800" dirty="0"/>
              <a:t>Conditions on the planet earth are right for the occurrence, sustenance and perpetuation of life. </a:t>
            </a:r>
          </a:p>
          <a:p>
            <a:pPr lvl="1"/>
            <a:r>
              <a:rPr lang="en-US" sz="2400" dirty="0"/>
              <a:t>The presence of moisture, air and suitable temperatures are just the right conditions for life. </a:t>
            </a:r>
          </a:p>
        </p:txBody>
      </p:sp>
    </p:spTree>
    <p:extLst>
      <p:ext uri="{BB962C8B-B14F-4D97-AF65-F5344CB8AC3E}">
        <p14:creationId xmlns:p14="http://schemas.microsoft.com/office/powerpoint/2010/main" val="2641583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990600"/>
          </a:xfrm>
        </p:spPr>
        <p:txBody>
          <a:bodyPr>
            <a:normAutofit/>
          </a:bodyPr>
          <a:lstStyle/>
          <a:p>
            <a:r>
              <a:rPr lang="en-GB" sz="3200" dirty="0">
                <a:solidFill>
                  <a:schemeClr val="tx1"/>
                </a:solidFill>
              </a:rPr>
              <a:t>Habitable zones of the milky way </a:t>
            </a:r>
          </a:p>
        </p:txBody>
      </p:sp>
      <p:sp>
        <p:nvSpPr>
          <p:cNvPr id="3" name="Content Placeholder 2"/>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F708EA9C-941D-40F3-BD02-40A127527BB7}"/>
              </a:ext>
            </a:extLst>
          </p:cNvPr>
          <p:cNvPicPr>
            <a:picLocks noChangeAspect="1"/>
          </p:cNvPicPr>
          <p:nvPr/>
        </p:nvPicPr>
        <p:blipFill>
          <a:blip r:embed="rId2"/>
          <a:stretch>
            <a:fillRect/>
          </a:stretch>
        </p:blipFill>
        <p:spPr>
          <a:xfrm>
            <a:off x="1600200" y="1143000"/>
            <a:ext cx="8839200" cy="5715000"/>
          </a:xfrm>
          <a:prstGeom prst="rect">
            <a:avLst/>
          </a:prstGeom>
        </p:spPr>
      </p:pic>
    </p:spTree>
    <p:extLst>
      <p:ext uri="{BB962C8B-B14F-4D97-AF65-F5344CB8AC3E}">
        <p14:creationId xmlns:p14="http://schemas.microsoft.com/office/powerpoint/2010/main" val="3699960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9144000" y="713874"/>
            <a:ext cx="2743200" cy="6296526"/>
          </a:xfrm>
        </p:spPr>
        <p:txBody>
          <a:bodyPr>
            <a:normAutofit fontScale="70000" lnSpcReduction="20000"/>
          </a:bodyPr>
          <a:lstStyle/>
          <a:p>
            <a:r>
              <a:rPr lang="en-GB" dirty="0"/>
              <a:t>Kepler-62 is a star somewhat cooler and smaller than the Sun in the constellation Lyra, 1,200 light-years from Earth. It is located within the field of vision of the Kepler spacecraft, the satellite that NASA's Kepler Mission used to detect planets that may be transiting their stars. On April 18, 2013 it was announced that the star has five planets, two of which, Kepler-62e and Kepler-62f are within the star's habitable zone. The outermost, Kepler-62f, is likely a rocky planet. (</a:t>
            </a:r>
            <a:r>
              <a:rPr lang="en-GB" dirty="0">
                <a:hlinkClick r:id="rId2"/>
              </a:rPr>
              <a:t>https://en.wikipedia.org/wiki/Kepler-62</a:t>
            </a:r>
            <a:r>
              <a:rPr lang="en-GB" dirty="0"/>
              <a:t>) </a:t>
            </a:r>
          </a:p>
          <a:p>
            <a:endParaRPr lang="en-GB" dirty="0"/>
          </a:p>
        </p:txBody>
      </p:sp>
      <p:pic>
        <p:nvPicPr>
          <p:cNvPr id="4" name="Picture 3">
            <a:extLst>
              <a:ext uri="{FF2B5EF4-FFF2-40B4-BE49-F238E27FC236}">
                <a16:creationId xmlns:a16="http://schemas.microsoft.com/office/drawing/2014/main" id="{B7628E14-64F1-4D53-990B-D81A42C0D847}"/>
              </a:ext>
            </a:extLst>
          </p:cNvPr>
          <p:cNvPicPr>
            <a:picLocks noChangeAspect="1"/>
          </p:cNvPicPr>
          <p:nvPr/>
        </p:nvPicPr>
        <p:blipFill>
          <a:blip r:embed="rId3"/>
          <a:stretch>
            <a:fillRect/>
          </a:stretch>
        </p:blipFill>
        <p:spPr>
          <a:xfrm>
            <a:off x="0" y="381000"/>
            <a:ext cx="9144000" cy="6448926"/>
          </a:xfrm>
          <a:prstGeom prst="rect">
            <a:avLst/>
          </a:prstGeom>
        </p:spPr>
      </p:pic>
    </p:spTree>
    <p:extLst>
      <p:ext uri="{BB962C8B-B14F-4D97-AF65-F5344CB8AC3E}">
        <p14:creationId xmlns:p14="http://schemas.microsoft.com/office/powerpoint/2010/main" val="2243663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08E48-E288-4AA8-864D-C335C1DCE77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A5E24CF-7900-43F9-9CF7-5252FBE77464}"/>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941FECB3-E464-4D71-A235-F4C00AE3DF4E}"/>
              </a:ext>
            </a:extLst>
          </p:cNvPr>
          <p:cNvPicPr>
            <a:picLocks noChangeAspect="1"/>
          </p:cNvPicPr>
          <p:nvPr/>
        </p:nvPicPr>
        <p:blipFill rotWithShape="1">
          <a:blip r:embed="rId2"/>
          <a:srcRect t="8889"/>
          <a:stretch/>
        </p:blipFill>
        <p:spPr>
          <a:xfrm>
            <a:off x="1066800" y="0"/>
            <a:ext cx="10058400" cy="6873240"/>
          </a:xfrm>
          <a:prstGeom prst="rect">
            <a:avLst/>
          </a:prstGeom>
        </p:spPr>
      </p:pic>
    </p:spTree>
    <p:extLst>
      <p:ext uri="{BB962C8B-B14F-4D97-AF65-F5344CB8AC3E}">
        <p14:creationId xmlns:p14="http://schemas.microsoft.com/office/powerpoint/2010/main" val="1532315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14404-3C66-4B51-BD41-C1AE4C509F3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83E95E8-8B96-4B28-A693-07BDB9841BD1}"/>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11186A82-030D-455B-A029-DAA532D02F0D}"/>
              </a:ext>
            </a:extLst>
          </p:cNvPr>
          <p:cNvPicPr>
            <a:picLocks noChangeAspect="1"/>
          </p:cNvPicPr>
          <p:nvPr/>
        </p:nvPicPr>
        <p:blipFill rotWithShape="1">
          <a:blip r:embed="rId2"/>
          <a:srcRect t="10000"/>
          <a:stretch/>
        </p:blipFill>
        <p:spPr>
          <a:xfrm>
            <a:off x="1066800" y="-5863"/>
            <a:ext cx="10134600" cy="6840855"/>
          </a:xfrm>
          <a:prstGeom prst="rect">
            <a:avLst/>
          </a:prstGeom>
        </p:spPr>
      </p:pic>
    </p:spTree>
    <p:extLst>
      <p:ext uri="{BB962C8B-B14F-4D97-AF65-F5344CB8AC3E}">
        <p14:creationId xmlns:p14="http://schemas.microsoft.com/office/powerpoint/2010/main" val="1423873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593361" y="6096000"/>
            <a:ext cx="10972800" cy="381000"/>
          </a:xfrm>
        </p:spPr>
        <p:txBody>
          <a:bodyPr>
            <a:normAutofit fontScale="85000" lnSpcReduction="20000"/>
          </a:bodyPr>
          <a:lstStyle/>
          <a:p>
            <a:r>
              <a:rPr lang="en-GB" dirty="0"/>
              <a:t>Discovery of Gliese 581c - </a:t>
            </a:r>
            <a:r>
              <a:rPr lang="en-GB" dirty="0">
                <a:hlinkClick r:id="rId2"/>
              </a:rPr>
              <a:t>https://www.youtube.com/watch?v=QbocejG0o2k</a:t>
            </a:r>
            <a:r>
              <a:rPr lang="en-GB" dirty="0"/>
              <a:t> </a:t>
            </a:r>
          </a:p>
        </p:txBody>
      </p:sp>
      <p:pic>
        <p:nvPicPr>
          <p:cNvPr id="4" name="Picture 3">
            <a:extLst>
              <a:ext uri="{FF2B5EF4-FFF2-40B4-BE49-F238E27FC236}">
                <a16:creationId xmlns:a16="http://schemas.microsoft.com/office/drawing/2014/main" id="{8F31E48A-5D37-43D5-94E5-2043202264DB}"/>
              </a:ext>
            </a:extLst>
          </p:cNvPr>
          <p:cNvPicPr>
            <a:picLocks noChangeAspect="1"/>
          </p:cNvPicPr>
          <p:nvPr/>
        </p:nvPicPr>
        <p:blipFill>
          <a:blip r:embed="rId3"/>
          <a:stretch>
            <a:fillRect/>
          </a:stretch>
        </p:blipFill>
        <p:spPr>
          <a:xfrm>
            <a:off x="-8744" y="0"/>
            <a:ext cx="12192000" cy="6096000"/>
          </a:xfrm>
          <a:prstGeom prst="rect">
            <a:avLst/>
          </a:prstGeom>
        </p:spPr>
      </p:pic>
    </p:spTree>
    <p:extLst>
      <p:ext uri="{BB962C8B-B14F-4D97-AF65-F5344CB8AC3E}">
        <p14:creationId xmlns:p14="http://schemas.microsoft.com/office/powerpoint/2010/main" val="4286241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55638"/>
            <a:ext cx="9448800" cy="563562"/>
          </a:xfrm>
        </p:spPr>
        <p:txBody>
          <a:bodyPr>
            <a:normAutofit fontScale="90000"/>
          </a:bodyPr>
          <a:lstStyle/>
          <a:p>
            <a:r>
              <a:rPr lang="en-US" dirty="0"/>
              <a:t>Views on the Origination of Life</a:t>
            </a:r>
          </a:p>
        </p:txBody>
      </p:sp>
      <p:sp>
        <p:nvSpPr>
          <p:cNvPr id="3" name="Content Placeholder 2"/>
          <p:cNvSpPr>
            <a:spLocks noGrp="1"/>
          </p:cNvSpPr>
          <p:nvPr>
            <p:ph idx="1"/>
          </p:nvPr>
        </p:nvSpPr>
        <p:spPr>
          <a:xfrm>
            <a:off x="762000" y="1343892"/>
            <a:ext cx="10515600" cy="4828309"/>
          </a:xfrm>
        </p:spPr>
        <p:txBody>
          <a:bodyPr>
            <a:normAutofit/>
          </a:bodyPr>
          <a:lstStyle/>
          <a:p>
            <a:pPr marL="0" indent="0">
              <a:buNone/>
            </a:pPr>
            <a:r>
              <a:rPr lang="en-US" sz="2800" b="1" i="1" dirty="0"/>
              <a:t>Special creation</a:t>
            </a:r>
            <a:endParaRPr lang="en-US" sz="2800" dirty="0"/>
          </a:p>
          <a:p>
            <a:r>
              <a:rPr lang="en-US" sz="2800" dirty="0"/>
              <a:t>Life is so complex that it required a supernatural force to generate it. </a:t>
            </a:r>
          </a:p>
          <a:p>
            <a:pPr lvl="1"/>
            <a:r>
              <a:rPr lang="en-US" sz="2400" dirty="0"/>
              <a:t>This is the Christian, Moslem, and African traditionalist views. </a:t>
            </a:r>
          </a:p>
          <a:p>
            <a:endParaRPr lang="en-US" sz="2800" dirty="0"/>
          </a:p>
          <a:p>
            <a:r>
              <a:rPr lang="en-US" sz="2800" dirty="0"/>
              <a:t>The problem some scientists have for this view is that it is mystical and cannot be proved. </a:t>
            </a:r>
          </a:p>
          <a:p>
            <a:pPr lvl="1"/>
            <a:r>
              <a:rPr lang="en-US" sz="2400" dirty="0"/>
              <a:t>It does not obey the natural laws. </a:t>
            </a:r>
          </a:p>
        </p:txBody>
      </p:sp>
    </p:spTree>
    <p:extLst>
      <p:ext uri="{BB962C8B-B14F-4D97-AF65-F5344CB8AC3E}">
        <p14:creationId xmlns:p14="http://schemas.microsoft.com/office/powerpoint/2010/main" val="53451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33400"/>
            <a:ext cx="10972800" cy="5943600"/>
          </a:xfrm>
        </p:spPr>
        <p:txBody>
          <a:bodyPr>
            <a:normAutofit lnSpcReduction="10000"/>
          </a:bodyPr>
          <a:lstStyle/>
          <a:p>
            <a:pPr marL="0" indent="0">
              <a:buNone/>
            </a:pPr>
            <a:r>
              <a:rPr lang="en-US" sz="2800" b="1" i="1" dirty="0" err="1"/>
              <a:t>Colonisation</a:t>
            </a:r>
            <a:r>
              <a:rPr lang="en-US" sz="2800" b="1" i="1" dirty="0"/>
              <a:t> theory (Theory of </a:t>
            </a:r>
            <a:r>
              <a:rPr lang="en-US" sz="2800" b="1" i="1" dirty="0" err="1"/>
              <a:t>Panspermia</a:t>
            </a:r>
            <a:r>
              <a:rPr lang="en-US" sz="2800" b="1" i="1" dirty="0"/>
              <a:t>)</a:t>
            </a:r>
            <a:endParaRPr lang="en-US" sz="2800" dirty="0"/>
          </a:p>
          <a:p>
            <a:r>
              <a:rPr lang="en-US" dirty="0"/>
              <a:t>Life might have arisen from some life forms that came from elsewhere in the universe. </a:t>
            </a:r>
          </a:p>
          <a:p>
            <a:pPr lvl="1"/>
            <a:r>
              <a:rPr lang="en-US" dirty="0"/>
              <a:t>It was suggested that life in the form of living spores could have been driven to the earth by the pressure of light from the star of another planetary system. </a:t>
            </a:r>
          </a:p>
          <a:p>
            <a:pPr lvl="1"/>
            <a:endParaRPr lang="en-US" dirty="0"/>
          </a:p>
          <a:p>
            <a:r>
              <a:rPr lang="en-US" dirty="0"/>
              <a:t>Other scientists, like Francis Crick and Leslie </a:t>
            </a:r>
            <a:r>
              <a:rPr lang="en-US" dirty="0" err="1"/>
              <a:t>Orgel</a:t>
            </a:r>
            <a:r>
              <a:rPr lang="en-US" dirty="0"/>
              <a:t> proposed that</a:t>
            </a:r>
          </a:p>
          <a:p>
            <a:pPr lvl="1"/>
            <a:r>
              <a:rPr lang="en-US" dirty="0"/>
              <a:t>the transport of life from elsewhere might have been directed by some intelligent forces. </a:t>
            </a:r>
          </a:p>
          <a:p>
            <a:pPr lvl="1"/>
            <a:endParaRPr lang="en-US" dirty="0"/>
          </a:p>
          <a:p>
            <a:r>
              <a:rPr lang="en-US" dirty="0">
                <a:solidFill>
                  <a:srgbClr val="FF0000"/>
                </a:solidFill>
              </a:rPr>
              <a:t>The colonization theory can neither be proven nor reﬁtted since it begs the question as to the origin of life.</a:t>
            </a:r>
            <a:r>
              <a:rPr lang="en-US" dirty="0"/>
              <a:t> </a:t>
            </a:r>
          </a:p>
          <a:p>
            <a:endParaRPr lang="en-US" dirty="0"/>
          </a:p>
          <a:p>
            <a:r>
              <a:rPr lang="en-US" dirty="0"/>
              <a:t>The colonization theory espouses the extra-terrestrial origin of life. </a:t>
            </a:r>
          </a:p>
        </p:txBody>
      </p:sp>
    </p:spTree>
    <p:extLst>
      <p:ext uri="{BB962C8B-B14F-4D97-AF65-F5344CB8AC3E}">
        <p14:creationId xmlns:p14="http://schemas.microsoft.com/office/powerpoint/2010/main" val="2316402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B479D-F82A-4EB4-8022-BC3C56B26A5E}"/>
              </a:ext>
            </a:extLst>
          </p:cNvPr>
          <p:cNvSpPr>
            <a:spLocks noGrp="1"/>
          </p:cNvSpPr>
          <p:nvPr>
            <p:ph idx="1"/>
          </p:nvPr>
        </p:nvSpPr>
        <p:spPr>
          <a:xfrm>
            <a:off x="609600" y="609600"/>
            <a:ext cx="10972800" cy="6019800"/>
          </a:xfrm>
        </p:spPr>
        <p:txBody>
          <a:bodyPr/>
          <a:lstStyle/>
          <a:p>
            <a:r>
              <a:rPr lang="en-GB" dirty="0"/>
              <a:t>Panspermia Theory suggests that life seeds came from outer space and planets exchanged life. Panspermia literally means seeds everywhere.</a:t>
            </a:r>
          </a:p>
          <a:p>
            <a:endParaRPr lang="en-GB" dirty="0"/>
          </a:p>
          <a:p>
            <a:r>
              <a:rPr lang="en-GB" dirty="0"/>
              <a:t>Panspermia suggests that life could have existed on another planet and moved to Earth. Statistics have showed 7.5% of rocks from Mars reach Earth. The rocks would travel between less than 100 years to 16,000 years and more to get to earth. </a:t>
            </a:r>
          </a:p>
          <a:p>
            <a:endParaRPr lang="en-GB" dirty="0"/>
          </a:p>
          <a:p>
            <a:r>
              <a:rPr lang="en-GB" dirty="0"/>
              <a:t>Some of the proponents include Sales </a:t>
            </a:r>
            <a:r>
              <a:rPr lang="en-GB" dirty="0" err="1"/>
              <a:t>Gyon</a:t>
            </a:r>
            <a:r>
              <a:rPr lang="en-GB" dirty="0"/>
              <a:t> de </a:t>
            </a:r>
            <a:r>
              <a:rPr lang="en-GB" dirty="0" err="1"/>
              <a:t>Montlivant</a:t>
            </a:r>
            <a:r>
              <a:rPr lang="en-GB" dirty="0"/>
              <a:t>, who proposed life came from moon, H.E. Richter, who suggested life came from meteorites/comets, and Svante Arrhenius, who came up with Panspermia.</a:t>
            </a:r>
          </a:p>
          <a:p>
            <a:endParaRPr lang="en-GB" dirty="0"/>
          </a:p>
        </p:txBody>
      </p:sp>
    </p:spTree>
    <p:extLst>
      <p:ext uri="{BB962C8B-B14F-4D97-AF65-F5344CB8AC3E}">
        <p14:creationId xmlns:p14="http://schemas.microsoft.com/office/powerpoint/2010/main" val="2705214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EC645-C0DF-46CD-AB96-20A4534D24DA}"/>
              </a:ext>
            </a:extLst>
          </p:cNvPr>
          <p:cNvSpPr>
            <a:spLocks noGrp="1"/>
          </p:cNvSpPr>
          <p:nvPr>
            <p:ph type="title"/>
          </p:nvPr>
        </p:nvSpPr>
        <p:spPr>
          <a:xfrm>
            <a:off x="838200" y="503237"/>
            <a:ext cx="10515600" cy="639763"/>
          </a:xfrm>
        </p:spPr>
        <p:txBody>
          <a:bodyPr>
            <a:normAutofit/>
          </a:bodyPr>
          <a:lstStyle/>
          <a:p>
            <a:r>
              <a:rPr lang="en-GB" sz="3200" i="1" dirty="0"/>
              <a:t>Evidence for Panspermia</a:t>
            </a:r>
          </a:p>
        </p:txBody>
      </p:sp>
      <p:sp>
        <p:nvSpPr>
          <p:cNvPr id="3" name="Content Placeholder 2">
            <a:extLst>
              <a:ext uri="{FF2B5EF4-FFF2-40B4-BE49-F238E27FC236}">
                <a16:creationId xmlns:a16="http://schemas.microsoft.com/office/drawing/2014/main" id="{B0FAC585-B614-4E64-B13F-C1D9FBE7CECB}"/>
              </a:ext>
            </a:extLst>
          </p:cNvPr>
          <p:cNvSpPr>
            <a:spLocks noGrp="1"/>
          </p:cNvSpPr>
          <p:nvPr>
            <p:ph idx="1"/>
          </p:nvPr>
        </p:nvSpPr>
        <p:spPr>
          <a:xfrm>
            <a:off x="609600" y="990600"/>
            <a:ext cx="11201400" cy="5638800"/>
          </a:xfrm>
        </p:spPr>
        <p:txBody>
          <a:bodyPr>
            <a:normAutofit fontScale="77500" lnSpcReduction="20000"/>
          </a:bodyPr>
          <a:lstStyle/>
          <a:p>
            <a:pPr lvl="0"/>
            <a:r>
              <a:rPr lang="en-GB" dirty="0"/>
              <a:t>Bacteria can survive harsh environment of space</a:t>
            </a:r>
          </a:p>
          <a:p>
            <a:pPr marL="0" indent="0">
              <a:buNone/>
            </a:pPr>
            <a:r>
              <a:rPr lang="en-GB" dirty="0"/>
              <a:t>	a. Ultraviolet radiation</a:t>
            </a:r>
          </a:p>
          <a:p>
            <a:pPr marL="0" indent="0">
              <a:buNone/>
            </a:pPr>
            <a:r>
              <a:rPr lang="en-GB" dirty="0"/>
              <a:t>	b. Protons bombardments</a:t>
            </a:r>
          </a:p>
          <a:p>
            <a:pPr marL="0" indent="0">
              <a:buNone/>
            </a:pPr>
            <a:r>
              <a:rPr lang="en-GB" dirty="0"/>
              <a:t>	c. Cold</a:t>
            </a:r>
          </a:p>
          <a:p>
            <a:pPr lvl="0"/>
            <a:r>
              <a:rPr lang="en-GB" dirty="0"/>
              <a:t>Evidence that meteorites contain life</a:t>
            </a:r>
          </a:p>
          <a:p>
            <a:pPr lvl="1"/>
            <a:r>
              <a:rPr lang="en-GB" dirty="0"/>
              <a:t>Amino acids (left handed in helicity)</a:t>
            </a:r>
          </a:p>
          <a:p>
            <a:pPr lvl="1"/>
            <a:r>
              <a:rPr lang="en-GB" dirty="0"/>
              <a:t>Bacteria</a:t>
            </a:r>
          </a:p>
          <a:p>
            <a:pPr lvl="1"/>
            <a:r>
              <a:rPr lang="en-GB" dirty="0"/>
              <a:t>Carbon</a:t>
            </a:r>
          </a:p>
          <a:p>
            <a:pPr lvl="1"/>
            <a:r>
              <a:rPr lang="en-GB" dirty="0"/>
              <a:t>Protected inside rocks</a:t>
            </a:r>
          </a:p>
          <a:p>
            <a:pPr lvl="0"/>
            <a:endParaRPr lang="en-GB" dirty="0"/>
          </a:p>
          <a:p>
            <a:pPr lvl="0"/>
            <a:r>
              <a:rPr lang="en-GB" dirty="0"/>
              <a:t>Bacteria can live for a long time in a sleeping state until awakened</a:t>
            </a:r>
          </a:p>
          <a:p>
            <a:pPr lvl="0"/>
            <a:r>
              <a:rPr lang="en-GB" dirty="0"/>
              <a:t>Mars is safer than Earth (less bombardments and less gravity)</a:t>
            </a:r>
          </a:p>
          <a:p>
            <a:pPr lvl="0"/>
            <a:r>
              <a:rPr lang="en-GB" dirty="0"/>
              <a:t>Mars not as hot as Earth in early development</a:t>
            </a:r>
          </a:p>
          <a:p>
            <a:pPr lvl="0"/>
            <a:r>
              <a:rPr lang="en-GB" dirty="0"/>
              <a:t>Mars had have had oxygen back then when earth did not</a:t>
            </a:r>
          </a:p>
          <a:p>
            <a:pPr lvl="0"/>
            <a:endParaRPr lang="en-GB" dirty="0"/>
          </a:p>
          <a:p>
            <a:pPr lvl="0"/>
            <a:r>
              <a:rPr lang="en-GB" dirty="0"/>
              <a:t>Did Life on Earth come from Space? - </a:t>
            </a:r>
            <a:r>
              <a:rPr lang="en-GB" dirty="0">
                <a:hlinkClick r:id="rId2"/>
              </a:rPr>
              <a:t>https://www.youtube.com/watch?v=cUyLODoZiVM</a:t>
            </a:r>
            <a:r>
              <a:rPr lang="en-GB" dirty="0"/>
              <a:t> </a:t>
            </a:r>
          </a:p>
          <a:p>
            <a:endParaRPr lang="en-GB" dirty="0"/>
          </a:p>
        </p:txBody>
      </p:sp>
    </p:spTree>
    <p:extLst>
      <p:ext uri="{BB962C8B-B14F-4D97-AF65-F5344CB8AC3E}">
        <p14:creationId xmlns:p14="http://schemas.microsoft.com/office/powerpoint/2010/main" val="1592439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41" y="381000"/>
            <a:ext cx="1127395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216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503238"/>
            <a:ext cx="8229600" cy="715962"/>
          </a:xfrm>
        </p:spPr>
        <p:txBody>
          <a:bodyPr>
            <a:normAutofit/>
          </a:bodyPr>
          <a:lstStyle/>
          <a:p>
            <a:r>
              <a:rPr lang="en-US" i="1" dirty="0"/>
              <a:t>Spontaneous generation theory</a:t>
            </a:r>
            <a:endParaRPr lang="en-US" dirty="0"/>
          </a:p>
        </p:txBody>
      </p:sp>
      <p:sp>
        <p:nvSpPr>
          <p:cNvPr id="3" name="Content Placeholder 2"/>
          <p:cNvSpPr>
            <a:spLocks noGrp="1"/>
          </p:cNvSpPr>
          <p:nvPr>
            <p:ph idx="1"/>
          </p:nvPr>
        </p:nvSpPr>
        <p:spPr>
          <a:xfrm>
            <a:off x="381000" y="1066800"/>
            <a:ext cx="11125200" cy="5569527"/>
          </a:xfrm>
        </p:spPr>
        <p:txBody>
          <a:bodyPr>
            <a:normAutofit/>
          </a:bodyPr>
          <a:lstStyle/>
          <a:p>
            <a:r>
              <a:rPr lang="en-US" dirty="0"/>
              <a:t>This theory asserts that life arose </a:t>
            </a:r>
            <a:r>
              <a:rPr lang="en-US" dirty="0" err="1"/>
              <a:t>abiogenically</a:t>
            </a:r>
            <a:r>
              <a:rPr lang="en-US" dirty="0"/>
              <a:t>. </a:t>
            </a:r>
          </a:p>
          <a:p>
            <a:pPr lvl="1"/>
            <a:r>
              <a:rPr lang="en-US" dirty="0"/>
              <a:t>Aristotle (384-322 BC) had suggested that when soil, straw or refuse that was free of life was left for a period of time, living organisms could emerge from them spontaneously if condition were right.</a:t>
            </a:r>
          </a:p>
          <a:p>
            <a:pPr lvl="1"/>
            <a:r>
              <a:rPr lang="en-US" dirty="0"/>
              <a:t>Van </a:t>
            </a:r>
            <a:r>
              <a:rPr lang="en-US" dirty="0" err="1"/>
              <a:t>Velmont</a:t>
            </a:r>
            <a:r>
              <a:rPr lang="en-US" dirty="0"/>
              <a:t> (1577 - 1644), a Dutch Scientist supported it.</a:t>
            </a:r>
          </a:p>
          <a:p>
            <a:endParaRPr lang="en-US" dirty="0"/>
          </a:p>
          <a:p>
            <a:r>
              <a:rPr lang="en-US" dirty="0"/>
              <a:t>The ﬁrst blow to the spontaneous generation idea was from the work of Francesco </a:t>
            </a:r>
            <a:r>
              <a:rPr lang="en-US" dirty="0" err="1"/>
              <a:t>Redi</a:t>
            </a:r>
            <a:r>
              <a:rPr lang="en-US" dirty="0"/>
              <a:t> (1626-1697). </a:t>
            </a:r>
          </a:p>
          <a:p>
            <a:endParaRPr lang="en-US" dirty="0"/>
          </a:p>
          <a:p>
            <a:r>
              <a:rPr lang="en-US" dirty="0"/>
              <a:t>The invention of microscope by Anton van Leeuwenhoek in 1675 paved the way for the study of Spontaneous generation of microbial life.</a:t>
            </a:r>
          </a:p>
          <a:p>
            <a:endParaRPr lang="en-US" dirty="0"/>
          </a:p>
        </p:txBody>
      </p:sp>
    </p:spTree>
    <p:extLst>
      <p:ext uri="{BB962C8B-B14F-4D97-AF65-F5344CB8AC3E}">
        <p14:creationId xmlns:p14="http://schemas.microsoft.com/office/powerpoint/2010/main" val="498794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10668000" cy="5562600"/>
          </a:xfrm>
        </p:spPr>
        <p:txBody>
          <a:bodyPr>
            <a:normAutofit/>
          </a:bodyPr>
          <a:lstStyle/>
          <a:p>
            <a:r>
              <a:rPr lang="en-US" sz="2800" dirty="0"/>
              <a:t>Needham and Buffon - mutton broth is heated to boiling, it could still support the growth of microbes. </a:t>
            </a:r>
          </a:p>
          <a:p>
            <a:pPr lvl="1"/>
            <a:r>
              <a:rPr lang="en-US" sz="2400" dirty="0" err="1"/>
              <a:t>Lazzaro</a:t>
            </a:r>
            <a:r>
              <a:rPr lang="en-US" sz="2400" dirty="0"/>
              <a:t> </a:t>
            </a:r>
            <a:r>
              <a:rPr lang="en-US" sz="2400" dirty="0" err="1"/>
              <a:t>Spallanzani</a:t>
            </a:r>
            <a:r>
              <a:rPr lang="en-US" sz="2400" dirty="0"/>
              <a:t> (1729-1799) detected loopholes in the experimental set-up of </a:t>
            </a:r>
            <a:r>
              <a:rPr lang="en-US" sz="2400" dirty="0" err="1"/>
              <a:t>Needhan</a:t>
            </a:r>
            <a:r>
              <a:rPr lang="en-US" sz="2400" dirty="0"/>
              <a:t> and Buffon.</a:t>
            </a:r>
          </a:p>
          <a:p>
            <a:endParaRPr lang="en-US" sz="2800" dirty="0"/>
          </a:p>
          <a:p>
            <a:r>
              <a:rPr lang="en-US" sz="2800" dirty="0"/>
              <a:t>Louis Pasteur (1822-1895) was the person who gave the last blow to the spontaneous generation idea. </a:t>
            </a:r>
          </a:p>
          <a:p>
            <a:pPr lvl="1"/>
            <a:r>
              <a:rPr lang="en-US" sz="2400" dirty="0"/>
              <a:t>He showed that air was a suspension of microbes that could infest sterile broths. </a:t>
            </a:r>
          </a:p>
          <a:p>
            <a:endParaRPr lang="en-US" sz="2800" dirty="0"/>
          </a:p>
          <a:p>
            <a:endParaRPr lang="en-US" sz="2800" dirty="0"/>
          </a:p>
        </p:txBody>
      </p:sp>
    </p:spTree>
    <p:extLst>
      <p:ext uri="{BB962C8B-B14F-4D97-AF65-F5344CB8AC3E}">
        <p14:creationId xmlns:p14="http://schemas.microsoft.com/office/powerpoint/2010/main" val="2126092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5B51-5EF4-46CB-A33F-FB9ED94DD5C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9958DEC-7DC1-4601-BCB0-327BC2F748E1}"/>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D5215FE0-3AA8-432B-B3AB-160E7A5EA537}"/>
              </a:ext>
            </a:extLst>
          </p:cNvPr>
          <p:cNvPicPr>
            <a:picLocks noChangeAspect="1"/>
          </p:cNvPicPr>
          <p:nvPr/>
        </p:nvPicPr>
        <p:blipFill>
          <a:blip r:embed="rId2"/>
          <a:stretch>
            <a:fillRect/>
          </a:stretch>
        </p:blipFill>
        <p:spPr>
          <a:xfrm>
            <a:off x="1752600" y="0"/>
            <a:ext cx="8610600" cy="6816726"/>
          </a:xfrm>
          <a:prstGeom prst="rect">
            <a:avLst/>
          </a:prstGeom>
        </p:spPr>
      </p:pic>
    </p:spTree>
    <p:extLst>
      <p:ext uri="{BB962C8B-B14F-4D97-AF65-F5344CB8AC3E}">
        <p14:creationId xmlns:p14="http://schemas.microsoft.com/office/powerpoint/2010/main" val="1552707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03238"/>
            <a:ext cx="8229600" cy="639762"/>
          </a:xfrm>
        </p:spPr>
        <p:txBody>
          <a:bodyPr>
            <a:normAutofit fontScale="90000"/>
          </a:bodyPr>
          <a:lstStyle/>
          <a:p>
            <a:r>
              <a:rPr lang="en-US" dirty="0"/>
              <a:t>Long-term spontaneous generation</a:t>
            </a:r>
          </a:p>
        </p:txBody>
      </p:sp>
      <p:sp>
        <p:nvSpPr>
          <p:cNvPr id="3" name="Content Placeholder 2"/>
          <p:cNvSpPr>
            <a:spLocks noGrp="1"/>
          </p:cNvSpPr>
          <p:nvPr>
            <p:ph idx="1"/>
          </p:nvPr>
        </p:nvSpPr>
        <p:spPr>
          <a:xfrm>
            <a:off x="533400" y="990600"/>
            <a:ext cx="10820400" cy="5638800"/>
          </a:xfrm>
        </p:spPr>
        <p:txBody>
          <a:bodyPr>
            <a:noAutofit/>
          </a:bodyPr>
          <a:lstStyle/>
          <a:p>
            <a:r>
              <a:rPr lang="en-US" sz="2800" dirty="0"/>
              <a:t>In the twentieth century, two prominent scientists; JBS Haldane, a British Biochemist and AL </a:t>
            </a:r>
            <a:r>
              <a:rPr lang="en-US" sz="2800" dirty="0" err="1"/>
              <a:t>Oparin</a:t>
            </a:r>
            <a:r>
              <a:rPr lang="en-US" sz="2800" dirty="0"/>
              <a:t>, a Russian Biochemist suggested that life once evolved from non-living matter.</a:t>
            </a:r>
          </a:p>
          <a:p>
            <a:pPr lvl="1"/>
            <a:r>
              <a:rPr lang="en-US" sz="2400" dirty="0"/>
              <a:t>In the period for the chemical evolution, raw materials present on the primitive earth were used to synthesize both monomers and macromolecules for living cells. </a:t>
            </a:r>
          </a:p>
          <a:p>
            <a:pPr lvl="1"/>
            <a:r>
              <a:rPr lang="en-US" sz="2400" dirty="0"/>
              <a:t>The raw materials were readily available together with the suitable energy sources. </a:t>
            </a:r>
          </a:p>
          <a:p>
            <a:endParaRPr lang="en-US" sz="2800" dirty="0"/>
          </a:p>
          <a:p>
            <a:r>
              <a:rPr lang="en-US" sz="2800" dirty="0"/>
              <a:t>The largest source of energy was sunlight.</a:t>
            </a:r>
          </a:p>
          <a:p>
            <a:endParaRPr lang="en-US" sz="2800" dirty="0"/>
          </a:p>
          <a:p>
            <a:r>
              <a:rPr lang="en-US" sz="2800" dirty="0"/>
              <a:t>Another source of energy was electrical discharges from lightning.</a:t>
            </a:r>
          </a:p>
          <a:p>
            <a:endParaRPr lang="en-US" sz="2800" dirty="0"/>
          </a:p>
          <a:p>
            <a:endParaRPr lang="en-US" sz="2800" dirty="0"/>
          </a:p>
        </p:txBody>
      </p:sp>
    </p:spTree>
    <p:extLst>
      <p:ext uri="{BB962C8B-B14F-4D97-AF65-F5344CB8AC3E}">
        <p14:creationId xmlns:p14="http://schemas.microsoft.com/office/powerpoint/2010/main" val="1069262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14400"/>
            <a:ext cx="10820400" cy="5715000"/>
          </a:xfrm>
        </p:spPr>
        <p:txBody>
          <a:bodyPr>
            <a:noAutofit/>
          </a:bodyPr>
          <a:lstStyle/>
          <a:p>
            <a:r>
              <a:rPr lang="en-US" sz="2800" dirty="0"/>
              <a:t>The major starting materials for prebiotic synthesis came from the atmosphere. </a:t>
            </a:r>
          </a:p>
          <a:p>
            <a:endParaRPr lang="en-US" sz="2800" dirty="0"/>
          </a:p>
          <a:p>
            <a:r>
              <a:rPr lang="en-US" sz="2800" dirty="0"/>
              <a:t>Simple molecules present in the primitive atmosphere included hydrogen, methane, water </a:t>
            </a:r>
            <a:r>
              <a:rPr lang="en-US" sz="2800" dirty="0" err="1"/>
              <a:t>vapour</a:t>
            </a:r>
            <a:r>
              <a:rPr lang="en-US" sz="2800" dirty="0"/>
              <a:t>, ammonia and probably hydrogen </a:t>
            </a:r>
            <a:r>
              <a:rPr lang="en-US" sz="2800" dirty="0" err="1"/>
              <a:t>sulphide</a:t>
            </a:r>
            <a:r>
              <a:rPr lang="en-US" sz="2800" dirty="0"/>
              <a:t>. </a:t>
            </a:r>
          </a:p>
          <a:p>
            <a:endParaRPr lang="en-US" sz="2800" dirty="0"/>
          </a:p>
          <a:p>
            <a:r>
              <a:rPr lang="en-US" sz="2800" dirty="0"/>
              <a:t>The earth crust contained metallic </a:t>
            </a:r>
            <a:r>
              <a:rPr lang="en-US" sz="2800" dirty="0" err="1"/>
              <a:t>sulphide</a:t>
            </a:r>
            <a:r>
              <a:rPr lang="en-US" sz="2800" dirty="0"/>
              <a:t> and mineral phosphates. It is also possible that the raw materials could have been transported to the earth by extraterrestrial bodies like meteors and comets.</a:t>
            </a:r>
          </a:p>
          <a:p>
            <a:endParaRPr lang="en-US" sz="2800" dirty="0"/>
          </a:p>
          <a:p>
            <a:pPr marL="0" indent="0">
              <a:buNone/>
            </a:pPr>
            <a:endParaRPr lang="en-US" sz="2800" dirty="0"/>
          </a:p>
        </p:txBody>
      </p:sp>
    </p:spTree>
    <p:extLst>
      <p:ext uri="{BB962C8B-B14F-4D97-AF65-F5344CB8AC3E}">
        <p14:creationId xmlns:p14="http://schemas.microsoft.com/office/powerpoint/2010/main" val="63858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0972800" cy="5638800"/>
          </a:xfrm>
        </p:spPr>
        <p:txBody>
          <a:bodyPr>
            <a:normAutofit/>
          </a:bodyPr>
          <a:lstStyle/>
          <a:p>
            <a:r>
              <a:rPr lang="en-US" sz="2800" dirty="0"/>
              <a:t>The carbonaceous meteorites contain organic molecules like those contained in biological molecules, for example, alcohols, aldehydes, amines, amino acids, purines, </a:t>
            </a:r>
            <a:r>
              <a:rPr lang="en-US" sz="2800" dirty="0" err="1"/>
              <a:t>pyrimidines</a:t>
            </a:r>
            <a:r>
              <a:rPr lang="en-US" sz="2800" dirty="0"/>
              <a:t>, etc.</a:t>
            </a:r>
          </a:p>
          <a:p>
            <a:endParaRPr lang="en-US" sz="2800" dirty="0"/>
          </a:p>
          <a:p>
            <a:r>
              <a:rPr lang="en-US" sz="2800" dirty="0"/>
              <a:t>Some meteorites also contain clays.</a:t>
            </a:r>
          </a:p>
          <a:p>
            <a:endParaRPr lang="en-US" sz="2800" dirty="0"/>
          </a:p>
          <a:p>
            <a:r>
              <a:rPr lang="en-US" sz="2800" dirty="0"/>
              <a:t>Comets also could have served as good sources of carbon, hydrogen and  nitrogen compounds on the primitive earth.</a:t>
            </a:r>
          </a:p>
          <a:p>
            <a:endParaRPr lang="en-US" sz="2800" dirty="0"/>
          </a:p>
          <a:p>
            <a:r>
              <a:rPr lang="en-US" sz="2800" dirty="0"/>
              <a:t>Comets are heavenly luminous bodies with gaseous tails. </a:t>
            </a:r>
          </a:p>
          <a:p>
            <a:pPr lvl="1"/>
            <a:r>
              <a:rPr lang="en-US" sz="2400" dirty="0"/>
              <a:t>Those comets, with irregular orbits could collide with the earth, depositing their contents on the earth.</a:t>
            </a:r>
          </a:p>
        </p:txBody>
      </p:sp>
    </p:spTree>
    <p:extLst>
      <p:ext uri="{BB962C8B-B14F-4D97-AF65-F5344CB8AC3E}">
        <p14:creationId xmlns:p14="http://schemas.microsoft.com/office/powerpoint/2010/main" val="4049493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55638"/>
            <a:ext cx="8229600" cy="563562"/>
          </a:xfrm>
        </p:spPr>
        <p:txBody>
          <a:bodyPr>
            <a:normAutofit fontScale="90000"/>
          </a:bodyPr>
          <a:lstStyle/>
          <a:p>
            <a:r>
              <a:rPr lang="en-US" b="1" dirty="0"/>
              <a:t>Chemical and Biological evolution</a:t>
            </a:r>
          </a:p>
        </p:txBody>
      </p:sp>
      <p:sp>
        <p:nvSpPr>
          <p:cNvPr id="3" name="Content Placeholder 2"/>
          <p:cNvSpPr>
            <a:spLocks noGrp="1"/>
          </p:cNvSpPr>
          <p:nvPr>
            <p:ph idx="1"/>
          </p:nvPr>
        </p:nvSpPr>
        <p:spPr>
          <a:xfrm>
            <a:off x="609600" y="1295400"/>
            <a:ext cx="10972800" cy="4876800"/>
          </a:xfrm>
        </p:spPr>
        <p:txBody>
          <a:bodyPr>
            <a:normAutofit/>
          </a:bodyPr>
          <a:lstStyle/>
          <a:p>
            <a:r>
              <a:rPr lang="en-US" sz="2800" dirty="0"/>
              <a:t>Chemical evolution refers to the formation of complex organic molecules from simple molecules. </a:t>
            </a:r>
          </a:p>
          <a:p>
            <a:r>
              <a:rPr lang="en-US" sz="2800" dirty="0"/>
              <a:t>Biological evolution is the formation of a self-sustaining, self-replicating system from the complex organic molecules. </a:t>
            </a:r>
          </a:p>
          <a:p>
            <a:r>
              <a:rPr lang="en-US" sz="2800" dirty="0"/>
              <a:t>We can identify the following steps in chemical and biological evolution:</a:t>
            </a:r>
          </a:p>
          <a:p>
            <a:pPr lvl="1"/>
            <a:r>
              <a:rPr lang="en-US" sz="2400" dirty="0"/>
              <a:t>Formation of biologically important monomers like sugars, amino acids, organic bases </a:t>
            </a:r>
            <a:r>
              <a:rPr lang="en-US" sz="2400" dirty="0" err="1"/>
              <a:t>etc</a:t>
            </a:r>
            <a:r>
              <a:rPr lang="en-US" sz="2400" dirty="0"/>
              <a:t> from simple compounds like CH</a:t>
            </a:r>
            <a:r>
              <a:rPr lang="en-US" sz="2400" baseline="-25000" dirty="0"/>
              <a:t>4</a:t>
            </a:r>
            <a:r>
              <a:rPr lang="en-US" sz="2400" dirty="0"/>
              <a:t>, NH</a:t>
            </a:r>
            <a:r>
              <a:rPr lang="en-US" sz="2400" baseline="-25000" dirty="0"/>
              <a:t>3</a:t>
            </a:r>
            <a:r>
              <a:rPr lang="en-US" sz="2400" dirty="0"/>
              <a:t>, H</a:t>
            </a:r>
            <a:r>
              <a:rPr lang="en-US" sz="2400" baseline="-25000" dirty="0"/>
              <a:t>2</a:t>
            </a:r>
            <a:r>
              <a:rPr lang="en-US" sz="2400" dirty="0"/>
              <a:t>O.</a:t>
            </a:r>
          </a:p>
          <a:p>
            <a:pPr lvl="1"/>
            <a:r>
              <a:rPr lang="en-US" sz="2400" dirty="0"/>
              <a:t>Polymerization of the monomers into biopolymers like proteins and nucleic acids.</a:t>
            </a:r>
          </a:p>
          <a:p>
            <a:pPr lvl="1"/>
            <a:r>
              <a:rPr lang="en-US" sz="2400" dirty="0"/>
              <a:t>Aggregation of biopolymers into prototypes of cells.</a:t>
            </a:r>
          </a:p>
          <a:p>
            <a:pPr lvl="1"/>
            <a:r>
              <a:rPr lang="en-US" sz="2400" dirty="0"/>
              <a:t>Development of some type of reproductive machinery to ensure that progeny cells possess all the metabolic potentials of the parent cell.</a:t>
            </a:r>
          </a:p>
        </p:txBody>
      </p:sp>
    </p:spTree>
    <p:extLst>
      <p:ext uri="{BB962C8B-B14F-4D97-AF65-F5344CB8AC3E}">
        <p14:creationId xmlns:p14="http://schemas.microsoft.com/office/powerpoint/2010/main" val="448998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503238"/>
            <a:ext cx="8915400" cy="639762"/>
          </a:xfrm>
        </p:spPr>
        <p:txBody>
          <a:bodyPr>
            <a:normAutofit fontScale="90000"/>
          </a:bodyPr>
          <a:lstStyle/>
          <a:p>
            <a:r>
              <a:rPr lang="en-US" b="1" dirty="0"/>
              <a:t>Prebiotic (</a:t>
            </a:r>
            <a:r>
              <a:rPr lang="en-US" b="1" dirty="0" err="1"/>
              <a:t>Premordial</a:t>
            </a:r>
            <a:r>
              <a:rPr lang="en-US" b="1" dirty="0"/>
              <a:t>) soup</a:t>
            </a:r>
            <a:endParaRPr lang="en-US" dirty="0"/>
          </a:p>
        </p:txBody>
      </p:sp>
      <p:sp>
        <p:nvSpPr>
          <p:cNvPr id="3" name="Content Placeholder 2"/>
          <p:cNvSpPr>
            <a:spLocks noGrp="1"/>
          </p:cNvSpPr>
          <p:nvPr>
            <p:ph idx="1"/>
          </p:nvPr>
        </p:nvSpPr>
        <p:spPr>
          <a:xfrm>
            <a:off x="685800" y="990600"/>
            <a:ext cx="10363200" cy="5486400"/>
          </a:xfrm>
        </p:spPr>
        <p:txBody>
          <a:bodyPr>
            <a:normAutofit fontScale="92500"/>
          </a:bodyPr>
          <a:lstStyle/>
          <a:p>
            <a:r>
              <a:rPr lang="en-US" dirty="0"/>
              <a:t>The biologically important compounds formed, due to the absence of oxygen in the atmosphere were spared any oxidative alteration. </a:t>
            </a:r>
          </a:p>
          <a:p>
            <a:endParaRPr lang="en-US" sz="1300" dirty="0"/>
          </a:p>
          <a:p>
            <a:r>
              <a:rPr lang="en-US" dirty="0"/>
              <a:t>So these could persist and be washed by rain into the oceans for their concentrations to build up forming the prebiotic or primordial soup.</a:t>
            </a:r>
          </a:p>
          <a:p>
            <a:endParaRPr lang="en-US" sz="1500" dirty="0"/>
          </a:p>
          <a:p>
            <a:r>
              <a:rPr lang="en-GB" dirty="0"/>
              <a:t>The Primordial Soup Theory suggest that life began in a pond or ocean as a result of the combination of chemicals from the atmosphere and some form of energy to make amino acids, the building blocks of proteins, which would then evolve into all the species. This is suppose to happen at least 3.8 billion to 3.55 billion years ago.</a:t>
            </a:r>
          </a:p>
          <a:p>
            <a:endParaRPr lang="en-GB" sz="1500" dirty="0"/>
          </a:p>
          <a:p>
            <a:r>
              <a:rPr lang="en-GB" dirty="0"/>
              <a:t>The Russian Chemist A.I. Oparin and English Geneticist J.B.S. Haldane first conceived of this idea. Both developed this theory independently in 1920.</a:t>
            </a:r>
          </a:p>
          <a:p>
            <a:endParaRPr lang="en-US" dirty="0"/>
          </a:p>
        </p:txBody>
      </p:sp>
    </p:spTree>
    <p:extLst>
      <p:ext uri="{BB962C8B-B14F-4D97-AF65-F5344CB8AC3E}">
        <p14:creationId xmlns:p14="http://schemas.microsoft.com/office/powerpoint/2010/main" val="1728283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17751-96E7-4B4E-A23E-6969C34245A1}"/>
              </a:ext>
            </a:extLst>
          </p:cNvPr>
          <p:cNvSpPr>
            <a:spLocks noGrp="1"/>
          </p:cNvSpPr>
          <p:nvPr>
            <p:ph idx="1"/>
          </p:nvPr>
        </p:nvSpPr>
        <p:spPr>
          <a:xfrm>
            <a:off x="609600" y="609600"/>
            <a:ext cx="10972800" cy="5943600"/>
          </a:xfrm>
        </p:spPr>
        <p:txBody>
          <a:bodyPr>
            <a:normAutofit fontScale="92500" lnSpcReduction="20000"/>
          </a:bodyPr>
          <a:lstStyle/>
          <a:p>
            <a:r>
              <a:rPr lang="en-GB" dirty="0"/>
              <a:t>In this theory, the basic building blocks of life came from simple molecule which formed in the atmosphere (w/o oxygen). This was then energized by lightning and the rain from the atmosphere created the "organic soup". The first organisms would have to be simple heterotrophs in order to survive by consuming other organisms for energy before means of photosynthesis. They would become autotrophs by mutation. Evidence now suggest the first organisms were autotrophs</a:t>
            </a:r>
          </a:p>
          <a:p>
            <a:endParaRPr lang="en-GB" dirty="0"/>
          </a:p>
          <a:p>
            <a:r>
              <a:rPr lang="en-GB" dirty="0"/>
              <a:t>Chemist Stanley Miller and physicist Harold Urey did a famous experiment in 1950 to test this theory. They mixed gases thought to be present on primitive earth:</a:t>
            </a:r>
          </a:p>
          <a:p>
            <a:r>
              <a:rPr lang="en-GB" dirty="0"/>
              <a:t>Methane (CH4), Ammonia (NH3), Water (H2O), Hydrogen (H2), No Oxygen</a:t>
            </a:r>
          </a:p>
          <a:p>
            <a:endParaRPr lang="en-GB" dirty="0"/>
          </a:p>
          <a:p>
            <a:r>
              <a:rPr lang="en-GB" dirty="0"/>
              <a:t>They then electrically sparked the mixture to signify lightning. The results were amino acids, the building blocks of proteins. It was later discovered that other energies also can excite gases and produce all 20 amino acids:</a:t>
            </a:r>
          </a:p>
          <a:p>
            <a:r>
              <a:rPr lang="en-GB" dirty="0"/>
              <a:t>Electricity, Ultraviolet light, Heat, Shock</a:t>
            </a:r>
          </a:p>
          <a:p>
            <a:endParaRPr lang="en-GB" dirty="0"/>
          </a:p>
        </p:txBody>
      </p:sp>
    </p:spTree>
    <p:extLst>
      <p:ext uri="{BB962C8B-B14F-4D97-AF65-F5344CB8AC3E}">
        <p14:creationId xmlns:p14="http://schemas.microsoft.com/office/powerpoint/2010/main" val="4181010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27038"/>
            <a:ext cx="8991600" cy="563562"/>
          </a:xfrm>
        </p:spPr>
        <p:txBody>
          <a:bodyPr>
            <a:noAutofit/>
          </a:bodyPr>
          <a:lstStyle/>
          <a:p>
            <a:r>
              <a:rPr lang="en-US" sz="2800" dirty="0"/>
              <a:t>Primitive earth simulation experiment </a:t>
            </a:r>
            <a:r>
              <a:rPr lang="en-US" sz="2800" dirty="0">
                <a:solidFill>
                  <a:schemeClr val="tx1"/>
                </a:solidFill>
              </a:rPr>
              <a:t>(by Stanley Miller)</a:t>
            </a:r>
            <a:endParaRPr lang="en-US" sz="2800" dirty="0"/>
          </a:p>
        </p:txBody>
      </p:sp>
      <p:pic>
        <p:nvPicPr>
          <p:cNvPr id="4" name="Image1"/>
          <p:cNvPicPr>
            <a:picLocks noGrp="1"/>
          </p:cNvPicPr>
          <p:nvPr>
            <p:ph idx="1"/>
          </p:nvPr>
        </p:nvPicPr>
        <p:blipFill rotWithShape="1">
          <a:blip r:embed="rId2" cstate="print">
            <a:extLst>
              <a:ext uri="{28A0092B-C50C-407E-A947-70E740481C1C}">
                <a14:useLocalDpi xmlns:a14="http://schemas.microsoft.com/office/drawing/2010/main" val="0"/>
              </a:ext>
            </a:extLst>
          </a:blip>
          <a:srcRect/>
          <a:stretch>
            <a:fillRect/>
          </a:stretch>
        </p:blipFill>
        <p:spPr>
          <a:xfrm>
            <a:off x="3657600" y="856979"/>
            <a:ext cx="4495800" cy="5105400"/>
          </a:xfrm>
          <a:prstGeom prst="rect">
            <a:avLst/>
          </a:prstGeom>
        </p:spPr>
      </p:pic>
      <p:sp>
        <p:nvSpPr>
          <p:cNvPr id="5" name="TextBox 4"/>
          <p:cNvSpPr txBox="1"/>
          <p:nvPr/>
        </p:nvSpPr>
        <p:spPr>
          <a:xfrm>
            <a:off x="1219201" y="5962378"/>
            <a:ext cx="9220200" cy="646331"/>
          </a:xfrm>
          <a:prstGeom prst="rect">
            <a:avLst/>
          </a:prstGeom>
          <a:noFill/>
        </p:spPr>
        <p:txBody>
          <a:bodyPr wrap="square" rtlCol="0">
            <a:spAutoFit/>
          </a:bodyPr>
          <a:lstStyle/>
          <a:p>
            <a:r>
              <a:rPr lang="en-US" b="1" dirty="0"/>
              <a:t>Fig 1</a:t>
            </a:r>
            <a:r>
              <a:rPr lang="en-US" dirty="0"/>
              <a:t>: Experimental set-up by Miller to prove the synthesis of some biologically useful molecules in the presence of molecules in the atmosphere and energy sources available.</a:t>
            </a:r>
          </a:p>
        </p:txBody>
      </p:sp>
    </p:spTree>
    <p:extLst>
      <p:ext uri="{BB962C8B-B14F-4D97-AF65-F5344CB8AC3E}">
        <p14:creationId xmlns:p14="http://schemas.microsoft.com/office/powerpoint/2010/main" val="3252313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55638"/>
            <a:ext cx="8229600" cy="563562"/>
          </a:xfrm>
        </p:spPr>
        <p:txBody>
          <a:bodyPr>
            <a:normAutofit fontScale="90000"/>
          </a:bodyPr>
          <a:lstStyle/>
          <a:p>
            <a:r>
              <a:rPr lang="en-US" sz="3600" i="1" dirty="0"/>
              <a:t>The prebiotic synthesis of monosaccharides </a:t>
            </a:r>
            <a:r>
              <a:rPr lang="en-US" sz="3600" i="1" dirty="0">
                <a:solidFill>
                  <a:schemeClr val="tx1"/>
                </a:solidFill>
              </a:rPr>
              <a:t>(</a:t>
            </a:r>
            <a:r>
              <a:rPr lang="en-US" sz="3600" i="1" dirty="0" err="1">
                <a:solidFill>
                  <a:schemeClr val="tx1"/>
                </a:solidFill>
              </a:rPr>
              <a:t>formose</a:t>
            </a:r>
            <a:r>
              <a:rPr lang="en-US" sz="3600" i="1" dirty="0">
                <a:solidFill>
                  <a:schemeClr val="tx1"/>
                </a:solidFill>
              </a:rPr>
              <a:t> reaction) </a:t>
            </a:r>
            <a:r>
              <a:rPr lang="en-US" sz="3600" i="1" dirty="0"/>
              <a:t> </a:t>
            </a:r>
            <a:endParaRPr lang="en-US" sz="3600" dirty="0"/>
          </a:p>
        </p:txBody>
      </p:sp>
      <p:pic>
        <p:nvPicPr>
          <p:cNvPr id="4" name="Image1"/>
          <p:cNvPicPr>
            <a:picLocks noGrp="1"/>
          </p:cNvPicPr>
          <p:nvPr>
            <p:ph idx="1"/>
          </p:nvPr>
        </p:nvPicPr>
        <p:blipFill rotWithShape="1">
          <a:blip r:embed="rId2" cstate="print">
            <a:extLst>
              <a:ext uri="{28A0092B-C50C-407E-A947-70E740481C1C}">
                <a14:useLocalDpi xmlns:a14="http://schemas.microsoft.com/office/drawing/2010/main" val="0"/>
              </a:ext>
            </a:extLst>
          </a:blip>
          <a:srcRect/>
          <a:stretch>
            <a:fillRect/>
          </a:stretch>
        </p:blipFill>
        <p:spPr>
          <a:xfrm>
            <a:off x="1219200" y="1295400"/>
            <a:ext cx="9067800" cy="5562600"/>
          </a:xfrm>
          <a:prstGeom prst="rect">
            <a:avLst/>
          </a:prstGeom>
        </p:spPr>
      </p:pic>
    </p:spTree>
    <p:extLst>
      <p:ext uri="{BB962C8B-B14F-4D97-AF65-F5344CB8AC3E}">
        <p14:creationId xmlns:p14="http://schemas.microsoft.com/office/powerpoint/2010/main" val="212942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0" y="304800"/>
            <a:ext cx="10515600" cy="990600"/>
          </a:xfrm>
        </p:spPr>
        <p:txBody>
          <a:bodyPr>
            <a:noAutofit/>
          </a:bodyPr>
          <a:lstStyle/>
          <a:p>
            <a:r>
              <a:rPr lang="en-US" sz="3200" i="1" dirty="0"/>
              <a:t>The prebiotic synthesis of amino acids </a:t>
            </a:r>
            <a:r>
              <a:rPr lang="en-US" sz="3200" i="1" dirty="0">
                <a:solidFill>
                  <a:schemeClr val="tx1"/>
                </a:solidFill>
              </a:rPr>
              <a:t>(</a:t>
            </a:r>
            <a:r>
              <a:rPr lang="en-US" sz="3200" i="1" dirty="0" err="1">
                <a:solidFill>
                  <a:schemeClr val="tx1"/>
                </a:solidFill>
              </a:rPr>
              <a:t>Strecker</a:t>
            </a:r>
            <a:r>
              <a:rPr lang="en-US" sz="3200" i="1" dirty="0">
                <a:solidFill>
                  <a:schemeClr val="tx1"/>
                </a:solidFill>
              </a:rPr>
              <a:t> synthesis) </a:t>
            </a:r>
            <a:endParaRPr lang="en-GB" sz="3200" dirty="0"/>
          </a:p>
        </p:txBody>
      </p:sp>
      <p:sp>
        <p:nvSpPr>
          <p:cNvPr id="3" name="Content Placeholder 2"/>
          <p:cNvSpPr>
            <a:spLocks noGrp="1"/>
          </p:cNvSpPr>
          <p:nvPr>
            <p:ph idx="1"/>
          </p:nvPr>
        </p:nvSpPr>
        <p:spPr>
          <a:xfrm>
            <a:off x="762000" y="1295400"/>
            <a:ext cx="10363200" cy="5105400"/>
          </a:xfrm>
        </p:spPr>
        <p:txBody>
          <a:bodyPr>
            <a:normAutofit/>
          </a:bodyPr>
          <a:lstStyle/>
          <a:p>
            <a:r>
              <a:rPr lang="en-US" dirty="0"/>
              <a:t>Amino acids could have been formed through the </a:t>
            </a:r>
            <a:r>
              <a:rPr lang="en-US" dirty="0" err="1"/>
              <a:t>Strecker</a:t>
            </a:r>
            <a:r>
              <a:rPr lang="en-US" dirty="0"/>
              <a:t> synthesis in which an aldehyde reacted with HCN. </a:t>
            </a:r>
          </a:p>
          <a:p>
            <a:r>
              <a:rPr lang="en-US" dirty="0"/>
              <a:t>The </a:t>
            </a:r>
            <a:r>
              <a:rPr lang="en-US" dirty="0" err="1"/>
              <a:t>Strecker</a:t>
            </a:r>
            <a:r>
              <a:rPr lang="en-US" dirty="0"/>
              <a:t> synthesis is made up of the following steps;</a:t>
            </a:r>
          </a:p>
          <a:p>
            <a:pPr lvl="1"/>
            <a:r>
              <a:rPr lang="en-US" dirty="0"/>
              <a:t>Ammonia reacts with an aldehyde to form an imine</a:t>
            </a:r>
          </a:p>
          <a:p>
            <a:pPr lvl="1"/>
            <a:r>
              <a:rPr lang="en-US" sz="2200" dirty="0"/>
              <a:t>The addition of a cyanide to the imine</a:t>
            </a:r>
          </a:p>
          <a:p>
            <a:pPr lvl="1"/>
            <a:r>
              <a:rPr lang="en-US" sz="2200" dirty="0"/>
              <a:t>Hydrolysis of the </a:t>
            </a:r>
            <a:r>
              <a:rPr lang="en-US" sz="2200" dirty="0" err="1"/>
              <a:t>aminonitrile</a:t>
            </a:r>
            <a:r>
              <a:rPr lang="en-US" sz="2200" dirty="0"/>
              <a:t> to give the corresponding amino acid.</a:t>
            </a:r>
          </a:p>
          <a:p>
            <a:endParaRPr lang="en-US" dirty="0"/>
          </a:p>
          <a:p>
            <a:endParaRPr lang="en-US" dirty="0"/>
          </a:p>
          <a:p>
            <a:endParaRPr lang="en-US" dirty="0"/>
          </a:p>
        </p:txBody>
      </p:sp>
      <p:pic>
        <p:nvPicPr>
          <p:cNvPr id="4" name="Image1"/>
          <p:cNvPicPr/>
          <p:nvPr/>
        </p:nvPicPr>
        <p:blipFill rotWithShape="1">
          <a:blip r:embed="rId2" cstate="print">
            <a:extLst>
              <a:ext uri="{28A0092B-C50C-407E-A947-70E740481C1C}">
                <a14:useLocalDpi xmlns:a14="http://schemas.microsoft.com/office/drawing/2010/main" val="0"/>
              </a:ext>
            </a:extLst>
          </a:blip>
          <a:srcRect t="6364" b="8181"/>
          <a:stretch/>
        </p:blipFill>
        <p:spPr>
          <a:xfrm>
            <a:off x="2819400" y="4821383"/>
            <a:ext cx="6400800" cy="1302327"/>
          </a:xfrm>
          <a:prstGeom prst="rect">
            <a:avLst/>
          </a:prstGeom>
        </p:spPr>
      </p:pic>
    </p:spTree>
    <p:extLst>
      <p:ext uri="{BB962C8B-B14F-4D97-AF65-F5344CB8AC3E}">
        <p14:creationId xmlns:p14="http://schemas.microsoft.com/office/powerpoint/2010/main" val="2960826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27038"/>
            <a:ext cx="11658600" cy="639762"/>
          </a:xfrm>
        </p:spPr>
        <p:txBody>
          <a:bodyPr>
            <a:normAutofit fontScale="90000"/>
          </a:bodyPr>
          <a:lstStyle/>
          <a:p>
            <a:r>
              <a:rPr lang="en-US" sz="3600" i="1" dirty="0"/>
              <a:t>The prebiotic synthesis of nucleotide bases </a:t>
            </a:r>
            <a:r>
              <a:rPr lang="en-US" sz="3600" i="1" dirty="0">
                <a:solidFill>
                  <a:schemeClr val="tx1"/>
                </a:solidFill>
              </a:rPr>
              <a:t>(polymerization of HCN) </a:t>
            </a:r>
            <a:endParaRPr lang="en-US" sz="3600" dirty="0"/>
          </a:p>
        </p:txBody>
      </p:sp>
      <p:pic>
        <p:nvPicPr>
          <p:cNvPr id="4" name="Image1" descr="http://upload.wikimedia.org/wikipedia/commons/3/33/Basicpurines.gif"/>
          <p:cNvPicPr>
            <a:picLocks noGrp="1"/>
          </p:cNvPicPr>
          <p:nvPr>
            <p:ph idx="1"/>
          </p:nvPr>
        </p:nvPicPr>
        <p:blipFill rotWithShape="1">
          <a:blip r:embed="rId2" cstate="print">
            <a:extLst>
              <a:ext uri="{28A0092B-C50C-407E-A947-70E740481C1C}">
                <a14:useLocalDpi xmlns:a14="http://schemas.microsoft.com/office/drawing/2010/main" val="0"/>
              </a:ext>
            </a:extLst>
          </a:blip>
          <a:srcRect/>
          <a:stretch>
            <a:fillRect/>
          </a:stretch>
        </p:blipFill>
        <p:spPr>
          <a:xfrm>
            <a:off x="2133600" y="1219200"/>
            <a:ext cx="7848600" cy="5638800"/>
          </a:xfrm>
          <a:prstGeom prst="rect">
            <a:avLst/>
          </a:prstGeom>
        </p:spPr>
      </p:pic>
      <p:sp>
        <p:nvSpPr>
          <p:cNvPr id="3" name="Oval 2"/>
          <p:cNvSpPr/>
          <p:nvPr/>
        </p:nvSpPr>
        <p:spPr>
          <a:xfrm>
            <a:off x="7543800" y="1143000"/>
            <a:ext cx="1295400" cy="838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81789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03238"/>
            <a:ext cx="9220200" cy="639762"/>
          </a:xfrm>
        </p:spPr>
        <p:txBody>
          <a:bodyPr>
            <a:noAutofit/>
          </a:bodyPr>
          <a:lstStyle/>
          <a:p>
            <a:r>
              <a:rPr lang="en-US" sz="3200" i="1" dirty="0"/>
              <a:t>The prebiotic synthesis of fatty acids</a:t>
            </a:r>
            <a:endParaRPr lang="en-US" sz="3200" dirty="0"/>
          </a:p>
        </p:txBody>
      </p:sp>
      <p:sp>
        <p:nvSpPr>
          <p:cNvPr id="3" name="Content Placeholder 2"/>
          <p:cNvSpPr>
            <a:spLocks noGrp="1"/>
          </p:cNvSpPr>
          <p:nvPr>
            <p:ph idx="1"/>
          </p:nvPr>
        </p:nvSpPr>
        <p:spPr>
          <a:xfrm>
            <a:off x="838200" y="1447800"/>
            <a:ext cx="10439400" cy="5029200"/>
          </a:xfrm>
        </p:spPr>
        <p:txBody>
          <a:bodyPr/>
          <a:lstStyle/>
          <a:p>
            <a:r>
              <a:rPr lang="en-US" dirty="0"/>
              <a:t>High temperature and high hydrogen pressures were required for the synthesis of fatty acids. </a:t>
            </a:r>
          </a:p>
          <a:p>
            <a:endParaRPr lang="en-US" dirty="0"/>
          </a:p>
          <a:p>
            <a:r>
              <a:rPr lang="en-US" dirty="0"/>
              <a:t>The problem with the suggested mode of fatty acid formation is that the elevated temperature for the synthesis could not have been attained in the primitive times over an extended period.</a:t>
            </a:r>
          </a:p>
          <a:p>
            <a:endParaRPr lang="en-US" dirty="0"/>
          </a:p>
        </p:txBody>
      </p:sp>
    </p:spTree>
    <p:extLst>
      <p:ext uri="{BB962C8B-B14F-4D97-AF65-F5344CB8AC3E}">
        <p14:creationId xmlns:p14="http://schemas.microsoft.com/office/powerpoint/2010/main" val="3356481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03238"/>
            <a:ext cx="10591800" cy="868362"/>
          </a:xfrm>
        </p:spPr>
        <p:txBody>
          <a:bodyPr>
            <a:noAutofit/>
          </a:bodyPr>
          <a:lstStyle/>
          <a:p>
            <a:r>
              <a:rPr lang="en-US" sz="3200" b="1" dirty="0"/>
              <a:t>Why the primitive atmosphere was said to be reducing </a:t>
            </a:r>
            <a:endParaRPr lang="en-US" sz="3200" dirty="0"/>
          </a:p>
        </p:txBody>
      </p:sp>
      <p:sp>
        <p:nvSpPr>
          <p:cNvPr id="3" name="Content Placeholder 2"/>
          <p:cNvSpPr>
            <a:spLocks noGrp="1"/>
          </p:cNvSpPr>
          <p:nvPr>
            <p:ph idx="1"/>
          </p:nvPr>
        </p:nvSpPr>
        <p:spPr>
          <a:xfrm>
            <a:off x="609600" y="1417637"/>
            <a:ext cx="10896600" cy="4906963"/>
          </a:xfrm>
        </p:spPr>
        <p:txBody>
          <a:bodyPr/>
          <a:lstStyle/>
          <a:p>
            <a:pPr lvl="0"/>
            <a:r>
              <a:rPr lang="en-US" dirty="0"/>
              <a:t>There was little or no oxygen present, so there was no ozone layer to block the UV radiation from sunlight as occurs now.</a:t>
            </a:r>
          </a:p>
          <a:p>
            <a:pPr lvl="0"/>
            <a:endParaRPr lang="en-US" dirty="0"/>
          </a:p>
          <a:p>
            <a:pPr lvl="0"/>
            <a:r>
              <a:rPr lang="en-US" dirty="0"/>
              <a:t>The matter from which the earth was formed was mostly hydrogen, a good </a:t>
            </a:r>
            <a:r>
              <a:rPr lang="en-US" dirty="0" err="1"/>
              <a:t>reductant</a:t>
            </a:r>
            <a:r>
              <a:rPr lang="en-US" dirty="0"/>
              <a:t>.</a:t>
            </a:r>
          </a:p>
          <a:p>
            <a:pPr lvl="0"/>
            <a:endParaRPr lang="en-US" dirty="0"/>
          </a:p>
          <a:p>
            <a:pPr lvl="0"/>
            <a:r>
              <a:rPr lang="en-US" dirty="0"/>
              <a:t>Meteorites contain iron either as metallic Fe or Fe</a:t>
            </a:r>
            <a:r>
              <a:rPr lang="en-US" baseline="30000" dirty="0"/>
              <a:t>2+</a:t>
            </a:r>
            <a:r>
              <a:rPr lang="en-US" dirty="0"/>
              <a:t>. </a:t>
            </a:r>
          </a:p>
          <a:p>
            <a:pPr lvl="0"/>
            <a:endParaRPr lang="en-US" dirty="0"/>
          </a:p>
          <a:p>
            <a:pPr lvl="0"/>
            <a:r>
              <a:rPr lang="en-US" dirty="0"/>
              <a:t>Carbon was also present as elemental carbon, carbides or hydrocarbons.</a:t>
            </a:r>
          </a:p>
          <a:p>
            <a:endParaRPr lang="en-US" dirty="0"/>
          </a:p>
        </p:txBody>
      </p:sp>
    </p:spTree>
    <p:extLst>
      <p:ext uri="{BB962C8B-B14F-4D97-AF65-F5344CB8AC3E}">
        <p14:creationId xmlns:p14="http://schemas.microsoft.com/office/powerpoint/2010/main" val="2379587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3200" b="1" dirty="0"/>
              <a:t>Polymerization and condensing agents</a:t>
            </a:r>
            <a:endParaRPr lang="en-US" sz="3200" dirty="0"/>
          </a:p>
        </p:txBody>
      </p:sp>
      <p:sp>
        <p:nvSpPr>
          <p:cNvPr id="3" name="Content Placeholder 2"/>
          <p:cNvSpPr>
            <a:spLocks noGrp="1"/>
          </p:cNvSpPr>
          <p:nvPr>
            <p:ph idx="1"/>
          </p:nvPr>
        </p:nvSpPr>
        <p:spPr>
          <a:xfrm>
            <a:off x="609600" y="990600"/>
            <a:ext cx="10972800" cy="5334000"/>
          </a:xfrm>
        </p:spPr>
        <p:txBody>
          <a:bodyPr>
            <a:noAutofit/>
          </a:bodyPr>
          <a:lstStyle/>
          <a:p>
            <a:r>
              <a:rPr lang="en-US" dirty="0"/>
              <a:t>Polymerization is the coming together of several monomers to form more complex molecules.</a:t>
            </a:r>
          </a:p>
          <a:p>
            <a:r>
              <a:rPr lang="en-US" dirty="0"/>
              <a:t>Through such a process polypeptides, </a:t>
            </a:r>
            <a:r>
              <a:rPr lang="en-US" dirty="0" err="1"/>
              <a:t>polynucleolides</a:t>
            </a:r>
            <a:r>
              <a:rPr lang="en-US" dirty="0"/>
              <a:t> and polysaccharides could be formed. </a:t>
            </a:r>
          </a:p>
          <a:p>
            <a:r>
              <a:rPr lang="en-US" dirty="0"/>
              <a:t>If two molecules of glucose, for example, join together, the elements forming water should be removed from the two molecules. </a:t>
            </a:r>
          </a:p>
          <a:p>
            <a:r>
              <a:rPr lang="en-US" dirty="0"/>
              <a:t>How could this be achieved in a prebiotic soup which is predominantly made up of water?</a:t>
            </a:r>
          </a:p>
          <a:p>
            <a:endParaRPr lang="en-US" dirty="0"/>
          </a:p>
          <a:p>
            <a:r>
              <a:rPr lang="en-US" dirty="0"/>
              <a:t>Glucose + Glucose               Disaccharide + H</a:t>
            </a:r>
            <a:r>
              <a:rPr lang="en-US" baseline="-25000" dirty="0"/>
              <a:t>2</a:t>
            </a:r>
            <a:r>
              <a:rPr lang="en-US" dirty="0"/>
              <a:t>O</a:t>
            </a:r>
          </a:p>
        </p:txBody>
      </p:sp>
      <p:pic>
        <p:nvPicPr>
          <p:cNvPr id="5" name="Image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505200" y="5105400"/>
            <a:ext cx="1447800" cy="495300"/>
          </a:xfrm>
          <a:prstGeom prst="rect">
            <a:avLst/>
          </a:prstGeom>
        </p:spPr>
      </p:pic>
    </p:spTree>
    <p:extLst>
      <p:ext uri="{BB962C8B-B14F-4D97-AF65-F5344CB8AC3E}">
        <p14:creationId xmlns:p14="http://schemas.microsoft.com/office/powerpoint/2010/main" val="1895499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10896600" cy="6248400"/>
          </a:xfrm>
        </p:spPr>
        <p:txBody>
          <a:bodyPr>
            <a:normAutofit/>
          </a:bodyPr>
          <a:lstStyle/>
          <a:p>
            <a:r>
              <a:rPr lang="en-US" sz="2800" dirty="0"/>
              <a:t>The forward reaction is a condensation reaction but the backward reaction is hydrolytic.</a:t>
            </a:r>
          </a:p>
          <a:p>
            <a:endParaRPr lang="en-US" sz="2800" dirty="0"/>
          </a:p>
          <a:p>
            <a:r>
              <a:rPr lang="en-US" sz="2800" dirty="0"/>
              <a:t>The condensation reaction would be thermodynamically </a:t>
            </a:r>
            <a:r>
              <a:rPr lang="en-US" sz="2800" dirty="0" err="1"/>
              <a:t>favoured</a:t>
            </a:r>
            <a:r>
              <a:rPr lang="en-US" sz="2800" dirty="0"/>
              <a:t> if the water formed by the condensation can be removed by evaporation or by the use of condensing agents. </a:t>
            </a:r>
          </a:p>
          <a:p>
            <a:endParaRPr lang="en-US" sz="2800" dirty="0"/>
          </a:p>
          <a:p>
            <a:r>
              <a:rPr lang="en-US" sz="2800" dirty="0"/>
              <a:t>In the use of such condensing agents, there would be two advantages. </a:t>
            </a:r>
          </a:p>
          <a:p>
            <a:pPr lvl="1"/>
            <a:r>
              <a:rPr lang="en-US" sz="2400" dirty="0"/>
              <a:t>There is the formation of a high-energy intermediate, thereby shifting the equilibrium in </a:t>
            </a:r>
            <a:r>
              <a:rPr lang="en-US" sz="2400" dirty="0" err="1"/>
              <a:t>favour</a:t>
            </a:r>
            <a:r>
              <a:rPr lang="en-US" sz="2400" dirty="0"/>
              <a:t> of the condensation, allowing the reaction to take place in the aqueous medium. </a:t>
            </a:r>
          </a:p>
          <a:p>
            <a:pPr lvl="1"/>
            <a:r>
              <a:rPr lang="en-US" sz="2400" dirty="0"/>
              <a:t>Secondly, the intermediate formed is usually more reactive than the unmodiﬁed monomers.</a:t>
            </a:r>
          </a:p>
          <a:p>
            <a:endParaRPr lang="en-US" sz="2800" dirty="0"/>
          </a:p>
          <a:p>
            <a:endParaRPr lang="en-US" sz="2800" dirty="0"/>
          </a:p>
        </p:txBody>
      </p:sp>
    </p:spTree>
    <p:extLst>
      <p:ext uri="{BB962C8B-B14F-4D97-AF65-F5344CB8AC3E}">
        <p14:creationId xmlns:p14="http://schemas.microsoft.com/office/powerpoint/2010/main" val="784761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11353800" cy="6324600"/>
          </a:xfrm>
        </p:spPr>
        <p:txBody>
          <a:bodyPr>
            <a:normAutofit/>
          </a:bodyPr>
          <a:lstStyle/>
          <a:p>
            <a:r>
              <a:rPr lang="en-US" dirty="0"/>
              <a:t>Therefore, the forward condensation reaction was coupled to uptake or the removed water by condensing agent. </a:t>
            </a:r>
          </a:p>
          <a:p>
            <a:endParaRPr lang="en-US" dirty="0"/>
          </a:p>
          <a:p>
            <a:r>
              <a:rPr lang="en-US" dirty="0"/>
              <a:t>Such condensing agents typically had carbon atom linked by energetic double bonds to two nitrogen atoms (-N=C=N-) e.g. </a:t>
            </a:r>
            <a:r>
              <a:rPr lang="en-US" dirty="0" err="1"/>
              <a:t>carbodiimide</a:t>
            </a:r>
            <a:r>
              <a:rPr lang="en-US" dirty="0"/>
              <a:t> of the general formula, R-N=C=N-R. </a:t>
            </a:r>
          </a:p>
          <a:p>
            <a:pPr lvl="1"/>
            <a:r>
              <a:rPr lang="en-US" dirty="0"/>
              <a:t>Other condensing agents in the prebiotic soup could have been cyanogen (N≡C-C≡N), </a:t>
            </a:r>
            <a:r>
              <a:rPr lang="en-US" dirty="0" err="1"/>
              <a:t>cyanamide</a:t>
            </a:r>
            <a:r>
              <a:rPr lang="en-US" dirty="0"/>
              <a:t> (N≡CNH</a:t>
            </a:r>
            <a:r>
              <a:rPr lang="en-US" baseline="-25000" dirty="0"/>
              <a:t>2</a:t>
            </a:r>
            <a:r>
              <a:rPr lang="en-US" dirty="0"/>
              <a:t>), cyanoacetylene (N≡C-C≡CH) and </a:t>
            </a:r>
            <a:r>
              <a:rPr lang="en-US" dirty="0" err="1"/>
              <a:t>diaminomaleonitrile</a:t>
            </a:r>
            <a:r>
              <a:rPr lang="en-US" dirty="0"/>
              <a:t>. </a:t>
            </a:r>
          </a:p>
          <a:p>
            <a:endParaRPr lang="en-US" dirty="0"/>
          </a:p>
          <a:p>
            <a:r>
              <a:rPr lang="en-US" dirty="0"/>
              <a:t>The free energy of hydration of the condensing agent drives the reaction.</a:t>
            </a:r>
          </a:p>
          <a:p>
            <a:endParaRPr lang="en-US" dirty="0"/>
          </a:p>
          <a:p>
            <a:r>
              <a:rPr lang="en-US" dirty="0"/>
              <a:t>Polyphosphates like ATP could also be used as condensing agents. </a:t>
            </a:r>
          </a:p>
          <a:p>
            <a:pPr lvl="1"/>
            <a:r>
              <a:rPr lang="en-US" dirty="0"/>
              <a:t>These polyphosphates were also energy sources used by living organisms.</a:t>
            </a:r>
          </a:p>
          <a:p>
            <a:endParaRPr lang="en-US" dirty="0"/>
          </a:p>
        </p:txBody>
      </p:sp>
    </p:spTree>
    <p:extLst>
      <p:ext uri="{BB962C8B-B14F-4D97-AF65-F5344CB8AC3E}">
        <p14:creationId xmlns:p14="http://schemas.microsoft.com/office/powerpoint/2010/main" val="3211533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503238"/>
            <a:ext cx="8229600" cy="639762"/>
          </a:xfrm>
        </p:spPr>
        <p:txBody>
          <a:bodyPr>
            <a:noAutofit/>
          </a:bodyPr>
          <a:lstStyle/>
          <a:p>
            <a:r>
              <a:rPr lang="en-US" sz="3200" b="1" dirty="0"/>
              <a:t>Polypeptides and polynucleotides</a:t>
            </a:r>
            <a:endParaRPr lang="en-US" sz="3200" dirty="0"/>
          </a:p>
        </p:txBody>
      </p:sp>
      <p:sp>
        <p:nvSpPr>
          <p:cNvPr id="3" name="Content Placeholder 2"/>
          <p:cNvSpPr>
            <a:spLocks noGrp="1"/>
          </p:cNvSpPr>
          <p:nvPr>
            <p:ph idx="1"/>
          </p:nvPr>
        </p:nvSpPr>
        <p:spPr>
          <a:xfrm>
            <a:off x="381000" y="990600"/>
            <a:ext cx="11201400" cy="5715000"/>
          </a:xfrm>
        </p:spPr>
        <p:txBody>
          <a:bodyPr>
            <a:noAutofit/>
          </a:bodyPr>
          <a:lstStyle/>
          <a:p>
            <a:r>
              <a:rPr lang="en-US" dirty="0"/>
              <a:t>Various studies have gone into how two important biopolymers, polynucleotides and proteins were formed. </a:t>
            </a:r>
          </a:p>
          <a:p>
            <a:endParaRPr lang="en-US" dirty="0"/>
          </a:p>
          <a:p>
            <a:r>
              <a:rPr lang="en-US" dirty="0"/>
              <a:t>The polymerization process per se might not have been the problem but the real problem was the competition by water molecules in the coupling process. </a:t>
            </a:r>
          </a:p>
          <a:p>
            <a:endParaRPr lang="en-US" dirty="0"/>
          </a:p>
          <a:p>
            <a:r>
              <a:rPr lang="en-US" dirty="0"/>
              <a:t>One way of lowering the amount of water in the vicinity was through evaporation to concentrate the reactants while removing H</a:t>
            </a:r>
            <a:r>
              <a:rPr lang="en-US" baseline="-25000" dirty="0"/>
              <a:t>2</a:t>
            </a:r>
            <a:r>
              <a:rPr lang="en-US" dirty="0"/>
              <a:t>O from the product </a:t>
            </a:r>
          </a:p>
          <a:p>
            <a:pPr lvl="1"/>
            <a:r>
              <a:rPr lang="en-US" dirty="0"/>
              <a:t>(what happens to other biological monomers like HCN, formaldehyde, NH</a:t>
            </a:r>
            <a:r>
              <a:rPr lang="en-US" baseline="-25000" dirty="0"/>
              <a:t>3,</a:t>
            </a:r>
            <a:r>
              <a:rPr lang="en-US" dirty="0"/>
              <a:t> which are themselves volatile?) </a:t>
            </a:r>
          </a:p>
          <a:p>
            <a:endParaRPr lang="en-US" dirty="0"/>
          </a:p>
        </p:txBody>
      </p:sp>
    </p:spTree>
    <p:extLst>
      <p:ext uri="{BB962C8B-B14F-4D97-AF65-F5344CB8AC3E}">
        <p14:creationId xmlns:p14="http://schemas.microsoft.com/office/powerpoint/2010/main" val="2724039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11201400" cy="5943600"/>
          </a:xfrm>
        </p:spPr>
        <p:txBody>
          <a:bodyPr>
            <a:normAutofit/>
          </a:bodyPr>
          <a:lstStyle/>
          <a:p>
            <a:r>
              <a:rPr lang="en-US" sz="2800" dirty="0"/>
              <a:t>Another way of achieving polymerization was heating to dryness. </a:t>
            </a:r>
          </a:p>
          <a:p>
            <a:pPr lvl="1"/>
            <a:r>
              <a:rPr lang="en-US" sz="2400" dirty="0"/>
              <a:t>Critics argued that those high temperatures could not have existed over extended region of the earth’s surface. </a:t>
            </a:r>
          </a:p>
          <a:p>
            <a:pPr lvl="1"/>
            <a:r>
              <a:rPr lang="en-US" sz="2400" dirty="0"/>
              <a:t>A prolonged exposure to the high temperatures could cause the decomposition of the peptides formed.</a:t>
            </a:r>
          </a:p>
          <a:p>
            <a:pPr lvl="1"/>
            <a:endParaRPr lang="en-US" sz="2400" dirty="0"/>
          </a:p>
          <a:p>
            <a:r>
              <a:rPr lang="en-US" sz="2800" dirty="0"/>
              <a:t>One other effective way for concentrating </a:t>
            </a:r>
            <a:r>
              <a:rPr lang="en-US" sz="2800" dirty="0" err="1"/>
              <a:t>prebiological</a:t>
            </a:r>
            <a:r>
              <a:rPr lang="en-US" sz="2800" dirty="0"/>
              <a:t> molecules was the adsorption of molecules on the surface of minerals like </a:t>
            </a:r>
            <a:r>
              <a:rPr lang="en-US" sz="2800" dirty="0" err="1"/>
              <a:t>micahs</a:t>
            </a:r>
            <a:r>
              <a:rPr lang="en-US" sz="2800" dirty="0"/>
              <a:t>, clays (made up of silicates attached to cations) and kaolin. </a:t>
            </a:r>
          </a:p>
          <a:p>
            <a:pPr lvl="1"/>
            <a:r>
              <a:rPr lang="en-US" sz="2400" dirty="0"/>
              <a:t>The abundance of positive and negative charges on clays, apart from binding charged molecules, also enabled them serve as primitive catalytic </a:t>
            </a:r>
            <a:r>
              <a:rPr lang="en-US" sz="2400" dirty="0" err="1"/>
              <a:t>centres</a:t>
            </a:r>
            <a:r>
              <a:rPr lang="en-US" sz="2400" dirty="0"/>
              <a:t> for reactions. </a:t>
            </a:r>
          </a:p>
          <a:p>
            <a:endParaRPr lang="en-US" sz="2800" dirty="0"/>
          </a:p>
          <a:p>
            <a:endParaRPr lang="en-US" sz="2800" dirty="0"/>
          </a:p>
        </p:txBody>
      </p:sp>
    </p:spTree>
    <p:extLst>
      <p:ext uri="{BB962C8B-B14F-4D97-AF65-F5344CB8AC3E}">
        <p14:creationId xmlns:p14="http://schemas.microsoft.com/office/powerpoint/2010/main" val="792025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85800"/>
            <a:ext cx="10896600" cy="5334000"/>
          </a:xfrm>
        </p:spPr>
        <p:txBody>
          <a:bodyPr>
            <a:noAutofit/>
          </a:bodyPr>
          <a:lstStyle/>
          <a:p>
            <a:r>
              <a:rPr lang="en-US" dirty="0"/>
              <a:t>There could be both non-instructed and template-directed synthesis of polypeptides and polynucleotides. </a:t>
            </a:r>
          </a:p>
          <a:p>
            <a:endParaRPr lang="en-US" dirty="0"/>
          </a:p>
          <a:p>
            <a:r>
              <a:rPr lang="en-US" b="1" dirty="0"/>
              <a:t>The non-instructed</a:t>
            </a:r>
            <a:r>
              <a:rPr lang="en-US" dirty="0"/>
              <a:t> </a:t>
            </a:r>
            <a:r>
              <a:rPr lang="en-US" b="1" dirty="0"/>
              <a:t>synthesis </a:t>
            </a:r>
            <a:r>
              <a:rPr lang="en-US" dirty="0"/>
              <a:t>of the two polymers could be achieved by dry heating or by the addition of a condensing agent such as a polyphosphate or </a:t>
            </a:r>
            <a:r>
              <a:rPr lang="en-US" dirty="0" err="1"/>
              <a:t>cyanamide</a:t>
            </a:r>
            <a:r>
              <a:rPr lang="en-US" dirty="0"/>
              <a:t>.</a:t>
            </a:r>
          </a:p>
          <a:p>
            <a:endParaRPr lang="en-US" sz="1400" dirty="0"/>
          </a:p>
          <a:p>
            <a:r>
              <a:rPr lang="en-US" b="1" dirty="0"/>
              <a:t>The template-directed synthesis </a:t>
            </a:r>
            <a:r>
              <a:rPr lang="en-US" dirty="0"/>
              <a:t>of polypeptides can be divided into two categories: </a:t>
            </a:r>
          </a:p>
          <a:p>
            <a:pPr lvl="1"/>
            <a:r>
              <a:rPr lang="en-US" dirty="0"/>
              <a:t>The synthesis of activated amino acids on a clay ‘template’ where no sequence preference is shown.</a:t>
            </a:r>
          </a:p>
          <a:p>
            <a:pPr lvl="1"/>
            <a:r>
              <a:rPr lang="en-US" sz="2200" dirty="0"/>
              <a:t>Synthesis that is directed by a nucleic acid template. </a:t>
            </a:r>
          </a:p>
          <a:p>
            <a:pPr lvl="1"/>
            <a:endParaRPr lang="en-US" sz="900" dirty="0"/>
          </a:p>
          <a:p>
            <a:r>
              <a:rPr lang="en-US" dirty="0"/>
              <a:t>Template-directed polynucleotide synthesis could use imidazole-activated monomers in the presence of divalent cations.</a:t>
            </a:r>
          </a:p>
          <a:p>
            <a:endParaRPr lang="en-US" dirty="0"/>
          </a:p>
        </p:txBody>
      </p:sp>
    </p:spTree>
    <p:extLst>
      <p:ext uri="{BB962C8B-B14F-4D97-AF65-F5344CB8AC3E}">
        <p14:creationId xmlns:p14="http://schemas.microsoft.com/office/powerpoint/2010/main" val="2298585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981200"/>
            <a:ext cx="8229600" cy="3200400"/>
          </a:xfrm>
        </p:spPr>
        <p:txBody>
          <a:bodyPr>
            <a:normAutofit/>
          </a:bodyPr>
          <a:lstStyle/>
          <a:p>
            <a:pPr algn="ctr"/>
            <a:r>
              <a:rPr lang="en-US" sz="3200" dirty="0">
                <a:solidFill>
                  <a:srgbClr val="FF0000"/>
                </a:solidFill>
              </a:rPr>
              <a:t>Which of the two is more primitive; protein or nucleic acids? </a:t>
            </a:r>
          </a:p>
          <a:p>
            <a:pPr algn="ctr"/>
            <a:endParaRPr lang="en-US" sz="3200" dirty="0">
              <a:solidFill>
                <a:srgbClr val="FF0000"/>
              </a:solidFill>
            </a:endParaRPr>
          </a:p>
        </p:txBody>
      </p:sp>
    </p:spTree>
    <p:extLst>
      <p:ext uri="{BB962C8B-B14F-4D97-AF65-F5344CB8AC3E}">
        <p14:creationId xmlns:p14="http://schemas.microsoft.com/office/powerpoint/2010/main" val="3248674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09600"/>
            <a:ext cx="10972800" cy="5638800"/>
          </a:xfrm>
        </p:spPr>
        <p:txBody>
          <a:bodyPr>
            <a:normAutofit fontScale="92500" lnSpcReduction="20000"/>
          </a:bodyPr>
          <a:lstStyle/>
          <a:p>
            <a:r>
              <a:rPr lang="en-US" dirty="0"/>
              <a:t>Proteins have structural and catalytic functions while the nucleic acids are informational molecules. </a:t>
            </a:r>
          </a:p>
          <a:p>
            <a:endParaRPr lang="en-US" dirty="0"/>
          </a:p>
          <a:p>
            <a:r>
              <a:rPr lang="en-US" dirty="0"/>
              <a:t>Nucleotides also serve as coenzymes, aiding catalytic action of enzymes (e.g. ribozyme). </a:t>
            </a:r>
          </a:p>
          <a:p>
            <a:endParaRPr lang="en-US" dirty="0"/>
          </a:p>
          <a:p>
            <a:r>
              <a:rPr lang="en-US" dirty="0"/>
              <a:t>A more plausible reasoning is that proteins and nucleic acids evolved in parallel. </a:t>
            </a:r>
          </a:p>
          <a:p>
            <a:endParaRPr lang="en-US" dirty="0"/>
          </a:p>
          <a:p>
            <a:r>
              <a:rPr lang="en-US" dirty="0"/>
              <a:t>The ability of polynucleotide to replicate could be coupled to the ability of polypeptide to act a catalyst. </a:t>
            </a:r>
          </a:p>
          <a:p>
            <a:endParaRPr lang="en-US" dirty="0"/>
          </a:p>
          <a:p>
            <a:r>
              <a:rPr lang="en-US" dirty="0"/>
              <a:t>The polynucleotide could specify polypeptide by a process of translation, while the polypeptide in turn, would </a:t>
            </a:r>
            <a:r>
              <a:rPr lang="en-US" dirty="0" err="1"/>
              <a:t>catalyse</a:t>
            </a:r>
            <a:r>
              <a:rPr lang="en-US" dirty="0"/>
              <a:t> the replication of the polynucleotide and possibly the translation process. </a:t>
            </a:r>
          </a:p>
        </p:txBody>
      </p:sp>
    </p:spTree>
    <p:extLst>
      <p:ext uri="{BB962C8B-B14F-4D97-AF65-F5344CB8AC3E}">
        <p14:creationId xmlns:p14="http://schemas.microsoft.com/office/powerpoint/2010/main" val="3990533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0"/>
            <a:ext cx="11049000" cy="5562600"/>
          </a:xfrm>
        </p:spPr>
        <p:txBody>
          <a:bodyPr>
            <a:normAutofit/>
          </a:bodyPr>
          <a:lstStyle/>
          <a:p>
            <a:r>
              <a:rPr lang="en-US" dirty="0"/>
              <a:t>The discovery of ribozyme (RNA enzyme) has added another dimension.</a:t>
            </a:r>
          </a:p>
          <a:p>
            <a:endParaRPr lang="en-US" dirty="0"/>
          </a:p>
          <a:p>
            <a:r>
              <a:rPr lang="en-US" dirty="0"/>
              <a:t>It is now being argued that ribozyme originated before translation systems. </a:t>
            </a:r>
          </a:p>
          <a:p>
            <a:endParaRPr lang="en-US" dirty="0"/>
          </a:p>
          <a:p>
            <a:r>
              <a:rPr lang="en-US" dirty="0"/>
              <a:t>It was after translation to form protein enzymes that the majority of ribozymes were replaced by more efficient protein enzymes.</a:t>
            </a:r>
          </a:p>
          <a:p>
            <a:endParaRPr lang="en-US" dirty="0"/>
          </a:p>
        </p:txBody>
      </p:sp>
    </p:spTree>
    <p:extLst>
      <p:ext uri="{BB962C8B-B14F-4D97-AF65-F5344CB8AC3E}">
        <p14:creationId xmlns:p14="http://schemas.microsoft.com/office/powerpoint/2010/main" val="36697746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55638"/>
            <a:ext cx="8229600" cy="563562"/>
          </a:xfrm>
        </p:spPr>
        <p:txBody>
          <a:bodyPr>
            <a:noAutofit/>
          </a:bodyPr>
          <a:lstStyle/>
          <a:p>
            <a:r>
              <a:rPr lang="en-US" sz="3200" b="1" dirty="0"/>
              <a:t>Formation of cells and membranes</a:t>
            </a:r>
            <a:endParaRPr lang="en-US" sz="3200" dirty="0"/>
          </a:p>
        </p:txBody>
      </p:sp>
      <p:sp>
        <p:nvSpPr>
          <p:cNvPr id="3" name="Content Placeholder 2"/>
          <p:cNvSpPr>
            <a:spLocks noGrp="1"/>
          </p:cNvSpPr>
          <p:nvPr>
            <p:ph idx="1"/>
          </p:nvPr>
        </p:nvSpPr>
        <p:spPr>
          <a:xfrm>
            <a:off x="381000" y="1219200"/>
            <a:ext cx="11353800" cy="5638800"/>
          </a:xfrm>
        </p:spPr>
        <p:txBody>
          <a:bodyPr>
            <a:normAutofit/>
          </a:bodyPr>
          <a:lstStyle/>
          <a:p>
            <a:r>
              <a:rPr lang="en-US" sz="2800" dirty="0"/>
              <a:t>The simplest structure that shows the evidence of life is a cell. </a:t>
            </a:r>
          </a:p>
          <a:p>
            <a:endParaRPr lang="en-US" sz="2800" dirty="0"/>
          </a:p>
          <a:p>
            <a:r>
              <a:rPr lang="en-US" sz="2800" dirty="0"/>
              <a:t>A cell is a compartment, and should have a membrane to separate it from its surroundings so that it is not diluted out of existence. </a:t>
            </a:r>
          </a:p>
          <a:p>
            <a:pPr lvl="1"/>
            <a:r>
              <a:rPr lang="en-US" sz="2400" dirty="0" err="1"/>
              <a:t>Oparin</a:t>
            </a:r>
            <a:r>
              <a:rPr lang="en-US" sz="2400" dirty="0"/>
              <a:t> and Fox independent investigations </a:t>
            </a:r>
          </a:p>
          <a:p>
            <a:pPr lvl="1"/>
            <a:r>
              <a:rPr lang="en-US" sz="2400" dirty="0" err="1"/>
              <a:t>Oparin</a:t>
            </a:r>
            <a:r>
              <a:rPr lang="en-US" sz="2400" dirty="0"/>
              <a:t> suggested that the ﬁrst cells emerged when a boundary or membrane formed around some molecules possessing catalytic activity, most probably proteins. </a:t>
            </a:r>
          </a:p>
          <a:p>
            <a:pPr lvl="1"/>
            <a:r>
              <a:rPr lang="en-US" sz="2400" dirty="0"/>
              <a:t>He called his ‘cells’ </a:t>
            </a:r>
            <a:r>
              <a:rPr lang="en-US" sz="2400" dirty="0" err="1"/>
              <a:t>protobionts</a:t>
            </a:r>
            <a:r>
              <a:rPr lang="en-US" sz="2400" dirty="0"/>
              <a:t>. </a:t>
            </a:r>
          </a:p>
          <a:p>
            <a:pPr lvl="1"/>
            <a:r>
              <a:rPr lang="en-US" sz="2400" dirty="0"/>
              <a:t>The </a:t>
            </a:r>
            <a:r>
              <a:rPr lang="en-US" sz="2400" dirty="0" err="1"/>
              <a:t>protobionts</a:t>
            </a:r>
            <a:r>
              <a:rPr lang="en-US" sz="2400" dirty="0"/>
              <a:t> were formed through a process of </a:t>
            </a:r>
            <a:r>
              <a:rPr lang="en-US" sz="2400" dirty="0" err="1">
                <a:solidFill>
                  <a:srgbClr val="FF0000"/>
                </a:solidFill>
              </a:rPr>
              <a:t>coacervation</a:t>
            </a:r>
            <a:r>
              <a:rPr lang="en-US" sz="2400" dirty="0"/>
              <a:t>. </a:t>
            </a:r>
          </a:p>
          <a:p>
            <a:endParaRPr lang="en-US" sz="2800" dirty="0"/>
          </a:p>
        </p:txBody>
      </p:sp>
    </p:spTree>
    <p:extLst>
      <p:ext uri="{BB962C8B-B14F-4D97-AF65-F5344CB8AC3E}">
        <p14:creationId xmlns:p14="http://schemas.microsoft.com/office/powerpoint/2010/main" val="2453352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125200" cy="5181600"/>
          </a:xfrm>
        </p:spPr>
        <p:txBody>
          <a:bodyPr>
            <a:normAutofit fontScale="92500" lnSpcReduction="10000"/>
          </a:bodyPr>
          <a:lstStyle/>
          <a:p>
            <a:r>
              <a:rPr lang="en-US" dirty="0"/>
              <a:t>This phenomenon takes place in an aqueous solution of highly hydrated polymers.</a:t>
            </a:r>
          </a:p>
          <a:p>
            <a:endParaRPr lang="en-US" dirty="0"/>
          </a:p>
          <a:p>
            <a:r>
              <a:rPr lang="en-US" dirty="0"/>
              <a:t>It involves the spontaneous separation of one phase of aqueous solution of polymers into two phases; </a:t>
            </a:r>
          </a:p>
          <a:p>
            <a:pPr lvl="1"/>
            <a:r>
              <a:rPr lang="en-US" dirty="0"/>
              <a:t>one phase having higher polymer concentration, 	</a:t>
            </a:r>
          </a:p>
          <a:p>
            <a:pPr lvl="1"/>
            <a:r>
              <a:rPr lang="en-US" dirty="0"/>
              <a:t>and the other phase with low polymer concentration. </a:t>
            </a:r>
          </a:p>
          <a:p>
            <a:endParaRPr lang="en-US" dirty="0"/>
          </a:p>
          <a:p>
            <a:r>
              <a:rPr lang="en-US" dirty="0"/>
              <a:t>The droplets could interact with their aqueous environment to acquire other compounds to make the droplets grow. </a:t>
            </a:r>
          </a:p>
          <a:p>
            <a:endParaRPr lang="en-US" dirty="0"/>
          </a:p>
          <a:p>
            <a:r>
              <a:rPr lang="en-US" dirty="0"/>
              <a:t>Some of the resulting progeny droplets which retain catalyst-substrate nature of parent droplet, could grow to give another generation of droplet.</a:t>
            </a:r>
          </a:p>
          <a:p>
            <a:endParaRPr lang="en-US" dirty="0"/>
          </a:p>
        </p:txBody>
      </p:sp>
    </p:spTree>
    <p:extLst>
      <p:ext uri="{BB962C8B-B14F-4D97-AF65-F5344CB8AC3E}">
        <p14:creationId xmlns:p14="http://schemas.microsoft.com/office/powerpoint/2010/main" val="29999164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545" y="609600"/>
            <a:ext cx="7391400" cy="6105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09285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0"/>
            <a:ext cx="10896600" cy="5943600"/>
          </a:xfrm>
        </p:spPr>
        <p:txBody>
          <a:bodyPr>
            <a:normAutofit/>
          </a:bodyPr>
          <a:lstStyle/>
          <a:p>
            <a:pPr lvl="1"/>
            <a:r>
              <a:rPr lang="en-US" sz="2400" dirty="0">
                <a:solidFill>
                  <a:srgbClr val="FF0000"/>
                </a:solidFill>
              </a:rPr>
              <a:t>The shortcoming of </a:t>
            </a:r>
            <a:r>
              <a:rPr lang="en-US" sz="2400" dirty="0" err="1">
                <a:solidFill>
                  <a:srgbClr val="FF0000"/>
                </a:solidFill>
              </a:rPr>
              <a:t>Oparin’s</a:t>
            </a:r>
            <a:r>
              <a:rPr lang="en-US" sz="2400" dirty="0">
                <a:solidFill>
                  <a:srgbClr val="FF0000"/>
                </a:solidFill>
              </a:rPr>
              <a:t> </a:t>
            </a:r>
            <a:r>
              <a:rPr lang="en-US" sz="2400" dirty="0" err="1">
                <a:solidFill>
                  <a:srgbClr val="FF0000"/>
                </a:solidFill>
              </a:rPr>
              <a:t>coacervate</a:t>
            </a:r>
            <a:r>
              <a:rPr lang="en-US" sz="2400" dirty="0">
                <a:solidFill>
                  <a:srgbClr val="FF0000"/>
                </a:solidFill>
              </a:rPr>
              <a:t> droplets is that they were formed from materials such as gum </a:t>
            </a:r>
            <a:r>
              <a:rPr lang="en-US" sz="2400" dirty="0" err="1">
                <a:solidFill>
                  <a:srgbClr val="FF0000"/>
                </a:solidFill>
              </a:rPr>
              <a:t>arabic</a:t>
            </a:r>
            <a:r>
              <a:rPr lang="en-US" sz="2400" dirty="0">
                <a:solidFill>
                  <a:srgbClr val="FF0000"/>
                </a:solidFill>
              </a:rPr>
              <a:t>, histone and albumin which had already been formed by living systems. </a:t>
            </a:r>
          </a:p>
          <a:p>
            <a:endParaRPr lang="en-US" sz="2800" dirty="0"/>
          </a:p>
          <a:p>
            <a:r>
              <a:rPr lang="en-US" sz="2800" dirty="0"/>
              <a:t>Fox’s thermal </a:t>
            </a:r>
            <a:r>
              <a:rPr lang="en-US" sz="2800" dirty="0" err="1"/>
              <a:t>proteinoids</a:t>
            </a:r>
            <a:r>
              <a:rPr lang="en-US" sz="2800" dirty="0"/>
              <a:t> were another type of micro-spheroidal aggregates. </a:t>
            </a:r>
          </a:p>
          <a:p>
            <a:pPr lvl="1"/>
            <a:r>
              <a:rPr lang="en-US" sz="2400" dirty="0"/>
              <a:t>Under suitable conditions, the </a:t>
            </a:r>
            <a:r>
              <a:rPr lang="en-US" sz="2400" dirty="0" err="1"/>
              <a:t>proteinoids</a:t>
            </a:r>
            <a:r>
              <a:rPr lang="en-US" sz="2400" dirty="0"/>
              <a:t> form microspheres several </a:t>
            </a:r>
            <a:r>
              <a:rPr lang="en-US" sz="2400" dirty="0" err="1"/>
              <a:t>micrometres</a:t>
            </a:r>
            <a:r>
              <a:rPr lang="en-US" sz="2400" dirty="0"/>
              <a:t> in diameter which grow and eventually bud. </a:t>
            </a:r>
          </a:p>
          <a:p>
            <a:pPr lvl="1"/>
            <a:r>
              <a:rPr lang="en-US" sz="2400" dirty="0"/>
              <a:t>These microspheres have a two-layer membrane similar to that of bacteria. </a:t>
            </a:r>
          </a:p>
          <a:p>
            <a:endParaRPr lang="en-US" sz="2800" dirty="0"/>
          </a:p>
          <a:p>
            <a:pPr lvl="1"/>
            <a:r>
              <a:rPr lang="en-US" sz="2400" dirty="0">
                <a:solidFill>
                  <a:srgbClr val="FF0000"/>
                </a:solidFill>
              </a:rPr>
              <a:t>The problem with the membranes of Fox’s </a:t>
            </a:r>
            <a:r>
              <a:rPr lang="en-US" sz="2400" dirty="0" err="1">
                <a:solidFill>
                  <a:srgbClr val="FF0000"/>
                </a:solidFill>
              </a:rPr>
              <a:t>proteinoids</a:t>
            </a:r>
            <a:r>
              <a:rPr lang="en-US" sz="2400" dirty="0">
                <a:solidFill>
                  <a:srgbClr val="FF0000"/>
                </a:solidFill>
              </a:rPr>
              <a:t> was that they were too leaky.</a:t>
            </a:r>
          </a:p>
          <a:p>
            <a:endParaRPr lang="en-US" sz="2800" dirty="0"/>
          </a:p>
        </p:txBody>
      </p:sp>
    </p:spTree>
    <p:extLst>
      <p:ext uri="{BB962C8B-B14F-4D97-AF65-F5344CB8AC3E}">
        <p14:creationId xmlns:p14="http://schemas.microsoft.com/office/powerpoint/2010/main" val="38883478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31838"/>
            <a:ext cx="8229600" cy="563562"/>
          </a:xfrm>
        </p:spPr>
        <p:txBody>
          <a:bodyPr>
            <a:noAutofit/>
          </a:bodyPr>
          <a:lstStyle/>
          <a:p>
            <a:r>
              <a:rPr lang="en-US" sz="3200" b="1" dirty="0"/>
              <a:t>Development of Metabolic Pathways</a:t>
            </a:r>
            <a:endParaRPr lang="en-US" sz="3200" dirty="0"/>
          </a:p>
        </p:txBody>
      </p:sp>
      <p:sp>
        <p:nvSpPr>
          <p:cNvPr id="3" name="Content Placeholder 2"/>
          <p:cNvSpPr>
            <a:spLocks noGrp="1"/>
          </p:cNvSpPr>
          <p:nvPr>
            <p:ph idx="1"/>
          </p:nvPr>
        </p:nvSpPr>
        <p:spPr>
          <a:xfrm>
            <a:off x="457200" y="1447800"/>
            <a:ext cx="11277600" cy="5791200"/>
          </a:xfrm>
        </p:spPr>
        <p:txBody>
          <a:bodyPr>
            <a:normAutofit/>
          </a:bodyPr>
          <a:lstStyle/>
          <a:p>
            <a:r>
              <a:rPr lang="en-US" sz="2400" dirty="0"/>
              <a:t>Competition for nutrients led to the development of metabolic pathways. </a:t>
            </a:r>
          </a:p>
          <a:p>
            <a:r>
              <a:rPr lang="en-US" sz="2400" dirty="0"/>
              <a:t>The polymerization reactions evolved were dependent on the environment to supply the necessary monomeric units and the energy-rich compounds such as ATP or polyphosphates that powered these reactions. </a:t>
            </a:r>
          </a:p>
          <a:p>
            <a:r>
              <a:rPr lang="en-US" sz="2400" dirty="0"/>
              <a:t>As the essential components in the prebiotic soup became scarce, organisms developed the enzymatic systems that could syntheses these substances from simpler but more abundant precursors. </a:t>
            </a:r>
          </a:p>
          <a:p>
            <a:r>
              <a:rPr lang="en-US" sz="2400" dirty="0"/>
              <a:t>As a result, energy-producing metabolic pathways arose. </a:t>
            </a:r>
          </a:p>
          <a:p>
            <a:r>
              <a:rPr lang="en-US" sz="2400" dirty="0"/>
              <a:t>Such pathways consumed other pre-existing energy-rich substances. </a:t>
            </a:r>
          </a:p>
          <a:p>
            <a:endParaRPr lang="en-US" sz="2400" dirty="0"/>
          </a:p>
        </p:txBody>
      </p:sp>
    </p:spTree>
    <p:extLst>
      <p:ext uri="{BB962C8B-B14F-4D97-AF65-F5344CB8AC3E}">
        <p14:creationId xmlns:p14="http://schemas.microsoft.com/office/powerpoint/2010/main" val="2089076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91800" cy="5791200"/>
          </a:xfrm>
        </p:spPr>
        <p:txBody>
          <a:bodyPr>
            <a:normAutofit/>
          </a:bodyPr>
          <a:lstStyle/>
          <a:p>
            <a:r>
              <a:rPr lang="en-US" dirty="0"/>
              <a:t>As these became increasingly scarce, the photosynthetic system was evolved to take advantage of the sun whose energy supply was inexhaustible. </a:t>
            </a:r>
          </a:p>
          <a:p>
            <a:pPr lvl="1"/>
            <a:r>
              <a:rPr lang="en-US" dirty="0"/>
              <a:t>In photosynthesis, reducing agents such as H</a:t>
            </a:r>
            <a:r>
              <a:rPr lang="en-US" baseline="-25000" dirty="0"/>
              <a:t>2</a:t>
            </a:r>
            <a:r>
              <a:rPr lang="en-US" dirty="0"/>
              <a:t>S was initially used, until this </a:t>
            </a:r>
            <a:r>
              <a:rPr lang="en-US" dirty="0" err="1"/>
              <a:t>reductant</a:t>
            </a:r>
            <a:r>
              <a:rPr lang="en-US" dirty="0"/>
              <a:t> was exhausted. </a:t>
            </a:r>
          </a:p>
          <a:p>
            <a:pPr lvl="1"/>
            <a:r>
              <a:rPr lang="en-US" dirty="0"/>
              <a:t>This led to the reﬁnement of the photosynthetic apparatus to utilize a more ubiquitous reducing agent, H</a:t>
            </a:r>
            <a:r>
              <a:rPr lang="en-US" baseline="-25000" dirty="0"/>
              <a:t>2</a:t>
            </a:r>
            <a:r>
              <a:rPr lang="en-US" dirty="0"/>
              <a:t>O.</a:t>
            </a:r>
          </a:p>
          <a:p>
            <a:pPr lvl="1"/>
            <a:r>
              <a:rPr lang="en-US" dirty="0">
                <a:solidFill>
                  <a:srgbClr val="FF0000"/>
                </a:solidFill>
              </a:rPr>
              <a:t>But the use of water brought in its trail, the production of highly reactive O</a:t>
            </a:r>
            <a:r>
              <a:rPr lang="en-US" baseline="-25000" dirty="0">
                <a:solidFill>
                  <a:srgbClr val="FF0000"/>
                </a:solidFill>
              </a:rPr>
              <a:t>2</a:t>
            </a:r>
            <a:r>
              <a:rPr lang="en-US" dirty="0">
                <a:solidFill>
                  <a:srgbClr val="FF0000"/>
                </a:solidFill>
              </a:rPr>
              <a:t>, as a by-product. </a:t>
            </a:r>
          </a:p>
          <a:p>
            <a:endParaRPr lang="en-US" dirty="0"/>
          </a:p>
          <a:p>
            <a:r>
              <a:rPr lang="en-US" dirty="0"/>
              <a:t>To circumvent any oxidative damage due to the accumulation of O</a:t>
            </a:r>
            <a:r>
              <a:rPr lang="en-US" baseline="-25000" dirty="0"/>
              <a:t>2</a:t>
            </a:r>
            <a:r>
              <a:rPr lang="en-US" dirty="0"/>
              <a:t>, a much more efficient form of energy metabolism that used the newly available O</a:t>
            </a:r>
            <a:r>
              <a:rPr lang="en-US" baseline="-25000" dirty="0"/>
              <a:t>2</a:t>
            </a:r>
            <a:r>
              <a:rPr lang="en-US" dirty="0"/>
              <a:t> as an oxidizing agent was adopted.</a:t>
            </a:r>
          </a:p>
          <a:p>
            <a:endParaRPr lang="en-US" dirty="0"/>
          </a:p>
        </p:txBody>
      </p:sp>
    </p:spTree>
    <p:extLst>
      <p:ext uri="{BB962C8B-B14F-4D97-AF65-F5344CB8AC3E}">
        <p14:creationId xmlns:p14="http://schemas.microsoft.com/office/powerpoint/2010/main" val="3967766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762000"/>
            <a:ext cx="10744200" cy="4876800"/>
          </a:xfrm>
        </p:spPr>
        <p:txBody>
          <a:bodyPr>
            <a:normAutofit/>
          </a:bodyPr>
          <a:lstStyle/>
          <a:p>
            <a:r>
              <a:rPr lang="en-US" dirty="0"/>
              <a:t>Oxygen was only a minor component of the atmosphere until when photosynthetic organisms began to produce oxygen from the oxidation of water. </a:t>
            </a:r>
          </a:p>
          <a:p>
            <a:endParaRPr lang="en-US" dirty="0"/>
          </a:p>
          <a:p>
            <a:r>
              <a:rPr lang="en-US" dirty="0"/>
              <a:t>It was after this time that the ozone layer was formed to serve as a shield against UV rays from the sun. </a:t>
            </a:r>
          </a:p>
          <a:p>
            <a:endParaRPr lang="en-US" dirty="0"/>
          </a:p>
          <a:p>
            <a:r>
              <a:rPr lang="en-US" dirty="0"/>
              <a:t>The shield was not present on the primitive earth when there was little atmospheric oxygen.</a:t>
            </a:r>
          </a:p>
          <a:p>
            <a:endParaRPr lang="en-US" dirty="0"/>
          </a:p>
        </p:txBody>
      </p:sp>
    </p:spTree>
    <p:extLst>
      <p:ext uri="{BB962C8B-B14F-4D97-AF65-F5344CB8AC3E}">
        <p14:creationId xmlns:p14="http://schemas.microsoft.com/office/powerpoint/2010/main" val="19024157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554182"/>
          </a:xfrm>
        </p:spPr>
        <p:txBody>
          <a:bodyPr>
            <a:noAutofit/>
          </a:bodyPr>
          <a:lstStyle/>
          <a:p>
            <a:r>
              <a:rPr lang="en-GB" sz="3200" dirty="0"/>
              <a:t>Summary</a:t>
            </a:r>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387292"/>
            <a:ext cx="6781799" cy="647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9287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F0AB303-EE08-9379-F06E-D887C160D0B3}"/>
              </a:ext>
            </a:extLst>
          </p:cNvPr>
          <p:cNvSpPr txBox="1">
            <a:spLocks/>
          </p:cNvSpPr>
          <p:nvPr/>
        </p:nvSpPr>
        <p:spPr>
          <a:xfrm>
            <a:off x="2209800" y="76200"/>
            <a:ext cx="7772400" cy="25908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chemeClr val="bg1"/>
                </a:solidFill>
                <a:latin typeface="+mn-lt"/>
                <a:ea typeface="+mj-ea"/>
                <a:cs typeface="+mj-cs"/>
              </a:defRPr>
            </a:lvl1pPr>
          </a:lstStyle>
          <a:p>
            <a:r>
              <a:rPr lang="en-US" sz="4400" dirty="0"/>
              <a:t>GEMP ACCESS COURSE: </a:t>
            </a:r>
            <a:br>
              <a:rPr lang="en-US" sz="4400" dirty="0"/>
            </a:br>
            <a:r>
              <a:rPr lang="en-US" sz="4400" dirty="0"/>
              <a:t>BIOLOGICAL CHEMISTRY</a:t>
            </a:r>
          </a:p>
        </p:txBody>
      </p:sp>
      <p:sp>
        <p:nvSpPr>
          <p:cNvPr id="9" name="Subtitle 2">
            <a:extLst>
              <a:ext uri="{FF2B5EF4-FFF2-40B4-BE49-F238E27FC236}">
                <a16:creationId xmlns:a16="http://schemas.microsoft.com/office/drawing/2014/main" id="{87C2B1F2-80DF-393C-85FD-4AE5CEF90B5F}"/>
              </a:ext>
            </a:extLst>
          </p:cNvPr>
          <p:cNvSpPr txBox="1">
            <a:spLocks/>
          </p:cNvSpPr>
          <p:nvPr/>
        </p:nvSpPr>
        <p:spPr>
          <a:xfrm>
            <a:off x="1524000" y="3048000"/>
            <a:ext cx="9144000" cy="22098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Wingdings" panose="05000000000000000000" pitchFamily="2" charset="2"/>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Wingdings" panose="05000000000000000000" pitchFamily="2" charset="2"/>
              <a:buNone/>
              <a:defRPr sz="2000" kern="1200">
                <a:solidFill>
                  <a:schemeClr val="bg2">
                    <a:lumMod val="10000"/>
                  </a:schemeClr>
                </a:solidFill>
                <a:latin typeface="+mn-lt"/>
                <a:ea typeface="+mn-ea"/>
                <a:cs typeface="+mn-cs"/>
              </a:defRPr>
            </a:lvl2pPr>
            <a:lvl3pPr marL="914400" indent="0" algn="ctr" defTabSz="914400" rtl="0" eaLnBrk="1" latinLnBrk="0" hangingPunct="1">
              <a:lnSpc>
                <a:spcPct val="90000"/>
              </a:lnSpc>
              <a:spcBef>
                <a:spcPts val="500"/>
              </a:spcBef>
              <a:buFont typeface="Wingdings" panose="05000000000000000000" pitchFamily="2" charset="2"/>
              <a:buNone/>
              <a:defRPr sz="1800" kern="1200">
                <a:solidFill>
                  <a:schemeClr val="bg2">
                    <a:lumMod val="10000"/>
                  </a:schemeClr>
                </a:solidFill>
                <a:latin typeface="+mn-lt"/>
                <a:ea typeface="+mn-ea"/>
                <a:cs typeface="+mn-cs"/>
              </a:defRPr>
            </a:lvl3pPr>
            <a:lvl4pPr marL="1371600" indent="0" algn="ctr" defTabSz="914400" rtl="0" eaLnBrk="1" latinLnBrk="0" hangingPunct="1">
              <a:lnSpc>
                <a:spcPct val="90000"/>
              </a:lnSpc>
              <a:spcBef>
                <a:spcPts val="500"/>
              </a:spcBef>
              <a:buFont typeface="Wingdings" panose="05000000000000000000" pitchFamily="2" charset="2"/>
              <a:buNone/>
              <a:defRPr sz="1600" kern="1200">
                <a:solidFill>
                  <a:schemeClr val="bg2">
                    <a:lumMod val="10000"/>
                  </a:schemeClr>
                </a:solidFill>
                <a:latin typeface="+mn-lt"/>
                <a:ea typeface="+mn-ea"/>
                <a:cs typeface="+mn-cs"/>
              </a:defRPr>
            </a:lvl4pPr>
            <a:lvl5pPr marL="1828800" indent="0" algn="ctr" defTabSz="914400" rtl="0" eaLnBrk="1" latinLnBrk="0" hangingPunct="1">
              <a:lnSpc>
                <a:spcPct val="90000"/>
              </a:lnSpc>
              <a:spcBef>
                <a:spcPts val="500"/>
              </a:spcBef>
              <a:buFont typeface="Wingdings" panose="05000000000000000000" pitchFamily="2" charset="2"/>
              <a:buNone/>
              <a:defRPr sz="1600" kern="1200">
                <a:solidFill>
                  <a:schemeClr val="bg2">
                    <a:lumMod val="1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Lecturer: </a:t>
            </a:r>
            <a:r>
              <a:rPr lang="en-US" b="1" dirty="0"/>
              <a:t>Christopher Larbie, </a:t>
            </a:r>
            <a:r>
              <a:rPr lang="en-US" b="1" i="1" dirty="0"/>
              <a:t>PhD</a:t>
            </a:r>
          </a:p>
          <a:p>
            <a:endParaRPr lang="en-US" b="1" i="1" dirty="0"/>
          </a:p>
          <a:p>
            <a:r>
              <a:rPr lang="en-US" dirty="0"/>
              <a:t>Lecture 2:</a:t>
            </a:r>
          </a:p>
          <a:p>
            <a:r>
              <a:rPr lang="en-US" b="1" dirty="0"/>
              <a:t>Elemental Composition of Cells</a:t>
            </a:r>
            <a:endParaRPr lang="en-US" dirty="0"/>
          </a:p>
          <a:p>
            <a:endParaRPr lang="en-US" dirty="0"/>
          </a:p>
        </p:txBody>
      </p:sp>
    </p:spTree>
    <p:extLst>
      <p:ext uri="{BB962C8B-B14F-4D97-AF65-F5344CB8AC3E}">
        <p14:creationId xmlns:p14="http://schemas.microsoft.com/office/powerpoint/2010/main" val="380270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79438"/>
            <a:ext cx="8229600" cy="639762"/>
          </a:xfrm>
        </p:spPr>
        <p:txBody>
          <a:bodyPr>
            <a:normAutofit fontScale="90000"/>
          </a:bodyPr>
          <a:lstStyle/>
          <a:p>
            <a:r>
              <a:rPr lang="en-US" dirty="0"/>
              <a:t> </a:t>
            </a:r>
            <a:r>
              <a:rPr lang="en-US" b="1" dirty="0">
                <a:cs typeface="Times New Roman" pitchFamily="18" charset="0"/>
              </a:rPr>
              <a:t>STUDY OBJECTIVES</a:t>
            </a:r>
          </a:p>
        </p:txBody>
      </p:sp>
      <p:sp>
        <p:nvSpPr>
          <p:cNvPr id="3" name="Content Placeholder 2"/>
          <p:cNvSpPr>
            <a:spLocks noGrp="1"/>
          </p:cNvSpPr>
          <p:nvPr>
            <p:ph idx="1"/>
          </p:nvPr>
        </p:nvSpPr>
        <p:spPr>
          <a:xfrm>
            <a:off x="914400" y="1447800"/>
            <a:ext cx="9982200" cy="5334000"/>
          </a:xfrm>
        </p:spPr>
        <p:txBody>
          <a:bodyPr>
            <a:normAutofit/>
          </a:bodyPr>
          <a:lstStyle/>
          <a:p>
            <a:r>
              <a:rPr lang="en-US" dirty="0"/>
              <a:t>In this lecture, we will go through</a:t>
            </a:r>
          </a:p>
          <a:p>
            <a:pPr lvl="1">
              <a:buFont typeface="Wingdings" pitchFamily="2" charset="2"/>
              <a:buChar char="q"/>
            </a:pPr>
            <a:r>
              <a:rPr lang="en-US" dirty="0"/>
              <a:t> How elements were formed: the origin of elements	</a:t>
            </a:r>
          </a:p>
          <a:p>
            <a:pPr lvl="1">
              <a:buFont typeface="Wingdings" pitchFamily="2" charset="2"/>
              <a:buChar char="q"/>
            </a:pPr>
            <a:r>
              <a:rPr lang="en-US" dirty="0"/>
              <a:t>The list of elements that make up living cells</a:t>
            </a:r>
          </a:p>
          <a:p>
            <a:pPr lvl="1">
              <a:buFont typeface="Wingdings" pitchFamily="2" charset="2"/>
              <a:buChar char="q"/>
            </a:pPr>
            <a:endParaRPr lang="en-US" dirty="0"/>
          </a:p>
          <a:p>
            <a:pPr lvl="1">
              <a:buFont typeface="Wingdings" pitchFamily="2" charset="2"/>
              <a:buChar char="q"/>
            </a:pPr>
            <a:r>
              <a:rPr lang="en-US" dirty="0"/>
              <a:t>Why some elements were incorporated in cells while others were excluded</a:t>
            </a:r>
          </a:p>
          <a:p>
            <a:pPr lvl="1">
              <a:buFont typeface="Wingdings" pitchFamily="2" charset="2"/>
              <a:buChar char="q"/>
            </a:pPr>
            <a:endParaRPr lang="en-US" dirty="0"/>
          </a:p>
          <a:p>
            <a:pPr lvl="1">
              <a:buFont typeface="Wingdings" pitchFamily="2" charset="2"/>
              <a:buChar char="q"/>
            </a:pPr>
            <a:r>
              <a:rPr lang="en-US" dirty="0"/>
              <a:t>Why carbon forms so many compounds.</a:t>
            </a:r>
          </a:p>
        </p:txBody>
      </p:sp>
    </p:spTree>
    <p:extLst>
      <p:ext uri="{BB962C8B-B14F-4D97-AF65-F5344CB8AC3E}">
        <p14:creationId xmlns:p14="http://schemas.microsoft.com/office/powerpoint/2010/main" val="29031821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229600" cy="762000"/>
          </a:xfrm>
        </p:spPr>
        <p:txBody>
          <a:bodyPr/>
          <a:lstStyle/>
          <a:p>
            <a:r>
              <a:rPr lang="en-GB" dirty="0"/>
              <a:t>Introduction </a:t>
            </a:r>
          </a:p>
        </p:txBody>
      </p:sp>
      <p:sp>
        <p:nvSpPr>
          <p:cNvPr id="3" name="Content Placeholder 2"/>
          <p:cNvSpPr>
            <a:spLocks noGrp="1"/>
          </p:cNvSpPr>
          <p:nvPr>
            <p:ph idx="1"/>
          </p:nvPr>
        </p:nvSpPr>
        <p:spPr>
          <a:xfrm>
            <a:off x="1219200" y="1066800"/>
            <a:ext cx="9906000" cy="4876800"/>
          </a:xfrm>
        </p:spPr>
        <p:txBody>
          <a:bodyPr/>
          <a:lstStyle/>
          <a:p>
            <a:r>
              <a:rPr lang="en-US" dirty="0"/>
              <a:t>All living cells and organisms are made up of elements which are intricately organized to form recognizable structures, characteristic of the cells or organisms.</a:t>
            </a:r>
          </a:p>
          <a:p>
            <a:pPr lvl="1"/>
            <a:r>
              <a:rPr lang="en-US" dirty="0"/>
              <a:t>Cells are viewed as the building blocks of cells but in biochemistry, the atom/elements are the building blocks</a:t>
            </a:r>
          </a:p>
          <a:p>
            <a:endParaRPr lang="en-GB"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62000" y="3124200"/>
            <a:ext cx="10515600" cy="2743200"/>
          </a:xfrm>
          <a:prstGeom prst="rect">
            <a:avLst/>
          </a:prstGeom>
          <a:noFill/>
          <a:ln>
            <a:noFill/>
          </a:ln>
        </p:spPr>
      </p:pic>
    </p:spTree>
    <p:extLst>
      <p:ext uri="{BB962C8B-B14F-4D97-AF65-F5344CB8AC3E}">
        <p14:creationId xmlns:p14="http://schemas.microsoft.com/office/powerpoint/2010/main" val="21133714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79438"/>
            <a:ext cx="8229600" cy="639762"/>
          </a:xfrm>
        </p:spPr>
        <p:txBody>
          <a:bodyPr>
            <a:normAutofit fontScale="90000"/>
          </a:bodyPr>
          <a:lstStyle/>
          <a:p>
            <a:br>
              <a:rPr lang="en-US" b="1" dirty="0"/>
            </a:br>
            <a:r>
              <a:rPr lang="en-US" b="1" dirty="0"/>
              <a:t>Origin of Elements</a:t>
            </a:r>
            <a:br>
              <a:rPr lang="en-US" dirty="0"/>
            </a:br>
            <a:endParaRPr lang="en-US" dirty="0"/>
          </a:p>
        </p:txBody>
      </p:sp>
      <p:sp>
        <p:nvSpPr>
          <p:cNvPr id="3" name="Content Placeholder 2"/>
          <p:cNvSpPr>
            <a:spLocks noGrp="1"/>
          </p:cNvSpPr>
          <p:nvPr>
            <p:ph idx="1"/>
          </p:nvPr>
        </p:nvSpPr>
        <p:spPr>
          <a:xfrm>
            <a:off x="838200" y="1295400"/>
            <a:ext cx="10439400" cy="5638800"/>
          </a:xfrm>
        </p:spPr>
        <p:txBody>
          <a:bodyPr/>
          <a:lstStyle/>
          <a:p>
            <a:r>
              <a:rPr lang="en-US" dirty="0"/>
              <a:t>Elements are believed to have been formed through the following processes</a:t>
            </a:r>
          </a:p>
          <a:p>
            <a:pPr marL="0" indent="0">
              <a:buNone/>
            </a:pPr>
            <a:endParaRPr lang="en-US" dirty="0"/>
          </a:p>
          <a:p>
            <a:pPr lvl="1">
              <a:buFont typeface="Wingdings" pitchFamily="2" charset="2"/>
              <a:buChar char="q"/>
            </a:pPr>
            <a:r>
              <a:rPr lang="en-US" dirty="0"/>
              <a:t>Big bang</a:t>
            </a:r>
          </a:p>
          <a:p>
            <a:pPr lvl="1">
              <a:buFont typeface="Wingdings" pitchFamily="2" charset="2"/>
              <a:buChar char="q"/>
            </a:pPr>
            <a:endParaRPr lang="en-US" dirty="0"/>
          </a:p>
          <a:p>
            <a:pPr lvl="1">
              <a:buFont typeface="Wingdings" pitchFamily="2" charset="2"/>
              <a:buChar char="q"/>
            </a:pPr>
            <a:r>
              <a:rPr lang="en-US" dirty="0"/>
              <a:t>Fusion reactions in the stars</a:t>
            </a:r>
          </a:p>
          <a:p>
            <a:pPr marL="457200" lvl="1" indent="0">
              <a:buNone/>
            </a:pPr>
            <a:endParaRPr lang="en-US" dirty="0"/>
          </a:p>
          <a:p>
            <a:pPr lvl="1">
              <a:buFont typeface="Wingdings" pitchFamily="2" charset="2"/>
              <a:buChar char="q"/>
            </a:pPr>
            <a:r>
              <a:rPr lang="en-US" dirty="0"/>
              <a:t>Artiﬁcial synthesis</a:t>
            </a:r>
          </a:p>
          <a:p>
            <a:endParaRPr lang="en-US" dirty="0"/>
          </a:p>
          <a:p>
            <a:r>
              <a:rPr lang="en-US" dirty="0"/>
              <a:t>Video: Origin of the Universe 101 by the National Geographic Channel </a:t>
            </a:r>
          </a:p>
        </p:txBody>
      </p:sp>
      <p:sp>
        <p:nvSpPr>
          <p:cNvPr id="4" name="Right Brace 3"/>
          <p:cNvSpPr/>
          <p:nvPr/>
        </p:nvSpPr>
        <p:spPr>
          <a:xfrm>
            <a:off x="5638800" y="2600632"/>
            <a:ext cx="609600" cy="990600"/>
          </a:xfrm>
          <a:prstGeom prst="rightBrace">
            <a:avLst>
              <a:gd name="adj1" fmla="val 0"/>
              <a:gd name="adj2" fmla="val 50000"/>
            </a:avLst>
          </a:prstGeom>
          <a:noFill/>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6400800" y="2628900"/>
            <a:ext cx="2667000" cy="830997"/>
          </a:xfrm>
          <a:prstGeom prst="rect">
            <a:avLst/>
          </a:prstGeom>
          <a:noFill/>
        </p:spPr>
        <p:txBody>
          <a:bodyPr wrap="square" rtlCol="0">
            <a:spAutoFit/>
          </a:bodyPr>
          <a:lstStyle/>
          <a:p>
            <a:r>
              <a:rPr lang="en-US" sz="2400" dirty="0"/>
              <a:t>Forms naturally occurring elements</a:t>
            </a:r>
          </a:p>
        </p:txBody>
      </p:sp>
      <p:sp>
        <p:nvSpPr>
          <p:cNvPr id="5" name="TextBox 4">
            <a:extLst>
              <a:ext uri="{FF2B5EF4-FFF2-40B4-BE49-F238E27FC236}">
                <a16:creationId xmlns:a16="http://schemas.microsoft.com/office/drawing/2014/main" id="{7BB7563B-A0AD-4E47-87ED-4E963483F88E}"/>
              </a:ext>
            </a:extLst>
          </p:cNvPr>
          <p:cNvSpPr txBox="1"/>
          <p:nvPr/>
        </p:nvSpPr>
        <p:spPr>
          <a:xfrm>
            <a:off x="2514600" y="5594555"/>
            <a:ext cx="6606873" cy="461665"/>
          </a:xfrm>
          <a:prstGeom prst="rect">
            <a:avLst/>
          </a:prstGeom>
          <a:noFill/>
        </p:spPr>
        <p:txBody>
          <a:bodyPr wrap="none" rtlCol="0">
            <a:spAutoFit/>
          </a:bodyPr>
          <a:lstStyle/>
          <a:p>
            <a:r>
              <a:rPr lang="en-GB" sz="2400" dirty="0">
                <a:hlinkClick r:id="rId2"/>
              </a:rPr>
              <a:t>https://www.youtube.com/watch?v=HdPzOWlLrbE</a:t>
            </a:r>
            <a:r>
              <a:rPr lang="en-GB" sz="2400" dirty="0"/>
              <a:t> </a:t>
            </a:r>
          </a:p>
        </p:txBody>
      </p:sp>
    </p:spTree>
    <p:extLst>
      <p:ext uri="{BB962C8B-B14F-4D97-AF65-F5344CB8AC3E}">
        <p14:creationId xmlns:p14="http://schemas.microsoft.com/office/powerpoint/2010/main" val="4875495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55638"/>
            <a:ext cx="8229600" cy="715962"/>
          </a:xfrm>
        </p:spPr>
        <p:txBody>
          <a:bodyPr>
            <a:noAutofit/>
          </a:bodyPr>
          <a:lstStyle/>
          <a:p>
            <a:r>
              <a:rPr lang="en-US" sz="3600" dirty="0"/>
              <a:t>The Big Bang Theory</a:t>
            </a:r>
          </a:p>
        </p:txBody>
      </p:sp>
      <p:sp>
        <p:nvSpPr>
          <p:cNvPr id="3" name="Content Placeholder 2"/>
          <p:cNvSpPr>
            <a:spLocks noGrp="1"/>
          </p:cNvSpPr>
          <p:nvPr>
            <p:ph idx="1"/>
          </p:nvPr>
        </p:nvSpPr>
        <p:spPr>
          <a:xfrm>
            <a:off x="685800" y="1524000"/>
            <a:ext cx="10668000" cy="5486400"/>
          </a:xfrm>
        </p:spPr>
        <p:txBody>
          <a:bodyPr>
            <a:normAutofit/>
          </a:bodyPr>
          <a:lstStyle/>
          <a:p>
            <a:r>
              <a:rPr lang="en-US" sz="2400" dirty="0"/>
              <a:t>Explosion of an infinitely hot and dense ball of primordial matter which led to the formation of Hydrogen and Helium.</a:t>
            </a:r>
          </a:p>
          <a:p>
            <a:endParaRPr lang="en-US" sz="2400" dirty="0"/>
          </a:p>
          <a:p>
            <a:r>
              <a:rPr lang="en-US" sz="2400" dirty="0"/>
              <a:t>Gravitational forces brought together clouds of gas that eventually collapsed into vast galaxies made up of billions of stars. </a:t>
            </a:r>
          </a:p>
          <a:p>
            <a:endParaRPr lang="en-US" sz="2400" dirty="0"/>
          </a:p>
          <a:p>
            <a:r>
              <a:rPr lang="en-US" sz="2400" dirty="0"/>
              <a:t>All the elements other than hydrogen and helium were formed in the </a:t>
            </a:r>
            <a:r>
              <a:rPr lang="en-US" sz="2400" dirty="0" err="1"/>
              <a:t>centre</a:t>
            </a:r>
            <a:r>
              <a:rPr lang="en-US" sz="2400" dirty="0"/>
              <a:t> of these stars, and these elements were released upon the explosion of some of these stars.</a:t>
            </a:r>
          </a:p>
        </p:txBody>
      </p:sp>
    </p:spTree>
    <p:extLst>
      <p:ext uri="{BB962C8B-B14F-4D97-AF65-F5344CB8AC3E}">
        <p14:creationId xmlns:p14="http://schemas.microsoft.com/office/powerpoint/2010/main" val="24175572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
            <a:ext cx="10210800" cy="612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45879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55638"/>
            <a:ext cx="8229600" cy="715962"/>
          </a:xfrm>
        </p:spPr>
        <p:txBody>
          <a:bodyPr>
            <a:normAutofit/>
          </a:bodyPr>
          <a:lstStyle/>
          <a:p>
            <a:r>
              <a:rPr lang="en-US" sz="3600" dirty="0"/>
              <a:t>Fusion reactions in the star</a:t>
            </a:r>
          </a:p>
        </p:txBody>
      </p:sp>
      <p:sp>
        <p:nvSpPr>
          <p:cNvPr id="3" name="Content Placeholder 2"/>
          <p:cNvSpPr>
            <a:spLocks noGrp="1"/>
          </p:cNvSpPr>
          <p:nvPr>
            <p:ph idx="1"/>
          </p:nvPr>
        </p:nvSpPr>
        <p:spPr>
          <a:xfrm>
            <a:off x="990600" y="1295400"/>
            <a:ext cx="10287000" cy="5562600"/>
          </a:xfrm>
        </p:spPr>
        <p:txBody>
          <a:bodyPr>
            <a:normAutofit/>
          </a:bodyPr>
          <a:lstStyle/>
          <a:p>
            <a:r>
              <a:rPr lang="en-US" sz="2400" dirty="0"/>
              <a:t>The very high temperatures and concentrations of reactants required for the formation of other elements can be achieved in the core of </a:t>
            </a:r>
            <a:r>
              <a:rPr lang="en-US" sz="2000" dirty="0"/>
              <a:t>stars</a:t>
            </a:r>
            <a:r>
              <a:rPr lang="en-US" sz="2400" dirty="0"/>
              <a:t>. </a:t>
            </a:r>
          </a:p>
          <a:p>
            <a:endParaRPr lang="en-US" sz="2400" dirty="0"/>
          </a:p>
          <a:p>
            <a:r>
              <a:rPr lang="en-US" sz="2400" dirty="0"/>
              <a:t>The very high temperatures are required to overcome the electrostatic repulsion that exists between the positively charged nuclei, which must fuse. </a:t>
            </a:r>
          </a:p>
          <a:p>
            <a:endParaRPr lang="en-US" sz="2400" dirty="0"/>
          </a:p>
          <a:p>
            <a:r>
              <a:rPr lang="en-US" sz="2400" dirty="0"/>
              <a:t>The fusion reactions radiate heat and light, so that a star is formed from the cloud of gas. </a:t>
            </a:r>
          </a:p>
          <a:p>
            <a:endParaRPr lang="en-US" sz="2400" dirty="0"/>
          </a:p>
          <a:p>
            <a:r>
              <a:rPr lang="en-US" sz="2400" dirty="0"/>
              <a:t>At some point an enormous amount of energy is released that leads to the explosion of the star</a:t>
            </a:r>
            <a:endParaRPr lang="en-US" sz="2400" b="1" dirty="0"/>
          </a:p>
        </p:txBody>
      </p:sp>
    </p:spTree>
    <p:extLst>
      <p:ext uri="{BB962C8B-B14F-4D97-AF65-F5344CB8AC3E}">
        <p14:creationId xmlns:p14="http://schemas.microsoft.com/office/powerpoint/2010/main" val="4703095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9200"/>
            <a:ext cx="10134600" cy="5334000"/>
          </a:xfrm>
        </p:spPr>
        <p:txBody>
          <a:bodyPr>
            <a:noAutofit/>
          </a:bodyPr>
          <a:lstStyle/>
          <a:p>
            <a:r>
              <a:rPr lang="en-US" sz="2400" dirty="0"/>
              <a:t>Most visible stars emit light created by the burning of hydrogen to form helium. </a:t>
            </a:r>
          </a:p>
          <a:p>
            <a:endParaRPr lang="en-US" sz="2400" dirty="0"/>
          </a:p>
          <a:p>
            <a:r>
              <a:rPr lang="en-US" sz="2400" dirty="0"/>
              <a:t>The hydrogen that fuels most stars is eventually used up: in smaller stars, the hydrogen gets exhausted much more rapidly in large stars like the sun. </a:t>
            </a:r>
          </a:p>
          <a:p>
            <a:endParaRPr lang="en-US" sz="2400" dirty="0"/>
          </a:p>
          <a:p>
            <a:r>
              <a:rPr lang="en-US" sz="2400" dirty="0"/>
              <a:t>Upon the exhaustion of hydrogen, the core temperature of the star reduces, and the star begins to collapse. </a:t>
            </a:r>
          </a:p>
          <a:p>
            <a:endParaRPr lang="en-US" sz="2400" dirty="0"/>
          </a:p>
          <a:p>
            <a:r>
              <a:rPr lang="en-US" sz="2400" dirty="0"/>
              <a:t>The heat released by the collapse causes the core temperature to rise to new levels until the ignition temperature for helium is reached. </a:t>
            </a:r>
          </a:p>
          <a:p>
            <a:endParaRPr lang="en-US" sz="2400" dirty="0"/>
          </a:p>
        </p:txBody>
      </p:sp>
    </p:spTree>
    <p:extLst>
      <p:ext uri="{BB962C8B-B14F-4D97-AF65-F5344CB8AC3E}">
        <p14:creationId xmlns:p14="http://schemas.microsoft.com/office/powerpoint/2010/main" val="1965993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1723" y="838200"/>
            <a:ext cx="4724400" cy="2967770"/>
          </a:xfrm>
        </p:spPr>
        <p:txBody>
          <a:bodyPr>
            <a:normAutofit/>
          </a:bodyPr>
          <a:lstStyle/>
          <a:p>
            <a:r>
              <a:rPr lang="en-US" sz="2000" dirty="0"/>
              <a:t>Two helium nuclei fuse to form beryllium (</a:t>
            </a:r>
            <a:r>
              <a:rPr lang="en-US" sz="2000" baseline="30000" dirty="0"/>
              <a:t>8</a:t>
            </a:r>
            <a:r>
              <a:rPr lang="en-US" sz="2000" dirty="0"/>
              <a:t>Be) nucleus which is unstable, and so does not survive for any length of time. </a:t>
            </a:r>
          </a:p>
          <a:p>
            <a:r>
              <a:rPr lang="en-US" sz="2000" dirty="0"/>
              <a:t>Another helium nucleus can fuse with Be to form Carbon (</a:t>
            </a:r>
            <a:r>
              <a:rPr lang="en-US" sz="2000" baseline="30000" dirty="0"/>
              <a:t>12</a:t>
            </a:r>
            <a:r>
              <a:rPr lang="en-US" sz="2000" dirty="0"/>
              <a:t>C). </a:t>
            </a:r>
          </a:p>
          <a:p>
            <a:r>
              <a:rPr lang="en-US" sz="2000" dirty="0"/>
              <a:t>Another fusion with helium forms oxygen (</a:t>
            </a:r>
            <a:r>
              <a:rPr lang="en-US" sz="2000" baseline="30000" dirty="0"/>
              <a:t>16</a:t>
            </a:r>
            <a:r>
              <a:rPr lang="en-US" sz="2000" dirty="0"/>
              <a:t>O). </a:t>
            </a:r>
          </a:p>
        </p:txBody>
      </p:sp>
      <p:pic>
        <p:nvPicPr>
          <p:cNvPr id="5" name="Picture 4"/>
          <p:cNvPicPr/>
          <p:nvPr/>
        </p:nvPicPr>
        <p:blipFill rotWithShape="1">
          <a:blip r:embed="rId2" cstate="print">
            <a:extLst>
              <a:ext uri="{28A0092B-C50C-407E-A947-70E740481C1C}">
                <a14:useLocalDpi xmlns:a14="http://schemas.microsoft.com/office/drawing/2010/main" val="0"/>
              </a:ext>
            </a:extLst>
          </a:blip>
          <a:srcRect b="13107"/>
          <a:stretch/>
        </p:blipFill>
        <p:spPr bwMode="auto">
          <a:xfrm>
            <a:off x="962019" y="685800"/>
            <a:ext cx="4408227" cy="2047164"/>
          </a:xfrm>
          <a:prstGeom prst="rect">
            <a:avLst/>
          </a:prstGeom>
          <a:noFill/>
          <a:ln>
            <a:noFill/>
          </a:ln>
          <a:extLst>
            <a:ext uri="{53640926-AAD7-44D8-BBD7-CCE9431645EC}">
              <a14:shadowObscured xmlns:a14="http://schemas.microsoft.com/office/drawing/2010/main"/>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40" t="4853" r="1792"/>
          <a:stretch/>
        </p:blipFill>
        <p:spPr bwMode="auto">
          <a:xfrm>
            <a:off x="609600" y="3276600"/>
            <a:ext cx="10668000" cy="3809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0724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838200"/>
            <a:ext cx="10210800" cy="5791200"/>
          </a:xfrm>
        </p:spPr>
        <p:txBody>
          <a:bodyPr>
            <a:normAutofit/>
          </a:bodyPr>
          <a:lstStyle/>
          <a:p>
            <a:r>
              <a:rPr lang="en-US" sz="2400" dirty="0"/>
              <a:t>The largest atom that can form from the nuclear fusion reactions is iron.</a:t>
            </a:r>
          </a:p>
          <a:p>
            <a:endParaRPr lang="en-US" sz="2400" dirty="0"/>
          </a:p>
          <a:p>
            <a:r>
              <a:rPr lang="en-US" sz="2400" dirty="0"/>
              <a:t>Those atoms that are larger than Fe are formed when the neutrons resulting from the explosion of a star are captured by the nuclei of Fe atoms. </a:t>
            </a:r>
          </a:p>
          <a:p>
            <a:endParaRPr lang="en-US" sz="2400" dirty="0"/>
          </a:p>
          <a:p>
            <a:r>
              <a:rPr lang="en-US" sz="2400" dirty="0"/>
              <a:t>The even-numbered elements are far more abundant than those with odd number mass numbers. </a:t>
            </a:r>
          </a:p>
          <a:p>
            <a:endParaRPr lang="en-US" sz="2400" dirty="0"/>
          </a:p>
          <a:p>
            <a:r>
              <a:rPr lang="en-US" sz="2400" dirty="0"/>
              <a:t>The relative abundance of the elements is dependent on the mechanism of formation and the stability of the nuclei formed.</a:t>
            </a:r>
          </a:p>
          <a:p>
            <a:endParaRPr lang="en-US" sz="2400" dirty="0"/>
          </a:p>
        </p:txBody>
      </p:sp>
    </p:spTree>
    <p:extLst>
      <p:ext uri="{BB962C8B-B14F-4D97-AF65-F5344CB8AC3E}">
        <p14:creationId xmlns:p14="http://schemas.microsoft.com/office/powerpoint/2010/main" val="10175348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03238"/>
            <a:ext cx="8229600" cy="792162"/>
          </a:xfrm>
        </p:spPr>
        <p:txBody>
          <a:bodyPr>
            <a:normAutofit/>
          </a:bodyPr>
          <a:lstStyle/>
          <a:p>
            <a:r>
              <a:rPr lang="en-US" sz="3600" dirty="0"/>
              <a:t>Laboratory synthesis of elements</a:t>
            </a:r>
          </a:p>
        </p:txBody>
      </p:sp>
      <p:sp>
        <p:nvSpPr>
          <p:cNvPr id="3" name="Content Placeholder 2"/>
          <p:cNvSpPr>
            <a:spLocks noGrp="1"/>
          </p:cNvSpPr>
          <p:nvPr>
            <p:ph idx="1"/>
          </p:nvPr>
        </p:nvSpPr>
        <p:spPr>
          <a:xfrm>
            <a:off x="838200" y="1447800"/>
            <a:ext cx="10363200" cy="5562600"/>
          </a:xfrm>
        </p:spPr>
        <p:txBody>
          <a:bodyPr>
            <a:noAutofit/>
          </a:bodyPr>
          <a:lstStyle/>
          <a:p>
            <a:r>
              <a:rPr lang="en-US" sz="2400" dirty="0"/>
              <a:t>New elements with atomic number beyond 92 (the </a:t>
            </a:r>
            <a:r>
              <a:rPr lang="en-US" sz="2400" dirty="0" err="1"/>
              <a:t>transuranium</a:t>
            </a:r>
            <a:r>
              <a:rPr lang="en-US" sz="2400" dirty="0"/>
              <a:t> elements) have been synthesized this way. </a:t>
            </a:r>
          </a:p>
          <a:p>
            <a:endParaRPr lang="en-US" sz="2400" dirty="0"/>
          </a:p>
          <a:p>
            <a:r>
              <a:rPr lang="en-US" sz="2400" dirty="0"/>
              <a:t>In the process, high energy particles  produced in cyclotrons are required to use with target nuclei. </a:t>
            </a:r>
          </a:p>
          <a:p>
            <a:endParaRPr lang="en-US" sz="2400" dirty="0"/>
          </a:p>
          <a:p>
            <a:r>
              <a:rPr lang="en-US" sz="2400" dirty="0"/>
              <a:t>For example, Seaborg formed the synthetic element, Californium, by using a cyclotron to accelerate the nuclei of C-12 to fuse with Curium (</a:t>
            </a:r>
            <a:r>
              <a:rPr lang="en-US" sz="2400" baseline="-25000" dirty="0"/>
              <a:t>96</a:t>
            </a:r>
            <a:r>
              <a:rPr lang="en-US" sz="2400" dirty="0"/>
              <a:t>Cm). (read more at </a:t>
            </a:r>
            <a:r>
              <a:rPr lang="en-US" sz="2400" dirty="0">
                <a:hlinkClick r:id="rId2"/>
              </a:rPr>
              <a:t>https://en.wikipedia.org/wiki/Californium</a:t>
            </a:r>
            <a:r>
              <a:rPr lang="en-US" sz="2400" dirty="0"/>
              <a:t>) </a:t>
            </a:r>
          </a:p>
        </p:txBody>
      </p:sp>
    </p:spTree>
    <p:extLst>
      <p:ext uri="{BB962C8B-B14F-4D97-AF65-F5344CB8AC3E}">
        <p14:creationId xmlns:p14="http://schemas.microsoft.com/office/powerpoint/2010/main" val="27764791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33400"/>
            <a:ext cx="8229600" cy="609600"/>
          </a:xfrm>
        </p:spPr>
        <p:txBody>
          <a:bodyPr>
            <a:normAutofit fontScale="90000"/>
          </a:bodyPr>
          <a:lstStyle/>
          <a:p>
            <a:r>
              <a:rPr lang="en-US" dirty="0"/>
              <a:t>Elements utilized to form cells</a:t>
            </a:r>
          </a:p>
        </p:txBody>
      </p:sp>
      <p:sp>
        <p:nvSpPr>
          <p:cNvPr id="3" name="Content Placeholder 2"/>
          <p:cNvSpPr>
            <a:spLocks noGrp="1"/>
          </p:cNvSpPr>
          <p:nvPr>
            <p:ph idx="1"/>
          </p:nvPr>
        </p:nvSpPr>
        <p:spPr>
          <a:xfrm>
            <a:off x="838200" y="1143000"/>
            <a:ext cx="10287000" cy="5334000"/>
          </a:xfrm>
        </p:spPr>
        <p:txBody>
          <a:bodyPr>
            <a:normAutofit/>
          </a:bodyPr>
          <a:lstStyle/>
          <a:p>
            <a:r>
              <a:rPr lang="en-US" sz="2400" dirty="0"/>
              <a:t>At present, there are over 117 elements, but less than a third of these elements are found in cells by natural selection.</a:t>
            </a:r>
          </a:p>
          <a:p>
            <a:r>
              <a:rPr lang="en-US" sz="2400" dirty="0"/>
              <a:t>The percentage of atoms in the earth</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The percentage of carbon is just about 0.10</a:t>
            </a:r>
          </a:p>
          <a:p>
            <a:endParaRPr lang="en-US" sz="2400" dirty="0"/>
          </a:p>
          <a:p>
            <a:endParaRPr lang="en-US" sz="2400" dirty="0"/>
          </a:p>
          <a:p>
            <a:endParaRPr lang="en-US" sz="2400" dirty="0"/>
          </a:p>
          <a:p>
            <a:pPr marL="0" indent="0">
              <a:buNone/>
            </a:pPr>
            <a:endParaRPr lang="en-US" sz="2400" dirty="0"/>
          </a:p>
        </p:txBody>
      </p:sp>
      <p:sp>
        <p:nvSpPr>
          <p:cNvPr id="5" name="Down Arrow 4"/>
          <p:cNvSpPr/>
          <p:nvPr/>
        </p:nvSpPr>
        <p:spPr>
          <a:xfrm>
            <a:off x="3505201" y="2948711"/>
            <a:ext cx="685800" cy="26004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p:nvPr/>
        </p:nvGrpSpPr>
        <p:grpSpPr>
          <a:xfrm>
            <a:off x="4474095" y="3040242"/>
            <a:ext cx="3619286" cy="2164951"/>
            <a:chOff x="2819400" y="2376055"/>
            <a:chExt cx="4343400" cy="2694289"/>
          </a:xfrm>
        </p:grpSpPr>
        <p:sp>
          <p:nvSpPr>
            <p:cNvPr id="7" name="TextBox 6"/>
            <p:cNvSpPr txBox="1"/>
            <p:nvPr/>
          </p:nvSpPr>
          <p:spPr>
            <a:xfrm>
              <a:off x="2819400" y="2376055"/>
              <a:ext cx="3581401" cy="574544"/>
            </a:xfrm>
            <a:prstGeom prst="rect">
              <a:avLst/>
            </a:prstGeom>
            <a:noFill/>
          </p:spPr>
          <p:txBody>
            <a:bodyPr wrap="square" rtlCol="0">
              <a:spAutoFit/>
            </a:bodyPr>
            <a:lstStyle/>
            <a:p>
              <a:pPr>
                <a:spcBef>
                  <a:spcPct val="20000"/>
                </a:spcBef>
              </a:pPr>
              <a:r>
                <a:rPr lang="en-US" sz="2400" dirty="0"/>
                <a:t>Oxygen (48.86%)</a:t>
              </a:r>
            </a:p>
          </p:txBody>
        </p:sp>
        <p:sp>
          <p:nvSpPr>
            <p:cNvPr id="8" name="TextBox 7"/>
            <p:cNvSpPr txBox="1"/>
            <p:nvPr/>
          </p:nvSpPr>
          <p:spPr>
            <a:xfrm>
              <a:off x="2854036" y="3080266"/>
              <a:ext cx="3581401" cy="574544"/>
            </a:xfrm>
            <a:prstGeom prst="rect">
              <a:avLst/>
            </a:prstGeom>
            <a:noFill/>
          </p:spPr>
          <p:txBody>
            <a:bodyPr wrap="square" rtlCol="0">
              <a:spAutoFit/>
            </a:bodyPr>
            <a:lstStyle/>
            <a:p>
              <a:pPr>
                <a:spcBef>
                  <a:spcPct val="20000"/>
                </a:spcBef>
              </a:pPr>
              <a:r>
                <a:rPr lang="en-US" sz="2400" dirty="0"/>
                <a:t>Iron (18.84%)</a:t>
              </a:r>
            </a:p>
          </p:txBody>
        </p:sp>
        <p:sp>
          <p:nvSpPr>
            <p:cNvPr id="9" name="Rectangle 8"/>
            <p:cNvSpPr/>
            <p:nvPr/>
          </p:nvSpPr>
          <p:spPr>
            <a:xfrm>
              <a:off x="2819400" y="3780010"/>
              <a:ext cx="2594325" cy="574544"/>
            </a:xfrm>
            <a:prstGeom prst="rect">
              <a:avLst/>
            </a:prstGeom>
          </p:spPr>
          <p:txBody>
            <a:bodyPr wrap="none">
              <a:spAutoFit/>
            </a:bodyPr>
            <a:lstStyle/>
            <a:p>
              <a:pPr>
                <a:spcBef>
                  <a:spcPct val="20000"/>
                </a:spcBef>
              </a:pPr>
              <a:r>
                <a:rPr lang="en-US" sz="2400" dirty="0"/>
                <a:t>Silicon (13.96%)</a:t>
              </a:r>
            </a:p>
          </p:txBody>
        </p:sp>
        <p:sp>
          <p:nvSpPr>
            <p:cNvPr id="10" name="TextBox 9"/>
            <p:cNvSpPr txBox="1"/>
            <p:nvPr/>
          </p:nvSpPr>
          <p:spPr>
            <a:xfrm>
              <a:off x="2819400" y="4495800"/>
              <a:ext cx="4343400" cy="574544"/>
            </a:xfrm>
            <a:prstGeom prst="rect">
              <a:avLst/>
            </a:prstGeom>
            <a:noFill/>
          </p:spPr>
          <p:txBody>
            <a:bodyPr wrap="square" rtlCol="0">
              <a:spAutoFit/>
            </a:bodyPr>
            <a:lstStyle/>
            <a:p>
              <a:pPr>
                <a:spcBef>
                  <a:spcPct val="20000"/>
                </a:spcBef>
              </a:pPr>
              <a:r>
                <a:rPr lang="en-US" sz="2400" dirty="0"/>
                <a:t>Magnesium (12.42%)</a:t>
              </a:r>
            </a:p>
          </p:txBody>
        </p:sp>
      </p:grpSp>
    </p:spTree>
    <p:extLst>
      <p:ext uri="{BB962C8B-B14F-4D97-AF65-F5344CB8AC3E}">
        <p14:creationId xmlns:p14="http://schemas.microsoft.com/office/powerpoint/2010/main" val="89537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5801"/>
            <a:ext cx="10439400" cy="5135563"/>
          </a:xfrm>
        </p:spPr>
        <p:txBody>
          <a:bodyPr>
            <a:noAutofit/>
          </a:bodyPr>
          <a:lstStyle/>
          <a:p>
            <a:r>
              <a:rPr lang="en-US" sz="2400" dirty="0"/>
              <a:t>Furthermore, there is similarity in the concentration of the main ions in seawater and that of blood plasma: such ions as Cu2+, Mg2+, Ca2+, Na+, K+, etc.</a:t>
            </a:r>
          </a:p>
          <a:p>
            <a:endParaRPr lang="en-US" sz="2400" dirty="0"/>
          </a:p>
          <a:p>
            <a:r>
              <a:rPr lang="en-US" sz="2400" dirty="0"/>
              <a:t>Almost every group on the periodic table has its representative in living cells (chemical democracy?)</a:t>
            </a:r>
          </a:p>
          <a:p>
            <a:endParaRPr lang="en-US" sz="2400" dirty="0"/>
          </a:p>
          <a:p>
            <a:r>
              <a:rPr lang="en-US" sz="2400" dirty="0"/>
              <a:t>Major or Bulk elements which are carbon, hydrogen, oxygen, nitrogen, phosphorus and </a:t>
            </a:r>
            <a:r>
              <a:rPr lang="en-US" sz="2400" dirty="0" err="1"/>
              <a:t>sulphur</a:t>
            </a:r>
            <a:r>
              <a:rPr lang="en-US" sz="2400" dirty="0"/>
              <a:t> (CHONPS) – found in organic compounds of the cell.</a:t>
            </a:r>
          </a:p>
          <a:p>
            <a:endParaRPr lang="en-US" sz="2400" dirty="0"/>
          </a:p>
          <a:p>
            <a:r>
              <a:rPr lang="en-US" sz="2400" dirty="0"/>
              <a:t>Minor or Trace: Na, K, Mg, </a:t>
            </a:r>
            <a:r>
              <a:rPr lang="en-US" sz="2400" dirty="0" err="1"/>
              <a:t>Ca</a:t>
            </a:r>
            <a:r>
              <a:rPr lang="en-US" sz="2400" dirty="0"/>
              <a:t>, B, V, </a:t>
            </a:r>
            <a:r>
              <a:rPr lang="en-US" sz="2400" dirty="0" err="1"/>
              <a:t>Mn</a:t>
            </a:r>
            <a:r>
              <a:rPr lang="en-US" sz="2400" dirty="0"/>
              <a:t>, Fe, Co, Ni, Cu, Zn, Si, Se, </a:t>
            </a:r>
            <a:r>
              <a:rPr lang="en-US" sz="2400" dirty="0" err="1"/>
              <a:t>Cl</a:t>
            </a:r>
            <a:r>
              <a:rPr lang="en-US" sz="2400" dirty="0"/>
              <a:t>, Br and Cr – found in the fluids that bathe the cell.</a:t>
            </a:r>
          </a:p>
        </p:txBody>
      </p:sp>
    </p:spTree>
    <p:extLst>
      <p:ext uri="{BB962C8B-B14F-4D97-AF65-F5344CB8AC3E}">
        <p14:creationId xmlns:p14="http://schemas.microsoft.com/office/powerpoint/2010/main" val="12711571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
          <p:cNvPicPr>
            <a:picLocks noGrp="1"/>
          </p:cNvPicPr>
          <p:nvPr>
            <p:ph idx="1"/>
          </p:nvPr>
        </p:nvPicPr>
        <p:blipFill rotWithShape="1">
          <a:blip r:embed="rId2" cstate="print">
            <a:extLst>
              <a:ext uri="{28A0092B-C50C-407E-A947-70E740481C1C}">
                <a14:useLocalDpi xmlns:a14="http://schemas.microsoft.com/office/drawing/2010/main" val="0"/>
              </a:ext>
            </a:extLst>
          </a:blip>
          <a:stretch>
            <a:fillRect/>
          </a:stretch>
        </p:blipFill>
        <p:spPr>
          <a:xfrm>
            <a:off x="609600" y="609600"/>
            <a:ext cx="10744200" cy="5715000"/>
          </a:xfrm>
          <a:prstGeom prst="rect">
            <a:avLst/>
          </a:prstGeom>
        </p:spPr>
      </p:pic>
    </p:spTree>
    <p:extLst>
      <p:ext uri="{BB962C8B-B14F-4D97-AF65-F5344CB8AC3E}">
        <p14:creationId xmlns:p14="http://schemas.microsoft.com/office/powerpoint/2010/main" val="7061257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GB"/>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96307"/>
            <a:ext cx="10820400" cy="6085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67237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900" y="0"/>
            <a:ext cx="61722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4841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4638"/>
            <a:ext cx="8839200" cy="1143000"/>
          </a:xfrm>
        </p:spPr>
        <p:txBody>
          <a:bodyPr>
            <a:normAutofit fontScale="90000"/>
          </a:bodyPr>
          <a:lstStyle/>
          <a:p>
            <a:r>
              <a:rPr lang="en-US" dirty="0"/>
              <a:t>Striking features of the major elements</a:t>
            </a:r>
          </a:p>
        </p:txBody>
      </p:sp>
      <p:sp>
        <p:nvSpPr>
          <p:cNvPr id="3" name="Content Placeholder 2"/>
          <p:cNvSpPr>
            <a:spLocks noGrp="1"/>
          </p:cNvSpPr>
          <p:nvPr>
            <p:ph idx="1"/>
          </p:nvPr>
        </p:nvSpPr>
        <p:spPr/>
        <p:txBody>
          <a:bodyPr>
            <a:normAutofit lnSpcReduction="10000"/>
          </a:bodyPr>
          <a:lstStyle/>
          <a:p>
            <a:r>
              <a:rPr lang="en-US" dirty="0"/>
              <a:t>Majority are p-block elements</a:t>
            </a:r>
          </a:p>
          <a:p>
            <a:endParaRPr lang="en-US" dirty="0"/>
          </a:p>
          <a:p>
            <a:pPr lvl="0"/>
            <a:r>
              <a:rPr lang="en-US" dirty="0"/>
              <a:t>They are able to form covalent bonds</a:t>
            </a:r>
          </a:p>
          <a:p>
            <a:pPr lvl="0"/>
            <a:endParaRPr lang="en-US" dirty="0"/>
          </a:p>
          <a:p>
            <a:pPr lvl="0"/>
            <a:r>
              <a:rPr lang="en-US" dirty="0"/>
              <a:t>They are non-metals</a:t>
            </a:r>
          </a:p>
          <a:p>
            <a:pPr lvl="0"/>
            <a:endParaRPr lang="en-US" dirty="0"/>
          </a:p>
          <a:p>
            <a:pPr lvl="0"/>
            <a:r>
              <a:rPr lang="en-US" dirty="0"/>
              <a:t>They have smaller atomic  sizes/numbers</a:t>
            </a:r>
          </a:p>
          <a:p>
            <a:pPr lvl="0"/>
            <a:endParaRPr lang="en-US" dirty="0"/>
          </a:p>
          <a:p>
            <a:pPr lvl="0"/>
            <a:r>
              <a:rPr lang="en-US" dirty="0"/>
              <a:t>They are neither too reactive nor inert.</a:t>
            </a:r>
          </a:p>
          <a:p>
            <a:endParaRPr lang="en-US" dirty="0"/>
          </a:p>
        </p:txBody>
      </p:sp>
    </p:spTree>
    <p:extLst>
      <p:ext uri="{BB962C8B-B14F-4D97-AF65-F5344CB8AC3E}">
        <p14:creationId xmlns:p14="http://schemas.microsoft.com/office/powerpoint/2010/main" val="15210385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carbon so unique in its ability to form many compounds?</a:t>
            </a:r>
          </a:p>
        </p:txBody>
      </p:sp>
      <p:sp>
        <p:nvSpPr>
          <p:cNvPr id="3" name="Content Placeholder 2"/>
          <p:cNvSpPr>
            <a:spLocks noGrp="1"/>
          </p:cNvSpPr>
          <p:nvPr>
            <p:ph idx="1"/>
          </p:nvPr>
        </p:nvSpPr>
        <p:spPr>
          <a:xfrm>
            <a:off x="1981200" y="1828801"/>
            <a:ext cx="8534400" cy="4525963"/>
          </a:xfrm>
        </p:spPr>
        <p:txBody>
          <a:bodyPr/>
          <a:lstStyle/>
          <a:p>
            <a:r>
              <a:rPr lang="en-US" dirty="0"/>
              <a:t>Carbon has got an ideal size, neither too small nor too big and can form stable covalent bonds</a:t>
            </a:r>
          </a:p>
          <a:p>
            <a:endParaRPr lang="en-US" dirty="0"/>
          </a:p>
          <a:p>
            <a:r>
              <a:rPr lang="en-US" dirty="0"/>
              <a:t>Carbon is tetravalent</a:t>
            </a:r>
          </a:p>
          <a:p>
            <a:endParaRPr lang="en-US" dirty="0"/>
          </a:p>
          <a:p>
            <a:r>
              <a:rPr lang="en-US" dirty="0"/>
              <a:t>It has the power of catenation</a:t>
            </a:r>
          </a:p>
          <a:p>
            <a:endParaRPr lang="en-US" dirty="0"/>
          </a:p>
          <a:p>
            <a:r>
              <a:rPr lang="en-US" dirty="0"/>
              <a:t>Carbon is also able to form multiple bonds, either with itself or with other atoms.</a:t>
            </a:r>
          </a:p>
          <a:p>
            <a:endParaRPr lang="en-US" dirty="0"/>
          </a:p>
        </p:txBody>
      </p:sp>
    </p:spTree>
    <p:extLst>
      <p:ext uri="{BB962C8B-B14F-4D97-AF65-F5344CB8AC3E}">
        <p14:creationId xmlns:p14="http://schemas.microsoft.com/office/powerpoint/2010/main" val="9313956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Other elements with the capacity to make three or more bonds</a:t>
            </a:r>
          </a:p>
        </p:txBody>
      </p:sp>
      <p:sp>
        <p:nvSpPr>
          <p:cNvPr id="3" name="Content Placeholder 2"/>
          <p:cNvSpPr>
            <a:spLocks noGrp="1"/>
          </p:cNvSpPr>
          <p:nvPr>
            <p:ph idx="1"/>
          </p:nvPr>
        </p:nvSpPr>
        <p:spPr/>
        <p:txBody>
          <a:bodyPr>
            <a:normAutofit fontScale="92500" lnSpcReduction="10000"/>
          </a:bodyPr>
          <a:lstStyle/>
          <a:p>
            <a:pPr marL="0" indent="0">
              <a:buNone/>
            </a:pPr>
            <a:r>
              <a:rPr lang="en-US" b="1" i="1" dirty="0"/>
              <a:t>Silicon</a:t>
            </a:r>
          </a:p>
          <a:p>
            <a:r>
              <a:rPr lang="en-US" dirty="0"/>
              <a:t>Belongs to group IVA, thus tetravalent</a:t>
            </a:r>
          </a:p>
          <a:p>
            <a:endParaRPr lang="en-US" dirty="0"/>
          </a:p>
          <a:p>
            <a:r>
              <a:rPr lang="en-US" dirty="0"/>
              <a:t>Has a larger atomic size, hence, Si – Si bonds (rare) are weak because two Silicon atoms cannot approach enough to overlap effectively</a:t>
            </a:r>
          </a:p>
          <a:p>
            <a:r>
              <a:rPr lang="en-US" dirty="0"/>
              <a:t>Si-O bonds are so stable; chains of alternating Si and O atoms are essentially inert. </a:t>
            </a:r>
          </a:p>
          <a:p>
            <a:endParaRPr lang="en-US" dirty="0"/>
          </a:p>
          <a:p>
            <a:r>
              <a:rPr lang="en-US" dirty="0"/>
              <a:t>Even though silicon is about 140 times more abundant than carbon in the earth crust, carbon has been preferentially incorporated in living cells. </a:t>
            </a:r>
            <a:endParaRPr lang="en-US" b="1" dirty="0"/>
          </a:p>
        </p:txBody>
      </p:sp>
    </p:spTree>
    <p:extLst>
      <p:ext uri="{BB962C8B-B14F-4D97-AF65-F5344CB8AC3E}">
        <p14:creationId xmlns:p14="http://schemas.microsoft.com/office/powerpoint/2010/main" val="12880455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6248400"/>
          </a:xfrm>
        </p:spPr>
        <p:txBody>
          <a:bodyPr>
            <a:noAutofit/>
          </a:bodyPr>
          <a:lstStyle/>
          <a:p>
            <a:pPr marL="0" indent="0">
              <a:buNone/>
            </a:pPr>
            <a:r>
              <a:rPr lang="en-US" b="1" i="1" dirty="0"/>
              <a:t>Nitrogen</a:t>
            </a:r>
          </a:p>
          <a:p>
            <a:r>
              <a:rPr lang="en-US" sz="2200" dirty="0"/>
              <a:t>It has five valence electrons when it forms N-N bond, hence, the bond energy will be low relative to that of C-C. </a:t>
            </a:r>
          </a:p>
          <a:p>
            <a:r>
              <a:rPr lang="en-US" sz="2200" dirty="0"/>
              <a:t>When the N-N bond is formed, there remains a lone pair of electrons on the atoms. </a:t>
            </a:r>
          </a:p>
          <a:p>
            <a:endParaRPr lang="en-US" sz="2200" dirty="0"/>
          </a:p>
          <a:p>
            <a:r>
              <a:rPr lang="en-US" sz="2200" dirty="0"/>
              <a:t>The repulsion between the lone pairs on the bonded nitrogen atoms will markedly reduce the bond energy of N-N bond. </a:t>
            </a:r>
          </a:p>
          <a:p>
            <a:endParaRPr lang="en-US" sz="2200" dirty="0"/>
          </a:p>
          <a:p>
            <a:r>
              <a:rPr lang="en-US" sz="2200" dirty="0"/>
              <a:t>Therefore, we expect extended chains of nitrogen atoms to be very unstable.</a:t>
            </a:r>
          </a:p>
          <a:p>
            <a:pPr marL="0" indent="0">
              <a:buNone/>
            </a:pPr>
            <a:r>
              <a:rPr lang="en-US" dirty="0"/>
              <a:t> </a:t>
            </a:r>
          </a:p>
          <a:p>
            <a:pPr marL="0" indent="0">
              <a:buNone/>
            </a:pPr>
            <a:r>
              <a:rPr lang="en-US" b="1" i="1" dirty="0"/>
              <a:t>Boron</a:t>
            </a:r>
          </a:p>
          <a:p>
            <a:r>
              <a:rPr lang="en-US" sz="2200" dirty="0"/>
              <a:t>It has three valence electrons. </a:t>
            </a:r>
          </a:p>
          <a:p>
            <a:r>
              <a:rPr lang="en-US" sz="2200" dirty="0"/>
              <a:t>Unlike nitrogen, it will form electron deficient compounds </a:t>
            </a:r>
          </a:p>
          <a:p>
            <a:r>
              <a:rPr lang="en-US" sz="2200" dirty="0"/>
              <a:t>This will tend to limit the stability of boron compounds.</a:t>
            </a:r>
          </a:p>
          <a:p>
            <a:endParaRPr lang="en-US" dirty="0"/>
          </a:p>
        </p:txBody>
      </p:sp>
    </p:spTree>
    <p:extLst>
      <p:ext uri="{BB962C8B-B14F-4D97-AF65-F5344CB8AC3E}">
        <p14:creationId xmlns:p14="http://schemas.microsoft.com/office/powerpoint/2010/main" val="18949070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60438"/>
            <a:ext cx="8229600" cy="868362"/>
          </a:xfrm>
        </p:spPr>
        <p:txBody>
          <a:bodyPr>
            <a:noAutofit/>
          </a:bodyPr>
          <a:lstStyle/>
          <a:p>
            <a:r>
              <a:rPr lang="en-US" sz="3600" dirty="0"/>
              <a:t>Reasons why other elements were not incorporated</a:t>
            </a:r>
            <a:br>
              <a:rPr lang="en-US" sz="3600" dirty="0"/>
            </a:br>
            <a:endParaRPr lang="en-US" sz="3600" dirty="0"/>
          </a:p>
        </p:txBody>
      </p:sp>
      <p:sp>
        <p:nvSpPr>
          <p:cNvPr id="3" name="Content Placeholder 2"/>
          <p:cNvSpPr>
            <a:spLocks noGrp="1"/>
          </p:cNvSpPr>
          <p:nvPr>
            <p:ph idx="1"/>
          </p:nvPr>
        </p:nvSpPr>
        <p:spPr>
          <a:xfrm>
            <a:off x="1066800" y="1905000"/>
            <a:ext cx="9829800" cy="4876800"/>
          </a:xfrm>
        </p:spPr>
        <p:txBody>
          <a:bodyPr>
            <a:normAutofit/>
          </a:bodyPr>
          <a:lstStyle/>
          <a:p>
            <a:r>
              <a:rPr lang="en-US" dirty="0"/>
              <a:t>Artiﬁcial nature of some elements</a:t>
            </a:r>
          </a:p>
          <a:p>
            <a:endParaRPr lang="en-US" dirty="0"/>
          </a:p>
          <a:p>
            <a:r>
              <a:rPr lang="en-US" dirty="0"/>
              <a:t>Inert nature of some elements</a:t>
            </a:r>
          </a:p>
          <a:p>
            <a:endParaRPr lang="en-US" dirty="0"/>
          </a:p>
          <a:p>
            <a:r>
              <a:rPr lang="en-US" dirty="0"/>
              <a:t>Toxic nature of some elements</a:t>
            </a:r>
          </a:p>
          <a:p>
            <a:endParaRPr lang="en-US" dirty="0"/>
          </a:p>
          <a:p>
            <a:r>
              <a:rPr lang="en-US" dirty="0"/>
              <a:t>Radioactivity of some elements</a:t>
            </a:r>
          </a:p>
        </p:txBody>
      </p:sp>
    </p:spTree>
    <p:extLst>
      <p:ext uri="{BB962C8B-B14F-4D97-AF65-F5344CB8AC3E}">
        <p14:creationId xmlns:p14="http://schemas.microsoft.com/office/powerpoint/2010/main" val="28575246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NB</a:t>
            </a:r>
          </a:p>
        </p:txBody>
      </p:sp>
      <p:sp>
        <p:nvSpPr>
          <p:cNvPr id="3" name="Content Placeholder 2"/>
          <p:cNvSpPr>
            <a:spLocks noGrp="1"/>
          </p:cNvSpPr>
          <p:nvPr>
            <p:ph idx="1"/>
          </p:nvPr>
        </p:nvSpPr>
        <p:spPr>
          <a:xfrm>
            <a:off x="1981200" y="1371600"/>
            <a:ext cx="8229600" cy="4953000"/>
          </a:xfrm>
        </p:spPr>
        <p:txBody>
          <a:bodyPr>
            <a:normAutofit/>
          </a:bodyPr>
          <a:lstStyle/>
          <a:p>
            <a:r>
              <a:rPr lang="en-US" dirty="0"/>
              <a:t>Even though some elements are non-essential to life, they may be valuable with regard to the quality of life.</a:t>
            </a:r>
          </a:p>
          <a:p>
            <a:endParaRPr lang="en-US" dirty="0"/>
          </a:p>
          <a:p>
            <a:pPr lvl="1">
              <a:buFont typeface="Wingdings" pitchFamily="2" charset="2"/>
              <a:buChar char="q"/>
            </a:pPr>
            <a:r>
              <a:rPr lang="en-US" dirty="0"/>
              <a:t>Lithium compounds like Li</a:t>
            </a:r>
            <a:r>
              <a:rPr lang="en-US" baseline="-25000" dirty="0"/>
              <a:t>2</a:t>
            </a:r>
            <a:r>
              <a:rPr lang="en-US" dirty="0"/>
              <a:t>CO</a:t>
            </a:r>
            <a:r>
              <a:rPr lang="en-US" baseline="-25000" dirty="0"/>
              <a:t>3</a:t>
            </a:r>
            <a:r>
              <a:rPr lang="en-US" dirty="0"/>
              <a:t> is for the treatment of schizophrenic conditions.</a:t>
            </a:r>
          </a:p>
          <a:p>
            <a:pPr lvl="1">
              <a:buFont typeface="Wingdings" pitchFamily="2" charset="2"/>
              <a:buChar char="q"/>
            </a:pPr>
            <a:r>
              <a:rPr lang="en-US" dirty="0"/>
              <a:t>Platinum and gold complexes are anticancer and anti-arthritis preparations respectively.</a:t>
            </a:r>
          </a:p>
          <a:p>
            <a:pPr lvl="1">
              <a:buFont typeface="Wingdings" pitchFamily="2" charset="2"/>
              <a:buChar char="q"/>
            </a:pPr>
            <a:r>
              <a:rPr lang="en-US" dirty="0"/>
              <a:t>Kaolin which contains </a:t>
            </a:r>
            <a:r>
              <a:rPr lang="en-US" dirty="0" err="1"/>
              <a:t>aluminium</a:t>
            </a:r>
            <a:r>
              <a:rPr lang="en-US" dirty="0"/>
              <a:t> has anti-</a:t>
            </a:r>
            <a:r>
              <a:rPr lang="en-US" dirty="0" err="1"/>
              <a:t>diarrhoeal</a:t>
            </a:r>
            <a:r>
              <a:rPr lang="en-US" dirty="0"/>
              <a:t> properties.</a:t>
            </a:r>
          </a:p>
          <a:p>
            <a:endParaRPr lang="en-US" dirty="0"/>
          </a:p>
        </p:txBody>
      </p:sp>
    </p:spTree>
    <p:extLst>
      <p:ext uri="{BB962C8B-B14F-4D97-AF65-F5344CB8AC3E}">
        <p14:creationId xmlns:p14="http://schemas.microsoft.com/office/powerpoint/2010/main" val="2837303432"/>
      </p:ext>
    </p:extLst>
  </p:cSld>
  <p:clrMapOvr>
    <a:masterClrMapping/>
  </p:clrMapOvr>
</p:sld>
</file>

<file path=ppt/theme/theme1.xml><?xml version="1.0" encoding="utf-8"?>
<a:theme xmlns:a="http://schemas.openxmlformats.org/drawingml/2006/main" name="KNUST SDG4 template_0">
  <a:themeElements>
    <a:clrScheme name="Custom 2">
      <a:dk1>
        <a:srgbClr val="382010"/>
      </a:dk1>
      <a:lt1>
        <a:sysClr val="window" lastClr="FFFFFF"/>
      </a:lt1>
      <a:dk2>
        <a:srgbClr val="44546A"/>
      </a:dk2>
      <a:lt2>
        <a:srgbClr val="E7E6E6"/>
      </a:lt2>
      <a:accent1>
        <a:srgbClr val="4472C4"/>
      </a:accent1>
      <a:accent2>
        <a:srgbClr val="E2802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WC light.potx" id="{3AAB5C5D-F81D-415E-B016-C95F4778E009}" vid="{707FFEF3-20E4-4742-9351-C9F6B3F14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KNUST SDG4 template_0</Template>
  <TotalTime>3714</TotalTime>
  <Words>4741</Words>
  <Application>Microsoft Macintosh PowerPoint</Application>
  <PresentationFormat>Widescreen</PresentationFormat>
  <Paragraphs>415</Paragraphs>
  <Slides>72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Calibri</vt:lpstr>
      <vt:lpstr>Times New Roman</vt:lpstr>
      <vt:lpstr>Wingdings</vt:lpstr>
      <vt:lpstr>KNUST SDG4 template_0</vt:lpstr>
      <vt:lpstr>GEMP ACCESS COURSE:  BIOLOGICAL CHEMISTRY</vt:lpstr>
      <vt:lpstr>OBJECTIVES</vt:lpstr>
      <vt:lpstr>Various views on origin of life</vt:lpstr>
      <vt:lpstr>PowerPoint Presentation</vt:lpstr>
      <vt:lpstr>Life as living System</vt:lpstr>
      <vt:lpstr>Gaia hypothesis</vt:lpstr>
      <vt:lpstr>Life as a Complex System </vt:lpstr>
      <vt:lpstr>Is life possible on all planets?</vt:lpstr>
      <vt:lpstr>Habitable zones of the milky way </vt:lpstr>
      <vt:lpstr>PowerPoint Presentation</vt:lpstr>
      <vt:lpstr>PowerPoint Presentation</vt:lpstr>
      <vt:lpstr>PowerPoint Presentation</vt:lpstr>
      <vt:lpstr>PowerPoint Presentation</vt:lpstr>
      <vt:lpstr>Views on the Origination of Life</vt:lpstr>
      <vt:lpstr>PowerPoint Presentation</vt:lpstr>
      <vt:lpstr>PowerPoint Presentation</vt:lpstr>
      <vt:lpstr>Evidence for Panspermia</vt:lpstr>
      <vt:lpstr>PowerPoint Presentation</vt:lpstr>
      <vt:lpstr>Spontaneous generation theory</vt:lpstr>
      <vt:lpstr>PowerPoint Presentation</vt:lpstr>
      <vt:lpstr>PowerPoint Presentation</vt:lpstr>
      <vt:lpstr>Long-term spontaneous generation</vt:lpstr>
      <vt:lpstr>PowerPoint Presentation</vt:lpstr>
      <vt:lpstr>PowerPoint Presentation</vt:lpstr>
      <vt:lpstr>Chemical and Biological evolution</vt:lpstr>
      <vt:lpstr>Prebiotic (Premordial) soup</vt:lpstr>
      <vt:lpstr>PowerPoint Presentation</vt:lpstr>
      <vt:lpstr>Primitive earth simulation experiment (by Stanley Miller)</vt:lpstr>
      <vt:lpstr>The prebiotic synthesis of monosaccharides (formose reaction)  </vt:lpstr>
      <vt:lpstr>The prebiotic synthesis of amino acids (Strecker synthesis) </vt:lpstr>
      <vt:lpstr>The prebiotic synthesis of nucleotide bases (polymerization of HCN) </vt:lpstr>
      <vt:lpstr>The prebiotic synthesis of fatty acids</vt:lpstr>
      <vt:lpstr>Why the primitive atmosphere was said to be reducing </vt:lpstr>
      <vt:lpstr>Polymerization and condensing agents</vt:lpstr>
      <vt:lpstr>PowerPoint Presentation</vt:lpstr>
      <vt:lpstr>PowerPoint Presentation</vt:lpstr>
      <vt:lpstr>Polypeptides and polynucleotides</vt:lpstr>
      <vt:lpstr>PowerPoint Presentation</vt:lpstr>
      <vt:lpstr>PowerPoint Presentation</vt:lpstr>
      <vt:lpstr>PowerPoint Presentation</vt:lpstr>
      <vt:lpstr>PowerPoint Presentation</vt:lpstr>
      <vt:lpstr>PowerPoint Presentation</vt:lpstr>
      <vt:lpstr>Formation of cells and membranes</vt:lpstr>
      <vt:lpstr>PowerPoint Presentation</vt:lpstr>
      <vt:lpstr>PowerPoint Presentation</vt:lpstr>
      <vt:lpstr>PowerPoint Presentation</vt:lpstr>
      <vt:lpstr>Development of Metabolic Pathways</vt:lpstr>
      <vt:lpstr>PowerPoint Presentation</vt:lpstr>
      <vt:lpstr>PowerPoint Presentation</vt:lpstr>
      <vt:lpstr>Summary</vt:lpstr>
      <vt:lpstr>PowerPoint Presentation</vt:lpstr>
      <vt:lpstr> STUDY OBJECTIVES</vt:lpstr>
      <vt:lpstr>Introduction </vt:lpstr>
      <vt:lpstr> Origin of Elements </vt:lpstr>
      <vt:lpstr>The Big Bang Theory</vt:lpstr>
      <vt:lpstr>PowerPoint Presentation</vt:lpstr>
      <vt:lpstr>Fusion reactions in the star</vt:lpstr>
      <vt:lpstr>PowerPoint Presentation</vt:lpstr>
      <vt:lpstr>PowerPoint Presentation</vt:lpstr>
      <vt:lpstr>PowerPoint Presentation</vt:lpstr>
      <vt:lpstr>Laboratory synthesis of elements</vt:lpstr>
      <vt:lpstr>Elements utilized to form cells</vt:lpstr>
      <vt:lpstr>PowerPoint Presentation</vt:lpstr>
      <vt:lpstr>PowerPoint Presentation</vt:lpstr>
      <vt:lpstr>PowerPoint Presentation</vt:lpstr>
      <vt:lpstr>PowerPoint Presentation</vt:lpstr>
      <vt:lpstr>Striking features of the major elements</vt:lpstr>
      <vt:lpstr>Why is carbon so unique in its ability to form many compounds?</vt:lpstr>
      <vt:lpstr>Other elements with the capacity to make three or more bonds</vt:lpstr>
      <vt:lpstr>PowerPoint Presentation</vt:lpstr>
      <vt:lpstr>Reasons why other elements were not incorporated </vt:lpstr>
      <vt:lpstr>NB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CHEMISTRY I (BIOL 157)</dc:title>
  <dc:creator>DENNIS</dc:creator>
  <cp:lastModifiedBy>Ato Aikins</cp:lastModifiedBy>
  <cp:revision>87</cp:revision>
  <cp:lastPrinted>2014-09-21T15:20:41Z</cp:lastPrinted>
  <dcterms:created xsi:type="dcterms:W3CDTF">2014-09-08T01:08:45Z</dcterms:created>
  <dcterms:modified xsi:type="dcterms:W3CDTF">2026-04-28T04:15:27Z</dcterms:modified>
</cp:coreProperties>
</file>