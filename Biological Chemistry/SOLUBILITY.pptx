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1"/>
  </p:notesMasterIdLst>
  <p:sldIdLst>
    <p:sldId id="256" r:id="rId2"/>
    <p:sldId id="316" r:id="rId3"/>
    <p:sldId id="272" r:id="rId4"/>
    <p:sldId id="326" r:id="rId5"/>
    <p:sldId id="318" r:id="rId6"/>
    <p:sldId id="319" r:id="rId7"/>
    <p:sldId id="275" r:id="rId8"/>
    <p:sldId id="320" r:id="rId9"/>
    <p:sldId id="321" r:id="rId10"/>
    <p:sldId id="322" r:id="rId11"/>
    <p:sldId id="323" r:id="rId12"/>
    <p:sldId id="324" r:id="rId13"/>
    <p:sldId id="325" r:id="rId14"/>
    <p:sldId id="327" r:id="rId15"/>
    <p:sldId id="328" r:id="rId16"/>
    <p:sldId id="329" r:id="rId17"/>
    <p:sldId id="330" r:id="rId18"/>
    <p:sldId id="331" r:id="rId19"/>
    <p:sldId id="33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98" autoAdjust="0"/>
    <p:restoredTop sz="94842" autoAdjust="0"/>
  </p:normalViewPr>
  <p:slideViewPr>
    <p:cSldViewPr snapToGrid="0">
      <p:cViewPr varScale="1">
        <p:scale>
          <a:sx n="66" d="100"/>
          <a:sy n="66" d="100"/>
        </p:scale>
        <p:origin x="516" y="4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668992A-A482-4EB1-AEE9-95D98E38D756}" type="datetimeFigureOut">
              <a:rPr lang="en-US" smtClean="0"/>
              <a:t>4/28/2026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BF3A218-3910-4F57-A977-B82FC47AB035}" type="slidenum">
              <a:rPr lang="en-US" smtClean="0"/>
              <a:t>‹#›</a:t>
            </a:fld>
            <a:endParaRPr lang="en-US"/>
          </a:p>
        </p:txBody>
      </p:sp>
    </p:spTree>
    <p:extLst>
      <p:ext uri="{BB962C8B-B14F-4D97-AF65-F5344CB8AC3E}">
        <p14:creationId xmlns:p14="http://schemas.microsoft.com/office/powerpoint/2010/main" val="35167580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7"/>
          <p:cNvSpPr>
            <a:spLocks noGrp="1" noChangeArrowheads="1"/>
          </p:cNvSpPr>
          <p:nvPr>
            <p:ph type="sldNum" sz="quarter" idx="5"/>
          </p:nvPr>
        </p:nvSpPr>
        <p:spPr>
          <a:noFill/>
        </p:spPr>
        <p:txBody>
          <a:bodyPr/>
          <a:lstStyle/>
          <a:p>
            <a:fld id="{54A067ED-407E-4B1C-A7DA-C5ADAF7AAF49}" type="slidenum">
              <a:rPr lang="en-US" smtClean="0">
                <a:solidFill>
                  <a:prstClr val="black"/>
                </a:solidFill>
              </a:rPr>
              <a:pPr/>
              <a:t>3</a:t>
            </a:fld>
            <a:endParaRPr lang="en-US">
              <a:solidFill>
                <a:prstClr val="black"/>
              </a:solidFill>
            </a:endParaRPr>
          </a:p>
        </p:txBody>
      </p:sp>
      <p:sp>
        <p:nvSpPr>
          <p:cNvPr id="292867" name="Rectangle 2"/>
          <p:cNvSpPr>
            <a:spLocks noGrp="1" noRot="1" noChangeAspect="1" noChangeArrowheads="1" noTextEdit="1"/>
          </p:cNvSpPr>
          <p:nvPr>
            <p:ph type="sldImg"/>
          </p:nvPr>
        </p:nvSpPr>
        <p:spPr>
          <a:ln/>
        </p:spPr>
      </p:sp>
      <p:sp>
        <p:nvSpPr>
          <p:cNvPr id="29286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Rectangle 7"/>
          <p:cNvSpPr>
            <a:spLocks noGrp="1" noChangeArrowheads="1"/>
          </p:cNvSpPr>
          <p:nvPr>
            <p:ph type="sldNum" sz="quarter" idx="5"/>
          </p:nvPr>
        </p:nvSpPr>
        <p:spPr>
          <a:noFill/>
        </p:spPr>
        <p:txBody>
          <a:bodyPr/>
          <a:lstStyle/>
          <a:p>
            <a:fld id="{D491563B-23F4-4EFE-889E-EF2B23BCDBB0}" type="slidenum">
              <a:rPr lang="en-US" smtClean="0">
                <a:solidFill>
                  <a:prstClr val="black"/>
                </a:solidFill>
              </a:rPr>
              <a:pPr/>
              <a:t>7</a:t>
            </a:fld>
            <a:endParaRPr lang="en-US">
              <a:solidFill>
                <a:prstClr val="black"/>
              </a:solidFill>
            </a:endParaRPr>
          </a:p>
        </p:txBody>
      </p:sp>
      <p:sp>
        <p:nvSpPr>
          <p:cNvPr id="333827" name="Rectangle 2"/>
          <p:cNvSpPr>
            <a:spLocks noGrp="1" noRot="1" noChangeAspect="1" noChangeArrowheads="1" noTextEdit="1"/>
          </p:cNvSpPr>
          <p:nvPr>
            <p:ph type="sldImg"/>
          </p:nvPr>
        </p:nvSpPr>
        <p:spPr>
          <a:ln/>
        </p:spPr>
      </p:sp>
      <p:sp>
        <p:nvSpPr>
          <p:cNvPr id="333828" name="Rectangle 3"/>
          <p:cNvSpPr>
            <a:spLocks noGrp="1" noChangeArrowheads="1"/>
          </p:cNvSpPr>
          <p:nvPr>
            <p:ph type="body" idx="1"/>
          </p:nvPr>
        </p:nvSpPr>
        <p:spPr>
          <a:noFill/>
          <a:ln/>
        </p:spPr>
        <p:txBody>
          <a:bodyPr/>
          <a:lstStyle/>
          <a:p>
            <a:pPr eaLnBrk="1" hangingPunct="1"/>
            <a:r>
              <a:rPr lang="en-US"/>
              <a:t>     The general rule of thumb is that </a:t>
            </a:r>
            <a:r>
              <a:rPr lang="en-US" b="1"/>
              <a:t>solubility of solids increases with increases in temperature</a:t>
            </a:r>
            <a:r>
              <a:rPr lang="en-US"/>
              <a:t>.</a:t>
            </a:r>
          </a:p>
          <a:p>
            <a:pPr eaLnBrk="1" hangingPunct="1"/>
            <a:r>
              <a:rPr lang="en-US"/>
              <a:t>Maximum amount of a solute that can dissolve in a solvent at a specified temperature and pressure is its </a:t>
            </a:r>
            <a:r>
              <a:rPr lang="en-US" b="1"/>
              <a:t>solubility.</a:t>
            </a:r>
            <a:r>
              <a:rPr lang="en-US" sz="1400" b="1"/>
              <a:t> </a:t>
            </a:r>
          </a:p>
          <a:p>
            <a:pPr lvl="1" eaLnBrk="1" hangingPunct="1"/>
            <a:r>
              <a:rPr lang="en-US" sz="1000"/>
              <a:t>    </a:t>
            </a:r>
            <a:r>
              <a:rPr lang="en-US" sz="1000">
                <a:latin typeface="Arial" pitchFamily="34" charset="0"/>
              </a:rPr>
              <a:t>–</a:t>
            </a:r>
            <a:r>
              <a:rPr lang="en-US" sz="1000"/>
              <a:t> Solubility is expressed as the mass of solute per volume (g/L) or mass of solute per mass of solvent (g/g) or as the moles of solute per volume (mol/L).</a:t>
            </a:r>
          </a:p>
          <a:p>
            <a:pPr lvl="1" eaLnBrk="1" hangingPunct="1"/>
            <a:r>
              <a:rPr lang="en-US" sz="1000"/>
              <a:t>    </a:t>
            </a:r>
            <a:r>
              <a:rPr lang="en-US" sz="1000">
                <a:latin typeface="Arial" pitchFamily="34" charset="0"/>
              </a:rPr>
              <a:t>–</a:t>
            </a:r>
            <a:r>
              <a:rPr lang="en-US" sz="1000"/>
              <a:t> Solubility of a substance depends on energetic factors and on the temperature and, for gases, the pressure.</a:t>
            </a:r>
          </a:p>
          <a:p>
            <a:pPr lvl="1" eaLnBrk="1" hangingPunct="1"/>
            <a:endParaRPr lang="en-US" sz="600"/>
          </a:p>
          <a:p>
            <a:pPr eaLnBrk="1" hangingPunct="1"/>
            <a:r>
              <a:rPr lang="en-US">
                <a:latin typeface="Arial" pitchFamily="34" charset="0"/>
              </a:rPr>
              <a:t>•</a:t>
            </a:r>
            <a:r>
              <a:rPr lang="en-US"/>
              <a:t>    A solution that contains the maximum possible amount of solute is </a:t>
            </a:r>
            <a:r>
              <a:rPr lang="en-US" b="1"/>
              <a:t>saturated.</a:t>
            </a:r>
          </a:p>
          <a:p>
            <a:pPr eaLnBrk="1" hangingPunct="1"/>
            <a:r>
              <a:rPr lang="en-US">
                <a:latin typeface="Arial" pitchFamily="34" charset="0"/>
              </a:rPr>
              <a:t>•</a:t>
            </a:r>
            <a:r>
              <a:rPr lang="en-US"/>
              <a:t>    If a solution contains less than the maximum</a:t>
            </a:r>
            <a:r>
              <a:rPr lang="en-US" sz="1400"/>
              <a:t> </a:t>
            </a:r>
            <a:r>
              <a:rPr lang="en-US"/>
              <a:t>amount of solute, it is </a:t>
            </a:r>
            <a:r>
              <a:rPr lang="en-US" b="1"/>
              <a:t>unsaturated.</a:t>
            </a:r>
          </a:p>
          <a:p>
            <a:pPr eaLnBrk="1" hangingPunct="1"/>
            <a:r>
              <a:rPr lang="en-US"/>
              <a:t>When a solution is saturated and excess solute is present, the rate of dissolution is equal to the rate of crystallization.</a:t>
            </a:r>
          </a:p>
          <a:p>
            <a:pPr eaLnBrk="1" hangingPunct="1"/>
            <a:r>
              <a:rPr lang="en-US">
                <a:latin typeface="Arial" pitchFamily="34" charset="0"/>
              </a:rPr>
              <a:t>•</a:t>
            </a:r>
            <a:r>
              <a:rPr lang="en-US"/>
              <a:t>   Solubility increases with increasing temperature </a:t>
            </a:r>
            <a:r>
              <a:rPr lang="en-US">
                <a:latin typeface="Arial" pitchFamily="34" charset="0"/>
              </a:rPr>
              <a:t>—</a:t>
            </a:r>
            <a:r>
              <a:rPr lang="en-US"/>
              <a:t> a saturated solution that was prepared at a higher temperature contains more dissolved solute than it would contain at a lower temperature, when the solution is cooled, it can become </a:t>
            </a:r>
            <a:r>
              <a:rPr lang="en-US" b="1"/>
              <a:t>supersaturated.</a:t>
            </a:r>
          </a:p>
          <a:p>
            <a:pPr eaLnBrk="1" hangingPunct="1"/>
            <a:endParaRPr lang="en-US"/>
          </a:p>
          <a:p>
            <a:pPr eaLnBrk="1" hangingPunct="1"/>
            <a:r>
              <a:rPr lang="en-US"/>
              <a:t>Solubility of a substance generally increases with increasing temperature</a:t>
            </a:r>
          </a:p>
          <a:p>
            <a:pPr eaLnBrk="1" hangingPunct="1"/>
            <a:endParaRPr lang="en-US" sz="600"/>
          </a:p>
          <a:p>
            <a:pPr eaLnBrk="1" hangingPunct="1"/>
            <a:r>
              <a:rPr lang="en-US"/>
              <a:t>No relationship between the structure of a substance and the temperature dependence of its solubility</a:t>
            </a:r>
          </a:p>
          <a:p>
            <a:pPr eaLnBrk="1" hangingPunct="1"/>
            <a:endParaRPr lang="en-US" sz="600"/>
          </a:p>
          <a:p>
            <a:pPr eaLnBrk="1" hangingPunct="1"/>
            <a:r>
              <a:rPr lang="en-US"/>
              <a:t>Solubility may increase or decrease with temperature; the magnitude of this temperature dependence varies widely among compounds</a:t>
            </a:r>
          </a:p>
          <a:p>
            <a:pPr eaLnBrk="1" hangingPunct="1"/>
            <a:endParaRPr lang="en-US" sz="600"/>
          </a:p>
          <a:p>
            <a:pPr eaLnBrk="1" hangingPunct="1"/>
            <a:r>
              <a:rPr lang="en-US"/>
              <a:t>This variation of solubility with temperature is used to separate the components of a mixture by </a:t>
            </a:r>
            <a:r>
              <a:rPr lang="en-US" b="1"/>
              <a:t>fractional crystallization</a:t>
            </a:r>
            <a:r>
              <a:rPr lang="en-US"/>
              <a:t>, the separation of compounds based on their solubilities in a given solvent</a:t>
            </a:r>
          </a:p>
          <a:p>
            <a:pPr eaLnBrk="1" hangingPunct="1"/>
            <a:endParaRPr lang="en-US" sz="600"/>
          </a:p>
          <a:p>
            <a:pPr eaLnBrk="1" hangingPunct="1"/>
            <a:r>
              <a:rPr lang="en-US"/>
              <a:t>Fractional crystallization is a common technique for purifying compounds; the compound of interest must be more soluble at high temperature than at low temperature, so that lowering the temperature causes it to crystallize out of solution</a:t>
            </a:r>
          </a:p>
          <a:p>
            <a:pPr eaLnBrk="1" hangingPunct="1"/>
            <a:r>
              <a:rPr lang="en-US"/>
              <a:t>Solubility of gases in liquids decreases with increasing temperature</a:t>
            </a:r>
          </a:p>
          <a:p>
            <a:pPr eaLnBrk="1" hangingPunct="1"/>
            <a:endParaRPr lang="en-US" sz="500"/>
          </a:p>
          <a:p>
            <a:pPr eaLnBrk="1" hangingPunct="1"/>
            <a:r>
              <a:rPr lang="en-US"/>
              <a:t>Attractive intermolecular interactions in the gas phase are essentially zero for most substances</a:t>
            </a:r>
          </a:p>
          <a:p>
            <a:pPr eaLnBrk="1" hangingPunct="1"/>
            <a:endParaRPr lang="en-US" sz="500"/>
          </a:p>
          <a:p>
            <a:pPr eaLnBrk="1" hangingPunct="1"/>
            <a:r>
              <a:rPr lang="en-US"/>
              <a:t>When a gas dissolves, its molecules interact with solvent molecules and heat is released when these new attractive interactions form, therefore, dissolving most gases in liquids is an exothermic process (</a:t>
            </a:r>
            <a:r>
              <a:rPr lang="en-US">
                <a:sym typeface="Symbol" pitchFamily="18" charset="2"/>
              </a:rPr>
              <a:t></a:t>
            </a:r>
            <a:r>
              <a:rPr lang="en-US" i="1">
                <a:sym typeface="Symbol" pitchFamily="18" charset="2"/>
              </a:rPr>
              <a:t>H</a:t>
            </a:r>
            <a:r>
              <a:rPr lang="en-US" baseline="-25000">
                <a:sym typeface="Symbol" pitchFamily="18" charset="2"/>
              </a:rPr>
              <a:t>soln </a:t>
            </a:r>
            <a:r>
              <a:rPr lang="en-US">
                <a:sym typeface="Symbol" pitchFamily="18" charset="2"/>
              </a:rPr>
              <a:t>&lt; 0)</a:t>
            </a:r>
          </a:p>
          <a:p>
            <a:pPr eaLnBrk="1" hangingPunct="1"/>
            <a:endParaRPr lang="en-US" sz="500">
              <a:sym typeface="Symbol" pitchFamily="18" charset="2"/>
            </a:endParaRPr>
          </a:p>
          <a:p>
            <a:pPr eaLnBrk="1" hangingPunct="1"/>
            <a:r>
              <a:rPr lang="en-US">
                <a:sym typeface="Symbol" pitchFamily="18" charset="2"/>
              </a:rPr>
              <a:t>Adding heat to the solution provides thermal energy that overcomes the attractive forces between the gas and the solvent molecules, thereby decreasing the solubility of the gas</a:t>
            </a:r>
          </a:p>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371601"/>
            <a:ext cx="104648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914400" y="3505200"/>
            <a:ext cx="85344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D1F2F37-7539-4117-A8D2-5286C229266F}" type="datetime1">
              <a:rPr lang="en-GB" smtClean="0"/>
              <a:t>28/04/2026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16C4710-B4F7-4359-B1ED-F19BB5470050}" type="slidenum">
              <a:rPr lang="en-GB" smtClean="0"/>
              <a:t>‹#›</a:t>
            </a:fld>
            <a:endParaRPr lang="en-GB"/>
          </a:p>
        </p:txBody>
      </p:sp>
      <p:cxnSp>
        <p:nvCxnSpPr>
          <p:cNvPr id="8" name="Straight Connector 7"/>
          <p:cNvCxnSpPr/>
          <p:nvPr/>
        </p:nvCxnSpPr>
        <p:spPr>
          <a:xfrm>
            <a:off x="914400" y="3398520"/>
            <a:ext cx="104648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406E63-5643-47E3-9C31-FE0E1505122E}" type="datetime1">
              <a:rPr lang="en-GB" smtClean="0"/>
              <a:t>28/04/2026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16C4710-B4F7-4359-B1ED-F19BB5470050}" type="slidenum">
              <a:rPr lang="en-GB" smtClean="0"/>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63084" y="2362201"/>
            <a:ext cx="103632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963084" y="4626865"/>
            <a:ext cx="103632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A6760BC-110A-4F3B-87EC-E2E3F1A145DE}" type="datetime1">
              <a:rPr lang="en-GB" smtClean="0"/>
              <a:t>28/04/2026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16C4710-B4F7-4359-B1ED-F19BB5470050}" type="slidenum">
              <a:rPr lang="en-GB" smtClean="0"/>
              <a:t>‹#›</a:t>
            </a:fld>
            <a:endParaRPr lang="en-GB"/>
          </a:p>
        </p:txBody>
      </p:sp>
      <p:cxnSp>
        <p:nvCxnSpPr>
          <p:cNvPr id="7" name="Straight Connector 6"/>
          <p:cNvCxnSpPr/>
          <p:nvPr/>
        </p:nvCxnSpPr>
        <p:spPr>
          <a:xfrm>
            <a:off x="975360" y="4599432"/>
            <a:ext cx="104648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287965F-706A-4A9D-BCFD-AEAB47E341C9}" type="datetime1">
              <a:rPr lang="en-GB" smtClean="0"/>
              <a:t>28/04/2026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16C4710-B4F7-4359-B1ED-F19BB5470050}" type="slidenum">
              <a:rPr lang="en-GB" smtClean="0"/>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60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3984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3984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DAF6D6E-59B3-4095-98A1-541C721A7390}" type="datetime1">
              <a:rPr lang="en-GB" smtClean="0"/>
              <a:t>28/04/2026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16C4710-B4F7-4359-B1ED-F19BB5470050}" type="slidenum">
              <a:rPr lang="en-GB" smtClean="0"/>
              <a:t>‹#›</a:t>
            </a:fld>
            <a:endParaRPr lang="en-GB"/>
          </a:p>
        </p:txBody>
      </p:sp>
      <p:cxnSp>
        <p:nvCxnSpPr>
          <p:cNvPr id="11" name="Straight Connector 10"/>
          <p:cNvCxnSpPr/>
          <p:nvPr/>
        </p:nvCxnSpPr>
        <p:spPr>
          <a:xfrm rot="5400000">
            <a:off x="3741949" y="4045691"/>
            <a:ext cx="4709160" cy="1059"/>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D1CFEC6-5CB7-464B-A741-DA49BD131A27}" type="datetime1">
              <a:rPr lang="en-GB" smtClean="0"/>
              <a:t>28/04/2026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16C4710-B4F7-4359-B1ED-F19BB5470050}" type="slidenum">
              <a:rPr lang="en-GB" smtClean="0"/>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0C0A5E-3960-4C0E-9448-E8D3EAE605BA}" type="datetime1">
              <a:rPr lang="en-GB" smtClean="0"/>
              <a:t>28/04/2026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16C4710-B4F7-4359-B1ED-F19BB5470050}" type="slidenum">
              <a:rPr lang="en-GB" smtClean="0"/>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080"/>
            <a:ext cx="2852928"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962400" y="792080"/>
            <a:ext cx="7620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601" y="2130553"/>
            <a:ext cx="2852928"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6F7FFF0-0792-420C-8872-3BD218B6E95A}" type="datetime1">
              <a:rPr lang="en-GB" smtClean="0"/>
              <a:t>28/04/2026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16C4710-B4F7-4359-B1ED-F19BB5470050}" type="slidenum">
              <a:rPr lang="en-GB" smtClean="0"/>
              <a:t>‹#›</a:t>
            </a:fld>
            <a:endParaRPr lang="en-GB"/>
          </a:p>
        </p:txBody>
      </p:sp>
      <p:cxnSp>
        <p:nvCxnSpPr>
          <p:cNvPr id="9" name="Straight Connector 8"/>
          <p:cNvCxnSpPr/>
          <p:nvPr/>
        </p:nvCxnSpPr>
        <p:spPr>
          <a:xfrm rot="5400000">
            <a:off x="912152" y="3579942"/>
            <a:ext cx="5577840" cy="211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480"/>
            <a:ext cx="2856907"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3811480" y="838201"/>
            <a:ext cx="787252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09600" y="2133600"/>
            <a:ext cx="2852928"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30DB5F1-6B2A-42BD-A27C-5DFDAA38772B}" type="datetime1">
              <a:rPr lang="en-GB" smtClean="0"/>
              <a:t>28/04/2026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16C4710-B4F7-4359-B1ED-F19BB5470050}" type="slidenum">
              <a:rPr lang="en-GB" smtClean="0"/>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B627A81-E881-4906-9229-7EBFA3BE8482}" type="datetime1">
              <a:rPr lang="en-GB" smtClean="0"/>
              <a:t>28/04/2026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16C4710-B4F7-4359-B1ED-F19BB5470050}" type="slidenum">
              <a:rPr lang="en-GB" smtClean="0"/>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609600"/>
            <a:ext cx="27432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609600" y="609600"/>
            <a:ext cx="80264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9587A73-16C1-45A7-B7EA-7A5B61F5753E}" type="datetime1">
              <a:rPr lang="en-GB" smtClean="0"/>
              <a:t>28/04/2026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16C4710-B4F7-4359-B1ED-F19BB5470050}" type="slidenum">
              <a:rPr lang="en-GB" smtClean="0"/>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12192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09600" y="533400"/>
            <a:ext cx="109728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600200"/>
            <a:ext cx="109728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12192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609600" y="18288"/>
            <a:ext cx="3860800" cy="329184"/>
          </a:xfrm>
          <a:prstGeom prst="rect">
            <a:avLst/>
          </a:prstGeom>
        </p:spPr>
        <p:txBody>
          <a:bodyPr vert="horz" lIns="91440" tIns="45720" rIns="91440" bIns="45720" rtlCol="0" anchor="ctr"/>
          <a:lstStyle>
            <a:lvl1pPr algn="l">
              <a:defRPr sz="1200">
                <a:solidFill>
                  <a:srgbClr val="FFFFFF"/>
                </a:solidFill>
              </a:defRPr>
            </a:lvl1pPr>
          </a:lstStyle>
          <a:p>
            <a:fld id="{207FBD96-60D4-4FE8-A24B-239DB5F0EB25}" type="datetime1">
              <a:rPr lang="en-GB" smtClean="0"/>
              <a:t>28/04/2026</a:t>
            </a:fld>
            <a:endParaRPr lang="en-GB"/>
          </a:p>
        </p:txBody>
      </p:sp>
      <p:sp>
        <p:nvSpPr>
          <p:cNvPr id="5" name="Footer Placeholder 4"/>
          <p:cNvSpPr>
            <a:spLocks noGrp="1"/>
          </p:cNvSpPr>
          <p:nvPr>
            <p:ph type="ftr" sz="quarter" idx="3"/>
          </p:nvPr>
        </p:nvSpPr>
        <p:spPr>
          <a:xfrm>
            <a:off x="4572000" y="18288"/>
            <a:ext cx="5486400" cy="329184"/>
          </a:xfrm>
          <a:prstGeom prst="rect">
            <a:avLst/>
          </a:prstGeom>
        </p:spPr>
        <p:txBody>
          <a:bodyPr vert="horz" lIns="91440" tIns="45720" rIns="91440" bIns="45720" rtlCol="0" anchor="ctr"/>
          <a:lstStyle>
            <a:lvl1pPr algn="ctr">
              <a:defRPr sz="1200">
                <a:solidFill>
                  <a:srgbClr val="FFFFFF"/>
                </a:solidFill>
              </a:defRPr>
            </a:lvl1pPr>
          </a:lstStyle>
          <a:p>
            <a:endParaRPr lang="en-GB"/>
          </a:p>
        </p:txBody>
      </p:sp>
      <p:sp>
        <p:nvSpPr>
          <p:cNvPr id="6" name="Slide Number Placeholder 5"/>
          <p:cNvSpPr>
            <a:spLocks noGrp="1"/>
          </p:cNvSpPr>
          <p:nvPr>
            <p:ph type="sldNum" sz="quarter" idx="4"/>
          </p:nvPr>
        </p:nvSpPr>
        <p:spPr>
          <a:xfrm>
            <a:off x="10160000" y="18288"/>
            <a:ext cx="1422400" cy="329184"/>
          </a:xfrm>
          <a:prstGeom prst="rect">
            <a:avLst/>
          </a:prstGeom>
        </p:spPr>
        <p:txBody>
          <a:bodyPr vert="horz" lIns="91440" tIns="45720" rIns="91440" bIns="45720" rtlCol="0" anchor="ctr"/>
          <a:lstStyle>
            <a:lvl1pPr algn="l">
              <a:defRPr sz="1400" b="1">
                <a:solidFill>
                  <a:srgbClr val="FFFFFF"/>
                </a:solidFill>
              </a:defRPr>
            </a:lvl1pPr>
          </a:lstStyle>
          <a:p>
            <a:fld id="{316C4710-B4F7-4359-B1ED-F19BB5470050}" type="slidenum">
              <a:rPr lang="en-GB" smtClean="0"/>
              <a:t>‹#›</a:t>
            </a:fld>
            <a:endParaRPr lang="en-GB"/>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ABABE33-EA44-850B-CEA3-02EAB69E598D}"/>
              </a:ext>
            </a:extLst>
          </p:cNvPr>
          <p:cNvSpPr txBox="1">
            <a:spLocks/>
          </p:cNvSpPr>
          <p:nvPr/>
        </p:nvSpPr>
        <p:spPr>
          <a:xfrm>
            <a:off x="928048" y="641445"/>
            <a:ext cx="9930452" cy="2368453"/>
          </a:xfrm>
          <a:prstGeom prst="rect">
            <a:avLst/>
          </a:prstGeom>
        </p:spPr>
        <p:txBody>
          <a:bodyPr vert="horz" lIns="91440" tIns="45720" rIns="91440" bIns="45720" rtlCol="0" anchor="ctr">
            <a:normAutofit/>
          </a:bodyPr>
          <a:lstStyle>
            <a:lvl1pPr algn="l" rtl="0" eaLnBrk="1" fontAlgn="base" hangingPunct="1">
              <a:spcBef>
                <a:spcPct val="0"/>
              </a:spcBef>
              <a:spcAft>
                <a:spcPct val="0"/>
              </a:spcAft>
              <a:defRPr sz="4000" kern="1200" spc="-100">
                <a:solidFill>
                  <a:schemeClr val="tx2"/>
                </a:solidFill>
                <a:latin typeface="+mj-lt"/>
                <a:ea typeface="+mj-ea"/>
                <a:cs typeface="+mj-cs"/>
              </a:defRPr>
            </a:lvl1pPr>
            <a:lvl2pPr algn="l" rtl="0" eaLnBrk="1" fontAlgn="base" hangingPunct="1">
              <a:spcBef>
                <a:spcPct val="0"/>
              </a:spcBef>
              <a:spcAft>
                <a:spcPct val="0"/>
              </a:spcAft>
              <a:defRPr sz="4000">
                <a:solidFill>
                  <a:schemeClr val="tx2"/>
                </a:solidFill>
                <a:latin typeface="Arial" panose="020B0604020202020204" pitchFamily="34" charset="0"/>
              </a:defRPr>
            </a:lvl2pPr>
            <a:lvl3pPr algn="l" rtl="0" eaLnBrk="1" fontAlgn="base" hangingPunct="1">
              <a:spcBef>
                <a:spcPct val="0"/>
              </a:spcBef>
              <a:spcAft>
                <a:spcPct val="0"/>
              </a:spcAft>
              <a:defRPr sz="4000">
                <a:solidFill>
                  <a:schemeClr val="tx2"/>
                </a:solidFill>
                <a:latin typeface="Arial" panose="020B0604020202020204" pitchFamily="34" charset="0"/>
              </a:defRPr>
            </a:lvl3pPr>
            <a:lvl4pPr algn="l" rtl="0" eaLnBrk="1" fontAlgn="base" hangingPunct="1">
              <a:spcBef>
                <a:spcPct val="0"/>
              </a:spcBef>
              <a:spcAft>
                <a:spcPct val="0"/>
              </a:spcAft>
              <a:defRPr sz="4000">
                <a:solidFill>
                  <a:schemeClr val="tx2"/>
                </a:solidFill>
                <a:latin typeface="Arial" panose="020B0604020202020204" pitchFamily="34" charset="0"/>
              </a:defRPr>
            </a:lvl4pPr>
            <a:lvl5pPr algn="l" rtl="0" eaLnBrk="1" fontAlgn="base" hangingPunct="1">
              <a:spcBef>
                <a:spcPct val="0"/>
              </a:spcBef>
              <a:spcAft>
                <a:spcPct val="0"/>
              </a:spcAft>
              <a:defRPr sz="4000">
                <a:solidFill>
                  <a:schemeClr val="tx2"/>
                </a:solidFill>
                <a:latin typeface="Arial" panose="020B0604020202020204" pitchFamily="34" charset="0"/>
              </a:defRPr>
            </a:lvl5pPr>
            <a:lvl6pPr marL="457200" algn="l" rtl="0" eaLnBrk="1" fontAlgn="base" hangingPunct="1">
              <a:spcBef>
                <a:spcPct val="0"/>
              </a:spcBef>
              <a:spcAft>
                <a:spcPct val="0"/>
              </a:spcAft>
              <a:defRPr sz="4000">
                <a:solidFill>
                  <a:schemeClr val="tx2"/>
                </a:solidFill>
                <a:latin typeface="Arial" panose="020B0604020202020204" pitchFamily="34" charset="0"/>
              </a:defRPr>
            </a:lvl6pPr>
            <a:lvl7pPr marL="914400" algn="l" rtl="0" eaLnBrk="1" fontAlgn="base" hangingPunct="1">
              <a:spcBef>
                <a:spcPct val="0"/>
              </a:spcBef>
              <a:spcAft>
                <a:spcPct val="0"/>
              </a:spcAft>
              <a:defRPr sz="4000">
                <a:solidFill>
                  <a:schemeClr val="tx2"/>
                </a:solidFill>
                <a:latin typeface="Arial" panose="020B0604020202020204" pitchFamily="34" charset="0"/>
              </a:defRPr>
            </a:lvl7pPr>
            <a:lvl8pPr marL="1371600" algn="l" rtl="0" eaLnBrk="1" fontAlgn="base" hangingPunct="1">
              <a:spcBef>
                <a:spcPct val="0"/>
              </a:spcBef>
              <a:spcAft>
                <a:spcPct val="0"/>
              </a:spcAft>
              <a:defRPr sz="4000">
                <a:solidFill>
                  <a:schemeClr val="tx2"/>
                </a:solidFill>
                <a:latin typeface="Arial" panose="020B0604020202020204" pitchFamily="34" charset="0"/>
              </a:defRPr>
            </a:lvl8pPr>
            <a:lvl9pPr marL="1828800" algn="l" rtl="0" eaLnBrk="1" fontAlgn="base" hangingPunct="1">
              <a:spcBef>
                <a:spcPct val="0"/>
              </a:spcBef>
              <a:spcAft>
                <a:spcPct val="0"/>
              </a:spcAft>
              <a:defRPr sz="4000">
                <a:solidFill>
                  <a:schemeClr val="tx2"/>
                </a:solidFill>
                <a:latin typeface="Arial" panose="020B0604020202020204" pitchFamily="34" charset="0"/>
              </a:defRPr>
            </a:lvl9pPr>
          </a:lstStyle>
          <a:p>
            <a:pPr algn="ctr"/>
            <a:r>
              <a:rPr lang="en-US" sz="5400" b="1" dirty="0">
                <a:solidFill>
                  <a:srgbClr val="C00000"/>
                </a:solidFill>
              </a:rPr>
              <a:t>GAC 175: BIOLOGICAL CHEMISTRY</a:t>
            </a:r>
            <a:endParaRPr lang="en-US" sz="5400" b="1" dirty="0">
              <a:solidFill>
                <a:srgbClr val="C00000"/>
              </a:solidFill>
              <a:effectLst>
                <a:outerShdw blurRad="38100" dist="38100" dir="2700000" algn="tl">
                  <a:srgbClr val="000000">
                    <a:alpha val="43137"/>
                  </a:srgbClr>
                </a:outerShdw>
              </a:effectLst>
              <a:latin typeface="Bahnschrift SemiBold" pitchFamily="34" charset="0"/>
            </a:endParaRPr>
          </a:p>
        </p:txBody>
      </p:sp>
      <p:sp>
        <p:nvSpPr>
          <p:cNvPr id="5" name="Subtitle 2">
            <a:extLst>
              <a:ext uri="{FF2B5EF4-FFF2-40B4-BE49-F238E27FC236}">
                <a16:creationId xmlns:a16="http://schemas.microsoft.com/office/drawing/2014/main" id="{642B2184-8A62-7416-574D-D466CBC54E20}"/>
              </a:ext>
            </a:extLst>
          </p:cNvPr>
          <p:cNvSpPr txBox="1">
            <a:spLocks/>
          </p:cNvSpPr>
          <p:nvPr/>
        </p:nvSpPr>
        <p:spPr bwMode="auto">
          <a:xfrm>
            <a:off x="5943601" y="3848101"/>
            <a:ext cx="5638800" cy="2666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182563" indent="-182563" algn="l" rtl="0" eaLnBrk="1" fontAlgn="base" hangingPunct="1">
              <a:spcBef>
                <a:spcPct val="20000"/>
              </a:spcBef>
              <a:spcAft>
                <a:spcPct val="0"/>
              </a:spcAft>
              <a:buClr>
                <a:schemeClr val="accent1"/>
              </a:buClr>
              <a:buSzPct val="85000"/>
              <a:buFont typeface="Arial" panose="020B0604020202020204" pitchFamily="34" charset="0"/>
              <a:buChar char="•"/>
              <a:defRPr sz="2400" kern="1200">
                <a:solidFill>
                  <a:schemeClr val="tx1"/>
                </a:solidFill>
                <a:latin typeface="+mn-lt"/>
                <a:ea typeface="+mn-ea"/>
                <a:cs typeface="+mn-cs"/>
              </a:defRPr>
            </a:lvl1pPr>
            <a:lvl2pPr marL="457200" indent="-182563" algn="l" rtl="0" eaLnBrk="1" fontAlgn="base" hangingPunct="1">
              <a:spcBef>
                <a:spcPct val="20000"/>
              </a:spcBef>
              <a:spcAft>
                <a:spcPct val="0"/>
              </a:spcAft>
              <a:buClr>
                <a:schemeClr val="accent1"/>
              </a:buClr>
              <a:buSzPct val="85000"/>
              <a:buFont typeface="Arial" panose="020B0604020202020204" pitchFamily="34" charset="0"/>
              <a:buChar char="•"/>
              <a:defRPr sz="2000" kern="1200">
                <a:solidFill>
                  <a:schemeClr val="tx1"/>
                </a:solidFill>
                <a:latin typeface="+mn-lt"/>
                <a:ea typeface="+mn-ea"/>
                <a:cs typeface="+mn-cs"/>
              </a:defRPr>
            </a:lvl2pPr>
            <a:lvl3pPr marL="730250" indent="-182563" algn="l" rtl="0" eaLnBrk="1" fontAlgn="base" hangingPunct="1">
              <a:spcBef>
                <a:spcPct val="20000"/>
              </a:spcBef>
              <a:spcAft>
                <a:spcPct val="0"/>
              </a:spcAft>
              <a:buClr>
                <a:schemeClr val="accent1"/>
              </a:buClr>
              <a:buSzPct val="90000"/>
              <a:buFont typeface="Arial" panose="020B0604020202020204" pitchFamily="34" charset="0"/>
              <a:buChar char="•"/>
              <a:defRPr kern="1200">
                <a:solidFill>
                  <a:schemeClr val="tx1"/>
                </a:solidFill>
                <a:latin typeface="+mn-lt"/>
                <a:ea typeface="+mn-ea"/>
                <a:cs typeface="+mn-cs"/>
              </a:defRPr>
            </a:lvl3pPr>
            <a:lvl4pPr marL="1004888" indent="-182563" algn="l" rtl="0" eaLnBrk="1" fontAlgn="base" hangingPunct="1">
              <a:spcBef>
                <a:spcPct val="20000"/>
              </a:spcBef>
              <a:spcAft>
                <a:spcPct val="0"/>
              </a:spcAft>
              <a:buClr>
                <a:schemeClr val="accent1"/>
              </a:buClr>
              <a:buFont typeface="Arial" panose="020B0604020202020204" pitchFamily="34" charset="0"/>
              <a:buChar char="•"/>
              <a:defRPr sz="1600" kern="1200">
                <a:solidFill>
                  <a:schemeClr val="tx1"/>
                </a:solidFill>
                <a:latin typeface="+mn-lt"/>
                <a:ea typeface="+mn-ea"/>
                <a:cs typeface="+mn-cs"/>
              </a:defRPr>
            </a:lvl4pPr>
            <a:lvl5pPr marL="1187450" indent="-136525" algn="l" rtl="0" eaLnBrk="1" fontAlgn="base" hangingPunct="1">
              <a:spcBef>
                <a:spcPct val="20000"/>
              </a:spcBef>
              <a:spcAft>
                <a:spcPct val="0"/>
              </a:spcAft>
              <a:buClr>
                <a:schemeClr val="accent1"/>
              </a:buClr>
              <a:buSzPct val="100000"/>
              <a:buFont typeface="Arial" panose="020B0604020202020204" pitchFamily="34" charset="0"/>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sz="3000" b="1" i="1" dirty="0">
                <a:cs typeface="Times New Roman" panose="02020603050405020304" pitchFamily="18" charset="0"/>
              </a:rPr>
              <a:t>Amma A Larbi, PhD   </a:t>
            </a:r>
          </a:p>
          <a:p>
            <a:endParaRPr lang="en-US" dirty="0">
              <a:cs typeface="Times New Roman" panose="02020603050405020304" pitchFamily="18" charset="0"/>
            </a:endParaRPr>
          </a:p>
          <a:p>
            <a:pPr>
              <a:lnSpc>
                <a:spcPct val="120000"/>
              </a:lnSpc>
            </a:pPr>
            <a:r>
              <a:rPr lang="en-US" sz="1900" i="1" dirty="0">
                <a:cs typeface="Times New Roman" panose="02020603050405020304" pitchFamily="18" charset="0"/>
              </a:rPr>
              <a:t>Department of Biochemistry and Biotechnology,</a:t>
            </a:r>
          </a:p>
          <a:p>
            <a:pPr>
              <a:lnSpc>
                <a:spcPct val="120000"/>
              </a:lnSpc>
            </a:pPr>
            <a:r>
              <a:rPr lang="en-US" sz="1900" i="1" dirty="0">
                <a:cs typeface="Times New Roman" panose="02020603050405020304" pitchFamily="18" charset="0"/>
              </a:rPr>
              <a:t>Office: SCB, RM 11                      ammalarbi@gmail.com</a:t>
            </a:r>
          </a:p>
          <a:p>
            <a:r>
              <a:rPr lang="en-US" sz="1900" i="1" dirty="0">
                <a:cs typeface="Times New Roman" panose="02020603050405020304" pitchFamily="18" charset="0"/>
              </a:rPr>
              <a:t> </a:t>
            </a:r>
          </a:p>
        </p:txBody>
      </p:sp>
      <p:pic>
        <p:nvPicPr>
          <p:cNvPr id="6" name="Picture 5">
            <a:extLst>
              <a:ext uri="{FF2B5EF4-FFF2-40B4-BE49-F238E27FC236}">
                <a16:creationId xmlns:a16="http://schemas.microsoft.com/office/drawing/2014/main" id="{361B9C61-A2FB-84E8-1769-39BAF95F35E5}"/>
              </a:ext>
            </a:extLst>
          </p:cNvPr>
          <p:cNvPicPr>
            <a:picLocks noChangeAspect="1"/>
          </p:cNvPicPr>
          <p:nvPr/>
        </p:nvPicPr>
        <p:blipFill>
          <a:blip r:embed="rId2"/>
          <a:stretch>
            <a:fillRect/>
          </a:stretch>
        </p:blipFill>
        <p:spPr>
          <a:xfrm>
            <a:off x="609600" y="3581400"/>
            <a:ext cx="4419600" cy="3200400"/>
          </a:xfrm>
          <a:prstGeom prst="rect">
            <a:avLst/>
          </a:prstGeom>
        </p:spPr>
      </p:pic>
    </p:spTree>
    <p:extLst>
      <p:ext uri="{BB962C8B-B14F-4D97-AF65-F5344CB8AC3E}">
        <p14:creationId xmlns:p14="http://schemas.microsoft.com/office/powerpoint/2010/main" val="48177219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56DAF-E59E-32F1-BC24-277305E7FB43}"/>
              </a:ext>
            </a:extLst>
          </p:cNvPr>
          <p:cNvSpPr>
            <a:spLocks noGrp="1"/>
          </p:cNvSpPr>
          <p:nvPr>
            <p:ph type="title"/>
          </p:nvPr>
        </p:nvSpPr>
        <p:spPr>
          <a:xfrm>
            <a:off x="609600" y="932645"/>
            <a:ext cx="10972800" cy="2196922"/>
          </a:xfrm>
        </p:spPr>
        <p:txBody>
          <a:bodyPr>
            <a:normAutofit/>
          </a:bodyPr>
          <a:lstStyle/>
          <a:p>
            <a:pPr algn="ctr"/>
            <a:r>
              <a:rPr lang="en-US" sz="6000" b="1" dirty="0"/>
              <a:t>SOLUBILITY</a:t>
            </a:r>
            <a:endParaRPr lang="en-US" sz="6000" dirty="0"/>
          </a:p>
        </p:txBody>
      </p:sp>
      <p:sp>
        <p:nvSpPr>
          <p:cNvPr id="4" name="Slide Number Placeholder 3">
            <a:extLst>
              <a:ext uri="{FF2B5EF4-FFF2-40B4-BE49-F238E27FC236}">
                <a16:creationId xmlns:a16="http://schemas.microsoft.com/office/drawing/2014/main" id="{C42F2737-EDD1-49EA-390D-B9CD93EAC792}"/>
              </a:ext>
            </a:extLst>
          </p:cNvPr>
          <p:cNvSpPr>
            <a:spLocks noGrp="1"/>
          </p:cNvSpPr>
          <p:nvPr>
            <p:ph type="sldNum" sz="quarter" idx="12"/>
          </p:nvPr>
        </p:nvSpPr>
        <p:spPr/>
        <p:txBody>
          <a:bodyPr/>
          <a:lstStyle/>
          <a:p>
            <a:fld id="{316C4710-B4F7-4359-B1ED-F19BB5470050}" type="slidenum">
              <a:rPr lang="en-GB" smtClean="0"/>
              <a:t>2</a:t>
            </a:fld>
            <a:endParaRPr lang="en-GB"/>
          </a:p>
        </p:txBody>
      </p:sp>
      <p:pic>
        <p:nvPicPr>
          <p:cNvPr id="8" name="Content Placeholder 7">
            <a:extLst>
              <a:ext uri="{FF2B5EF4-FFF2-40B4-BE49-F238E27FC236}">
                <a16:creationId xmlns:a16="http://schemas.microsoft.com/office/drawing/2014/main" id="{CC48428F-C62F-3F8C-83EF-2E135385B25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48000" y="2938462"/>
            <a:ext cx="6096000" cy="3429000"/>
          </a:xfrm>
        </p:spPr>
      </p:pic>
    </p:spTree>
    <p:extLst>
      <p:ext uri="{BB962C8B-B14F-4D97-AF65-F5344CB8AC3E}">
        <p14:creationId xmlns:p14="http://schemas.microsoft.com/office/powerpoint/2010/main" val="3388983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en-US" b="1" dirty="0"/>
              <a:t>Introduction</a:t>
            </a:r>
          </a:p>
        </p:txBody>
      </p:sp>
      <p:sp>
        <p:nvSpPr>
          <p:cNvPr id="574467" name="Rectangle 3"/>
          <p:cNvSpPr>
            <a:spLocks noGrp="1" noChangeArrowheads="1"/>
          </p:cNvSpPr>
          <p:nvPr>
            <p:ph type="body" idx="1"/>
          </p:nvPr>
        </p:nvSpPr>
        <p:spPr>
          <a:xfrm>
            <a:off x="1858964" y="1752601"/>
            <a:ext cx="8620125" cy="1495425"/>
          </a:xfrm>
        </p:spPr>
        <p:txBody>
          <a:bodyPr/>
          <a:lstStyle/>
          <a:p>
            <a:pPr eaLnBrk="1" hangingPunct="1">
              <a:defRPr/>
            </a:pPr>
            <a:r>
              <a:rPr lang="en-US" b="1" dirty="0">
                <a:effectLst>
                  <a:outerShdw blurRad="38100" dist="38100" dir="2700000" algn="tl">
                    <a:srgbClr val="C0C0C0"/>
                  </a:outerShdw>
                </a:effectLst>
                <a:latin typeface="Arial" pitchFamily="34" charset="0"/>
              </a:rPr>
              <a:t>Solution - </a:t>
            </a:r>
            <a:r>
              <a:rPr lang="en-US" dirty="0">
                <a:latin typeface="Arial" pitchFamily="34" charset="0"/>
              </a:rPr>
              <a:t>homogeneous mixture</a:t>
            </a:r>
          </a:p>
        </p:txBody>
      </p:sp>
      <p:sp>
        <p:nvSpPr>
          <p:cNvPr id="574469" name="Rectangle 5"/>
          <p:cNvSpPr>
            <a:spLocks noChangeArrowheads="1"/>
          </p:cNvSpPr>
          <p:nvPr/>
        </p:nvSpPr>
        <p:spPr bwMode="auto">
          <a:xfrm>
            <a:off x="1855789" y="5080001"/>
            <a:ext cx="4518025" cy="1336675"/>
          </a:xfrm>
          <a:prstGeom prst="rect">
            <a:avLst/>
          </a:prstGeom>
          <a:noFill/>
          <a:ln w="9525">
            <a:noFill/>
            <a:miter lim="800000"/>
            <a:headEnd/>
            <a:tailEnd/>
          </a:ln>
          <a:effectLst/>
        </p:spPr>
        <p:txBody>
          <a:bodyPr lIns="92075" tIns="46038" rIns="92075" bIns="46038"/>
          <a:lstStyle/>
          <a:p>
            <a:pPr marL="342900" indent="-342900" fontAlgn="base">
              <a:spcBef>
                <a:spcPct val="20000"/>
              </a:spcBef>
              <a:spcAft>
                <a:spcPct val="0"/>
              </a:spcAft>
              <a:defRPr/>
            </a:pPr>
            <a:r>
              <a:rPr lang="en-US" sz="3200" b="1">
                <a:solidFill>
                  <a:srgbClr val="FF0066"/>
                </a:solidFill>
                <a:effectLst>
                  <a:outerShdw blurRad="38100" dist="38100" dir="2700000" algn="tl">
                    <a:srgbClr val="C0C0C0"/>
                  </a:outerShdw>
                </a:effectLst>
                <a:latin typeface="Arial" pitchFamily="34" charset="0"/>
              </a:rPr>
              <a:t>Solvent </a:t>
            </a:r>
            <a:r>
              <a:rPr lang="en-US" sz="3200">
                <a:solidFill>
                  <a:srgbClr val="FF0066"/>
                </a:solidFill>
                <a:latin typeface="Arial" pitchFamily="34" charset="0"/>
              </a:rPr>
              <a:t>- present in greater amount</a:t>
            </a:r>
          </a:p>
        </p:txBody>
      </p:sp>
      <p:sp>
        <p:nvSpPr>
          <p:cNvPr id="574470" name="Rectangle 6"/>
          <p:cNvSpPr>
            <a:spLocks noChangeArrowheads="1"/>
          </p:cNvSpPr>
          <p:nvPr/>
        </p:nvSpPr>
        <p:spPr bwMode="auto">
          <a:xfrm>
            <a:off x="1855789" y="3070226"/>
            <a:ext cx="4518025" cy="1336675"/>
          </a:xfrm>
          <a:prstGeom prst="rect">
            <a:avLst/>
          </a:prstGeom>
          <a:noFill/>
          <a:ln w="9525">
            <a:noFill/>
            <a:miter lim="800000"/>
            <a:headEnd/>
            <a:tailEnd/>
          </a:ln>
          <a:effectLst/>
        </p:spPr>
        <p:txBody>
          <a:bodyPr lIns="92075" tIns="46038" rIns="92075" bIns="46038"/>
          <a:lstStyle/>
          <a:p>
            <a:pPr marL="342900" indent="-342900" fontAlgn="base">
              <a:spcBef>
                <a:spcPct val="20000"/>
              </a:spcBef>
              <a:spcAft>
                <a:spcPct val="0"/>
              </a:spcAft>
              <a:defRPr/>
            </a:pPr>
            <a:r>
              <a:rPr lang="en-US" sz="3200" b="1">
                <a:solidFill>
                  <a:srgbClr val="33CC33"/>
                </a:solidFill>
                <a:effectLst>
                  <a:outerShdw blurRad="38100" dist="38100" dir="2700000" algn="tl">
                    <a:srgbClr val="C0C0C0"/>
                  </a:outerShdw>
                </a:effectLst>
                <a:latin typeface="Arial" pitchFamily="34" charset="0"/>
              </a:rPr>
              <a:t>Solute </a:t>
            </a:r>
            <a:r>
              <a:rPr lang="en-US" sz="3200">
                <a:solidFill>
                  <a:srgbClr val="33CC33"/>
                </a:solidFill>
                <a:latin typeface="Arial" pitchFamily="34" charset="0"/>
              </a:rPr>
              <a:t>- substance being dissolved</a:t>
            </a:r>
          </a:p>
        </p:txBody>
      </p:sp>
      <p:sp>
        <p:nvSpPr>
          <p:cNvPr id="574473" name="Freeform 9"/>
          <p:cNvSpPr>
            <a:spLocks/>
          </p:cNvSpPr>
          <p:nvPr/>
        </p:nvSpPr>
        <p:spPr bwMode="auto">
          <a:xfrm>
            <a:off x="5543550" y="2667000"/>
            <a:ext cx="2743200" cy="628650"/>
          </a:xfrm>
          <a:custGeom>
            <a:avLst/>
            <a:gdLst>
              <a:gd name="T0" fmla="*/ 0 w 1728"/>
              <a:gd name="T1" fmla="*/ 571500 h 396"/>
              <a:gd name="T2" fmla="*/ 1304925 w 1728"/>
              <a:gd name="T3" fmla="*/ 9525 h 396"/>
              <a:gd name="T4" fmla="*/ 2743200 w 1728"/>
              <a:gd name="T5" fmla="*/ 628650 h 396"/>
              <a:gd name="T6" fmla="*/ 0 60000 65536"/>
              <a:gd name="T7" fmla="*/ 0 60000 65536"/>
              <a:gd name="T8" fmla="*/ 0 60000 65536"/>
              <a:gd name="T9" fmla="*/ 0 w 1728"/>
              <a:gd name="T10" fmla="*/ 0 h 396"/>
              <a:gd name="T11" fmla="*/ 1728 w 1728"/>
              <a:gd name="T12" fmla="*/ 396 h 396"/>
            </a:gdLst>
            <a:ahLst/>
            <a:cxnLst>
              <a:cxn ang="T6">
                <a:pos x="T0" y="T1"/>
              </a:cxn>
              <a:cxn ang="T7">
                <a:pos x="T2" y="T3"/>
              </a:cxn>
              <a:cxn ang="T8">
                <a:pos x="T4" y="T5"/>
              </a:cxn>
            </a:cxnLst>
            <a:rect l="T9" t="T10" r="T11" b="T12"/>
            <a:pathLst>
              <a:path w="1728" h="396">
                <a:moveTo>
                  <a:pt x="0" y="360"/>
                </a:moveTo>
                <a:cubicBezTo>
                  <a:pt x="137" y="301"/>
                  <a:pt x="534" y="0"/>
                  <a:pt x="822" y="6"/>
                </a:cubicBezTo>
                <a:cubicBezTo>
                  <a:pt x="1110" y="12"/>
                  <a:pt x="1539" y="315"/>
                  <a:pt x="1728" y="396"/>
                </a:cubicBezTo>
              </a:path>
            </a:pathLst>
          </a:custGeom>
          <a:noFill/>
          <a:ln w="44450">
            <a:solidFill>
              <a:srgbClr val="33CC33"/>
            </a:solidFill>
            <a:round/>
            <a:headEnd/>
            <a:tailEnd type="stealth" w="med" len="me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574474" name="Freeform 10"/>
          <p:cNvSpPr>
            <a:spLocks/>
          </p:cNvSpPr>
          <p:nvPr/>
        </p:nvSpPr>
        <p:spPr bwMode="auto">
          <a:xfrm>
            <a:off x="5514975" y="5905500"/>
            <a:ext cx="2076450" cy="642938"/>
          </a:xfrm>
          <a:custGeom>
            <a:avLst/>
            <a:gdLst>
              <a:gd name="T0" fmla="*/ 0 w 1308"/>
              <a:gd name="T1" fmla="*/ 0 h 405"/>
              <a:gd name="T2" fmla="*/ 1219200 w 1308"/>
              <a:gd name="T3" fmla="*/ 590550 h 405"/>
              <a:gd name="T4" fmla="*/ 2076450 w 1308"/>
              <a:gd name="T5" fmla="*/ 314325 h 405"/>
              <a:gd name="T6" fmla="*/ 0 60000 65536"/>
              <a:gd name="T7" fmla="*/ 0 60000 65536"/>
              <a:gd name="T8" fmla="*/ 0 60000 65536"/>
              <a:gd name="T9" fmla="*/ 0 w 1308"/>
              <a:gd name="T10" fmla="*/ 0 h 405"/>
              <a:gd name="T11" fmla="*/ 1308 w 1308"/>
              <a:gd name="T12" fmla="*/ 405 h 405"/>
            </a:gdLst>
            <a:ahLst/>
            <a:cxnLst>
              <a:cxn ang="T6">
                <a:pos x="T0" y="T1"/>
              </a:cxn>
              <a:cxn ang="T7">
                <a:pos x="T2" y="T3"/>
              </a:cxn>
              <a:cxn ang="T8">
                <a:pos x="T4" y="T5"/>
              </a:cxn>
            </a:cxnLst>
            <a:rect l="T9" t="T10" r="T11" b="T12"/>
            <a:pathLst>
              <a:path w="1308" h="405">
                <a:moveTo>
                  <a:pt x="0" y="0"/>
                </a:moveTo>
                <a:cubicBezTo>
                  <a:pt x="128" y="61"/>
                  <a:pt x="550" y="339"/>
                  <a:pt x="768" y="372"/>
                </a:cubicBezTo>
                <a:cubicBezTo>
                  <a:pt x="986" y="405"/>
                  <a:pt x="1127" y="298"/>
                  <a:pt x="1308" y="198"/>
                </a:cubicBezTo>
              </a:path>
            </a:pathLst>
          </a:custGeom>
          <a:noFill/>
          <a:ln w="44450">
            <a:solidFill>
              <a:srgbClr val="FF0066"/>
            </a:solidFill>
            <a:round/>
            <a:headEnd/>
            <a:tailEnd type="stealth" w="med" len="med"/>
          </a:ln>
        </p:spPr>
        <p:txBody>
          <a:bodyPr/>
          <a:lstStyle/>
          <a:p>
            <a:pPr algn="ctr" fontAlgn="base">
              <a:spcBef>
                <a:spcPct val="0"/>
              </a:spcBef>
              <a:spcAft>
                <a:spcPct val="0"/>
              </a:spcAft>
            </a:pPr>
            <a:endParaRPr lang="en-US" sz="2000">
              <a:solidFill>
                <a:srgbClr val="000000"/>
              </a:solidFill>
              <a:latin typeface="Arial" pitchFamily="34" charset="0"/>
            </a:endParaRPr>
          </a:p>
        </p:txBody>
      </p:sp>
      <p:grpSp>
        <p:nvGrpSpPr>
          <p:cNvPr id="45064" name="Group 71" descr="erlenmeyer flask"/>
          <p:cNvGrpSpPr>
            <a:grpSpLocks noChangeAspect="1"/>
          </p:cNvGrpSpPr>
          <p:nvPr/>
        </p:nvGrpSpPr>
        <p:grpSpPr bwMode="auto">
          <a:xfrm>
            <a:off x="6464300" y="3182939"/>
            <a:ext cx="3862388" cy="3025775"/>
            <a:chOff x="3112" y="2005"/>
            <a:chExt cx="2433" cy="1906"/>
          </a:xfrm>
        </p:grpSpPr>
        <p:sp>
          <p:nvSpPr>
            <p:cNvPr id="45065" name="AutoShape 70"/>
            <p:cNvSpPr>
              <a:spLocks noChangeAspect="1" noChangeArrowheads="1" noTextEdit="1"/>
            </p:cNvSpPr>
            <p:nvPr/>
          </p:nvSpPr>
          <p:spPr bwMode="auto">
            <a:xfrm>
              <a:off x="3112" y="2005"/>
              <a:ext cx="2433" cy="1906"/>
            </a:xfrm>
            <a:prstGeom prst="rect">
              <a:avLst/>
            </a:prstGeom>
            <a:noFill/>
            <a:ln w="9525">
              <a:noFill/>
              <a:miter lim="800000"/>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066" name="Freeform 72"/>
            <p:cNvSpPr>
              <a:spLocks/>
            </p:cNvSpPr>
            <p:nvPr/>
          </p:nvSpPr>
          <p:spPr bwMode="auto">
            <a:xfrm>
              <a:off x="4318" y="2468"/>
              <a:ext cx="218" cy="121"/>
            </a:xfrm>
            <a:custGeom>
              <a:avLst/>
              <a:gdLst>
                <a:gd name="T0" fmla="*/ 101 w 218"/>
                <a:gd name="T1" fmla="*/ 119 h 121"/>
                <a:gd name="T2" fmla="*/ 118 w 218"/>
                <a:gd name="T3" fmla="*/ 119 h 121"/>
                <a:gd name="T4" fmla="*/ 139 w 218"/>
                <a:gd name="T5" fmla="*/ 121 h 121"/>
                <a:gd name="T6" fmla="*/ 161 w 218"/>
                <a:gd name="T7" fmla="*/ 121 h 121"/>
                <a:gd name="T8" fmla="*/ 182 w 218"/>
                <a:gd name="T9" fmla="*/ 118 h 121"/>
                <a:gd name="T10" fmla="*/ 200 w 218"/>
                <a:gd name="T11" fmla="*/ 114 h 121"/>
                <a:gd name="T12" fmla="*/ 212 w 218"/>
                <a:gd name="T13" fmla="*/ 106 h 121"/>
                <a:gd name="T14" fmla="*/ 218 w 218"/>
                <a:gd name="T15" fmla="*/ 92 h 121"/>
                <a:gd name="T16" fmla="*/ 214 w 218"/>
                <a:gd name="T17" fmla="*/ 73 h 121"/>
                <a:gd name="T18" fmla="*/ 208 w 218"/>
                <a:gd name="T19" fmla="*/ 62 h 121"/>
                <a:gd name="T20" fmla="*/ 197 w 218"/>
                <a:gd name="T21" fmla="*/ 49 h 121"/>
                <a:gd name="T22" fmla="*/ 185 w 218"/>
                <a:gd name="T23" fmla="*/ 37 h 121"/>
                <a:gd name="T24" fmla="*/ 169 w 218"/>
                <a:gd name="T25" fmla="*/ 26 h 121"/>
                <a:gd name="T26" fmla="*/ 152 w 218"/>
                <a:gd name="T27" fmla="*/ 16 h 121"/>
                <a:gd name="T28" fmla="*/ 134 w 218"/>
                <a:gd name="T29" fmla="*/ 7 h 121"/>
                <a:gd name="T30" fmla="*/ 117 w 218"/>
                <a:gd name="T31" fmla="*/ 2 h 121"/>
                <a:gd name="T32" fmla="*/ 101 w 218"/>
                <a:gd name="T33" fmla="*/ 0 h 121"/>
                <a:gd name="T34" fmla="*/ 85 w 218"/>
                <a:gd name="T35" fmla="*/ 1 h 121"/>
                <a:gd name="T36" fmla="*/ 68 w 218"/>
                <a:gd name="T37" fmla="*/ 2 h 121"/>
                <a:gd name="T38" fmla="*/ 51 w 218"/>
                <a:gd name="T39" fmla="*/ 6 h 121"/>
                <a:gd name="T40" fmla="*/ 35 w 218"/>
                <a:gd name="T41" fmla="*/ 11 h 121"/>
                <a:gd name="T42" fmla="*/ 21 w 218"/>
                <a:gd name="T43" fmla="*/ 18 h 121"/>
                <a:gd name="T44" fmla="*/ 10 w 218"/>
                <a:gd name="T45" fmla="*/ 26 h 121"/>
                <a:gd name="T46" fmla="*/ 2 w 218"/>
                <a:gd name="T47" fmla="*/ 36 h 121"/>
                <a:gd name="T48" fmla="*/ 0 w 218"/>
                <a:gd name="T49" fmla="*/ 46 h 121"/>
                <a:gd name="T50" fmla="*/ 2 w 218"/>
                <a:gd name="T51" fmla="*/ 58 h 121"/>
                <a:gd name="T52" fmla="*/ 10 w 218"/>
                <a:gd name="T53" fmla="*/ 70 h 121"/>
                <a:gd name="T54" fmla="*/ 21 w 218"/>
                <a:gd name="T55" fmla="*/ 82 h 121"/>
                <a:gd name="T56" fmla="*/ 35 w 218"/>
                <a:gd name="T57" fmla="*/ 94 h 121"/>
                <a:gd name="T58" fmla="*/ 51 w 218"/>
                <a:gd name="T59" fmla="*/ 105 h 121"/>
                <a:gd name="T60" fmla="*/ 68 w 218"/>
                <a:gd name="T61" fmla="*/ 112 h 121"/>
                <a:gd name="T62" fmla="*/ 85 w 218"/>
                <a:gd name="T63" fmla="*/ 117 h 121"/>
                <a:gd name="T64" fmla="*/ 101 w 218"/>
                <a:gd name="T65" fmla="*/ 119 h 12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18"/>
                <a:gd name="T100" fmla="*/ 0 h 121"/>
                <a:gd name="T101" fmla="*/ 218 w 218"/>
                <a:gd name="T102" fmla="*/ 121 h 12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18" h="121">
                  <a:moveTo>
                    <a:pt x="101" y="119"/>
                  </a:moveTo>
                  <a:lnTo>
                    <a:pt x="118" y="119"/>
                  </a:lnTo>
                  <a:lnTo>
                    <a:pt x="139" y="121"/>
                  </a:lnTo>
                  <a:lnTo>
                    <a:pt x="161" y="121"/>
                  </a:lnTo>
                  <a:lnTo>
                    <a:pt x="182" y="118"/>
                  </a:lnTo>
                  <a:lnTo>
                    <a:pt x="200" y="114"/>
                  </a:lnTo>
                  <a:lnTo>
                    <a:pt x="212" y="106"/>
                  </a:lnTo>
                  <a:lnTo>
                    <a:pt x="218" y="92"/>
                  </a:lnTo>
                  <a:lnTo>
                    <a:pt x="214" y="73"/>
                  </a:lnTo>
                  <a:lnTo>
                    <a:pt x="208" y="62"/>
                  </a:lnTo>
                  <a:lnTo>
                    <a:pt x="197" y="49"/>
                  </a:lnTo>
                  <a:lnTo>
                    <a:pt x="185" y="37"/>
                  </a:lnTo>
                  <a:lnTo>
                    <a:pt x="169" y="26"/>
                  </a:lnTo>
                  <a:lnTo>
                    <a:pt x="152" y="16"/>
                  </a:lnTo>
                  <a:lnTo>
                    <a:pt x="134" y="7"/>
                  </a:lnTo>
                  <a:lnTo>
                    <a:pt x="117" y="2"/>
                  </a:lnTo>
                  <a:lnTo>
                    <a:pt x="101" y="0"/>
                  </a:lnTo>
                  <a:lnTo>
                    <a:pt x="85" y="1"/>
                  </a:lnTo>
                  <a:lnTo>
                    <a:pt x="68" y="2"/>
                  </a:lnTo>
                  <a:lnTo>
                    <a:pt x="51" y="6"/>
                  </a:lnTo>
                  <a:lnTo>
                    <a:pt x="35" y="11"/>
                  </a:lnTo>
                  <a:lnTo>
                    <a:pt x="21" y="18"/>
                  </a:lnTo>
                  <a:lnTo>
                    <a:pt x="10" y="26"/>
                  </a:lnTo>
                  <a:lnTo>
                    <a:pt x="2" y="36"/>
                  </a:lnTo>
                  <a:lnTo>
                    <a:pt x="0" y="46"/>
                  </a:lnTo>
                  <a:lnTo>
                    <a:pt x="2" y="58"/>
                  </a:lnTo>
                  <a:lnTo>
                    <a:pt x="10" y="70"/>
                  </a:lnTo>
                  <a:lnTo>
                    <a:pt x="21" y="82"/>
                  </a:lnTo>
                  <a:lnTo>
                    <a:pt x="35" y="94"/>
                  </a:lnTo>
                  <a:lnTo>
                    <a:pt x="51" y="105"/>
                  </a:lnTo>
                  <a:lnTo>
                    <a:pt x="68" y="112"/>
                  </a:lnTo>
                  <a:lnTo>
                    <a:pt x="85" y="117"/>
                  </a:lnTo>
                  <a:lnTo>
                    <a:pt x="101" y="119"/>
                  </a:lnTo>
                  <a:close/>
                </a:path>
              </a:pathLst>
            </a:custGeom>
            <a:solidFill>
              <a:srgbClr val="000000"/>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067" name="Freeform 73"/>
            <p:cNvSpPr>
              <a:spLocks/>
            </p:cNvSpPr>
            <p:nvPr/>
          </p:nvSpPr>
          <p:spPr bwMode="auto">
            <a:xfrm>
              <a:off x="4233" y="2005"/>
              <a:ext cx="1227" cy="687"/>
            </a:xfrm>
            <a:custGeom>
              <a:avLst/>
              <a:gdLst>
                <a:gd name="T0" fmla="*/ 657 w 1227"/>
                <a:gd name="T1" fmla="*/ 31 h 687"/>
                <a:gd name="T2" fmla="*/ 611 w 1227"/>
                <a:gd name="T3" fmla="*/ 36 h 687"/>
                <a:gd name="T4" fmla="*/ 556 w 1227"/>
                <a:gd name="T5" fmla="*/ 41 h 687"/>
                <a:gd name="T6" fmla="*/ 504 w 1227"/>
                <a:gd name="T7" fmla="*/ 44 h 687"/>
                <a:gd name="T8" fmla="*/ 468 w 1227"/>
                <a:gd name="T9" fmla="*/ 47 h 687"/>
                <a:gd name="T10" fmla="*/ 375 w 1227"/>
                <a:gd name="T11" fmla="*/ 9 h 687"/>
                <a:gd name="T12" fmla="*/ 256 w 1227"/>
                <a:gd name="T13" fmla="*/ 48 h 687"/>
                <a:gd name="T14" fmla="*/ 221 w 1227"/>
                <a:gd name="T15" fmla="*/ 62 h 687"/>
                <a:gd name="T16" fmla="*/ 170 w 1227"/>
                <a:gd name="T17" fmla="*/ 87 h 687"/>
                <a:gd name="T18" fmla="*/ 129 w 1227"/>
                <a:gd name="T19" fmla="*/ 137 h 687"/>
                <a:gd name="T20" fmla="*/ 95 w 1227"/>
                <a:gd name="T21" fmla="*/ 222 h 687"/>
                <a:gd name="T22" fmla="*/ 75 w 1227"/>
                <a:gd name="T23" fmla="*/ 309 h 687"/>
                <a:gd name="T24" fmla="*/ 44 w 1227"/>
                <a:gd name="T25" fmla="*/ 316 h 687"/>
                <a:gd name="T26" fmla="*/ 10 w 1227"/>
                <a:gd name="T27" fmla="*/ 320 h 687"/>
                <a:gd name="T28" fmla="*/ 0 w 1227"/>
                <a:gd name="T29" fmla="*/ 339 h 687"/>
                <a:gd name="T30" fmla="*/ 1 w 1227"/>
                <a:gd name="T31" fmla="*/ 368 h 687"/>
                <a:gd name="T32" fmla="*/ 46 w 1227"/>
                <a:gd name="T33" fmla="*/ 426 h 687"/>
                <a:gd name="T34" fmla="*/ 132 w 1227"/>
                <a:gd name="T35" fmla="*/ 474 h 687"/>
                <a:gd name="T36" fmla="*/ 193 w 1227"/>
                <a:gd name="T37" fmla="*/ 502 h 687"/>
                <a:gd name="T38" fmla="*/ 219 w 1227"/>
                <a:gd name="T39" fmla="*/ 518 h 687"/>
                <a:gd name="T40" fmla="*/ 248 w 1227"/>
                <a:gd name="T41" fmla="*/ 539 h 687"/>
                <a:gd name="T42" fmla="*/ 294 w 1227"/>
                <a:gd name="T43" fmla="*/ 565 h 687"/>
                <a:gd name="T44" fmla="*/ 379 w 1227"/>
                <a:gd name="T45" fmla="*/ 577 h 687"/>
                <a:gd name="T46" fmla="*/ 442 w 1227"/>
                <a:gd name="T47" fmla="*/ 592 h 687"/>
                <a:gd name="T48" fmla="*/ 494 w 1227"/>
                <a:gd name="T49" fmla="*/ 639 h 687"/>
                <a:gd name="T50" fmla="*/ 562 w 1227"/>
                <a:gd name="T51" fmla="*/ 672 h 687"/>
                <a:gd name="T52" fmla="*/ 631 w 1227"/>
                <a:gd name="T53" fmla="*/ 686 h 687"/>
                <a:gd name="T54" fmla="*/ 681 w 1227"/>
                <a:gd name="T55" fmla="*/ 686 h 687"/>
                <a:gd name="T56" fmla="*/ 710 w 1227"/>
                <a:gd name="T57" fmla="*/ 680 h 687"/>
                <a:gd name="T58" fmla="*/ 728 w 1227"/>
                <a:gd name="T59" fmla="*/ 676 h 687"/>
                <a:gd name="T60" fmla="*/ 798 w 1227"/>
                <a:gd name="T61" fmla="*/ 665 h 687"/>
                <a:gd name="T62" fmla="*/ 903 w 1227"/>
                <a:gd name="T63" fmla="*/ 650 h 687"/>
                <a:gd name="T64" fmla="*/ 1015 w 1227"/>
                <a:gd name="T65" fmla="*/ 633 h 687"/>
                <a:gd name="T66" fmla="*/ 1110 w 1227"/>
                <a:gd name="T67" fmla="*/ 621 h 687"/>
                <a:gd name="T68" fmla="*/ 1197 w 1227"/>
                <a:gd name="T69" fmla="*/ 600 h 687"/>
                <a:gd name="T70" fmla="*/ 1221 w 1227"/>
                <a:gd name="T71" fmla="*/ 478 h 687"/>
                <a:gd name="T72" fmla="*/ 1176 w 1227"/>
                <a:gd name="T73" fmla="*/ 362 h 687"/>
                <a:gd name="T74" fmla="*/ 960 w 1227"/>
                <a:gd name="T75" fmla="*/ 272 h 687"/>
                <a:gd name="T76" fmla="*/ 891 w 1227"/>
                <a:gd name="T77" fmla="*/ 199 h 687"/>
                <a:gd name="T78" fmla="*/ 812 w 1227"/>
                <a:gd name="T79" fmla="*/ 105 h 687"/>
                <a:gd name="T80" fmla="*/ 774 w 1227"/>
                <a:gd name="T81" fmla="*/ 48 h 687"/>
                <a:gd name="T82" fmla="*/ 722 w 1227"/>
                <a:gd name="T83" fmla="*/ 23 h 687"/>
                <a:gd name="T84" fmla="*/ 675 w 1227"/>
                <a:gd name="T85" fmla="*/ 26 h 68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227"/>
                <a:gd name="T130" fmla="*/ 0 h 687"/>
                <a:gd name="T131" fmla="*/ 1227 w 1227"/>
                <a:gd name="T132" fmla="*/ 687 h 68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227" h="687">
                  <a:moveTo>
                    <a:pt x="675" y="26"/>
                  </a:moveTo>
                  <a:lnTo>
                    <a:pt x="668" y="28"/>
                  </a:lnTo>
                  <a:lnTo>
                    <a:pt x="657" y="31"/>
                  </a:lnTo>
                  <a:lnTo>
                    <a:pt x="643" y="32"/>
                  </a:lnTo>
                  <a:lnTo>
                    <a:pt x="628" y="34"/>
                  </a:lnTo>
                  <a:lnTo>
                    <a:pt x="611" y="36"/>
                  </a:lnTo>
                  <a:lnTo>
                    <a:pt x="594" y="38"/>
                  </a:lnTo>
                  <a:lnTo>
                    <a:pt x="574" y="39"/>
                  </a:lnTo>
                  <a:lnTo>
                    <a:pt x="556" y="41"/>
                  </a:lnTo>
                  <a:lnTo>
                    <a:pt x="537" y="42"/>
                  </a:lnTo>
                  <a:lnTo>
                    <a:pt x="520" y="43"/>
                  </a:lnTo>
                  <a:lnTo>
                    <a:pt x="504" y="44"/>
                  </a:lnTo>
                  <a:lnTo>
                    <a:pt x="490" y="46"/>
                  </a:lnTo>
                  <a:lnTo>
                    <a:pt x="478" y="46"/>
                  </a:lnTo>
                  <a:lnTo>
                    <a:pt x="468" y="47"/>
                  </a:lnTo>
                  <a:lnTo>
                    <a:pt x="463" y="47"/>
                  </a:lnTo>
                  <a:lnTo>
                    <a:pt x="461" y="47"/>
                  </a:lnTo>
                  <a:lnTo>
                    <a:pt x="375" y="9"/>
                  </a:lnTo>
                  <a:lnTo>
                    <a:pt x="341" y="0"/>
                  </a:lnTo>
                  <a:lnTo>
                    <a:pt x="260" y="47"/>
                  </a:lnTo>
                  <a:lnTo>
                    <a:pt x="256" y="48"/>
                  </a:lnTo>
                  <a:lnTo>
                    <a:pt x="249" y="50"/>
                  </a:lnTo>
                  <a:lnTo>
                    <a:pt x="237" y="55"/>
                  </a:lnTo>
                  <a:lnTo>
                    <a:pt x="221" y="62"/>
                  </a:lnTo>
                  <a:lnTo>
                    <a:pt x="203" y="69"/>
                  </a:lnTo>
                  <a:lnTo>
                    <a:pt x="187" y="78"/>
                  </a:lnTo>
                  <a:lnTo>
                    <a:pt x="170" y="87"/>
                  </a:lnTo>
                  <a:lnTo>
                    <a:pt x="156" y="99"/>
                  </a:lnTo>
                  <a:lnTo>
                    <a:pt x="143" y="115"/>
                  </a:lnTo>
                  <a:lnTo>
                    <a:pt x="129" y="137"/>
                  </a:lnTo>
                  <a:lnTo>
                    <a:pt x="117" y="163"/>
                  </a:lnTo>
                  <a:lnTo>
                    <a:pt x="105" y="191"/>
                  </a:lnTo>
                  <a:lnTo>
                    <a:pt x="95" y="222"/>
                  </a:lnTo>
                  <a:lnTo>
                    <a:pt x="86" y="252"/>
                  </a:lnTo>
                  <a:lnTo>
                    <a:pt x="80" y="282"/>
                  </a:lnTo>
                  <a:lnTo>
                    <a:pt x="75" y="309"/>
                  </a:lnTo>
                  <a:lnTo>
                    <a:pt x="68" y="313"/>
                  </a:lnTo>
                  <a:lnTo>
                    <a:pt x="57" y="315"/>
                  </a:lnTo>
                  <a:lnTo>
                    <a:pt x="44" y="316"/>
                  </a:lnTo>
                  <a:lnTo>
                    <a:pt x="32" y="316"/>
                  </a:lnTo>
                  <a:lnTo>
                    <a:pt x="20" y="318"/>
                  </a:lnTo>
                  <a:lnTo>
                    <a:pt x="10" y="320"/>
                  </a:lnTo>
                  <a:lnTo>
                    <a:pt x="4" y="325"/>
                  </a:lnTo>
                  <a:lnTo>
                    <a:pt x="1" y="331"/>
                  </a:lnTo>
                  <a:lnTo>
                    <a:pt x="0" y="339"/>
                  </a:lnTo>
                  <a:lnTo>
                    <a:pt x="0" y="347"/>
                  </a:lnTo>
                  <a:lnTo>
                    <a:pt x="0" y="357"/>
                  </a:lnTo>
                  <a:lnTo>
                    <a:pt x="1" y="368"/>
                  </a:lnTo>
                  <a:lnTo>
                    <a:pt x="9" y="389"/>
                  </a:lnTo>
                  <a:lnTo>
                    <a:pt x="23" y="408"/>
                  </a:lnTo>
                  <a:lnTo>
                    <a:pt x="46" y="426"/>
                  </a:lnTo>
                  <a:lnTo>
                    <a:pt x="71" y="443"/>
                  </a:lnTo>
                  <a:lnTo>
                    <a:pt x="101" y="459"/>
                  </a:lnTo>
                  <a:lnTo>
                    <a:pt x="132" y="474"/>
                  </a:lnTo>
                  <a:lnTo>
                    <a:pt x="160" y="486"/>
                  </a:lnTo>
                  <a:lnTo>
                    <a:pt x="186" y="497"/>
                  </a:lnTo>
                  <a:lnTo>
                    <a:pt x="193" y="502"/>
                  </a:lnTo>
                  <a:lnTo>
                    <a:pt x="201" y="507"/>
                  </a:lnTo>
                  <a:lnTo>
                    <a:pt x="209" y="512"/>
                  </a:lnTo>
                  <a:lnTo>
                    <a:pt x="219" y="518"/>
                  </a:lnTo>
                  <a:lnTo>
                    <a:pt x="228" y="526"/>
                  </a:lnTo>
                  <a:lnTo>
                    <a:pt x="238" y="532"/>
                  </a:lnTo>
                  <a:lnTo>
                    <a:pt x="248" y="539"/>
                  </a:lnTo>
                  <a:lnTo>
                    <a:pt x="257" y="547"/>
                  </a:lnTo>
                  <a:lnTo>
                    <a:pt x="272" y="558"/>
                  </a:lnTo>
                  <a:lnTo>
                    <a:pt x="294" y="565"/>
                  </a:lnTo>
                  <a:lnTo>
                    <a:pt x="322" y="571"/>
                  </a:lnTo>
                  <a:lnTo>
                    <a:pt x="351" y="575"/>
                  </a:lnTo>
                  <a:lnTo>
                    <a:pt x="379" y="577"/>
                  </a:lnTo>
                  <a:lnTo>
                    <a:pt x="407" y="581"/>
                  </a:lnTo>
                  <a:lnTo>
                    <a:pt x="427" y="585"/>
                  </a:lnTo>
                  <a:lnTo>
                    <a:pt x="442" y="592"/>
                  </a:lnTo>
                  <a:lnTo>
                    <a:pt x="457" y="609"/>
                  </a:lnTo>
                  <a:lnTo>
                    <a:pt x="474" y="625"/>
                  </a:lnTo>
                  <a:lnTo>
                    <a:pt x="494" y="639"/>
                  </a:lnTo>
                  <a:lnTo>
                    <a:pt x="515" y="653"/>
                  </a:lnTo>
                  <a:lnTo>
                    <a:pt x="538" y="664"/>
                  </a:lnTo>
                  <a:lnTo>
                    <a:pt x="562" y="672"/>
                  </a:lnTo>
                  <a:lnTo>
                    <a:pt x="586" y="678"/>
                  </a:lnTo>
                  <a:lnTo>
                    <a:pt x="612" y="682"/>
                  </a:lnTo>
                  <a:lnTo>
                    <a:pt x="631" y="686"/>
                  </a:lnTo>
                  <a:lnTo>
                    <a:pt x="649" y="687"/>
                  </a:lnTo>
                  <a:lnTo>
                    <a:pt x="665" y="687"/>
                  </a:lnTo>
                  <a:lnTo>
                    <a:pt x="681" y="686"/>
                  </a:lnTo>
                  <a:lnTo>
                    <a:pt x="694" y="683"/>
                  </a:lnTo>
                  <a:lnTo>
                    <a:pt x="703" y="681"/>
                  </a:lnTo>
                  <a:lnTo>
                    <a:pt x="710" y="680"/>
                  </a:lnTo>
                  <a:lnTo>
                    <a:pt x="712" y="678"/>
                  </a:lnTo>
                  <a:lnTo>
                    <a:pt x="716" y="677"/>
                  </a:lnTo>
                  <a:lnTo>
                    <a:pt x="728" y="676"/>
                  </a:lnTo>
                  <a:lnTo>
                    <a:pt x="747" y="674"/>
                  </a:lnTo>
                  <a:lnTo>
                    <a:pt x="770" y="670"/>
                  </a:lnTo>
                  <a:lnTo>
                    <a:pt x="798" y="665"/>
                  </a:lnTo>
                  <a:lnTo>
                    <a:pt x="832" y="660"/>
                  </a:lnTo>
                  <a:lnTo>
                    <a:pt x="866" y="655"/>
                  </a:lnTo>
                  <a:lnTo>
                    <a:pt x="903" y="650"/>
                  </a:lnTo>
                  <a:lnTo>
                    <a:pt x="941" y="644"/>
                  </a:lnTo>
                  <a:lnTo>
                    <a:pt x="978" y="639"/>
                  </a:lnTo>
                  <a:lnTo>
                    <a:pt x="1015" y="633"/>
                  </a:lnTo>
                  <a:lnTo>
                    <a:pt x="1050" y="628"/>
                  </a:lnTo>
                  <a:lnTo>
                    <a:pt x="1082" y="624"/>
                  </a:lnTo>
                  <a:lnTo>
                    <a:pt x="1110" y="621"/>
                  </a:lnTo>
                  <a:lnTo>
                    <a:pt x="1132" y="618"/>
                  </a:lnTo>
                  <a:lnTo>
                    <a:pt x="1149" y="616"/>
                  </a:lnTo>
                  <a:lnTo>
                    <a:pt x="1197" y="600"/>
                  </a:lnTo>
                  <a:lnTo>
                    <a:pt x="1221" y="568"/>
                  </a:lnTo>
                  <a:lnTo>
                    <a:pt x="1227" y="525"/>
                  </a:lnTo>
                  <a:lnTo>
                    <a:pt x="1221" y="478"/>
                  </a:lnTo>
                  <a:lnTo>
                    <a:pt x="1206" y="431"/>
                  </a:lnTo>
                  <a:lnTo>
                    <a:pt x="1190" y="390"/>
                  </a:lnTo>
                  <a:lnTo>
                    <a:pt x="1176" y="362"/>
                  </a:lnTo>
                  <a:lnTo>
                    <a:pt x="1170" y="351"/>
                  </a:lnTo>
                  <a:lnTo>
                    <a:pt x="966" y="278"/>
                  </a:lnTo>
                  <a:lnTo>
                    <a:pt x="960" y="272"/>
                  </a:lnTo>
                  <a:lnTo>
                    <a:pt x="942" y="255"/>
                  </a:lnTo>
                  <a:lnTo>
                    <a:pt x="919" y="230"/>
                  </a:lnTo>
                  <a:lnTo>
                    <a:pt x="891" y="199"/>
                  </a:lnTo>
                  <a:lnTo>
                    <a:pt x="861" y="167"/>
                  </a:lnTo>
                  <a:lnTo>
                    <a:pt x="834" y="134"/>
                  </a:lnTo>
                  <a:lnTo>
                    <a:pt x="812" y="105"/>
                  </a:lnTo>
                  <a:lnTo>
                    <a:pt x="798" y="81"/>
                  </a:lnTo>
                  <a:lnTo>
                    <a:pt x="788" y="63"/>
                  </a:lnTo>
                  <a:lnTo>
                    <a:pt x="774" y="48"/>
                  </a:lnTo>
                  <a:lnTo>
                    <a:pt x="758" y="37"/>
                  </a:lnTo>
                  <a:lnTo>
                    <a:pt x="740" y="28"/>
                  </a:lnTo>
                  <a:lnTo>
                    <a:pt x="722" y="23"/>
                  </a:lnTo>
                  <a:lnTo>
                    <a:pt x="705" y="21"/>
                  </a:lnTo>
                  <a:lnTo>
                    <a:pt x="689" y="22"/>
                  </a:lnTo>
                  <a:lnTo>
                    <a:pt x="675" y="26"/>
                  </a:lnTo>
                  <a:close/>
                </a:path>
              </a:pathLst>
            </a:custGeom>
            <a:solidFill>
              <a:srgbClr val="000000"/>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068" name="Freeform 74"/>
            <p:cNvSpPr>
              <a:spLocks/>
            </p:cNvSpPr>
            <p:nvPr/>
          </p:nvSpPr>
          <p:spPr bwMode="auto">
            <a:xfrm>
              <a:off x="4339" y="2041"/>
              <a:ext cx="1079" cy="586"/>
            </a:xfrm>
            <a:custGeom>
              <a:avLst/>
              <a:gdLst>
                <a:gd name="T0" fmla="*/ 579 w 1079"/>
                <a:gd name="T1" fmla="*/ 23 h 586"/>
                <a:gd name="T2" fmla="*/ 527 w 1079"/>
                <a:gd name="T3" fmla="*/ 28 h 586"/>
                <a:gd name="T4" fmla="*/ 467 w 1079"/>
                <a:gd name="T5" fmla="*/ 33 h 586"/>
                <a:gd name="T6" fmla="*/ 424 w 1079"/>
                <a:gd name="T7" fmla="*/ 35 h 586"/>
                <a:gd name="T8" fmla="*/ 342 w 1079"/>
                <a:gd name="T9" fmla="*/ 38 h 586"/>
                <a:gd name="T10" fmla="*/ 156 w 1079"/>
                <a:gd name="T11" fmla="*/ 40 h 586"/>
                <a:gd name="T12" fmla="*/ 145 w 1079"/>
                <a:gd name="T13" fmla="*/ 43 h 586"/>
                <a:gd name="T14" fmla="*/ 121 w 1079"/>
                <a:gd name="T15" fmla="*/ 51 h 586"/>
                <a:gd name="T16" fmla="*/ 90 w 1079"/>
                <a:gd name="T17" fmla="*/ 64 h 586"/>
                <a:gd name="T18" fmla="*/ 64 w 1079"/>
                <a:gd name="T19" fmla="*/ 80 h 586"/>
                <a:gd name="T20" fmla="*/ 48 w 1079"/>
                <a:gd name="T21" fmla="*/ 102 h 586"/>
                <a:gd name="T22" fmla="*/ 36 w 1079"/>
                <a:gd name="T23" fmla="*/ 138 h 586"/>
                <a:gd name="T24" fmla="*/ 27 w 1079"/>
                <a:gd name="T25" fmla="*/ 181 h 586"/>
                <a:gd name="T26" fmla="*/ 20 w 1079"/>
                <a:gd name="T27" fmla="*/ 229 h 586"/>
                <a:gd name="T28" fmla="*/ 5 w 1079"/>
                <a:gd name="T29" fmla="*/ 246 h 586"/>
                <a:gd name="T30" fmla="*/ 1 w 1079"/>
                <a:gd name="T31" fmla="*/ 268 h 586"/>
                <a:gd name="T32" fmla="*/ 0 w 1079"/>
                <a:gd name="T33" fmla="*/ 280 h 586"/>
                <a:gd name="T34" fmla="*/ 1 w 1079"/>
                <a:gd name="T35" fmla="*/ 295 h 586"/>
                <a:gd name="T36" fmla="*/ 21 w 1079"/>
                <a:gd name="T37" fmla="*/ 326 h 586"/>
                <a:gd name="T38" fmla="*/ 63 w 1079"/>
                <a:gd name="T39" fmla="*/ 353 h 586"/>
                <a:gd name="T40" fmla="*/ 113 w 1079"/>
                <a:gd name="T41" fmla="*/ 376 h 586"/>
                <a:gd name="T42" fmla="*/ 160 w 1079"/>
                <a:gd name="T43" fmla="*/ 394 h 586"/>
                <a:gd name="T44" fmla="*/ 174 w 1079"/>
                <a:gd name="T45" fmla="*/ 402 h 586"/>
                <a:gd name="T46" fmla="*/ 188 w 1079"/>
                <a:gd name="T47" fmla="*/ 411 h 586"/>
                <a:gd name="T48" fmla="*/ 204 w 1079"/>
                <a:gd name="T49" fmla="*/ 421 h 586"/>
                <a:gd name="T50" fmla="*/ 220 w 1079"/>
                <a:gd name="T51" fmla="*/ 432 h 586"/>
                <a:gd name="T52" fmla="*/ 240 w 1079"/>
                <a:gd name="T53" fmla="*/ 453 h 586"/>
                <a:gd name="T54" fmla="*/ 261 w 1079"/>
                <a:gd name="T55" fmla="*/ 475 h 586"/>
                <a:gd name="T56" fmla="*/ 281 w 1079"/>
                <a:gd name="T57" fmla="*/ 496 h 586"/>
                <a:gd name="T58" fmla="*/ 299 w 1079"/>
                <a:gd name="T59" fmla="*/ 512 h 586"/>
                <a:gd name="T60" fmla="*/ 331 w 1079"/>
                <a:gd name="T61" fmla="*/ 535 h 586"/>
                <a:gd name="T62" fmla="*/ 378 w 1079"/>
                <a:gd name="T63" fmla="*/ 550 h 586"/>
                <a:gd name="T64" fmla="*/ 429 w 1079"/>
                <a:gd name="T65" fmla="*/ 561 h 586"/>
                <a:gd name="T66" fmla="*/ 477 w 1079"/>
                <a:gd name="T67" fmla="*/ 567 h 586"/>
                <a:gd name="T68" fmla="*/ 505 w 1079"/>
                <a:gd name="T69" fmla="*/ 575 h 586"/>
                <a:gd name="T70" fmla="*/ 528 w 1079"/>
                <a:gd name="T71" fmla="*/ 580 h 586"/>
                <a:gd name="T72" fmla="*/ 544 w 1079"/>
                <a:gd name="T73" fmla="*/ 585 h 586"/>
                <a:gd name="T74" fmla="*/ 551 w 1079"/>
                <a:gd name="T75" fmla="*/ 586 h 586"/>
                <a:gd name="T76" fmla="*/ 569 w 1079"/>
                <a:gd name="T77" fmla="*/ 585 h 586"/>
                <a:gd name="T78" fmla="*/ 618 w 1079"/>
                <a:gd name="T79" fmla="*/ 582 h 586"/>
                <a:gd name="T80" fmla="*/ 689 w 1079"/>
                <a:gd name="T81" fmla="*/ 578 h 586"/>
                <a:gd name="T82" fmla="*/ 771 w 1079"/>
                <a:gd name="T83" fmla="*/ 573 h 586"/>
                <a:gd name="T84" fmla="*/ 856 w 1079"/>
                <a:gd name="T85" fmla="*/ 569 h 586"/>
                <a:gd name="T86" fmla="*/ 936 w 1079"/>
                <a:gd name="T87" fmla="*/ 564 h 586"/>
                <a:gd name="T88" fmla="*/ 999 w 1079"/>
                <a:gd name="T89" fmla="*/ 560 h 586"/>
                <a:gd name="T90" fmla="*/ 1038 w 1079"/>
                <a:gd name="T91" fmla="*/ 557 h 586"/>
                <a:gd name="T92" fmla="*/ 1070 w 1079"/>
                <a:gd name="T93" fmla="*/ 529 h 586"/>
                <a:gd name="T94" fmla="*/ 1079 w 1079"/>
                <a:gd name="T95" fmla="*/ 470 h 586"/>
                <a:gd name="T96" fmla="*/ 1075 w 1079"/>
                <a:gd name="T97" fmla="*/ 413 h 586"/>
                <a:gd name="T98" fmla="*/ 1072 w 1079"/>
                <a:gd name="T99" fmla="*/ 388 h 586"/>
                <a:gd name="T100" fmla="*/ 829 w 1079"/>
                <a:gd name="T101" fmla="*/ 289 h 586"/>
                <a:gd name="T102" fmla="*/ 792 w 1079"/>
                <a:gd name="T103" fmla="*/ 239 h 586"/>
                <a:gd name="T104" fmla="*/ 742 w 1079"/>
                <a:gd name="T105" fmla="*/ 166 h 586"/>
                <a:gd name="T106" fmla="*/ 698 w 1079"/>
                <a:gd name="T107" fmla="*/ 101 h 586"/>
                <a:gd name="T108" fmla="*/ 678 w 1079"/>
                <a:gd name="T109" fmla="*/ 65 h 586"/>
                <a:gd name="T110" fmla="*/ 654 w 1079"/>
                <a:gd name="T111" fmla="*/ 40 h 586"/>
                <a:gd name="T112" fmla="*/ 628 w 1079"/>
                <a:gd name="T113" fmla="*/ 24 h 586"/>
                <a:gd name="T114" fmla="*/ 605 w 1079"/>
                <a:gd name="T115" fmla="*/ 17 h 58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079"/>
                <a:gd name="T175" fmla="*/ 0 h 586"/>
                <a:gd name="T176" fmla="*/ 1079 w 1079"/>
                <a:gd name="T177" fmla="*/ 586 h 58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079" h="586">
                  <a:moveTo>
                    <a:pt x="594" y="19"/>
                  </a:moveTo>
                  <a:lnTo>
                    <a:pt x="579" y="23"/>
                  </a:lnTo>
                  <a:lnTo>
                    <a:pt x="556" y="26"/>
                  </a:lnTo>
                  <a:lnTo>
                    <a:pt x="527" y="28"/>
                  </a:lnTo>
                  <a:lnTo>
                    <a:pt x="496" y="30"/>
                  </a:lnTo>
                  <a:lnTo>
                    <a:pt x="467" y="33"/>
                  </a:lnTo>
                  <a:lnTo>
                    <a:pt x="441" y="34"/>
                  </a:lnTo>
                  <a:lnTo>
                    <a:pt x="424" y="35"/>
                  </a:lnTo>
                  <a:lnTo>
                    <a:pt x="418" y="35"/>
                  </a:lnTo>
                  <a:lnTo>
                    <a:pt x="342" y="38"/>
                  </a:lnTo>
                  <a:lnTo>
                    <a:pt x="223" y="0"/>
                  </a:lnTo>
                  <a:lnTo>
                    <a:pt x="156" y="40"/>
                  </a:lnTo>
                  <a:lnTo>
                    <a:pt x="154" y="42"/>
                  </a:lnTo>
                  <a:lnTo>
                    <a:pt x="145" y="43"/>
                  </a:lnTo>
                  <a:lnTo>
                    <a:pt x="134" y="46"/>
                  </a:lnTo>
                  <a:lnTo>
                    <a:pt x="121" y="51"/>
                  </a:lnTo>
                  <a:lnTo>
                    <a:pt x="105" y="58"/>
                  </a:lnTo>
                  <a:lnTo>
                    <a:pt x="90" y="64"/>
                  </a:lnTo>
                  <a:lnTo>
                    <a:pt x="76" y="71"/>
                  </a:lnTo>
                  <a:lnTo>
                    <a:pt x="64" y="80"/>
                  </a:lnTo>
                  <a:lnTo>
                    <a:pt x="55" y="90"/>
                  </a:lnTo>
                  <a:lnTo>
                    <a:pt x="48" y="102"/>
                  </a:lnTo>
                  <a:lnTo>
                    <a:pt x="41" y="119"/>
                  </a:lnTo>
                  <a:lnTo>
                    <a:pt x="36" y="138"/>
                  </a:lnTo>
                  <a:lnTo>
                    <a:pt x="31" y="159"/>
                  </a:lnTo>
                  <a:lnTo>
                    <a:pt x="27" y="181"/>
                  </a:lnTo>
                  <a:lnTo>
                    <a:pt x="23" y="205"/>
                  </a:lnTo>
                  <a:lnTo>
                    <a:pt x="20" y="229"/>
                  </a:lnTo>
                  <a:lnTo>
                    <a:pt x="10" y="236"/>
                  </a:lnTo>
                  <a:lnTo>
                    <a:pt x="5" y="246"/>
                  </a:lnTo>
                  <a:lnTo>
                    <a:pt x="1" y="256"/>
                  </a:lnTo>
                  <a:lnTo>
                    <a:pt x="1" y="268"/>
                  </a:lnTo>
                  <a:lnTo>
                    <a:pt x="0" y="274"/>
                  </a:lnTo>
                  <a:lnTo>
                    <a:pt x="0" y="280"/>
                  </a:lnTo>
                  <a:lnTo>
                    <a:pt x="0" y="288"/>
                  </a:lnTo>
                  <a:lnTo>
                    <a:pt x="1" y="295"/>
                  </a:lnTo>
                  <a:lnTo>
                    <a:pt x="7" y="311"/>
                  </a:lnTo>
                  <a:lnTo>
                    <a:pt x="21" y="326"/>
                  </a:lnTo>
                  <a:lnTo>
                    <a:pt x="39" y="340"/>
                  </a:lnTo>
                  <a:lnTo>
                    <a:pt x="63" y="353"/>
                  </a:lnTo>
                  <a:lnTo>
                    <a:pt x="87" y="365"/>
                  </a:lnTo>
                  <a:lnTo>
                    <a:pt x="113" y="376"/>
                  </a:lnTo>
                  <a:lnTo>
                    <a:pt x="138" y="385"/>
                  </a:lnTo>
                  <a:lnTo>
                    <a:pt x="160" y="394"/>
                  </a:lnTo>
                  <a:lnTo>
                    <a:pt x="166" y="397"/>
                  </a:lnTo>
                  <a:lnTo>
                    <a:pt x="174" y="402"/>
                  </a:lnTo>
                  <a:lnTo>
                    <a:pt x="180" y="406"/>
                  </a:lnTo>
                  <a:lnTo>
                    <a:pt x="188" y="411"/>
                  </a:lnTo>
                  <a:lnTo>
                    <a:pt x="196" y="416"/>
                  </a:lnTo>
                  <a:lnTo>
                    <a:pt x="204" y="421"/>
                  </a:lnTo>
                  <a:lnTo>
                    <a:pt x="212" y="427"/>
                  </a:lnTo>
                  <a:lnTo>
                    <a:pt x="220" y="432"/>
                  </a:lnTo>
                  <a:lnTo>
                    <a:pt x="230" y="443"/>
                  </a:lnTo>
                  <a:lnTo>
                    <a:pt x="240" y="453"/>
                  </a:lnTo>
                  <a:lnTo>
                    <a:pt x="250" y="465"/>
                  </a:lnTo>
                  <a:lnTo>
                    <a:pt x="261" y="475"/>
                  </a:lnTo>
                  <a:lnTo>
                    <a:pt x="271" y="486"/>
                  </a:lnTo>
                  <a:lnTo>
                    <a:pt x="281" y="496"/>
                  </a:lnTo>
                  <a:lnTo>
                    <a:pt x="291" y="505"/>
                  </a:lnTo>
                  <a:lnTo>
                    <a:pt x="299" y="512"/>
                  </a:lnTo>
                  <a:lnTo>
                    <a:pt x="313" y="524"/>
                  </a:lnTo>
                  <a:lnTo>
                    <a:pt x="331" y="535"/>
                  </a:lnTo>
                  <a:lnTo>
                    <a:pt x="354" y="544"/>
                  </a:lnTo>
                  <a:lnTo>
                    <a:pt x="378" y="550"/>
                  </a:lnTo>
                  <a:lnTo>
                    <a:pt x="403" y="556"/>
                  </a:lnTo>
                  <a:lnTo>
                    <a:pt x="429" y="561"/>
                  </a:lnTo>
                  <a:lnTo>
                    <a:pt x="453" y="565"/>
                  </a:lnTo>
                  <a:lnTo>
                    <a:pt x="477" y="567"/>
                  </a:lnTo>
                  <a:lnTo>
                    <a:pt x="491" y="571"/>
                  </a:lnTo>
                  <a:lnTo>
                    <a:pt x="505" y="575"/>
                  </a:lnTo>
                  <a:lnTo>
                    <a:pt x="517" y="577"/>
                  </a:lnTo>
                  <a:lnTo>
                    <a:pt x="528" y="580"/>
                  </a:lnTo>
                  <a:lnTo>
                    <a:pt x="538" y="582"/>
                  </a:lnTo>
                  <a:lnTo>
                    <a:pt x="544" y="585"/>
                  </a:lnTo>
                  <a:lnTo>
                    <a:pt x="549" y="586"/>
                  </a:lnTo>
                  <a:lnTo>
                    <a:pt x="551" y="586"/>
                  </a:lnTo>
                  <a:lnTo>
                    <a:pt x="556" y="586"/>
                  </a:lnTo>
                  <a:lnTo>
                    <a:pt x="569" y="585"/>
                  </a:lnTo>
                  <a:lnTo>
                    <a:pt x="590" y="583"/>
                  </a:lnTo>
                  <a:lnTo>
                    <a:pt x="618" y="582"/>
                  </a:lnTo>
                  <a:lnTo>
                    <a:pt x="652" y="580"/>
                  </a:lnTo>
                  <a:lnTo>
                    <a:pt x="689" y="578"/>
                  </a:lnTo>
                  <a:lnTo>
                    <a:pt x="729" y="576"/>
                  </a:lnTo>
                  <a:lnTo>
                    <a:pt x="771" y="573"/>
                  </a:lnTo>
                  <a:lnTo>
                    <a:pt x="814" y="571"/>
                  </a:lnTo>
                  <a:lnTo>
                    <a:pt x="856" y="569"/>
                  </a:lnTo>
                  <a:lnTo>
                    <a:pt x="898" y="566"/>
                  </a:lnTo>
                  <a:lnTo>
                    <a:pt x="936" y="564"/>
                  </a:lnTo>
                  <a:lnTo>
                    <a:pt x="971" y="562"/>
                  </a:lnTo>
                  <a:lnTo>
                    <a:pt x="999" y="560"/>
                  </a:lnTo>
                  <a:lnTo>
                    <a:pt x="1022" y="559"/>
                  </a:lnTo>
                  <a:lnTo>
                    <a:pt x="1038" y="557"/>
                  </a:lnTo>
                  <a:lnTo>
                    <a:pt x="1058" y="549"/>
                  </a:lnTo>
                  <a:lnTo>
                    <a:pt x="1070" y="529"/>
                  </a:lnTo>
                  <a:lnTo>
                    <a:pt x="1077" y="502"/>
                  </a:lnTo>
                  <a:lnTo>
                    <a:pt x="1079" y="470"/>
                  </a:lnTo>
                  <a:lnTo>
                    <a:pt x="1078" y="441"/>
                  </a:lnTo>
                  <a:lnTo>
                    <a:pt x="1075" y="413"/>
                  </a:lnTo>
                  <a:lnTo>
                    <a:pt x="1073" y="395"/>
                  </a:lnTo>
                  <a:lnTo>
                    <a:pt x="1072" y="388"/>
                  </a:lnTo>
                  <a:lnTo>
                    <a:pt x="834" y="296"/>
                  </a:lnTo>
                  <a:lnTo>
                    <a:pt x="829" y="289"/>
                  </a:lnTo>
                  <a:lnTo>
                    <a:pt x="814" y="268"/>
                  </a:lnTo>
                  <a:lnTo>
                    <a:pt x="792" y="239"/>
                  </a:lnTo>
                  <a:lnTo>
                    <a:pt x="767" y="203"/>
                  </a:lnTo>
                  <a:lnTo>
                    <a:pt x="742" y="166"/>
                  </a:lnTo>
                  <a:lnTo>
                    <a:pt x="718" y="130"/>
                  </a:lnTo>
                  <a:lnTo>
                    <a:pt x="698" y="101"/>
                  </a:lnTo>
                  <a:lnTo>
                    <a:pt x="686" y="80"/>
                  </a:lnTo>
                  <a:lnTo>
                    <a:pt x="678" y="65"/>
                  </a:lnTo>
                  <a:lnTo>
                    <a:pt x="666" y="53"/>
                  </a:lnTo>
                  <a:lnTo>
                    <a:pt x="654" y="40"/>
                  </a:lnTo>
                  <a:lnTo>
                    <a:pt x="642" y="30"/>
                  </a:lnTo>
                  <a:lnTo>
                    <a:pt x="628" y="24"/>
                  </a:lnTo>
                  <a:lnTo>
                    <a:pt x="616" y="19"/>
                  </a:lnTo>
                  <a:lnTo>
                    <a:pt x="605" y="17"/>
                  </a:lnTo>
                  <a:lnTo>
                    <a:pt x="594" y="19"/>
                  </a:lnTo>
                  <a:close/>
                </a:path>
              </a:pathLst>
            </a:custGeom>
            <a:solidFill>
              <a:srgbClr val="4C8C8C"/>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069" name="Freeform 75"/>
            <p:cNvSpPr>
              <a:spLocks/>
            </p:cNvSpPr>
            <p:nvPr/>
          </p:nvSpPr>
          <p:spPr bwMode="auto">
            <a:xfrm>
              <a:off x="4575" y="2101"/>
              <a:ext cx="58" cy="121"/>
            </a:xfrm>
            <a:custGeom>
              <a:avLst/>
              <a:gdLst>
                <a:gd name="T0" fmla="*/ 31 w 58"/>
                <a:gd name="T1" fmla="*/ 121 h 121"/>
                <a:gd name="T2" fmla="*/ 30 w 58"/>
                <a:gd name="T3" fmla="*/ 112 h 121"/>
                <a:gd name="T4" fmla="*/ 26 w 58"/>
                <a:gd name="T5" fmla="*/ 91 h 121"/>
                <a:gd name="T6" fmla="*/ 18 w 58"/>
                <a:gd name="T7" fmla="*/ 69 h 121"/>
                <a:gd name="T8" fmla="*/ 7 w 58"/>
                <a:gd name="T9" fmla="*/ 52 h 121"/>
                <a:gd name="T10" fmla="*/ 2 w 58"/>
                <a:gd name="T11" fmla="*/ 47 h 121"/>
                <a:gd name="T12" fmla="*/ 0 w 58"/>
                <a:gd name="T13" fmla="*/ 43 h 121"/>
                <a:gd name="T14" fmla="*/ 2 w 58"/>
                <a:gd name="T15" fmla="*/ 39 h 121"/>
                <a:gd name="T16" fmla="*/ 5 w 58"/>
                <a:gd name="T17" fmla="*/ 37 h 121"/>
                <a:gd name="T18" fmla="*/ 10 w 58"/>
                <a:gd name="T19" fmla="*/ 35 h 121"/>
                <a:gd name="T20" fmla="*/ 17 w 58"/>
                <a:gd name="T21" fmla="*/ 32 h 121"/>
                <a:gd name="T22" fmla="*/ 21 w 58"/>
                <a:gd name="T23" fmla="*/ 28 h 121"/>
                <a:gd name="T24" fmla="*/ 26 w 58"/>
                <a:gd name="T25" fmla="*/ 25 h 121"/>
                <a:gd name="T26" fmla="*/ 35 w 58"/>
                <a:gd name="T27" fmla="*/ 16 h 121"/>
                <a:gd name="T28" fmla="*/ 46 w 58"/>
                <a:gd name="T29" fmla="*/ 9 h 121"/>
                <a:gd name="T30" fmla="*/ 55 w 58"/>
                <a:gd name="T31" fmla="*/ 3 h 121"/>
                <a:gd name="T32" fmla="*/ 58 w 58"/>
                <a:gd name="T33" fmla="*/ 0 h 121"/>
                <a:gd name="T34" fmla="*/ 57 w 58"/>
                <a:gd name="T35" fmla="*/ 3 h 121"/>
                <a:gd name="T36" fmla="*/ 52 w 58"/>
                <a:gd name="T37" fmla="*/ 10 h 121"/>
                <a:gd name="T38" fmla="*/ 46 w 58"/>
                <a:gd name="T39" fmla="*/ 21 h 121"/>
                <a:gd name="T40" fmla="*/ 40 w 58"/>
                <a:gd name="T41" fmla="*/ 35 h 121"/>
                <a:gd name="T42" fmla="*/ 35 w 58"/>
                <a:gd name="T43" fmla="*/ 53 h 121"/>
                <a:gd name="T44" fmla="*/ 30 w 58"/>
                <a:gd name="T45" fmla="*/ 73 h 121"/>
                <a:gd name="T46" fmla="*/ 29 w 58"/>
                <a:gd name="T47" fmla="*/ 96 h 121"/>
                <a:gd name="T48" fmla="*/ 31 w 58"/>
                <a:gd name="T49" fmla="*/ 121 h 12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8"/>
                <a:gd name="T76" fmla="*/ 0 h 121"/>
                <a:gd name="T77" fmla="*/ 58 w 58"/>
                <a:gd name="T78" fmla="*/ 121 h 12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8" h="121">
                  <a:moveTo>
                    <a:pt x="31" y="121"/>
                  </a:moveTo>
                  <a:lnTo>
                    <a:pt x="30" y="112"/>
                  </a:lnTo>
                  <a:lnTo>
                    <a:pt x="26" y="91"/>
                  </a:lnTo>
                  <a:lnTo>
                    <a:pt x="18" y="69"/>
                  </a:lnTo>
                  <a:lnTo>
                    <a:pt x="7" y="52"/>
                  </a:lnTo>
                  <a:lnTo>
                    <a:pt x="2" y="47"/>
                  </a:lnTo>
                  <a:lnTo>
                    <a:pt x="0" y="43"/>
                  </a:lnTo>
                  <a:lnTo>
                    <a:pt x="2" y="39"/>
                  </a:lnTo>
                  <a:lnTo>
                    <a:pt x="5" y="37"/>
                  </a:lnTo>
                  <a:lnTo>
                    <a:pt x="10" y="35"/>
                  </a:lnTo>
                  <a:lnTo>
                    <a:pt x="17" y="32"/>
                  </a:lnTo>
                  <a:lnTo>
                    <a:pt x="21" y="28"/>
                  </a:lnTo>
                  <a:lnTo>
                    <a:pt x="26" y="25"/>
                  </a:lnTo>
                  <a:lnTo>
                    <a:pt x="35" y="16"/>
                  </a:lnTo>
                  <a:lnTo>
                    <a:pt x="46" y="9"/>
                  </a:lnTo>
                  <a:lnTo>
                    <a:pt x="55" y="3"/>
                  </a:lnTo>
                  <a:lnTo>
                    <a:pt x="58" y="0"/>
                  </a:lnTo>
                  <a:lnTo>
                    <a:pt x="57" y="3"/>
                  </a:lnTo>
                  <a:lnTo>
                    <a:pt x="52" y="10"/>
                  </a:lnTo>
                  <a:lnTo>
                    <a:pt x="46" y="21"/>
                  </a:lnTo>
                  <a:lnTo>
                    <a:pt x="40" y="35"/>
                  </a:lnTo>
                  <a:lnTo>
                    <a:pt x="35" y="53"/>
                  </a:lnTo>
                  <a:lnTo>
                    <a:pt x="30" y="73"/>
                  </a:lnTo>
                  <a:lnTo>
                    <a:pt x="29" y="96"/>
                  </a:lnTo>
                  <a:lnTo>
                    <a:pt x="31" y="121"/>
                  </a:lnTo>
                  <a:close/>
                </a:path>
              </a:pathLst>
            </a:custGeom>
            <a:solidFill>
              <a:srgbClr val="7FBFBF"/>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070" name="Freeform 76"/>
            <p:cNvSpPr>
              <a:spLocks/>
            </p:cNvSpPr>
            <p:nvPr/>
          </p:nvSpPr>
          <p:spPr bwMode="auto">
            <a:xfrm>
              <a:off x="4370" y="2261"/>
              <a:ext cx="48" cy="91"/>
            </a:xfrm>
            <a:custGeom>
              <a:avLst/>
              <a:gdLst>
                <a:gd name="T0" fmla="*/ 3 w 48"/>
                <a:gd name="T1" fmla="*/ 90 h 91"/>
                <a:gd name="T2" fmla="*/ 5 w 48"/>
                <a:gd name="T3" fmla="*/ 91 h 91"/>
                <a:gd name="T4" fmla="*/ 6 w 48"/>
                <a:gd name="T5" fmla="*/ 91 h 91"/>
                <a:gd name="T6" fmla="*/ 8 w 48"/>
                <a:gd name="T7" fmla="*/ 90 h 91"/>
                <a:gd name="T8" fmla="*/ 10 w 48"/>
                <a:gd name="T9" fmla="*/ 89 h 91"/>
                <a:gd name="T10" fmla="*/ 8 w 48"/>
                <a:gd name="T11" fmla="*/ 80 h 91"/>
                <a:gd name="T12" fmla="*/ 10 w 48"/>
                <a:gd name="T13" fmla="*/ 69 h 91"/>
                <a:gd name="T14" fmla="*/ 13 w 48"/>
                <a:gd name="T15" fmla="*/ 57 h 91"/>
                <a:gd name="T16" fmla="*/ 18 w 48"/>
                <a:gd name="T17" fmla="*/ 43 h 91"/>
                <a:gd name="T18" fmla="*/ 26 w 48"/>
                <a:gd name="T19" fmla="*/ 35 h 91"/>
                <a:gd name="T20" fmla="*/ 32 w 48"/>
                <a:gd name="T21" fmla="*/ 33 h 91"/>
                <a:gd name="T22" fmla="*/ 39 w 48"/>
                <a:gd name="T23" fmla="*/ 33 h 91"/>
                <a:gd name="T24" fmla="*/ 45 w 48"/>
                <a:gd name="T25" fmla="*/ 32 h 91"/>
                <a:gd name="T26" fmla="*/ 47 w 48"/>
                <a:gd name="T27" fmla="*/ 26 h 91"/>
                <a:gd name="T28" fmla="*/ 48 w 48"/>
                <a:gd name="T29" fmla="*/ 15 h 91"/>
                <a:gd name="T30" fmla="*/ 47 w 48"/>
                <a:gd name="T31" fmla="*/ 4 h 91"/>
                <a:gd name="T32" fmla="*/ 40 w 48"/>
                <a:gd name="T33" fmla="*/ 0 h 91"/>
                <a:gd name="T34" fmla="*/ 31 w 48"/>
                <a:gd name="T35" fmla="*/ 4 h 91"/>
                <a:gd name="T36" fmla="*/ 23 w 48"/>
                <a:gd name="T37" fmla="*/ 11 h 91"/>
                <a:gd name="T38" fmla="*/ 16 w 48"/>
                <a:gd name="T39" fmla="*/ 23 h 91"/>
                <a:gd name="T40" fmla="*/ 8 w 48"/>
                <a:gd name="T41" fmla="*/ 40 h 91"/>
                <a:gd name="T42" fmla="*/ 2 w 48"/>
                <a:gd name="T43" fmla="*/ 58 h 91"/>
                <a:gd name="T44" fmla="*/ 0 w 48"/>
                <a:gd name="T45" fmla="*/ 73 h 91"/>
                <a:gd name="T46" fmla="*/ 0 w 48"/>
                <a:gd name="T47" fmla="*/ 85 h 91"/>
                <a:gd name="T48" fmla="*/ 3 w 48"/>
                <a:gd name="T49" fmla="*/ 90 h 9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8"/>
                <a:gd name="T76" fmla="*/ 0 h 91"/>
                <a:gd name="T77" fmla="*/ 48 w 48"/>
                <a:gd name="T78" fmla="*/ 91 h 9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8" h="91">
                  <a:moveTo>
                    <a:pt x="3" y="90"/>
                  </a:moveTo>
                  <a:lnTo>
                    <a:pt x="5" y="91"/>
                  </a:lnTo>
                  <a:lnTo>
                    <a:pt x="6" y="91"/>
                  </a:lnTo>
                  <a:lnTo>
                    <a:pt x="8" y="90"/>
                  </a:lnTo>
                  <a:lnTo>
                    <a:pt x="10" y="89"/>
                  </a:lnTo>
                  <a:lnTo>
                    <a:pt x="8" y="80"/>
                  </a:lnTo>
                  <a:lnTo>
                    <a:pt x="10" y="69"/>
                  </a:lnTo>
                  <a:lnTo>
                    <a:pt x="13" y="57"/>
                  </a:lnTo>
                  <a:lnTo>
                    <a:pt x="18" y="43"/>
                  </a:lnTo>
                  <a:lnTo>
                    <a:pt x="26" y="35"/>
                  </a:lnTo>
                  <a:lnTo>
                    <a:pt x="32" y="33"/>
                  </a:lnTo>
                  <a:lnTo>
                    <a:pt x="39" y="33"/>
                  </a:lnTo>
                  <a:lnTo>
                    <a:pt x="45" y="32"/>
                  </a:lnTo>
                  <a:lnTo>
                    <a:pt x="47" y="26"/>
                  </a:lnTo>
                  <a:lnTo>
                    <a:pt x="48" y="15"/>
                  </a:lnTo>
                  <a:lnTo>
                    <a:pt x="47" y="4"/>
                  </a:lnTo>
                  <a:lnTo>
                    <a:pt x="40" y="0"/>
                  </a:lnTo>
                  <a:lnTo>
                    <a:pt x="31" y="4"/>
                  </a:lnTo>
                  <a:lnTo>
                    <a:pt x="23" y="11"/>
                  </a:lnTo>
                  <a:lnTo>
                    <a:pt x="16" y="23"/>
                  </a:lnTo>
                  <a:lnTo>
                    <a:pt x="8" y="40"/>
                  </a:lnTo>
                  <a:lnTo>
                    <a:pt x="2" y="58"/>
                  </a:lnTo>
                  <a:lnTo>
                    <a:pt x="0" y="73"/>
                  </a:lnTo>
                  <a:lnTo>
                    <a:pt x="0" y="85"/>
                  </a:lnTo>
                  <a:lnTo>
                    <a:pt x="3" y="90"/>
                  </a:lnTo>
                  <a:close/>
                </a:path>
              </a:pathLst>
            </a:custGeom>
            <a:solidFill>
              <a:srgbClr val="93D3D3"/>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071" name="Freeform 77"/>
            <p:cNvSpPr>
              <a:spLocks/>
            </p:cNvSpPr>
            <p:nvPr/>
          </p:nvSpPr>
          <p:spPr bwMode="auto">
            <a:xfrm>
              <a:off x="4835" y="2584"/>
              <a:ext cx="119" cy="34"/>
            </a:xfrm>
            <a:custGeom>
              <a:avLst/>
              <a:gdLst>
                <a:gd name="T0" fmla="*/ 119 w 119"/>
                <a:gd name="T1" fmla="*/ 28 h 34"/>
                <a:gd name="T2" fmla="*/ 116 w 119"/>
                <a:gd name="T3" fmla="*/ 29 h 34"/>
                <a:gd name="T4" fmla="*/ 108 w 119"/>
                <a:gd name="T5" fmla="*/ 30 h 34"/>
                <a:gd name="T6" fmla="*/ 95 w 119"/>
                <a:gd name="T7" fmla="*/ 33 h 34"/>
                <a:gd name="T8" fmla="*/ 79 w 119"/>
                <a:gd name="T9" fmla="*/ 34 h 34"/>
                <a:gd name="T10" fmla="*/ 62 w 119"/>
                <a:gd name="T11" fmla="*/ 34 h 34"/>
                <a:gd name="T12" fmla="*/ 45 w 119"/>
                <a:gd name="T13" fmla="*/ 33 h 34"/>
                <a:gd name="T14" fmla="*/ 26 w 119"/>
                <a:gd name="T15" fmla="*/ 29 h 34"/>
                <a:gd name="T16" fmla="*/ 10 w 119"/>
                <a:gd name="T17" fmla="*/ 22 h 34"/>
                <a:gd name="T18" fmla="*/ 0 w 119"/>
                <a:gd name="T19" fmla="*/ 13 h 34"/>
                <a:gd name="T20" fmla="*/ 0 w 119"/>
                <a:gd name="T21" fmla="*/ 8 h 34"/>
                <a:gd name="T22" fmla="*/ 5 w 119"/>
                <a:gd name="T23" fmla="*/ 5 h 34"/>
                <a:gd name="T24" fmla="*/ 15 w 119"/>
                <a:gd name="T25" fmla="*/ 1 h 34"/>
                <a:gd name="T26" fmla="*/ 26 w 119"/>
                <a:gd name="T27" fmla="*/ 0 h 34"/>
                <a:gd name="T28" fmla="*/ 39 w 119"/>
                <a:gd name="T29" fmla="*/ 0 h 34"/>
                <a:gd name="T30" fmla="*/ 46 w 119"/>
                <a:gd name="T31" fmla="*/ 0 h 34"/>
                <a:gd name="T32" fmla="*/ 50 w 119"/>
                <a:gd name="T33" fmla="*/ 0 h 34"/>
                <a:gd name="T34" fmla="*/ 52 w 119"/>
                <a:gd name="T35" fmla="*/ 1 h 34"/>
                <a:gd name="T36" fmla="*/ 60 w 119"/>
                <a:gd name="T37" fmla="*/ 5 h 34"/>
                <a:gd name="T38" fmla="*/ 71 w 119"/>
                <a:gd name="T39" fmla="*/ 10 h 34"/>
                <a:gd name="T40" fmla="*/ 83 w 119"/>
                <a:gd name="T41" fmla="*/ 14 h 34"/>
                <a:gd name="T42" fmla="*/ 95 w 119"/>
                <a:gd name="T43" fmla="*/ 21 h 34"/>
                <a:gd name="T44" fmla="*/ 106 w 119"/>
                <a:gd name="T45" fmla="*/ 24 h 34"/>
                <a:gd name="T46" fmla="*/ 115 w 119"/>
                <a:gd name="T47" fmla="*/ 28 h 34"/>
                <a:gd name="T48" fmla="*/ 119 w 119"/>
                <a:gd name="T49" fmla="*/ 28 h 3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19"/>
                <a:gd name="T76" fmla="*/ 0 h 34"/>
                <a:gd name="T77" fmla="*/ 119 w 119"/>
                <a:gd name="T78" fmla="*/ 34 h 3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19" h="34">
                  <a:moveTo>
                    <a:pt x="119" y="28"/>
                  </a:moveTo>
                  <a:lnTo>
                    <a:pt x="116" y="29"/>
                  </a:lnTo>
                  <a:lnTo>
                    <a:pt x="108" y="30"/>
                  </a:lnTo>
                  <a:lnTo>
                    <a:pt x="95" y="33"/>
                  </a:lnTo>
                  <a:lnTo>
                    <a:pt x="79" y="34"/>
                  </a:lnTo>
                  <a:lnTo>
                    <a:pt x="62" y="34"/>
                  </a:lnTo>
                  <a:lnTo>
                    <a:pt x="45" y="33"/>
                  </a:lnTo>
                  <a:lnTo>
                    <a:pt x="26" y="29"/>
                  </a:lnTo>
                  <a:lnTo>
                    <a:pt x="10" y="22"/>
                  </a:lnTo>
                  <a:lnTo>
                    <a:pt x="0" y="13"/>
                  </a:lnTo>
                  <a:lnTo>
                    <a:pt x="0" y="8"/>
                  </a:lnTo>
                  <a:lnTo>
                    <a:pt x="5" y="5"/>
                  </a:lnTo>
                  <a:lnTo>
                    <a:pt x="15" y="1"/>
                  </a:lnTo>
                  <a:lnTo>
                    <a:pt x="26" y="0"/>
                  </a:lnTo>
                  <a:lnTo>
                    <a:pt x="39" y="0"/>
                  </a:lnTo>
                  <a:lnTo>
                    <a:pt x="46" y="0"/>
                  </a:lnTo>
                  <a:lnTo>
                    <a:pt x="50" y="0"/>
                  </a:lnTo>
                  <a:lnTo>
                    <a:pt x="52" y="1"/>
                  </a:lnTo>
                  <a:lnTo>
                    <a:pt x="60" y="5"/>
                  </a:lnTo>
                  <a:lnTo>
                    <a:pt x="71" y="10"/>
                  </a:lnTo>
                  <a:lnTo>
                    <a:pt x="83" y="14"/>
                  </a:lnTo>
                  <a:lnTo>
                    <a:pt x="95" y="21"/>
                  </a:lnTo>
                  <a:lnTo>
                    <a:pt x="106" y="24"/>
                  </a:lnTo>
                  <a:lnTo>
                    <a:pt x="115" y="28"/>
                  </a:lnTo>
                  <a:lnTo>
                    <a:pt x="119" y="28"/>
                  </a:lnTo>
                  <a:close/>
                </a:path>
              </a:pathLst>
            </a:custGeom>
            <a:solidFill>
              <a:srgbClr val="DBDBE5"/>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072" name="Freeform 78"/>
            <p:cNvSpPr>
              <a:spLocks/>
            </p:cNvSpPr>
            <p:nvPr/>
          </p:nvSpPr>
          <p:spPr bwMode="auto">
            <a:xfrm>
              <a:off x="4170" y="2207"/>
              <a:ext cx="1135" cy="580"/>
            </a:xfrm>
            <a:custGeom>
              <a:avLst/>
              <a:gdLst>
                <a:gd name="T0" fmla="*/ 61 w 1135"/>
                <a:gd name="T1" fmla="*/ 224 h 580"/>
                <a:gd name="T2" fmla="*/ 43 w 1135"/>
                <a:gd name="T3" fmla="*/ 230 h 580"/>
                <a:gd name="T4" fmla="*/ 31 w 1135"/>
                <a:gd name="T5" fmla="*/ 230 h 580"/>
                <a:gd name="T6" fmla="*/ 17 w 1135"/>
                <a:gd name="T7" fmla="*/ 225 h 580"/>
                <a:gd name="T8" fmla="*/ 6 w 1135"/>
                <a:gd name="T9" fmla="*/ 222 h 580"/>
                <a:gd name="T10" fmla="*/ 1 w 1135"/>
                <a:gd name="T11" fmla="*/ 207 h 580"/>
                <a:gd name="T12" fmla="*/ 1 w 1135"/>
                <a:gd name="T13" fmla="*/ 191 h 580"/>
                <a:gd name="T14" fmla="*/ 17 w 1135"/>
                <a:gd name="T15" fmla="*/ 144 h 580"/>
                <a:gd name="T16" fmla="*/ 38 w 1135"/>
                <a:gd name="T17" fmla="*/ 86 h 580"/>
                <a:gd name="T18" fmla="*/ 59 w 1135"/>
                <a:gd name="T19" fmla="*/ 34 h 580"/>
                <a:gd name="T20" fmla="*/ 73 w 1135"/>
                <a:gd name="T21" fmla="*/ 9 h 580"/>
                <a:gd name="T22" fmla="*/ 85 w 1135"/>
                <a:gd name="T23" fmla="*/ 2 h 580"/>
                <a:gd name="T24" fmla="*/ 98 w 1135"/>
                <a:gd name="T25" fmla="*/ 0 h 580"/>
                <a:gd name="T26" fmla="*/ 111 w 1135"/>
                <a:gd name="T27" fmla="*/ 1 h 580"/>
                <a:gd name="T28" fmla="*/ 125 w 1135"/>
                <a:gd name="T29" fmla="*/ 4 h 580"/>
                <a:gd name="T30" fmla="*/ 131 w 1135"/>
                <a:gd name="T31" fmla="*/ 7 h 580"/>
                <a:gd name="T32" fmla="*/ 136 w 1135"/>
                <a:gd name="T33" fmla="*/ 13 h 580"/>
                <a:gd name="T34" fmla="*/ 139 w 1135"/>
                <a:gd name="T35" fmla="*/ 20 h 580"/>
                <a:gd name="T36" fmla="*/ 141 w 1135"/>
                <a:gd name="T37" fmla="*/ 26 h 580"/>
                <a:gd name="T38" fmla="*/ 150 w 1135"/>
                <a:gd name="T39" fmla="*/ 29 h 580"/>
                <a:gd name="T40" fmla="*/ 180 w 1135"/>
                <a:gd name="T41" fmla="*/ 41 h 580"/>
                <a:gd name="T42" fmla="*/ 226 w 1135"/>
                <a:gd name="T43" fmla="*/ 58 h 580"/>
                <a:gd name="T44" fmla="*/ 285 w 1135"/>
                <a:gd name="T45" fmla="*/ 80 h 580"/>
                <a:gd name="T46" fmla="*/ 354 w 1135"/>
                <a:gd name="T47" fmla="*/ 106 h 580"/>
                <a:gd name="T48" fmla="*/ 431 w 1135"/>
                <a:gd name="T49" fmla="*/ 134 h 580"/>
                <a:gd name="T50" fmla="*/ 515 w 1135"/>
                <a:gd name="T51" fmla="*/ 165 h 580"/>
                <a:gd name="T52" fmla="*/ 601 w 1135"/>
                <a:gd name="T53" fmla="*/ 197 h 580"/>
                <a:gd name="T54" fmla="*/ 689 w 1135"/>
                <a:gd name="T55" fmla="*/ 229 h 580"/>
                <a:gd name="T56" fmla="*/ 773 w 1135"/>
                <a:gd name="T57" fmla="*/ 260 h 580"/>
                <a:gd name="T58" fmla="*/ 851 w 1135"/>
                <a:gd name="T59" fmla="*/ 289 h 580"/>
                <a:gd name="T60" fmla="*/ 923 w 1135"/>
                <a:gd name="T61" fmla="*/ 316 h 580"/>
                <a:gd name="T62" fmla="*/ 984 w 1135"/>
                <a:gd name="T63" fmla="*/ 339 h 580"/>
                <a:gd name="T64" fmla="*/ 1033 w 1135"/>
                <a:gd name="T65" fmla="*/ 356 h 580"/>
                <a:gd name="T66" fmla="*/ 1065 w 1135"/>
                <a:gd name="T67" fmla="*/ 368 h 580"/>
                <a:gd name="T68" fmla="*/ 1079 w 1135"/>
                <a:gd name="T69" fmla="*/ 373 h 580"/>
                <a:gd name="T70" fmla="*/ 1131 w 1135"/>
                <a:gd name="T71" fmla="*/ 428 h 580"/>
                <a:gd name="T72" fmla="*/ 1126 w 1135"/>
                <a:gd name="T73" fmla="*/ 506 h 580"/>
                <a:gd name="T74" fmla="*/ 1077 w 1135"/>
                <a:gd name="T75" fmla="*/ 568 h 580"/>
                <a:gd name="T76" fmla="*/ 999 w 1135"/>
                <a:gd name="T77" fmla="*/ 575 h 580"/>
                <a:gd name="T78" fmla="*/ 989 w 1135"/>
                <a:gd name="T79" fmla="*/ 571 h 580"/>
                <a:gd name="T80" fmla="*/ 960 w 1135"/>
                <a:gd name="T81" fmla="*/ 560 h 580"/>
                <a:gd name="T82" fmla="*/ 913 w 1135"/>
                <a:gd name="T83" fmla="*/ 542 h 580"/>
                <a:gd name="T84" fmla="*/ 854 w 1135"/>
                <a:gd name="T85" fmla="*/ 520 h 580"/>
                <a:gd name="T86" fmla="*/ 784 w 1135"/>
                <a:gd name="T87" fmla="*/ 492 h 580"/>
                <a:gd name="T88" fmla="*/ 705 w 1135"/>
                <a:gd name="T89" fmla="*/ 463 h 580"/>
                <a:gd name="T90" fmla="*/ 621 w 1135"/>
                <a:gd name="T91" fmla="*/ 431 h 580"/>
                <a:gd name="T92" fmla="*/ 534 w 1135"/>
                <a:gd name="T93" fmla="*/ 398 h 580"/>
                <a:gd name="T94" fmla="*/ 447 w 1135"/>
                <a:gd name="T95" fmla="*/ 364 h 580"/>
                <a:gd name="T96" fmla="*/ 362 w 1135"/>
                <a:gd name="T97" fmla="*/ 332 h 580"/>
                <a:gd name="T98" fmla="*/ 284 w 1135"/>
                <a:gd name="T99" fmla="*/ 303 h 580"/>
                <a:gd name="T100" fmla="*/ 213 w 1135"/>
                <a:gd name="T101" fmla="*/ 276 h 580"/>
                <a:gd name="T102" fmla="*/ 153 w 1135"/>
                <a:gd name="T103" fmla="*/ 254 h 580"/>
                <a:gd name="T104" fmla="*/ 106 w 1135"/>
                <a:gd name="T105" fmla="*/ 236 h 580"/>
                <a:gd name="T106" fmla="*/ 77 w 1135"/>
                <a:gd name="T107" fmla="*/ 225 h 580"/>
                <a:gd name="T108" fmla="*/ 65 w 1135"/>
                <a:gd name="T109" fmla="*/ 222 h 58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135"/>
                <a:gd name="T166" fmla="*/ 0 h 580"/>
                <a:gd name="T167" fmla="*/ 1135 w 1135"/>
                <a:gd name="T168" fmla="*/ 580 h 580"/>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135" h="580">
                  <a:moveTo>
                    <a:pt x="65" y="222"/>
                  </a:moveTo>
                  <a:lnTo>
                    <a:pt x="61" y="224"/>
                  </a:lnTo>
                  <a:lnTo>
                    <a:pt x="52" y="228"/>
                  </a:lnTo>
                  <a:lnTo>
                    <a:pt x="43" y="230"/>
                  </a:lnTo>
                  <a:lnTo>
                    <a:pt x="36" y="231"/>
                  </a:lnTo>
                  <a:lnTo>
                    <a:pt x="31" y="230"/>
                  </a:lnTo>
                  <a:lnTo>
                    <a:pt x="25" y="228"/>
                  </a:lnTo>
                  <a:lnTo>
                    <a:pt x="17" y="225"/>
                  </a:lnTo>
                  <a:lnTo>
                    <a:pt x="13" y="224"/>
                  </a:lnTo>
                  <a:lnTo>
                    <a:pt x="6" y="222"/>
                  </a:lnTo>
                  <a:lnTo>
                    <a:pt x="3" y="214"/>
                  </a:lnTo>
                  <a:lnTo>
                    <a:pt x="1" y="207"/>
                  </a:lnTo>
                  <a:lnTo>
                    <a:pt x="0" y="201"/>
                  </a:lnTo>
                  <a:lnTo>
                    <a:pt x="1" y="191"/>
                  </a:lnTo>
                  <a:lnTo>
                    <a:pt x="9" y="171"/>
                  </a:lnTo>
                  <a:lnTo>
                    <a:pt x="17" y="144"/>
                  </a:lnTo>
                  <a:lnTo>
                    <a:pt x="27" y="116"/>
                  </a:lnTo>
                  <a:lnTo>
                    <a:pt x="38" y="86"/>
                  </a:lnTo>
                  <a:lnTo>
                    <a:pt x="49" y="58"/>
                  </a:lnTo>
                  <a:lnTo>
                    <a:pt x="59" y="34"/>
                  </a:lnTo>
                  <a:lnTo>
                    <a:pt x="68" y="17"/>
                  </a:lnTo>
                  <a:lnTo>
                    <a:pt x="73" y="9"/>
                  </a:lnTo>
                  <a:lnTo>
                    <a:pt x="78" y="6"/>
                  </a:lnTo>
                  <a:lnTo>
                    <a:pt x="85" y="2"/>
                  </a:lnTo>
                  <a:lnTo>
                    <a:pt x="93" y="1"/>
                  </a:lnTo>
                  <a:lnTo>
                    <a:pt x="98" y="0"/>
                  </a:lnTo>
                  <a:lnTo>
                    <a:pt x="102" y="0"/>
                  </a:lnTo>
                  <a:lnTo>
                    <a:pt x="111" y="1"/>
                  </a:lnTo>
                  <a:lnTo>
                    <a:pt x="118" y="2"/>
                  </a:lnTo>
                  <a:lnTo>
                    <a:pt x="125" y="4"/>
                  </a:lnTo>
                  <a:lnTo>
                    <a:pt x="127" y="6"/>
                  </a:lnTo>
                  <a:lnTo>
                    <a:pt x="131" y="7"/>
                  </a:lnTo>
                  <a:lnTo>
                    <a:pt x="133" y="10"/>
                  </a:lnTo>
                  <a:lnTo>
                    <a:pt x="136" y="13"/>
                  </a:lnTo>
                  <a:lnTo>
                    <a:pt x="138" y="16"/>
                  </a:lnTo>
                  <a:lnTo>
                    <a:pt x="139" y="20"/>
                  </a:lnTo>
                  <a:lnTo>
                    <a:pt x="141" y="23"/>
                  </a:lnTo>
                  <a:lnTo>
                    <a:pt x="141" y="26"/>
                  </a:lnTo>
                  <a:lnTo>
                    <a:pt x="143" y="27"/>
                  </a:lnTo>
                  <a:lnTo>
                    <a:pt x="150" y="29"/>
                  </a:lnTo>
                  <a:lnTo>
                    <a:pt x="163" y="34"/>
                  </a:lnTo>
                  <a:lnTo>
                    <a:pt x="180" y="41"/>
                  </a:lnTo>
                  <a:lnTo>
                    <a:pt x="201" y="48"/>
                  </a:lnTo>
                  <a:lnTo>
                    <a:pt x="226" y="58"/>
                  </a:lnTo>
                  <a:lnTo>
                    <a:pt x="253" y="68"/>
                  </a:lnTo>
                  <a:lnTo>
                    <a:pt x="285" y="80"/>
                  </a:lnTo>
                  <a:lnTo>
                    <a:pt x="318" y="92"/>
                  </a:lnTo>
                  <a:lnTo>
                    <a:pt x="354" y="106"/>
                  </a:lnTo>
                  <a:lnTo>
                    <a:pt x="392" y="119"/>
                  </a:lnTo>
                  <a:lnTo>
                    <a:pt x="431" y="134"/>
                  </a:lnTo>
                  <a:lnTo>
                    <a:pt x="473" y="149"/>
                  </a:lnTo>
                  <a:lnTo>
                    <a:pt x="515" y="165"/>
                  </a:lnTo>
                  <a:lnTo>
                    <a:pt x="558" y="181"/>
                  </a:lnTo>
                  <a:lnTo>
                    <a:pt x="601" y="197"/>
                  </a:lnTo>
                  <a:lnTo>
                    <a:pt x="646" y="213"/>
                  </a:lnTo>
                  <a:lnTo>
                    <a:pt x="689" y="229"/>
                  </a:lnTo>
                  <a:lnTo>
                    <a:pt x="731" y="245"/>
                  </a:lnTo>
                  <a:lnTo>
                    <a:pt x="773" y="260"/>
                  </a:lnTo>
                  <a:lnTo>
                    <a:pt x="813" y="276"/>
                  </a:lnTo>
                  <a:lnTo>
                    <a:pt x="851" y="289"/>
                  </a:lnTo>
                  <a:lnTo>
                    <a:pt x="888" y="303"/>
                  </a:lnTo>
                  <a:lnTo>
                    <a:pt x="923" y="316"/>
                  </a:lnTo>
                  <a:lnTo>
                    <a:pt x="955" y="327"/>
                  </a:lnTo>
                  <a:lnTo>
                    <a:pt x="984" y="339"/>
                  </a:lnTo>
                  <a:lnTo>
                    <a:pt x="1010" y="348"/>
                  </a:lnTo>
                  <a:lnTo>
                    <a:pt x="1033" y="356"/>
                  </a:lnTo>
                  <a:lnTo>
                    <a:pt x="1051" y="363"/>
                  </a:lnTo>
                  <a:lnTo>
                    <a:pt x="1065" y="368"/>
                  </a:lnTo>
                  <a:lnTo>
                    <a:pt x="1074" y="372"/>
                  </a:lnTo>
                  <a:lnTo>
                    <a:pt x="1079" y="373"/>
                  </a:lnTo>
                  <a:lnTo>
                    <a:pt x="1114" y="396"/>
                  </a:lnTo>
                  <a:lnTo>
                    <a:pt x="1131" y="428"/>
                  </a:lnTo>
                  <a:lnTo>
                    <a:pt x="1135" y="467"/>
                  </a:lnTo>
                  <a:lnTo>
                    <a:pt x="1126" y="506"/>
                  </a:lnTo>
                  <a:lnTo>
                    <a:pt x="1106" y="542"/>
                  </a:lnTo>
                  <a:lnTo>
                    <a:pt x="1077" y="568"/>
                  </a:lnTo>
                  <a:lnTo>
                    <a:pt x="1041" y="580"/>
                  </a:lnTo>
                  <a:lnTo>
                    <a:pt x="999" y="575"/>
                  </a:lnTo>
                  <a:lnTo>
                    <a:pt x="997" y="574"/>
                  </a:lnTo>
                  <a:lnTo>
                    <a:pt x="989" y="571"/>
                  </a:lnTo>
                  <a:lnTo>
                    <a:pt x="976" y="566"/>
                  </a:lnTo>
                  <a:lnTo>
                    <a:pt x="960" y="560"/>
                  </a:lnTo>
                  <a:lnTo>
                    <a:pt x="938" y="552"/>
                  </a:lnTo>
                  <a:lnTo>
                    <a:pt x="913" y="542"/>
                  </a:lnTo>
                  <a:lnTo>
                    <a:pt x="885" y="532"/>
                  </a:lnTo>
                  <a:lnTo>
                    <a:pt x="854" y="520"/>
                  </a:lnTo>
                  <a:lnTo>
                    <a:pt x="819" y="506"/>
                  </a:lnTo>
                  <a:lnTo>
                    <a:pt x="784" y="492"/>
                  </a:lnTo>
                  <a:lnTo>
                    <a:pt x="745" y="478"/>
                  </a:lnTo>
                  <a:lnTo>
                    <a:pt x="705" y="463"/>
                  </a:lnTo>
                  <a:lnTo>
                    <a:pt x="663" y="447"/>
                  </a:lnTo>
                  <a:lnTo>
                    <a:pt x="621" y="431"/>
                  </a:lnTo>
                  <a:lnTo>
                    <a:pt x="578" y="414"/>
                  </a:lnTo>
                  <a:lnTo>
                    <a:pt x="534" y="398"/>
                  </a:lnTo>
                  <a:lnTo>
                    <a:pt x="490" y="380"/>
                  </a:lnTo>
                  <a:lnTo>
                    <a:pt x="447" y="364"/>
                  </a:lnTo>
                  <a:lnTo>
                    <a:pt x="404" y="348"/>
                  </a:lnTo>
                  <a:lnTo>
                    <a:pt x="362" y="332"/>
                  </a:lnTo>
                  <a:lnTo>
                    <a:pt x="322" y="318"/>
                  </a:lnTo>
                  <a:lnTo>
                    <a:pt x="284" y="303"/>
                  </a:lnTo>
                  <a:lnTo>
                    <a:pt x="247" y="288"/>
                  </a:lnTo>
                  <a:lnTo>
                    <a:pt x="213" y="276"/>
                  </a:lnTo>
                  <a:lnTo>
                    <a:pt x="181" y="263"/>
                  </a:lnTo>
                  <a:lnTo>
                    <a:pt x="153" y="254"/>
                  </a:lnTo>
                  <a:lnTo>
                    <a:pt x="128" y="244"/>
                  </a:lnTo>
                  <a:lnTo>
                    <a:pt x="106" y="236"/>
                  </a:lnTo>
                  <a:lnTo>
                    <a:pt x="89" y="230"/>
                  </a:lnTo>
                  <a:lnTo>
                    <a:pt x="77" y="225"/>
                  </a:lnTo>
                  <a:lnTo>
                    <a:pt x="68" y="223"/>
                  </a:lnTo>
                  <a:lnTo>
                    <a:pt x="65" y="222"/>
                  </a:lnTo>
                  <a:close/>
                </a:path>
              </a:pathLst>
            </a:custGeom>
            <a:solidFill>
              <a:srgbClr val="000000"/>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073" name="Freeform 79"/>
            <p:cNvSpPr>
              <a:spLocks/>
            </p:cNvSpPr>
            <p:nvPr/>
          </p:nvSpPr>
          <p:spPr bwMode="auto">
            <a:xfrm>
              <a:off x="4201" y="2243"/>
              <a:ext cx="1071" cy="511"/>
            </a:xfrm>
            <a:custGeom>
              <a:avLst/>
              <a:gdLst>
                <a:gd name="T0" fmla="*/ 31 w 1071"/>
                <a:gd name="T1" fmla="*/ 154 h 511"/>
                <a:gd name="T2" fmla="*/ 22 w 1071"/>
                <a:gd name="T3" fmla="*/ 161 h 511"/>
                <a:gd name="T4" fmla="*/ 11 w 1071"/>
                <a:gd name="T5" fmla="*/ 161 h 511"/>
                <a:gd name="T6" fmla="*/ 1 w 1071"/>
                <a:gd name="T7" fmla="*/ 151 h 511"/>
                <a:gd name="T8" fmla="*/ 1 w 1071"/>
                <a:gd name="T9" fmla="*/ 139 h 511"/>
                <a:gd name="T10" fmla="*/ 52 w 1071"/>
                <a:gd name="T11" fmla="*/ 6 h 511"/>
                <a:gd name="T12" fmla="*/ 63 w 1071"/>
                <a:gd name="T13" fmla="*/ 0 h 511"/>
                <a:gd name="T14" fmla="*/ 75 w 1071"/>
                <a:gd name="T15" fmla="*/ 5 h 511"/>
                <a:gd name="T16" fmla="*/ 80 w 1071"/>
                <a:gd name="T17" fmla="*/ 14 h 511"/>
                <a:gd name="T18" fmla="*/ 214 w 1071"/>
                <a:gd name="T19" fmla="*/ 70 h 511"/>
                <a:gd name="T20" fmla="*/ 223 w 1071"/>
                <a:gd name="T21" fmla="*/ 72 h 511"/>
                <a:gd name="T22" fmla="*/ 246 w 1071"/>
                <a:gd name="T23" fmla="*/ 81 h 511"/>
                <a:gd name="T24" fmla="*/ 283 w 1071"/>
                <a:gd name="T25" fmla="*/ 94 h 511"/>
                <a:gd name="T26" fmla="*/ 330 w 1071"/>
                <a:gd name="T27" fmla="*/ 112 h 511"/>
                <a:gd name="T28" fmla="*/ 388 w 1071"/>
                <a:gd name="T29" fmla="*/ 131 h 511"/>
                <a:gd name="T30" fmla="*/ 451 w 1071"/>
                <a:gd name="T31" fmla="*/ 155 h 511"/>
                <a:gd name="T32" fmla="*/ 520 w 1071"/>
                <a:gd name="T33" fmla="*/ 179 h 511"/>
                <a:gd name="T34" fmla="*/ 593 w 1071"/>
                <a:gd name="T35" fmla="*/ 205 h 511"/>
                <a:gd name="T36" fmla="*/ 665 w 1071"/>
                <a:gd name="T37" fmla="*/ 231 h 511"/>
                <a:gd name="T38" fmla="*/ 737 w 1071"/>
                <a:gd name="T39" fmla="*/ 257 h 511"/>
                <a:gd name="T40" fmla="*/ 804 w 1071"/>
                <a:gd name="T41" fmla="*/ 282 h 511"/>
                <a:gd name="T42" fmla="*/ 867 w 1071"/>
                <a:gd name="T43" fmla="*/ 305 h 511"/>
                <a:gd name="T44" fmla="*/ 924 w 1071"/>
                <a:gd name="T45" fmla="*/ 325 h 511"/>
                <a:gd name="T46" fmla="*/ 970 w 1071"/>
                <a:gd name="T47" fmla="*/ 342 h 511"/>
                <a:gd name="T48" fmla="*/ 1005 w 1071"/>
                <a:gd name="T49" fmla="*/ 354 h 511"/>
                <a:gd name="T50" fmla="*/ 1026 w 1071"/>
                <a:gd name="T51" fmla="*/ 363 h 511"/>
                <a:gd name="T52" fmla="*/ 1066 w 1071"/>
                <a:gd name="T53" fmla="*/ 403 h 511"/>
                <a:gd name="T54" fmla="*/ 1067 w 1071"/>
                <a:gd name="T55" fmla="*/ 459 h 511"/>
                <a:gd name="T56" fmla="*/ 1032 w 1071"/>
                <a:gd name="T57" fmla="*/ 502 h 511"/>
                <a:gd name="T58" fmla="*/ 970 w 1071"/>
                <a:gd name="T59" fmla="*/ 506 h 511"/>
                <a:gd name="T60" fmla="*/ 953 w 1071"/>
                <a:gd name="T61" fmla="*/ 500 h 511"/>
                <a:gd name="T62" fmla="*/ 923 w 1071"/>
                <a:gd name="T63" fmla="*/ 488 h 511"/>
                <a:gd name="T64" fmla="*/ 878 w 1071"/>
                <a:gd name="T65" fmla="*/ 471 h 511"/>
                <a:gd name="T66" fmla="*/ 824 w 1071"/>
                <a:gd name="T67" fmla="*/ 452 h 511"/>
                <a:gd name="T68" fmla="*/ 761 w 1071"/>
                <a:gd name="T69" fmla="*/ 428 h 511"/>
                <a:gd name="T70" fmla="*/ 692 w 1071"/>
                <a:gd name="T71" fmla="*/ 402 h 511"/>
                <a:gd name="T72" fmla="*/ 620 w 1071"/>
                <a:gd name="T73" fmla="*/ 374 h 511"/>
                <a:gd name="T74" fmla="*/ 544 w 1071"/>
                <a:gd name="T75" fmla="*/ 346 h 511"/>
                <a:gd name="T76" fmla="*/ 471 w 1071"/>
                <a:gd name="T77" fmla="*/ 319 h 511"/>
                <a:gd name="T78" fmla="*/ 399 w 1071"/>
                <a:gd name="T79" fmla="*/ 291 h 511"/>
                <a:gd name="T80" fmla="*/ 333 w 1071"/>
                <a:gd name="T81" fmla="*/ 267 h 511"/>
                <a:gd name="T82" fmla="*/ 273 w 1071"/>
                <a:gd name="T83" fmla="*/ 243 h 511"/>
                <a:gd name="T84" fmla="*/ 223 w 1071"/>
                <a:gd name="T85" fmla="*/ 225 h 511"/>
                <a:gd name="T86" fmla="*/ 185 w 1071"/>
                <a:gd name="T87" fmla="*/ 210 h 511"/>
                <a:gd name="T88" fmla="*/ 160 w 1071"/>
                <a:gd name="T89" fmla="*/ 202 h 511"/>
                <a:gd name="T90" fmla="*/ 152 w 1071"/>
                <a:gd name="T91" fmla="*/ 198 h 511"/>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071"/>
                <a:gd name="T139" fmla="*/ 0 h 511"/>
                <a:gd name="T140" fmla="*/ 1071 w 1071"/>
                <a:gd name="T141" fmla="*/ 511 h 511"/>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071" h="511">
                  <a:moveTo>
                    <a:pt x="152" y="198"/>
                  </a:moveTo>
                  <a:lnTo>
                    <a:pt x="31" y="154"/>
                  </a:lnTo>
                  <a:lnTo>
                    <a:pt x="27" y="158"/>
                  </a:lnTo>
                  <a:lnTo>
                    <a:pt x="22" y="161"/>
                  </a:lnTo>
                  <a:lnTo>
                    <a:pt x="17" y="162"/>
                  </a:lnTo>
                  <a:lnTo>
                    <a:pt x="11" y="161"/>
                  </a:lnTo>
                  <a:lnTo>
                    <a:pt x="5" y="157"/>
                  </a:lnTo>
                  <a:lnTo>
                    <a:pt x="1" y="151"/>
                  </a:lnTo>
                  <a:lnTo>
                    <a:pt x="0" y="145"/>
                  </a:lnTo>
                  <a:lnTo>
                    <a:pt x="1" y="139"/>
                  </a:lnTo>
                  <a:lnTo>
                    <a:pt x="48" y="11"/>
                  </a:lnTo>
                  <a:lnTo>
                    <a:pt x="52" y="6"/>
                  </a:lnTo>
                  <a:lnTo>
                    <a:pt x="57" y="2"/>
                  </a:lnTo>
                  <a:lnTo>
                    <a:pt x="63" y="0"/>
                  </a:lnTo>
                  <a:lnTo>
                    <a:pt x="69" y="1"/>
                  </a:lnTo>
                  <a:lnTo>
                    <a:pt x="75" y="5"/>
                  </a:lnTo>
                  <a:lnTo>
                    <a:pt x="79" y="8"/>
                  </a:lnTo>
                  <a:lnTo>
                    <a:pt x="80" y="14"/>
                  </a:lnTo>
                  <a:lnTo>
                    <a:pt x="80" y="21"/>
                  </a:lnTo>
                  <a:lnTo>
                    <a:pt x="214" y="70"/>
                  </a:lnTo>
                  <a:lnTo>
                    <a:pt x="217" y="71"/>
                  </a:lnTo>
                  <a:lnTo>
                    <a:pt x="223" y="72"/>
                  </a:lnTo>
                  <a:lnTo>
                    <a:pt x="233" y="76"/>
                  </a:lnTo>
                  <a:lnTo>
                    <a:pt x="246" y="81"/>
                  </a:lnTo>
                  <a:lnTo>
                    <a:pt x="262" y="87"/>
                  </a:lnTo>
                  <a:lnTo>
                    <a:pt x="283" y="94"/>
                  </a:lnTo>
                  <a:lnTo>
                    <a:pt x="306" y="102"/>
                  </a:lnTo>
                  <a:lnTo>
                    <a:pt x="330" y="112"/>
                  </a:lnTo>
                  <a:lnTo>
                    <a:pt x="358" y="122"/>
                  </a:lnTo>
                  <a:lnTo>
                    <a:pt x="388" y="131"/>
                  </a:lnTo>
                  <a:lnTo>
                    <a:pt x="419" y="142"/>
                  </a:lnTo>
                  <a:lnTo>
                    <a:pt x="451" y="155"/>
                  </a:lnTo>
                  <a:lnTo>
                    <a:pt x="485" y="167"/>
                  </a:lnTo>
                  <a:lnTo>
                    <a:pt x="520" y="179"/>
                  </a:lnTo>
                  <a:lnTo>
                    <a:pt x="556" y="192"/>
                  </a:lnTo>
                  <a:lnTo>
                    <a:pt x="593" y="205"/>
                  </a:lnTo>
                  <a:lnTo>
                    <a:pt x="628" y="219"/>
                  </a:lnTo>
                  <a:lnTo>
                    <a:pt x="665" y="231"/>
                  </a:lnTo>
                  <a:lnTo>
                    <a:pt x="701" y="245"/>
                  </a:lnTo>
                  <a:lnTo>
                    <a:pt x="737" y="257"/>
                  </a:lnTo>
                  <a:lnTo>
                    <a:pt x="771" y="269"/>
                  </a:lnTo>
                  <a:lnTo>
                    <a:pt x="804" y="282"/>
                  </a:lnTo>
                  <a:lnTo>
                    <a:pt x="836" y="294"/>
                  </a:lnTo>
                  <a:lnTo>
                    <a:pt x="867" y="305"/>
                  </a:lnTo>
                  <a:lnTo>
                    <a:pt x="897" y="315"/>
                  </a:lnTo>
                  <a:lnTo>
                    <a:pt x="924" y="325"/>
                  </a:lnTo>
                  <a:lnTo>
                    <a:pt x="947" y="333"/>
                  </a:lnTo>
                  <a:lnTo>
                    <a:pt x="970" y="342"/>
                  </a:lnTo>
                  <a:lnTo>
                    <a:pt x="989" y="349"/>
                  </a:lnTo>
                  <a:lnTo>
                    <a:pt x="1005" y="354"/>
                  </a:lnTo>
                  <a:lnTo>
                    <a:pt x="1018" y="359"/>
                  </a:lnTo>
                  <a:lnTo>
                    <a:pt x="1026" y="363"/>
                  </a:lnTo>
                  <a:lnTo>
                    <a:pt x="1052" y="380"/>
                  </a:lnTo>
                  <a:lnTo>
                    <a:pt x="1066" y="403"/>
                  </a:lnTo>
                  <a:lnTo>
                    <a:pt x="1071" y="431"/>
                  </a:lnTo>
                  <a:lnTo>
                    <a:pt x="1067" y="459"/>
                  </a:lnTo>
                  <a:lnTo>
                    <a:pt x="1053" y="484"/>
                  </a:lnTo>
                  <a:lnTo>
                    <a:pt x="1032" y="502"/>
                  </a:lnTo>
                  <a:lnTo>
                    <a:pt x="1004" y="511"/>
                  </a:lnTo>
                  <a:lnTo>
                    <a:pt x="970" y="506"/>
                  </a:lnTo>
                  <a:lnTo>
                    <a:pt x="963" y="503"/>
                  </a:lnTo>
                  <a:lnTo>
                    <a:pt x="953" y="500"/>
                  </a:lnTo>
                  <a:lnTo>
                    <a:pt x="940" y="495"/>
                  </a:lnTo>
                  <a:lnTo>
                    <a:pt x="923" y="488"/>
                  </a:lnTo>
                  <a:lnTo>
                    <a:pt x="902" y="481"/>
                  </a:lnTo>
                  <a:lnTo>
                    <a:pt x="878" y="471"/>
                  </a:lnTo>
                  <a:lnTo>
                    <a:pt x="852" y="463"/>
                  </a:lnTo>
                  <a:lnTo>
                    <a:pt x="824" y="452"/>
                  </a:lnTo>
                  <a:lnTo>
                    <a:pt x="793" y="440"/>
                  </a:lnTo>
                  <a:lnTo>
                    <a:pt x="761" y="428"/>
                  </a:lnTo>
                  <a:lnTo>
                    <a:pt x="727" y="415"/>
                  </a:lnTo>
                  <a:lnTo>
                    <a:pt x="692" y="402"/>
                  </a:lnTo>
                  <a:lnTo>
                    <a:pt x="657" y="389"/>
                  </a:lnTo>
                  <a:lnTo>
                    <a:pt x="620" y="374"/>
                  </a:lnTo>
                  <a:lnTo>
                    <a:pt x="583" y="360"/>
                  </a:lnTo>
                  <a:lnTo>
                    <a:pt x="544" y="346"/>
                  </a:lnTo>
                  <a:lnTo>
                    <a:pt x="508" y="332"/>
                  </a:lnTo>
                  <a:lnTo>
                    <a:pt x="471" y="319"/>
                  </a:lnTo>
                  <a:lnTo>
                    <a:pt x="435" y="305"/>
                  </a:lnTo>
                  <a:lnTo>
                    <a:pt x="399" y="291"/>
                  </a:lnTo>
                  <a:lnTo>
                    <a:pt x="366" y="279"/>
                  </a:lnTo>
                  <a:lnTo>
                    <a:pt x="333" y="267"/>
                  </a:lnTo>
                  <a:lnTo>
                    <a:pt x="302" y="255"/>
                  </a:lnTo>
                  <a:lnTo>
                    <a:pt x="273" y="243"/>
                  </a:lnTo>
                  <a:lnTo>
                    <a:pt x="248" y="234"/>
                  </a:lnTo>
                  <a:lnTo>
                    <a:pt x="223" y="225"/>
                  </a:lnTo>
                  <a:lnTo>
                    <a:pt x="202" y="218"/>
                  </a:lnTo>
                  <a:lnTo>
                    <a:pt x="185" y="210"/>
                  </a:lnTo>
                  <a:lnTo>
                    <a:pt x="171" y="205"/>
                  </a:lnTo>
                  <a:lnTo>
                    <a:pt x="160" y="202"/>
                  </a:lnTo>
                  <a:lnTo>
                    <a:pt x="154" y="199"/>
                  </a:lnTo>
                  <a:lnTo>
                    <a:pt x="152" y="198"/>
                  </a:lnTo>
                  <a:close/>
                </a:path>
              </a:pathLst>
            </a:custGeom>
            <a:solidFill>
              <a:srgbClr val="3F9E9E"/>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074" name="Freeform 80"/>
            <p:cNvSpPr>
              <a:spLocks/>
            </p:cNvSpPr>
            <p:nvPr/>
          </p:nvSpPr>
          <p:spPr bwMode="auto">
            <a:xfrm>
              <a:off x="4206" y="2250"/>
              <a:ext cx="59" cy="142"/>
            </a:xfrm>
            <a:custGeom>
              <a:avLst/>
              <a:gdLst>
                <a:gd name="T0" fmla="*/ 12 w 59"/>
                <a:gd name="T1" fmla="*/ 138 h 142"/>
                <a:gd name="T2" fmla="*/ 11 w 59"/>
                <a:gd name="T3" fmla="*/ 140 h 142"/>
                <a:gd name="T4" fmla="*/ 9 w 59"/>
                <a:gd name="T5" fmla="*/ 142 h 142"/>
                <a:gd name="T6" fmla="*/ 6 w 59"/>
                <a:gd name="T7" fmla="*/ 142 h 142"/>
                <a:gd name="T8" fmla="*/ 4 w 59"/>
                <a:gd name="T9" fmla="*/ 142 h 142"/>
                <a:gd name="T10" fmla="*/ 4 w 59"/>
                <a:gd name="T11" fmla="*/ 142 h 142"/>
                <a:gd name="T12" fmla="*/ 1 w 59"/>
                <a:gd name="T13" fmla="*/ 140 h 142"/>
                <a:gd name="T14" fmla="*/ 0 w 59"/>
                <a:gd name="T15" fmla="*/ 138 h 142"/>
                <a:gd name="T16" fmla="*/ 0 w 59"/>
                <a:gd name="T17" fmla="*/ 137 h 142"/>
                <a:gd name="T18" fmla="*/ 0 w 59"/>
                <a:gd name="T19" fmla="*/ 134 h 142"/>
                <a:gd name="T20" fmla="*/ 48 w 59"/>
                <a:gd name="T21" fmla="*/ 4 h 142"/>
                <a:gd name="T22" fmla="*/ 49 w 59"/>
                <a:gd name="T23" fmla="*/ 1 h 142"/>
                <a:gd name="T24" fmla="*/ 50 w 59"/>
                <a:gd name="T25" fmla="*/ 0 h 142"/>
                <a:gd name="T26" fmla="*/ 53 w 59"/>
                <a:gd name="T27" fmla="*/ 0 h 142"/>
                <a:gd name="T28" fmla="*/ 55 w 59"/>
                <a:gd name="T29" fmla="*/ 0 h 142"/>
                <a:gd name="T30" fmla="*/ 55 w 59"/>
                <a:gd name="T31" fmla="*/ 0 h 142"/>
                <a:gd name="T32" fmla="*/ 58 w 59"/>
                <a:gd name="T33" fmla="*/ 1 h 142"/>
                <a:gd name="T34" fmla="*/ 59 w 59"/>
                <a:gd name="T35" fmla="*/ 4 h 142"/>
                <a:gd name="T36" fmla="*/ 59 w 59"/>
                <a:gd name="T37" fmla="*/ 5 h 142"/>
                <a:gd name="T38" fmla="*/ 59 w 59"/>
                <a:gd name="T39" fmla="*/ 7 h 142"/>
                <a:gd name="T40" fmla="*/ 12 w 59"/>
                <a:gd name="T41" fmla="*/ 138 h 14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9"/>
                <a:gd name="T64" fmla="*/ 0 h 142"/>
                <a:gd name="T65" fmla="*/ 59 w 59"/>
                <a:gd name="T66" fmla="*/ 142 h 14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9" h="142">
                  <a:moveTo>
                    <a:pt x="12" y="138"/>
                  </a:moveTo>
                  <a:lnTo>
                    <a:pt x="11" y="140"/>
                  </a:lnTo>
                  <a:lnTo>
                    <a:pt x="9" y="142"/>
                  </a:lnTo>
                  <a:lnTo>
                    <a:pt x="6" y="142"/>
                  </a:lnTo>
                  <a:lnTo>
                    <a:pt x="4" y="142"/>
                  </a:lnTo>
                  <a:lnTo>
                    <a:pt x="1" y="140"/>
                  </a:lnTo>
                  <a:lnTo>
                    <a:pt x="0" y="138"/>
                  </a:lnTo>
                  <a:lnTo>
                    <a:pt x="0" y="137"/>
                  </a:lnTo>
                  <a:lnTo>
                    <a:pt x="0" y="134"/>
                  </a:lnTo>
                  <a:lnTo>
                    <a:pt x="48" y="4"/>
                  </a:lnTo>
                  <a:lnTo>
                    <a:pt x="49" y="1"/>
                  </a:lnTo>
                  <a:lnTo>
                    <a:pt x="50" y="0"/>
                  </a:lnTo>
                  <a:lnTo>
                    <a:pt x="53" y="0"/>
                  </a:lnTo>
                  <a:lnTo>
                    <a:pt x="55" y="0"/>
                  </a:lnTo>
                  <a:lnTo>
                    <a:pt x="58" y="1"/>
                  </a:lnTo>
                  <a:lnTo>
                    <a:pt x="59" y="4"/>
                  </a:lnTo>
                  <a:lnTo>
                    <a:pt x="59" y="5"/>
                  </a:lnTo>
                  <a:lnTo>
                    <a:pt x="59" y="7"/>
                  </a:lnTo>
                  <a:lnTo>
                    <a:pt x="12" y="138"/>
                  </a:lnTo>
                  <a:close/>
                </a:path>
              </a:pathLst>
            </a:custGeom>
            <a:solidFill>
              <a:srgbClr val="FFFFFF"/>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075" name="Freeform 81"/>
            <p:cNvSpPr>
              <a:spLocks/>
            </p:cNvSpPr>
            <p:nvPr/>
          </p:nvSpPr>
          <p:spPr bwMode="auto">
            <a:xfrm>
              <a:off x="4237" y="2273"/>
              <a:ext cx="1015" cy="463"/>
            </a:xfrm>
            <a:custGeom>
              <a:avLst/>
              <a:gdLst>
                <a:gd name="T0" fmla="*/ 924 w 1015"/>
                <a:gd name="T1" fmla="*/ 457 h 463"/>
                <a:gd name="T2" fmla="*/ 892 w 1015"/>
                <a:gd name="T3" fmla="*/ 446 h 463"/>
                <a:gd name="T4" fmla="*/ 846 w 1015"/>
                <a:gd name="T5" fmla="*/ 429 h 463"/>
                <a:gd name="T6" fmla="*/ 788 w 1015"/>
                <a:gd name="T7" fmla="*/ 408 h 463"/>
                <a:gd name="T8" fmla="*/ 720 w 1015"/>
                <a:gd name="T9" fmla="*/ 383 h 463"/>
                <a:gd name="T10" fmla="*/ 644 w 1015"/>
                <a:gd name="T11" fmla="*/ 355 h 463"/>
                <a:gd name="T12" fmla="*/ 564 w 1015"/>
                <a:gd name="T13" fmla="*/ 325 h 463"/>
                <a:gd name="T14" fmla="*/ 480 w 1015"/>
                <a:gd name="T15" fmla="*/ 295 h 463"/>
                <a:gd name="T16" fmla="*/ 396 w 1015"/>
                <a:gd name="T17" fmla="*/ 263 h 463"/>
                <a:gd name="T18" fmla="*/ 315 w 1015"/>
                <a:gd name="T19" fmla="*/ 233 h 463"/>
                <a:gd name="T20" fmla="*/ 237 w 1015"/>
                <a:gd name="T21" fmla="*/ 204 h 463"/>
                <a:gd name="T22" fmla="*/ 167 w 1015"/>
                <a:gd name="T23" fmla="*/ 178 h 463"/>
                <a:gd name="T24" fmla="*/ 106 w 1015"/>
                <a:gd name="T25" fmla="*/ 154 h 463"/>
                <a:gd name="T26" fmla="*/ 56 w 1015"/>
                <a:gd name="T27" fmla="*/ 136 h 463"/>
                <a:gd name="T28" fmla="*/ 21 w 1015"/>
                <a:gd name="T29" fmla="*/ 122 h 463"/>
                <a:gd name="T30" fmla="*/ 2 w 1015"/>
                <a:gd name="T31" fmla="*/ 116 h 463"/>
                <a:gd name="T32" fmla="*/ 40 w 1015"/>
                <a:gd name="T33" fmla="*/ 0 h 463"/>
                <a:gd name="T34" fmla="*/ 50 w 1015"/>
                <a:gd name="T35" fmla="*/ 4 h 463"/>
                <a:gd name="T36" fmla="*/ 79 w 1015"/>
                <a:gd name="T37" fmla="*/ 14 h 463"/>
                <a:gd name="T38" fmla="*/ 123 w 1015"/>
                <a:gd name="T39" fmla="*/ 30 h 463"/>
                <a:gd name="T40" fmla="*/ 180 w 1015"/>
                <a:gd name="T41" fmla="*/ 50 h 463"/>
                <a:gd name="T42" fmla="*/ 247 w 1015"/>
                <a:gd name="T43" fmla="*/ 74 h 463"/>
                <a:gd name="T44" fmla="*/ 324 w 1015"/>
                <a:gd name="T45" fmla="*/ 101 h 463"/>
                <a:gd name="T46" fmla="*/ 405 w 1015"/>
                <a:gd name="T47" fmla="*/ 131 h 463"/>
                <a:gd name="T48" fmla="*/ 490 w 1015"/>
                <a:gd name="T49" fmla="*/ 162 h 463"/>
                <a:gd name="T50" fmla="*/ 575 w 1015"/>
                <a:gd name="T51" fmla="*/ 192 h 463"/>
                <a:gd name="T52" fmla="*/ 659 w 1015"/>
                <a:gd name="T53" fmla="*/ 223 h 463"/>
                <a:gd name="T54" fmla="*/ 738 w 1015"/>
                <a:gd name="T55" fmla="*/ 252 h 463"/>
                <a:gd name="T56" fmla="*/ 809 w 1015"/>
                <a:gd name="T57" fmla="*/ 279 h 463"/>
                <a:gd name="T58" fmla="*/ 872 w 1015"/>
                <a:gd name="T59" fmla="*/ 302 h 463"/>
                <a:gd name="T60" fmla="*/ 922 w 1015"/>
                <a:gd name="T61" fmla="*/ 321 h 463"/>
                <a:gd name="T62" fmla="*/ 959 w 1015"/>
                <a:gd name="T63" fmla="*/ 334 h 463"/>
                <a:gd name="T64" fmla="*/ 978 w 1015"/>
                <a:gd name="T65" fmla="*/ 343 h 463"/>
                <a:gd name="T66" fmla="*/ 1011 w 1015"/>
                <a:gd name="T67" fmla="*/ 378 h 463"/>
                <a:gd name="T68" fmla="*/ 1012 w 1015"/>
                <a:gd name="T69" fmla="*/ 423 h 463"/>
                <a:gd name="T70" fmla="*/ 984 w 1015"/>
                <a:gd name="T71" fmla="*/ 457 h 463"/>
                <a:gd name="T72" fmla="*/ 932 w 1015"/>
                <a:gd name="T73" fmla="*/ 460 h 463"/>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15"/>
                <a:gd name="T112" fmla="*/ 0 h 463"/>
                <a:gd name="T113" fmla="*/ 1015 w 1015"/>
                <a:gd name="T114" fmla="*/ 463 h 463"/>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15" h="463">
                  <a:moveTo>
                    <a:pt x="932" y="460"/>
                  </a:moveTo>
                  <a:lnTo>
                    <a:pt x="924" y="457"/>
                  </a:lnTo>
                  <a:lnTo>
                    <a:pt x="910" y="452"/>
                  </a:lnTo>
                  <a:lnTo>
                    <a:pt x="892" y="446"/>
                  </a:lnTo>
                  <a:lnTo>
                    <a:pt x="871" y="439"/>
                  </a:lnTo>
                  <a:lnTo>
                    <a:pt x="846" y="429"/>
                  </a:lnTo>
                  <a:lnTo>
                    <a:pt x="819" y="419"/>
                  </a:lnTo>
                  <a:lnTo>
                    <a:pt x="788" y="408"/>
                  </a:lnTo>
                  <a:lnTo>
                    <a:pt x="755" y="396"/>
                  </a:lnTo>
                  <a:lnTo>
                    <a:pt x="720" y="383"/>
                  </a:lnTo>
                  <a:lnTo>
                    <a:pt x="683" y="370"/>
                  </a:lnTo>
                  <a:lnTo>
                    <a:pt x="644" y="355"/>
                  </a:lnTo>
                  <a:lnTo>
                    <a:pt x="605" y="340"/>
                  </a:lnTo>
                  <a:lnTo>
                    <a:pt x="564" y="325"/>
                  </a:lnTo>
                  <a:lnTo>
                    <a:pt x="522" y="309"/>
                  </a:lnTo>
                  <a:lnTo>
                    <a:pt x="480" y="295"/>
                  </a:lnTo>
                  <a:lnTo>
                    <a:pt x="438" y="279"/>
                  </a:lnTo>
                  <a:lnTo>
                    <a:pt x="396" y="263"/>
                  </a:lnTo>
                  <a:lnTo>
                    <a:pt x="356" y="248"/>
                  </a:lnTo>
                  <a:lnTo>
                    <a:pt x="315" y="233"/>
                  </a:lnTo>
                  <a:lnTo>
                    <a:pt x="276" y="218"/>
                  </a:lnTo>
                  <a:lnTo>
                    <a:pt x="237" y="204"/>
                  </a:lnTo>
                  <a:lnTo>
                    <a:pt x="201" y="190"/>
                  </a:lnTo>
                  <a:lnTo>
                    <a:pt x="167" y="178"/>
                  </a:lnTo>
                  <a:lnTo>
                    <a:pt x="135" y="165"/>
                  </a:lnTo>
                  <a:lnTo>
                    <a:pt x="106" y="154"/>
                  </a:lnTo>
                  <a:lnTo>
                    <a:pt x="80" y="144"/>
                  </a:lnTo>
                  <a:lnTo>
                    <a:pt x="56" y="136"/>
                  </a:lnTo>
                  <a:lnTo>
                    <a:pt x="37" y="128"/>
                  </a:lnTo>
                  <a:lnTo>
                    <a:pt x="21" y="122"/>
                  </a:lnTo>
                  <a:lnTo>
                    <a:pt x="10" y="119"/>
                  </a:lnTo>
                  <a:lnTo>
                    <a:pt x="2" y="116"/>
                  </a:lnTo>
                  <a:lnTo>
                    <a:pt x="0" y="115"/>
                  </a:lnTo>
                  <a:lnTo>
                    <a:pt x="40" y="0"/>
                  </a:lnTo>
                  <a:lnTo>
                    <a:pt x="43" y="2"/>
                  </a:lnTo>
                  <a:lnTo>
                    <a:pt x="50" y="4"/>
                  </a:lnTo>
                  <a:lnTo>
                    <a:pt x="63" y="8"/>
                  </a:lnTo>
                  <a:lnTo>
                    <a:pt x="79" y="14"/>
                  </a:lnTo>
                  <a:lnTo>
                    <a:pt x="98" y="21"/>
                  </a:lnTo>
                  <a:lnTo>
                    <a:pt x="123" y="30"/>
                  </a:lnTo>
                  <a:lnTo>
                    <a:pt x="150" y="40"/>
                  </a:lnTo>
                  <a:lnTo>
                    <a:pt x="180" y="50"/>
                  </a:lnTo>
                  <a:lnTo>
                    <a:pt x="213" y="62"/>
                  </a:lnTo>
                  <a:lnTo>
                    <a:pt x="247" y="74"/>
                  </a:lnTo>
                  <a:lnTo>
                    <a:pt x="284" y="88"/>
                  </a:lnTo>
                  <a:lnTo>
                    <a:pt x="324" y="101"/>
                  </a:lnTo>
                  <a:lnTo>
                    <a:pt x="363" y="116"/>
                  </a:lnTo>
                  <a:lnTo>
                    <a:pt x="405" y="131"/>
                  </a:lnTo>
                  <a:lnTo>
                    <a:pt x="447" y="147"/>
                  </a:lnTo>
                  <a:lnTo>
                    <a:pt x="490" y="162"/>
                  </a:lnTo>
                  <a:lnTo>
                    <a:pt x="532" y="178"/>
                  </a:lnTo>
                  <a:lnTo>
                    <a:pt x="575" y="192"/>
                  </a:lnTo>
                  <a:lnTo>
                    <a:pt x="617" y="209"/>
                  </a:lnTo>
                  <a:lnTo>
                    <a:pt x="659" y="223"/>
                  </a:lnTo>
                  <a:lnTo>
                    <a:pt x="698" y="238"/>
                  </a:lnTo>
                  <a:lnTo>
                    <a:pt x="738" y="252"/>
                  </a:lnTo>
                  <a:lnTo>
                    <a:pt x="775" y="265"/>
                  </a:lnTo>
                  <a:lnTo>
                    <a:pt x="809" y="279"/>
                  </a:lnTo>
                  <a:lnTo>
                    <a:pt x="842" y="291"/>
                  </a:lnTo>
                  <a:lnTo>
                    <a:pt x="872" y="302"/>
                  </a:lnTo>
                  <a:lnTo>
                    <a:pt x="899" y="312"/>
                  </a:lnTo>
                  <a:lnTo>
                    <a:pt x="922" y="321"/>
                  </a:lnTo>
                  <a:lnTo>
                    <a:pt x="942" y="328"/>
                  </a:lnTo>
                  <a:lnTo>
                    <a:pt x="959" y="334"/>
                  </a:lnTo>
                  <a:lnTo>
                    <a:pt x="970" y="339"/>
                  </a:lnTo>
                  <a:lnTo>
                    <a:pt x="978" y="343"/>
                  </a:lnTo>
                  <a:lnTo>
                    <a:pt x="999" y="357"/>
                  </a:lnTo>
                  <a:lnTo>
                    <a:pt x="1011" y="378"/>
                  </a:lnTo>
                  <a:lnTo>
                    <a:pt x="1015" y="401"/>
                  </a:lnTo>
                  <a:lnTo>
                    <a:pt x="1012" y="423"/>
                  </a:lnTo>
                  <a:lnTo>
                    <a:pt x="1001" y="442"/>
                  </a:lnTo>
                  <a:lnTo>
                    <a:pt x="984" y="457"/>
                  </a:lnTo>
                  <a:lnTo>
                    <a:pt x="962" y="463"/>
                  </a:lnTo>
                  <a:lnTo>
                    <a:pt x="932" y="460"/>
                  </a:lnTo>
                  <a:close/>
                </a:path>
              </a:pathLst>
            </a:custGeom>
            <a:solidFill>
              <a:srgbClr val="BFFFFF"/>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076" name="Freeform 82"/>
            <p:cNvSpPr>
              <a:spLocks/>
            </p:cNvSpPr>
            <p:nvPr/>
          </p:nvSpPr>
          <p:spPr bwMode="auto">
            <a:xfrm>
              <a:off x="4670" y="2514"/>
              <a:ext cx="569" cy="213"/>
            </a:xfrm>
            <a:custGeom>
              <a:avLst/>
              <a:gdLst>
                <a:gd name="T0" fmla="*/ 0 w 569"/>
                <a:gd name="T1" fmla="*/ 12 h 213"/>
                <a:gd name="T2" fmla="*/ 4 w 569"/>
                <a:gd name="T3" fmla="*/ 6 h 213"/>
                <a:gd name="T4" fmla="*/ 14 w 569"/>
                <a:gd name="T5" fmla="*/ 2 h 213"/>
                <a:gd name="T6" fmla="*/ 26 w 569"/>
                <a:gd name="T7" fmla="*/ 0 h 213"/>
                <a:gd name="T8" fmla="*/ 41 w 569"/>
                <a:gd name="T9" fmla="*/ 0 h 213"/>
                <a:gd name="T10" fmla="*/ 59 w 569"/>
                <a:gd name="T11" fmla="*/ 1 h 213"/>
                <a:gd name="T12" fmla="*/ 79 w 569"/>
                <a:gd name="T13" fmla="*/ 2 h 213"/>
                <a:gd name="T14" fmla="*/ 100 w 569"/>
                <a:gd name="T15" fmla="*/ 4 h 213"/>
                <a:gd name="T16" fmla="*/ 122 w 569"/>
                <a:gd name="T17" fmla="*/ 7 h 213"/>
                <a:gd name="T18" fmla="*/ 144 w 569"/>
                <a:gd name="T19" fmla="*/ 11 h 213"/>
                <a:gd name="T20" fmla="*/ 165 w 569"/>
                <a:gd name="T21" fmla="*/ 13 h 213"/>
                <a:gd name="T22" fmla="*/ 185 w 569"/>
                <a:gd name="T23" fmla="*/ 14 h 213"/>
                <a:gd name="T24" fmla="*/ 202 w 569"/>
                <a:gd name="T25" fmla="*/ 16 h 213"/>
                <a:gd name="T26" fmla="*/ 218 w 569"/>
                <a:gd name="T27" fmla="*/ 16 h 213"/>
                <a:gd name="T28" fmla="*/ 229 w 569"/>
                <a:gd name="T29" fmla="*/ 13 h 213"/>
                <a:gd name="T30" fmla="*/ 238 w 569"/>
                <a:gd name="T31" fmla="*/ 9 h 213"/>
                <a:gd name="T32" fmla="*/ 242 w 569"/>
                <a:gd name="T33" fmla="*/ 3 h 213"/>
                <a:gd name="T34" fmla="*/ 245 w 569"/>
                <a:gd name="T35" fmla="*/ 4 h 213"/>
                <a:gd name="T36" fmla="*/ 255 w 569"/>
                <a:gd name="T37" fmla="*/ 8 h 213"/>
                <a:gd name="T38" fmla="*/ 271 w 569"/>
                <a:gd name="T39" fmla="*/ 14 h 213"/>
                <a:gd name="T40" fmla="*/ 292 w 569"/>
                <a:gd name="T41" fmla="*/ 22 h 213"/>
                <a:gd name="T42" fmla="*/ 316 w 569"/>
                <a:gd name="T43" fmla="*/ 30 h 213"/>
                <a:gd name="T44" fmla="*/ 343 w 569"/>
                <a:gd name="T45" fmla="*/ 40 h 213"/>
                <a:gd name="T46" fmla="*/ 372 w 569"/>
                <a:gd name="T47" fmla="*/ 50 h 213"/>
                <a:gd name="T48" fmla="*/ 402 w 569"/>
                <a:gd name="T49" fmla="*/ 61 h 213"/>
                <a:gd name="T50" fmla="*/ 432 w 569"/>
                <a:gd name="T51" fmla="*/ 72 h 213"/>
                <a:gd name="T52" fmla="*/ 461 w 569"/>
                <a:gd name="T53" fmla="*/ 83 h 213"/>
                <a:gd name="T54" fmla="*/ 487 w 569"/>
                <a:gd name="T55" fmla="*/ 93 h 213"/>
                <a:gd name="T56" fmla="*/ 512 w 569"/>
                <a:gd name="T57" fmla="*/ 103 h 213"/>
                <a:gd name="T58" fmla="*/ 531 w 569"/>
                <a:gd name="T59" fmla="*/ 110 h 213"/>
                <a:gd name="T60" fmla="*/ 547 w 569"/>
                <a:gd name="T61" fmla="*/ 116 h 213"/>
                <a:gd name="T62" fmla="*/ 557 w 569"/>
                <a:gd name="T63" fmla="*/ 121 h 213"/>
                <a:gd name="T64" fmla="*/ 560 w 569"/>
                <a:gd name="T65" fmla="*/ 124 h 213"/>
                <a:gd name="T66" fmla="*/ 567 w 569"/>
                <a:gd name="T67" fmla="*/ 137 h 213"/>
                <a:gd name="T68" fmla="*/ 569 w 569"/>
                <a:gd name="T69" fmla="*/ 153 h 213"/>
                <a:gd name="T70" fmla="*/ 568 w 569"/>
                <a:gd name="T71" fmla="*/ 168 h 213"/>
                <a:gd name="T72" fmla="*/ 562 w 569"/>
                <a:gd name="T73" fmla="*/ 183 h 213"/>
                <a:gd name="T74" fmla="*/ 553 w 569"/>
                <a:gd name="T75" fmla="*/ 197 h 213"/>
                <a:gd name="T76" fmla="*/ 542 w 569"/>
                <a:gd name="T77" fmla="*/ 206 h 213"/>
                <a:gd name="T78" fmla="*/ 531 w 569"/>
                <a:gd name="T79" fmla="*/ 211 h 213"/>
                <a:gd name="T80" fmla="*/ 519 w 569"/>
                <a:gd name="T81" fmla="*/ 213 h 213"/>
                <a:gd name="T82" fmla="*/ 507 w 569"/>
                <a:gd name="T83" fmla="*/ 209 h 213"/>
                <a:gd name="T84" fmla="*/ 484 w 569"/>
                <a:gd name="T85" fmla="*/ 201 h 213"/>
                <a:gd name="T86" fmla="*/ 456 w 569"/>
                <a:gd name="T87" fmla="*/ 190 h 213"/>
                <a:gd name="T88" fmla="*/ 420 w 569"/>
                <a:gd name="T89" fmla="*/ 177 h 213"/>
                <a:gd name="T90" fmla="*/ 380 w 569"/>
                <a:gd name="T91" fmla="*/ 162 h 213"/>
                <a:gd name="T92" fmla="*/ 337 w 569"/>
                <a:gd name="T93" fmla="*/ 145 h 213"/>
                <a:gd name="T94" fmla="*/ 291 w 569"/>
                <a:gd name="T95" fmla="*/ 126 h 213"/>
                <a:gd name="T96" fmla="*/ 244 w 569"/>
                <a:gd name="T97" fmla="*/ 108 h 213"/>
                <a:gd name="T98" fmla="*/ 197 w 569"/>
                <a:gd name="T99" fmla="*/ 91 h 213"/>
                <a:gd name="T100" fmla="*/ 153 w 569"/>
                <a:gd name="T101" fmla="*/ 72 h 213"/>
                <a:gd name="T102" fmla="*/ 112 w 569"/>
                <a:gd name="T103" fmla="*/ 56 h 213"/>
                <a:gd name="T104" fmla="*/ 75 w 569"/>
                <a:gd name="T105" fmla="*/ 41 h 213"/>
                <a:gd name="T106" fmla="*/ 45 w 569"/>
                <a:gd name="T107" fmla="*/ 29 h 213"/>
                <a:gd name="T108" fmla="*/ 21 w 569"/>
                <a:gd name="T109" fmla="*/ 20 h 213"/>
                <a:gd name="T110" fmla="*/ 5 w 569"/>
                <a:gd name="T111" fmla="*/ 14 h 213"/>
                <a:gd name="T112" fmla="*/ 0 w 569"/>
                <a:gd name="T113" fmla="*/ 12 h 21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69"/>
                <a:gd name="T172" fmla="*/ 0 h 213"/>
                <a:gd name="T173" fmla="*/ 569 w 569"/>
                <a:gd name="T174" fmla="*/ 213 h 21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569" h="213">
                  <a:moveTo>
                    <a:pt x="0" y="12"/>
                  </a:moveTo>
                  <a:lnTo>
                    <a:pt x="4" y="6"/>
                  </a:lnTo>
                  <a:lnTo>
                    <a:pt x="14" y="2"/>
                  </a:lnTo>
                  <a:lnTo>
                    <a:pt x="26" y="0"/>
                  </a:lnTo>
                  <a:lnTo>
                    <a:pt x="41" y="0"/>
                  </a:lnTo>
                  <a:lnTo>
                    <a:pt x="59" y="1"/>
                  </a:lnTo>
                  <a:lnTo>
                    <a:pt x="79" y="2"/>
                  </a:lnTo>
                  <a:lnTo>
                    <a:pt x="100" y="4"/>
                  </a:lnTo>
                  <a:lnTo>
                    <a:pt x="122" y="7"/>
                  </a:lnTo>
                  <a:lnTo>
                    <a:pt x="144" y="11"/>
                  </a:lnTo>
                  <a:lnTo>
                    <a:pt x="165" y="13"/>
                  </a:lnTo>
                  <a:lnTo>
                    <a:pt x="185" y="14"/>
                  </a:lnTo>
                  <a:lnTo>
                    <a:pt x="202" y="16"/>
                  </a:lnTo>
                  <a:lnTo>
                    <a:pt x="218" y="16"/>
                  </a:lnTo>
                  <a:lnTo>
                    <a:pt x="229" y="13"/>
                  </a:lnTo>
                  <a:lnTo>
                    <a:pt x="238" y="9"/>
                  </a:lnTo>
                  <a:lnTo>
                    <a:pt x="242" y="3"/>
                  </a:lnTo>
                  <a:lnTo>
                    <a:pt x="245" y="4"/>
                  </a:lnTo>
                  <a:lnTo>
                    <a:pt x="255" y="8"/>
                  </a:lnTo>
                  <a:lnTo>
                    <a:pt x="271" y="14"/>
                  </a:lnTo>
                  <a:lnTo>
                    <a:pt x="292" y="22"/>
                  </a:lnTo>
                  <a:lnTo>
                    <a:pt x="316" y="30"/>
                  </a:lnTo>
                  <a:lnTo>
                    <a:pt x="343" y="40"/>
                  </a:lnTo>
                  <a:lnTo>
                    <a:pt x="372" y="50"/>
                  </a:lnTo>
                  <a:lnTo>
                    <a:pt x="402" y="61"/>
                  </a:lnTo>
                  <a:lnTo>
                    <a:pt x="432" y="72"/>
                  </a:lnTo>
                  <a:lnTo>
                    <a:pt x="461" y="83"/>
                  </a:lnTo>
                  <a:lnTo>
                    <a:pt x="487" y="93"/>
                  </a:lnTo>
                  <a:lnTo>
                    <a:pt x="512" y="103"/>
                  </a:lnTo>
                  <a:lnTo>
                    <a:pt x="531" y="110"/>
                  </a:lnTo>
                  <a:lnTo>
                    <a:pt x="547" y="116"/>
                  </a:lnTo>
                  <a:lnTo>
                    <a:pt x="557" y="121"/>
                  </a:lnTo>
                  <a:lnTo>
                    <a:pt x="560" y="124"/>
                  </a:lnTo>
                  <a:lnTo>
                    <a:pt x="567" y="137"/>
                  </a:lnTo>
                  <a:lnTo>
                    <a:pt x="569" y="153"/>
                  </a:lnTo>
                  <a:lnTo>
                    <a:pt x="568" y="168"/>
                  </a:lnTo>
                  <a:lnTo>
                    <a:pt x="562" y="183"/>
                  </a:lnTo>
                  <a:lnTo>
                    <a:pt x="553" y="197"/>
                  </a:lnTo>
                  <a:lnTo>
                    <a:pt x="542" y="206"/>
                  </a:lnTo>
                  <a:lnTo>
                    <a:pt x="531" y="211"/>
                  </a:lnTo>
                  <a:lnTo>
                    <a:pt x="519" y="213"/>
                  </a:lnTo>
                  <a:lnTo>
                    <a:pt x="507" y="209"/>
                  </a:lnTo>
                  <a:lnTo>
                    <a:pt x="484" y="201"/>
                  </a:lnTo>
                  <a:lnTo>
                    <a:pt x="456" y="190"/>
                  </a:lnTo>
                  <a:lnTo>
                    <a:pt x="420" y="177"/>
                  </a:lnTo>
                  <a:lnTo>
                    <a:pt x="380" y="162"/>
                  </a:lnTo>
                  <a:lnTo>
                    <a:pt x="337" y="145"/>
                  </a:lnTo>
                  <a:lnTo>
                    <a:pt x="291" y="126"/>
                  </a:lnTo>
                  <a:lnTo>
                    <a:pt x="244" y="108"/>
                  </a:lnTo>
                  <a:lnTo>
                    <a:pt x="197" y="91"/>
                  </a:lnTo>
                  <a:lnTo>
                    <a:pt x="153" y="72"/>
                  </a:lnTo>
                  <a:lnTo>
                    <a:pt x="112" y="56"/>
                  </a:lnTo>
                  <a:lnTo>
                    <a:pt x="75" y="41"/>
                  </a:lnTo>
                  <a:lnTo>
                    <a:pt x="45" y="29"/>
                  </a:lnTo>
                  <a:lnTo>
                    <a:pt x="21" y="20"/>
                  </a:lnTo>
                  <a:lnTo>
                    <a:pt x="5" y="14"/>
                  </a:lnTo>
                  <a:lnTo>
                    <a:pt x="0" y="12"/>
                  </a:lnTo>
                  <a:close/>
                </a:path>
              </a:pathLst>
            </a:custGeom>
            <a:solidFill>
              <a:srgbClr val="BFFF7F"/>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077" name="Freeform 83"/>
            <p:cNvSpPr>
              <a:spLocks/>
            </p:cNvSpPr>
            <p:nvPr/>
          </p:nvSpPr>
          <p:spPr bwMode="auto">
            <a:xfrm>
              <a:off x="4638" y="2495"/>
              <a:ext cx="310" cy="44"/>
            </a:xfrm>
            <a:custGeom>
              <a:avLst/>
              <a:gdLst>
                <a:gd name="T0" fmla="*/ 154 w 310"/>
                <a:gd name="T1" fmla="*/ 44 h 44"/>
                <a:gd name="T2" fmla="*/ 124 w 310"/>
                <a:gd name="T3" fmla="*/ 43 h 44"/>
                <a:gd name="T4" fmla="*/ 94 w 310"/>
                <a:gd name="T5" fmla="*/ 41 h 44"/>
                <a:gd name="T6" fmla="*/ 68 w 310"/>
                <a:gd name="T7" fmla="*/ 38 h 44"/>
                <a:gd name="T8" fmla="*/ 46 w 310"/>
                <a:gd name="T9" fmla="*/ 35 h 44"/>
                <a:gd name="T10" fmla="*/ 26 w 310"/>
                <a:gd name="T11" fmla="*/ 31 h 44"/>
                <a:gd name="T12" fmla="*/ 13 w 310"/>
                <a:gd name="T13" fmla="*/ 26 h 44"/>
                <a:gd name="T14" fmla="*/ 4 w 310"/>
                <a:gd name="T15" fmla="*/ 22 h 44"/>
                <a:gd name="T16" fmla="*/ 0 w 310"/>
                <a:gd name="T17" fmla="*/ 17 h 44"/>
                <a:gd name="T18" fmla="*/ 4 w 310"/>
                <a:gd name="T19" fmla="*/ 12 h 44"/>
                <a:gd name="T20" fmla="*/ 13 w 310"/>
                <a:gd name="T21" fmla="*/ 9 h 44"/>
                <a:gd name="T22" fmla="*/ 27 w 310"/>
                <a:gd name="T23" fmla="*/ 6 h 44"/>
                <a:gd name="T24" fmla="*/ 47 w 310"/>
                <a:gd name="T25" fmla="*/ 3 h 44"/>
                <a:gd name="T26" fmla="*/ 69 w 310"/>
                <a:gd name="T27" fmla="*/ 1 h 44"/>
                <a:gd name="T28" fmla="*/ 96 w 310"/>
                <a:gd name="T29" fmla="*/ 0 h 44"/>
                <a:gd name="T30" fmla="*/ 125 w 310"/>
                <a:gd name="T31" fmla="*/ 0 h 44"/>
                <a:gd name="T32" fmla="*/ 157 w 310"/>
                <a:gd name="T33" fmla="*/ 0 h 44"/>
                <a:gd name="T34" fmla="*/ 188 w 310"/>
                <a:gd name="T35" fmla="*/ 1 h 44"/>
                <a:gd name="T36" fmla="*/ 217 w 310"/>
                <a:gd name="T37" fmla="*/ 4 h 44"/>
                <a:gd name="T38" fmla="*/ 243 w 310"/>
                <a:gd name="T39" fmla="*/ 6 h 44"/>
                <a:gd name="T40" fmla="*/ 265 w 310"/>
                <a:gd name="T41" fmla="*/ 10 h 44"/>
                <a:gd name="T42" fmla="*/ 284 w 310"/>
                <a:gd name="T43" fmla="*/ 14 h 44"/>
                <a:gd name="T44" fmla="*/ 298 w 310"/>
                <a:gd name="T45" fmla="*/ 19 h 44"/>
                <a:gd name="T46" fmla="*/ 307 w 310"/>
                <a:gd name="T47" fmla="*/ 22 h 44"/>
                <a:gd name="T48" fmla="*/ 310 w 310"/>
                <a:gd name="T49" fmla="*/ 27 h 44"/>
                <a:gd name="T50" fmla="*/ 306 w 310"/>
                <a:gd name="T51" fmla="*/ 32 h 44"/>
                <a:gd name="T52" fmla="*/ 297 w 310"/>
                <a:gd name="T53" fmla="*/ 36 h 44"/>
                <a:gd name="T54" fmla="*/ 282 w 310"/>
                <a:gd name="T55" fmla="*/ 38 h 44"/>
                <a:gd name="T56" fmla="*/ 264 w 310"/>
                <a:gd name="T57" fmla="*/ 41 h 44"/>
                <a:gd name="T58" fmla="*/ 241 w 310"/>
                <a:gd name="T59" fmla="*/ 43 h 44"/>
                <a:gd name="T60" fmla="*/ 215 w 310"/>
                <a:gd name="T61" fmla="*/ 44 h 44"/>
                <a:gd name="T62" fmla="*/ 185 w 310"/>
                <a:gd name="T63" fmla="*/ 44 h 44"/>
                <a:gd name="T64" fmla="*/ 154 w 310"/>
                <a:gd name="T65" fmla="*/ 44 h 4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10"/>
                <a:gd name="T100" fmla="*/ 0 h 44"/>
                <a:gd name="T101" fmla="*/ 310 w 310"/>
                <a:gd name="T102" fmla="*/ 44 h 4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10" h="44">
                  <a:moveTo>
                    <a:pt x="154" y="44"/>
                  </a:moveTo>
                  <a:lnTo>
                    <a:pt x="124" y="43"/>
                  </a:lnTo>
                  <a:lnTo>
                    <a:pt x="94" y="41"/>
                  </a:lnTo>
                  <a:lnTo>
                    <a:pt x="68" y="38"/>
                  </a:lnTo>
                  <a:lnTo>
                    <a:pt x="46" y="35"/>
                  </a:lnTo>
                  <a:lnTo>
                    <a:pt x="26" y="31"/>
                  </a:lnTo>
                  <a:lnTo>
                    <a:pt x="13" y="26"/>
                  </a:lnTo>
                  <a:lnTo>
                    <a:pt x="4" y="22"/>
                  </a:lnTo>
                  <a:lnTo>
                    <a:pt x="0" y="17"/>
                  </a:lnTo>
                  <a:lnTo>
                    <a:pt x="4" y="12"/>
                  </a:lnTo>
                  <a:lnTo>
                    <a:pt x="13" y="9"/>
                  </a:lnTo>
                  <a:lnTo>
                    <a:pt x="27" y="6"/>
                  </a:lnTo>
                  <a:lnTo>
                    <a:pt x="47" y="3"/>
                  </a:lnTo>
                  <a:lnTo>
                    <a:pt x="69" y="1"/>
                  </a:lnTo>
                  <a:lnTo>
                    <a:pt x="96" y="0"/>
                  </a:lnTo>
                  <a:lnTo>
                    <a:pt x="125" y="0"/>
                  </a:lnTo>
                  <a:lnTo>
                    <a:pt x="157" y="0"/>
                  </a:lnTo>
                  <a:lnTo>
                    <a:pt x="188" y="1"/>
                  </a:lnTo>
                  <a:lnTo>
                    <a:pt x="217" y="4"/>
                  </a:lnTo>
                  <a:lnTo>
                    <a:pt x="243" y="6"/>
                  </a:lnTo>
                  <a:lnTo>
                    <a:pt x="265" y="10"/>
                  </a:lnTo>
                  <a:lnTo>
                    <a:pt x="284" y="14"/>
                  </a:lnTo>
                  <a:lnTo>
                    <a:pt x="298" y="19"/>
                  </a:lnTo>
                  <a:lnTo>
                    <a:pt x="307" y="22"/>
                  </a:lnTo>
                  <a:lnTo>
                    <a:pt x="310" y="27"/>
                  </a:lnTo>
                  <a:lnTo>
                    <a:pt x="306" y="32"/>
                  </a:lnTo>
                  <a:lnTo>
                    <a:pt x="297" y="36"/>
                  </a:lnTo>
                  <a:lnTo>
                    <a:pt x="282" y="38"/>
                  </a:lnTo>
                  <a:lnTo>
                    <a:pt x="264" y="41"/>
                  </a:lnTo>
                  <a:lnTo>
                    <a:pt x="241" y="43"/>
                  </a:lnTo>
                  <a:lnTo>
                    <a:pt x="215" y="44"/>
                  </a:lnTo>
                  <a:lnTo>
                    <a:pt x="185" y="44"/>
                  </a:lnTo>
                  <a:lnTo>
                    <a:pt x="154" y="44"/>
                  </a:lnTo>
                  <a:close/>
                </a:path>
              </a:pathLst>
            </a:custGeom>
            <a:solidFill>
              <a:srgbClr val="DDFFBF"/>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078" name="Freeform 84"/>
            <p:cNvSpPr>
              <a:spLocks/>
            </p:cNvSpPr>
            <p:nvPr/>
          </p:nvSpPr>
          <p:spPr bwMode="auto">
            <a:xfrm>
              <a:off x="4228" y="2261"/>
              <a:ext cx="56" cy="132"/>
            </a:xfrm>
            <a:custGeom>
              <a:avLst/>
              <a:gdLst>
                <a:gd name="T0" fmla="*/ 11 w 56"/>
                <a:gd name="T1" fmla="*/ 128 h 132"/>
                <a:gd name="T2" fmla="*/ 10 w 56"/>
                <a:gd name="T3" fmla="*/ 129 h 132"/>
                <a:gd name="T4" fmla="*/ 9 w 56"/>
                <a:gd name="T5" fmla="*/ 132 h 132"/>
                <a:gd name="T6" fmla="*/ 6 w 56"/>
                <a:gd name="T7" fmla="*/ 132 h 132"/>
                <a:gd name="T8" fmla="*/ 4 w 56"/>
                <a:gd name="T9" fmla="*/ 132 h 132"/>
                <a:gd name="T10" fmla="*/ 4 w 56"/>
                <a:gd name="T11" fmla="*/ 132 h 132"/>
                <a:gd name="T12" fmla="*/ 1 w 56"/>
                <a:gd name="T13" fmla="*/ 131 h 132"/>
                <a:gd name="T14" fmla="*/ 0 w 56"/>
                <a:gd name="T15" fmla="*/ 128 h 132"/>
                <a:gd name="T16" fmla="*/ 0 w 56"/>
                <a:gd name="T17" fmla="*/ 126 h 132"/>
                <a:gd name="T18" fmla="*/ 0 w 56"/>
                <a:gd name="T19" fmla="*/ 123 h 132"/>
                <a:gd name="T20" fmla="*/ 43 w 56"/>
                <a:gd name="T21" fmla="*/ 4 h 132"/>
                <a:gd name="T22" fmla="*/ 44 w 56"/>
                <a:gd name="T23" fmla="*/ 1 h 132"/>
                <a:gd name="T24" fmla="*/ 47 w 56"/>
                <a:gd name="T25" fmla="*/ 0 h 132"/>
                <a:gd name="T26" fmla="*/ 49 w 56"/>
                <a:gd name="T27" fmla="*/ 0 h 132"/>
                <a:gd name="T28" fmla="*/ 52 w 56"/>
                <a:gd name="T29" fmla="*/ 0 h 132"/>
                <a:gd name="T30" fmla="*/ 52 w 56"/>
                <a:gd name="T31" fmla="*/ 0 h 132"/>
                <a:gd name="T32" fmla="*/ 54 w 56"/>
                <a:gd name="T33" fmla="*/ 1 h 132"/>
                <a:gd name="T34" fmla="*/ 56 w 56"/>
                <a:gd name="T35" fmla="*/ 4 h 132"/>
                <a:gd name="T36" fmla="*/ 56 w 56"/>
                <a:gd name="T37" fmla="*/ 5 h 132"/>
                <a:gd name="T38" fmla="*/ 56 w 56"/>
                <a:gd name="T39" fmla="*/ 7 h 132"/>
                <a:gd name="T40" fmla="*/ 11 w 56"/>
                <a:gd name="T41" fmla="*/ 128 h 13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6"/>
                <a:gd name="T64" fmla="*/ 0 h 132"/>
                <a:gd name="T65" fmla="*/ 56 w 56"/>
                <a:gd name="T66" fmla="*/ 132 h 13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6" h="132">
                  <a:moveTo>
                    <a:pt x="11" y="128"/>
                  </a:moveTo>
                  <a:lnTo>
                    <a:pt x="10" y="129"/>
                  </a:lnTo>
                  <a:lnTo>
                    <a:pt x="9" y="132"/>
                  </a:lnTo>
                  <a:lnTo>
                    <a:pt x="6" y="132"/>
                  </a:lnTo>
                  <a:lnTo>
                    <a:pt x="4" y="132"/>
                  </a:lnTo>
                  <a:lnTo>
                    <a:pt x="1" y="131"/>
                  </a:lnTo>
                  <a:lnTo>
                    <a:pt x="0" y="128"/>
                  </a:lnTo>
                  <a:lnTo>
                    <a:pt x="0" y="126"/>
                  </a:lnTo>
                  <a:lnTo>
                    <a:pt x="0" y="123"/>
                  </a:lnTo>
                  <a:lnTo>
                    <a:pt x="43" y="4"/>
                  </a:lnTo>
                  <a:lnTo>
                    <a:pt x="44" y="1"/>
                  </a:lnTo>
                  <a:lnTo>
                    <a:pt x="47" y="0"/>
                  </a:lnTo>
                  <a:lnTo>
                    <a:pt x="49" y="0"/>
                  </a:lnTo>
                  <a:lnTo>
                    <a:pt x="52" y="0"/>
                  </a:lnTo>
                  <a:lnTo>
                    <a:pt x="54" y="1"/>
                  </a:lnTo>
                  <a:lnTo>
                    <a:pt x="56" y="4"/>
                  </a:lnTo>
                  <a:lnTo>
                    <a:pt x="56" y="5"/>
                  </a:lnTo>
                  <a:lnTo>
                    <a:pt x="56" y="7"/>
                  </a:lnTo>
                  <a:lnTo>
                    <a:pt x="11" y="128"/>
                  </a:lnTo>
                  <a:close/>
                </a:path>
              </a:pathLst>
            </a:custGeom>
            <a:solidFill>
              <a:srgbClr val="000000"/>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079" name="Freeform 85"/>
            <p:cNvSpPr>
              <a:spLocks/>
            </p:cNvSpPr>
            <p:nvPr/>
          </p:nvSpPr>
          <p:spPr bwMode="auto">
            <a:xfrm>
              <a:off x="4925" y="2521"/>
              <a:ext cx="310" cy="134"/>
            </a:xfrm>
            <a:custGeom>
              <a:avLst/>
              <a:gdLst>
                <a:gd name="T0" fmla="*/ 2 w 310"/>
                <a:gd name="T1" fmla="*/ 27 h 134"/>
                <a:gd name="T2" fmla="*/ 7 w 310"/>
                <a:gd name="T3" fmla="*/ 9 h 134"/>
                <a:gd name="T4" fmla="*/ 7 w 310"/>
                <a:gd name="T5" fmla="*/ 0 h 134"/>
                <a:gd name="T6" fmla="*/ 24 w 310"/>
                <a:gd name="T7" fmla="*/ 5 h 134"/>
                <a:gd name="T8" fmla="*/ 45 w 310"/>
                <a:gd name="T9" fmla="*/ 13 h 134"/>
                <a:gd name="T10" fmla="*/ 76 w 310"/>
                <a:gd name="T11" fmla="*/ 25 h 134"/>
                <a:gd name="T12" fmla="*/ 115 w 310"/>
                <a:gd name="T13" fmla="*/ 41 h 134"/>
                <a:gd name="T14" fmla="*/ 158 w 310"/>
                <a:gd name="T15" fmla="*/ 54 h 134"/>
                <a:gd name="T16" fmla="*/ 178 w 310"/>
                <a:gd name="T17" fmla="*/ 60 h 134"/>
                <a:gd name="T18" fmla="*/ 179 w 310"/>
                <a:gd name="T19" fmla="*/ 61 h 134"/>
                <a:gd name="T20" fmla="*/ 184 w 310"/>
                <a:gd name="T21" fmla="*/ 64 h 134"/>
                <a:gd name="T22" fmla="*/ 185 w 310"/>
                <a:gd name="T23" fmla="*/ 65 h 134"/>
                <a:gd name="T24" fmla="*/ 199 w 310"/>
                <a:gd name="T25" fmla="*/ 70 h 134"/>
                <a:gd name="T26" fmla="*/ 228 w 310"/>
                <a:gd name="T27" fmla="*/ 81 h 134"/>
                <a:gd name="T28" fmla="*/ 259 w 310"/>
                <a:gd name="T29" fmla="*/ 95 h 134"/>
                <a:gd name="T30" fmla="*/ 287 w 310"/>
                <a:gd name="T31" fmla="*/ 106 h 134"/>
                <a:gd name="T32" fmla="*/ 298 w 310"/>
                <a:gd name="T33" fmla="*/ 111 h 134"/>
                <a:gd name="T34" fmla="*/ 300 w 310"/>
                <a:gd name="T35" fmla="*/ 112 h 134"/>
                <a:gd name="T36" fmla="*/ 303 w 310"/>
                <a:gd name="T37" fmla="*/ 118 h 134"/>
                <a:gd name="T38" fmla="*/ 307 w 310"/>
                <a:gd name="T39" fmla="*/ 125 h 134"/>
                <a:gd name="T40" fmla="*/ 310 w 310"/>
                <a:gd name="T41" fmla="*/ 132 h 134"/>
                <a:gd name="T42" fmla="*/ 297 w 310"/>
                <a:gd name="T43" fmla="*/ 133 h 134"/>
                <a:gd name="T44" fmla="*/ 278 w 310"/>
                <a:gd name="T45" fmla="*/ 127 h 134"/>
                <a:gd name="T46" fmla="*/ 262 w 310"/>
                <a:gd name="T47" fmla="*/ 119 h 134"/>
                <a:gd name="T48" fmla="*/ 247 w 310"/>
                <a:gd name="T49" fmla="*/ 112 h 134"/>
                <a:gd name="T50" fmla="*/ 233 w 310"/>
                <a:gd name="T51" fmla="*/ 105 h 134"/>
                <a:gd name="T52" fmla="*/ 222 w 310"/>
                <a:gd name="T53" fmla="*/ 100 h 134"/>
                <a:gd name="T54" fmla="*/ 207 w 310"/>
                <a:gd name="T55" fmla="*/ 92 h 134"/>
                <a:gd name="T56" fmla="*/ 189 w 310"/>
                <a:gd name="T57" fmla="*/ 86 h 134"/>
                <a:gd name="T58" fmla="*/ 169 w 310"/>
                <a:gd name="T59" fmla="*/ 81 h 134"/>
                <a:gd name="T60" fmla="*/ 151 w 310"/>
                <a:gd name="T61" fmla="*/ 76 h 134"/>
                <a:gd name="T62" fmla="*/ 131 w 310"/>
                <a:gd name="T63" fmla="*/ 71 h 134"/>
                <a:gd name="T64" fmla="*/ 110 w 310"/>
                <a:gd name="T65" fmla="*/ 65 h 134"/>
                <a:gd name="T66" fmla="*/ 93 w 310"/>
                <a:gd name="T67" fmla="*/ 58 h 134"/>
                <a:gd name="T68" fmla="*/ 78 w 310"/>
                <a:gd name="T69" fmla="*/ 53 h 134"/>
                <a:gd name="T70" fmla="*/ 64 w 310"/>
                <a:gd name="T71" fmla="*/ 45 h 134"/>
                <a:gd name="T72" fmla="*/ 51 w 310"/>
                <a:gd name="T73" fmla="*/ 39 h 134"/>
                <a:gd name="T74" fmla="*/ 39 w 310"/>
                <a:gd name="T75" fmla="*/ 34 h 134"/>
                <a:gd name="T76" fmla="*/ 24 w 310"/>
                <a:gd name="T77" fmla="*/ 33 h 134"/>
                <a:gd name="T78" fmla="*/ 4 w 310"/>
                <a:gd name="T79" fmla="*/ 34 h 13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10"/>
                <a:gd name="T121" fmla="*/ 0 h 134"/>
                <a:gd name="T122" fmla="*/ 310 w 310"/>
                <a:gd name="T123" fmla="*/ 134 h 13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10" h="134">
                  <a:moveTo>
                    <a:pt x="0" y="33"/>
                  </a:moveTo>
                  <a:lnTo>
                    <a:pt x="2" y="27"/>
                  </a:lnTo>
                  <a:lnTo>
                    <a:pt x="4" y="17"/>
                  </a:lnTo>
                  <a:lnTo>
                    <a:pt x="7" y="9"/>
                  </a:lnTo>
                  <a:lnTo>
                    <a:pt x="5" y="2"/>
                  </a:lnTo>
                  <a:lnTo>
                    <a:pt x="7" y="0"/>
                  </a:lnTo>
                  <a:lnTo>
                    <a:pt x="13" y="1"/>
                  </a:lnTo>
                  <a:lnTo>
                    <a:pt x="24" y="5"/>
                  </a:lnTo>
                  <a:lnTo>
                    <a:pt x="36" y="10"/>
                  </a:lnTo>
                  <a:lnTo>
                    <a:pt x="45" y="13"/>
                  </a:lnTo>
                  <a:lnTo>
                    <a:pt x="58" y="18"/>
                  </a:lnTo>
                  <a:lnTo>
                    <a:pt x="76" y="25"/>
                  </a:lnTo>
                  <a:lnTo>
                    <a:pt x="94" y="32"/>
                  </a:lnTo>
                  <a:lnTo>
                    <a:pt x="115" y="41"/>
                  </a:lnTo>
                  <a:lnTo>
                    <a:pt x="137" y="48"/>
                  </a:lnTo>
                  <a:lnTo>
                    <a:pt x="158" y="54"/>
                  </a:lnTo>
                  <a:lnTo>
                    <a:pt x="178" y="60"/>
                  </a:lnTo>
                  <a:lnTo>
                    <a:pt x="179" y="61"/>
                  </a:lnTo>
                  <a:lnTo>
                    <a:pt x="181" y="63"/>
                  </a:lnTo>
                  <a:lnTo>
                    <a:pt x="184" y="64"/>
                  </a:lnTo>
                  <a:lnTo>
                    <a:pt x="185" y="65"/>
                  </a:lnTo>
                  <a:lnTo>
                    <a:pt x="199" y="70"/>
                  </a:lnTo>
                  <a:lnTo>
                    <a:pt x="213" y="76"/>
                  </a:lnTo>
                  <a:lnTo>
                    <a:pt x="228" y="81"/>
                  </a:lnTo>
                  <a:lnTo>
                    <a:pt x="244" y="87"/>
                  </a:lnTo>
                  <a:lnTo>
                    <a:pt x="259" y="95"/>
                  </a:lnTo>
                  <a:lnTo>
                    <a:pt x="274" y="100"/>
                  </a:lnTo>
                  <a:lnTo>
                    <a:pt x="287" y="106"/>
                  </a:lnTo>
                  <a:lnTo>
                    <a:pt x="298" y="111"/>
                  </a:lnTo>
                  <a:lnTo>
                    <a:pt x="300" y="112"/>
                  </a:lnTo>
                  <a:lnTo>
                    <a:pt x="301" y="114"/>
                  </a:lnTo>
                  <a:lnTo>
                    <a:pt x="303" y="118"/>
                  </a:lnTo>
                  <a:lnTo>
                    <a:pt x="306" y="122"/>
                  </a:lnTo>
                  <a:lnTo>
                    <a:pt x="307" y="125"/>
                  </a:lnTo>
                  <a:lnTo>
                    <a:pt x="308" y="127"/>
                  </a:lnTo>
                  <a:lnTo>
                    <a:pt x="310" y="132"/>
                  </a:lnTo>
                  <a:lnTo>
                    <a:pt x="306" y="134"/>
                  </a:lnTo>
                  <a:lnTo>
                    <a:pt x="297" y="133"/>
                  </a:lnTo>
                  <a:lnTo>
                    <a:pt x="285" y="129"/>
                  </a:lnTo>
                  <a:lnTo>
                    <a:pt x="278" y="127"/>
                  </a:lnTo>
                  <a:lnTo>
                    <a:pt x="270" y="123"/>
                  </a:lnTo>
                  <a:lnTo>
                    <a:pt x="262" y="119"/>
                  </a:lnTo>
                  <a:lnTo>
                    <a:pt x="254" y="116"/>
                  </a:lnTo>
                  <a:lnTo>
                    <a:pt x="247" y="112"/>
                  </a:lnTo>
                  <a:lnTo>
                    <a:pt x="239" y="108"/>
                  </a:lnTo>
                  <a:lnTo>
                    <a:pt x="233" y="105"/>
                  </a:lnTo>
                  <a:lnTo>
                    <a:pt x="228" y="102"/>
                  </a:lnTo>
                  <a:lnTo>
                    <a:pt x="222" y="100"/>
                  </a:lnTo>
                  <a:lnTo>
                    <a:pt x="215" y="96"/>
                  </a:lnTo>
                  <a:lnTo>
                    <a:pt x="207" y="92"/>
                  </a:lnTo>
                  <a:lnTo>
                    <a:pt x="199" y="90"/>
                  </a:lnTo>
                  <a:lnTo>
                    <a:pt x="189" y="86"/>
                  </a:lnTo>
                  <a:lnTo>
                    <a:pt x="179" y="84"/>
                  </a:lnTo>
                  <a:lnTo>
                    <a:pt x="169" y="81"/>
                  </a:lnTo>
                  <a:lnTo>
                    <a:pt x="161" y="79"/>
                  </a:lnTo>
                  <a:lnTo>
                    <a:pt x="151" y="76"/>
                  </a:lnTo>
                  <a:lnTo>
                    <a:pt x="141" y="74"/>
                  </a:lnTo>
                  <a:lnTo>
                    <a:pt x="131" y="71"/>
                  </a:lnTo>
                  <a:lnTo>
                    <a:pt x="121" y="68"/>
                  </a:lnTo>
                  <a:lnTo>
                    <a:pt x="110" y="65"/>
                  </a:lnTo>
                  <a:lnTo>
                    <a:pt x="101" y="61"/>
                  </a:lnTo>
                  <a:lnTo>
                    <a:pt x="93" y="58"/>
                  </a:lnTo>
                  <a:lnTo>
                    <a:pt x="85" y="55"/>
                  </a:lnTo>
                  <a:lnTo>
                    <a:pt x="78" y="53"/>
                  </a:lnTo>
                  <a:lnTo>
                    <a:pt x="72" y="49"/>
                  </a:lnTo>
                  <a:lnTo>
                    <a:pt x="64" y="45"/>
                  </a:lnTo>
                  <a:lnTo>
                    <a:pt x="57" y="42"/>
                  </a:lnTo>
                  <a:lnTo>
                    <a:pt x="51" y="39"/>
                  </a:lnTo>
                  <a:lnTo>
                    <a:pt x="45" y="36"/>
                  </a:lnTo>
                  <a:lnTo>
                    <a:pt x="39" y="34"/>
                  </a:lnTo>
                  <a:lnTo>
                    <a:pt x="34" y="33"/>
                  </a:lnTo>
                  <a:lnTo>
                    <a:pt x="24" y="33"/>
                  </a:lnTo>
                  <a:lnTo>
                    <a:pt x="13" y="34"/>
                  </a:lnTo>
                  <a:lnTo>
                    <a:pt x="4" y="34"/>
                  </a:lnTo>
                  <a:lnTo>
                    <a:pt x="0" y="33"/>
                  </a:lnTo>
                  <a:close/>
                </a:path>
              </a:pathLst>
            </a:custGeom>
            <a:solidFill>
              <a:srgbClr val="7FFF00"/>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080" name="Freeform 86"/>
            <p:cNvSpPr>
              <a:spLocks/>
            </p:cNvSpPr>
            <p:nvPr/>
          </p:nvSpPr>
          <p:spPr bwMode="auto">
            <a:xfrm>
              <a:off x="4261" y="2367"/>
              <a:ext cx="959" cy="360"/>
            </a:xfrm>
            <a:custGeom>
              <a:avLst/>
              <a:gdLst>
                <a:gd name="T0" fmla="*/ 959 w 959"/>
                <a:gd name="T1" fmla="*/ 347 h 360"/>
                <a:gd name="T2" fmla="*/ 954 w 959"/>
                <a:gd name="T3" fmla="*/ 352 h 360"/>
                <a:gd name="T4" fmla="*/ 946 w 959"/>
                <a:gd name="T5" fmla="*/ 357 h 360"/>
                <a:gd name="T6" fmla="*/ 937 w 959"/>
                <a:gd name="T7" fmla="*/ 360 h 360"/>
                <a:gd name="T8" fmla="*/ 929 w 959"/>
                <a:gd name="T9" fmla="*/ 360 h 360"/>
                <a:gd name="T10" fmla="*/ 3 w 959"/>
                <a:gd name="T11" fmla="*/ 21 h 360"/>
                <a:gd name="T12" fmla="*/ 0 w 959"/>
                <a:gd name="T13" fmla="*/ 17 h 360"/>
                <a:gd name="T14" fmla="*/ 2 w 959"/>
                <a:gd name="T15" fmla="*/ 12 h 360"/>
                <a:gd name="T16" fmla="*/ 5 w 959"/>
                <a:gd name="T17" fmla="*/ 5 h 360"/>
                <a:gd name="T18" fmla="*/ 8 w 959"/>
                <a:gd name="T19" fmla="*/ 0 h 360"/>
                <a:gd name="T20" fmla="*/ 959 w 959"/>
                <a:gd name="T21" fmla="*/ 347 h 36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59"/>
                <a:gd name="T34" fmla="*/ 0 h 360"/>
                <a:gd name="T35" fmla="*/ 959 w 959"/>
                <a:gd name="T36" fmla="*/ 360 h 36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59" h="360">
                  <a:moveTo>
                    <a:pt x="959" y="347"/>
                  </a:moveTo>
                  <a:lnTo>
                    <a:pt x="954" y="352"/>
                  </a:lnTo>
                  <a:lnTo>
                    <a:pt x="946" y="357"/>
                  </a:lnTo>
                  <a:lnTo>
                    <a:pt x="937" y="360"/>
                  </a:lnTo>
                  <a:lnTo>
                    <a:pt x="929" y="360"/>
                  </a:lnTo>
                  <a:lnTo>
                    <a:pt x="3" y="21"/>
                  </a:lnTo>
                  <a:lnTo>
                    <a:pt x="0" y="17"/>
                  </a:lnTo>
                  <a:lnTo>
                    <a:pt x="2" y="12"/>
                  </a:lnTo>
                  <a:lnTo>
                    <a:pt x="5" y="5"/>
                  </a:lnTo>
                  <a:lnTo>
                    <a:pt x="8" y="0"/>
                  </a:lnTo>
                  <a:lnTo>
                    <a:pt x="959" y="347"/>
                  </a:lnTo>
                  <a:close/>
                </a:path>
              </a:pathLst>
            </a:custGeom>
            <a:solidFill>
              <a:srgbClr val="FFFFFF"/>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081" name="Freeform 87"/>
            <p:cNvSpPr>
              <a:spLocks/>
            </p:cNvSpPr>
            <p:nvPr/>
          </p:nvSpPr>
          <p:spPr bwMode="auto">
            <a:xfrm>
              <a:off x="4244" y="2352"/>
              <a:ext cx="415" cy="164"/>
            </a:xfrm>
            <a:custGeom>
              <a:avLst/>
              <a:gdLst>
                <a:gd name="T0" fmla="*/ 0 w 415"/>
                <a:gd name="T1" fmla="*/ 15 h 164"/>
                <a:gd name="T2" fmla="*/ 410 w 415"/>
                <a:gd name="T3" fmla="*/ 164 h 164"/>
                <a:gd name="T4" fmla="*/ 415 w 415"/>
                <a:gd name="T5" fmla="*/ 150 h 164"/>
                <a:gd name="T6" fmla="*/ 5 w 415"/>
                <a:gd name="T7" fmla="*/ 0 h 164"/>
                <a:gd name="T8" fmla="*/ 0 w 415"/>
                <a:gd name="T9" fmla="*/ 15 h 164"/>
                <a:gd name="T10" fmla="*/ 0 60000 65536"/>
                <a:gd name="T11" fmla="*/ 0 60000 65536"/>
                <a:gd name="T12" fmla="*/ 0 60000 65536"/>
                <a:gd name="T13" fmla="*/ 0 60000 65536"/>
                <a:gd name="T14" fmla="*/ 0 60000 65536"/>
                <a:gd name="T15" fmla="*/ 0 w 415"/>
                <a:gd name="T16" fmla="*/ 0 h 164"/>
                <a:gd name="T17" fmla="*/ 415 w 415"/>
                <a:gd name="T18" fmla="*/ 164 h 164"/>
              </a:gdLst>
              <a:ahLst/>
              <a:cxnLst>
                <a:cxn ang="T10">
                  <a:pos x="T0" y="T1"/>
                </a:cxn>
                <a:cxn ang="T11">
                  <a:pos x="T2" y="T3"/>
                </a:cxn>
                <a:cxn ang="T12">
                  <a:pos x="T4" y="T5"/>
                </a:cxn>
                <a:cxn ang="T13">
                  <a:pos x="T6" y="T7"/>
                </a:cxn>
                <a:cxn ang="T14">
                  <a:pos x="T8" y="T9"/>
                </a:cxn>
              </a:cxnLst>
              <a:rect l="T15" t="T16" r="T17" b="T18"/>
              <a:pathLst>
                <a:path w="415" h="164">
                  <a:moveTo>
                    <a:pt x="0" y="15"/>
                  </a:moveTo>
                  <a:lnTo>
                    <a:pt x="410" y="164"/>
                  </a:lnTo>
                  <a:lnTo>
                    <a:pt x="415" y="150"/>
                  </a:lnTo>
                  <a:lnTo>
                    <a:pt x="5" y="0"/>
                  </a:lnTo>
                  <a:lnTo>
                    <a:pt x="0" y="15"/>
                  </a:lnTo>
                  <a:close/>
                </a:path>
              </a:pathLst>
            </a:custGeom>
            <a:solidFill>
              <a:srgbClr val="000000"/>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082" name="Freeform 88"/>
            <p:cNvSpPr>
              <a:spLocks/>
            </p:cNvSpPr>
            <p:nvPr/>
          </p:nvSpPr>
          <p:spPr bwMode="auto">
            <a:xfrm>
              <a:off x="4653" y="2504"/>
              <a:ext cx="306" cy="54"/>
            </a:xfrm>
            <a:custGeom>
              <a:avLst/>
              <a:gdLst>
                <a:gd name="T0" fmla="*/ 17 w 306"/>
                <a:gd name="T1" fmla="*/ 3 h 54"/>
                <a:gd name="T2" fmla="*/ 21 w 306"/>
                <a:gd name="T3" fmla="*/ 8 h 54"/>
                <a:gd name="T4" fmla="*/ 33 w 306"/>
                <a:gd name="T5" fmla="*/ 12 h 54"/>
                <a:gd name="T6" fmla="*/ 51 w 306"/>
                <a:gd name="T7" fmla="*/ 17 h 54"/>
                <a:gd name="T8" fmla="*/ 72 w 306"/>
                <a:gd name="T9" fmla="*/ 22 h 54"/>
                <a:gd name="T10" fmla="*/ 94 w 306"/>
                <a:gd name="T11" fmla="*/ 26 h 54"/>
                <a:gd name="T12" fmla="*/ 116 w 306"/>
                <a:gd name="T13" fmla="*/ 29 h 54"/>
                <a:gd name="T14" fmla="*/ 137 w 306"/>
                <a:gd name="T15" fmla="*/ 32 h 54"/>
                <a:gd name="T16" fmla="*/ 154 w 306"/>
                <a:gd name="T17" fmla="*/ 33 h 54"/>
                <a:gd name="T18" fmla="*/ 180 w 306"/>
                <a:gd name="T19" fmla="*/ 34 h 54"/>
                <a:gd name="T20" fmla="*/ 203 w 306"/>
                <a:gd name="T21" fmla="*/ 37 h 54"/>
                <a:gd name="T22" fmla="*/ 222 w 306"/>
                <a:gd name="T23" fmla="*/ 39 h 54"/>
                <a:gd name="T24" fmla="*/ 237 w 306"/>
                <a:gd name="T25" fmla="*/ 40 h 54"/>
                <a:gd name="T26" fmla="*/ 248 w 306"/>
                <a:gd name="T27" fmla="*/ 43 h 54"/>
                <a:gd name="T28" fmla="*/ 256 w 306"/>
                <a:gd name="T29" fmla="*/ 43 h 54"/>
                <a:gd name="T30" fmla="*/ 261 w 306"/>
                <a:gd name="T31" fmla="*/ 42 h 54"/>
                <a:gd name="T32" fmla="*/ 264 w 306"/>
                <a:gd name="T33" fmla="*/ 38 h 54"/>
                <a:gd name="T34" fmla="*/ 266 w 306"/>
                <a:gd name="T35" fmla="*/ 38 h 54"/>
                <a:gd name="T36" fmla="*/ 271 w 306"/>
                <a:gd name="T37" fmla="*/ 38 h 54"/>
                <a:gd name="T38" fmla="*/ 279 w 306"/>
                <a:gd name="T39" fmla="*/ 40 h 54"/>
                <a:gd name="T40" fmla="*/ 287 w 306"/>
                <a:gd name="T41" fmla="*/ 43 h 54"/>
                <a:gd name="T42" fmla="*/ 296 w 306"/>
                <a:gd name="T43" fmla="*/ 45 h 54"/>
                <a:gd name="T44" fmla="*/ 302 w 306"/>
                <a:gd name="T45" fmla="*/ 48 h 54"/>
                <a:gd name="T46" fmla="*/ 306 w 306"/>
                <a:gd name="T47" fmla="*/ 50 h 54"/>
                <a:gd name="T48" fmla="*/ 306 w 306"/>
                <a:gd name="T49" fmla="*/ 50 h 54"/>
                <a:gd name="T50" fmla="*/ 293 w 306"/>
                <a:gd name="T51" fmla="*/ 50 h 54"/>
                <a:gd name="T52" fmla="*/ 280 w 306"/>
                <a:gd name="T53" fmla="*/ 51 h 54"/>
                <a:gd name="T54" fmla="*/ 265 w 306"/>
                <a:gd name="T55" fmla="*/ 53 h 54"/>
                <a:gd name="T56" fmla="*/ 249 w 306"/>
                <a:gd name="T57" fmla="*/ 53 h 54"/>
                <a:gd name="T58" fmla="*/ 229 w 306"/>
                <a:gd name="T59" fmla="*/ 54 h 54"/>
                <a:gd name="T60" fmla="*/ 206 w 306"/>
                <a:gd name="T61" fmla="*/ 53 h 54"/>
                <a:gd name="T62" fmla="*/ 180 w 306"/>
                <a:gd name="T63" fmla="*/ 51 h 54"/>
                <a:gd name="T64" fmla="*/ 148 w 306"/>
                <a:gd name="T65" fmla="*/ 48 h 54"/>
                <a:gd name="T66" fmla="*/ 121 w 306"/>
                <a:gd name="T67" fmla="*/ 44 h 54"/>
                <a:gd name="T68" fmla="*/ 95 w 306"/>
                <a:gd name="T69" fmla="*/ 40 h 54"/>
                <a:gd name="T70" fmla="*/ 70 w 306"/>
                <a:gd name="T71" fmla="*/ 35 h 54"/>
                <a:gd name="T72" fmla="*/ 47 w 306"/>
                <a:gd name="T73" fmla="*/ 30 h 54"/>
                <a:gd name="T74" fmla="*/ 28 w 306"/>
                <a:gd name="T75" fmla="*/ 24 h 54"/>
                <a:gd name="T76" fmla="*/ 14 w 306"/>
                <a:gd name="T77" fmla="*/ 18 h 54"/>
                <a:gd name="T78" fmla="*/ 4 w 306"/>
                <a:gd name="T79" fmla="*/ 12 h 54"/>
                <a:gd name="T80" fmla="*/ 0 w 306"/>
                <a:gd name="T81" fmla="*/ 6 h 54"/>
                <a:gd name="T82" fmla="*/ 4 w 306"/>
                <a:gd name="T83" fmla="*/ 1 h 54"/>
                <a:gd name="T84" fmla="*/ 9 w 306"/>
                <a:gd name="T85" fmla="*/ 0 h 54"/>
                <a:gd name="T86" fmla="*/ 15 w 306"/>
                <a:gd name="T87" fmla="*/ 1 h 54"/>
                <a:gd name="T88" fmla="*/ 17 w 306"/>
                <a:gd name="T89" fmla="*/ 3 h 5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306"/>
                <a:gd name="T136" fmla="*/ 0 h 54"/>
                <a:gd name="T137" fmla="*/ 306 w 306"/>
                <a:gd name="T138" fmla="*/ 54 h 5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306" h="54">
                  <a:moveTo>
                    <a:pt x="17" y="3"/>
                  </a:moveTo>
                  <a:lnTo>
                    <a:pt x="21" y="8"/>
                  </a:lnTo>
                  <a:lnTo>
                    <a:pt x="33" y="12"/>
                  </a:lnTo>
                  <a:lnTo>
                    <a:pt x="51" y="17"/>
                  </a:lnTo>
                  <a:lnTo>
                    <a:pt x="72" y="22"/>
                  </a:lnTo>
                  <a:lnTo>
                    <a:pt x="94" y="26"/>
                  </a:lnTo>
                  <a:lnTo>
                    <a:pt x="116" y="29"/>
                  </a:lnTo>
                  <a:lnTo>
                    <a:pt x="137" y="32"/>
                  </a:lnTo>
                  <a:lnTo>
                    <a:pt x="154" y="33"/>
                  </a:lnTo>
                  <a:lnTo>
                    <a:pt x="180" y="34"/>
                  </a:lnTo>
                  <a:lnTo>
                    <a:pt x="203" y="37"/>
                  </a:lnTo>
                  <a:lnTo>
                    <a:pt x="222" y="39"/>
                  </a:lnTo>
                  <a:lnTo>
                    <a:pt x="237" y="40"/>
                  </a:lnTo>
                  <a:lnTo>
                    <a:pt x="248" y="43"/>
                  </a:lnTo>
                  <a:lnTo>
                    <a:pt x="256" y="43"/>
                  </a:lnTo>
                  <a:lnTo>
                    <a:pt x="261" y="42"/>
                  </a:lnTo>
                  <a:lnTo>
                    <a:pt x="264" y="38"/>
                  </a:lnTo>
                  <a:lnTo>
                    <a:pt x="266" y="38"/>
                  </a:lnTo>
                  <a:lnTo>
                    <a:pt x="271" y="38"/>
                  </a:lnTo>
                  <a:lnTo>
                    <a:pt x="279" y="40"/>
                  </a:lnTo>
                  <a:lnTo>
                    <a:pt x="287" y="43"/>
                  </a:lnTo>
                  <a:lnTo>
                    <a:pt x="296" y="45"/>
                  </a:lnTo>
                  <a:lnTo>
                    <a:pt x="302" y="48"/>
                  </a:lnTo>
                  <a:lnTo>
                    <a:pt x="306" y="50"/>
                  </a:lnTo>
                  <a:lnTo>
                    <a:pt x="293" y="50"/>
                  </a:lnTo>
                  <a:lnTo>
                    <a:pt x="280" y="51"/>
                  </a:lnTo>
                  <a:lnTo>
                    <a:pt x="265" y="53"/>
                  </a:lnTo>
                  <a:lnTo>
                    <a:pt x="249" y="53"/>
                  </a:lnTo>
                  <a:lnTo>
                    <a:pt x="229" y="54"/>
                  </a:lnTo>
                  <a:lnTo>
                    <a:pt x="206" y="53"/>
                  </a:lnTo>
                  <a:lnTo>
                    <a:pt x="180" y="51"/>
                  </a:lnTo>
                  <a:lnTo>
                    <a:pt x="148" y="48"/>
                  </a:lnTo>
                  <a:lnTo>
                    <a:pt x="121" y="44"/>
                  </a:lnTo>
                  <a:lnTo>
                    <a:pt x="95" y="40"/>
                  </a:lnTo>
                  <a:lnTo>
                    <a:pt x="70" y="35"/>
                  </a:lnTo>
                  <a:lnTo>
                    <a:pt x="47" y="30"/>
                  </a:lnTo>
                  <a:lnTo>
                    <a:pt x="28" y="24"/>
                  </a:lnTo>
                  <a:lnTo>
                    <a:pt x="14" y="18"/>
                  </a:lnTo>
                  <a:lnTo>
                    <a:pt x="4" y="12"/>
                  </a:lnTo>
                  <a:lnTo>
                    <a:pt x="0" y="6"/>
                  </a:lnTo>
                  <a:lnTo>
                    <a:pt x="4" y="1"/>
                  </a:lnTo>
                  <a:lnTo>
                    <a:pt x="9" y="0"/>
                  </a:lnTo>
                  <a:lnTo>
                    <a:pt x="15" y="1"/>
                  </a:lnTo>
                  <a:lnTo>
                    <a:pt x="17" y="3"/>
                  </a:lnTo>
                  <a:close/>
                </a:path>
              </a:pathLst>
            </a:custGeom>
            <a:solidFill>
              <a:srgbClr val="000000"/>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083" name="Freeform 89"/>
            <p:cNvSpPr>
              <a:spLocks/>
            </p:cNvSpPr>
            <p:nvPr/>
          </p:nvSpPr>
          <p:spPr bwMode="auto">
            <a:xfrm>
              <a:off x="4322" y="2220"/>
              <a:ext cx="160" cy="94"/>
            </a:xfrm>
            <a:custGeom>
              <a:avLst/>
              <a:gdLst>
                <a:gd name="T0" fmla="*/ 74 w 160"/>
                <a:gd name="T1" fmla="*/ 94 h 94"/>
                <a:gd name="T2" fmla="*/ 88 w 160"/>
                <a:gd name="T3" fmla="*/ 92 h 94"/>
                <a:gd name="T4" fmla="*/ 104 w 160"/>
                <a:gd name="T5" fmla="*/ 84 h 94"/>
                <a:gd name="T6" fmla="*/ 119 w 160"/>
                <a:gd name="T7" fmla="*/ 74 h 94"/>
                <a:gd name="T8" fmla="*/ 132 w 160"/>
                <a:gd name="T9" fmla="*/ 61 h 94"/>
                <a:gd name="T10" fmla="*/ 144 w 160"/>
                <a:gd name="T11" fmla="*/ 46 h 94"/>
                <a:gd name="T12" fmla="*/ 152 w 160"/>
                <a:gd name="T13" fmla="*/ 30 h 94"/>
                <a:gd name="T14" fmla="*/ 157 w 160"/>
                <a:gd name="T15" fmla="*/ 15 h 94"/>
                <a:gd name="T16" fmla="*/ 160 w 160"/>
                <a:gd name="T17" fmla="*/ 0 h 94"/>
                <a:gd name="T18" fmla="*/ 156 w 160"/>
                <a:gd name="T19" fmla="*/ 3 h 94"/>
                <a:gd name="T20" fmla="*/ 148 w 160"/>
                <a:gd name="T21" fmla="*/ 5 h 94"/>
                <a:gd name="T22" fmla="*/ 133 w 160"/>
                <a:gd name="T23" fmla="*/ 9 h 94"/>
                <a:gd name="T24" fmla="*/ 117 w 160"/>
                <a:gd name="T25" fmla="*/ 12 h 94"/>
                <a:gd name="T26" fmla="*/ 100 w 160"/>
                <a:gd name="T27" fmla="*/ 15 h 94"/>
                <a:gd name="T28" fmla="*/ 82 w 160"/>
                <a:gd name="T29" fmla="*/ 18 h 94"/>
                <a:gd name="T30" fmla="*/ 67 w 160"/>
                <a:gd name="T31" fmla="*/ 19 h 94"/>
                <a:gd name="T32" fmla="*/ 56 w 160"/>
                <a:gd name="T33" fmla="*/ 20 h 94"/>
                <a:gd name="T34" fmla="*/ 43 w 160"/>
                <a:gd name="T35" fmla="*/ 19 h 94"/>
                <a:gd name="T36" fmla="*/ 31 w 160"/>
                <a:gd name="T37" fmla="*/ 16 h 94"/>
                <a:gd name="T38" fmla="*/ 21 w 160"/>
                <a:gd name="T39" fmla="*/ 14 h 94"/>
                <a:gd name="T40" fmla="*/ 13 w 160"/>
                <a:gd name="T41" fmla="*/ 12 h 94"/>
                <a:gd name="T42" fmla="*/ 7 w 160"/>
                <a:gd name="T43" fmla="*/ 12 h 94"/>
                <a:gd name="T44" fmla="*/ 3 w 160"/>
                <a:gd name="T45" fmla="*/ 14 h 94"/>
                <a:gd name="T46" fmla="*/ 1 w 160"/>
                <a:gd name="T47" fmla="*/ 20 h 94"/>
                <a:gd name="T48" fmla="*/ 0 w 160"/>
                <a:gd name="T49" fmla="*/ 30 h 94"/>
                <a:gd name="T50" fmla="*/ 1 w 160"/>
                <a:gd name="T51" fmla="*/ 44 h 94"/>
                <a:gd name="T52" fmla="*/ 6 w 160"/>
                <a:gd name="T53" fmla="*/ 55 h 94"/>
                <a:gd name="T54" fmla="*/ 12 w 160"/>
                <a:gd name="T55" fmla="*/ 66 h 94"/>
                <a:gd name="T56" fmla="*/ 22 w 160"/>
                <a:gd name="T57" fmla="*/ 76 h 94"/>
                <a:gd name="T58" fmla="*/ 33 w 160"/>
                <a:gd name="T59" fmla="*/ 83 h 94"/>
                <a:gd name="T60" fmla="*/ 45 w 160"/>
                <a:gd name="T61" fmla="*/ 89 h 94"/>
                <a:gd name="T62" fmla="*/ 59 w 160"/>
                <a:gd name="T63" fmla="*/ 93 h 94"/>
                <a:gd name="T64" fmla="*/ 74 w 160"/>
                <a:gd name="T65" fmla="*/ 94 h 9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60"/>
                <a:gd name="T100" fmla="*/ 0 h 94"/>
                <a:gd name="T101" fmla="*/ 160 w 160"/>
                <a:gd name="T102" fmla="*/ 94 h 9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60" h="94">
                  <a:moveTo>
                    <a:pt x="74" y="94"/>
                  </a:moveTo>
                  <a:lnTo>
                    <a:pt x="88" y="92"/>
                  </a:lnTo>
                  <a:lnTo>
                    <a:pt x="104" y="84"/>
                  </a:lnTo>
                  <a:lnTo>
                    <a:pt x="119" y="74"/>
                  </a:lnTo>
                  <a:lnTo>
                    <a:pt x="132" y="61"/>
                  </a:lnTo>
                  <a:lnTo>
                    <a:pt x="144" y="46"/>
                  </a:lnTo>
                  <a:lnTo>
                    <a:pt x="152" y="30"/>
                  </a:lnTo>
                  <a:lnTo>
                    <a:pt x="157" y="15"/>
                  </a:lnTo>
                  <a:lnTo>
                    <a:pt x="160" y="0"/>
                  </a:lnTo>
                  <a:lnTo>
                    <a:pt x="156" y="3"/>
                  </a:lnTo>
                  <a:lnTo>
                    <a:pt x="148" y="5"/>
                  </a:lnTo>
                  <a:lnTo>
                    <a:pt x="133" y="9"/>
                  </a:lnTo>
                  <a:lnTo>
                    <a:pt x="117" y="12"/>
                  </a:lnTo>
                  <a:lnTo>
                    <a:pt x="100" y="15"/>
                  </a:lnTo>
                  <a:lnTo>
                    <a:pt x="82" y="18"/>
                  </a:lnTo>
                  <a:lnTo>
                    <a:pt x="67" y="19"/>
                  </a:lnTo>
                  <a:lnTo>
                    <a:pt x="56" y="20"/>
                  </a:lnTo>
                  <a:lnTo>
                    <a:pt x="43" y="19"/>
                  </a:lnTo>
                  <a:lnTo>
                    <a:pt x="31" y="16"/>
                  </a:lnTo>
                  <a:lnTo>
                    <a:pt x="21" y="14"/>
                  </a:lnTo>
                  <a:lnTo>
                    <a:pt x="13" y="12"/>
                  </a:lnTo>
                  <a:lnTo>
                    <a:pt x="7" y="12"/>
                  </a:lnTo>
                  <a:lnTo>
                    <a:pt x="3" y="14"/>
                  </a:lnTo>
                  <a:lnTo>
                    <a:pt x="1" y="20"/>
                  </a:lnTo>
                  <a:lnTo>
                    <a:pt x="0" y="30"/>
                  </a:lnTo>
                  <a:lnTo>
                    <a:pt x="1" y="44"/>
                  </a:lnTo>
                  <a:lnTo>
                    <a:pt x="6" y="55"/>
                  </a:lnTo>
                  <a:lnTo>
                    <a:pt x="12" y="66"/>
                  </a:lnTo>
                  <a:lnTo>
                    <a:pt x="22" y="76"/>
                  </a:lnTo>
                  <a:lnTo>
                    <a:pt x="33" y="83"/>
                  </a:lnTo>
                  <a:lnTo>
                    <a:pt x="45" y="89"/>
                  </a:lnTo>
                  <a:lnTo>
                    <a:pt x="59" y="93"/>
                  </a:lnTo>
                  <a:lnTo>
                    <a:pt x="74" y="94"/>
                  </a:lnTo>
                  <a:close/>
                </a:path>
              </a:pathLst>
            </a:custGeom>
            <a:solidFill>
              <a:srgbClr val="000000"/>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084" name="Freeform 90"/>
            <p:cNvSpPr>
              <a:spLocks/>
            </p:cNvSpPr>
            <p:nvPr/>
          </p:nvSpPr>
          <p:spPr bwMode="auto">
            <a:xfrm>
              <a:off x="4482" y="2328"/>
              <a:ext cx="146" cy="76"/>
            </a:xfrm>
            <a:custGeom>
              <a:avLst/>
              <a:gdLst>
                <a:gd name="T0" fmla="*/ 74 w 146"/>
                <a:gd name="T1" fmla="*/ 76 h 76"/>
                <a:gd name="T2" fmla="*/ 89 w 146"/>
                <a:gd name="T3" fmla="*/ 75 h 76"/>
                <a:gd name="T4" fmla="*/ 102 w 146"/>
                <a:gd name="T5" fmla="*/ 71 h 76"/>
                <a:gd name="T6" fmla="*/ 114 w 146"/>
                <a:gd name="T7" fmla="*/ 65 h 76"/>
                <a:gd name="T8" fmla="*/ 126 w 146"/>
                <a:gd name="T9" fmla="*/ 57 h 76"/>
                <a:gd name="T10" fmla="*/ 134 w 146"/>
                <a:gd name="T11" fmla="*/ 48 h 76"/>
                <a:gd name="T12" fmla="*/ 140 w 146"/>
                <a:gd name="T13" fmla="*/ 37 h 76"/>
                <a:gd name="T14" fmla="*/ 145 w 146"/>
                <a:gd name="T15" fmla="*/ 25 h 76"/>
                <a:gd name="T16" fmla="*/ 146 w 146"/>
                <a:gd name="T17" fmla="*/ 12 h 76"/>
                <a:gd name="T18" fmla="*/ 145 w 146"/>
                <a:gd name="T19" fmla="*/ 2 h 76"/>
                <a:gd name="T20" fmla="*/ 139 w 146"/>
                <a:gd name="T21" fmla="*/ 0 h 76"/>
                <a:gd name="T22" fmla="*/ 132 w 146"/>
                <a:gd name="T23" fmla="*/ 1 h 76"/>
                <a:gd name="T24" fmla="*/ 122 w 146"/>
                <a:gd name="T25" fmla="*/ 5 h 76"/>
                <a:gd name="T26" fmla="*/ 110 w 146"/>
                <a:gd name="T27" fmla="*/ 11 h 76"/>
                <a:gd name="T28" fmla="*/ 96 w 146"/>
                <a:gd name="T29" fmla="*/ 17 h 76"/>
                <a:gd name="T30" fmla="*/ 81 w 146"/>
                <a:gd name="T31" fmla="*/ 21 h 76"/>
                <a:gd name="T32" fmla="*/ 66 w 146"/>
                <a:gd name="T33" fmla="*/ 23 h 76"/>
                <a:gd name="T34" fmla="*/ 52 w 146"/>
                <a:gd name="T35" fmla="*/ 21 h 76"/>
                <a:gd name="T36" fmla="*/ 39 w 146"/>
                <a:gd name="T37" fmla="*/ 17 h 76"/>
                <a:gd name="T38" fmla="*/ 27 w 146"/>
                <a:gd name="T39" fmla="*/ 11 h 76"/>
                <a:gd name="T40" fmla="*/ 18 w 146"/>
                <a:gd name="T41" fmla="*/ 5 h 76"/>
                <a:gd name="T42" fmla="*/ 10 w 146"/>
                <a:gd name="T43" fmla="*/ 1 h 76"/>
                <a:gd name="T44" fmla="*/ 5 w 146"/>
                <a:gd name="T45" fmla="*/ 0 h 76"/>
                <a:gd name="T46" fmla="*/ 1 w 146"/>
                <a:gd name="T47" fmla="*/ 2 h 76"/>
                <a:gd name="T48" fmla="*/ 0 w 146"/>
                <a:gd name="T49" fmla="*/ 12 h 76"/>
                <a:gd name="T50" fmla="*/ 1 w 146"/>
                <a:gd name="T51" fmla="*/ 25 h 76"/>
                <a:gd name="T52" fmla="*/ 6 w 146"/>
                <a:gd name="T53" fmla="*/ 37 h 76"/>
                <a:gd name="T54" fmla="*/ 12 w 146"/>
                <a:gd name="T55" fmla="*/ 48 h 76"/>
                <a:gd name="T56" fmla="*/ 22 w 146"/>
                <a:gd name="T57" fmla="*/ 57 h 76"/>
                <a:gd name="T58" fmla="*/ 33 w 146"/>
                <a:gd name="T59" fmla="*/ 65 h 76"/>
                <a:gd name="T60" fmla="*/ 45 w 146"/>
                <a:gd name="T61" fmla="*/ 71 h 76"/>
                <a:gd name="T62" fmla="*/ 59 w 146"/>
                <a:gd name="T63" fmla="*/ 75 h 76"/>
                <a:gd name="T64" fmla="*/ 74 w 146"/>
                <a:gd name="T65" fmla="*/ 76 h 7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46"/>
                <a:gd name="T100" fmla="*/ 0 h 76"/>
                <a:gd name="T101" fmla="*/ 146 w 146"/>
                <a:gd name="T102" fmla="*/ 76 h 7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46" h="76">
                  <a:moveTo>
                    <a:pt x="74" y="76"/>
                  </a:moveTo>
                  <a:lnTo>
                    <a:pt x="89" y="75"/>
                  </a:lnTo>
                  <a:lnTo>
                    <a:pt x="102" y="71"/>
                  </a:lnTo>
                  <a:lnTo>
                    <a:pt x="114" y="65"/>
                  </a:lnTo>
                  <a:lnTo>
                    <a:pt x="126" y="57"/>
                  </a:lnTo>
                  <a:lnTo>
                    <a:pt x="134" y="48"/>
                  </a:lnTo>
                  <a:lnTo>
                    <a:pt x="140" y="37"/>
                  </a:lnTo>
                  <a:lnTo>
                    <a:pt x="145" y="25"/>
                  </a:lnTo>
                  <a:lnTo>
                    <a:pt x="146" y="12"/>
                  </a:lnTo>
                  <a:lnTo>
                    <a:pt x="145" y="2"/>
                  </a:lnTo>
                  <a:lnTo>
                    <a:pt x="139" y="0"/>
                  </a:lnTo>
                  <a:lnTo>
                    <a:pt x="132" y="1"/>
                  </a:lnTo>
                  <a:lnTo>
                    <a:pt x="122" y="5"/>
                  </a:lnTo>
                  <a:lnTo>
                    <a:pt x="110" y="11"/>
                  </a:lnTo>
                  <a:lnTo>
                    <a:pt x="96" y="17"/>
                  </a:lnTo>
                  <a:lnTo>
                    <a:pt x="81" y="21"/>
                  </a:lnTo>
                  <a:lnTo>
                    <a:pt x="66" y="23"/>
                  </a:lnTo>
                  <a:lnTo>
                    <a:pt x="52" y="21"/>
                  </a:lnTo>
                  <a:lnTo>
                    <a:pt x="39" y="17"/>
                  </a:lnTo>
                  <a:lnTo>
                    <a:pt x="27" y="11"/>
                  </a:lnTo>
                  <a:lnTo>
                    <a:pt x="18" y="5"/>
                  </a:lnTo>
                  <a:lnTo>
                    <a:pt x="10" y="1"/>
                  </a:lnTo>
                  <a:lnTo>
                    <a:pt x="5" y="0"/>
                  </a:lnTo>
                  <a:lnTo>
                    <a:pt x="1" y="2"/>
                  </a:lnTo>
                  <a:lnTo>
                    <a:pt x="0" y="12"/>
                  </a:lnTo>
                  <a:lnTo>
                    <a:pt x="1" y="25"/>
                  </a:lnTo>
                  <a:lnTo>
                    <a:pt x="6" y="37"/>
                  </a:lnTo>
                  <a:lnTo>
                    <a:pt x="12" y="48"/>
                  </a:lnTo>
                  <a:lnTo>
                    <a:pt x="22" y="57"/>
                  </a:lnTo>
                  <a:lnTo>
                    <a:pt x="33" y="65"/>
                  </a:lnTo>
                  <a:lnTo>
                    <a:pt x="45" y="71"/>
                  </a:lnTo>
                  <a:lnTo>
                    <a:pt x="59" y="75"/>
                  </a:lnTo>
                  <a:lnTo>
                    <a:pt x="74" y="76"/>
                  </a:lnTo>
                  <a:close/>
                </a:path>
              </a:pathLst>
            </a:custGeom>
            <a:solidFill>
              <a:srgbClr val="000000"/>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085" name="Freeform 91"/>
            <p:cNvSpPr>
              <a:spLocks/>
            </p:cNvSpPr>
            <p:nvPr/>
          </p:nvSpPr>
          <p:spPr bwMode="auto">
            <a:xfrm>
              <a:off x="4628" y="2390"/>
              <a:ext cx="147" cy="78"/>
            </a:xfrm>
            <a:custGeom>
              <a:avLst/>
              <a:gdLst>
                <a:gd name="T0" fmla="*/ 74 w 147"/>
                <a:gd name="T1" fmla="*/ 78 h 78"/>
                <a:gd name="T2" fmla="*/ 89 w 147"/>
                <a:gd name="T3" fmla="*/ 77 h 78"/>
                <a:gd name="T4" fmla="*/ 103 w 147"/>
                <a:gd name="T5" fmla="*/ 73 h 78"/>
                <a:gd name="T6" fmla="*/ 115 w 147"/>
                <a:gd name="T7" fmla="*/ 67 h 78"/>
                <a:gd name="T8" fmla="*/ 126 w 147"/>
                <a:gd name="T9" fmla="*/ 58 h 78"/>
                <a:gd name="T10" fmla="*/ 135 w 147"/>
                <a:gd name="T11" fmla="*/ 50 h 78"/>
                <a:gd name="T12" fmla="*/ 141 w 147"/>
                <a:gd name="T13" fmla="*/ 39 h 78"/>
                <a:gd name="T14" fmla="*/ 146 w 147"/>
                <a:gd name="T15" fmla="*/ 26 h 78"/>
                <a:gd name="T16" fmla="*/ 147 w 147"/>
                <a:gd name="T17" fmla="*/ 14 h 78"/>
                <a:gd name="T18" fmla="*/ 146 w 147"/>
                <a:gd name="T19" fmla="*/ 4 h 78"/>
                <a:gd name="T20" fmla="*/ 141 w 147"/>
                <a:gd name="T21" fmla="*/ 0 h 78"/>
                <a:gd name="T22" fmla="*/ 134 w 147"/>
                <a:gd name="T23" fmla="*/ 2 h 78"/>
                <a:gd name="T24" fmla="*/ 124 w 147"/>
                <a:gd name="T25" fmla="*/ 5 h 78"/>
                <a:gd name="T26" fmla="*/ 113 w 147"/>
                <a:gd name="T27" fmla="*/ 11 h 78"/>
                <a:gd name="T28" fmla="*/ 100 w 147"/>
                <a:gd name="T29" fmla="*/ 18 h 78"/>
                <a:gd name="T30" fmla="*/ 85 w 147"/>
                <a:gd name="T31" fmla="*/ 21 h 78"/>
                <a:gd name="T32" fmla="*/ 71 w 147"/>
                <a:gd name="T33" fmla="*/ 24 h 78"/>
                <a:gd name="T34" fmla="*/ 56 w 147"/>
                <a:gd name="T35" fmla="*/ 21 h 78"/>
                <a:gd name="T36" fmla="*/ 42 w 147"/>
                <a:gd name="T37" fmla="*/ 18 h 78"/>
                <a:gd name="T38" fmla="*/ 30 w 147"/>
                <a:gd name="T39" fmla="*/ 11 h 78"/>
                <a:gd name="T40" fmla="*/ 20 w 147"/>
                <a:gd name="T41" fmla="*/ 5 h 78"/>
                <a:gd name="T42" fmla="*/ 12 w 147"/>
                <a:gd name="T43" fmla="*/ 2 h 78"/>
                <a:gd name="T44" fmla="*/ 5 w 147"/>
                <a:gd name="T45" fmla="*/ 0 h 78"/>
                <a:gd name="T46" fmla="*/ 2 w 147"/>
                <a:gd name="T47" fmla="*/ 4 h 78"/>
                <a:gd name="T48" fmla="*/ 0 w 147"/>
                <a:gd name="T49" fmla="*/ 14 h 78"/>
                <a:gd name="T50" fmla="*/ 2 w 147"/>
                <a:gd name="T51" fmla="*/ 26 h 78"/>
                <a:gd name="T52" fmla="*/ 7 w 147"/>
                <a:gd name="T53" fmla="*/ 39 h 78"/>
                <a:gd name="T54" fmla="*/ 13 w 147"/>
                <a:gd name="T55" fmla="*/ 50 h 78"/>
                <a:gd name="T56" fmla="*/ 23 w 147"/>
                <a:gd name="T57" fmla="*/ 58 h 78"/>
                <a:gd name="T58" fmla="*/ 34 w 147"/>
                <a:gd name="T59" fmla="*/ 67 h 78"/>
                <a:gd name="T60" fmla="*/ 46 w 147"/>
                <a:gd name="T61" fmla="*/ 73 h 78"/>
                <a:gd name="T62" fmla="*/ 60 w 147"/>
                <a:gd name="T63" fmla="*/ 77 h 78"/>
                <a:gd name="T64" fmla="*/ 74 w 147"/>
                <a:gd name="T65" fmla="*/ 78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47"/>
                <a:gd name="T100" fmla="*/ 0 h 78"/>
                <a:gd name="T101" fmla="*/ 147 w 147"/>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47" h="78">
                  <a:moveTo>
                    <a:pt x="74" y="78"/>
                  </a:moveTo>
                  <a:lnTo>
                    <a:pt x="89" y="77"/>
                  </a:lnTo>
                  <a:lnTo>
                    <a:pt x="103" y="73"/>
                  </a:lnTo>
                  <a:lnTo>
                    <a:pt x="115" y="67"/>
                  </a:lnTo>
                  <a:lnTo>
                    <a:pt x="126" y="58"/>
                  </a:lnTo>
                  <a:lnTo>
                    <a:pt x="135" y="50"/>
                  </a:lnTo>
                  <a:lnTo>
                    <a:pt x="141" y="39"/>
                  </a:lnTo>
                  <a:lnTo>
                    <a:pt x="146" y="26"/>
                  </a:lnTo>
                  <a:lnTo>
                    <a:pt x="147" y="14"/>
                  </a:lnTo>
                  <a:lnTo>
                    <a:pt x="146" y="4"/>
                  </a:lnTo>
                  <a:lnTo>
                    <a:pt x="141" y="0"/>
                  </a:lnTo>
                  <a:lnTo>
                    <a:pt x="134" y="2"/>
                  </a:lnTo>
                  <a:lnTo>
                    <a:pt x="124" y="5"/>
                  </a:lnTo>
                  <a:lnTo>
                    <a:pt x="113" y="11"/>
                  </a:lnTo>
                  <a:lnTo>
                    <a:pt x="100" y="18"/>
                  </a:lnTo>
                  <a:lnTo>
                    <a:pt x="85" y="21"/>
                  </a:lnTo>
                  <a:lnTo>
                    <a:pt x="71" y="24"/>
                  </a:lnTo>
                  <a:lnTo>
                    <a:pt x="56" y="21"/>
                  </a:lnTo>
                  <a:lnTo>
                    <a:pt x="42" y="18"/>
                  </a:lnTo>
                  <a:lnTo>
                    <a:pt x="30" y="11"/>
                  </a:lnTo>
                  <a:lnTo>
                    <a:pt x="20" y="5"/>
                  </a:lnTo>
                  <a:lnTo>
                    <a:pt x="12" y="2"/>
                  </a:lnTo>
                  <a:lnTo>
                    <a:pt x="5" y="0"/>
                  </a:lnTo>
                  <a:lnTo>
                    <a:pt x="2" y="4"/>
                  </a:lnTo>
                  <a:lnTo>
                    <a:pt x="0" y="14"/>
                  </a:lnTo>
                  <a:lnTo>
                    <a:pt x="2" y="26"/>
                  </a:lnTo>
                  <a:lnTo>
                    <a:pt x="7" y="39"/>
                  </a:lnTo>
                  <a:lnTo>
                    <a:pt x="13" y="50"/>
                  </a:lnTo>
                  <a:lnTo>
                    <a:pt x="23" y="58"/>
                  </a:lnTo>
                  <a:lnTo>
                    <a:pt x="34" y="67"/>
                  </a:lnTo>
                  <a:lnTo>
                    <a:pt x="46" y="73"/>
                  </a:lnTo>
                  <a:lnTo>
                    <a:pt x="60" y="77"/>
                  </a:lnTo>
                  <a:lnTo>
                    <a:pt x="74" y="78"/>
                  </a:lnTo>
                  <a:close/>
                </a:path>
              </a:pathLst>
            </a:custGeom>
            <a:solidFill>
              <a:srgbClr val="000000"/>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086" name="Freeform 92"/>
            <p:cNvSpPr>
              <a:spLocks/>
            </p:cNvSpPr>
            <p:nvPr/>
          </p:nvSpPr>
          <p:spPr bwMode="auto">
            <a:xfrm>
              <a:off x="4716" y="2340"/>
              <a:ext cx="145" cy="128"/>
            </a:xfrm>
            <a:custGeom>
              <a:avLst/>
              <a:gdLst>
                <a:gd name="T0" fmla="*/ 73 w 145"/>
                <a:gd name="T1" fmla="*/ 128 h 128"/>
                <a:gd name="T2" fmla="*/ 87 w 145"/>
                <a:gd name="T3" fmla="*/ 127 h 128"/>
                <a:gd name="T4" fmla="*/ 101 w 145"/>
                <a:gd name="T5" fmla="*/ 123 h 128"/>
                <a:gd name="T6" fmla="*/ 113 w 145"/>
                <a:gd name="T7" fmla="*/ 117 h 128"/>
                <a:gd name="T8" fmla="*/ 124 w 145"/>
                <a:gd name="T9" fmla="*/ 108 h 128"/>
                <a:gd name="T10" fmla="*/ 133 w 145"/>
                <a:gd name="T11" fmla="*/ 100 h 128"/>
                <a:gd name="T12" fmla="*/ 139 w 145"/>
                <a:gd name="T13" fmla="*/ 89 h 128"/>
                <a:gd name="T14" fmla="*/ 144 w 145"/>
                <a:gd name="T15" fmla="*/ 76 h 128"/>
                <a:gd name="T16" fmla="*/ 145 w 145"/>
                <a:gd name="T17" fmla="*/ 64 h 128"/>
                <a:gd name="T18" fmla="*/ 144 w 145"/>
                <a:gd name="T19" fmla="*/ 50 h 128"/>
                <a:gd name="T20" fmla="*/ 139 w 145"/>
                <a:gd name="T21" fmla="*/ 39 h 128"/>
                <a:gd name="T22" fmla="*/ 133 w 145"/>
                <a:gd name="T23" fmla="*/ 28 h 128"/>
                <a:gd name="T24" fmla="*/ 124 w 145"/>
                <a:gd name="T25" fmla="*/ 18 h 128"/>
                <a:gd name="T26" fmla="*/ 113 w 145"/>
                <a:gd name="T27" fmla="*/ 11 h 128"/>
                <a:gd name="T28" fmla="*/ 101 w 145"/>
                <a:gd name="T29" fmla="*/ 5 h 128"/>
                <a:gd name="T30" fmla="*/ 87 w 145"/>
                <a:gd name="T31" fmla="*/ 1 h 128"/>
                <a:gd name="T32" fmla="*/ 73 w 145"/>
                <a:gd name="T33" fmla="*/ 0 h 128"/>
                <a:gd name="T34" fmla="*/ 58 w 145"/>
                <a:gd name="T35" fmla="*/ 1 h 128"/>
                <a:gd name="T36" fmla="*/ 44 w 145"/>
                <a:gd name="T37" fmla="*/ 5 h 128"/>
                <a:gd name="T38" fmla="*/ 32 w 145"/>
                <a:gd name="T39" fmla="*/ 11 h 128"/>
                <a:gd name="T40" fmla="*/ 21 w 145"/>
                <a:gd name="T41" fmla="*/ 18 h 128"/>
                <a:gd name="T42" fmla="*/ 12 w 145"/>
                <a:gd name="T43" fmla="*/ 28 h 128"/>
                <a:gd name="T44" fmla="*/ 6 w 145"/>
                <a:gd name="T45" fmla="*/ 39 h 128"/>
                <a:gd name="T46" fmla="*/ 1 w 145"/>
                <a:gd name="T47" fmla="*/ 50 h 128"/>
                <a:gd name="T48" fmla="*/ 0 w 145"/>
                <a:gd name="T49" fmla="*/ 64 h 128"/>
                <a:gd name="T50" fmla="*/ 1 w 145"/>
                <a:gd name="T51" fmla="*/ 76 h 128"/>
                <a:gd name="T52" fmla="*/ 6 w 145"/>
                <a:gd name="T53" fmla="*/ 89 h 128"/>
                <a:gd name="T54" fmla="*/ 12 w 145"/>
                <a:gd name="T55" fmla="*/ 100 h 128"/>
                <a:gd name="T56" fmla="*/ 21 w 145"/>
                <a:gd name="T57" fmla="*/ 108 h 128"/>
                <a:gd name="T58" fmla="*/ 32 w 145"/>
                <a:gd name="T59" fmla="*/ 117 h 128"/>
                <a:gd name="T60" fmla="*/ 44 w 145"/>
                <a:gd name="T61" fmla="*/ 123 h 128"/>
                <a:gd name="T62" fmla="*/ 58 w 145"/>
                <a:gd name="T63" fmla="*/ 127 h 128"/>
                <a:gd name="T64" fmla="*/ 73 w 145"/>
                <a:gd name="T65" fmla="*/ 128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45"/>
                <a:gd name="T100" fmla="*/ 0 h 128"/>
                <a:gd name="T101" fmla="*/ 145 w 145"/>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45" h="128">
                  <a:moveTo>
                    <a:pt x="73" y="128"/>
                  </a:moveTo>
                  <a:lnTo>
                    <a:pt x="87" y="127"/>
                  </a:lnTo>
                  <a:lnTo>
                    <a:pt x="101" y="123"/>
                  </a:lnTo>
                  <a:lnTo>
                    <a:pt x="113" y="117"/>
                  </a:lnTo>
                  <a:lnTo>
                    <a:pt x="124" y="108"/>
                  </a:lnTo>
                  <a:lnTo>
                    <a:pt x="133" y="100"/>
                  </a:lnTo>
                  <a:lnTo>
                    <a:pt x="139" y="89"/>
                  </a:lnTo>
                  <a:lnTo>
                    <a:pt x="144" y="76"/>
                  </a:lnTo>
                  <a:lnTo>
                    <a:pt x="145" y="64"/>
                  </a:lnTo>
                  <a:lnTo>
                    <a:pt x="144" y="50"/>
                  </a:lnTo>
                  <a:lnTo>
                    <a:pt x="139" y="39"/>
                  </a:lnTo>
                  <a:lnTo>
                    <a:pt x="133" y="28"/>
                  </a:lnTo>
                  <a:lnTo>
                    <a:pt x="124" y="18"/>
                  </a:lnTo>
                  <a:lnTo>
                    <a:pt x="113" y="11"/>
                  </a:lnTo>
                  <a:lnTo>
                    <a:pt x="101" y="5"/>
                  </a:lnTo>
                  <a:lnTo>
                    <a:pt x="87" y="1"/>
                  </a:lnTo>
                  <a:lnTo>
                    <a:pt x="73" y="0"/>
                  </a:lnTo>
                  <a:lnTo>
                    <a:pt x="58" y="1"/>
                  </a:lnTo>
                  <a:lnTo>
                    <a:pt x="44" y="5"/>
                  </a:lnTo>
                  <a:lnTo>
                    <a:pt x="32" y="11"/>
                  </a:lnTo>
                  <a:lnTo>
                    <a:pt x="21" y="18"/>
                  </a:lnTo>
                  <a:lnTo>
                    <a:pt x="12" y="28"/>
                  </a:lnTo>
                  <a:lnTo>
                    <a:pt x="6" y="39"/>
                  </a:lnTo>
                  <a:lnTo>
                    <a:pt x="1" y="50"/>
                  </a:lnTo>
                  <a:lnTo>
                    <a:pt x="0" y="64"/>
                  </a:lnTo>
                  <a:lnTo>
                    <a:pt x="1" y="76"/>
                  </a:lnTo>
                  <a:lnTo>
                    <a:pt x="6" y="89"/>
                  </a:lnTo>
                  <a:lnTo>
                    <a:pt x="12" y="100"/>
                  </a:lnTo>
                  <a:lnTo>
                    <a:pt x="21" y="108"/>
                  </a:lnTo>
                  <a:lnTo>
                    <a:pt x="32" y="117"/>
                  </a:lnTo>
                  <a:lnTo>
                    <a:pt x="44" y="123"/>
                  </a:lnTo>
                  <a:lnTo>
                    <a:pt x="58" y="127"/>
                  </a:lnTo>
                  <a:lnTo>
                    <a:pt x="73" y="128"/>
                  </a:lnTo>
                  <a:close/>
                </a:path>
              </a:pathLst>
            </a:custGeom>
            <a:solidFill>
              <a:srgbClr val="000000"/>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087" name="Freeform 93"/>
            <p:cNvSpPr>
              <a:spLocks/>
            </p:cNvSpPr>
            <p:nvPr/>
          </p:nvSpPr>
          <p:spPr bwMode="auto">
            <a:xfrm>
              <a:off x="4361" y="2036"/>
              <a:ext cx="1072" cy="566"/>
            </a:xfrm>
            <a:custGeom>
              <a:avLst/>
              <a:gdLst>
                <a:gd name="T0" fmla="*/ 536 w 1072"/>
                <a:gd name="T1" fmla="*/ 27 h 566"/>
                <a:gd name="T2" fmla="*/ 447 w 1072"/>
                <a:gd name="T3" fmla="*/ 34 h 566"/>
                <a:gd name="T4" fmla="*/ 399 w 1072"/>
                <a:gd name="T5" fmla="*/ 37 h 566"/>
                <a:gd name="T6" fmla="*/ 308 w 1072"/>
                <a:gd name="T7" fmla="*/ 32 h 566"/>
                <a:gd name="T8" fmla="*/ 249 w 1072"/>
                <a:gd name="T9" fmla="*/ 8 h 566"/>
                <a:gd name="T10" fmla="*/ 205 w 1072"/>
                <a:gd name="T11" fmla="*/ 1 h 566"/>
                <a:gd name="T12" fmla="*/ 175 w 1072"/>
                <a:gd name="T13" fmla="*/ 18 h 566"/>
                <a:gd name="T14" fmla="*/ 146 w 1072"/>
                <a:gd name="T15" fmla="*/ 37 h 566"/>
                <a:gd name="T16" fmla="*/ 134 w 1072"/>
                <a:gd name="T17" fmla="*/ 43 h 566"/>
                <a:gd name="T18" fmla="*/ 101 w 1072"/>
                <a:gd name="T19" fmla="*/ 53 h 566"/>
                <a:gd name="T20" fmla="*/ 57 w 1072"/>
                <a:gd name="T21" fmla="*/ 72 h 566"/>
                <a:gd name="T22" fmla="*/ 27 w 1072"/>
                <a:gd name="T23" fmla="*/ 107 h 566"/>
                <a:gd name="T24" fmla="*/ 6 w 1072"/>
                <a:gd name="T25" fmla="*/ 170 h 566"/>
                <a:gd name="T26" fmla="*/ 0 w 1072"/>
                <a:gd name="T27" fmla="*/ 230 h 566"/>
                <a:gd name="T28" fmla="*/ 3 w 1072"/>
                <a:gd name="T29" fmla="*/ 240 h 566"/>
                <a:gd name="T30" fmla="*/ 20 w 1072"/>
                <a:gd name="T31" fmla="*/ 255 h 566"/>
                <a:gd name="T32" fmla="*/ 64 w 1072"/>
                <a:gd name="T33" fmla="*/ 247 h 566"/>
                <a:gd name="T34" fmla="*/ 100 w 1072"/>
                <a:gd name="T35" fmla="*/ 205 h 566"/>
                <a:gd name="T36" fmla="*/ 112 w 1072"/>
                <a:gd name="T37" fmla="*/ 167 h 566"/>
                <a:gd name="T38" fmla="*/ 123 w 1072"/>
                <a:gd name="T39" fmla="*/ 208 h 566"/>
                <a:gd name="T40" fmla="*/ 150 w 1072"/>
                <a:gd name="T41" fmla="*/ 320 h 566"/>
                <a:gd name="T42" fmla="*/ 197 w 1072"/>
                <a:gd name="T43" fmla="*/ 341 h 566"/>
                <a:gd name="T44" fmla="*/ 247 w 1072"/>
                <a:gd name="T45" fmla="*/ 313 h 566"/>
                <a:gd name="T46" fmla="*/ 271 w 1072"/>
                <a:gd name="T47" fmla="*/ 273 h 566"/>
                <a:gd name="T48" fmla="*/ 292 w 1072"/>
                <a:gd name="T49" fmla="*/ 306 h 566"/>
                <a:gd name="T50" fmla="*/ 297 w 1072"/>
                <a:gd name="T51" fmla="*/ 359 h 566"/>
                <a:gd name="T52" fmla="*/ 303 w 1072"/>
                <a:gd name="T53" fmla="*/ 395 h 566"/>
                <a:gd name="T54" fmla="*/ 327 w 1072"/>
                <a:gd name="T55" fmla="*/ 416 h 566"/>
                <a:gd name="T56" fmla="*/ 366 w 1072"/>
                <a:gd name="T57" fmla="*/ 412 h 566"/>
                <a:gd name="T58" fmla="*/ 394 w 1072"/>
                <a:gd name="T59" fmla="*/ 396 h 566"/>
                <a:gd name="T60" fmla="*/ 405 w 1072"/>
                <a:gd name="T61" fmla="*/ 383 h 566"/>
                <a:gd name="T62" fmla="*/ 417 w 1072"/>
                <a:gd name="T63" fmla="*/ 384 h 566"/>
                <a:gd name="T64" fmla="*/ 451 w 1072"/>
                <a:gd name="T65" fmla="*/ 388 h 566"/>
                <a:gd name="T66" fmla="*/ 483 w 1072"/>
                <a:gd name="T67" fmla="*/ 369 h 566"/>
                <a:gd name="T68" fmla="*/ 506 w 1072"/>
                <a:gd name="T69" fmla="*/ 256 h 566"/>
                <a:gd name="T70" fmla="*/ 499 w 1072"/>
                <a:gd name="T71" fmla="*/ 135 h 566"/>
                <a:gd name="T72" fmla="*/ 607 w 1072"/>
                <a:gd name="T73" fmla="*/ 261 h 566"/>
                <a:gd name="T74" fmla="*/ 525 w 1072"/>
                <a:gd name="T75" fmla="*/ 325 h 566"/>
                <a:gd name="T76" fmla="*/ 521 w 1072"/>
                <a:gd name="T77" fmla="*/ 362 h 566"/>
                <a:gd name="T78" fmla="*/ 515 w 1072"/>
                <a:gd name="T79" fmla="*/ 406 h 566"/>
                <a:gd name="T80" fmla="*/ 881 w 1072"/>
                <a:gd name="T81" fmla="*/ 566 h 566"/>
                <a:gd name="T82" fmla="*/ 908 w 1072"/>
                <a:gd name="T83" fmla="*/ 565 h 566"/>
                <a:gd name="T84" fmla="*/ 972 w 1072"/>
                <a:gd name="T85" fmla="*/ 562 h 566"/>
                <a:gd name="T86" fmla="*/ 1053 w 1072"/>
                <a:gd name="T87" fmla="*/ 546 h 566"/>
                <a:gd name="T88" fmla="*/ 1066 w 1072"/>
                <a:gd name="T89" fmla="*/ 447 h 566"/>
                <a:gd name="T90" fmla="*/ 1031 w 1072"/>
                <a:gd name="T91" fmla="*/ 351 h 566"/>
                <a:gd name="T92" fmla="*/ 818 w 1072"/>
                <a:gd name="T93" fmla="*/ 262 h 566"/>
                <a:gd name="T94" fmla="*/ 753 w 1072"/>
                <a:gd name="T95" fmla="*/ 189 h 566"/>
                <a:gd name="T96" fmla="*/ 679 w 1072"/>
                <a:gd name="T97" fmla="*/ 101 h 566"/>
                <a:gd name="T98" fmla="*/ 647 w 1072"/>
                <a:gd name="T99" fmla="*/ 54 h 566"/>
                <a:gd name="T100" fmla="*/ 610 w 1072"/>
                <a:gd name="T101" fmla="*/ 26 h 566"/>
                <a:gd name="T102" fmla="*/ 574 w 1072"/>
                <a:gd name="T103" fmla="*/ 21 h 56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072"/>
                <a:gd name="T157" fmla="*/ 0 h 566"/>
                <a:gd name="T158" fmla="*/ 1072 w 1072"/>
                <a:gd name="T159" fmla="*/ 566 h 56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072" h="566">
                  <a:moveTo>
                    <a:pt x="574" y="21"/>
                  </a:moveTo>
                  <a:lnTo>
                    <a:pt x="559" y="24"/>
                  </a:lnTo>
                  <a:lnTo>
                    <a:pt x="536" y="27"/>
                  </a:lnTo>
                  <a:lnTo>
                    <a:pt x="508" y="29"/>
                  </a:lnTo>
                  <a:lnTo>
                    <a:pt x="477" y="32"/>
                  </a:lnTo>
                  <a:lnTo>
                    <a:pt x="447" y="34"/>
                  </a:lnTo>
                  <a:lnTo>
                    <a:pt x="423" y="35"/>
                  </a:lnTo>
                  <a:lnTo>
                    <a:pt x="405" y="37"/>
                  </a:lnTo>
                  <a:lnTo>
                    <a:pt x="399" y="37"/>
                  </a:lnTo>
                  <a:lnTo>
                    <a:pt x="324" y="39"/>
                  </a:lnTo>
                  <a:lnTo>
                    <a:pt x="319" y="37"/>
                  </a:lnTo>
                  <a:lnTo>
                    <a:pt x="308" y="32"/>
                  </a:lnTo>
                  <a:lnTo>
                    <a:pt x="291" y="24"/>
                  </a:lnTo>
                  <a:lnTo>
                    <a:pt x="270" y="16"/>
                  </a:lnTo>
                  <a:lnTo>
                    <a:pt x="249" y="8"/>
                  </a:lnTo>
                  <a:lnTo>
                    <a:pt x="231" y="2"/>
                  </a:lnTo>
                  <a:lnTo>
                    <a:pt x="214" y="0"/>
                  </a:lnTo>
                  <a:lnTo>
                    <a:pt x="205" y="1"/>
                  </a:lnTo>
                  <a:lnTo>
                    <a:pt x="197" y="6"/>
                  </a:lnTo>
                  <a:lnTo>
                    <a:pt x="187" y="12"/>
                  </a:lnTo>
                  <a:lnTo>
                    <a:pt x="175" y="18"/>
                  </a:lnTo>
                  <a:lnTo>
                    <a:pt x="164" y="24"/>
                  </a:lnTo>
                  <a:lnTo>
                    <a:pt x="154" y="32"/>
                  </a:lnTo>
                  <a:lnTo>
                    <a:pt x="146" y="37"/>
                  </a:lnTo>
                  <a:lnTo>
                    <a:pt x="139" y="40"/>
                  </a:lnTo>
                  <a:lnTo>
                    <a:pt x="137" y="42"/>
                  </a:lnTo>
                  <a:lnTo>
                    <a:pt x="134" y="43"/>
                  </a:lnTo>
                  <a:lnTo>
                    <a:pt x="127" y="44"/>
                  </a:lnTo>
                  <a:lnTo>
                    <a:pt x="115" y="48"/>
                  </a:lnTo>
                  <a:lnTo>
                    <a:pt x="101" y="53"/>
                  </a:lnTo>
                  <a:lnTo>
                    <a:pt x="86" y="59"/>
                  </a:lnTo>
                  <a:lnTo>
                    <a:pt x="72" y="65"/>
                  </a:lnTo>
                  <a:lnTo>
                    <a:pt x="57" y="72"/>
                  </a:lnTo>
                  <a:lnTo>
                    <a:pt x="46" y="81"/>
                  </a:lnTo>
                  <a:lnTo>
                    <a:pt x="36" y="91"/>
                  </a:lnTo>
                  <a:lnTo>
                    <a:pt x="27" y="107"/>
                  </a:lnTo>
                  <a:lnTo>
                    <a:pt x="19" y="125"/>
                  </a:lnTo>
                  <a:lnTo>
                    <a:pt x="11" y="148"/>
                  </a:lnTo>
                  <a:lnTo>
                    <a:pt x="6" y="170"/>
                  </a:lnTo>
                  <a:lnTo>
                    <a:pt x="1" y="192"/>
                  </a:lnTo>
                  <a:lnTo>
                    <a:pt x="0" y="213"/>
                  </a:lnTo>
                  <a:lnTo>
                    <a:pt x="0" y="230"/>
                  </a:lnTo>
                  <a:lnTo>
                    <a:pt x="0" y="231"/>
                  </a:lnTo>
                  <a:lnTo>
                    <a:pt x="1" y="235"/>
                  </a:lnTo>
                  <a:lnTo>
                    <a:pt x="3" y="240"/>
                  </a:lnTo>
                  <a:lnTo>
                    <a:pt x="6" y="246"/>
                  </a:lnTo>
                  <a:lnTo>
                    <a:pt x="12" y="251"/>
                  </a:lnTo>
                  <a:lnTo>
                    <a:pt x="20" y="255"/>
                  </a:lnTo>
                  <a:lnTo>
                    <a:pt x="31" y="256"/>
                  </a:lnTo>
                  <a:lnTo>
                    <a:pt x="44" y="255"/>
                  </a:lnTo>
                  <a:lnTo>
                    <a:pt x="64" y="247"/>
                  </a:lnTo>
                  <a:lnTo>
                    <a:pt x="79" y="236"/>
                  </a:lnTo>
                  <a:lnTo>
                    <a:pt x="91" y="221"/>
                  </a:lnTo>
                  <a:lnTo>
                    <a:pt x="100" y="205"/>
                  </a:lnTo>
                  <a:lnTo>
                    <a:pt x="106" y="189"/>
                  </a:lnTo>
                  <a:lnTo>
                    <a:pt x="111" y="176"/>
                  </a:lnTo>
                  <a:lnTo>
                    <a:pt x="112" y="167"/>
                  </a:lnTo>
                  <a:lnTo>
                    <a:pt x="113" y="164"/>
                  </a:lnTo>
                  <a:lnTo>
                    <a:pt x="116" y="176"/>
                  </a:lnTo>
                  <a:lnTo>
                    <a:pt x="123" y="208"/>
                  </a:lnTo>
                  <a:lnTo>
                    <a:pt x="133" y="252"/>
                  </a:lnTo>
                  <a:lnTo>
                    <a:pt x="143" y="300"/>
                  </a:lnTo>
                  <a:lnTo>
                    <a:pt x="150" y="320"/>
                  </a:lnTo>
                  <a:lnTo>
                    <a:pt x="163" y="332"/>
                  </a:lnTo>
                  <a:lnTo>
                    <a:pt x="179" y="340"/>
                  </a:lnTo>
                  <a:lnTo>
                    <a:pt x="197" y="341"/>
                  </a:lnTo>
                  <a:lnTo>
                    <a:pt x="214" y="337"/>
                  </a:lnTo>
                  <a:lnTo>
                    <a:pt x="232" y="327"/>
                  </a:lnTo>
                  <a:lnTo>
                    <a:pt x="247" y="313"/>
                  </a:lnTo>
                  <a:lnTo>
                    <a:pt x="256" y="293"/>
                  </a:lnTo>
                  <a:lnTo>
                    <a:pt x="264" y="277"/>
                  </a:lnTo>
                  <a:lnTo>
                    <a:pt x="271" y="273"/>
                  </a:lnTo>
                  <a:lnTo>
                    <a:pt x="280" y="278"/>
                  </a:lnTo>
                  <a:lnTo>
                    <a:pt x="286" y="289"/>
                  </a:lnTo>
                  <a:lnTo>
                    <a:pt x="292" y="306"/>
                  </a:lnTo>
                  <a:lnTo>
                    <a:pt x="296" y="325"/>
                  </a:lnTo>
                  <a:lnTo>
                    <a:pt x="297" y="343"/>
                  </a:lnTo>
                  <a:lnTo>
                    <a:pt x="297" y="359"/>
                  </a:lnTo>
                  <a:lnTo>
                    <a:pt x="297" y="373"/>
                  </a:lnTo>
                  <a:lnTo>
                    <a:pt x="298" y="385"/>
                  </a:lnTo>
                  <a:lnTo>
                    <a:pt x="303" y="395"/>
                  </a:lnTo>
                  <a:lnTo>
                    <a:pt x="309" y="404"/>
                  </a:lnTo>
                  <a:lnTo>
                    <a:pt x="317" y="411"/>
                  </a:lnTo>
                  <a:lnTo>
                    <a:pt x="327" y="416"/>
                  </a:lnTo>
                  <a:lnTo>
                    <a:pt x="339" y="417"/>
                  </a:lnTo>
                  <a:lnTo>
                    <a:pt x="352" y="416"/>
                  </a:lnTo>
                  <a:lnTo>
                    <a:pt x="366" y="412"/>
                  </a:lnTo>
                  <a:lnTo>
                    <a:pt x="377" y="407"/>
                  </a:lnTo>
                  <a:lnTo>
                    <a:pt x="387" y="402"/>
                  </a:lnTo>
                  <a:lnTo>
                    <a:pt x="394" y="396"/>
                  </a:lnTo>
                  <a:lnTo>
                    <a:pt x="399" y="390"/>
                  </a:lnTo>
                  <a:lnTo>
                    <a:pt x="403" y="386"/>
                  </a:lnTo>
                  <a:lnTo>
                    <a:pt x="405" y="383"/>
                  </a:lnTo>
                  <a:lnTo>
                    <a:pt x="407" y="381"/>
                  </a:lnTo>
                  <a:lnTo>
                    <a:pt x="409" y="383"/>
                  </a:lnTo>
                  <a:lnTo>
                    <a:pt x="417" y="384"/>
                  </a:lnTo>
                  <a:lnTo>
                    <a:pt x="426" y="386"/>
                  </a:lnTo>
                  <a:lnTo>
                    <a:pt x="439" y="388"/>
                  </a:lnTo>
                  <a:lnTo>
                    <a:pt x="451" y="388"/>
                  </a:lnTo>
                  <a:lnTo>
                    <a:pt x="463" y="385"/>
                  </a:lnTo>
                  <a:lnTo>
                    <a:pt x="474" y="379"/>
                  </a:lnTo>
                  <a:lnTo>
                    <a:pt x="483" y="369"/>
                  </a:lnTo>
                  <a:lnTo>
                    <a:pt x="498" y="329"/>
                  </a:lnTo>
                  <a:lnTo>
                    <a:pt x="505" y="288"/>
                  </a:lnTo>
                  <a:lnTo>
                    <a:pt x="506" y="256"/>
                  </a:lnTo>
                  <a:lnTo>
                    <a:pt x="506" y="244"/>
                  </a:lnTo>
                  <a:lnTo>
                    <a:pt x="492" y="197"/>
                  </a:lnTo>
                  <a:lnTo>
                    <a:pt x="499" y="135"/>
                  </a:lnTo>
                  <a:lnTo>
                    <a:pt x="546" y="154"/>
                  </a:lnTo>
                  <a:lnTo>
                    <a:pt x="605" y="186"/>
                  </a:lnTo>
                  <a:lnTo>
                    <a:pt x="607" y="261"/>
                  </a:lnTo>
                  <a:lnTo>
                    <a:pt x="567" y="293"/>
                  </a:lnTo>
                  <a:lnTo>
                    <a:pt x="572" y="356"/>
                  </a:lnTo>
                  <a:lnTo>
                    <a:pt x="525" y="325"/>
                  </a:lnTo>
                  <a:lnTo>
                    <a:pt x="525" y="330"/>
                  </a:lnTo>
                  <a:lnTo>
                    <a:pt x="524" y="342"/>
                  </a:lnTo>
                  <a:lnTo>
                    <a:pt x="521" y="362"/>
                  </a:lnTo>
                  <a:lnTo>
                    <a:pt x="518" y="386"/>
                  </a:lnTo>
                  <a:lnTo>
                    <a:pt x="516" y="400"/>
                  </a:lnTo>
                  <a:lnTo>
                    <a:pt x="515" y="406"/>
                  </a:lnTo>
                  <a:lnTo>
                    <a:pt x="515" y="407"/>
                  </a:lnTo>
                  <a:lnTo>
                    <a:pt x="881" y="566"/>
                  </a:lnTo>
                  <a:lnTo>
                    <a:pt x="885" y="566"/>
                  </a:lnTo>
                  <a:lnTo>
                    <a:pt x="893" y="566"/>
                  </a:lnTo>
                  <a:lnTo>
                    <a:pt x="908" y="565"/>
                  </a:lnTo>
                  <a:lnTo>
                    <a:pt x="927" y="564"/>
                  </a:lnTo>
                  <a:lnTo>
                    <a:pt x="949" y="564"/>
                  </a:lnTo>
                  <a:lnTo>
                    <a:pt x="972" y="562"/>
                  </a:lnTo>
                  <a:lnTo>
                    <a:pt x="997" y="560"/>
                  </a:lnTo>
                  <a:lnTo>
                    <a:pt x="1020" y="559"/>
                  </a:lnTo>
                  <a:lnTo>
                    <a:pt x="1053" y="546"/>
                  </a:lnTo>
                  <a:lnTo>
                    <a:pt x="1069" y="521"/>
                  </a:lnTo>
                  <a:lnTo>
                    <a:pt x="1072" y="486"/>
                  </a:lnTo>
                  <a:lnTo>
                    <a:pt x="1066" y="447"/>
                  </a:lnTo>
                  <a:lnTo>
                    <a:pt x="1055" y="409"/>
                  </a:lnTo>
                  <a:lnTo>
                    <a:pt x="1041" y="374"/>
                  </a:lnTo>
                  <a:lnTo>
                    <a:pt x="1031" y="351"/>
                  </a:lnTo>
                  <a:lnTo>
                    <a:pt x="1026" y="342"/>
                  </a:lnTo>
                  <a:lnTo>
                    <a:pt x="824" y="268"/>
                  </a:lnTo>
                  <a:lnTo>
                    <a:pt x="818" y="262"/>
                  </a:lnTo>
                  <a:lnTo>
                    <a:pt x="802" y="245"/>
                  </a:lnTo>
                  <a:lnTo>
                    <a:pt x="780" y="219"/>
                  </a:lnTo>
                  <a:lnTo>
                    <a:pt x="753" y="189"/>
                  </a:lnTo>
                  <a:lnTo>
                    <a:pt x="726" y="157"/>
                  </a:lnTo>
                  <a:lnTo>
                    <a:pt x="700" y="127"/>
                  </a:lnTo>
                  <a:lnTo>
                    <a:pt x="679" y="101"/>
                  </a:lnTo>
                  <a:lnTo>
                    <a:pt x="667" y="81"/>
                  </a:lnTo>
                  <a:lnTo>
                    <a:pt x="658" y="66"/>
                  </a:lnTo>
                  <a:lnTo>
                    <a:pt x="647" y="54"/>
                  </a:lnTo>
                  <a:lnTo>
                    <a:pt x="636" y="42"/>
                  </a:lnTo>
                  <a:lnTo>
                    <a:pt x="622" y="32"/>
                  </a:lnTo>
                  <a:lnTo>
                    <a:pt x="610" y="26"/>
                  </a:lnTo>
                  <a:lnTo>
                    <a:pt x="596" y="21"/>
                  </a:lnTo>
                  <a:lnTo>
                    <a:pt x="585" y="18"/>
                  </a:lnTo>
                  <a:lnTo>
                    <a:pt x="574" y="21"/>
                  </a:lnTo>
                  <a:close/>
                </a:path>
              </a:pathLst>
            </a:custGeom>
            <a:solidFill>
              <a:srgbClr val="DBDBE5"/>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088" name="Freeform 94"/>
            <p:cNvSpPr>
              <a:spLocks/>
            </p:cNvSpPr>
            <p:nvPr/>
          </p:nvSpPr>
          <p:spPr bwMode="auto">
            <a:xfrm>
              <a:off x="4883" y="2121"/>
              <a:ext cx="25" cy="71"/>
            </a:xfrm>
            <a:custGeom>
              <a:avLst/>
              <a:gdLst>
                <a:gd name="T0" fmla="*/ 0 w 25"/>
                <a:gd name="T1" fmla="*/ 71 h 71"/>
                <a:gd name="T2" fmla="*/ 5 w 25"/>
                <a:gd name="T3" fmla="*/ 55 h 71"/>
                <a:gd name="T4" fmla="*/ 13 w 25"/>
                <a:gd name="T5" fmla="*/ 31 h 71"/>
                <a:gd name="T6" fmla="*/ 21 w 25"/>
                <a:gd name="T7" fmla="*/ 10 h 71"/>
                <a:gd name="T8" fmla="*/ 25 w 25"/>
                <a:gd name="T9" fmla="*/ 0 h 71"/>
                <a:gd name="T10" fmla="*/ 21 w 25"/>
                <a:gd name="T11" fmla="*/ 70 h 71"/>
                <a:gd name="T12" fmla="*/ 0 w 25"/>
                <a:gd name="T13" fmla="*/ 71 h 71"/>
                <a:gd name="T14" fmla="*/ 0 60000 65536"/>
                <a:gd name="T15" fmla="*/ 0 60000 65536"/>
                <a:gd name="T16" fmla="*/ 0 60000 65536"/>
                <a:gd name="T17" fmla="*/ 0 60000 65536"/>
                <a:gd name="T18" fmla="*/ 0 60000 65536"/>
                <a:gd name="T19" fmla="*/ 0 60000 65536"/>
                <a:gd name="T20" fmla="*/ 0 60000 65536"/>
                <a:gd name="T21" fmla="*/ 0 w 25"/>
                <a:gd name="T22" fmla="*/ 0 h 71"/>
                <a:gd name="T23" fmla="*/ 25 w 25"/>
                <a:gd name="T24" fmla="*/ 71 h 7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71">
                  <a:moveTo>
                    <a:pt x="0" y="71"/>
                  </a:moveTo>
                  <a:lnTo>
                    <a:pt x="5" y="55"/>
                  </a:lnTo>
                  <a:lnTo>
                    <a:pt x="13" y="31"/>
                  </a:lnTo>
                  <a:lnTo>
                    <a:pt x="21" y="10"/>
                  </a:lnTo>
                  <a:lnTo>
                    <a:pt x="25" y="0"/>
                  </a:lnTo>
                  <a:lnTo>
                    <a:pt x="21" y="70"/>
                  </a:lnTo>
                  <a:lnTo>
                    <a:pt x="0" y="71"/>
                  </a:lnTo>
                  <a:close/>
                </a:path>
              </a:pathLst>
            </a:custGeom>
            <a:solidFill>
              <a:srgbClr val="4C8C8C"/>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089" name="Freeform 95"/>
            <p:cNvSpPr>
              <a:spLocks/>
            </p:cNvSpPr>
            <p:nvPr/>
          </p:nvSpPr>
          <p:spPr bwMode="auto">
            <a:xfrm>
              <a:off x="4927" y="2148"/>
              <a:ext cx="51" cy="66"/>
            </a:xfrm>
            <a:custGeom>
              <a:avLst/>
              <a:gdLst>
                <a:gd name="T0" fmla="*/ 0 w 51"/>
                <a:gd name="T1" fmla="*/ 66 h 66"/>
                <a:gd name="T2" fmla="*/ 0 w 51"/>
                <a:gd name="T3" fmla="*/ 64 h 66"/>
                <a:gd name="T4" fmla="*/ 1 w 51"/>
                <a:gd name="T5" fmla="*/ 58 h 66"/>
                <a:gd name="T6" fmla="*/ 3 w 51"/>
                <a:gd name="T7" fmla="*/ 48 h 66"/>
                <a:gd name="T8" fmla="*/ 7 w 51"/>
                <a:gd name="T9" fmla="*/ 37 h 66"/>
                <a:gd name="T10" fmla="*/ 12 w 51"/>
                <a:gd name="T11" fmla="*/ 24 h 66"/>
                <a:gd name="T12" fmla="*/ 19 w 51"/>
                <a:gd name="T13" fmla="*/ 13 h 66"/>
                <a:gd name="T14" fmla="*/ 29 w 51"/>
                <a:gd name="T15" fmla="*/ 5 h 66"/>
                <a:gd name="T16" fmla="*/ 40 w 51"/>
                <a:gd name="T17" fmla="*/ 0 h 66"/>
                <a:gd name="T18" fmla="*/ 49 w 51"/>
                <a:gd name="T19" fmla="*/ 1 h 66"/>
                <a:gd name="T20" fmla="*/ 51 w 51"/>
                <a:gd name="T21" fmla="*/ 7 h 66"/>
                <a:gd name="T22" fmla="*/ 48 w 51"/>
                <a:gd name="T23" fmla="*/ 17 h 66"/>
                <a:gd name="T24" fmla="*/ 41 w 51"/>
                <a:gd name="T25" fmla="*/ 29 h 66"/>
                <a:gd name="T26" fmla="*/ 33 w 51"/>
                <a:gd name="T27" fmla="*/ 42 h 66"/>
                <a:gd name="T28" fmla="*/ 24 w 51"/>
                <a:gd name="T29" fmla="*/ 53 h 66"/>
                <a:gd name="T30" fmla="*/ 18 w 51"/>
                <a:gd name="T31" fmla="*/ 61 h 66"/>
                <a:gd name="T32" fmla="*/ 16 w 51"/>
                <a:gd name="T33" fmla="*/ 64 h 66"/>
                <a:gd name="T34" fmla="*/ 0 w 51"/>
                <a:gd name="T35" fmla="*/ 66 h 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1"/>
                <a:gd name="T55" fmla="*/ 0 h 66"/>
                <a:gd name="T56" fmla="*/ 51 w 51"/>
                <a:gd name="T57" fmla="*/ 66 h 6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1" h="66">
                  <a:moveTo>
                    <a:pt x="0" y="66"/>
                  </a:moveTo>
                  <a:lnTo>
                    <a:pt x="0" y="64"/>
                  </a:lnTo>
                  <a:lnTo>
                    <a:pt x="1" y="58"/>
                  </a:lnTo>
                  <a:lnTo>
                    <a:pt x="3" y="48"/>
                  </a:lnTo>
                  <a:lnTo>
                    <a:pt x="7" y="37"/>
                  </a:lnTo>
                  <a:lnTo>
                    <a:pt x="12" y="24"/>
                  </a:lnTo>
                  <a:lnTo>
                    <a:pt x="19" y="13"/>
                  </a:lnTo>
                  <a:lnTo>
                    <a:pt x="29" y="5"/>
                  </a:lnTo>
                  <a:lnTo>
                    <a:pt x="40" y="0"/>
                  </a:lnTo>
                  <a:lnTo>
                    <a:pt x="49" y="1"/>
                  </a:lnTo>
                  <a:lnTo>
                    <a:pt x="51" y="7"/>
                  </a:lnTo>
                  <a:lnTo>
                    <a:pt x="48" y="17"/>
                  </a:lnTo>
                  <a:lnTo>
                    <a:pt x="41" y="29"/>
                  </a:lnTo>
                  <a:lnTo>
                    <a:pt x="33" y="42"/>
                  </a:lnTo>
                  <a:lnTo>
                    <a:pt x="24" y="53"/>
                  </a:lnTo>
                  <a:lnTo>
                    <a:pt x="18" y="61"/>
                  </a:lnTo>
                  <a:lnTo>
                    <a:pt x="16" y="64"/>
                  </a:lnTo>
                  <a:lnTo>
                    <a:pt x="0" y="66"/>
                  </a:lnTo>
                  <a:close/>
                </a:path>
              </a:pathLst>
            </a:custGeom>
            <a:solidFill>
              <a:srgbClr val="4C8C8C"/>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090" name="Freeform 96"/>
            <p:cNvSpPr>
              <a:spLocks/>
            </p:cNvSpPr>
            <p:nvPr/>
          </p:nvSpPr>
          <p:spPr bwMode="auto">
            <a:xfrm>
              <a:off x="4929" y="2217"/>
              <a:ext cx="102" cy="32"/>
            </a:xfrm>
            <a:custGeom>
              <a:avLst/>
              <a:gdLst>
                <a:gd name="T0" fmla="*/ 14 w 102"/>
                <a:gd name="T1" fmla="*/ 32 h 32"/>
                <a:gd name="T2" fmla="*/ 19 w 102"/>
                <a:gd name="T3" fmla="*/ 32 h 32"/>
                <a:gd name="T4" fmla="*/ 30 w 102"/>
                <a:gd name="T5" fmla="*/ 31 h 32"/>
                <a:gd name="T6" fmla="*/ 44 w 102"/>
                <a:gd name="T7" fmla="*/ 28 h 32"/>
                <a:gd name="T8" fmla="*/ 63 w 102"/>
                <a:gd name="T9" fmla="*/ 27 h 32"/>
                <a:gd name="T10" fmla="*/ 80 w 102"/>
                <a:gd name="T11" fmla="*/ 24 h 32"/>
                <a:gd name="T12" fmla="*/ 94 w 102"/>
                <a:gd name="T13" fmla="*/ 23 h 32"/>
                <a:gd name="T14" fmla="*/ 102 w 102"/>
                <a:gd name="T15" fmla="*/ 22 h 32"/>
                <a:gd name="T16" fmla="*/ 102 w 102"/>
                <a:gd name="T17" fmla="*/ 22 h 32"/>
                <a:gd name="T18" fmla="*/ 94 w 102"/>
                <a:gd name="T19" fmla="*/ 21 h 32"/>
                <a:gd name="T20" fmla="*/ 81 w 102"/>
                <a:gd name="T21" fmla="*/ 18 h 32"/>
                <a:gd name="T22" fmla="*/ 69 w 102"/>
                <a:gd name="T23" fmla="*/ 13 h 32"/>
                <a:gd name="T24" fmla="*/ 55 w 102"/>
                <a:gd name="T25" fmla="*/ 8 h 32"/>
                <a:gd name="T26" fmla="*/ 42 w 102"/>
                <a:gd name="T27" fmla="*/ 5 h 32"/>
                <a:gd name="T28" fmla="*/ 30 w 102"/>
                <a:gd name="T29" fmla="*/ 1 h 32"/>
                <a:gd name="T30" fmla="*/ 19 w 102"/>
                <a:gd name="T31" fmla="*/ 0 h 32"/>
                <a:gd name="T32" fmla="*/ 9 w 102"/>
                <a:gd name="T33" fmla="*/ 2 h 32"/>
                <a:gd name="T34" fmla="*/ 0 w 102"/>
                <a:gd name="T35" fmla="*/ 11 h 32"/>
                <a:gd name="T36" fmla="*/ 4 w 102"/>
                <a:gd name="T37" fmla="*/ 21 h 32"/>
                <a:gd name="T38" fmla="*/ 10 w 102"/>
                <a:gd name="T39" fmla="*/ 28 h 32"/>
                <a:gd name="T40" fmla="*/ 14 w 102"/>
                <a:gd name="T41" fmla="*/ 32 h 3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2"/>
                <a:gd name="T64" fmla="*/ 0 h 32"/>
                <a:gd name="T65" fmla="*/ 102 w 102"/>
                <a:gd name="T66" fmla="*/ 32 h 3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2" h="32">
                  <a:moveTo>
                    <a:pt x="14" y="32"/>
                  </a:moveTo>
                  <a:lnTo>
                    <a:pt x="19" y="32"/>
                  </a:lnTo>
                  <a:lnTo>
                    <a:pt x="30" y="31"/>
                  </a:lnTo>
                  <a:lnTo>
                    <a:pt x="44" y="28"/>
                  </a:lnTo>
                  <a:lnTo>
                    <a:pt x="63" y="27"/>
                  </a:lnTo>
                  <a:lnTo>
                    <a:pt x="80" y="24"/>
                  </a:lnTo>
                  <a:lnTo>
                    <a:pt x="94" y="23"/>
                  </a:lnTo>
                  <a:lnTo>
                    <a:pt x="102" y="22"/>
                  </a:lnTo>
                  <a:lnTo>
                    <a:pt x="94" y="21"/>
                  </a:lnTo>
                  <a:lnTo>
                    <a:pt x="81" y="18"/>
                  </a:lnTo>
                  <a:lnTo>
                    <a:pt x="69" y="13"/>
                  </a:lnTo>
                  <a:lnTo>
                    <a:pt x="55" y="8"/>
                  </a:lnTo>
                  <a:lnTo>
                    <a:pt x="42" y="5"/>
                  </a:lnTo>
                  <a:lnTo>
                    <a:pt x="30" y="1"/>
                  </a:lnTo>
                  <a:lnTo>
                    <a:pt x="19" y="0"/>
                  </a:lnTo>
                  <a:lnTo>
                    <a:pt x="9" y="2"/>
                  </a:lnTo>
                  <a:lnTo>
                    <a:pt x="0" y="11"/>
                  </a:lnTo>
                  <a:lnTo>
                    <a:pt x="4" y="21"/>
                  </a:lnTo>
                  <a:lnTo>
                    <a:pt x="10" y="28"/>
                  </a:lnTo>
                  <a:lnTo>
                    <a:pt x="14" y="32"/>
                  </a:lnTo>
                  <a:close/>
                </a:path>
              </a:pathLst>
            </a:custGeom>
            <a:solidFill>
              <a:srgbClr val="4C8C8C"/>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091" name="Freeform 97"/>
            <p:cNvSpPr>
              <a:spLocks/>
            </p:cNvSpPr>
            <p:nvPr/>
          </p:nvSpPr>
          <p:spPr bwMode="auto">
            <a:xfrm>
              <a:off x="4360" y="2498"/>
              <a:ext cx="145" cy="55"/>
            </a:xfrm>
            <a:custGeom>
              <a:avLst/>
              <a:gdLst>
                <a:gd name="T0" fmla="*/ 52 w 145"/>
                <a:gd name="T1" fmla="*/ 54 h 55"/>
                <a:gd name="T2" fmla="*/ 64 w 145"/>
                <a:gd name="T3" fmla="*/ 54 h 55"/>
                <a:gd name="T4" fmla="*/ 79 w 145"/>
                <a:gd name="T5" fmla="*/ 55 h 55"/>
                <a:gd name="T6" fmla="*/ 94 w 145"/>
                <a:gd name="T7" fmla="*/ 55 h 55"/>
                <a:gd name="T8" fmla="*/ 110 w 145"/>
                <a:gd name="T9" fmla="*/ 55 h 55"/>
                <a:gd name="T10" fmla="*/ 123 w 145"/>
                <a:gd name="T11" fmla="*/ 54 h 55"/>
                <a:gd name="T12" fmla="*/ 134 w 145"/>
                <a:gd name="T13" fmla="*/ 51 h 55"/>
                <a:gd name="T14" fmla="*/ 143 w 145"/>
                <a:gd name="T15" fmla="*/ 48 h 55"/>
                <a:gd name="T16" fmla="*/ 145 w 145"/>
                <a:gd name="T17" fmla="*/ 43 h 55"/>
                <a:gd name="T18" fmla="*/ 142 w 145"/>
                <a:gd name="T19" fmla="*/ 35 h 55"/>
                <a:gd name="T20" fmla="*/ 133 w 145"/>
                <a:gd name="T21" fmla="*/ 29 h 55"/>
                <a:gd name="T22" fmla="*/ 119 w 145"/>
                <a:gd name="T23" fmla="*/ 22 h 55"/>
                <a:gd name="T24" fmla="*/ 105 w 145"/>
                <a:gd name="T25" fmla="*/ 14 h 55"/>
                <a:gd name="T26" fmla="*/ 87 w 145"/>
                <a:gd name="T27" fmla="*/ 8 h 55"/>
                <a:gd name="T28" fmla="*/ 70 w 145"/>
                <a:gd name="T29" fmla="*/ 3 h 55"/>
                <a:gd name="T30" fmla="*/ 54 w 145"/>
                <a:gd name="T31" fmla="*/ 1 h 55"/>
                <a:gd name="T32" fmla="*/ 42 w 145"/>
                <a:gd name="T33" fmla="*/ 0 h 55"/>
                <a:gd name="T34" fmla="*/ 32 w 145"/>
                <a:gd name="T35" fmla="*/ 0 h 55"/>
                <a:gd name="T36" fmla="*/ 23 w 145"/>
                <a:gd name="T37" fmla="*/ 1 h 55"/>
                <a:gd name="T38" fmla="*/ 16 w 145"/>
                <a:gd name="T39" fmla="*/ 2 h 55"/>
                <a:gd name="T40" fmla="*/ 10 w 145"/>
                <a:gd name="T41" fmla="*/ 4 h 55"/>
                <a:gd name="T42" fmla="*/ 6 w 145"/>
                <a:gd name="T43" fmla="*/ 8 h 55"/>
                <a:gd name="T44" fmla="*/ 2 w 145"/>
                <a:gd name="T45" fmla="*/ 12 h 55"/>
                <a:gd name="T46" fmla="*/ 1 w 145"/>
                <a:gd name="T47" fmla="*/ 17 h 55"/>
                <a:gd name="T48" fmla="*/ 0 w 145"/>
                <a:gd name="T49" fmla="*/ 23 h 55"/>
                <a:gd name="T50" fmla="*/ 1 w 145"/>
                <a:gd name="T51" fmla="*/ 29 h 55"/>
                <a:gd name="T52" fmla="*/ 4 w 145"/>
                <a:gd name="T53" fmla="*/ 34 h 55"/>
                <a:gd name="T54" fmla="*/ 9 w 145"/>
                <a:gd name="T55" fmla="*/ 40 h 55"/>
                <a:gd name="T56" fmla="*/ 15 w 145"/>
                <a:gd name="T57" fmla="*/ 44 h 55"/>
                <a:gd name="T58" fmla="*/ 23 w 145"/>
                <a:gd name="T59" fmla="*/ 49 h 55"/>
                <a:gd name="T60" fmla="*/ 32 w 145"/>
                <a:gd name="T61" fmla="*/ 51 h 55"/>
                <a:gd name="T62" fmla="*/ 42 w 145"/>
                <a:gd name="T63" fmla="*/ 52 h 55"/>
                <a:gd name="T64" fmla="*/ 52 w 145"/>
                <a:gd name="T65" fmla="*/ 54 h 5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45"/>
                <a:gd name="T100" fmla="*/ 0 h 55"/>
                <a:gd name="T101" fmla="*/ 145 w 145"/>
                <a:gd name="T102" fmla="*/ 55 h 5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45" h="55">
                  <a:moveTo>
                    <a:pt x="52" y="54"/>
                  </a:moveTo>
                  <a:lnTo>
                    <a:pt x="64" y="54"/>
                  </a:lnTo>
                  <a:lnTo>
                    <a:pt x="79" y="55"/>
                  </a:lnTo>
                  <a:lnTo>
                    <a:pt x="94" y="55"/>
                  </a:lnTo>
                  <a:lnTo>
                    <a:pt x="110" y="55"/>
                  </a:lnTo>
                  <a:lnTo>
                    <a:pt x="123" y="54"/>
                  </a:lnTo>
                  <a:lnTo>
                    <a:pt x="134" y="51"/>
                  </a:lnTo>
                  <a:lnTo>
                    <a:pt x="143" y="48"/>
                  </a:lnTo>
                  <a:lnTo>
                    <a:pt x="145" y="43"/>
                  </a:lnTo>
                  <a:lnTo>
                    <a:pt x="142" y="35"/>
                  </a:lnTo>
                  <a:lnTo>
                    <a:pt x="133" y="29"/>
                  </a:lnTo>
                  <a:lnTo>
                    <a:pt x="119" y="22"/>
                  </a:lnTo>
                  <a:lnTo>
                    <a:pt x="105" y="14"/>
                  </a:lnTo>
                  <a:lnTo>
                    <a:pt x="87" y="8"/>
                  </a:lnTo>
                  <a:lnTo>
                    <a:pt x="70" y="3"/>
                  </a:lnTo>
                  <a:lnTo>
                    <a:pt x="54" y="1"/>
                  </a:lnTo>
                  <a:lnTo>
                    <a:pt x="42" y="0"/>
                  </a:lnTo>
                  <a:lnTo>
                    <a:pt x="32" y="0"/>
                  </a:lnTo>
                  <a:lnTo>
                    <a:pt x="23" y="1"/>
                  </a:lnTo>
                  <a:lnTo>
                    <a:pt x="16" y="2"/>
                  </a:lnTo>
                  <a:lnTo>
                    <a:pt x="10" y="4"/>
                  </a:lnTo>
                  <a:lnTo>
                    <a:pt x="6" y="8"/>
                  </a:lnTo>
                  <a:lnTo>
                    <a:pt x="2" y="12"/>
                  </a:lnTo>
                  <a:lnTo>
                    <a:pt x="1" y="17"/>
                  </a:lnTo>
                  <a:lnTo>
                    <a:pt x="0" y="23"/>
                  </a:lnTo>
                  <a:lnTo>
                    <a:pt x="1" y="29"/>
                  </a:lnTo>
                  <a:lnTo>
                    <a:pt x="4" y="34"/>
                  </a:lnTo>
                  <a:lnTo>
                    <a:pt x="9" y="40"/>
                  </a:lnTo>
                  <a:lnTo>
                    <a:pt x="15" y="44"/>
                  </a:lnTo>
                  <a:lnTo>
                    <a:pt x="23" y="49"/>
                  </a:lnTo>
                  <a:lnTo>
                    <a:pt x="32" y="51"/>
                  </a:lnTo>
                  <a:lnTo>
                    <a:pt x="42" y="52"/>
                  </a:lnTo>
                  <a:lnTo>
                    <a:pt x="52" y="54"/>
                  </a:lnTo>
                  <a:close/>
                </a:path>
              </a:pathLst>
            </a:custGeom>
            <a:solidFill>
              <a:srgbClr val="DBDBE5"/>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092" name="Freeform 98"/>
            <p:cNvSpPr>
              <a:spLocks/>
            </p:cNvSpPr>
            <p:nvPr/>
          </p:nvSpPr>
          <p:spPr bwMode="auto">
            <a:xfrm>
              <a:off x="4474" y="2063"/>
              <a:ext cx="85" cy="135"/>
            </a:xfrm>
            <a:custGeom>
              <a:avLst/>
              <a:gdLst>
                <a:gd name="T0" fmla="*/ 85 w 85"/>
                <a:gd name="T1" fmla="*/ 0 h 135"/>
                <a:gd name="T2" fmla="*/ 82 w 85"/>
                <a:gd name="T3" fmla="*/ 4 h 135"/>
                <a:gd name="T4" fmla="*/ 73 w 85"/>
                <a:gd name="T5" fmla="*/ 13 h 135"/>
                <a:gd name="T6" fmla="*/ 60 w 85"/>
                <a:gd name="T7" fmla="*/ 28 h 135"/>
                <a:gd name="T8" fmla="*/ 44 w 85"/>
                <a:gd name="T9" fmla="*/ 44 h 135"/>
                <a:gd name="T10" fmla="*/ 29 w 85"/>
                <a:gd name="T11" fmla="*/ 63 h 135"/>
                <a:gd name="T12" fmla="*/ 15 w 85"/>
                <a:gd name="T13" fmla="*/ 79 h 135"/>
                <a:gd name="T14" fmla="*/ 5 w 85"/>
                <a:gd name="T15" fmla="*/ 91 h 135"/>
                <a:gd name="T16" fmla="*/ 0 w 85"/>
                <a:gd name="T17" fmla="*/ 100 h 135"/>
                <a:gd name="T18" fmla="*/ 2 w 85"/>
                <a:gd name="T19" fmla="*/ 113 h 135"/>
                <a:gd name="T20" fmla="*/ 9 w 85"/>
                <a:gd name="T21" fmla="*/ 123 h 135"/>
                <a:gd name="T22" fmla="*/ 20 w 85"/>
                <a:gd name="T23" fmla="*/ 129 h 135"/>
                <a:gd name="T24" fmla="*/ 33 w 85"/>
                <a:gd name="T25" fmla="*/ 134 h 135"/>
                <a:gd name="T26" fmla="*/ 44 w 85"/>
                <a:gd name="T27" fmla="*/ 135 h 135"/>
                <a:gd name="T28" fmla="*/ 53 w 85"/>
                <a:gd name="T29" fmla="*/ 134 h 135"/>
                <a:gd name="T30" fmla="*/ 60 w 85"/>
                <a:gd name="T31" fmla="*/ 130 h 135"/>
                <a:gd name="T32" fmla="*/ 58 w 85"/>
                <a:gd name="T33" fmla="*/ 125 h 135"/>
                <a:gd name="T34" fmla="*/ 49 w 85"/>
                <a:gd name="T35" fmla="*/ 105 h 135"/>
                <a:gd name="T36" fmla="*/ 46 w 85"/>
                <a:gd name="T37" fmla="*/ 84 h 135"/>
                <a:gd name="T38" fmla="*/ 50 w 85"/>
                <a:gd name="T39" fmla="*/ 63 h 135"/>
                <a:gd name="T40" fmla="*/ 58 w 85"/>
                <a:gd name="T41" fmla="*/ 42 h 135"/>
                <a:gd name="T42" fmla="*/ 67 w 85"/>
                <a:gd name="T43" fmla="*/ 24 h 135"/>
                <a:gd name="T44" fmla="*/ 77 w 85"/>
                <a:gd name="T45" fmla="*/ 11 h 135"/>
                <a:gd name="T46" fmla="*/ 83 w 85"/>
                <a:gd name="T47" fmla="*/ 2 h 135"/>
                <a:gd name="T48" fmla="*/ 85 w 85"/>
                <a:gd name="T49" fmla="*/ 0 h 13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5"/>
                <a:gd name="T76" fmla="*/ 0 h 135"/>
                <a:gd name="T77" fmla="*/ 85 w 85"/>
                <a:gd name="T78" fmla="*/ 135 h 13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5" h="135">
                  <a:moveTo>
                    <a:pt x="85" y="0"/>
                  </a:moveTo>
                  <a:lnTo>
                    <a:pt x="82" y="4"/>
                  </a:lnTo>
                  <a:lnTo>
                    <a:pt x="73" y="13"/>
                  </a:lnTo>
                  <a:lnTo>
                    <a:pt x="60" y="28"/>
                  </a:lnTo>
                  <a:lnTo>
                    <a:pt x="44" y="44"/>
                  </a:lnTo>
                  <a:lnTo>
                    <a:pt x="29" y="63"/>
                  </a:lnTo>
                  <a:lnTo>
                    <a:pt x="15" y="79"/>
                  </a:lnTo>
                  <a:lnTo>
                    <a:pt x="5" y="91"/>
                  </a:lnTo>
                  <a:lnTo>
                    <a:pt x="0" y="100"/>
                  </a:lnTo>
                  <a:lnTo>
                    <a:pt x="2" y="113"/>
                  </a:lnTo>
                  <a:lnTo>
                    <a:pt x="9" y="123"/>
                  </a:lnTo>
                  <a:lnTo>
                    <a:pt x="20" y="129"/>
                  </a:lnTo>
                  <a:lnTo>
                    <a:pt x="33" y="134"/>
                  </a:lnTo>
                  <a:lnTo>
                    <a:pt x="44" y="135"/>
                  </a:lnTo>
                  <a:lnTo>
                    <a:pt x="53" y="134"/>
                  </a:lnTo>
                  <a:lnTo>
                    <a:pt x="60" y="130"/>
                  </a:lnTo>
                  <a:lnTo>
                    <a:pt x="58" y="125"/>
                  </a:lnTo>
                  <a:lnTo>
                    <a:pt x="49" y="105"/>
                  </a:lnTo>
                  <a:lnTo>
                    <a:pt x="46" y="84"/>
                  </a:lnTo>
                  <a:lnTo>
                    <a:pt x="50" y="63"/>
                  </a:lnTo>
                  <a:lnTo>
                    <a:pt x="58" y="42"/>
                  </a:lnTo>
                  <a:lnTo>
                    <a:pt x="67" y="24"/>
                  </a:lnTo>
                  <a:lnTo>
                    <a:pt x="77" y="11"/>
                  </a:lnTo>
                  <a:lnTo>
                    <a:pt x="83" y="2"/>
                  </a:lnTo>
                  <a:lnTo>
                    <a:pt x="85" y="0"/>
                  </a:lnTo>
                  <a:close/>
                </a:path>
              </a:pathLst>
            </a:custGeom>
            <a:solidFill>
              <a:srgbClr val="FFFFFF"/>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093" name="Freeform 99"/>
            <p:cNvSpPr>
              <a:spLocks/>
            </p:cNvSpPr>
            <p:nvPr/>
          </p:nvSpPr>
          <p:spPr bwMode="auto">
            <a:xfrm>
              <a:off x="4584" y="2121"/>
              <a:ext cx="78" cy="97"/>
            </a:xfrm>
            <a:custGeom>
              <a:avLst/>
              <a:gdLst>
                <a:gd name="T0" fmla="*/ 78 w 78"/>
                <a:gd name="T1" fmla="*/ 0 h 97"/>
                <a:gd name="T2" fmla="*/ 74 w 78"/>
                <a:gd name="T3" fmla="*/ 2 h 97"/>
                <a:gd name="T4" fmla="*/ 65 w 78"/>
                <a:gd name="T5" fmla="*/ 10 h 97"/>
                <a:gd name="T6" fmla="*/ 53 w 78"/>
                <a:gd name="T7" fmla="*/ 19 h 97"/>
                <a:gd name="T8" fmla="*/ 40 w 78"/>
                <a:gd name="T9" fmla="*/ 32 h 97"/>
                <a:gd name="T10" fmla="*/ 25 w 78"/>
                <a:gd name="T11" fmla="*/ 44 h 97"/>
                <a:gd name="T12" fmla="*/ 12 w 78"/>
                <a:gd name="T13" fmla="*/ 55 h 97"/>
                <a:gd name="T14" fmla="*/ 4 w 78"/>
                <a:gd name="T15" fmla="*/ 65 h 97"/>
                <a:gd name="T16" fmla="*/ 0 w 78"/>
                <a:gd name="T17" fmla="*/ 71 h 97"/>
                <a:gd name="T18" fmla="*/ 1 w 78"/>
                <a:gd name="T19" fmla="*/ 76 h 97"/>
                <a:gd name="T20" fmla="*/ 6 w 78"/>
                <a:gd name="T21" fmla="*/ 81 h 97"/>
                <a:gd name="T22" fmla="*/ 12 w 78"/>
                <a:gd name="T23" fmla="*/ 86 h 97"/>
                <a:gd name="T24" fmla="*/ 20 w 78"/>
                <a:gd name="T25" fmla="*/ 91 h 97"/>
                <a:gd name="T26" fmla="*/ 28 w 78"/>
                <a:gd name="T27" fmla="*/ 95 h 97"/>
                <a:gd name="T28" fmla="*/ 37 w 78"/>
                <a:gd name="T29" fmla="*/ 96 h 97"/>
                <a:gd name="T30" fmla="*/ 44 w 78"/>
                <a:gd name="T31" fmla="*/ 97 h 97"/>
                <a:gd name="T32" fmla="*/ 51 w 78"/>
                <a:gd name="T33" fmla="*/ 96 h 97"/>
                <a:gd name="T34" fmla="*/ 53 w 78"/>
                <a:gd name="T35" fmla="*/ 95 h 97"/>
                <a:gd name="T36" fmla="*/ 52 w 78"/>
                <a:gd name="T37" fmla="*/ 93 h 97"/>
                <a:gd name="T38" fmla="*/ 48 w 78"/>
                <a:gd name="T39" fmla="*/ 91 h 97"/>
                <a:gd name="T40" fmla="*/ 46 w 78"/>
                <a:gd name="T41" fmla="*/ 86 h 97"/>
                <a:gd name="T42" fmla="*/ 44 w 78"/>
                <a:gd name="T43" fmla="*/ 76 h 97"/>
                <a:gd name="T44" fmla="*/ 48 w 78"/>
                <a:gd name="T45" fmla="*/ 60 h 97"/>
                <a:gd name="T46" fmla="*/ 59 w 78"/>
                <a:gd name="T47" fmla="*/ 34 h 97"/>
                <a:gd name="T48" fmla="*/ 78 w 78"/>
                <a:gd name="T49" fmla="*/ 0 h 9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8"/>
                <a:gd name="T76" fmla="*/ 0 h 97"/>
                <a:gd name="T77" fmla="*/ 78 w 78"/>
                <a:gd name="T78" fmla="*/ 97 h 9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8" h="97">
                  <a:moveTo>
                    <a:pt x="78" y="0"/>
                  </a:moveTo>
                  <a:lnTo>
                    <a:pt x="74" y="2"/>
                  </a:lnTo>
                  <a:lnTo>
                    <a:pt x="65" y="10"/>
                  </a:lnTo>
                  <a:lnTo>
                    <a:pt x="53" y="19"/>
                  </a:lnTo>
                  <a:lnTo>
                    <a:pt x="40" y="32"/>
                  </a:lnTo>
                  <a:lnTo>
                    <a:pt x="25" y="44"/>
                  </a:lnTo>
                  <a:lnTo>
                    <a:pt x="12" y="55"/>
                  </a:lnTo>
                  <a:lnTo>
                    <a:pt x="4" y="65"/>
                  </a:lnTo>
                  <a:lnTo>
                    <a:pt x="0" y="71"/>
                  </a:lnTo>
                  <a:lnTo>
                    <a:pt x="1" y="76"/>
                  </a:lnTo>
                  <a:lnTo>
                    <a:pt x="6" y="81"/>
                  </a:lnTo>
                  <a:lnTo>
                    <a:pt x="12" y="86"/>
                  </a:lnTo>
                  <a:lnTo>
                    <a:pt x="20" y="91"/>
                  </a:lnTo>
                  <a:lnTo>
                    <a:pt x="28" y="95"/>
                  </a:lnTo>
                  <a:lnTo>
                    <a:pt x="37" y="96"/>
                  </a:lnTo>
                  <a:lnTo>
                    <a:pt x="44" y="97"/>
                  </a:lnTo>
                  <a:lnTo>
                    <a:pt x="51" y="96"/>
                  </a:lnTo>
                  <a:lnTo>
                    <a:pt x="53" y="95"/>
                  </a:lnTo>
                  <a:lnTo>
                    <a:pt x="52" y="93"/>
                  </a:lnTo>
                  <a:lnTo>
                    <a:pt x="48" y="91"/>
                  </a:lnTo>
                  <a:lnTo>
                    <a:pt x="46" y="86"/>
                  </a:lnTo>
                  <a:lnTo>
                    <a:pt x="44" y="76"/>
                  </a:lnTo>
                  <a:lnTo>
                    <a:pt x="48" y="60"/>
                  </a:lnTo>
                  <a:lnTo>
                    <a:pt x="59" y="34"/>
                  </a:lnTo>
                  <a:lnTo>
                    <a:pt x="78" y="0"/>
                  </a:lnTo>
                  <a:close/>
                </a:path>
              </a:pathLst>
            </a:custGeom>
            <a:solidFill>
              <a:srgbClr val="FFFFFF"/>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094" name="Freeform 100"/>
            <p:cNvSpPr>
              <a:spLocks/>
            </p:cNvSpPr>
            <p:nvPr/>
          </p:nvSpPr>
          <p:spPr bwMode="auto">
            <a:xfrm>
              <a:off x="4700" y="2113"/>
              <a:ext cx="86" cy="82"/>
            </a:xfrm>
            <a:custGeom>
              <a:avLst/>
              <a:gdLst>
                <a:gd name="T0" fmla="*/ 86 w 86"/>
                <a:gd name="T1" fmla="*/ 0 h 82"/>
                <a:gd name="T2" fmla="*/ 82 w 86"/>
                <a:gd name="T3" fmla="*/ 3 h 82"/>
                <a:gd name="T4" fmla="*/ 73 w 86"/>
                <a:gd name="T5" fmla="*/ 9 h 82"/>
                <a:gd name="T6" fmla="*/ 59 w 86"/>
                <a:gd name="T7" fmla="*/ 16 h 82"/>
                <a:gd name="T8" fmla="*/ 43 w 86"/>
                <a:gd name="T9" fmla="*/ 26 h 82"/>
                <a:gd name="T10" fmla="*/ 27 w 86"/>
                <a:gd name="T11" fmla="*/ 37 h 82"/>
                <a:gd name="T12" fmla="*/ 13 w 86"/>
                <a:gd name="T13" fmla="*/ 47 h 82"/>
                <a:gd name="T14" fmla="*/ 4 w 86"/>
                <a:gd name="T15" fmla="*/ 56 h 82"/>
                <a:gd name="T16" fmla="*/ 0 w 86"/>
                <a:gd name="T17" fmla="*/ 61 h 82"/>
                <a:gd name="T18" fmla="*/ 1 w 86"/>
                <a:gd name="T19" fmla="*/ 64 h 82"/>
                <a:gd name="T20" fmla="*/ 6 w 86"/>
                <a:gd name="T21" fmla="*/ 68 h 82"/>
                <a:gd name="T22" fmla="*/ 13 w 86"/>
                <a:gd name="T23" fmla="*/ 73 h 82"/>
                <a:gd name="T24" fmla="*/ 22 w 86"/>
                <a:gd name="T25" fmla="*/ 75 h 82"/>
                <a:gd name="T26" fmla="*/ 32 w 86"/>
                <a:gd name="T27" fmla="*/ 79 h 82"/>
                <a:gd name="T28" fmla="*/ 41 w 86"/>
                <a:gd name="T29" fmla="*/ 80 h 82"/>
                <a:gd name="T30" fmla="*/ 49 w 86"/>
                <a:gd name="T31" fmla="*/ 82 h 82"/>
                <a:gd name="T32" fmla="*/ 57 w 86"/>
                <a:gd name="T33" fmla="*/ 80 h 82"/>
                <a:gd name="T34" fmla="*/ 59 w 86"/>
                <a:gd name="T35" fmla="*/ 79 h 82"/>
                <a:gd name="T36" fmla="*/ 58 w 86"/>
                <a:gd name="T37" fmla="*/ 79 h 82"/>
                <a:gd name="T38" fmla="*/ 54 w 86"/>
                <a:gd name="T39" fmla="*/ 77 h 82"/>
                <a:gd name="T40" fmla="*/ 50 w 86"/>
                <a:gd name="T41" fmla="*/ 73 h 82"/>
                <a:gd name="T42" fmla="*/ 50 w 86"/>
                <a:gd name="T43" fmla="*/ 64 h 82"/>
                <a:gd name="T44" fmla="*/ 54 w 86"/>
                <a:gd name="T45" fmla="*/ 51 h 82"/>
                <a:gd name="T46" fmla="*/ 65 w 86"/>
                <a:gd name="T47" fmla="*/ 30 h 82"/>
                <a:gd name="T48" fmla="*/ 86 w 86"/>
                <a:gd name="T49" fmla="*/ 0 h 8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6"/>
                <a:gd name="T76" fmla="*/ 0 h 82"/>
                <a:gd name="T77" fmla="*/ 86 w 86"/>
                <a:gd name="T78" fmla="*/ 82 h 8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6" h="82">
                  <a:moveTo>
                    <a:pt x="86" y="0"/>
                  </a:moveTo>
                  <a:lnTo>
                    <a:pt x="82" y="3"/>
                  </a:lnTo>
                  <a:lnTo>
                    <a:pt x="73" y="9"/>
                  </a:lnTo>
                  <a:lnTo>
                    <a:pt x="59" y="16"/>
                  </a:lnTo>
                  <a:lnTo>
                    <a:pt x="43" y="26"/>
                  </a:lnTo>
                  <a:lnTo>
                    <a:pt x="27" y="37"/>
                  </a:lnTo>
                  <a:lnTo>
                    <a:pt x="13" y="47"/>
                  </a:lnTo>
                  <a:lnTo>
                    <a:pt x="4" y="56"/>
                  </a:lnTo>
                  <a:lnTo>
                    <a:pt x="0" y="61"/>
                  </a:lnTo>
                  <a:lnTo>
                    <a:pt x="1" y="64"/>
                  </a:lnTo>
                  <a:lnTo>
                    <a:pt x="6" y="68"/>
                  </a:lnTo>
                  <a:lnTo>
                    <a:pt x="13" y="73"/>
                  </a:lnTo>
                  <a:lnTo>
                    <a:pt x="22" y="75"/>
                  </a:lnTo>
                  <a:lnTo>
                    <a:pt x="32" y="79"/>
                  </a:lnTo>
                  <a:lnTo>
                    <a:pt x="41" y="80"/>
                  </a:lnTo>
                  <a:lnTo>
                    <a:pt x="49" y="82"/>
                  </a:lnTo>
                  <a:lnTo>
                    <a:pt x="57" y="80"/>
                  </a:lnTo>
                  <a:lnTo>
                    <a:pt x="59" y="79"/>
                  </a:lnTo>
                  <a:lnTo>
                    <a:pt x="58" y="79"/>
                  </a:lnTo>
                  <a:lnTo>
                    <a:pt x="54" y="77"/>
                  </a:lnTo>
                  <a:lnTo>
                    <a:pt x="50" y="73"/>
                  </a:lnTo>
                  <a:lnTo>
                    <a:pt x="50" y="64"/>
                  </a:lnTo>
                  <a:lnTo>
                    <a:pt x="54" y="51"/>
                  </a:lnTo>
                  <a:lnTo>
                    <a:pt x="65" y="30"/>
                  </a:lnTo>
                  <a:lnTo>
                    <a:pt x="86" y="0"/>
                  </a:lnTo>
                  <a:close/>
                </a:path>
              </a:pathLst>
            </a:custGeom>
            <a:solidFill>
              <a:srgbClr val="FFFFFF"/>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095" name="Freeform 101"/>
            <p:cNvSpPr>
              <a:spLocks/>
            </p:cNvSpPr>
            <p:nvPr/>
          </p:nvSpPr>
          <p:spPr bwMode="auto">
            <a:xfrm>
              <a:off x="4371" y="2095"/>
              <a:ext cx="111" cy="143"/>
            </a:xfrm>
            <a:custGeom>
              <a:avLst/>
              <a:gdLst>
                <a:gd name="T0" fmla="*/ 111 w 111"/>
                <a:gd name="T1" fmla="*/ 0 h 143"/>
                <a:gd name="T2" fmla="*/ 107 w 111"/>
                <a:gd name="T3" fmla="*/ 1 h 143"/>
                <a:gd name="T4" fmla="*/ 99 w 111"/>
                <a:gd name="T5" fmla="*/ 5 h 143"/>
                <a:gd name="T6" fmla="*/ 85 w 111"/>
                <a:gd name="T7" fmla="*/ 10 h 143"/>
                <a:gd name="T8" fmla="*/ 70 w 111"/>
                <a:gd name="T9" fmla="*/ 17 h 143"/>
                <a:gd name="T10" fmla="*/ 54 w 111"/>
                <a:gd name="T11" fmla="*/ 25 h 143"/>
                <a:gd name="T12" fmla="*/ 41 w 111"/>
                <a:gd name="T13" fmla="*/ 31 h 143"/>
                <a:gd name="T14" fmla="*/ 32 w 111"/>
                <a:gd name="T15" fmla="*/ 38 h 143"/>
                <a:gd name="T16" fmla="*/ 28 w 111"/>
                <a:gd name="T17" fmla="*/ 43 h 143"/>
                <a:gd name="T18" fmla="*/ 23 w 111"/>
                <a:gd name="T19" fmla="*/ 65 h 143"/>
                <a:gd name="T20" fmla="*/ 12 w 111"/>
                <a:gd name="T21" fmla="*/ 102 h 143"/>
                <a:gd name="T22" fmla="*/ 2 w 111"/>
                <a:gd name="T23" fmla="*/ 134 h 143"/>
                <a:gd name="T24" fmla="*/ 0 w 111"/>
                <a:gd name="T25" fmla="*/ 143 h 143"/>
                <a:gd name="T26" fmla="*/ 11 w 111"/>
                <a:gd name="T27" fmla="*/ 112 h 143"/>
                <a:gd name="T28" fmla="*/ 23 w 111"/>
                <a:gd name="T29" fmla="*/ 89 h 143"/>
                <a:gd name="T30" fmla="*/ 39 w 111"/>
                <a:gd name="T31" fmla="*/ 70 h 143"/>
                <a:gd name="T32" fmla="*/ 55 w 111"/>
                <a:gd name="T33" fmla="*/ 55 h 143"/>
                <a:gd name="T34" fmla="*/ 71 w 111"/>
                <a:gd name="T35" fmla="*/ 43 h 143"/>
                <a:gd name="T36" fmla="*/ 87 w 111"/>
                <a:gd name="T37" fmla="*/ 31 h 143"/>
                <a:gd name="T38" fmla="*/ 100 w 111"/>
                <a:gd name="T39" fmla="*/ 17 h 143"/>
                <a:gd name="T40" fmla="*/ 111 w 111"/>
                <a:gd name="T41" fmla="*/ 0 h 14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11"/>
                <a:gd name="T64" fmla="*/ 0 h 143"/>
                <a:gd name="T65" fmla="*/ 111 w 111"/>
                <a:gd name="T66" fmla="*/ 143 h 14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11" h="143">
                  <a:moveTo>
                    <a:pt x="111" y="0"/>
                  </a:moveTo>
                  <a:lnTo>
                    <a:pt x="107" y="1"/>
                  </a:lnTo>
                  <a:lnTo>
                    <a:pt x="99" y="5"/>
                  </a:lnTo>
                  <a:lnTo>
                    <a:pt x="85" y="10"/>
                  </a:lnTo>
                  <a:lnTo>
                    <a:pt x="70" y="17"/>
                  </a:lnTo>
                  <a:lnTo>
                    <a:pt x="54" y="25"/>
                  </a:lnTo>
                  <a:lnTo>
                    <a:pt x="41" y="31"/>
                  </a:lnTo>
                  <a:lnTo>
                    <a:pt x="32" y="38"/>
                  </a:lnTo>
                  <a:lnTo>
                    <a:pt x="28" y="43"/>
                  </a:lnTo>
                  <a:lnTo>
                    <a:pt x="23" y="65"/>
                  </a:lnTo>
                  <a:lnTo>
                    <a:pt x="12" y="102"/>
                  </a:lnTo>
                  <a:lnTo>
                    <a:pt x="2" y="134"/>
                  </a:lnTo>
                  <a:lnTo>
                    <a:pt x="0" y="143"/>
                  </a:lnTo>
                  <a:lnTo>
                    <a:pt x="11" y="112"/>
                  </a:lnTo>
                  <a:lnTo>
                    <a:pt x="23" y="89"/>
                  </a:lnTo>
                  <a:lnTo>
                    <a:pt x="39" y="70"/>
                  </a:lnTo>
                  <a:lnTo>
                    <a:pt x="55" y="55"/>
                  </a:lnTo>
                  <a:lnTo>
                    <a:pt x="71" y="43"/>
                  </a:lnTo>
                  <a:lnTo>
                    <a:pt x="87" y="31"/>
                  </a:lnTo>
                  <a:lnTo>
                    <a:pt x="100" y="17"/>
                  </a:lnTo>
                  <a:lnTo>
                    <a:pt x="111" y="0"/>
                  </a:lnTo>
                  <a:close/>
                </a:path>
              </a:pathLst>
            </a:custGeom>
            <a:solidFill>
              <a:srgbClr val="FFFFFF"/>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096" name="Freeform 102"/>
            <p:cNvSpPr>
              <a:spLocks/>
            </p:cNvSpPr>
            <p:nvPr/>
          </p:nvSpPr>
          <p:spPr bwMode="auto">
            <a:xfrm>
              <a:off x="4397" y="2509"/>
              <a:ext cx="49" cy="27"/>
            </a:xfrm>
            <a:custGeom>
              <a:avLst/>
              <a:gdLst>
                <a:gd name="T0" fmla="*/ 25 w 49"/>
                <a:gd name="T1" fmla="*/ 27 h 27"/>
                <a:gd name="T2" fmla="*/ 34 w 49"/>
                <a:gd name="T3" fmla="*/ 25 h 27"/>
                <a:gd name="T4" fmla="*/ 42 w 49"/>
                <a:gd name="T5" fmla="*/ 23 h 27"/>
                <a:gd name="T6" fmla="*/ 47 w 49"/>
                <a:gd name="T7" fmla="*/ 18 h 27"/>
                <a:gd name="T8" fmla="*/ 49 w 49"/>
                <a:gd name="T9" fmla="*/ 13 h 27"/>
                <a:gd name="T10" fmla="*/ 47 w 49"/>
                <a:gd name="T11" fmla="*/ 8 h 27"/>
                <a:gd name="T12" fmla="*/ 42 w 49"/>
                <a:gd name="T13" fmla="*/ 3 h 27"/>
                <a:gd name="T14" fmla="*/ 34 w 49"/>
                <a:gd name="T15" fmla="*/ 1 h 27"/>
                <a:gd name="T16" fmla="*/ 25 w 49"/>
                <a:gd name="T17" fmla="*/ 0 h 27"/>
                <a:gd name="T18" fmla="*/ 15 w 49"/>
                <a:gd name="T19" fmla="*/ 1 h 27"/>
                <a:gd name="T20" fmla="*/ 7 w 49"/>
                <a:gd name="T21" fmla="*/ 3 h 27"/>
                <a:gd name="T22" fmla="*/ 2 w 49"/>
                <a:gd name="T23" fmla="*/ 8 h 27"/>
                <a:gd name="T24" fmla="*/ 0 w 49"/>
                <a:gd name="T25" fmla="*/ 13 h 27"/>
                <a:gd name="T26" fmla="*/ 2 w 49"/>
                <a:gd name="T27" fmla="*/ 18 h 27"/>
                <a:gd name="T28" fmla="*/ 7 w 49"/>
                <a:gd name="T29" fmla="*/ 23 h 27"/>
                <a:gd name="T30" fmla="*/ 15 w 49"/>
                <a:gd name="T31" fmla="*/ 25 h 27"/>
                <a:gd name="T32" fmla="*/ 25 w 49"/>
                <a:gd name="T33" fmla="*/ 27 h 2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9"/>
                <a:gd name="T52" fmla="*/ 0 h 27"/>
                <a:gd name="T53" fmla="*/ 49 w 49"/>
                <a:gd name="T54" fmla="*/ 27 h 2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9" h="27">
                  <a:moveTo>
                    <a:pt x="25" y="27"/>
                  </a:moveTo>
                  <a:lnTo>
                    <a:pt x="34" y="25"/>
                  </a:lnTo>
                  <a:lnTo>
                    <a:pt x="42" y="23"/>
                  </a:lnTo>
                  <a:lnTo>
                    <a:pt x="47" y="18"/>
                  </a:lnTo>
                  <a:lnTo>
                    <a:pt x="49" y="13"/>
                  </a:lnTo>
                  <a:lnTo>
                    <a:pt x="47" y="8"/>
                  </a:lnTo>
                  <a:lnTo>
                    <a:pt x="42" y="3"/>
                  </a:lnTo>
                  <a:lnTo>
                    <a:pt x="34" y="1"/>
                  </a:lnTo>
                  <a:lnTo>
                    <a:pt x="25" y="0"/>
                  </a:lnTo>
                  <a:lnTo>
                    <a:pt x="15" y="1"/>
                  </a:lnTo>
                  <a:lnTo>
                    <a:pt x="7" y="3"/>
                  </a:lnTo>
                  <a:lnTo>
                    <a:pt x="2" y="8"/>
                  </a:lnTo>
                  <a:lnTo>
                    <a:pt x="0" y="13"/>
                  </a:lnTo>
                  <a:lnTo>
                    <a:pt x="2" y="18"/>
                  </a:lnTo>
                  <a:lnTo>
                    <a:pt x="7" y="23"/>
                  </a:lnTo>
                  <a:lnTo>
                    <a:pt x="15" y="25"/>
                  </a:lnTo>
                  <a:lnTo>
                    <a:pt x="25" y="27"/>
                  </a:lnTo>
                  <a:close/>
                </a:path>
              </a:pathLst>
            </a:custGeom>
            <a:solidFill>
              <a:srgbClr val="FFFFFF"/>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097" name="Freeform 103"/>
            <p:cNvSpPr>
              <a:spLocks/>
            </p:cNvSpPr>
            <p:nvPr/>
          </p:nvSpPr>
          <p:spPr bwMode="auto">
            <a:xfrm>
              <a:off x="4970" y="2363"/>
              <a:ext cx="442" cy="222"/>
            </a:xfrm>
            <a:custGeom>
              <a:avLst/>
              <a:gdLst>
                <a:gd name="T0" fmla="*/ 44 w 442"/>
                <a:gd name="T1" fmla="*/ 24 h 222"/>
                <a:gd name="T2" fmla="*/ 82 w 442"/>
                <a:gd name="T3" fmla="*/ 34 h 222"/>
                <a:gd name="T4" fmla="*/ 135 w 442"/>
                <a:gd name="T5" fmla="*/ 42 h 222"/>
                <a:gd name="T6" fmla="*/ 180 w 442"/>
                <a:gd name="T7" fmla="*/ 35 h 222"/>
                <a:gd name="T8" fmla="*/ 194 w 442"/>
                <a:gd name="T9" fmla="*/ 8 h 222"/>
                <a:gd name="T10" fmla="*/ 209 w 442"/>
                <a:gd name="T11" fmla="*/ 0 h 222"/>
                <a:gd name="T12" fmla="*/ 226 w 442"/>
                <a:gd name="T13" fmla="*/ 10 h 222"/>
                <a:gd name="T14" fmla="*/ 247 w 442"/>
                <a:gd name="T15" fmla="*/ 30 h 222"/>
                <a:gd name="T16" fmla="*/ 271 w 442"/>
                <a:gd name="T17" fmla="*/ 50 h 222"/>
                <a:gd name="T18" fmla="*/ 303 w 442"/>
                <a:gd name="T19" fmla="*/ 72 h 222"/>
                <a:gd name="T20" fmla="*/ 332 w 442"/>
                <a:gd name="T21" fmla="*/ 89 h 222"/>
                <a:gd name="T22" fmla="*/ 354 w 442"/>
                <a:gd name="T23" fmla="*/ 94 h 222"/>
                <a:gd name="T24" fmla="*/ 361 w 442"/>
                <a:gd name="T25" fmla="*/ 74 h 222"/>
                <a:gd name="T26" fmla="*/ 354 w 442"/>
                <a:gd name="T27" fmla="*/ 45 h 222"/>
                <a:gd name="T28" fmla="*/ 396 w 442"/>
                <a:gd name="T29" fmla="*/ 115 h 222"/>
                <a:gd name="T30" fmla="*/ 399 w 442"/>
                <a:gd name="T31" fmla="*/ 62 h 222"/>
                <a:gd name="T32" fmla="*/ 417 w 442"/>
                <a:gd name="T33" fmla="*/ 83 h 222"/>
                <a:gd name="T34" fmla="*/ 437 w 442"/>
                <a:gd name="T35" fmla="*/ 115 h 222"/>
                <a:gd name="T36" fmla="*/ 442 w 442"/>
                <a:gd name="T37" fmla="*/ 143 h 222"/>
                <a:gd name="T38" fmla="*/ 430 w 442"/>
                <a:gd name="T39" fmla="*/ 157 h 222"/>
                <a:gd name="T40" fmla="*/ 425 w 442"/>
                <a:gd name="T41" fmla="*/ 170 h 222"/>
                <a:gd name="T42" fmla="*/ 423 w 442"/>
                <a:gd name="T43" fmla="*/ 185 h 222"/>
                <a:gd name="T44" fmla="*/ 420 w 442"/>
                <a:gd name="T45" fmla="*/ 201 h 222"/>
                <a:gd name="T46" fmla="*/ 409 w 442"/>
                <a:gd name="T47" fmla="*/ 213 h 222"/>
                <a:gd name="T48" fmla="*/ 387 w 442"/>
                <a:gd name="T49" fmla="*/ 221 h 222"/>
                <a:gd name="T50" fmla="*/ 347 w 442"/>
                <a:gd name="T51" fmla="*/ 221 h 222"/>
                <a:gd name="T52" fmla="*/ 287 w 442"/>
                <a:gd name="T53" fmla="*/ 208 h 222"/>
                <a:gd name="T54" fmla="*/ 230 w 442"/>
                <a:gd name="T55" fmla="*/ 192 h 222"/>
                <a:gd name="T56" fmla="*/ 193 w 442"/>
                <a:gd name="T57" fmla="*/ 179 h 222"/>
                <a:gd name="T58" fmla="*/ 152 w 442"/>
                <a:gd name="T59" fmla="*/ 162 h 222"/>
                <a:gd name="T60" fmla="*/ 112 w 442"/>
                <a:gd name="T61" fmla="*/ 143 h 222"/>
                <a:gd name="T62" fmla="*/ 74 w 442"/>
                <a:gd name="T63" fmla="*/ 126 h 222"/>
                <a:gd name="T64" fmla="*/ 40 w 442"/>
                <a:gd name="T65" fmla="*/ 110 h 222"/>
                <a:gd name="T66" fmla="*/ 16 w 442"/>
                <a:gd name="T67" fmla="*/ 98 h 222"/>
                <a:gd name="T68" fmla="*/ 2 w 442"/>
                <a:gd name="T69" fmla="*/ 91 h 222"/>
                <a:gd name="T70" fmla="*/ 6 w 442"/>
                <a:gd name="T71" fmla="*/ 91 h 222"/>
                <a:gd name="T72" fmla="*/ 38 w 442"/>
                <a:gd name="T73" fmla="*/ 95 h 222"/>
                <a:gd name="T74" fmla="*/ 70 w 442"/>
                <a:gd name="T75" fmla="*/ 88 h 222"/>
                <a:gd name="T76" fmla="*/ 65 w 442"/>
                <a:gd name="T77" fmla="*/ 53 h 222"/>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442"/>
                <a:gd name="T118" fmla="*/ 0 h 222"/>
                <a:gd name="T119" fmla="*/ 442 w 442"/>
                <a:gd name="T120" fmla="*/ 222 h 222"/>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442" h="222">
                  <a:moveTo>
                    <a:pt x="38" y="21"/>
                  </a:moveTo>
                  <a:lnTo>
                    <a:pt x="44" y="24"/>
                  </a:lnTo>
                  <a:lnTo>
                    <a:pt x="60" y="27"/>
                  </a:lnTo>
                  <a:lnTo>
                    <a:pt x="82" y="34"/>
                  </a:lnTo>
                  <a:lnTo>
                    <a:pt x="108" y="38"/>
                  </a:lnTo>
                  <a:lnTo>
                    <a:pt x="135" y="42"/>
                  </a:lnTo>
                  <a:lnTo>
                    <a:pt x="160" y="41"/>
                  </a:lnTo>
                  <a:lnTo>
                    <a:pt x="180" y="35"/>
                  </a:lnTo>
                  <a:lnTo>
                    <a:pt x="189" y="21"/>
                  </a:lnTo>
                  <a:lnTo>
                    <a:pt x="194" y="8"/>
                  </a:lnTo>
                  <a:lnTo>
                    <a:pt x="202" y="0"/>
                  </a:lnTo>
                  <a:lnTo>
                    <a:pt x="209" y="0"/>
                  </a:lnTo>
                  <a:lnTo>
                    <a:pt x="217" y="4"/>
                  </a:lnTo>
                  <a:lnTo>
                    <a:pt x="226" y="10"/>
                  </a:lnTo>
                  <a:lnTo>
                    <a:pt x="236" y="20"/>
                  </a:lnTo>
                  <a:lnTo>
                    <a:pt x="247" y="30"/>
                  </a:lnTo>
                  <a:lnTo>
                    <a:pt x="258" y="40"/>
                  </a:lnTo>
                  <a:lnTo>
                    <a:pt x="271" y="50"/>
                  </a:lnTo>
                  <a:lnTo>
                    <a:pt x="287" y="61"/>
                  </a:lnTo>
                  <a:lnTo>
                    <a:pt x="303" y="72"/>
                  </a:lnTo>
                  <a:lnTo>
                    <a:pt x="319" y="82"/>
                  </a:lnTo>
                  <a:lnTo>
                    <a:pt x="332" y="89"/>
                  </a:lnTo>
                  <a:lnTo>
                    <a:pt x="346" y="94"/>
                  </a:lnTo>
                  <a:lnTo>
                    <a:pt x="354" y="94"/>
                  </a:lnTo>
                  <a:lnTo>
                    <a:pt x="359" y="90"/>
                  </a:lnTo>
                  <a:lnTo>
                    <a:pt x="361" y="74"/>
                  </a:lnTo>
                  <a:lnTo>
                    <a:pt x="358" y="58"/>
                  </a:lnTo>
                  <a:lnTo>
                    <a:pt x="354" y="45"/>
                  </a:lnTo>
                  <a:lnTo>
                    <a:pt x="353" y="40"/>
                  </a:lnTo>
                  <a:lnTo>
                    <a:pt x="396" y="115"/>
                  </a:lnTo>
                  <a:lnTo>
                    <a:pt x="396" y="58"/>
                  </a:lnTo>
                  <a:lnTo>
                    <a:pt x="399" y="62"/>
                  </a:lnTo>
                  <a:lnTo>
                    <a:pt x="407" y="70"/>
                  </a:lnTo>
                  <a:lnTo>
                    <a:pt x="417" y="83"/>
                  </a:lnTo>
                  <a:lnTo>
                    <a:pt x="427" y="99"/>
                  </a:lnTo>
                  <a:lnTo>
                    <a:pt x="437" y="115"/>
                  </a:lnTo>
                  <a:lnTo>
                    <a:pt x="442" y="131"/>
                  </a:lnTo>
                  <a:lnTo>
                    <a:pt x="442" y="143"/>
                  </a:lnTo>
                  <a:lnTo>
                    <a:pt x="435" y="153"/>
                  </a:lnTo>
                  <a:lnTo>
                    <a:pt x="430" y="157"/>
                  </a:lnTo>
                  <a:lnTo>
                    <a:pt x="427" y="163"/>
                  </a:lnTo>
                  <a:lnTo>
                    <a:pt x="425" y="170"/>
                  </a:lnTo>
                  <a:lnTo>
                    <a:pt x="425" y="178"/>
                  </a:lnTo>
                  <a:lnTo>
                    <a:pt x="423" y="185"/>
                  </a:lnTo>
                  <a:lnTo>
                    <a:pt x="422" y="194"/>
                  </a:lnTo>
                  <a:lnTo>
                    <a:pt x="420" y="201"/>
                  </a:lnTo>
                  <a:lnTo>
                    <a:pt x="416" y="208"/>
                  </a:lnTo>
                  <a:lnTo>
                    <a:pt x="409" y="213"/>
                  </a:lnTo>
                  <a:lnTo>
                    <a:pt x="400" y="218"/>
                  </a:lnTo>
                  <a:lnTo>
                    <a:pt x="387" y="221"/>
                  </a:lnTo>
                  <a:lnTo>
                    <a:pt x="369" y="222"/>
                  </a:lnTo>
                  <a:lnTo>
                    <a:pt x="347" y="221"/>
                  </a:lnTo>
                  <a:lnTo>
                    <a:pt x="320" y="216"/>
                  </a:lnTo>
                  <a:lnTo>
                    <a:pt x="287" y="208"/>
                  </a:lnTo>
                  <a:lnTo>
                    <a:pt x="246" y="197"/>
                  </a:lnTo>
                  <a:lnTo>
                    <a:pt x="230" y="192"/>
                  </a:lnTo>
                  <a:lnTo>
                    <a:pt x="212" y="186"/>
                  </a:lnTo>
                  <a:lnTo>
                    <a:pt x="193" y="179"/>
                  </a:lnTo>
                  <a:lnTo>
                    <a:pt x="173" y="170"/>
                  </a:lnTo>
                  <a:lnTo>
                    <a:pt x="152" y="162"/>
                  </a:lnTo>
                  <a:lnTo>
                    <a:pt x="133" y="153"/>
                  </a:lnTo>
                  <a:lnTo>
                    <a:pt x="112" y="143"/>
                  </a:lnTo>
                  <a:lnTo>
                    <a:pt x="92" y="135"/>
                  </a:lnTo>
                  <a:lnTo>
                    <a:pt x="74" y="126"/>
                  </a:lnTo>
                  <a:lnTo>
                    <a:pt x="56" y="117"/>
                  </a:lnTo>
                  <a:lnTo>
                    <a:pt x="40" y="110"/>
                  </a:lnTo>
                  <a:lnTo>
                    <a:pt x="27" y="104"/>
                  </a:lnTo>
                  <a:lnTo>
                    <a:pt x="16" y="98"/>
                  </a:lnTo>
                  <a:lnTo>
                    <a:pt x="7" y="94"/>
                  </a:lnTo>
                  <a:lnTo>
                    <a:pt x="2" y="91"/>
                  </a:lnTo>
                  <a:lnTo>
                    <a:pt x="0" y="90"/>
                  </a:lnTo>
                  <a:lnTo>
                    <a:pt x="6" y="91"/>
                  </a:lnTo>
                  <a:lnTo>
                    <a:pt x="19" y="94"/>
                  </a:lnTo>
                  <a:lnTo>
                    <a:pt x="38" y="95"/>
                  </a:lnTo>
                  <a:lnTo>
                    <a:pt x="56" y="94"/>
                  </a:lnTo>
                  <a:lnTo>
                    <a:pt x="70" y="88"/>
                  </a:lnTo>
                  <a:lnTo>
                    <a:pt x="75" y="74"/>
                  </a:lnTo>
                  <a:lnTo>
                    <a:pt x="65" y="53"/>
                  </a:lnTo>
                  <a:lnTo>
                    <a:pt x="38" y="21"/>
                  </a:lnTo>
                  <a:close/>
                </a:path>
              </a:pathLst>
            </a:custGeom>
            <a:solidFill>
              <a:srgbClr val="A5AFB5"/>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098" name="Freeform 104"/>
            <p:cNvSpPr>
              <a:spLocks/>
            </p:cNvSpPr>
            <p:nvPr/>
          </p:nvSpPr>
          <p:spPr bwMode="auto">
            <a:xfrm>
              <a:off x="3825" y="2496"/>
              <a:ext cx="753" cy="1414"/>
            </a:xfrm>
            <a:custGeom>
              <a:avLst/>
              <a:gdLst>
                <a:gd name="T0" fmla="*/ 210 w 753"/>
                <a:gd name="T1" fmla="*/ 473 h 1414"/>
                <a:gd name="T2" fmla="*/ 211 w 753"/>
                <a:gd name="T3" fmla="*/ 107 h 1414"/>
                <a:gd name="T4" fmla="*/ 191 w 753"/>
                <a:gd name="T5" fmla="*/ 82 h 1414"/>
                <a:gd name="T6" fmla="*/ 185 w 753"/>
                <a:gd name="T7" fmla="*/ 54 h 1414"/>
                <a:gd name="T8" fmla="*/ 191 w 753"/>
                <a:gd name="T9" fmla="*/ 30 h 1414"/>
                <a:gd name="T10" fmla="*/ 208 w 753"/>
                <a:gd name="T11" fmla="*/ 10 h 1414"/>
                <a:gd name="T12" fmla="*/ 238 w 753"/>
                <a:gd name="T13" fmla="*/ 4 h 1414"/>
                <a:gd name="T14" fmla="*/ 301 w 753"/>
                <a:gd name="T15" fmla="*/ 2 h 1414"/>
                <a:gd name="T16" fmla="*/ 408 w 753"/>
                <a:gd name="T17" fmla="*/ 0 h 1414"/>
                <a:gd name="T18" fmla="*/ 483 w 753"/>
                <a:gd name="T19" fmla="*/ 3 h 1414"/>
                <a:gd name="T20" fmla="*/ 539 w 753"/>
                <a:gd name="T21" fmla="*/ 6 h 1414"/>
                <a:gd name="T22" fmla="*/ 561 w 753"/>
                <a:gd name="T23" fmla="*/ 16 h 1414"/>
                <a:gd name="T24" fmla="*/ 576 w 753"/>
                <a:gd name="T25" fmla="*/ 37 h 1414"/>
                <a:gd name="T26" fmla="*/ 579 w 753"/>
                <a:gd name="T27" fmla="*/ 61 h 1414"/>
                <a:gd name="T28" fmla="*/ 576 w 753"/>
                <a:gd name="T29" fmla="*/ 84 h 1414"/>
                <a:gd name="T30" fmla="*/ 563 w 753"/>
                <a:gd name="T31" fmla="*/ 99 h 1414"/>
                <a:gd name="T32" fmla="*/ 551 w 753"/>
                <a:gd name="T33" fmla="*/ 118 h 1414"/>
                <a:gd name="T34" fmla="*/ 548 w 753"/>
                <a:gd name="T35" fmla="*/ 495 h 1414"/>
                <a:gd name="T36" fmla="*/ 721 w 753"/>
                <a:gd name="T37" fmla="*/ 1051 h 1414"/>
                <a:gd name="T38" fmla="*/ 743 w 753"/>
                <a:gd name="T39" fmla="*/ 1131 h 1414"/>
                <a:gd name="T40" fmla="*/ 753 w 753"/>
                <a:gd name="T41" fmla="*/ 1195 h 1414"/>
                <a:gd name="T42" fmla="*/ 749 w 753"/>
                <a:gd name="T43" fmla="*/ 1235 h 1414"/>
                <a:gd name="T44" fmla="*/ 733 w 753"/>
                <a:gd name="T45" fmla="*/ 1275 h 1414"/>
                <a:gd name="T46" fmla="*/ 715 w 753"/>
                <a:gd name="T47" fmla="*/ 1308 h 1414"/>
                <a:gd name="T48" fmla="*/ 686 w 753"/>
                <a:gd name="T49" fmla="*/ 1337 h 1414"/>
                <a:gd name="T50" fmla="*/ 645 w 753"/>
                <a:gd name="T51" fmla="*/ 1366 h 1414"/>
                <a:gd name="T52" fmla="*/ 600 w 753"/>
                <a:gd name="T53" fmla="*/ 1383 h 1414"/>
                <a:gd name="T54" fmla="*/ 544 w 753"/>
                <a:gd name="T55" fmla="*/ 1398 h 1414"/>
                <a:gd name="T56" fmla="*/ 479 w 753"/>
                <a:gd name="T57" fmla="*/ 1409 h 1414"/>
                <a:gd name="T58" fmla="*/ 440 w 753"/>
                <a:gd name="T59" fmla="*/ 1413 h 1414"/>
                <a:gd name="T60" fmla="*/ 402 w 753"/>
                <a:gd name="T61" fmla="*/ 1414 h 1414"/>
                <a:gd name="T62" fmla="*/ 356 w 753"/>
                <a:gd name="T63" fmla="*/ 1413 h 1414"/>
                <a:gd name="T64" fmla="*/ 306 w 753"/>
                <a:gd name="T65" fmla="*/ 1411 h 1414"/>
                <a:gd name="T66" fmla="*/ 259 w 753"/>
                <a:gd name="T67" fmla="*/ 1406 h 1414"/>
                <a:gd name="T68" fmla="*/ 210 w 753"/>
                <a:gd name="T69" fmla="*/ 1398 h 1414"/>
                <a:gd name="T70" fmla="*/ 147 w 753"/>
                <a:gd name="T71" fmla="*/ 1381 h 1414"/>
                <a:gd name="T72" fmla="*/ 95 w 753"/>
                <a:gd name="T73" fmla="*/ 1358 h 1414"/>
                <a:gd name="T74" fmla="*/ 59 w 753"/>
                <a:gd name="T75" fmla="*/ 1333 h 1414"/>
                <a:gd name="T76" fmla="*/ 26 w 753"/>
                <a:gd name="T77" fmla="*/ 1298 h 1414"/>
                <a:gd name="T78" fmla="*/ 6 w 753"/>
                <a:gd name="T79" fmla="*/ 1265 h 1414"/>
                <a:gd name="T80" fmla="*/ 3 w 753"/>
                <a:gd name="T81" fmla="*/ 1175 h 1414"/>
                <a:gd name="T82" fmla="*/ 41 w 753"/>
                <a:gd name="T83" fmla="*/ 1039 h 1414"/>
                <a:gd name="T84" fmla="*/ 82 w 753"/>
                <a:gd name="T85" fmla="*/ 916 h 1414"/>
                <a:gd name="T86" fmla="*/ 114 w 753"/>
                <a:gd name="T87" fmla="*/ 822 h 141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753"/>
                <a:gd name="T133" fmla="*/ 0 h 1414"/>
                <a:gd name="T134" fmla="*/ 753 w 753"/>
                <a:gd name="T135" fmla="*/ 1414 h 141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753" h="1414">
                  <a:moveTo>
                    <a:pt x="114" y="822"/>
                  </a:moveTo>
                  <a:lnTo>
                    <a:pt x="208" y="540"/>
                  </a:lnTo>
                  <a:lnTo>
                    <a:pt x="210" y="473"/>
                  </a:lnTo>
                  <a:lnTo>
                    <a:pt x="212" y="325"/>
                  </a:lnTo>
                  <a:lnTo>
                    <a:pt x="212" y="178"/>
                  </a:lnTo>
                  <a:lnTo>
                    <a:pt x="211" y="107"/>
                  </a:lnTo>
                  <a:lnTo>
                    <a:pt x="206" y="101"/>
                  </a:lnTo>
                  <a:lnTo>
                    <a:pt x="199" y="91"/>
                  </a:lnTo>
                  <a:lnTo>
                    <a:pt x="191" y="82"/>
                  </a:lnTo>
                  <a:lnTo>
                    <a:pt x="186" y="73"/>
                  </a:lnTo>
                  <a:lnTo>
                    <a:pt x="185" y="64"/>
                  </a:lnTo>
                  <a:lnTo>
                    <a:pt x="185" y="54"/>
                  </a:lnTo>
                  <a:lnTo>
                    <a:pt x="185" y="46"/>
                  </a:lnTo>
                  <a:lnTo>
                    <a:pt x="188" y="37"/>
                  </a:lnTo>
                  <a:lnTo>
                    <a:pt x="191" y="30"/>
                  </a:lnTo>
                  <a:lnTo>
                    <a:pt x="196" y="21"/>
                  </a:lnTo>
                  <a:lnTo>
                    <a:pt x="202" y="15"/>
                  </a:lnTo>
                  <a:lnTo>
                    <a:pt x="208" y="10"/>
                  </a:lnTo>
                  <a:lnTo>
                    <a:pt x="213" y="8"/>
                  </a:lnTo>
                  <a:lnTo>
                    <a:pt x="224" y="6"/>
                  </a:lnTo>
                  <a:lnTo>
                    <a:pt x="238" y="4"/>
                  </a:lnTo>
                  <a:lnTo>
                    <a:pt x="257" y="3"/>
                  </a:lnTo>
                  <a:lnTo>
                    <a:pt x="277" y="2"/>
                  </a:lnTo>
                  <a:lnTo>
                    <a:pt x="301" y="2"/>
                  </a:lnTo>
                  <a:lnTo>
                    <a:pt x="327" y="0"/>
                  </a:lnTo>
                  <a:lnTo>
                    <a:pt x="353" y="0"/>
                  </a:lnTo>
                  <a:lnTo>
                    <a:pt x="408" y="0"/>
                  </a:lnTo>
                  <a:lnTo>
                    <a:pt x="434" y="0"/>
                  </a:lnTo>
                  <a:lnTo>
                    <a:pt x="460" y="2"/>
                  </a:lnTo>
                  <a:lnTo>
                    <a:pt x="483" y="3"/>
                  </a:lnTo>
                  <a:lnTo>
                    <a:pt x="505" y="4"/>
                  </a:lnTo>
                  <a:lnTo>
                    <a:pt x="524" y="5"/>
                  </a:lnTo>
                  <a:lnTo>
                    <a:pt x="539" y="6"/>
                  </a:lnTo>
                  <a:lnTo>
                    <a:pt x="548" y="9"/>
                  </a:lnTo>
                  <a:lnTo>
                    <a:pt x="555" y="11"/>
                  </a:lnTo>
                  <a:lnTo>
                    <a:pt x="561" y="16"/>
                  </a:lnTo>
                  <a:lnTo>
                    <a:pt x="567" y="24"/>
                  </a:lnTo>
                  <a:lnTo>
                    <a:pt x="572" y="30"/>
                  </a:lnTo>
                  <a:lnTo>
                    <a:pt x="576" y="37"/>
                  </a:lnTo>
                  <a:lnTo>
                    <a:pt x="577" y="43"/>
                  </a:lnTo>
                  <a:lnTo>
                    <a:pt x="579" y="52"/>
                  </a:lnTo>
                  <a:lnTo>
                    <a:pt x="579" y="61"/>
                  </a:lnTo>
                  <a:lnTo>
                    <a:pt x="579" y="69"/>
                  </a:lnTo>
                  <a:lnTo>
                    <a:pt x="578" y="77"/>
                  </a:lnTo>
                  <a:lnTo>
                    <a:pt x="576" y="84"/>
                  </a:lnTo>
                  <a:lnTo>
                    <a:pt x="572" y="90"/>
                  </a:lnTo>
                  <a:lnTo>
                    <a:pt x="568" y="94"/>
                  </a:lnTo>
                  <a:lnTo>
                    <a:pt x="563" y="99"/>
                  </a:lnTo>
                  <a:lnTo>
                    <a:pt x="558" y="107"/>
                  </a:lnTo>
                  <a:lnTo>
                    <a:pt x="555" y="115"/>
                  </a:lnTo>
                  <a:lnTo>
                    <a:pt x="551" y="118"/>
                  </a:lnTo>
                  <a:lnTo>
                    <a:pt x="551" y="189"/>
                  </a:lnTo>
                  <a:lnTo>
                    <a:pt x="550" y="341"/>
                  </a:lnTo>
                  <a:lnTo>
                    <a:pt x="548" y="495"/>
                  </a:lnTo>
                  <a:lnTo>
                    <a:pt x="548" y="565"/>
                  </a:lnTo>
                  <a:lnTo>
                    <a:pt x="712" y="1025"/>
                  </a:lnTo>
                  <a:lnTo>
                    <a:pt x="721" y="1051"/>
                  </a:lnTo>
                  <a:lnTo>
                    <a:pt x="730" y="1078"/>
                  </a:lnTo>
                  <a:lnTo>
                    <a:pt x="737" y="1105"/>
                  </a:lnTo>
                  <a:lnTo>
                    <a:pt x="743" y="1131"/>
                  </a:lnTo>
                  <a:lnTo>
                    <a:pt x="748" y="1155"/>
                  </a:lnTo>
                  <a:lnTo>
                    <a:pt x="752" y="1176"/>
                  </a:lnTo>
                  <a:lnTo>
                    <a:pt x="753" y="1195"/>
                  </a:lnTo>
                  <a:lnTo>
                    <a:pt x="753" y="1209"/>
                  </a:lnTo>
                  <a:lnTo>
                    <a:pt x="752" y="1222"/>
                  </a:lnTo>
                  <a:lnTo>
                    <a:pt x="749" y="1235"/>
                  </a:lnTo>
                  <a:lnTo>
                    <a:pt x="744" y="1248"/>
                  </a:lnTo>
                  <a:lnTo>
                    <a:pt x="739" y="1261"/>
                  </a:lnTo>
                  <a:lnTo>
                    <a:pt x="733" y="1275"/>
                  </a:lnTo>
                  <a:lnTo>
                    <a:pt x="727" y="1287"/>
                  </a:lnTo>
                  <a:lnTo>
                    <a:pt x="721" y="1298"/>
                  </a:lnTo>
                  <a:lnTo>
                    <a:pt x="715" y="1308"/>
                  </a:lnTo>
                  <a:lnTo>
                    <a:pt x="707" y="1316"/>
                  </a:lnTo>
                  <a:lnTo>
                    <a:pt x="699" y="1328"/>
                  </a:lnTo>
                  <a:lnTo>
                    <a:pt x="686" y="1337"/>
                  </a:lnTo>
                  <a:lnTo>
                    <a:pt x="673" y="1347"/>
                  </a:lnTo>
                  <a:lnTo>
                    <a:pt x="659" y="1357"/>
                  </a:lnTo>
                  <a:lnTo>
                    <a:pt x="645" y="1366"/>
                  </a:lnTo>
                  <a:lnTo>
                    <a:pt x="630" y="1372"/>
                  </a:lnTo>
                  <a:lnTo>
                    <a:pt x="615" y="1378"/>
                  </a:lnTo>
                  <a:lnTo>
                    <a:pt x="600" y="1383"/>
                  </a:lnTo>
                  <a:lnTo>
                    <a:pt x="583" y="1388"/>
                  </a:lnTo>
                  <a:lnTo>
                    <a:pt x="563" y="1393"/>
                  </a:lnTo>
                  <a:lnTo>
                    <a:pt x="544" y="1398"/>
                  </a:lnTo>
                  <a:lnTo>
                    <a:pt x="521" y="1401"/>
                  </a:lnTo>
                  <a:lnTo>
                    <a:pt x="500" y="1405"/>
                  </a:lnTo>
                  <a:lnTo>
                    <a:pt x="479" y="1409"/>
                  </a:lnTo>
                  <a:lnTo>
                    <a:pt x="459" y="1411"/>
                  </a:lnTo>
                  <a:lnTo>
                    <a:pt x="450" y="1413"/>
                  </a:lnTo>
                  <a:lnTo>
                    <a:pt x="440" y="1413"/>
                  </a:lnTo>
                  <a:lnTo>
                    <a:pt x="429" y="1413"/>
                  </a:lnTo>
                  <a:lnTo>
                    <a:pt x="415" y="1414"/>
                  </a:lnTo>
                  <a:lnTo>
                    <a:pt x="402" y="1414"/>
                  </a:lnTo>
                  <a:lnTo>
                    <a:pt x="387" y="1414"/>
                  </a:lnTo>
                  <a:lnTo>
                    <a:pt x="372" y="1414"/>
                  </a:lnTo>
                  <a:lnTo>
                    <a:pt x="356" y="1413"/>
                  </a:lnTo>
                  <a:lnTo>
                    <a:pt x="339" y="1413"/>
                  </a:lnTo>
                  <a:lnTo>
                    <a:pt x="323" y="1411"/>
                  </a:lnTo>
                  <a:lnTo>
                    <a:pt x="306" y="1411"/>
                  </a:lnTo>
                  <a:lnTo>
                    <a:pt x="290" y="1410"/>
                  </a:lnTo>
                  <a:lnTo>
                    <a:pt x="274" y="1409"/>
                  </a:lnTo>
                  <a:lnTo>
                    <a:pt x="259" y="1406"/>
                  </a:lnTo>
                  <a:lnTo>
                    <a:pt x="244" y="1405"/>
                  </a:lnTo>
                  <a:lnTo>
                    <a:pt x="231" y="1403"/>
                  </a:lnTo>
                  <a:lnTo>
                    <a:pt x="210" y="1398"/>
                  </a:lnTo>
                  <a:lnTo>
                    <a:pt x="189" y="1393"/>
                  </a:lnTo>
                  <a:lnTo>
                    <a:pt x="167" y="1387"/>
                  </a:lnTo>
                  <a:lnTo>
                    <a:pt x="147" y="1381"/>
                  </a:lnTo>
                  <a:lnTo>
                    <a:pt x="127" y="1373"/>
                  </a:lnTo>
                  <a:lnTo>
                    <a:pt x="110" y="1366"/>
                  </a:lnTo>
                  <a:lnTo>
                    <a:pt x="95" y="1358"/>
                  </a:lnTo>
                  <a:lnTo>
                    <a:pt x="83" y="1351"/>
                  </a:lnTo>
                  <a:lnTo>
                    <a:pt x="72" y="1342"/>
                  </a:lnTo>
                  <a:lnTo>
                    <a:pt x="59" y="1333"/>
                  </a:lnTo>
                  <a:lnTo>
                    <a:pt x="48" y="1321"/>
                  </a:lnTo>
                  <a:lnTo>
                    <a:pt x="37" y="1309"/>
                  </a:lnTo>
                  <a:lnTo>
                    <a:pt x="26" y="1298"/>
                  </a:lnTo>
                  <a:lnTo>
                    <a:pt x="18" y="1286"/>
                  </a:lnTo>
                  <a:lnTo>
                    <a:pt x="10" y="1275"/>
                  </a:lnTo>
                  <a:lnTo>
                    <a:pt x="6" y="1265"/>
                  </a:lnTo>
                  <a:lnTo>
                    <a:pt x="2" y="1243"/>
                  </a:lnTo>
                  <a:lnTo>
                    <a:pt x="0" y="1213"/>
                  </a:lnTo>
                  <a:lnTo>
                    <a:pt x="3" y="1175"/>
                  </a:lnTo>
                  <a:lnTo>
                    <a:pt x="10" y="1128"/>
                  </a:lnTo>
                  <a:lnTo>
                    <a:pt x="26" y="1084"/>
                  </a:lnTo>
                  <a:lnTo>
                    <a:pt x="41" y="1039"/>
                  </a:lnTo>
                  <a:lnTo>
                    <a:pt x="56" y="996"/>
                  </a:lnTo>
                  <a:lnTo>
                    <a:pt x="69" y="956"/>
                  </a:lnTo>
                  <a:lnTo>
                    <a:pt x="82" y="916"/>
                  </a:lnTo>
                  <a:lnTo>
                    <a:pt x="94" y="881"/>
                  </a:lnTo>
                  <a:lnTo>
                    <a:pt x="104" y="850"/>
                  </a:lnTo>
                  <a:lnTo>
                    <a:pt x="114" y="822"/>
                  </a:lnTo>
                  <a:close/>
                </a:path>
              </a:pathLst>
            </a:custGeom>
            <a:solidFill>
              <a:srgbClr val="000000"/>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099" name="Freeform 105"/>
            <p:cNvSpPr>
              <a:spLocks/>
            </p:cNvSpPr>
            <p:nvPr/>
          </p:nvSpPr>
          <p:spPr bwMode="auto">
            <a:xfrm>
              <a:off x="3855" y="2532"/>
              <a:ext cx="691" cy="1336"/>
            </a:xfrm>
            <a:custGeom>
              <a:avLst/>
              <a:gdLst>
                <a:gd name="T0" fmla="*/ 209 w 691"/>
                <a:gd name="T1" fmla="*/ 523 h 1336"/>
                <a:gd name="T2" fmla="*/ 209 w 691"/>
                <a:gd name="T3" fmla="*/ 68 h 1336"/>
                <a:gd name="T4" fmla="*/ 198 w 691"/>
                <a:gd name="T5" fmla="*/ 64 h 1336"/>
                <a:gd name="T6" fmla="*/ 190 w 691"/>
                <a:gd name="T7" fmla="*/ 57 h 1336"/>
                <a:gd name="T8" fmla="*/ 183 w 691"/>
                <a:gd name="T9" fmla="*/ 46 h 1336"/>
                <a:gd name="T10" fmla="*/ 181 w 691"/>
                <a:gd name="T11" fmla="*/ 34 h 1336"/>
                <a:gd name="T12" fmla="*/ 183 w 691"/>
                <a:gd name="T13" fmla="*/ 21 h 1336"/>
                <a:gd name="T14" fmla="*/ 191 w 691"/>
                <a:gd name="T15" fmla="*/ 10 h 1336"/>
                <a:gd name="T16" fmla="*/ 202 w 691"/>
                <a:gd name="T17" fmla="*/ 2 h 1336"/>
                <a:gd name="T18" fmla="*/ 215 w 691"/>
                <a:gd name="T19" fmla="*/ 0 h 1336"/>
                <a:gd name="T20" fmla="*/ 489 w 691"/>
                <a:gd name="T21" fmla="*/ 0 h 1336"/>
                <a:gd name="T22" fmla="*/ 502 w 691"/>
                <a:gd name="T23" fmla="*/ 2 h 1336"/>
                <a:gd name="T24" fmla="*/ 512 w 691"/>
                <a:gd name="T25" fmla="*/ 10 h 1336"/>
                <a:gd name="T26" fmla="*/ 520 w 691"/>
                <a:gd name="T27" fmla="*/ 21 h 1336"/>
                <a:gd name="T28" fmla="*/ 522 w 691"/>
                <a:gd name="T29" fmla="*/ 34 h 1336"/>
                <a:gd name="T30" fmla="*/ 520 w 691"/>
                <a:gd name="T31" fmla="*/ 47 h 1336"/>
                <a:gd name="T32" fmla="*/ 514 w 691"/>
                <a:gd name="T33" fmla="*/ 57 h 1336"/>
                <a:gd name="T34" fmla="*/ 505 w 691"/>
                <a:gd name="T35" fmla="*/ 64 h 1336"/>
                <a:gd name="T36" fmla="*/ 493 w 691"/>
                <a:gd name="T37" fmla="*/ 68 h 1336"/>
                <a:gd name="T38" fmla="*/ 493 w 691"/>
                <a:gd name="T39" fmla="*/ 555 h 1336"/>
                <a:gd name="T40" fmla="*/ 498 w 691"/>
                <a:gd name="T41" fmla="*/ 570 h 1336"/>
                <a:gd name="T42" fmla="*/ 512 w 691"/>
                <a:gd name="T43" fmla="*/ 611 h 1336"/>
                <a:gd name="T44" fmla="*/ 533 w 691"/>
                <a:gd name="T45" fmla="*/ 672 h 1336"/>
                <a:gd name="T46" fmla="*/ 559 w 691"/>
                <a:gd name="T47" fmla="*/ 747 h 1336"/>
                <a:gd name="T48" fmla="*/ 587 w 691"/>
                <a:gd name="T49" fmla="*/ 830 h 1336"/>
                <a:gd name="T50" fmla="*/ 617 w 691"/>
                <a:gd name="T51" fmla="*/ 915 h 1336"/>
                <a:gd name="T52" fmla="*/ 645 w 691"/>
                <a:gd name="T53" fmla="*/ 995 h 1336"/>
                <a:gd name="T54" fmla="*/ 671 w 691"/>
                <a:gd name="T55" fmla="*/ 1065 h 1336"/>
                <a:gd name="T56" fmla="*/ 680 w 691"/>
                <a:gd name="T57" fmla="*/ 1093 h 1336"/>
                <a:gd name="T58" fmla="*/ 687 w 691"/>
                <a:gd name="T59" fmla="*/ 1120 h 1336"/>
                <a:gd name="T60" fmla="*/ 691 w 691"/>
                <a:gd name="T61" fmla="*/ 1149 h 1336"/>
                <a:gd name="T62" fmla="*/ 691 w 691"/>
                <a:gd name="T63" fmla="*/ 1177 h 1336"/>
                <a:gd name="T64" fmla="*/ 684 w 691"/>
                <a:gd name="T65" fmla="*/ 1205 h 1336"/>
                <a:gd name="T66" fmla="*/ 669 w 691"/>
                <a:gd name="T67" fmla="*/ 1234 h 1336"/>
                <a:gd name="T68" fmla="*/ 645 w 691"/>
                <a:gd name="T69" fmla="*/ 1262 h 1336"/>
                <a:gd name="T70" fmla="*/ 611 w 691"/>
                <a:gd name="T71" fmla="*/ 1289 h 1336"/>
                <a:gd name="T72" fmla="*/ 589 w 691"/>
                <a:gd name="T73" fmla="*/ 1301 h 1336"/>
                <a:gd name="T74" fmla="*/ 560 w 691"/>
                <a:gd name="T75" fmla="*/ 1313 h 1336"/>
                <a:gd name="T76" fmla="*/ 528 w 691"/>
                <a:gd name="T77" fmla="*/ 1321 h 1336"/>
                <a:gd name="T78" fmla="*/ 494 w 691"/>
                <a:gd name="T79" fmla="*/ 1327 h 1336"/>
                <a:gd name="T80" fmla="*/ 457 w 691"/>
                <a:gd name="T81" fmla="*/ 1332 h 1336"/>
                <a:gd name="T82" fmla="*/ 417 w 691"/>
                <a:gd name="T83" fmla="*/ 1335 h 1336"/>
                <a:gd name="T84" fmla="*/ 377 w 691"/>
                <a:gd name="T85" fmla="*/ 1336 h 1336"/>
                <a:gd name="T86" fmla="*/ 335 w 691"/>
                <a:gd name="T87" fmla="*/ 1336 h 1336"/>
                <a:gd name="T88" fmla="*/ 294 w 691"/>
                <a:gd name="T89" fmla="*/ 1335 h 1336"/>
                <a:gd name="T90" fmla="*/ 255 w 691"/>
                <a:gd name="T91" fmla="*/ 1331 h 1336"/>
                <a:gd name="T92" fmla="*/ 218 w 691"/>
                <a:gd name="T93" fmla="*/ 1327 h 1336"/>
                <a:gd name="T94" fmla="*/ 182 w 691"/>
                <a:gd name="T95" fmla="*/ 1321 h 1336"/>
                <a:gd name="T96" fmla="*/ 150 w 691"/>
                <a:gd name="T97" fmla="*/ 1315 h 1336"/>
                <a:gd name="T98" fmla="*/ 122 w 691"/>
                <a:gd name="T99" fmla="*/ 1308 h 1336"/>
                <a:gd name="T100" fmla="*/ 98 w 691"/>
                <a:gd name="T101" fmla="*/ 1299 h 1336"/>
                <a:gd name="T102" fmla="*/ 81 w 691"/>
                <a:gd name="T103" fmla="*/ 1289 h 1336"/>
                <a:gd name="T104" fmla="*/ 54 w 691"/>
                <a:gd name="T105" fmla="*/ 1268 h 1336"/>
                <a:gd name="T106" fmla="*/ 32 w 691"/>
                <a:gd name="T107" fmla="*/ 1244 h 1336"/>
                <a:gd name="T108" fmla="*/ 15 w 691"/>
                <a:gd name="T109" fmla="*/ 1216 h 1336"/>
                <a:gd name="T110" fmla="*/ 5 w 691"/>
                <a:gd name="T111" fmla="*/ 1187 h 1336"/>
                <a:gd name="T112" fmla="*/ 0 w 691"/>
                <a:gd name="T113" fmla="*/ 1156 h 1336"/>
                <a:gd name="T114" fmla="*/ 0 w 691"/>
                <a:gd name="T115" fmla="*/ 1125 h 1336"/>
                <a:gd name="T116" fmla="*/ 7 w 691"/>
                <a:gd name="T117" fmla="*/ 1095 h 1336"/>
                <a:gd name="T118" fmla="*/ 21 w 691"/>
                <a:gd name="T119" fmla="*/ 1065 h 1336"/>
                <a:gd name="T120" fmla="*/ 209 w 691"/>
                <a:gd name="T121" fmla="*/ 523 h 13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691"/>
                <a:gd name="T184" fmla="*/ 0 h 1336"/>
                <a:gd name="T185" fmla="*/ 691 w 691"/>
                <a:gd name="T186" fmla="*/ 1336 h 13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691" h="1336">
                  <a:moveTo>
                    <a:pt x="209" y="523"/>
                  </a:moveTo>
                  <a:lnTo>
                    <a:pt x="209" y="68"/>
                  </a:lnTo>
                  <a:lnTo>
                    <a:pt x="198" y="64"/>
                  </a:lnTo>
                  <a:lnTo>
                    <a:pt x="190" y="57"/>
                  </a:lnTo>
                  <a:lnTo>
                    <a:pt x="183" y="46"/>
                  </a:lnTo>
                  <a:lnTo>
                    <a:pt x="181" y="34"/>
                  </a:lnTo>
                  <a:lnTo>
                    <a:pt x="183" y="21"/>
                  </a:lnTo>
                  <a:lnTo>
                    <a:pt x="191" y="10"/>
                  </a:lnTo>
                  <a:lnTo>
                    <a:pt x="202" y="2"/>
                  </a:lnTo>
                  <a:lnTo>
                    <a:pt x="215" y="0"/>
                  </a:lnTo>
                  <a:lnTo>
                    <a:pt x="489" y="0"/>
                  </a:lnTo>
                  <a:lnTo>
                    <a:pt x="502" y="2"/>
                  </a:lnTo>
                  <a:lnTo>
                    <a:pt x="512" y="10"/>
                  </a:lnTo>
                  <a:lnTo>
                    <a:pt x="520" y="21"/>
                  </a:lnTo>
                  <a:lnTo>
                    <a:pt x="522" y="34"/>
                  </a:lnTo>
                  <a:lnTo>
                    <a:pt x="520" y="47"/>
                  </a:lnTo>
                  <a:lnTo>
                    <a:pt x="514" y="57"/>
                  </a:lnTo>
                  <a:lnTo>
                    <a:pt x="505" y="64"/>
                  </a:lnTo>
                  <a:lnTo>
                    <a:pt x="493" y="68"/>
                  </a:lnTo>
                  <a:lnTo>
                    <a:pt x="493" y="555"/>
                  </a:lnTo>
                  <a:lnTo>
                    <a:pt x="498" y="570"/>
                  </a:lnTo>
                  <a:lnTo>
                    <a:pt x="512" y="611"/>
                  </a:lnTo>
                  <a:lnTo>
                    <a:pt x="533" y="672"/>
                  </a:lnTo>
                  <a:lnTo>
                    <a:pt x="559" y="747"/>
                  </a:lnTo>
                  <a:lnTo>
                    <a:pt x="587" y="830"/>
                  </a:lnTo>
                  <a:lnTo>
                    <a:pt x="617" y="915"/>
                  </a:lnTo>
                  <a:lnTo>
                    <a:pt x="645" y="995"/>
                  </a:lnTo>
                  <a:lnTo>
                    <a:pt x="671" y="1065"/>
                  </a:lnTo>
                  <a:lnTo>
                    <a:pt x="680" y="1093"/>
                  </a:lnTo>
                  <a:lnTo>
                    <a:pt x="687" y="1120"/>
                  </a:lnTo>
                  <a:lnTo>
                    <a:pt x="691" y="1149"/>
                  </a:lnTo>
                  <a:lnTo>
                    <a:pt x="691" y="1177"/>
                  </a:lnTo>
                  <a:lnTo>
                    <a:pt x="684" y="1205"/>
                  </a:lnTo>
                  <a:lnTo>
                    <a:pt x="669" y="1234"/>
                  </a:lnTo>
                  <a:lnTo>
                    <a:pt x="645" y="1262"/>
                  </a:lnTo>
                  <a:lnTo>
                    <a:pt x="611" y="1289"/>
                  </a:lnTo>
                  <a:lnTo>
                    <a:pt x="589" y="1301"/>
                  </a:lnTo>
                  <a:lnTo>
                    <a:pt x="560" y="1313"/>
                  </a:lnTo>
                  <a:lnTo>
                    <a:pt x="528" y="1321"/>
                  </a:lnTo>
                  <a:lnTo>
                    <a:pt x="494" y="1327"/>
                  </a:lnTo>
                  <a:lnTo>
                    <a:pt x="457" y="1332"/>
                  </a:lnTo>
                  <a:lnTo>
                    <a:pt x="417" y="1335"/>
                  </a:lnTo>
                  <a:lnTo>
                    <a:pt x="377" y="1336"/>
                  </a:lnTo>
                  <a:lnTo>
                    <a:pt x="335" y="1336"/>
                  </a:lnTo>
                  <a:lnTo>
                    <a:pt x="294" y="1335"/>
                  </a:lnTo>
                  <a:lnTo>
                    <a:pt x="255" y="1331"/>
                  </a:lnTo>
                  <a:lnTo>
                    <a:pt x="218" y="1327"/>
                  </a:lnTo>
                  <a:lnTo>
                    <a:pt x="182" y="1321"/>
                  </a:lnTo>
                  <a:lnTo>
                    <a:pt x="150" y="1315"/>
                  </a:lnTo>
                  <a:lnTo>
                    <a:pt x="122" y="1308"/>
                  </a:lnTo>
                  <a:lnTo>
                    <a:pt x="98" y="1299"/>
                  </a:lnTo>
                  <a:lnTo>
                    <a:pt x="81" y="1289"/>
                  </a:lnTo>
                  <a:lnTo>
                    <a:pt x="54" y="1268"/>
                  </a:lnTo>
                  <a:lnTo>
                    <a:pt x="32" y="1244"/>
                  </a:lnTo>
                  <a:lnTo>
                    <a:pt x="15" y="1216"/>
                  </a:lnTo>
                  <a:lnTo>
                    <a:pt x="5" y="1187"/>
                  </a:lnTo>
                  <a:lnTo>
                    <a:pt x="0" y="1156"/>
                  </a:lnTo>
                  <a:lnTo>
                    <a:pt x="0" y="1125"/>
                  </a:lnTo>
                  <a:lnTo>
                    <a:pt x="7" y="1095"/>
                  </a:lnTo>
                  <a:lnTo>
                    <a:pt x="21" y="1065"/>
                  </a:lnTo>
                  <a:lnTo>
                    <a:pt x="209" y="523"/>
                  </a:lnTo>
                  <a:close/>
                </a:path>
              </a:pathLst>
            </a:custGeom>
            <a:solidFill>
              <a:srgbClr val="3F9E9E"/>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100" name="Freeform 106"/>
            <p:cNvSpPr>
              <a:spLocks/>
            </p:cNvSpPr>
            <p:nvPr/>
          </p:nvSpPr>
          <p:spPr bwMode="auto">
            <a:xfrm>
              <a:off x="3879" y="3331"/>
              <a:ext cx="645" cy="511"/>
            </a:xfrm>
            <a:custGeom>
              <a:avLst/>
              <a:gdLst>
                <a:gd name="T0" fmla="*/ 110 w 645"/>
                <a:gd name="T1" fmla="*/ 4 h 511"/>
                <a:gd name="T2" fmla="*/ 137 w 645"/>
                <a:gd name="T3" fmla="*/ 1 h 511"/>
                <a:gd name="T4" fmla="*/ 164 w 645"/>
                <a:gd name="T5" fmla="*/ 0 h 511"/>
                <a:gd name="T6" fmla="*/ 191 w 645"/>
                <a:gd name="T7" fmla="*/ 1 h 511"/>
                <a:gd name="T8" fmla="*/ 219 w 645"/>
                <a:gd name="T9" fmla="*/ 4 h 511"/>
                <a:gd name="T10" fmla="*/ 246 w 645"/>
                <a:gd name="T11" fmla="*/ 7 h 511"/>
                <a:gd name="T12" fmla="*/ 273 w 645"/>
                <a:gd name="T13" fmla="*/ 12 h 511"/>
                <a:gd name="T14" fmla="*/ 299 w 645"/>
                <a:gd name="T15" fmla="*/ 16 h 511"/>
                <a:gd name="T16" fmla="*/ 326 w 645"/>
                <a:gd name="T17" fmla="*/ 21 h 511"/>
                <a:gd name="T18" fmla="*/ 353 w 645"/>
                <a:gd name="T19" fmla="*/ 26 h 511"/>
                <a:gd name="T20" fmla="*/ 380 w 645"/>
                <a:gd name="T21" fmla="*/ 30 h 511"/>
                <a:gd name="T22" fmla="*/ 406 w 645"/>
                <a:gd name="T23" fmla="*/ 33 h 511"/>
                <a:gd name="T24" fmla="*/ 433 w 645"/>
                <a:gd name="T25" fmla="*/ 36 h 511"/>
                <a:gd name="T26" fmla="*/ 460 w 645"/>
                <a:gd name="T27" fmla="*/ 36 h 511"/>
                <a:gd name="T28" fmla="*/ 487 w 645"/>
                <a:gd name="T29" fmla="*/ 35 h 511"/>
                <a:gd name="T30" fmla="*/ 515 w 645"/>
                <a:gd name="T31" fmla="*/ 32 h 511"/>
                <a:gd name="T32" fmla="*/ 543 w 645"/>
                <a:gd name="T33" fmla="*/ 26 h 511"/>
                <a:gd name="T34" fmla="*/ 628 w 645"/>
                <a:gd name="T35" fmla="*/ 265 h 511"/>
                <a:gd name="T36" fmla="*/ 637 w 645"/>
                <a:gd name="T37" fmla="*/ 297 h 511"/>
                <a:gd name="T38" fmla="*/ 644 w 645"/>
                <a:gd name="T39" fmla="*/ 328 h 511"/>
                <a:gd name="T40" fmla="*/ 645 w 645"/>
                <a:gd name="T41" fmla="*/ 356 h 511"/>
                <a:gd name="T42" fmla="*/ 641 w 645"/>
                <a:gd name="T43" fmla="*/ 382 h 511"/>
                <a:gd name="T44" fmla="*/ 632 w 645"/>
                <a:gd name="T45" fmla="*/ 406 h 511"/>
                <a:gd name="T46" fmla="*/ 619 w 645"/>
                <a:gd name="T47" fmla="*/ 429 h 511"/>
                <a:gd name="T48" fmla="*/ 599 w 645"/>
                <a:gd name="T49" fmla="*/ 448 h 511"/>
                <a:gd name="T50" fmla="*/ 575 w 645"/>
                <a:gd name="T51" fmla="*/ 465 h 511"/>
                <a:gd name="T52" fmla="*/ 571 w 645"/>
                <a:gd name="T53" fmla="*/ 467 h 511"/>
                <a:gd name="T54" fmla="*/ 560 w 645"/>
                <a:gd name="T55" fmla="*/ 472 h 511"/>
                <a:gd name="T56" fmla="*/ 544 w 645"/>
                <a:gd name="T57" fmla="*/ 478 h 511"/>
                <a:gd name="T58" fmla="*/ 525 w 645"/>
                <a:gd name="T59" fmla="*/ 485 h 511"/>
                <a:gd name="T60" fmla="*/ 506 w 645"/>
                <a:gd name="T61" fmla="*/ 491 h 511"/>
                <a:gd name="T62" fmla="*/ 486 w 645"/>
                <a:gd name="T63" fmla="*/ 498 h 511"/>
                <a:gd name="T64" fmla="*/ 469 w 645"/>
                <a:gd name="T65" fmla="*/ 501 h 511"/>
                <a:gd name="T66" fmla="*/ 456 w 645"/>
                <a:gd name="T67" fmla="*/ 502 h 511"/>
                <a:gd name="T68" fmla="*/ 416 w 645"/>
                <a:gd name="T69" fmla="*/ 507 h 511"/>
                <a:gd name="T70" fmla="*/ 376 w 645"/>
                <a:gd name="T71" fmla="*/ 510 h 511"/>
                <a:gd name="T72" fmla="*/ 338 w 645"/>
                <a:gd name="T73" fmla="*/ 511 h 511"/>
                <a:gd name="T74" fmla="*/ 302 w 645"/>
                <a:gd name="T75" fmla="*/ 510 h 511"/>
                <a:gd name="T76" fmla="*/ 268 w 645"/>
                <a:gd name="T77" fmla="*/ 509 h 511"/>
                <a:gd name="T78" fmla="*/ 236 w 645"/>
                <a:gd name="T79" fmla="*/ 505 h 511"/>
                <a:gd name="T80" fmla="*/ 207 w 645"/>
                <a:gd name="T81" fmla="*/ 501 h 511"/>
                <a:gd name="T82" fmla="*/ 180 w 645"/>
                <a:gd name="T83" fmla="*/ 496 h 511"/>
                <a:gd name="T84" fmla="*/ 156 w 645"/>
                <a:gd name="T85" fmla="*/ 491 h 511"/>
                <a:gd name="T86" fmla="*/ 134 w 645"/>
                <a:gd name="T87" fmla="*/ 485 h 511"/>
                <a:gd name="T88" fmla="*/ 115 w 645"/>
                <a:gd name="T89" fmla="*/ 480 h 511"/>
                <a:gd name="T90" fmla="*/ 99 w 645"/>
                <a:gd name="T91" fmla="*/ 475 h 511"/>
                <a:gd name="T92" fmla="*/ 87 w 645"/>
                <a:gd name="T93" fmla="*/ 472 h 511"/>
                <a:gd name="T94" fmla="*/ 78 w 645"/>
                <a:gd name="T95" fmla="*/ 468 h 511"/>
                <a:gd name="T96" fmla="*/ 73 w 645"/>
                <a:gd name="T97" fmla="*/ 467 h 511"/>
                <a:gd name="T98" fmla="*/ 71 w 645"/>
                <a:gd name="T99" fmla="*/ 465 h 511"/>
                <a:gd name="T100" fmla="*/ 52 w 645"/>
                <a:gd name="T101" fmla="*/ 452 h 511"/>
                <a:gd name="T102" fmla="*/ 35 w 645"/>
                <a:gd name="T103" fmla="*/ 433 h 511"/>
                <a:gd name="T104" fmla="*/ 20 w 645"/>
                <a:gd name="T105" fmla="*/ 411 h 511"/>
                <a:gd name="T106" fmla="*/ 9 w 645"/>
                <a:gd name="T107" fmla="*/ 384 h 511"/>
                <a:gd name="T108" fmla="*/ 2 w 645"/>
                <a:gd name="T109" fmla="*/ 356 h 511"/>
                <a:gd name="T110" fmla="*/ 0 w 645"/>
                <a:gd name="T111" fmla="*/ 325 h 511"/>
                <a:gd name="T112" fmla="*/ 7 w 645"/>
                <a:gd name="T113" fmla="*/ 293 h 511"/>
                <a:gd name="T114" fmla="*/ 20 w 645"/>
                <a:gd name="T115" fmla="*/ 261 h 511"/>
                <a:gd name="T116" fmla="*/ 110 w 645"/>
                <a:gd name="T117" fmla="*/ 4 h 511"/>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645"/>
                <a:gd name="T178" fmla="*/ 0 h 511"/>
                <a:gd name="T179" fmla="*/ 645 w 645"/>
                <a:gd name="T180" fmla="*/ 511 h 511"/>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645" h="511">
                  <a:moveTo>
                    <a:pt x="110" y="4"/>
                  </a:moveTo>
                  <a:lnTo>
                    <a:pt x="137" y="1"/>
                  </a:lnTo>
                  <a:lnTo>
                    <a:pt x="164" y="0"/>
                  </a:lnTo>
                  <a:lnTo>
                    <a:pt x="191" y="1"/>
                  </a:lnTo>
                  <a:lnTo>
                    <a:pt x="219" y="4"/>
                  </a:lnTo>
                  <a:lnTo>
                    <a:pt x="246" y="7"/>
                  </a:lnTo>
                  <a:lnTo>
                    <a:pt x="273" y="12"/>
                  </a:lnTo>
                  <a:lnTo>
                    <a:pt x="299" y="16"/>
                  </a:lnTo>
                  <a:lnTo>
                    <a:pt x="326" y="21"/>
                  </a:lnTo>
                  <a:lnTo>
                    <a:pt x="353" y="26"/>
                  </a:lnTo>
                  <a:lnTo>
                    <a:pt x="380" y="30"/>
                  </a:lnTo>
                  <a:lnTo>
                    <a:pt x="406" y="33"/>
                  </a:lnTo>
                  <a:lnTo>
                    <a:pt x="433" y="36"/>
                  </a:lnTo>
                  <a:lnTo>
                    <a:pt x="460" y="36"/>
                  </a:lnTo>
                  <a:lnTo>
                    <a:pt x="487" y="35"/>
                  </a:lnTo>
                  <a:lnTo>
                    <a:pt x="515" y="32"/>
                  </a:lnTo>
                  <a:lnTo>
                    <a:pt x="543" y="26"/>
                  </a:lnTo>
                  <a:lnTo>
                    <a:pt x="628" y="265"/>
                  </a:lnTo>
                  <a:lnTo>
                    <a:pt x="637" y="297"/>
                  </a:lnTo>
                  <a:lnTo>
                    <a:pt x="644" y="328"/>
                  </a:lnTo>
                  <a:lnTo>
                    <a:pt x="645" y="356"/>
                  </a:lnTo>
                  <a:lnTo>
                    <a:pt x="641" y="382"/>
                  </a:lnTo>
                  <a:lnTo>
                    <a:pt x="632" y="406"/>
                  </a:lnTo>
                  <a:lnTo>
                    <a:pt x="619" y="429"/>
                  </a:lnTo>
                  <a:lnTo>
                    <a:pt x="599" y="448"/>
                  </a:lnTo>
                  <a:lnTo>
                    <a:pt x="575" y="465"/>
                  </a:lnTo>
                  <a:lnTo>
                    <a:pt x="571" y="467"/>
                  </a:lnTo>
                  <a:lnTo>
                    <a:pt x="560" y="472"/>
                  </a:lnTo>
                  <a:lnTo>
                    <a:pt x="544" y="478"/>
                  </a:lnTo>
                  <a:lnTo>
                    <a:pt x="525" y="485"/>
                  </a:lnTo>
                  <a:lnTo>
                    <a:pt x="506" y="491"/>
                  </a:lnTo>
                  <a:lnTo>
                    <a:pt x="486" y="498"/>
                  </a:lnTo>
                  <a:lnTo>
                    <a:pt x="469" y="501"/>
                  </a:lnTo>
                  <a:lnTo>
                    <a:pt x="456" y="502"/>
                  </a:lnTo>
                  <a:lnTo>
                    <a:pt x="416" y="507"/>
                  </a:lnTo>
                  <a:lnTo>
                    <a:pt x="376" y="510"/>
                  </a:lnTo>
                  <a:lnTo>
                    <a:pt x="338" y="511"/>
                  </a:lnTo>
                  <a:lnTo>
                    <a:pt x="302" y="510"/>
                  </a:lnTo>
                  <a:lnTo>
                    <a:pt x="268" y="509"/>
                  </a:lnTo>
                  <a:lnTo>
                    <a:pt x="236" y="505"/>
                  </a:lnTo>
                  <a:lnTo>
                    <a:pt x="207" y="501"/>
                  </a:lnTo>
                  <a:lnTo>
                    <a:pt x="180" y="496"/>
                  </a:lnTo>
                  <a:lnTo>
                    <a:pt x="156" y="491"/>
                  </a:lnTo>
                  <a:lnTo>
                    <a:pt x="134" y="485"/>
                  </a:lnTo>
                  <a:lnTo>
                    <a:pt x="115" y="480"/>
                  </a:lnTo>
                  <a:lnTo>
                    <a:pt x="99" y="475"/>
                  </a:lnTo>
                  <a:lnTo>
                    <a:pt x="87" y="472"/>
                  </a:lnTo>
                  <a:lnTo>
                    <a:pt x="78" y="468"/>
                  </a:lnTo>
                  <a:lnTo>
                    <a:pt x="73" y="467"/>
                  </a:lnTo>
                  <a:lnTo>
                    <a:pt x="71" y="465"/>
                  </a:lnTo>
                  <a:lnTo>
                    <a:pt x="52" y="452"/>
                  </a:lnTo>
                  <a:lnTo>
                    <a:pt x="35" y="433"/>
                  </a:lnTo>
                  <a:lnTo>
                    <a:pt x="20" y="411"/>
                  </a:lnTo>
                  <a:lnTo>
                    <a:pt x="9" y="384"/>
                  </a:lnTo>
                  <a:lnTo>
                    <a:pt x="2" y="356"/>
                  </a:lnTo>
                  <a:lnTo>
                    <a:pt x="0" y="325"/>
                  </a:lnTo>
                  <a:lnTo>
                    <a:pt x="7" y="293"/>
                  </a:lnTo>
                  <a:lnTo>
                    <a:pt x="20" y="261"/>
                  </a:lnTo>
                  <a:lnTo>
                    <a:pt x="110" y="4"/>
                  </a:lnTo>
                  <a:close/>
                </a:path>
              </a:pathLst>
            </a:custGeom>
            <a:solidFill>
              <a:srgbClr val="FF007F"/>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101" name="Freeform 107"/>
            <p:cNvSpPr>
              <a:spLocks/>
            </p:cNvSpPr>
            <p:nvPr/>
          </p:nvSpPr>
          <p:spPr bwMode="auto">
            <a:xfrm>
              <a:off x="4057" y="2541"/>
              <a:ext cx="304" cy="25"/>
            </a:xfrm>
            <a:custGeom>
              <a:avLst/>
              <a:gdLst>
                <a:gd name="T0" fmla="*/ 13 w 304"/>
                <a:gd name="T1" fmla="*/ 25 h 25"/>
                <a:gd name="T2" fmla="*/ 8 w 304"/>
                <a:gd name="T3" fmla="*/ 24 h 25"/>
                <a:gd name="T4" fmla="*/ 4 w 304"/>
                <a:gd name="T5" fmla="*/ 22 h 25"/>
                <a:gd name="T6" fmla="*/ 1 w 304"/>
                <a:gd name="T7" fmla="*/ 18 h 25"/>
                <a:gd name="T8" fmla="*/ 0 w 304"/>
                <a:gd name="T9" fmla="*/ 13 h 25"/>
                <a:gd name="T10" fmla="*/ 0 w 304"/>
                <a:gd name="T11" fmla="*/ 13 h 25"/>
                <a:gd name="T12" fmla="*/ 1 w 304"/>
                <a:gd name="T13" fmla="*/ 8 h 25"/>
                <a:gd name="T14" fmla="*/ 4 w 304"/>
                <a:gd name="T15" fmla="*/ 3 h 25"/>
                <a:gd name="T16" fmla="*/ 8 w 304"/>
                <a:gd name="T17" fmla="*/ 1 h 25"/>
                <a:gd name="T18" fmla="*/ 13 w 304"/>
                <a:gd name="T19" fmla="*/ 0 h 25"/>
                <a:gd name="T20" fmla="*/ 291 w 304"/>
                <a:gd name="T21" fmla="*/ 0 h 25"/>
                <a:gd name="T22" fmla="*/ 296 w 304"/>
                <a:gd name="T23" fmla="*/ 1 h 25"/>
                <a:gd name="T24" fmla="*/ 300 w 304"/>
                <a:gd name="T25" fmla="*/ 3 h 25"/>
                <a:gd name="T26" fmla="*/ 303 w 304"/>
                <a:gd name="T27" fmla="*/ 8 h 25"/>
                <a:gd name="T28" fmla="*/ 304 w 304"/>
                <a:gd name="T29" fmla="*/ 13 h 25"/>
                <a:gd name="T30" fmla="*/ 304 w 304"/>
                <a:gd name="T31" fmla="*/ 13 h 25"/>
                <a:gd name="T32" fmla="*/ 303 w 304"/>
                <a:gd name="T33" fmla="*/ 18 h 25"/>
                <a:gd name="T34" fmla="*/ 300 w 304"/>
                <a:gd name="T35" fmla="*/ 22 h 25"/>
                <a:gd name="T36" fmla="*/ 296 w 304"/>
                <a:gd name="T37" fmla="*/ 24 h 25"/>
                <a:gd name="T38" fmla="*/ 291 w 304"/>
                <a:gd name="T39" fmla="*/ 25 h 25"/>
                <a:gd name="T40" fmla="*/ 13 w 304"/>
                <a:gd name="T41" fmla="*/ 25 h 2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04"/>
                <a:gd name="T64" fmla="*/ 0 h 25"/>
                <a:gd name="T65" fmla="*/ 304 w 304"/>
                <a:gd name="T66" fmla="*/ 25 h 2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04" h="25">
                  <a:moveTo>
                    <a:pt x="13" y="25"/>
                  </a:moveTo>
                  <a:lnTo>
                    <a:pt x="8" y="24"/>
                  </a:lnTo>
                  <a:lnTo>
                    <a:pt x="4" y="22"/>
                  </a:lnTo>
                  <a:lnTo>
                    <a:pt x="1" y="18"/>
                  </a:lnTo>
                  <a:lnTo>
                    <a:pt x="0" y="13"/>
                  </a:lnTo>
                  <a:lnTo>
                    <a:pt x="1" y="8"/>
                  </a:lnTo>
                  <a:lnTo>
                    <a:pt x="4" y="3"/>
                  </a:lnTo>
                  <a:lnTo>
                    <a:pt x="8" y="1"/>
                  </a:lnTo>
                  <a:lnTo>
                    <a:pt x="13" y="0"/>
                  </a:lnTo>
                  <a:lnTo>
                    <a:pt x="291" y="0"/>
                  </a:lnTo>
                  <a:lnTo>
                    <a:pt x="296" y="1"/>
                  </a:lnTo>
                  <a:lnTo>
                    <a:pt x="300" y="3"/>
                  </a:lnTo>
                  <a:lnTo>
                    <a:pt x="303" y="8"/>
                  </a:lnTo>
                  <a:lnTo>
                    <a:pt x="304" y="13"/>
                  </a:lnTo>
                  <a:lnTo>
                    <a:pt x="303" y="18"/>
                  </a:lnTo>
                  <a:lnTo>
                    <a:pt x="300" y="22"/>
                  </a:lnTo>
                  <a:lnTo>
                    <a:pt x="296" y="24"/>
                  </a:lnTo>
                  <a:lnTo>
                    <a:pt x="291" y="25"/>
                  </a:lnTo>
                  <a:lnTo>
                    <a:pt x="13" y="25"/>
                  </a:lnTo>
                  <a:close/>
                </a:path>
              </a:pathLst>
            </a:custGeom>
            <a:solidFill>
              <a:srgbClr val="FFFFFF"/>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102" name="Freeform 108"/>
            <p:cNvSpPr>
              <a:spLocks/>
            </p:cNvSpPr>
            <p:nvPr/>
          </p:nvSpPr>
          <p:spPr bwMode="auto">
            <a:xfrm>
              <a:off x="3989" y="2601"/>
              <a:ext cx="433" cy="766"/>
            </a:xfrm>
            <a:custGeom>
              <a:avLst/>
              <a:gdLst>
                <a:gd name="T0" fmla="*/ 0 w 433"/>
                <a:gd name="T1" fmla="*/ 734 h 766"/>
                <a:gd name="T2" fmla="*/ 94 w 433"/>
                <a:gd name="T3" fmla="*/ 465 h 766"/>
                <a:gd name="T4" fmla="*/ 95 w 433"/>
                <a:gd name="T5" fmla="*/ 0 h 766"/>
                <a:gd name="T6" fmla="*/ 339 w 433"/>
                <a:gd name="T7" fmla="*/ 0 h 766"/>
                <a:gd name="T8" fmla="*/ 339 w 433"/>
                <a:gd name="T9" fmla="*/ 492 h 766"/>
                <a:gd name="T10" fmla="*/ 433 w 433"/>
                <a:gd name="T11" fmla="*/ 756 h 766"/>
                <a:gd name="T12" fmla="*/ 405 w 433"/>
                <a:gd name="T13" fmla="*/ 762 h 766"/>
                <a:gd name="T14" fmla="*/ 377 w 433"/>
                <a:gd name="T15" fmla="*/ 765 h 766"/>
                <a:gd name="T16" fmla="*/ 350 w 433"/>
                <a:gd name="T17" fmla="*/ 766 h 766"/>
                <a:gd name="T18" fmla="*/ 323 w 433"/>
                <a:gd name="T19" fmla="*/ 766 h 766"/>
                <a:gd name="T20" fmla="*/ 296 w 433"/>
                <a:gd name="T21" fmla="*/ 763 h 766"/>
                <a:gd name="T22" fmla="*/ 270 w 433"/>
                <a:gd name="T23" fmla="*/ 760 h 766"/>
                <a:gd name="T24" fmla="*/ 243 w 433"/>
                <a:gd name="T25" fmla="*/ 756 h 766"/>
                <a:gd name="T26" fmla="*/ 216 w 433"/>
                <a:gd name="T27" fmla="*/ 751 h 766"/>
                <a:gd name="T28" fmla="*/ 189 w 433"/>
                <a:gd name="T29" fmla="*/ 746 h 766"/>
                <a:gd name="T30" fmla="*/ 163 w 433"/>
                <a:gd name="T31" fmla="*/ 742 h 766"/>
                <a:gd name="T32" fmla="*/ 136 w 433"/>
                <a:gd name="T33" fmla="*/ 737 h 766"/>
                <a:gd name="T34" fmla="*/ 109 w 433"/>
                <a:gd name="T35" fmla="*/ 734 h 766"/>
                <a:gd name="T36" fmla="*/ 81 w 433"/>
                <a:gd name="T37" fmla="*/ 731 h 766"/>
                <a:gd name="T38" fmla="*/ 54 w 433"/>
                <a:gd name="T39" fmla="*/ 730 h 766"/>
                <a:gd name="T40" fmla="*/ 27 w 433"/>
                <a:gd name="T41" fmla="*/ 731 h 766"/>
                <a:gd name="T42" fmla="*/ 0 w 433"/>
                <a:gd name="T43" fmla="*/ 734 h 76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33"/>
                <a:gd name="T67" fmla="*/ 0 h 766"/>
                <a:gd name="T68" fmla="*/ 433 w 433"/>
                <a:gd name="T69" fmla="*/ 766 h 76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33" h="766">
                  <a:moveTo>
                    <a:pt x="0" y="734"/>
                  </a:moveTo>
                  <a:lnTo>
                    <a:pt x="94" y="465"/>
                  </a:lnTo>
                  <a:lnTo>
                    <a:pt x="95" y="0"/>
                  </a:lnTo>
                  <a:lnTo>
                    <a:pt x="339" y="0"/>
                  </a:lnTo>
                  <a:lnTo>
                    <a:pt x="339" y="492"/>
                  </a:lnTo>
                  <a:lnTo>
                    <a:pt x="433" y="756"/>
                  </a:lnTo>
                  <a:lnTo>
                    <a:pt x="405" y="762"/>
                  </a:lnTo>
                  <a:lnTo>
                    <a:pt x="377" y="765"/>
                  </a:lnTo>
                  <a:lnTo>
                    <a:pt x="350" y="766"/>
                  </a:lnTo>
                  <a:lnTo>
                    <a:pt x="323" y="766"/>
                  </a:lnTo>
                  <a:lnTo>
                    <a:pt x="296" y="763"/>
                  </a:lnTo>
                  <a:lnTo>
                    <a:pt x="270" y="760"/>
                  </a:lnTo>
                  <a:lnTo>
                    <a:pt x="243" y="756"/>
                  </a:lnTo>
                  <a:lnTo>
                    <a:pt x="216" y="751"/>
                  </a:lnTo>
                  <a:lnTo>
                    <a:pt x="189" y="746"/>
                  </a:lnTo>
                  <a:lnTo>
                    <a:pt x="163" y="742"/>
                  </a:lnTo>
                  <a:lnTo>
                    <a:pt x="136" y="737"/>
                  </a:lnTo>
                  <a:lnTo>
                    <a:pt x="109" y="734"/>
                  </a:lnTo>
                  <a:lnTo>
                    <a:pt x="81" y="731"/>
                  </a:lnTo>
                  <a:lnTo>
                    <a:pt x="54" y="730"/>
                  </a:lnTo>
                  <a:lnTo>
                    <a:pt x="27" y="731"/>
                  </a:lnTo>
                  <a:lnTo>
                    <a:pt x="0" y="734"/>
                  </a:lnTo>
                  <a:close/>
                </a:path>
              </a:pathLst>
            </a:custGeom>
            <a:solidFill>
              <a:srgbClr val="BFFFFF"/>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103" name="Freeform 109"/>
            <p:cNvSpPr>
              <a:spLocks/>
            </p:cNvSpPr>
            <p:nvPr/>
          </p:nvSpPr>
          <p:spPr bwMode="auto">
            <a:xfrm>
              <a:off x="3977" y="3302"/>
              <a:ext cx="445" cy="99"/>
            </a:xfrm>
            <a:custGeom>
              <a:avLst/>
              <a:gdLst>
                <a:gd name="T0" fmla="*/ 198 w 445"/>
                <a:gd name="T1" fmla="*/ 99 h 99"/>
                <a:gd name="T2" fmla="*/ 155 w 445"/>
                <a:gd name="T3" fmla="*/ 97 h 99"/>
                <a:gd name="T4" fmla="*/ 116 w 445"/>
                <a:gd name="T5" fmla="*/ 93 h 99"/>
                <a:gd name="T6" fmla="*/ 80 w 445"/>
                <a:gd name="T7" fmla="*/ 87 h 99"/>
                <a:gd name="T8" fmla="*/ 50 w 445"/>
                <a:gd name="T9" fmla="*/ 81 h 99"/>
                <a:gd name="T10" fmla="*/ 27 w 445"/>
                <a:gd name="T11" fmla="*/ 72 h 99"/>
                <a:gd name="T12" fmla="*/ 10 w 445"/>
                <a:gd name="T13" fmla="*/ 64 h 99"/>
                <a:gd name="T14" fmla="*/ 1 w 445"/>
                <a:gd name="T15" fmla="*/ 54 h 99"/>
                <a:gd name="T16" fmla="*/ 1 w 445"/>
                <a:gd name="T17" fmla="*/ 44 h 99"/>
                <a:gd name="T18" fmla="*/ 10 w 445"/>
                <a:gd name="T19" fmla="*/ 34 h 99"/>
                <a:gd name="T20" fmla="*/ 27 w 445"/>
                <a:gd name="T21" fmla="*/ 25 h 99"/>
                <a:gd name="T22" fmla="*/ 50 w 445"/>
                <a:gd name="T23" fmla="*/ 18 h 99"/>
                <a:gd name="T24" fmla="*/ 80 w 445"/>
                <a:gd name="T25" fmla="*/ 11 h 99"/>
                <a:gd name="T26" fmla="*/ 116 w 445"/>
                <a:gd name="T27" fmla="*/ 6 h 99"/>
                <a:gd name="T28" fmla="*/ 155 w 445"/>
                <a:gd name="T29" fmla="*/ 2 h 99"/>
                <a:gd name="T30" fmla="*/ 198 w 445"/>
                <a:gd name="T31" fmla="*/ 0 h 99"/>
                <a:gd name="T32" fmla="*/ 245 w 445"/>
                <a:gd name="T33" fmla="*/ 0 h 99"/>
                <a:gd name="T34" fmla="*/ 288 w 445"/>
                <a:gd name="T35" fmla="*/ 2 h 99"/>
                <a:gd name="T36" fmla="*/ 327 w 445"/>
                <a:gd name="T37" fmla="*/ 6 h 99"/>
                <a:gd name="T38" fmla="*/ 363 w 445"/>
                <a:gd name="T39" fmla="*/ 11 h 99"/>
                <a:gd name="T40" fmla="*/ 394 w 445"/>
                <a:gd name="T41" fmla="*/ 18 h 99"/>
                <a:gd name="T42" fmla="*/ 417 w 445"/>
                <a:gd name="T43" fmla="*/ 25 h 99"/>
                <a:gd name="T44" fmla="*/ 435 w 445"/>
                <a:gd name="T45" fmla="*/ 34 h 99"/>
                <a:gd name="T46" fmla="*/ 443 w 445"/>
                <a:gd name="T47" fmla="*/ 44 h 99"/>
                <a:gd name="T48" fmla="*/ 443 w 445"/>
                <a:gd name="T49" fmla="*/ 54 h 99"/>
                <a:gd name="T50" fmla="*/ 435 w 445"/>
                <a:gd name="T51" fmla="*/ 64 h 99"/>
                <a:gd name="T52" fmla="*/ 417 w 445"/>
                <a:gd name="T53" fmla="*/ 72 h 99"/>
                <a:gd name="T54" fmla="*/ 394 w 445"/>
                <a:gd name="T55" fmla="*/ 81 h 99"/>
                <a:gd name="T56" fmla="*/ 363 w 445"/>
                <a:gd name="T57" fmla="*/ 87 h 99"/>
                <a:gd name="T58" fmla="*/ 327 w 445"/>
                <a:gd name="T59" fmla="*/ 93 h 99"/>
                <a:gd name="T60" fmla="*/ 288 w 445"/>
                <a:gd name="T61" fmla="*/ 97 h 99"/>
                <a:gd name="T62" fmla="*/ 245 w 445"/>
                <a:gd name="T63" fmla="*/ 99 h 9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45"/>
                <a:gd name="T97" fmla="*/ 0 h 99"/>
                <a:gd name="T98" fmla="*/ 445 w 445"/>
                <a:gd name="T99" fmla="*/ 99 h 9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45" h="99">
                  <a:moveTo>
                    <a:pt x="222" y="99"/>
                  </a:moveTo>
                  <a:lnTo>
                    <a:pt x="198" y="99"/>
                  </a:lnTo>
                  <a:lnTo>
                    <a:pt x="177" y="98"/>
                  </a:lnTo>
                  <a:lnTo>
                    <a:pt x="155" y="97"/>
                  </a:lnTo>
                  <a:lnTo>
                    <a:pt x="135" y="96"/>
                  </a:lnTo>
                  <a:lnTo>
                    <a:pt x="116" y="93"/>
                  </a:lnTo>
                  <a:lnTo>
                    <a:pt x="97" y="91"/>
                  </a:lnTo>
                  <a:lnTo>
                    <a:pt x="80" y="87"/>
                  </a:lnTo>
                  <a:lnTo>
                    <a:pt x="65" y="84"/>
                  </a:lnTo>
                  <a:lnTo>
                    <a:pt x="50" y="81"/>
                  </a:lnTo>
                  <a:lnTo>
                    <a:pt x="38" y="77"/>
                  </a:lnTo>
                  <a:lnTo>
                    <a:pt x="27" y="72"/>
                  </a:lnTo>
                  <a:lnTo>
                    <a:pt x="17" y="68"/>
                  </a:lnTo>
                  <a:lnTo>
                    <a:pt x="10" y="64"/>
                  </a:lnTo>
                  <a:lnTo>
                    <a:pt x="5" y="59"/>
                  </a:lnTo>
                  <a:lnTo>
                    <a:pt x="1" y="54"/>
                  </a:lnTo>
                  <a:lnTo>
                    <a:pt x="0" y="49"/>
                  </a:lnTo>
                  <a:lnTo>
                    <a:pt x="1" y="44"/>
                  </a:lnTo>
                  <a:lnTo>
                    <a:pt x="5" y="39"/>
                  </a:lnTo>
                  <a:lnTo>
                    <a:pt x="10" y="34"/>
                  </a:lnTo>
                  <a:lnTo>
                    <a:pt x="17" y="29"/>
                  </a:lnTo>
                  <a:lnTo>
                    <a:pt x="27" y="25"/>
                  </a:lnTo>
                  <a:lnTo>
                    <a:pt x="38" y="22"/>
                  </a:lnTo>
                  <a:lnTo>
                    <a:pt x="50" y="18"/>
                  </a:lnTo>
                  <a:lnTo>
                    <a:pt x="65" y="14"/>
                  </a:lnTo>
                  <a:lnTo>
                    <a:pt x="80" y="11"/>
                  </a:lnTo>
                  <a:lnTo>
                    <a:pt x="97" y="8"/>
                  </a:lnTo>
                  <a:lnTo>
                    <a:pt x="116" y="6"/>
                  </a:lnTo>
                  <a:lnTo>
                    <a:pt x="135" y="3"/>
                  </a:lnTo>
                  <a:lnTo>
                    <a:pt x="155" y="2"/>
                  </a:lnTo>
                  <a:lnTo>
                    <a:pt x="177" y="1"/>
                  </a:lnTo>
                  <a:lnTo>
                    <a:pt x="198" y="0"/>
                  </a:lnTo>
                  <a:lnTo>
                    <a:pt x="222" y="0"/>
                  </a:lnTo>
                  <a:lnTo>
                    <a:pt x="245" y="0"/>
                  </a:lnTo>
                  <a:lnTo>
                    <a:pt x="266" y="1"/>
                  </a:lnTo>
                  <a:lnTo>
                    <a:pt x="288" y="2"/>
                  </a:lnTo>
                  <a:lnTo>
                    <a:pt x="308" y="3"/>
                  </a:lnTo>
                  <a:lnTo>
                    <a:pt x="327" y="6"/>
                  </a:lnTo>
                  <a:lnTo>
                    <a:pt x="346" y="8"/>
                  </a:lnTo>
                  <a:lnTo>
                    <a:pt x="363" y="11"/>
                  </a:lnTo>
                  <a:lnTo>
                    <a:pt x="379" y="14"/>
                  </a:lnTo>
                  <a:lnTo>
                    <a:pt x="394" y="18"/>
                  </a:lnTo>
                  <a:lnTo>
                    <a:pt x="406" y="22"/>
                  </a:lnTo>
                  <a:lnTo>
                    <a:pt x="417" y="25"/>
                  </a:lnTo>
                  <a:lnTo>
                    <a:pt x="427" y="29"/>
                  </a:lnTo>
                  <a:lnTo>
                    <a:pt x="435" y="34"/>
                  </a:lnTo>
                  <a:lnTo>
                    <a:pt x="440" y="39"/>
                  </a:lnTo>
                  <a:lnTo>
                    <a:pt x="443" y="44"/>
                  </a:lnTo>
                  <a:lnTo>
                    <a:pt x="445" y="49"/>
                  </a:lnTo>
                  <a:lnTo>
                    <a:pt x="443" y="54"/>
                  </a:lnTo>
                  <a:lnTo>
                    <a:pt x="440" y="59"/>
                  </a:lnTo>
                  <a:lnTo>
                    <a:pt x="435" y="64"/>
                  </a:lnTo>
                  <a:lnTo>
                    <a:pt x="427" y="68"/>
                  </a:lnTo>
                  <a:lnTo>
                    <a:pt x="417" y="72"/>
                  </a:lnTo>
                  <a:lnTo>
                    <a:pt x="406" y="77"/>
                  </a:lnTo>
                  <a:lnTo>
                    <a:pt x="394" y="81"/>
                  </a:lnTo>
                  <a:lnTo>
                    <a:pt x="379" y="84"/>
                  </a:lnTo>
                  <a:lnTo>
                    <a:pt x="363" y="87"/>
                  </a:lnTo>
                  <a:lnTo>
                    <a:pt x="346" y="91"/>
                  </a:lnTo>
                  <a:lnTo>
                    <a:pt x="327" y="93"/>
                  </a:lnTo>
                  <a:lnTo>
                    <a:pt x="308" y="96"/>
                  </a:lnTo>
                  <a:lnTo>
                    <a:pt x="288" y="97"/>
                  </a:lnTo>
                  <a:lnTo>
                    <a:pt x="266" y="98"/>
                  </a:lnTo>
                  <a:lnTo>
                    <a:pt x="245" y="99"/>
                  </a:lnTo>
                  <a:lnTo>
                    <a:pt x="222" y="99"/>
                  </a:lnTo>
                  <a:close/>
                </a:path>
              </a:pathLst>
            </a:custGeom>
            <a:solidFill>
              <a:srgbClr val="FF7FBF"/>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104" name="Freeform 110"/>
            <p:cNvSpPr>
              <a:spLocks/>
            </p:cNvSpPr>
            <p:nvPr/>
          </p:nvSpPr>
          <p:spPr bwMode="auto">
            <a:xfrm>
              <a:off x="4185" y="3449"/>
              <a:ext cx="310" cy="331"/>
            </a:xfrm>
            <a:custGeom>
              <a:avLst/>
              <a:gdLst>
                <a:gd name="T0" fmla="*/ 78 w 310"/>
                <a:gd name="T1" fmla="*/ 11 h 331"/>
                <a:gd name="T2" fmla="*/ 108 w 310"/>
                <a:gd name="T3" fmla="*/ 9 h 331"/>
                <a:gd name="T4" fmla="*/ 139 w 310"/>
                <a:gd name="T5" fmla="*/ 6 h 331"/>
                <a:gd name="T6" fmla="*/ 165 w 310"/>
                <a:gd name="T7" fmla="*/ 3 h 331"/>
                <a:gd name="T8" fmla="*/ 192 w 310"/>
                <a:gd name="T9" fmla="*/ 0 h 331"/>
                <a:gd name="T10" fmla="*/ 204 w 310"/>
                <a:gd name="T11" fmla="*/ 14 h 331"/>
                <a:gd name="T12" fmla="*/ 193 w 310"/>
                <a:gd name="T13" fmla="*/ 40 h 331"/>
                <a:gd name="T14" fmla="*/ 203 w 310"/>
                <a:gd name="T15" fmla="*/ 66 h 331"/>
                <a:gd name="T16" fmla="*/ 228 w 310"/>
                <a:gd name="T17" fmla="*/ 78 h 331"/>
                <a:gd name="T18" fmla="*/ 250 w 310"/>
                <a:gd name="T19" fmla="*/ 96 h 331"/>
                <a:gd name="T20" fmla="*/ 275 w 310"/>
                <a:gd name="T21" fmla="*/ 127 h 331"/>
                <a:gd name="T22" fmla="*/ 299 w 310"/>
                <a:gd name="T23" fmla="*/ 163 h 331"/>
                <a:gd name="T24" fmla="*/ 310 w 310"/>
                <a:gd name="T25" fmla="*/ 183 h 331"/>
                <a:gd name="T26" fmla="*/ 305 w 310"/>
                <a:gd name="T27" fmla="*/ 184 h 331"/>
                <a:gd name="T28" fmla="*/ 291 w 310"/>
                <a:gd name="T29" fmla="*/ 189 h 331"/>
                <a:gd name="T30" fmla="*/ 285 w 310"/>
                <a:gd name="T31" fmla="*/ 191 h 331"/>
                <a:gd name="T32" fmla="*/ 281 w 310"/>
                <a:gd name="T33" fmla="*/ 206 h 331"/>
                <a:gd name="T34" fmla="*/ 266 w 310"/>
                <a:gd name="T35" fmla="*/ 238 h 331"/>
                <a:gd name="T36" fmla="*/ 246 w 310"/>
                <a:gd name="T37" fmla="*/ 271 h 331"/>
                <a:gd name="T38" fmla="*/ 224 w 310"/>
                <a:gd name="T39" fmla="*/ 301 h 331"/>
                <a:gd name="T40" fmla="*/ 213 w 310"/>
                <a:gd name="T41" fmla="*/ 313 h 331"/>
                <a:gd name="T42" fmla="*/ 203 w 310"/>
                <a:gd name="T43" fmla="*/ 314 h 331"/>
                <a:gd name="T44" fmla="*/ 177 w 310"/>
                <a:gd name="T45" fmla="*/ 319 h 331"/>
                <a:gd name="T46" fmla="*/ 150 w 310"/>
                <a:gd name="T47" fmla="*/ 323 h 331"/>
                <a:gd name="T48" fmla="*/ 123 w 310"/>
                <a:gd name="T49" fmla="*/ 325 h 331"/>
                <a:gd name="T50" fmla="*/ 106 w 310"/>
                <a:gd name="T51" fmla="*/ 328 h 331"/>
                <a:gd name="T52" fmla="*/ 79 w 310"/>
                <a:gd name="T53" fmla="*/ 330 h 331"/>
                <a:gd name="T54" fmla="*/ 38 w 310"/>
                <a:gd name="T55" fmla="*/ 330 h 331"/>
                <a:gd name="T56" fmla="*/ 10 w 310"/>
                <a:gd name="T57" fmla="*/ 324 h 331"/>
                <a:gd name="T58" fmla="*/ 0 w 310"/>
                <a:gd name="T59" fmla="*/ 314 h 331"/>
                <a:gd name="T60" fmla="*/ 9 w 310"/>
                <a:gd name="T61" fmla="*/ 299 h 331"/>
                <a:gd name="T62" fmla="*/ 26 w 310"/>
                <a:gd name="T63" fmla="*/ 282 h 331"/>
                <a:gd name="T64" fmla="*/ 47 w 310"/>
                <a:gd name="T65" fmla="*/ 265 h 331"/>
                <a:gd name="T66" fmla="*/ 70 w 310"/>
                <a:gd name="T67" fmla="*/ 249 h 331"/>
                <a:gd name="T68" fmla="*/ 99 w 310"/>
                <a:gd name="T69" fmla="*/ 229 h 331"/>
                <a:gd name="T70" fmla="*/ 105 w 310"/>
                <a:gd name="T71" fmla="*/ 191 h 331"/>
                <a:gd name="T72" fmla="*/ 80 w 310"/>
                <a:gd name="T73" fmla="*/ 152 h 331"/>
                <a:gd name="T74" fmla="*/ 74 w 310"/>
                <a:gd name="T75" fmla="*/ 109 h 331"/>
                <a:gd name="T76" fmla="*/ 85 w 310"/>
                <a:gd name="T77" fmla="*/ 84 h 331"/>
                <a:gd name="T78" fmla="*/ 87 w 310"/>
                <a:gd name="T79" fmla="*/ 68 h 331"/>
                <a:gd name="T80" fmla="*/ 79 w 310"/>
                <a:gd name="T81" fmla="*/ 53 h 331"/>
                <a:gd name="T82" fmla="*/ 64 w 310"/>
                <a:gd name="T83" fmla="*/ 40 h 331"/>
                <a:gd name="T84" fmla="*/ 43 w 310"/>
                <a:gd name="T85" fmla="*/ 31 h 331"/>
                <a:gd name="T86" fmla="*/ 34 w 310"/>
                <a:gd name="T87" fmla="*/ 22 h 331"/>
                <a:gd name="T88" fmla="*/ 37 w 310"/>
                <a:gd name="T89" fmla="*/ 16 h 331"/>
                <a:gd name="T90" fmla="*/ 52 w 310"/>
                <a:gd name="T91" fmla="*/ 13 h 331"/>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10"/>
                <a:gd name="T139" fmla="*/ 0 h 331"/>
                <a:gd name="T140" fmla="*/ 310 w 310"/>
                <a:gd name="T141" fmla="*/ 331 h 331"/>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10" h="331">
                  <a:moveTo>
                    <a:pt x="64" y="11"/>
                  </a:moveTo>
                  <a:lnTo>
                    <a:pt x="78" y="11"/>
                  </a:lnTo>
                  <a:lnTo>
                    <a:pt x="94" y="10"/>
                  </a:lnTo>
                  <a:lnTo>
                    <a:pt x="108" y="9"/>
                  </a:lnTo>
                  <a:lnTo>
                    <a:pt x="124" y="8"/>
                  </a:lnTo>
                  <a:lnTo>
                    <a:pt x="139" y="6"/>
                  </a:lnTo>
                  <a:lnTo>
                    <a:pt x="153" y="5"/>
                  </a:lnTo>
                  <a:lnTo>
                    <a:pt x="165" y="3"/>
                  </a:lnTo>
                  <a:lnTo>
                    <a:pt x="176" y="2"/>
                  </a:lnTo>
                  <a:lnTo>
                    <a:pt x="192" y="0"/>
                  </a:lnTo>
                  <a:lnTo>
                    <a:pt x="202" y="5"/>
                  </a:lnTo>
                  <a:lnTo>
                    <a:pt x="204" y="14"/>
                  </a:lnTo>
                  <a:lnTo>
                    <a:pt x="198" y="26"/>
                  </a:lnTo>
                  <a:lnTo>
                    <a:pt x="193" y="40"/>
                  </a:lnTo>
                  <a:lnTo>
                    <a:pt x="195" y="53"/>
                  </a:lnTo>
                  <a:lnTo>
                    <a:pt x="203" y="66"/>
                  </a:lnTo>
                  <a:lnTo>
                    <a:pt x="218" y="73"/>
                  </a:lnTo>
                  <a:lnTo>
                    <a:pt x="228" y="78"/>
                  </a:lnTo>
                  <a:lnTo>
                    <a:pt x="239" y="85"/>
                  </a:lnTo>
                  <a:lnTo>
                    <a:pt x="250" y="96"/>
                  </a:lnTo>
                  <a:lnTo>
                    <a:pt x="262" y="111"/>
                  </a:lnTo>
                  <a:lnTo>
                    <a:pt x="275" y="127"/>
                  </a:lnTo>
                  <a:lnTo>
                    <a:pt x="287" y="144"/>
                  </a:lnTo>
                  <a:lnTo>
                    <a:pt x="299" y="163"/>
                  </a:lnTo>
                  <a:lnTo>
                    <a:pt x="310" y="183"/>
                  </a:lnTo>
                  <a:lnTo>
                    <a:pt x="309" y="183"/>
                  </a:lnTo>
                  <a:lnTo>
                    <a:pt x="305" y="184"/>
                  </a:lnTo>
                  <a:lnTo>
                    <a:pt x="298" y="186"/>
                  </a:lnTo>
                  <a:lnTo>
                    <a:pt x="291" y="189"/>
                  </a:lnTo>
                  <a:lnTo>
                    <a:pt x="286" y="190"/>
                  </a:lnTo>
                  <a:lnTo>
                    <a:pt x="285" y="191"/>
                  </a:lnTo>
                  <a:lnTo>
                    <a:pt x="281" y="206"/>
                  </a:lnTo>
                  <a:lnTo>
                    <a:pt x="275" y="222"/>
                  </a:lnTo>
                  <a:lnTo>
                    <a:pt x="266" y="238"/>
                  </a:lnTo>
                  <a:lnTo>
                    <a:pt x="257" y="254"/>
                  </a:lnTo>
                  <a:lnTo>
                    <a:pt x="246" y="271"/>
                  </a:lnTo>
                  <a:lnTo>
                    <a:pt x="237" y="286"/>
                  </a:lnTo>
                  <a:lnTo>
                    <a:pt x="224" y="301"/>
                  </a:lnTo>
                  <a:lnTo>
                    <a:pt x="213" y="313"/>
                  </a:lnTo>
                  <a:lnTo>
                    <a:pt x="211" y="313"/>
                  </a:lnTo>
                  <a:lnTo>
                    <a:pt x="203" y="314"/>
                  </a:lnTo>
                  <a:lnTo>
                    <a:pt x="188" y="317"/>
                  </a:lnTo>
                  <a:lnTo>
                    <a:pt x="177" y="319"/>
                  </a:lnTo>
                  <a:lnTo>
                    <a:pt x="164" y="320"/>
                  </a:lnTo>
                  <a:lnTo>
                    <a:pt x="150" y="323"/>
                  </a:lnTo>
                  <a:lnTo>
                    <a:pt x="137" y="324"/>
                  </a:lnTo>
                  <a:lnTo>
                    <a:pt x="123" y="325"/>
                  </a:lnTo>
                  <a:lnTo>
                    <a:pt x="113" y="327"/>
                  </a:lnTo>
                  <a:lnTo>
                    <a:pt x="106" y="328"/>
                  </a:lnTo>
                  <a:lnTo>
                    <a:pt x="103" y="328"/>
                  </a:lnTo>
                  <a:lnTo>
                    <a:pt x="79" y="330"/>
                  </a:lnTo>
                  <a:lnTo>
                    <a:pt x="57" y="331"/>
                  </a:lnTo>
                  <a:lnTo>
                    <a:pt x="38" y="330"/>
                  </a:lnTo>
                  <a:lnTo>
                    <a:pt x="22" y="328"/>
                  </a:lnTo>
                  <a:lnTo>
                    <a:pt x="10" y="324"/>
                  </a:lnTo>
                  <a:lnTo>
                    <a:pt x="2" y="319"/>
                  </a:lnTo>
                  <a:lnTo>
                    <a:pt x="0" y="314"/>
                  </a:lnTo>
                  <a:lnTo>
                    <a:pt x="2" y="307"/>
                  </a:lnTo>
                  <a:lnTo>
                    <a:pt x="9" y="299"/>
                  </a:lnTo>
                  <a:lnTo>
                    <a:pt x="17" y="291"/>
                  </a:lnTo>
                  <a:lnTo>
                    <a:pt x="26" y="282"/>
                  </a:lnTo>
                  <a:lnTo>
                    <a:pt x="37" y="274"/>
                  </a:lnTo>
                  <a:lnTo>
                    <a:pt x="47" y="265"/>
                  </a:lnTo>
                  <a:lnTo>
                    <a:pt x="59" y="256"/>
                  </a:lnTo>
                  <a:lnTo>
                    <a:pt x="70" y="249"/>
                  </a:lnTo>
                  <a:lnTo>
                    <a:pt x="81" y="243"/>
                  </a:lnTo>
                  <a:lnTo>
                    <a:pt x="99" y="229"/>
                  </a:lnTo>
                  <a:lnTo>
                    <a:pt x="106" y="211"/>
                  </a:lnTo>
                  <a:lnTo>
                    <a:pt x="105" y="191"/>
                  </a:lnTo>
                  <a:lnTo>
                    <a:pt x="94" y="171"/>
                  </a:lnTo>
                  <a:lnTo>
                    <a:pt x="80" y="152"/>
                  </a:lnTo>
                  <a:lnTo>
                    <a:pt x="73" y="130"/>
                  </a:lnTo>
                  <a:lnTo>
                    <a:pt x="74" y="109"/>
                  </a:lnTo>
                  <a:lnTo>
                    <a:pt x="81" y="91"/>
                  </a:lnTo>
                  <a:lnTo>
                    <a:pt x="85" y="84"/>
                  </a:lnTo>
                  <a:lnTo>
                    <a:pt x="87" y="75"/>
                  </a:lnTo>
                  <a:lnTo>
                    <a:pt x="87" y="68"/>
                  </a:lnTo>
                  <a:lnTo>
                    <a:pt x="84" y="61"/>
                  </a:lnTo>
                  <a:lnTo>
                    <a:pt x="79" y="53"/>
                  </a:lnTo>
                  <a:lnTo>
                    <a:pt x="73" y="46"/>
                  </a:lnTo>
                  <a:lnTo>
                    <a:pt x="64" y="40"/>
                  </a:lnTo>
                  <a:lnTo>
                    <a:pt x="53" y="35"/>
                  </a:lnTo>
                  <a:lnTo>
                    <a:pt x="43" y="31"/>
                  </a:lnTo>
                  <a:lnTo>
                    <a:pt x="37" y="26"/>
                  </a:lnTo>
                  <a:lnTo>
                    <a:pt x="34" y="22"/>
                  </a:lnTo>
                  <a:lnTo>
                    <a:pt x="34" y="19"/>
                  </a:lnTo>
                  <a:lnTo>
                    <a:pt x="37" y="16"/>
                  </a:lnTo>
                  <a:lnTo>
                    <a:pt x="43" y="14"/>
                  </a:lnTo>
                  <a:lnTo>
                    <a:pt x="52" y="13"/>
                  </a:lnTo>
                  <a:lnTo>
                    <a:pt x="64" y="11"/>
                  </a:lnTo>
                  <a:close/>
                </a:path>
              </a:pathLst>
            </a:custGeom>
            <a:solidFill>
              <a:srgbClr val="AA002B"/>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105" name="Freeform 111"/>
            <p:cNvSpPr>
              <a:spLocks/>
            </p:cNvSpPr>
            <p:nvPr/>
          </p:nvSpPr>
          <p:spPr bwMode="auto">
            <a:xfrm>
              <a:off x="3979" y="3324"/>
              <a:ext cx="451" cy="82"/>
            </a:xfrm>
            <a:custGeom>
              <a:avLst/>
              <a:gdLst>
                <a:gd name="T0" fmla="*/ 66 w 451"/>
                <a:gd name="T1" fmla="*/ 5 h 82"/>
                <a:gd name="T2" fmla="*/ 51 w 451"/>
                <a:gd name="T3" fmla="*/ 16 h 82"/>
                <a:gd name="T4" fmla="*/ 53 w 451"/>
                <a:gd name="T5" fmla="*/ 28 h 82"/>
                <a:gd name="T6" fmla="*/ 80 w 451"/>
                <a:gd name="T7" fmla="*/ 42 h 82"/>
                <a:gd name="T8" fmla="*/ 130 w 451"/>
                <a:gd name="T9" fmla="*/ 53 h 82"/>
                <a:gd name="T10" fmla="*/ 195 w 451"/>
                <a:gd name="T11" fmla="*/ 58 h 82"/>
                <a:gd name="T12" fmla="*/ 269 w 451"/>
                <a:gd name="T13" fmla="*/ 58 h 82"/>
                <a:gd name="T14" fmla="*/ 335 w 451"/>
                <a:gd name="T15" fmla="*/ 53 h 82"/>
                <a:gd name="T16" fmla="*/ 385 w 451"/>
                <a:gd name="T17" fmla="*/ 42 h 82"/>
                <a:gd name="T18" fmla="*/ 412 w 451"/>
                <a:gd name="T19" fmla="*/ 28 h 82"/>
                <a:gd name="T20" fmla="*/ 414 w 451"/>
                <a:gd name="T21" fmla="*/ 17 h 82"/>
                <a:gd name="T22" fmla="*/ 409 w 451"/>
                <a:gd name="T23" fmla="*/ 10 h 82"/>
                <a:gd name="T24" fmla="*/ 414 w 451"/>
                <a:gd name="T25" fmla="*/ 10 h 82"/>
                <a:gd name="T26" fmla="*/ 431 w 451"/>
                <a:gd name="T27" fmla="*/ 17 h 82"/>
                <a:gd name="T28" fmla="*/ 444 w 451"/>
                <a:gd name="T29" fmla="*/ 23 h 82"/>
                <a:gd name="T30" fmla="*/ 450 w 451"/>
                <a:gd name="T31" fmla="*/ 32 h 82"/>
                <a:gd name="T32" fmla="*/ 450 w 451"/>
                <a:gd name="T33" fmla="*/ 40 h 82"/>
                <a:gd name="T34" fmla="*/ 441 w 451"/>
                <a:gd name="T35" fmla="*/ 49 h 82"/>
                <a:gd name="T36" fmla="*/ 424 w 451"/>
                <a:gd name="T37" fmla="*/ 58 h 82"/>
                <a:gd name="T38" fmla="*/ 399 w 451"/>
                <a:gd name="T39" fmla="*/ 65 h 82"/>
                <a:gd name="T40" fmla="*/ 369 w 451"/>
                <a:gd name="T41" fmla="*/ 71 h 82"/>
                <a:gd name="T42" fmla="*/ 333 w 451"/>
                <a:gd name="T43" fmla="*/ 76 h 82"/>
                <a:gd name="T44" fmla="*/ 292 w 451"/>
                <a:gd name="T45" fmla="*/ 80 h 82"/>
                <a:gd name="T46" fmla="*/ 248 w 451"/>
                <a:gd name="T47" fmla="*/ 82 h 82"/>
                <a:gd name="T48" fmla="*/ 201 w 451"/>
                <a:gd name="T49" fmla="*/ 82 h 82"/>
                <a:gd name="T50" fmla="*/ 158 w 451"/>
                <a:gd name="T51" fmla="*/ 80 h 82"/>
                <a:gd name="T52" fmla="*/ 117 w 451"/>
                <a:gd name="T53" fmla="*/ 76 h 82"/>
                <a:gd name="T54" fmla="*/ 82 w 451"/>
                <a:gd name="T55" fmla="*/ 71 h 82"/>
                <a:gd name="T56" fmla="*/ 51 w 451"/>
                <a:gd name="T57" fmla="*/ 65 h 82"/>
                <a:gd name="T58" fmla="*/ 27 w 451"/>
                <a:gd name="T59" fmla="*/ 58 h 82"/>
                <a:gd name="T60" fmla="*/ 10 w 451"/>
                <a:gd name="T61" fmla="*/ 49 h 82"/>
                <a:gd name="T62" fmla="*/ 1 w 451"/>
                <a:gd name="T63" fmla="*/ 40 h 82"/>
                <a:gd name="T64" fmla="*/ 1 w 451"/>
                <a:gd name="T65" fmla="*/ 30 h 82"/>
                <a:gd name="T66" fmla="*/ 13 w 451"/>
                <a:gd name="T67" fmla="*/ 19 h 82"/>
                <a:gd name="T68" fmla="*/ 32 w 451"/>
                <a:gd name="T69" fmla="*/ 11 h 82"/>
                <a:gd name="T70" fmla="*/ 61 w 451"/>
                <a:gd name="T71" fmla="*/ 3 h 8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51"/>
                <a:gd name="T109" fmla="*/ 0 h 82"/>
                <a:gd name="T110" fmla="*/ 451 w 451"/>
                <a:gd name="T111" fmla="*/ 82 h 8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51" h="82">
                  <a:moveTo>
                    <a:pt x="78" y="0"/>
                  </a:moveTo>
                  <a:lnTo>
                    <a:pt x="66" y="5"/>
                  </a:lnTo>
                  <a:lnTo>
                    <a:pt x="57" y="10"/>
                  </a:lnTo>
                  <a:lnTo>
                    <a:pt x="51" y="16"/>
                  </a:lnTo>
                  <a:lnTo>
                    <a:pt x="50" y="21"/>
                  </a:lnTo>
                  <a:lnTo>
                    <a:pt x="53" y="28"/>
                  </a:lnTo>
                  <a:lnTo>
                    <a:pt x="64" y="35"/>
                  </a:lnTo>
                  <a:lnTo>
                    <a:pt x="80" y="42"/>
                  </a:lnTo>
                  <a:lnTo>
                    <a:pt x="103" y="48"/>
                  </a:lnTo>
                  <a:lnTo>
                    <a:pt x="130" y="53"/>
                  </a:lnTo>
                  <a:lnTo>
                    <a:pt x="160" y="56"/>
                  </a:lnTo>
                  <a:lnTo>
                    <a:pt x="195" y="58"/>
                  </a:lnTo>
                  <a:lnTo>
                    <a:pt x="232" y="59"/>
                  </a:lnTo>
                  <a:lnTo>
                    <a:pt x="269" y="58"/>
                  </a:lnTo>
                  <a:lnTo>
                    <a:pt x="303" y="56"/>
                  </a:lnTo>
                  <a:lnTo>
                    <a:pt x="335" y="53"/>
                  </a:lnTo>
                  <a:lnTo>
                    <a:pt x="362" y="48"/>
                  </a:lnTo>
                  <a:lnTo>
                    <a:pt x="385" y="42"/>
                  </a:lnTo>
                  <a:lnTo>
                    <a:pt x="401" y="35"/>
                  </a:lnTo>
                  <a:lnTo>
                    <a:pt x="412" y="28"/>
                  </a:lnTo>
                  <a:lnTo>
                    <a:pt x="415" y="21"/>
                  </a:lnTo>
                  <a:lnTo>
                    <a:pt x="414" y="17"/>
                  </a:lnTo>
                  <a:lnTo>
                    <a:pt x="413" y="13"/>
                  </a:lnTo>
                  <a:lnTo>
                    <a:pt x="409" y="10"/>
                  </a:lnTo>
                  <a:lnTo>
                    <a:pt x="403" y="7"/>
                  </a:lnTo>
                  <a:lnTo>
                    <a:pt x="414" y="10"/>
                  </a:lnTo>
                  <a:lnTo>
                    <a:pt x="423" y="13"/>
                  </a:lnTo>
                  <a:lnTo>
                    <a:pt x="431" y="17"/>
                  </a:lnTo>
                  <a:lnTo>
                    <a:pt x="439" y="19"/>
                  </a:lnTo>
                  <a:lnTo>
                    <a:pt x="444" y="23"/>
                  </a:lnTo>
                  <a:lnTo>
                    <a:pt x="447" y="27"/>
                  </a:lnTo>
                  <a:lnTo>
                    <a:pt x="450" y="32"/>
                  </a:lnTo>
                  <a:lnTo>
                    <a:pt x="451" y="35"/>
                  </a:lnTo>
                  <a:lnTo>
                    <a:pt x="450" y="40"/>
                  </a:lnTo>
                  <a:lnTo>
                    <a:pt x="446" y="45"/>
                  </a:lnTo>
                  <a:lnTo>
                    <a:pt x="441" y="49"/>
                  </a:lnTo>
                  <a:lnTo>
                    <a:pt x="434" y="54"/>
                  </a:lnTo>
                  <a:lnTo>
                    <a:pt x="424" y="58"/>
                  </a:lnTo>
                  <a:lnTo>
                    <a:pt x="413" y="61"/>
                  </a:lnTo>
                  <a:lnTo>
                    <a:pt x="399" y="65"/>
                  </a:lnTo>
                  <a:lnTo>
                    <a:pt x="385" y="69"/>
                  </a:lnTo>
                  <a:lnTo>
                    <a:pt x="369" y="71"/>
                  </a:lnTo>
                  <a:lnTo>
                    <a:pt x="351" y="75"/>
                  </a:lnTo>
                  <a:lnTo>
                    <a:pt x="333" y="76"/>
                  </a:lnTo>
                  <a:lnTo>
                    <a:pt x="313" y="78"/>
                  </a:lnTo>
                  <a:lnTo>
                    <a:pt x="292" y="80"/>
                  </a:lnTo>
                  <a:lnTo>
                    <a:pt x="270" y="81"/>
                  </a:lnTo>
                  <a:lnTo>
                    <a:pt x="248" y="82"/>
                  </a:lnTo>
                  <a:lnTo>
                    <a:pt x="224" y="82"/>
                  </a:lnTo>
                  <a:lnTo>
                    <a:pt x="201" y="82"/>
                  </a:lnTo>
                  <a:lnTo>
                    <a:pt x="179" y="81"/>
                  </a:lnTo>
                  <a:lnTo>
                    <a:pt x="158" y="80"/>
                  </a:lnTo>
                  <a:lnTo>
                    <a:pt x="137" y="78"/>
                  </a:lnTo>
                  <a:lnTo>
                    <a:pt x="117" y="76"/>
                  </a:lnTo>
                  <a:lnTo>
                    <a:pt x="99" y="75"/>
                  </a:lnTo>
                  <a:lnTo>
                    <a:pt x="82" y="71"/>
                  </a:lnTo>
                  <a:lnTo>
                    <a:pt x="66" y="69"/>
                  </a:lnTo>
                  <a:lnTo>
                    <a:pt x="51" y="65"/>
                  </a:lnTo>
                  <a:lnTo>
                    <a:pt x="38" y="61"/>
                  </a:lnTo>
                  <a:lnTo>
                    <a:pt x="27" y="58"/>
                  </a:lnTo>
                  <a:lnTo>
                    <a:pt x="18" y="54"/>
                  </a:lnTo>
                  <a:lnTo>
                    <a:pt x="10" y="49"/>
                  </a:lnTo>
                  <a:lnTo>
                    <a:pt x="5" y="45"/>
                  </a:lnTo>
                  <a:lnTo>
                    <a:pt x="1" y="40"/>
                  </a:lnTo>
                  <a:lnTo>
                    <a:pt x="0" y="35"/>
                  </a:lnTo>
                  <a:lnTo>
                    <a:pt x="1" y="30"/>
                  </a:lnTo>
                  <a:lnTo>
                    <a:pt x="6" y="24"/>
                  </a:lnTo>
                  <a:lnTo>
                    <a:pt x="13" y="19"/>
                  </a:lnTo>
                  <a:lnTo>
                    <a:pt x="21" y="16"/>
                  </a:lnTo>
                  <a:lnTo>
                    <a:pt x="32" y="11"/>
                  </a:lnTo>
                  <a:lnTo>
                    <a:pt x="46" y="7"/>
                  </a:lnTo>
                  <a:lnTo>
                    <a:pt x="61" y="3"/>
                  </a:lnTo>
                  <a:lnTo>
                    <a:pt x="78" y="0"/>
                  </a:lnTo>
                  <a:close/>
                </a:path>
              </a:pathLst>
            </a:custGeom>
            <a:solidFill>
              <a:srgbClr val="000000"/>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106" name="Freeform 112"/>
            <p:cNvSpPr>
              <a:spLocks/>
            </p:cNvSpPr>
            <p:nvPr/>
          </p:nvSpPr>
          <p:spPr bwMode="auto">
            <a:xfrm>
              <a:off x="4100" y="2603"/>
              <a:ext cx="53" cy="445"/>
            </a:xfrm>
            <a:custGeom>
              <a:avLst/>
              <a:gdLst>
                <a:gd name="T0" fmla="*/ 26 w 53"/>
                <a:gd name="T1" fmla="*/ 445 h 445"/>
                <a:gd name="T2" fmla="*/ 16 w 53"/>
                <a:gd name="T3" fmla="*/ 442 h 445"/>
                <a:gd name="T4" fmla="*/ 7 w 53"/>
                <a:gd name="T5" fmla="*/ 436 h 445"/>
                <a:gd name="T6" fmla="*/ 2 w 53"/>
                <a:gd name="T7" fmla="*/ 428 h 445"/>
                <a:gd name="T8" fmla="*/ 0 w 53"/>
                <a:gd name="T9" fmla="*/ 418 h 445"/>
                <a:gd name="T10" fmla="*/ 0 w 53"/>
                <a:gd name="T11" fmla="*/ 9 h 445"/>
                <a:gd name="T12" fmla="*/ 1 w 53"/>
                <a:gd name="T13" fmla="*/ 2 h 445"/>
                <a:gd name="T14" fmla="*/ 7 w 53"/>
                <a:gd name="T15" fmla="*/ 0 h 445"/>
                <a:gd name="T16" fmla="*/ 15 w 53"/>
                <a:gd name="T17" fmla="*/ 2 h 445"/>
                <a:gd name="T18" fmla="*/ 25 w 53"/>
                <a:gd name="T19" fmla="*/ 3 h 445"/>
                <a:gd name="T20" fmla="*/ 33 w 53"/>
                <a:gd name="T21" fmla="*/ 3 h 445"/>
                <a:gd name="T22" fmla="*/ 43 w 53"/>
                <a:gd name="T23" fmla="*/ 8 h 445"/>
                <a:gd name="T24" fmla="*/ 49 w 53"/>
                <a:gd name="T25" fmla="*/ 20 h 445"/>
                <a:gd name="T26" fmla="*/ 52 w 53"/>
                <a:gd name="T27" fmla="*/ 35 h 445"/>
                <a:gd name="T28" fmla="*/ 53 w 53"/>
                <a:gd name="T29" fmla="*/ 48 h 445"/>
                <a:gd name="T30" fmla="*/ 53 w 53"/>
                <a:gd name="T31" fmla="*/ 418 h 445"/>
                <a:gd name="T32" fmla="*/ 50 w 53"/>
                <a:gd name="T33" fmla="*/ 428 h 445"/>
                <a:gd name="T34" fmla="*/ 46 w 53"/>
                <a:gd name="T35" fmla="*/ 436 h 445"/>
                <a:gd name="T36" fmla="*/ 37 w 53"/>
                <a:gd name="T37" fmla="*/ 442 h 445"/>
                <a:gd name="T38" fmla="*/ 26 w 53"/>
                <a:gd name="T39" fmla="*/ 445 h 445"/>
                <a:gd name="T40" fmla="*/ 26 w 53"/>
                <a:gd name="T41" fmla="*/ 445 h 44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3"/>
                <a:gd name="T64" fmla="*/ 0 h 445"/>
                <a:gd name="T65" fmla="*/ 53 w 53"/>
                <a:gd name="T66" fmla="*/ 445 h 44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3" h="445">
                  <a:moveTo>
                    <a:pt x="26" y="445"/>
                  </a:moveTo>
                  <a:lnTo>
                    <a:pt x="16" y="442"/>
                  </a:lnTo>
                  <a:lnTo>
                    <a:pt x="7" y="436"/>
                  </a:lnTo>
                  <a:lnTo>
                    <a:pt x="2" y="428"/>
                  </a:lnTo>
                  <a:lnTo>
                    <a:pt x="0" y="418"/>
                  </a:lnTo>
                  <a:lnTo>
                    <a:pt x="0" y="9"/>
                  </a:lnTo>
                  <a:lnTo>
                    <a:pt x="1" y="2"/>
                  </a:lnTo>
                  <a:lnTo>
                    <a:pt x="7" y="0"/>
                  </a:lnTo>
                  <a:lnTo>
                    <a:pt x="15" y="2"/>
                  </a:lnTo>
                  <a:lnTo>
                    <a:pt x="25" y="3"/>
                  </a:lnTo>
                  <a:lnTo>
                    <a:pt x="33" y="3"/>
                  </a:lnTo>
                  <a:lnTo>
                    <a:pt x="43" y="8"/>
                  </a:lnTo>
                  <a:lnTo>
                    <a:pt x="49" y="20"/>
                  </a:lnTo>
                  <a:lnTo>
                    <a:pt x="52" y="35"/>
                  </a:lnTo>
                  <a:lnTo>
                    <a:pt x="53" y="48"/>
                  </a:lnTo>
                  <a:lnTo>
                    <a:pt x="53" y="418"/>
                  </a:lnTo>
                  <a:lnTo>
                    <a:pt x="50" y="428"/>
                  </a:lnTo>
                  <a:lnTo>
                    <a:pt x="46" y="436"/>
                  </a:lnTo>
                  <a:lnTo>
                    <a:pt x="37" y="442"/>
                  </a:lnTo>
                  <a:lnTo>
                    <a:pt x="26" y="445"/>
                  </a:lnTo>
                  <a:close/>
                </a:path>
              </a:pathLst>
            </a:custGeom>
            <a:solidFill>
              <a:srgbClr val="FFFFFF"/>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107" name="Freeform 113"/>
            <p:cNvSpPr>
              <a:spLocks/>
            </p:cNvSpPr>
            <p:nvPr/>
          </p:nvSpPr>
          <p:spPr bwMode="auto">
            <a:xfrm>
              <a:off x="3908" y="2935"/>
              <a:ext cx="236" cy="810"/>
            </a:xfrm>
            <a:custGeom>
              <a:avLst/>
              <a:gdLst>
                <a:gd name="T0" fmla="*/ 10 w 236"/>
                <a:gd name="T1" fmla="*/ 810 h 810"/>
                <a:gd name="T2" fmla="*/ 1 w 236"/>
                <a:gd name="T3" fmla="*/ 796 h 810"/>
                <a:gd name="T4" fmla="*/ 0 w 236"/>
                <a:gd name="T5" fmla="*/ 770 h 810"/>
                <a:gd name="T6" fmla="*/ 1 w 236"/>
                <a:gd name="T7" fmla="*/ 742 h 810"/>
                <a:gd name="T8" fmla="*/ 5 w 236"/>
                <a:gd name="T9" fmla="*/ 724 h 810"/>
                <a:gd name="T10" fmla="*/ 187 w 236"/>
                <a:gd name="T11" fmla="*/ 168 h 810"/>
                <a:gd name="T12" fmla="*/ 192 w 236"/>
                <a:gd name="T13" fmla="*/ 128 h 810"/>
                <a:gd name="T14" fmla="*/ 201 w 236"/>
                <a:gd name="T15" fmla="*/ 85 h 810"/>
                <a:gd name="T16" fmla="*/ 210 w 236"/>
                <a:gd name="T17" fmla="*/ 45 h 810"/>
                <a:gd name="T18" fmla="*/ 220 w 236"/>
                <a:gd name="T19" fmla="*/ 14 h 810"/>
                <a:gd name="T20" fmla="*/ 229 w 236"/>
                <a:gd name="T21" fmla="*/ 0 h 810"/>
                <a:gd name="T22" fmla="*/ 234 w 236"/>
                <a:gd name="T23" fmla="*/ 7 h 810"/>
                <a:gd name="T24" fmla="*/ 236 w 236"/>
                <a:gd name="T25" fmla="*/ 41 h 810"/>
                <a:gd name="T26" fmla="*/ 231 w 236"/>
                <a:gd name="T27" fmla="*/ 110 h 810"/>
                <a:gd name="T28" fmla="*/ 225 w 236"/>
                <a:gd name="T29" fmla="*/ 151 h 810"/>
                <a:gd name="T30" fmla="*/ 213 w 236"/>
                <a:gd name="T31" fmla="*/ 186 h 810"/>
                <a:gd name="T32" fmla="*/ 191 w 236"/>
                <a:gd name="T33" fmla="*/ 252 h 810"/>
                <a:gd name="T34" fmla="*/ 161 w 236"/>
                <a:gd name="T35" fmla="*/ 341 h 810"/>
                <a:gd name="T36" fmla="*/ 129 w 236"/>
                <a:gd name="T37" fmla="*/ 440 h 810"/>
                <a:gd name="T38" fmla="*/ 97 w 236"/>
                <a:gd name="T39" fmla="*/ 538 h 810"/>
                <a:gd name="T40" fmla="*/ 70 w 236"/>
                <a:gd name="T41" fmla="*/ 621 h 810"/>
                <a:gd name="T42" fmla="*/ 50 w 236"/>
                <a:gd name="T43" fmla="*/ 680 h 810"/>
                <a:gd name="T44" fmla="*/ 43 w 236"/>
                <a:gd name="T45" fmla="*/ 703 h 810"/>
                <a:gd name="T46" fmla="*/ 10 w 236"/>
                <a:gd name="T47" fmla="*/ 810 h 81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36"/>
                <a:gd name="T73" fmla="*/ 0 h 810"/>
                <a:gd name="T74" fmla="*/ 236 w 236"/>
                <a:gd name="T75" fmla="*/ 810 h 81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36" h="810">
                  <a:moveTo>
                    <a:pt x="10" y="810"/>
                  </a:moveTo>
                  <a:lnTo>
                    <a:pt x="1" y="796"/>
                  </a:lnTo>
                  <a:lnTo>
                    <a:pt x="0" y="770"/>
                  </a:lnTo>
                  <a:lnTo>
                    <a:pt x="1" y="742"/>
                  </a:lnTo>
                  <a:lnTo>
                    <a:pt x="5" y="724"/>
                  </a:lnTo>
                  <a:lnTo>
                    <a:pt x="187" y="168"/>
                  </a:lnTo>
                  <a:lnTo>
                    <a:pt x="192" y="128"/>
                  </a:lnTo>
                  <a:lnTo>
                    <a:pt x="201" y="85"/>
                  </a:lnTo>
                  <a:lnTo>
                    <a:pt x="210" y="45"/>
                  </a:lnTo>
                  <a:lnTo>
                    <a:pt x="220" y="14"/>
                  </a:lnTo>
                  <a:lnTo>
                    <a:pt x="229" y="0"/>
                  </a:lnTo>
                  <a:lnTo>
                    <a:pt x="234" y="7"/>
                  </a:lnTo>
                  <a:lnTo>
                    <a:pt x="236" y="41"/>
                  </a:lnTo>
                  <a:lnTo>
                    <a:pt x="231" y="110"/>
                  </a:lnTo>
                  <a:lnTo>
                    <a:pt x="225" y="151"/>
                  </a:lnTo>
                  <a:lnTo>
                    <a:pt x="213" y="186"/>
                  </a:lnTo>
                  <a:lnTo>
                    <a:pt x="191" y="252"/>
                  </a:lnTo>
                  <a:lnTo>
                    <a:pt x="161" y="341"/>
                  </a:lnTo>
                  <a:lnTo>
                    <a:pt x="129" y="440"/>
                  </a:lnTo>
                  <a:lnTo>
                    <a:pt x="97" y="538"/>
                  </a:lnTo>
                  <a:lnTo>
                    <a:pt x="70" y="621"/>
                  </a:lnTo>
                  <a:lnTo>
                    <a:pt x="50" y="680"/>
                  </a:lnTo>
                  <a:lnTo>
                    <a:pt x="43" y="703"/>
                  </a:lnTo>
                  <a:lnTo>
                    <a:pt x="10" y="810"/>
                  </a:lnTo>
                  <a:close/>
                </a:path>
              </a:pathLst>
            </a:custGeom>
            <a:solidFill>
              <a:srgbClr val="FFFFFF"/>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108" name="Freeform 114"/>
            <p:cNvSpPr>
              <a:spLocks/>
            </p:cNvSpPr>
            <p:nvPr/>
          </p:nvSpPr>
          <p:spPr bwMode="auto">
            <a:xfrm>
              <a:off x="4136" y="2596"/>
              <a:ext cx="35" cy="446"/>
            </a:xfrm>
            <a:custGeom>
              <a:avLst/>
              <a:gdLst>
                <a:gd name="T0" fmla="*/ 17 w 35"/>
                <a:gd name="T1" fmla="*/ 446 h 446"/>
                <a:gd name="T2" fmla="*/ 23 w 35"/>
                <a:gd name="T3" fmla="*/ 443 h 446"/>
                <a:gd name="T4" fmla="*/ 29 w 35"/>
                <a:gd name="T5" fmla="*/ 438 h 446"/>
                <a:gd name="T6" fmla="*/ 33 w 35"/>
                <a:gd name="T7" fmla="*/ 431 h 446"/>
                <a:gd name="T8" fmla="*/ 34 w 35"/>
                <a:gd name="T9" fmla="*/ 421 h 446"/>
                <a:gd name="T10" fmla="*/ 35 w 35"/>
                <a:gd name="T11" fmla="*/ 63 h 446"/>
                <a:gd name="T12" fmla="*/ 35 w 35"/>
                <a:gd name="T13" fmla="*/ 47 h 446"/>
                <a:gd name="T14" fmla="*/ 34 w 35"/>
                <a:gd name="T15" fmla="*/ 26 h 446"/>
                <a:gd name="T16" fmla="*/ 32 w 35"/>
                <a:gd name="T17" fmla="*/ 7 h 446"/>
                <a:gd name="T18" fmla="*/ 27 w 35"/>
                <a:gd name="T19" fmla="*/ 0 h 446"/>
                <a:gd name="T20" fmla="*/ 3 w 35"/>
                <a:gd name="T21" fmla="*/ 4 h 446"/>
                <a:gd name="T22" fmla="*/ 0 w 35"/>
                <a:gd name="T23" fmla="*/ 11 h 446"/>
                <a:gd name="T24" fmla="*/ 0 w 35"/>
                <a:gd name="T25" fmla="*/ 27 h 446"/>
                <a:gd name="T26" fmla="*/ 1 w 35"/>
                <a:gd name="T27" fmla="*/ 47 h 446"/>
                <a:gd name="T28" fmla="*/ 2 w 35"/>
                <a:gd name="T29" fmla="*/ 62 h 446"/>
                <a:gd name="T30" fmla="*/ 6 w 35"/>
                <a:gd name="T31" fmla="*/ 421 h 446"/>
                <a:gd name="T32" fmla="*/ 6 w 35"/>
                <a:gd name="T33" fmla="*/ 431 h 446"/>
                <a:gd name="T34" fmla="*/ 8 w 35"/>
                <a:gd name="T35" fmla="*/ 438 h 446"/>
                <a:gd name="T36" fmla="*/ 12 w 35"/>
                <a:gd name="T37" fmla="*/ 443 h 446"/>
                <a:gd name="T38" fmla="*/ 17 w 35"/>
                <a:gd name="T39" fmla="*/ 446 h 446"/>
                <a:gd name="T40" fmla="*/ 17 w 35"/>
                <a:gd name="T41" fmla="*/ 446 h 44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5"/>
                <a:gd name="T64" fmla="*/ 0 h 446"/>
                <a:gd name="T65" fmla="*/ 35 w 35"/>
                <a:gd name="T66" fmla="*/ 446 h 44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5" h="446">
                  <a:moveTo>
                    <a:pt x="17" y="446"/>
                  </a:moveTo>
                  <a:lnTo>
                    <a:pt x="23" y="443"/>
                  </a:lnTo>
                  <a:lnTo>
                    <a:pt x="29" y="438"/>
                  </a:lnTo>
                  <a:lnTo>
                    <a:pt x="33" y="431"/>
                  </a:lnTo>
                  <a:lnTo>
                    <a:pt x="34" y="421"/>
                  </a:lnTo>
                  <a:lnTo>
                    <a:pt x="35" y="63"/>
                  </a:lnTo>
                  <a:lnTo>
                    <a:pt x="35" y="47"/>
                  </a:lnTo>
                  <a:lnTo>
                    <a:pt x="34" y="26"/>
                  </a:lnTo>
                  <a:lnTo>
                    <a:pt x="32" y="7"/>
                  </a:lnTo>
                  <a:lnTo>
                    <a:pt x="27" y="0"/>
                  </a:lnTo>
                  <a:lnTo>
                    <a:pt x="3" y="4"/>
                  </a:lnTo>
                  <a:lnTo>
                    <a:pt x="0" y="11"/>
                  </a:lnTo>
                  <a:lnTo>
                    <a:pt x="0" y="27"/>
                  </a:lnTo>
                  <a:lnTo>
                    <a:pt x="1" y="47"/>
                  </a:lnTo>
                  <a:lnTo>
                    <a:pt x="2" y="62"/>
                  </a:lnTo>
                  <a:lnTo>
                    <a:pt x="6" y="421"/>
                  </a:lnTo>
                  <a:lnTo>
                    <a:pt x="6" y="431"/>
                  </a:lnTo>
                  <a:lnTo>
                    <a:pt x="8" y="438"/>
                  </a:lnTo>
                  <a:lnTo>
                    <a:pt x="12" y="443"/>
                  </a:lnTo>
                  <a:lnTo>
                    <a:pt x="17" y="446"/>
                  </a:lnTo>
                  <a:close/>
                </a:path>
              </a:pathLst>
            </a:custGeom>
            <a:solidFill>
              <a:srgbClr val="000000"/>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109" name="Freeform 115"/>
            <p:cNvSpPr>
              <a:spLocks/>
            </p:cNvSpPr>
            <p:nvPr/>
          </p:nvSpPr>
          <p:spPr bwMode="auto">
            <a:xfrm>
              <a:off x="4038" y="3017"/>
              <a:ext cx="131" cy="371"/>
            </a:xfrm>
            <a:custGeom>
              <a:avLst/>
              <a:gdLst>
                <a:gd name="T0" fmla="*/ 131 w 131"/>
                <a:gd name="T1" fmla="*/ 11 h 371"/>
                <a:gd name="T2" fmla="*/ 32 w 131"/>
                <a:gd name="T3" fmla="*/ 371 h 371"/>
                <a:gd name="T4" fmla="*/ 11 w 131"/>
                <a:gd name="T5" fmla="*/ 368 h 371"/>
                <a:gd name="T6" fmla="*/ 0 w 131"/>
                <a:gd name="T7" fmla="*/ 362 h 371"/>
                <a:gd name="T8" fmla="*/ 104 w 131"/>
                <a:gd name="T9" fmla="*/ 0 h 371"/>
                <a:gd name="T10" fmla="*/ 131 w 131"/>
                <a:gd name="T11" fmla="*/ 11 h 371"/>
                <a:gd name="T12" fmla="*/ 0 60000 65536"/>
                <a:gd name="T13" fmla="*/ 0 60000 65536"/>
                <a:gd name="T14" fmla="*/ 0 60000 65536"/>
                <a:gd name="T15" fmla="*/ 0 60000 65536"/>
                <a:gd name="T16" fmla="*/ 0 60000 65536"/>
                <a:gd name="T17" fmla="*/ 0 60000 65536"/>
                <a:gd name="T18" fmla="*/ 0 w 131"/>
                <a:gd name="T19" fmla="*/ 0 h 371"/>
                <a:gd name="T20" fmla="*/ 131 w 131"/>
                <a:gd name="T21" fmla="*/ 371 h 371"/>
              </a:gdLst>
              <a:ahLst/>
              <a:cxnLst>
                <a:cxn ang="T12">
                  <a:pos x="T0" y="T1"/>
                </a:cxn>
                <a:cxn ang="T13">
                  <a:pos x="T2" y="T3"/>
                </a:cxn>
                <a:cxn ang="T14">
                  <a:pos x="T4" y="T5"/>
                </a:cxn>
                <a:cxn ang="T15">
                  <a:pos x="T6" y="T7"/>
                </a:cxn>
                <a:cxn ang="T16">
                  <a:pos x="T8" y="T9"/>
                </a:cxn>
                <a:cxn ang="T17">
                  <a:pos x="T10" y="T11"/>
                </a:cxn>
              </a:cxnLst>
              <a:rect l="T18" t="T19" r="T20" b="T21"/>
              <a:pathLst>
                <a:path w="131" h="371">
                  <a:moveTo>
                    <a:pt x="131" y="11"/>
                  </a:moveTo>
                  <a:lnTo>
                    <a:pt x="32" y="371"/>
                  </a:lnTo>
                  <a:lnTo>
                    <a:pt x="11" y="368"/>
                  </a:lnTo>
                  <a:lnTo>
                    <a:pt x="0" y="362"/>
                  </a:lnTo>
                  <a:lnTo>
                    <a:pt x="104" y="0"/>
                  </a:lnTo>
                  <a:lnTo>
                    <a:pt x="131" y="11"/>
                  </a:lnTo>
                  <a:close/>
                </a:path>
              </a:pathLst>
            </a:custGeom>
            <a:solidFill>
              <a:srgbClr val="000000"/>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110" name="Freeform 116"/>
            <p:cNvSpPr>
              <a:spLocks/>
            </p:cNvSpPr>
            <p:nvPr/>
          </p:nvSpPr>
          <p:spPr bwMode="auto">
            <a:xfrm>
              <a:off x="4072" y="2582"/>
              <a:ext cx="281" cy="26"/>
            </a:xfrm>
            <a:custGeom>
              <a:avLst/>
              <a:gdLst>
                <a:gd name="T0" fmla="*/ 12 w 281"/>
                <a:gd name="T1" fmla="*/ 26 h 26"/>
                <a:gd name="T2" fmla="*/ 7 w 281"/>
                <a:gd name="T3" fmla="*/ 25 h 26"/>
                <a:gd name="T4" fmla="*/ 3 w 281"/>
                <a:gd name="T5" fmla="*/ 23 h 26"/>
                <a:gd name="T6" fmla="*/ 1 w 281"/>
                <a:gd name="T7" fmla="*/ 19 h 26"/>
                <a:gd name="T8" fmla="*/ 0 w 281"/>
                <a:gd name="T9" fmla="*/ 14 h 26"/>
                <a:gd name="T10" fmla="*/ 0 w 281"/>
                <a:gd name="T11" fmla="*/ 14 h 26"/>
                <a:gd name="T12" fmla="*/ 1 w 281"/>
                <a:gd name="T13" fmla="*/ 9 h 26"/>
                <a:gd name="T14" fmla="*/ 3 w 281"/>
                <a:gd name="T15" fmla="*/ 4 h 26"/>
                <a:gd name="T16" fmla="*/ 7 w 281"/>
                <a:gd name="T17" fmla="*/ 2 h 26"/>
                <a:gd name="T18" fmla="*/ 12 w 281"/>
                <a:gd name="T19" fmla="*/ 0 h 26"/>
                <a:gd name="T20" fmla="*/ 267 w 281"/>
                <a:gd name="T21" fmla="*/ 0 h 26"/>
                <a:gd name="T22" fmla="*/ 272 w 281"/>
                <a:gd name="T23" fmla="*/ 2 h 26"/>
                <a:gd name="T24" fmla="*/ 277 w 281"/>
                <a:gd name="T25" fmla="*/ 4 h 26"/>
                <a:gd name="T26" fmla="*/ 279 w 281"/>
                <a:gd name="T27" fmla="*/ 9 h 26"/>
                <a:gd name="T28" fmla="*/ 281 w 281"/>
                <a:gd name="T29" fmla="*/ 14 h 26"/>
                <a:gd name="T30" fmla="*/ 281 w 281"/>
                <a:gd name="T31" fmla="*/ 14 h 26"/>
                <a:gd name="T32" fmla="*/ 279 w 281"/>
                <a:gd name="T33" fmla="*/ 19 h 26"/>
                <a:gd name="T34" fmla="*/ 277 w 281"/>
                <a:gd name="T35" fmla="*/ 23 h 26"/>
                <a:gd name="T36" fmla="*/ 272 w 281"/>
                <a:gd name="T37" fmla="*/ 25 h 26"/>
                <a:gd name="T38" fmla="*/ 267 w 281"/>
                <a:gd name="T39" fmla="*/ 26 h 26"/>
                <a:gd name="T40" fmla="*/ 12 w 281"/>
                <a:gd name="T41" fmla="*/ 26 h 2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81"/>
                <a:gd name="T64" fmla="*/ 0 h 26"/>
                <a:gd name="T65" fmla="*/ 281 w 281"/>
                <a:gd name="T66" fmla="*/ 26 h 2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81" h="26">
                  <a:moveTo>
                    <a:pt x="12" y="26"/>
                  </a:moveTo>
                  <a:lnTo>
                    <a:pt x="7" y="25"/>
                  </a:lnTo>
                  <a:lnTo>
                    <a:pt x="3" y="23"/>
                  </a:lnTo>
                  <a:lnTo>
                    <a:pt x="1" y="19"/>
                  </a:lnTo>
                  <a:lnTo>
                    <a:pt x="0" y="14"/>
                  </a:lnTo>
                  <a:lnTo>
                    <a:pt x="1" y="9"/>
                  </a:lnTo>
                  <a:lnTo>
                    <a:pt x="3" y="4"/>
                  </a:lnTo>
                  <a:lnTo>
                    <a:pt x="7" y="2"/>
                  </a:lnTo>
                  <a:lnTo>
                    <a:pt x="12" y="0"/>
                  </a:lnTo>
                  <a:lnTo>
                    <a:pt x="267" y="0"/>
                  </a:lnTo>
                  <a:lnTo>
                    <a:pt x="272" y="2"/>
                  </a:lnTo>
                  <a:lnTo>
                    <a:pt x="277" y="4"/>
                  </a:lnTo>
                  <a:lnTo>
                    <a:pt x="279" y="9"/>
                  </a:lnTo>
                  <a:lnTo>
                    <a:pt x="281" y="14"/>
                  </a:lnTo>
                  <a:lnTo>
                    <a:pt x="279" y="19"/>
                  </a:lnTo>
                  <a:lnTo>
                    <a:pt x="277" y="23"/>
                  </a:lnTo>
                  <a:lnTo>
                    <a:pt x="272" y="25"/>
                  </a:lnTo>
                  <a:lnTo>
                    <a:pt x="267" y="26"/>
                  </a:lnTo>
                  <a:lnTo>
                    <a:pt x="12" y="26"/>
                  </a:lnTo>
                  <a:close/>
                </a:path>
              </a:pathLst>
            </a:custGeom>
            <a:solidFill>
              <a:srgbClr val="000000"/>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111" name="Freeform 117"/>
            <p:cNvSpPr>
              <a:spLocks/>
            </p:cNvSpPr>
            <p:nvPr/>
          </p:nvSpPr>
          <p:spPr bwMode="auto">
            <a:xfrm>
              <a:off x="3121" y="2368"/>
              <a:ext cx="1140" cy="850"/>
            </a:xfrm>
            <a:custGeom>
              <a:avLst/>
              <a:gdLst>
                <a:gd name="T0" fmla="*/ 581 w 1140"/>
                <a:gd name="T1" fmla="*/ 175 h 850"/>
                <a:gd name="T2" fmla="*/ 991 w 1140"/>
                <a:gd name="T3" fmla="*/ 389 h 850"/>
                <a:gd name="T4" fmla="*/ 1140 w 1140"/>
                <a:gd name="T5" fmla="*/ 675 h 850"/>
                <a:gd name="T6" fmla="*/ 1138 w 1140"/>
                <a:gd name="T7" fmla="*/ 698 h 850"/>
                <a:gd name="T8" fmla="*/ 1131 w 1140"/>
                <a:gd name="T9" fmla="*/ 729 h 850"/>
                <a:gd name="T10" fmla="*/ 1112 w 1140"/>
                <a:gd name="T11" fmla="*/ 746 h 850"/>
                <a:gd name="T12" fmla="*/ 1086 w 1140"/>
                <a:gd name="T13" fmla="*/ 741 h 850"/>
                <a:gd name="T14" fmla="*/ 1082 w 1140"/>
                <a:gd name="T15" fmla="*/ 748 h 850"/>
                <a:gd name="T16" fmla="*/ 1091 w 1140"/>
                <a:gd name="T17" fmla="*/ 765 h 850"/>
                <a:gd name="T18" fmla="*/ 1098 w 1140"/>
                <a:gd name="T19" fmla="*/ 786 h 850"/>
                <a:gd name="T20" fmla="*/ 1095 w 1140"/>
                <a:gd name="T21" fmla="*/ 803 h 850"/>
                <a:gd name="T22" fmla="*/ 1078 w 1140"/>
                <a:gd name="T23" fmla="*/ 821 h 850"/>
                <a:gd name="T24" fmla="*/ 1054 w 1140"/>
                <a:gd name="T25" fmla="*/ 840 h 850"/>
                <a:gd name="T26" fmla="*/ 1028 w 1140"/>
                <a:gd name="T27" fmla="*/ 850 h 850"/>
                <a:gd name="T28" fmla="*/ 1004 w 1140"/>
                <a:gd name="T29" fmla="*/ 845 h 850"/>
                <a:gd name="T30" fmla="*/ 964 w 1140"/>
                <a:gd name="T31" fmla="*/ 824 h 850"/>
                <a:gd name="T32" fmla="*/ 917 w 1140"/>
                <a:gd name="T33" fmla="*/ 792 h 850"/>
                <a:gd name="T34" fmla="*/ 876 w 1140"/>
                <a:gd name="T35" fmla="*/ 756 h 850"/>
                <a:gd name="T36" fmla="*/ 859 w 1140"/>
                <a:gd name="T37" fmla="*/ 740 h 850"/>
                <a:gd name="T38" fmla="*/ 859 w 1140"/>
                <a:gd name="T39" fmla="*/ 749 h 850"/>
                <a:gd name="T40" fmla="*/ 851 w 1140"/>
                <a:gd name="T41" fmla="*/ 762 h 850"/>
                <a:gd name="T42" fmla="*/ 823 w 1140"/>
                <a:gd name="T43" fmla="*/ 773 h 850"/>
                <a:gd name="T44" fmla="*/ 773 w 1140"/>
                <a:gd name="T45" fmla="*/ 780 h 850"/>
                <a:gd name="T46" fmla="*/ 742 w 1140"/>
                <a:gd name="T47" fmla="*/ 781 h 850"/>
                <a:gd name="T48" fmla="*/ 734 w 1140"/>
                <a:gd name="T49" fmla="*/ 780 h 850"/>
                <a:gd name="T50" fmla="*/ 734 w 1140"/>
                <a:gd name="T51" fmla="*/ 777 h 850"/>
                <a:gd name="T52" fmla="*/ 734 w 1140"/>
                <a:gd name="T53" fmla="*/ 780 h 850"/>
                <a:gd name="T54" fmla="*/ 723 w 1140"/>
                <a:gd name="T55" fmla="*/ 794 h 850"/>
                <a:gd name="T56" fmla="*/ 701 w 1140"/>
                <a:gd name="T57" fmla="*/ 813 h 850"/>
                <a:gd name="T58" fmla="*/ 670 w 1140"/>
                <a:gd name="T59" fmla="*/ 823 h 850"/>
                <a:gd name="T60" fmla="*/ 639 w 1140"/>
                <a:gd name="T61" fmla="*/ 817 h 850"/>
                <a:gd name="T62" fmla="*/ 607 w 1140"/>
                <a:gd name="T63" fmla="*/ 802 h 850"/>
                <a:gd name="T64" fmla="*/ 570 w 1140"/>
                <a:gd name="T65" fmla="*/ 781 h 850"/>
                <a:gd name="T66" fmla="*/ 528 w 1140"/>
                <a:gd name="T67" fmla="*/ 756 h 850"/>
                <a:gd name="T68" fmla="*/ 487 w 1140"/>
                <a:gd name="T69" fmla="*/ 730 h 850"/>
                <a:gd name="T70" fmla="*/ 452 w 1140"/>
                <a:gd name="T71" fmla="*/ 707 h 850"/>
                <a:gd name="T72" fmla="*/ 425 w 1140"/>
                <a:gd name="T73" fmla="*/ 689 h 850"/>
                <a:gd name="T74" fmla="*/ 409 w 1140"/>
                <a:gd name="T75" fmla="*/ 677 h 850"/>
                <a:gd name="T76" fmla="*/ 248 w 1140"/>
                <a:gd name="T77" fmla="*/ 586 h 850"/>
                <a:gd name="T78" fmla="*/ 64 w 1140"/>
                <a:gd name="T79" fmla="*/ 471 h 850"/>
                <a:gd name="T80" fmla="*/ 56 w 1140"/>
                <a:gd name="T81" fmla="*/ 461 h 850"/>
                <a:gd name="T82" fmla="*/ 39 w 1140"/>
                <a:gd name="T83" fmla="*/ 435 h 850"/>
                <a:gd name="T84" fmla="*/ 19 w 1140"/>
                <a:gd name="T85" fmla="*/ 398 h 850"/>
                <a:gd name="T86" fmla="*/ 5 w 1140"/>
                <a:gd name="T87" fmla="*/ 355 h 850"/>
                <a:gd name="T88" fmla="*/ 1 w 1140"/>
                <a:gd name="T89" fmla="*/ 319 h 850"/>
                <a:gd name="T90" fmla="*/ 1 w 1140"/>
                <a:gd name="T91" fmla="*/ 264 h 850"/>
                <a:gd name="T92" fmla="*/ 7 w 1140"/>
                <a:gd name="T93" fmla="*/ 198 h 850"/>
                <a:gd name="T94" fmla="*/ 24 w 1140"/>
                <a:gd name="T95" fmla="*/ 130 h 850"/>
                <a:gd name="T96" fmla="*/ 53 w 1140"/>
                <a:gd name="T97" fmla="*/ 68 h 850"/>
                <a:gd name="T98" fmla="*/ 96 w 1140"/>
                <a:gd name="T99" fmla="*/ 22 h 850"/>
                <a:gd name="T100" fmla="*/ 157 w 1140"/>
                <a:gd name="T101" fmla="*/ 0 h 850"/>
                <a:gd name="T102" fmla="*/ 240 w 1140"/>
                <a:gd name="T103" fmla="*/ 13 h 85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140"/>
                <a:gd name="T157" fmla="*/ 0 h 850"/>
                <a:gd name="T158" fmla="*/ 1140 w 1140"/>
                <a:gd name="T159" fmla="*/ 850 h 850"/>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140" h="850">
                  <a:moveTo>
                    <a:pt x="240" y="13"/>
                  </a:moveTo>
                  <a:lnTo>
                    <a:pt x="581" y="175"/>
                  </a:lnTo>
                  <a:lnTo>
                    <a:pt x="735" y="201"/>
                  </a:lnTo>
                  <a:lnTo>
                    <a:pt x="991" y="389"/>
                  </a:lnTo>
                  <a:lnTo>
                    <a:pt x="1140" y="671"/>
                  </a:lnTo>
                  <a:lnTo>
                    <a:pt x="1140" y="675"/>
                  </a:lnTo>
                  <a:lnTo>
                    <a:pt x="1139" y="685"/>
                  </a:lnTo>
                  <a:lnTo>
                    <a:pt x="1138" y="698"/>
                  </a:lnTo>
                  <a:lnTo>
                    <a:pt x="1135" y="714"/>
                  </a:lnTo>
                  <a:lnTo>
                    <a:pt x="1131" y="729"/>
                  </a:lnTo>
                  <a:lnTo>
                    <a:pt x="1123" y="740"/>
                  </a:lnTo>
                  <a:lnTo>
                    <a:pt x="1112" y="746"/>
                  </a:lnTo>
                  <a:lnTo>
                    <a:pt x="1098" y="745"/>
                  </a:lnTo>
                  <a:lnTo>
                    <a:pt x="1086" y="741"/>
                  </a:lnTo>
                  <a:lnTo>
                    <a:pt x="1082" y="743"/>
                  </a:lnTo>
                  <a:lnTo>
                    <a:pt x="1082" y="748"/>
                  </a:lnTo>
                  <a:lnTo>
                    <a:pt x="1086" y="756"/>
                  </a:lnTo>
                  <a:lnTo>
                    <a:pt x="1091" y="765"/>
                  </a:lnTo>
                  <a:lnTo>
                    <a:pt x="1096" y="776"/>
                  </a:lnTo>
                  <a:lnTo>
                    <a:pt x="1098" y="786"/>
                  </a:lnTo>
                  <a:lnTo>
                    <a:pt x="1098" y="794"/>
                  </a:lnTo>
                  <a:lnTo>
                    <a:pt x="1095" y="803"/>
                  </a:lnTo>
                  <a:lnTo>
                    <a:pt x="1087" y="812"/>
                  </a:lnTo>
                  <a:lnTo>
                    <a:pt x="1078" y="821"/>
                  </a:lnTo>
                  <a:lnTo>
                    <a:pt x="1066" y="831"/>
                  </a:lnTo>
                  <a:lnTo>
                    <a:pt x="1054" y="840"/>
                  </a:lnTo>
                  <a:lnTo>
                    <a:pt x="1041" y="846"/>
                  </a:lnTo>
                  <a:lnTo>
                    <a:pt x="1028" y="850"/>
                  </a:lnTo>
                  <a:lnTo>
                    <a:pt x="1017" y="850"/>
                  </a:lnTo>
                  <a:lnTo>
                    <a:pt x="1004" y="845"/>
                  </a:lnTo>
                  <a:lnTo>
                    <a:pt x="985" y="836"/>
                  </a:lnTo>
                  <a:lnTo>
                    <a:pt x="964" y="824"/>
                  </a:lnTo>
                  <a:lnTo>
                    <a:pt x="941" y="809"/>
                  </a:lnTo>
                  <a:lnTo>
                    <a:pt x="917" y="792"/>
                  </a:lnTo>
                  <a:lnTo>
                    <a:pt x="895" y="773"/>
                  </a:lnTo>
                  <a:lnTo>
                    <a:pt x="876" y="756"/>
                  </a:lnTo>
                  <a:lnTo>
                    <a:pt x="859" y="739"/>
                  </a:lnTo>
                  <a:lnTo>
                    <a:pt x="859" y="740"/>
                  </a:lnTo>
                  <a:lnTo>
                    <a:pt x="861" y="744"/>
                  </a:lnTo>
                  <a:lnTo>
                    <a:pt x="859" y="749"/>
                  </a:lnTo>
                  <a:lnTo>
                    <a:pt x="857" y="755"/>
                  </a:lnTo>
                  <a:lnTo>
                    <a:pt x="851" y="762"/>
                  </a:lnTo>
                  <a:lnTo>
                    <a:pt x="840" y="769"/>
                  </a:lnTo>
                  <a:lnTo>
                    <a:pt x="823" y="773"/>
                  </a:lnTo>
                  <a:lnTo>
                    <a:pt x="799" y="777"/>
                  </a:lnTo>
                  <a:lnTo>
                    <a:pt x="773" y="780"/>
                  </a:lnTo>
                  <a:lnTo>
                    <a:pt x="755" y="781"/>
                  </a:lnTo>
                  <a:lnTo>
                    <a:pt x="742" y="781"/>
                  </a:lnTo>
                  <a:lnTo>
                    <a:pt x="736" y="781"/>
                  </a:lnTo>
                  <a:lnTo>
                    <a:pt x="734" y="780"/>
                  </a:lnTo>
                  <a:lnTo>
                    <a:pt x="734" y="778"/>
                  </a:lnTo>
                  <a:lnTo>
                    <a:pt x="734" y="777"/>
                  </a:lnTo>
                  <a:lnTo>
                    <a:pt x="735" y="777"/>
                  </a:lnTo>
                  <a:lnTo>
                    <a:pt x="734" y="780"/>
                  </a:lnTo>
                  <a:lnTo>
                    <a:pt x="729" y="786"/>
                  </a:lnTo>
                  <a:lnTo>
                    <a:pt x="723" y="794"/>
                  </a:lnTo>
                  <a:lnTo>
                    <a:pt x="713" y="804"/>
                  </a:lnTo>
                  <a:lnTo>
                    <a:pt x="701" y="813"/>
                  </a:lnTo>
                  <a:lnTo>
                    <a:pt x="686" y="819"/>
                  </a:lnTo>
                  <a:lnTo>
                    <a:pt x="670" y="823"/>
                  </a:lnTo>
                  <a:lnTo>
                    <a:pt x="650" y="820"/>
                  </a:lnTo>
                  <a:lnTo>
                    <a:pt x="639" y="817"/>
                  </a:lnTo>
                  <a:lnTo>
                    <a:pt x="624" y="810"/>
                  </a:lnTo>
                  <a:lnTo>
                    <a:pt x="607" y="802"/>
                  </a:lnTo>
                  <a:lnTo>
                    <a:pt x="590" y="792"/>
                  </a:lnTo>
                  <a:lnTo>
                    <a:pt x="570" y="781"/>
                  </a:lnTo>
                  <a:lnTo>
                    <a:pt x="549" y="769"/>
                  </a:lnTo>
                  <a:lnTo>
                    <a:pt x="528" y="756"/>
                  </a:lnTo>
                  <a:lnTo>
                    <a:pt x="508" y="743"/>
                  </a:lnTo>
                  <a:lnTo>
                    <a:pt x="487" y="730"/>
                  </a:lnTo>
                  <a:lnTo>
                    <a:pt x="469" y="718"/>
                  </a:lnTo>
                  <a:lnTo>
                    <a:pt x="452" y="707"/>
                  </a:lnTo>
                  <a:lnTo>
                    <a:pt x="437" y="697"/>
                  </a:lnTo>
                  <a:lnTo>
                    <a:pt x="425" y="689"/>
                  </a:lnTo>
                  <a:lnTo>
                    <a:pt x="415" y="682"/>
                  </a:lnTo>
                  <a:lnTo>
                    <a:pt x="409" y="677"/>
                  </a:lnTo>
                  <a:lnTo>
                    <a:pt x="406" y="676"/>
                  </a:lnTo>
                  <a:lnTo>
                    <a:pt x="248" y="586"/>
                  </a:lnTo>
                  <a:lnTo>
                    <a:pt x="150" y="496"/>
                  </a:lnTo>
                  <a:lnTo>
                    <a:pt x="64" y="471"/>
                  </a:lnTo>
                  <a:lnTo>
                    <a:pt x="61" y="468"/>
                  </a:lnTo>
                  <a:lnTo>
                    <a:pt x="56" y="461"/>
                  </a:lnTo>
                  <a:lnTo>
                    <a:pt x="49" y="450"/>
                  </a:lnTo>
                  <a:lnTo>
                    <a:pt x="39" y="435"/>
                  </a:lnTo>
                  <a:lnTo>
                    <a:pt x="29" y="418"/>
                  </a:lnTo>
                  <a:lnTo>
                    <a:pt x="19" y="398"/>
                  </a:lnTo>
                  <a:lnTo>
                    <a:pt x="11" y="377"/>
                  </a:lnTo>
                  <a:lnTo>
                    <a:pt x="5" y="355"/>
                  </a:lnTo>
                  <a:lnTo>
                    <a:pt x="2" y="340"/>
                  </a:lnTo>
                  <a:lnTo>
                    <a:pt x="1" y="319"/>
                  </a:lnTo>
                  <a:lnTo>
                    <a:pt x="0" y="293"/>
                  </a:lnTo>
                  <a:lnTo>
                    <a:pt x="1" y="264"/>
                  </a:lnTo>
                  <a:lnTo>
                    <a:pt x="3" y="232"/>
                  </a:lnTo>
                  <a:lnTo>
                    <a:pt x="7" y="198"/>
                  </a:lnTo>
                  <a:lnTo>
                    <a:pt x="14" y="164"/>
                  </a:lnTo>
                  <a:lnTo>
                    <a:pt x="24" y="130"/>
                  </a:lnTo>
                  <a:lnTo>
                    <a:pt x="37" y="97"/>
                  </a:lnTo>
                  <a:lnTo>
                    <a:pt x="53" y="68"/>
                  </a:lnTo>
                  <a:lnTo>
                    <a:pt x="72" y="42"/>
                  </a:lnTo>
                  <a:lnTo>
                    <a:pt x="96" y="22"/>
                  </a:lnTo>
                  <a:lnTo>
                    <a:pt x="124" y="8"/>
                  </a:lnTo>
                  <a:lnTo>
                    <a:pt x="157" y="0"/>
                  </a:lnTo>
                  <a:lnTo>
                    <a:pt x="195" y="1"/>
                  </a:lnTo>
                  <a:lnTo>
                    <a:pt x="240" y="13"/>
                  </a:lnTo>
                  <a:close/>
                </a:path>
              </a:pathLst>
            </a:custGeom>
            <a:solidFill>
              <a:srgbClr val="000000"/>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112" name="Freeform 118"/>
            <p:cNvSpPr>
              <a:spLocks/>
            </p:cNvSpPr>
            <p:nvPr/>
          </p:nvSpPr>
          <p:spPr bwMode="auto">
            <a:xfrm>
              <a:off x="3153" y="2403"/>
              <a:ext cx="1091" cy="788"/>
            </a:xfrm>
            <a:custGeom>
              <a:avLst/>
              <a:gdLst>
                <a:gd name="T0" fmla="*/ 531 w 1091"/>
                <a:gd name="T1" fmla="*/ 165 h 788"/>
                <a:gd name="T2" fmla="*/ 931 w 1091"/>
                <a:gd name="T3" fmla="*/ 362 h 788"/>
                <a:gd name="T4" fmla="*/ 1090 w 1091"/>
                <a:gd name="T5" fmla="*/ 650 h 788"/>
                <a:gd name="T6" fmla="*/ 1082 w 1091"/>
                <a:gd name="T7" fmla="*/ 667 h 788"/>
                <a:gd name="T8" fmla="*/ 1068 w 1091"/>
                <a:gd name="T9" fmla="*/ 687 h 788"/>
                <a:gd name="T10" fmla="*/ 1044 w 1091"/>
                <a:gd name="T11" fmla="*/ 698 h 788"/>
                <a:gd name="T12" fmla="*/ 1020 w 1091"/>
                <a:gd name="T13" fmla="*/ 694 h 788"/>
                <a:gd name="T14" fmla="*/ 1017 w 1091"/>
                <a:gd name="T15" fmla="*/ 708 h 788"/>
                <a:gd name="T16" fmla="*/ 1028 w 1091"/>
                <a:gd name="T17" fmla="*/ 731 h 788"/>
                <a:gd name="T18" fmla="*/ 1041 w 1091"/>
                <a:gd name="T19" fmla="*/ 750 h 788"/>
                <a:gd name="T20" fmla="*/ 1042 w 1091"/>
                <a:gd name="T21" fmla="*/ 753 h 788"/>
                <a:gd name="T22" fmla="*/ 1036 w 1091"/>
                <a:gd name="T23" fmla="*/ 764 h 788"/>
                <a:gd name="T24" fmla="*/ 1022 w 1091"/>
                <a:gd name="T25" fmla="*/ 778 h 788"/>
                <a:gd name="T26" fmla="*/ 1004 w 1091"/>
                <a:gd name="T27" fmla="*/ 786 h 788"/>
                <a:gd name="T28" fmla="*/ 975 w 1091"/>
                <a:gd name="T29" fmla="*/ 783 h 788"/>
                <a:gd name="T30" fmla="*/ 926 w 1091"/>
                <a:gd name="T31" fmla="*/ 751 h 788"/>
                <a:gd name="T32" fmla="*/ 869 w 1091"/>
                <a:gd name="T33" fmla="*/ 704 h 788"/>
                <a:gd name="T34" fmla="*/ 820 w 1091"/>
                <a:gd name="T35" fmla="*/ 658 h 788"/>
                <a:gd name="T36" fmla="*/ 805 w 1091"/>
                <a:gd name="T37" fmla="*/ 642 h 788"/>
                <a:gd name="T38" fmla="*/ 811 w 1091"/>
                <a:gd name="T39" fmla="*/ 661 h 788"/>
                <a:gd name="T40" fmla="*/ 808 w 1091"/>
                <a:gd name="T41" fmla="*/ 686 h 788"/>
                <a:gd name="T42" fmla="*/ 778 w 1091"/>
                <a:gd name="T43" fmla="*/ 705 h 788"/>
                <a:gd name="T44" fmla="*/ 720 w 1091"/>
                <a:gd name="T45" fmla="*/ 713 h 788"/>
                <a:gd name="T46" fmla="*/ 694 w 1091"/>
                <a:gd name="T47" fmla="*/ 708 h 788"/>
                <a:gd name="T48" fmla="*/ 696 w 1091"/>
                <a:gd name="T49" fmla="*/ 697 h 788"/>
                <a:gd name="T50" fmla="*/ 704 w 1091"/>
                <a:gd name="T51" fmla="*/ 688 h 788"/>
                <a:gd name="T52" fmla="*/ 706 w 1091"/>
                <a:gd name="T53" fmla="*/ 690 h 788"/>
                <a:gd name="T54" fmla="*/ 694 w 1091"/>
                <a:gd name="T55" fmla="*/ 710 h 788"/>
                <a:gd name="T56" fmla="*/ 675 w 1091"/>
                <a:gd name="T57" fmla="*/ 736 h 788"/>
                <a:gd name="T58" fmla="*/ 645 w 1091"/>
                <a:gd name="T59" fmla="*/ 752 h 788"/>
                <a:gd name="T60" fmla="*/ 616 w 1091"/>
                <a:gd name="T61" fmla="*/ 747 h 788"/>
                <a:gd name="T62" fmla="*/ 586 w 1091"/>
                <a:gd name="T63" fmla="*/ 732 h 788"/>
                <a:gd name="T64" fmla="*/ 549 w 1091"/>
                <a:gd name="T65" fmla="*/ 711 h 788"/>
                <a:gd name="T66" fmla="*/ 510 w 1091"/>
                <a:gd name="T67" fmla="*/ 686 h 788"/>
                <a:gd name="T68" fmla="*/ 470 w 1091"/>
                <a:gd name="T69" fmla="*/ 658 h 788"/>
                <a:gd name="T70" fmla="*/ 435 w 1091"/>
                <a:gd name="T71" fmla="*/ 634 h 788"/>
                <a:gd name="T72" fmla="*/ 407 w 1091"/>
                <a:gd name="T73" fmla="*/ 614 h 788"/>
                <a:gd name="T74" fmla="*/ 393 w 1091"/>
                <a:gd name="T75" fmla="*/ 603 h 788"/>
                <a:gd name="T76" fmla="*/ 242 w 1091"/>
                <a:gd name="T77" fmla="*/ 528 h 788"/>
                <a:gd name="T78" fmla="*/ 61 w 1091"/>
                <a:gd name="T79" fmla="*/ 413 h 788"/>
                <a:gd name="T80" fmla="*/ 55 w 1091"/>
                <a:gd name="T81" fmla="*/ 408 h 788"/>
                <a:gd name="T82" fmla="*/ 39 w 1091"/>
                <a:gd name="T83" fmla="*/ 394 h 788"/>
                <a:gd name="T84" fmla="*/ 21 w 1091"/>
                <a:gd name="T85" fmla="*/ 368 h 788"/>
                <a:gd name="T86" fmla="*/ 7 w 1091"/>
                <a:gd name="T87" fmla="*/ 331 h 788"/>
                <a:gd name="T88" fmla="*/ 2 w 1091"/>
                <a:gd name="T89" fmla="*/ 298 h 788"/>
                <a:gd name="T90" fmla="*/ 0 w 1091"/>
                <a:gd name="T91" fmla="*/ 246 h 788"/>
                <a:gd name="T92" fmla="*/ 3 w 1091"/>
                <a:gd name="T93" fmla="*/ 184 h 788"/>
                <a:gd name="T94" fmla="*/ 16 w 1091"/>
                <a:gd name="T95" fmla="*/ 120 h 788"/>
                <a:gd name="T96" fmla="*/ 39 w 1091"/>
                <a:gd name="T97" fmla="*/ 62 h 788"/>
                <a:gd name="T98" fmla="*/ 77 w 1091"/>
                <a:gd name="T99" fmla="*/ 19 h 788"/>
                <a:gd name="T100" fmla="*/ 133 w 1091"/>
                <a:gd name="T101" fmla="*/ 0 h 788"/>
                <a:gd name="T102" fmla="*/ 209 w 1091"/>
                <a:gd name="T103" fmla="*/ 11 h 788"/>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091"/>
                <a:gd name="T157" fmla="*/ 0 h 788"/>
                <a:gd name="T158" fmla="*/ 1091 w 1091"/>
                <a:gd name="T159" fmla="*/ 788 h 788"/>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091" h="788">
                  <a:moveTo>
                    <a:pt x="209" y="11"/>
                  </a:moveTo>
                  <a:lnTo>
                    <a:pt x="531" y="165"/>
                  </a:lnTo>
                  <a:lnTo>
                    <a:pt x="680" y="192"/>
                  </a:lnTo>
                  <a:lnTo>
                    <a:pt x="931" y="362"/>
                  </a:lnTo>
                  <a:lnTo>
                    <a:pt x="1091" y="647"/>
                  </a:lnTo>
                  <a:lnTo>
                    <a:pt x="1090" y="650"/>
                  </a:lnTo>
                  <a:lnTo>
                    <a:pt x="1087" y="657"/>
                  </a:lnTo>
                  <a:lnTo>
                    <a:pt x="1082" y="667"/>
                  </a:lnTo>
                  <a:lnTo>
                    <a:pt x="1076" y="677"/>
                  </a:lnTo>
                  <a:lnTo>
                    <a:pt x="1068" y="687"/>
                  </a:lnTo>
                  <a:lnTo>
                    <a:pt x="1057" y="694"/>
                  </a:lnTo>
                  <a:lnTo>
                    <a:pt x="1044" y="698"/>
                  </a:lnTo>
                  <a:lnTo>
                    <a:pt x="1031" y="695"/>
                  </a:lnTo>
                  <a:lnTo>
                    <a:pt x="1020" y="694"/>
                  </a:lnTo>
                  <a:lnTo>
                    <a:pt x="1016" y="699"/>
                  </a:lnTo>
                  <a:lnTo>
                    <a:pt x="1017" y="708"/>
                  </a:lnTo>
                  <a:lnTo>
                    <a:pt x="1022" y="719"/>
                  </a:lnTo>
                  <a:lnTo>
                    <a:pt x="1028" y="731"/>
                  </a:lnTo>
                  <a:lnTo>
                    <a:pt x="1036" y="741"/>
                  </a:lnTo>
                  <a:lnTo>
                    <a:pt x="1041" y="750"/>
                  </a:lnTo>
                  <a:lnTo>
                    <a:pt x="1043" y="752"/>
                  </a:lnTo>
                  <a:lnTo>
                    <a:pt x="1042" y="753"/>
                  </a:lnTo>
                  <a:lnTo>
                    <a:pt x="1039" y="758"/>
                  </a:lnTo>
                  <a:lnTo>
                    <a:pt x="1036" y="764"/>
                  </a:lnTo>
                  <a:lnTo>
                    <a:pt x="1030" y="770"/>
                  </a:lnTo>
                  <a:lnTo>
                    <a:pt x="1022" y="778"/>
                  </a:lnTo>
                  <a:lnTo>
                    <a:pt x="1014" y="783"/>
                  </a:lnTo>
                  <a:lnTo>
                    <a:pt x="1004" y="786"/>
                  </a:lnTo>
                  <a:lnTo>
                    <a:pt x="991" y="788"/>
                  </a:lnTo>
                  <a:lnTo>
                    <a:pt x="975" y="783"/>
                  </a:lnTo>
                  <a:lnTo>
                    <a:pt x="953" y="769"/>
                  </a:lnTo>
                  <a:lnTo>
                    <a:pt x="926" y="751"/>
                  </a:lnTo>
                  <a:lnTo>
                    <a:pt x="898" y="729"/>
                  </a:lnTo>
                  <a:lnTo>
                    <a:pt x="869" y="704"/>
                  </a:lnTo>
                  <a:lnTo>
                    <a:pt x="842" y="681"/>
                  </a:lnTo>
                  <a:lnTo>
                    <a:pt x="820" y="658"/>
                  </a:lnTo>
                  <a:lnTo>
                    <a:pt x="804" y="640"/>
                  </a:lnTo>
                  <a:lnTo>
                    <a:pt x="805" y="642"/>
                  </a:lnTo>
                  <a:lnTo>
                    <a:pt x="809" y="650"/>
                  </a:lnTo>
                  <a:lnTo>
                    <a:pt x="811" y="661"/>
                  </a:lnTo>
                  <a:lnTo>
                    <a:pt x="811" y="672"/>
                  </a:lnTo>
                  <a:lnTo>
                    <a:pt x="808" y="686"/>
                  </a:lnTo>
                  <a:lnTo>
                    <a:pt x="797" y="697"/>
                  </a:lnTo>
                  <a:lnTo>
                    <a:pt x="778" y="705"/>
                  </a:lnTo>
                  <a:lnTo>
                    <a:pt x="749" y="711"/>
                  </a:lnTo>
                  <a:lnTo>
                    <a:pt x="720" y="713"/>
                  </a:lnTo>
                  <a:lnTo>
                    <a:pt x="703" y="711"/>
                  </a:lnTo>
                  <a:lnTo>
                    <a:pt x="694" y="708"/>
                  </a:lnTo>
                  <a:lnTo>
                    <a:pt x="693" y="703"/>
                  </a:lnTo>
                  <a:lnTo>
                    <a:pt x="696" y="697"/>
                  </a:lnTo>
                  <a:lnTo>
                    <a:pt x="701" y="692"/>
                  </a:lnTo>
                  <a:lnTo>
                    <a:pt x="704" y="688"/>
                  </a:lnTo>
                  <a:lnTo>
                    <a:pt x="707" y="687"/>
                  </a:lnTo>
                  <a:lnTo>
                    <a:pt x="706" y="690"/>
                  </a:lnTo>
                  <a:lnTo>
                    <a:pt x="702" y="699"/>
                  </a:lnTo>
                  <a:lnTo>
                    <a:pt x="694" y="710"/>
                  </a:lnTo>
                  <a:lnTo>
                    <a:pt x="686" y="724"/>
                  </a:lnTo>
                  <a:lnTo>
                    <a:pt x="675" y="736"/>
                  </a:lnTo>
                  <a:lnTo>
                    <a:pt x="660" y="746"/>
                  </a:lnTo>
                  <a:lnTo>
                    <a:pt x="645" y="752"/>
                  </a:lnTo>
                  <a:lnTo>
                    <a:pt x="627" y="751"/>
                  </a:lnTo>
                  <a:lnTo>
                    <a:pt x="616" y="747"/>
                  </a:lnTo>
                  <a:lnTo>
                    <a:pt x="602" y="741"/>
                  </a:lnTo>
                  <a:lnTo>
                    <a:pt x="586" y="732"/>
                  </a:lnTo>
                  <a:lnTo>
                    <a:pt x="569" y="722"/>
                  </a:lnTo>
                  <a:lnTo>
                    <a:pt x="549" y="711"/>
                  </a:lnTo>
                  <a:lnTo>
                    <a:pt x="529" y="698"/>
                  </a:lnTo>
                  <a:lnTo>
                    <a:pt x="510" y="686"/>
                  </a:lnTo>
                  <a:lnTo>
                    <a:pt x="490" y="672"/>
                  </a:lnTo>
                  <a:lnTo>
                    <a:pt x="470" y="658"/>
                  </a:lnTo>
                  <a:lnTo>
                    <a:pt x="452" y="646"/>
                  </a:lnTo>
                  <a:lnTo>
                    <a:pt x="435" y="634"/>
                  </a:lnTo>
                  <a:lnTo>
                    <a:pt x="420" y="623"/>
                  </a:lnTo>
                  <a:lnTo>
                    <a:pt x="407" y="614"/>
                  </a:lnTo>
                  <a:lnTo>
                    <a:pt x="399" y="608"/>
                  </a:lnTo>
                  <a:lnTo>
                    <a:pt x="393" y="603"/>
                  </a:lnTo>
                  <a:lnTo>
                    <a:pt x="390" y="602"/>
                  </a:lnTo>
                  <a:lnTo>
                    <a:pt x="242" y="528"/>
                  </a:lnTo>
                  <a:lnTo>
                    <a:pt x="136" y="433"/>
                  </a:lnTo>
                  <a:lnTo>
                    <a:pt x="61" y="413"/>
                  </a:lnTo>
                  <a:lnTo>
                    <a:pt x="60" y="412"/>
                  </a:lnTo>
                  <a:lnTo>
                    <a:pt x="55" y="408"/>
                  </a:lnTo>
                  <a:lnTo>
                    <a:pt x="48" y="402"/>
                  </a:lnTo>
                  <a:lnTo>
                    <a:pt x="39" y="394"/>
                  </a:lnTo>
                  <a:lnTo>
                    <a:pt x="29" y="381"/>
                  </a:lnTo>
                  <a:lnTo>
                    <a:pt x="21" y="368"/>
                  </a:lnTo>
                  <a:lnTo>
                    <a:pt x="13" y="351"/>
                  </a:lnTo>
                  <a:lnTo>
                    <a:pt x="7" y="331"/>
                  </a:lnTo>
                  <a:lnTo>
                    <a:pt x="5" y="317"/>
                  </a:lnTo>
                  <a:lnTo>
                    <a:pt x="2" y="298"/>
                  </a:lnTo>
                  <a:lnTo>
                    <a:pt x="1" y="273"/>
                  </a:lnTo>
                  <a:lnTo>
                    <a:pt x="0" y="246"/>
                  </a:lnTo>
                  <a:lnTo>
                    <a:pt x="1" y="215"/>
                  </a:lnTo>
                  <a:lnTo>
                    <a:pt x="3" y="184"/>
                  </a:lnTo>
                  <a:lnTo>
                    <a:pt x="8" y="151"/>
                  </a:lnTo>
                  <a:lnTo>
                    <a:pt x="16" y="120"/>
                  </a:lnTo>
                  <a:lnTo>
                    <a:pt x="26" y="90"/>
                  </a:lnTo>
                  <a:lnTo>
                    <a:pt x="39" y="62"/>
                  </a:lnTo>
                  <a:lnTo>
                    <a:pt x="56" y="39"/>
                  </a:lnTo>
                  <a:lnTo>
                    <a:pt x="77" y="19"/>
                  </a:lnTo>
                  <a:lnTo>
                    <a:pt x="103" y="6"/>
                  </a:lnTo>
                  <a:lnTo>
                    <a:pt x="133" y="0"/>
                  </a:lnTo>
                  <a:lnTo>
                    <a:pt x="168" y="1"/>
                  </a:lnTo>
                  <a:lnTo>
                    <a:pt x="209" y="11"/>
                  </a:lnTo>
                  <a:close/>
                </a:path>
              </a:pathLst>
            </a:custGeom>
            <a:solidFill>
              <a:srgbClr val="DBDBE5"/>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113" name="Freeform 119"/>
            <p:cNvSpPr>
              <a:spLocks/>
            </p:cNvSpPr>
            <p:nvPr/>
          </p:nvSpPr>
          <p:spPr bwMode="auto">
            <a:xfrm>
              <a:off x="3209" y="2510"/>
              <a:ext cx="656" cy="607"/>
            </a:xfrm>
            <a:custGeom>
              <a:avLst/>
              <a:gdLst>
                <a:gd name="T0" fmla="*/ 634 w 656"/>
                <a:gd name="T1" fmla="*/ 218 h 607"/>
                <a:gd name="T2" fmla="*/ 582 w 656"/>
                <a:gd name="T3" fmla="*/ 258 h 607"/>
                <a:gd name="T4" fmla="*/ 581 w 656"/>
                <a:gd name="T5" fmla="*/ 321 h 607"/>
                <a:gd name="T6" fmla="*/ 626 w 656"/>
                <a:gd name="T7" fmla="*/ 369 h 607"/>
                <a:gd name="T8" fmla="*/ 651 w 656"/>
                <a:gd name="T9" fmla="*/ 385 h 607"/>
                <a:gd name="T10" fmla="*/ 654 w 656"/>
                <a:gd name="T11" fmla="*/ 393 h 607"/>
                <a:gd name="T12" fmla="*/ 631 w 656"/>
                <a:gd name="T13" fmla="*/ 436 h 607"/>
                <a:gd name="T14" fmla="*/ 584 w 656"/>
                <a:gd name="T15" fmla="*/ 470 h 607"/>
                <a:gd name="T16" fmla="*/ 536 w 656"/>
                <a:gd name="T17" fmla="*/ 458 h 607"/>
                <a:gd name="T18" fmla="*/ 520 w 656"/>
                <a:gd name="T19" fmla="*/ 468 h 607"/>
                <a:gd name="T20" fmla="*/ 520 w 656"/>
                <a:gd name="T21" fmla="*/ 478 h 607"/>
                <a:gd name="T22" fmla="*/ 572 w 656"/>
                <a:gd name="T23" fmla="*/ 538 h 607"/>
                <a:gd name="T24" fmla="*/ 533 w 656"/>
                <a:gd name="T25" fmla="*/ 583 h 607"/>
                <a:gd name="T26" fmla="*/ 519 w 656"/>
                <a:gd name="T27" fmla="*/ 602 h 607"/>
                <a:gd name="T28" fmla="*/ 500 w 656"/>
                <a:gd name="T29" fmla="*/ 602 h 607"/>
                <a:gd name="T30" fmla="*/ 467 w 656"/>
                <a:gd name="T31" fmla="*/ 577 h 607"/>
                <a:gd name="T32" fmla="*/ 427 w 656"/>
                <a:gd name="T33" fmla="*/ 555 h 607"/>
                <a:gd name="T34" fmla="*/ 380 w 656"/>
                <a:gd name="T35" fmla="*/ 533 h 607"/>
                <a:gd name="T36" fmla="*/ 334 w 656"/>
                <a:gd name="T37" fmla="*/ 510 h 607"/>
                <a:gd name="T38" fmla="*/ 297 w 656"/>
                <a:gd name="T39" fmla="*/ 486 h 607"/>
                <a:gd name="T40" fmla="*/ 265 w 656"/>
                <a:gd name="T41" fmla="*/ 455 h 607"/>
                <a:gd name="T42" fmla="*/ 189 w 656"/>
                <a:gd name="T43" fmla="*/ 398 h 607"/>
                <a:gd name="T44" fmla="*/ 117 w 656"/>
                <a:gd name="T45" fmla="*/ 346 h 607"/>
                <a:gd name="T46" fmla="*/ 100 w 656"/>
                <a:gd name="T47" fmla="*/ 288 h 607"/>
                <a:gd name="T48" fmla="*/ 120 w 656"/>
                <a:gd name="T49" fmla="*/ 186 h 607"/>
                <a:gd name="T50" fmla="*/ 176 w 656"/>
                <a:gd name="T51" fmla="*/ 113 h 607"/>
                <a:gd name="T52" fmla="*/ 170 w 656"/>
                <a:gd name="T53" fmla="*/ 102 h 607"/>
                <a:gd name="T54" fmla="*/ 95 w 656"/>
                <a:gd name="T55" fmla="*/ 155 h 607"/>
                <a:gd name="T56" fmla="*/ 74 w 656"/>
                <a:gd name="T57" fmla="*/ 269 h 607"/>
                <a:gd name="T58" fmla="*/ 59 w 656"/>
                <a:gd name="T59" fmla="*/ 217 h 607"/>
                <a:gd name="T60" fmla="*/ 73 w 656"/>
                <a:gd name="T61" fmla="*/ 97 h 607"/>
                <a:gd name="T62" fmla="*/ 77 w 656"/>
                <a:gd name="T63" fmla="*/ 85 h 607"/>
                <a:gd name="T64" fmla="*/ 35 w 656"/>
                <a:gd name="T65" fmla="*/ 141 h 607"/>
                <a:gd name="T66" fmla="*/ 9 w 656"/>
                <a:gd name="T67" fmla="*/ 271 h 607"/>
                <a:gd name="T68" fmla="*/ 0 w 656"/>
                <a:gd name="T69" fmla="*/ 242 h 607"/>
                <a:gd name="T70" fmla="*/ 21 w 656"/>
                <a:gd name="T71" fmla="*/ 71 h 607"/>
                <a:gd name="T72" fmla="*/ 90 w 656"/>
                <a:gd name="T73" fmla="*/ 2 h 607"/>
                <a:gd name="T74" fmla="*/ 126 w 656"/>
                <a:gd name="T75" fmla="*/ 0 h 607"/>
                <a:gd name="T76" fmla="*/ 170 w 656"/>
                <a:gd name="T77" fmla="*/ 2 h 607"/>
                <a:gd name="T78" fmla="*/ 217 w 656"/>
                <a:gd name="T79" fmla="*/ 10 h 607"/>
                <a:gd name="T80" fmla="*/ 259 w 656"/>
                <a:gd name="T81" fmla="*/ 21 h 607"/>
                <a:gd name="T82" fmla="*/ 291 w 656"/>
                <a:gd name="T83" fmla="*/ 39 h 607"/>
                <a:gd name="T84" fmla="*/ 327 w 656"/>
                <a:gd name="T85" fmla="*/ 58 h 607"/>
                <a:gd name="T86" fmla="*/ 379 w 656"/>
                <a:gd name="T87" fmla="*/ 71 h 607"/>
                <a:gd name="T88" fmla="*/ 431 w 656"/>
                <a:gd name="T89" fmla="*/ 80 h 607"/>
                <a:gd name="T90" fmla="*/ 477 w 656"/>
                <a:gd name="T91" fmla="*/ 85 h 607"/>
                <a:gd name="T92" fmla="*/ 502 w 656"/>
                <a:gd name="T93" fmla="*/ 87 h 607"/>
                <a:gd name="T94" fmla="*/ 512 w 656"/>
                <a:gd name="T95" fmla="*/ 86 h 607"/>
                <a:gd name="T96" fmla="*/ 549 w 656"/>
                <a:gd name="T97" fmla="*/ 88 h 607"/>
                <a:gd name="T98" fmla="*/ 605 w 656"/>
                <a:gd name="T99" fmla="*/ 112 h 607"/>
                <a:gd name="T100" fmla="*/ 641 w 656"/>
                <a:gd name="T101" fmla="*/ 144 h 607"/>
                <a:gd name="T102" fmla="*/ 647 w 656"/>
                <a:gd name="T103" fmla="*/ 175 h 60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656"/>
                <a:gd name="T157" fmla="*/ 0 h 607"/>
                <a:gd name="T158" fmla="*/ 656 w 656"/>
                <a:gd name="T159" fmla="*/ 607 h 60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656" h="607">
                  <a:moveTo>
                    <a:pt x="652" y="209"/>
                  </a:moveTo>
                  <a:lnTo>
                    <a:pt x="647" y="212"/>
                  </a:lnTo>
                  <a:lnTo>
                    <a:pt x="634" y="218"/>
                  </a:lnTo>
                  <a:lnTo>
                    <a:pt x="616" y="229"/>
                  </a:lnTo>
                  <a:lnTo>
                    <a:pt x="598" y="242"/>
                  </a:lnTo>
                  <a:lnTo>
                    <a:pt x="582" y="258"/>
                  </a:lnTo>
                  <a:lnTo>
                    <a:pt x="571" y="278"/>
                  </a:lnTo>
                  <a:lnTo>
                    <a:pt x="569" y="299"/>
                  </a:lnTo>
                  <a:lnTo>
                    <a:pt x="581" y="321"/>
                  </a:lnTo>
                  <a:lnTo>
                    <a:pt x="598" y="341"/>
                  </a:lnTo>
                  <a:lnTo>
                    <a:pt x="613" y="357"/>
                  </a:lnTo>
                  <a:lnTo>
                    <a:pt x="626" y="369"/>
                  </a:lnTo>
                  <a:lnTo>
                    <a:pt x="637" y="377"/>
                  </a:lnTo>
                  <a:lnTo>
                    <a:pt x="645" y="383"/>
                  </a:lnTo>
                  <a:lnTo>
                    <a:pt x="651" y="385"/>
                  </a:lnTo>
                  <a:lnTo>
                    <a:pt x="654" y="388"/>
                  </a:lnTo>
                  <a:lnTo>
                    <a:pt x="656" y="388"/>
                  </a:lnTo>
                  <a:lnTo>
                    <a:pt x="654" y="393"/>
                  </a:lnTo>
                  <a:lnTo>
                    <a:pt x="650" y="404"/>
                  </a:lnTo>
                  <a:lnTo>
                    <a:pt x="641" y="420"/>
                  </a:lnTo>
                  <a:lnTo>
                    <a:pt x="631" y="436"/>
                  </a:lnTo>
                  <a:lnTo>
                    <a:pt x="618" y="453"/>
                  </a:lnTo>
                  <a:lnTo>
                    <a:pt x="603" y="464"/>
                  </a:lnTo>
                  <a:lnTo>
                    <a:pt x="584" y="470"/>
                  </a:lnTo>
                  <a:lnTo>
                    <a:pt x="566" y="466"/>
                  </a:lnTo>
                  <a:lnTo>
                    <a:pt x="549" y="460"/>
                  </a:lnTo>
                  <a:lnTo>
                    <a:pt x="536" y="458"/>
                  </a:lnTo>
                  <a:lnTo>
                    <a:pt x="528" y="459"/>
                  </a:lnTo>
                  <a:lnTo>
                    <a:pt x="523" y="463"/>
                  </a:lnTo>
                  <a:lnTo>
                    <a:pt x="520" y="468"/>
                  </a:lnTo>
                  <a:lnTo>
                    <a:pt x="520" y="473"/>
                  </a:lnTo>
                  <a:lnTo>
                    <a:pt x="520" y="476"/>
                  </a:lnTo>
                  <a:lnTo>
                    <a:pt x="520" y="478"/>
                  </a:lnTo>
                  <a:lnTo>
                    <a:pt x="574" y="501"/>
                  </a:lnTo>
                  <a:lnTo>
                    <a:pt x="574" y="512"/>
                  </a:lnTo>
                  <a:lnTo>
                    <a:pt x="572" y="538"/>
                  </a:lnTo>
                  <a:lnTo>
                    <a:pt x="563" y="564"/>
                  </a:lnTo>
                  <a:lnTo>
                    <a:pt x="544" y="580"/>
                  </a:lnTo>
                  <a:lnTo>
                    <a:pt x="533" y="583"/>
                  </a:lnTo>
                  <a:lnTo>
                    <a:pt x="526" y="590"/>
                  </a:lnTo>
                  <a:lnTo>
                    <a:pt x="523" y="597"/>
                  </a:lnTo>
                  <a:lnTo>
                    <a:pt x="519" y="602"/>
                  </a:lnTo>
                  <a:lnTo>
                    <a:pt x="515" y="606"/>
                  </a:lnTo>
                  <a:lnTo>
                    <a:pt x="509" y="607"/>
                  </a:lnTo>
                  <a:lnTo>
                    <a:pt x="500" y="602"/>
                  </a:lnTo>
                  <a:lnTo>
                    <a:pt x="487" y="591"/>
                  </a:lnTo>
                  <a:lnTo>
                    <a:pt x="477" y="583"/>
                  </a:lnTo>
                  <a:lnTo>
                    <a:pt x="467" y="577"/>
                  </a:lnTo>
                  <a:lnTo>
                    <a:pt x="454" y="570"/>
                  </a:lnTo>
                  <a:lnTo>
                    <a:pt x="440" y="563"/>
                  </a:lnTo>
                  <a:lnTo>
                    <a:pt x="427" y="555"/>
                  </a:lnTo>
                  <a:lnTo>
                    <a:pt x="411" y="548"/>
                  </a:lnTo>
                  <a:lnTo>
                    <a:pt x="396" y="540"/>
                  </a:lnTo>
                  <a:lnTo>
                    <a:pt x="380" y="533"/>
                  </a:lnTo>
                  <a:lnTo>
                    <a:pt x="364" y="524"/>
                  </a:lnTo>
                  <a:lnTo>
                    <a:pt x="349" y="517"/>
                  </a:lnTo>
                  <a:lnTo>
                    <a:pt x="334" y="510"/>
                  </a:lnTo>
                  <a:lnTo>
                    <a:pt x="321" y="502"/>
                  </a:lnTo>
                  <a:lnTo>
                    <a:pt x="308" y="495"/>
                  </a:lnTo>
                  <a:lnTo>
                    <a:pt x="297" y="486"/>
                  </a:lnTo>
                  <a:lnTo>
                    <a:pt x="289" y="479"/>
                  </a:lnTo>
                  <a:lnTo>
                    <a:pt x="281" y="471"/>
                  </a:lnTo>
                  <a:lnTo>
                    <a:pt x="265" y="455"/>
                  </a:lnTo>
                  <a:lnTo>
                    <a:pt x="243" y="437"/>
                  </a:lnTo>
                  <a:lnTo>
                    <a:pt x="216" y="417"/>
                  </a:lnTo>
                  <a:lnTo>
                    <a:pt x="189" y="398"/>
                  </a:lnTo>
                  <a:lnTo>
                    <a:pt x="160" y="379"/>
                  </a:lnTo>
                  <a:lnTo>
                    <a:pt x="137" y="362"/>
                  </a:lnTo>
                  <a:lnTo>
                    <a:pt x="117" y="346"/>
                  </a:lnTo>
                  <a:lnTo>
                    <a:pt x="106" y="332"/>
                  </a:lnTo>
                  <a:lnTo>
                    <a:pt x="101" y="315"/>
                  </a:lnTo>
                  <a:lnTo>
                    <a:pt x="100" y="288"/>
                  </a:lnTo>
                  <a:lnTo>
                    <a:pt x="103" y="256"/>
                  </a:lnTo>
                  <a:lnTo>
                    <a:pt x="110" y="220"/>
                  </a:lnTo>
                  <a:lnTo>
                    <a:pt x="120" y="186"/>
                  </a:lnTo>
                  <a:lnTo>
                    <a:pt x="135" y="154"/>
                  </a:lnTo>
                  <a:lnTo>
                    <a:pt x="154" y="129"/>
                  </a:lnTo>
                  <a:lnTo>
                    <a:pt x="176" y="113"/>
                  </a:lnTo>
                  <a:lnTo>
                    <a:pt x="190" y="104"/>
                  </a:lnTo>
                  <a:lnTo>
                    <a:pt x="186" y="101"/>
                  </a:lnTo>
                  <a:lnTo>
                    <a:pt x="170" y="102"/>
                  </a:lnTo>
                  <a:lnTo>
                    <a:pt x="146" y="111"/>
                  </a:lnTo>
                  <a:lnTo>
                    <a:pt x="120" y="128"/>
                  </a:lnTo>
                  <a:lnTo>
                    <a:pt x="95" y="155"/>
                  </a:lnTo>
                  <a:lnTo>
                    <a:pt x="78" y="193"/>
                  </a:lnTo>
                  <a:lnTo>
                    <a:pt x="74" y="244"/>
                  </a:lnTo>
                  <a:lnTo>
                    <a:pt x="74" y="269"/>
                  </a:lnTo>
                  <a:lnTo>
                    <a:pt x="71" y="268"/>
                  </a:lnTo>
                  <a:lnTo>
                    <a:pt x="64" y="249"/>
                  </a:lnTo>
                  <a:lnTo>
                    <a:pt x="59" y="217"/>
                  </a:lnTo>
                  <a:lnTo>
                    <a:pt x="57" y="176"/>
                  </a:lnTo>
                  <a:lnTo>
                    <a:pt x="61" y="134"/>
                  </a:lnTo>
                  <a:lnTo>
                    <a:pt x="73" y="97"/>
                  </a:lnTo>
                  <a:lnTo>
                    <a:pt x="95" y="71"/>
                  </a:lnTo>
                  <a:lnTo>
                    <a:pt x="88" y="76"/>
                  </a:lnTo>
                  <a:lnTo>
                    <a:pt x="77" y="85"/>
                  </a:lnTo>
                  <a:lnTo>
                    <a:pt x="63" y="97"/>
                  </a:lnTo>
                  <a:lnTo>
                    <a:pt x="48" y="116"/>
                  </a:lnTo>
                  <a:lnTo>
                    <a:pt x="35" y="141"/>
                  </a:lnTo>
                  <a:lnTo>
                    <a:pt x="22" y="175"/>
                  </a:lnTo>
                  <a:lnTo>
                    <a:pt x="13" y="218"/>
                  </a:lnTo>
                  <a:lnTo>
                    <a:pt x="9" y="271"/>
                  </a:lnTo>
                  <a:lnTo>
                    <a:pt x="6" y="293"/>
                  </a:lnTo>
                  <a:lnTo>
                    <a:pt x="3" y="279"/>
                  </a:lnTo>
                  <a:lnTo>
                    <a:pt x="0" y="242"/>
                  </a:lnTo>
                  <a:lnTo>
                    <a:pt x="2" y="188"/>
                  </a:lnTo>
                  <a:lnTo>
                    <a:pt x="8" y="128"/>
                  </a:lnTo>
                  <a:lnTo>
                    <a:pt x="21" y="71"/>
                  </a:lnTo>
                  <a:lnTo>
                    <a:pt x="45" y="27"/>
                  </a:lnTo>
                  <a:lnTo>
                    <a:pt x="80" y="4"/>
                  </a:lnTo>
                  <a:lnTo>
                    <a:pt x="90" y="2"/>
                  </a:lnTo>
                  <a:lnTo>
                    <a:pt x="100" y="1"/>
                  </a:lnTo>
                  <a:lnTo>
                    <a:pt x="112" y="0"/>
                  </a:lnTo>
                  <a:lnTo>
                    <a:pt x="126" y="0"/>
                  </a:lnTo>
                  <a:lnTo>
                    <a:pt x="141" y="0"/>
                  </a:lnTo>
                  <a:lnTo>
                    <a:pt x="156" y="1"/>
                  </a:lnTo>
                  <a:lnTo>
                    <a:pt x="170" y="2"/>
                  </a:lnTo>
                  <a:lnTo>
                    <a:pt x="186" y="4"/>
                  </a:lnTo>
                  <a:lnTo>
                    <a:pt x="201" y="6"/>
                  </a:lnTo>
                  <a:lnTo>
                    <a:pt x="217" y="10"/>
                  </a:lnTo>
                  <a:lnTo>
                    <a:pt x="232" y="12"/>
                  </a:lnTo>
                  <a:lnTo>
                    <a:pt x="245" y="17"/>
                  </a:lnTo>
                  <a:lnTo>
                    <a:pt x="259" y="21"/>
                  </a:lnTo>
                  <a:lnTo>
                    <a:pt x="271" y="27"/>
                  </a:lnTo>
                  <a:lnTo>
                    <a:pt x="282" y="33"/>
                  </a:lnTo>
                  <a:lnTo>
                    <a:pt x="291" y="39"/>
                  </a:lnTo>
                  <a:lnTo>
                    <a:pt x="301" y="47"/>
                  </a:lnTo>
                  <a:lnTo>
                    <a:pt x="313" y="53"/>
                  </a:lnTo>
                  <a:lnTo>
                    <a:pt x="327" y="58"/>
                  </a:lnTo>
                  <a:lnTo>
                    <a:pt x="343" y="63"/>
                  </a:lnTo>
                  <a:lnTo>
                    <a:pt x="360" y="68"/>
                  </a:lnTo>
                  <a:lnTo>
                    <a:pt x="379" y="71"/>
                  </a:lnTo>
                  <a:lnTo>
                    <a:pt x="396" y="75"/>
                  </a:lnTo>
                  <a:lnTo>
                    <a:pt x="414" y="77"/>
                  </a:lnTo>
                  <a:lnTo>
                    <a:pt x="431" y="80"/>
                  </a:lnTo>
                  <a:lnTo>
                    <a:pt x="449" y="82"/>
                  </a:lnTo>
                  <a:lnTo>
                    <a:pt x="464" y="84"/>
                  </a:lnTo>
                  <a:lnTo>
                    <a:pt x="477" y="85"/>
                  </a:lnTo>
                  <a:lnTo>
                    <a:pt x="488" y="86"/>
                  </a:lnTo>
                  <a:lnTo>
                    <a:pt x="497" y="87"/>
                  </a:lnTo>
                  <a:lnTo>
                    <a:pt x="502" y="87"/>
                  </a:lnTo>
                  <a:lnTo>
                    <a:pt x="504" y="87"/>
                  </a:lnTo>
                  <a:lnTo>
                    <a:pt x="507" y="87"/>
                  </a:lnTo>
                  <a:lnTo>
                    <a:pt x="512" y="86"/>
                  </a:lnTo>
                  <a:lnTo>
                    <a:pt x="521" y="86"/>
                  </a:lnTo>
                  <a:lnTo>
                    <a:pt x="534" y="86"/>
                  </a:lnTo>
                  <a:lnTo>
                    <a:pt x="549" y="88"/>
                  </a:lnTo>
                  <a:lnTo>
                    <a:pt x="566" y="93"/>
                  </a:lnTo>
                  <a:lnTo>
                    <a:pt x="585" y="101"/>
                  </a:lnTo>
                  <a:lnTo>
                    <a:pt x="605" y="112"/>
                  </a:lnTo>
                  <a:lnTo>
                    <a:pt x="622" y="124"/>
                  </a:lnTo>
                  <a:lnTo>
                    <a:pt x="635" y="134"/>
                  </a:lnTo>
                  <a:lnTo>
                    <a:pt x="641" y="144"/>
                  </a:lnTo>
                  <a:lnTo>
                    <a:pt x="645" y="152"/>
                  </a:lnTo>
                  <a:lnTo>
                    <a:pt x="646" y="162"/>
                  </a:lnTo>
                  <a:lnTo>
                    <a:pt x="647" y="175"/>
                  </a:lnTo>
                  <a:lnTo>
                    <a:pt x="648" y="191"/>
                  </a:lnTo>
                  <a:lnTo>
                    <a:pt x="652" y="209"/>
                  </a:lnTo>
                  <a:close/>
                </a:path>
              </a:pathLst>
            </a:custGeom>
            <a:solidFill>
              <a:srgbClr val="A5AFB5"/>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114" name="Freeform 120"/>
            <p:cNvSpPr>
              <a:spLocks/>
            </p:cNvSpPr>
            <p:nvPr/>
          </p:nvSpPr>
          <p:spPr bwMode="auto">
            <a:xfrm>
              <a:off x="3213" y="2422"/>
              <a:ext cx="415" cy="140"/>
            </a:xfrm>
            <a:custGeom>
              <a:avLst/>
              <a:gdLst>
                <a:gd name="T0" fmla="*/ 0 w 415"/>
                <a:gd name="T1" fmla="*/ 85 h 140"/>
                <a:gd name="T2" fmla="*/ 2 w 415"/>
                <a:gd name="T3" fmla="*/ 82 h 140"/>
                <a:gd name="T4" fmla="*/ 10 w 415"/>
                <a:gd name="T5" fmla="*/ 71 h 140"/>
                <a:gd name="T6" fmla="*/ 21 w 415"/>
                <a:gd name="T7" fmla="*/ 56 h 140"/>
                <a:gd name="T8" fmla="*/ 36 w 415"/>
                <a:gd name="T9" fmla="*/ 39 h 140"/>
                <a:gd name="T10" fmla="*/ 53 w 415"/>
                <a:gd name="T11" fmla="*/ 21 h 140"/>
                <a:gd name="T12" fmla="*/ 71 w 415"/>
                <a:gd name="T13" fmla="*/ 9 h 140"/>
                <a:gd name="T14" fmla="*/ 90 w 415"/>
                <a:gd name="T15" fmla="*/ 0 h 140"/>
                <a:gd name="T16" fmla="*/ 110 w 415"/>
                <a:gd name="T17" fmla="*/ 0 h 140"/>
                <a:gd name="T18" fmla="*/ 121 w 415"/>
                <a:gd name="T19" fmla="*/ 4 h 140"/>
                <a:gd name="T20" fmla="*/ 137 w 415"/>
                <a:gd name="T21" fmla="*/ 10 h 140"/>
                <a:gd name="T22" fmla="*/ 156 w 415"/>
                <a:gd name="T23" fmla="*/ 18 h 140"/>
                <a:gd name="T24" fmla="*/ 177 w 415"/>
                <a:gd name="T25" fmla="*/ 27 h 140"/>
                <a:gd name="T26" fmla="*/ 202 w 415"/>
                <a:gd name="T27" fmla="*/ 39 h 140"/>
                <a:gd name="T28" fmla="*/ 227 w 415"/>
                <a:gd name="T29" fmla="*/ 50 h 140"/>
                <a:gd name="T30" fmla="*/ 253 w 415"/>
                <a:gd name="T31" fmla="*/ 62 h 140"/>
                <a:gd name="T32" fmla="*/ 280 w 415"/>
                <a:gd name="T33" fmla="*/ 74 h 140"/>
                <a:gd name="T34" fmla="*/ 304 w 415"/>
                <a:gd name="T35" fmla="*/ 87 h 140"/>
                <a:gd name="T36" fmla="*/ 329 w 415"/>
                <a:gd name="T37" fmla="*/ 99 h 140"/>
                <a:gd name="T38" fmla="*/ 352 w 415"/>
                <a:gd name="T39" fmla="*/ 110 h 140"/>
                <a:gd name="T40" fmla="*/ 372 w 415"/>
                <a:gd name="T41" fmla="*/ 120 h 140"/>
                <a:gd name="T42" fmla="*/ 389 w 415"/>
                <a:gd name="T43" fmla="*/ 127 h 140"/>
                <a:gd name="T44" fmla="*/ 403 w 415"/>
                <a:gd name="T45" fmla="*/ 135 h 140"/>
                <a:gd name="T46" fmla="*/ 411 w 415"/>
                <a:gd name="T47" fmla="*/ 138 h 140"/>
                <a:gd name="T48" fmla="*/ 415 w 415"/>
                <a:gd name="T49" fmla="*/ 140 h 140"/>
                <a:gd name="T50" fmla="*/ 413 w 415"/>
                <a:gd name="T51" fmla="*/ 138 h 140"/>
                <a:gd name="T52" fmla="*/ 405 w 415"/>
                <a:gd name="T53" fmla="*/ 135 h 140"/>
                <a:gd name="T54" fmla="*/ 393 w 415"/>
                <a:gd name="T55" fmla="*/ 130 h 140"/>
                <a:gd name="T56" fmla="*/ 376 w 415"/>
                <a:gd name="T57" fmla="*/ 122 h 140"/>
                <a:gd name="T58" fmla="*/ 356 w 415"/>
                <a:gd name="T59" fmla="*/ 114 h 140"/>
                <a:gd name="T60" fmla="*/ 333 w 415"/>
                <a:gd name="T61" fmla="*/ 105 h 140"/>
                <a:gd name="T62" fmla="*/ 308 w 415"/>
                <a:gd name="T63" fmla="*/ 95 h 140"/>
                <a:gd name="T64" fmla="*/ 281 w 415"/>
                <a:gd name="T65" fmla="*/ 85 h 140"/>
                <a:gd name="T66" fmla="*/ 254 w 415"/>
                <a:gd name="T67" fmla="*/ 76 h 140"/>
                <a:gd name="T68" fmla="*/ 228 w 415"/>
                <a:gd name="T69" fmla="*/ 66 h 140"/>
                <a:gd name="T70" fmla="*/ 201 w 415"/>
                <a:gd name="T71" fmla="*/ 57 h 140"/>
                <a:gd name="T72" fmla="*/ 177 w 415"/>
                <a:gd name="T73" fmla="*/ 50 h 140"/>
                <a:gd name="T74" fmla="*/ 155 w 415"/>
                <a:gd name="T75" fmla="*/ 45 h 140"/>
                <a:gd name="T76" fmla="*/ 136 w 415"/>
                <a:gd name="T77" fmla="*/ 40 h 140"/>
                <a:gd name="T78" fmla="*/ 121 w 415"/>
                <a:gd name="T79" fmla="*/ 39 h 140"/>
                <a:gd name="T80" fmla="*/ 110 w 415"/>
                <a:gd name="T81" fmla="*/ 39 h 140"/>
                <a:gd name="T82" fmla="*/ 95 w 415"/>
                <a:gd name="T83" fmla="*/ 41 h 140"/>
                <a:gd name="T84" fmla="*/ 83 w 415"/>
                <a:gd name="T85" fmla="*/ 42 h 140"/>
                <a:gd name="T86" fmla="*/ 73 w 415"/>
                <a:gd name="T87" fmla="*/ 42 h 140"/>
                <a:gd name="T88" fmla="*/ 63 w 415"/>
                <a:gd name="T89" fmla="*/ 43 h 140"/>
                <a:gd name="T90" fmla="*/ 52 w 415"/>
                <a:gd name="T91" fmla="*/ 47 h 140"/>
                <a:gd name="T92" fmla="*/ 38 w 415"/>
                <a:gd name="T93" fmla="*/ 55 h 140"/>
                <a:gd name="T94" fmla="*/ 22 w 415"/>
                <a:gd name="T95" fmla="*/ 67 h 140"/>
                <a:gd name="T96" fmla="*/ 0 w 415"/>
                <a:gd name="T97" fmla="*/ 85 h 140"/>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415"/>
                <a:gd name="T148" fmla="*/ 0 h 140"/>
                <a:gd name="T149" fmla="*/ 415 w 415"/>
                <a:gd name="T150" fmla="*/ 140 h 140"/>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415" h="140">
                  <a:moveTo>
                    <a:pt x="0" y="85"/>
                  </a:moveTo>
                  <a:lnTo>
                    <a:pt x="2" y="82"/>
                  </a:lnTo>
                  <a:lnTo>
                    <a:pt x="10" y="71"/>
                  </a:lnTo>
                  <a:lnTo>
                    <a:pt x="21" y="56"/>
                  </a:lnTo>
                  <a:lnTo>
                    <a:pt x="36" y="39"/>
                  </a:lnTo>
                  <a:lnTo>
                    <a:pt x="53" y="21"/>
                  </a:lnTo>
                  <a:lnTo>
                    <a:pt x="71" y="9"/>
                  </a:lnTo>
                  <a:lnTo>
                    <a:pt x="90" y="0"/>
                  </a:lnTo>
                  <a:lnTo>
                    <a:pt x="110" y="0"/>
                  </a:lnTo>
                  <a:lnTo>
                    <a:pt x="121" y="4"/>
                  </a:lnTo>
                  <a:lnTo>
                    <a:pt x="137" y="10"/>
                  </a:lnTo>
                  <a:lnTo>
                    <a:pt x="156" y="18"/>
                  </a:lnTo>
                  <a:lnTo>
                    <a:pt x="177" y="27"/>
                  </a:lnTo>
                  <a:lnTo>
                    <a:pt x="202" y="39"/>
                  </a:lnTo>
                  <a:lnTo>
                    <a:pt x="227" y="50"/>
                  </a:lnTo>
                  <a:lnTo>
                    <a:pt x="253" y="62"/>
                  </a:lnTo>
                  <a:lnTo>
                    <a:pt x="280" y="74"/>
                  </a:lnTo>
                  <a:lnTo>
                    <a:pt x="304" y="87"/>
                  </a:lnTo>
                  <a:lnTo>
                    <a:pt x="329" y="99"/>
                  </a:lnTo>
                  <a:lnTo>
                    <a:pt x="352" y="110"/>
                  </a:lnTo>
                  <a:lnTo>
                    <a:pt x="372" y="120"/>
                  </a:lnTo>
                  <a:lnTo>
                    <a:pt x="389" y="127"/>
                  </a:lnTo>
                  <a:lnTo>
                    <a:pt x="403" y="135"/>
                  </a:lnTo>
                  <a:lnTo>
                    <a:pt x="411" y="138"/>
                  </a:lnTo>
                  <a:lnTo>
                    <a:pt x="415" y="140"/>
                  </a:lnTo>
                  <a:lnTo>
                    <a:pt x="413" y="138"/>
                  </a:lnTo>
                  <a:lnTo>
                    <a:pt x="405" y="135"/>
                  </a:lnTo>
                  <a:lnTo>
                    <a:pt x="393" y="130"/>
                  </a:lnTo>
                  <a:lnTo>
                    <a:pt x="376" y="122"/>
                  </a:lnTo>
                  <a:lnTo>
                    <a:pt x="356" y="114"/>
                  </a:lnTo>
                  <a:lnTo>
                    <a:pt x="333" y="105"/>
                  </a:lnTo>
                  <a:lnTo>
                    <a:pt x="308" y="95"/>
                  </a:lnTo>
                  <a:lnTo>
                    <a:pt x="281" y="85"/>
                  </a:lnTo>
                  <a:lnTo>
                    <a:pt x="254" y="76"/>
                  </a:lnTo>
                  <a:lnTo>
                    <a:pt x="228" y="66"/>
                  </a:lnTo>
                  <a:lnTo>
                    <a:pt x="201" y="57"/>
                  </a:lnTo>
                  <a:lnTo>
                    <a:pt x="177" y="50"/>
                  </a:lnTo>
                  <a:lnTo>
                    <a:pt x="155" y="45"/>
                  </a:lnTo>
                  <a:lnTo>
                    <a:pt x="136" y="40"/>
                  </a:lnTo>
                  <a:lnTo>
                    <a:pt x="121" y="39"/>
                  </a:lnTo>
                  <a:lnTo>
                    <a:pt x="110" y="39"/>
                  </a:lnTo>
                  <a:lnTo>
                    <a:pt x="95" y="41"/>
                  </a:lnTo>
                  <a:lnTo>
                    <a:pt x="83" y="42"/>
                  </a:lnTo>
                  <a:lnTo>
                    <a:pt x="73" y="42"/>
                  </a:lnTo>
                  <a:lnTo>
                    <a:pt x="63" y="43"/>
                  </a:lnTo>
                  <a:lnTo>
                    <a:pt x="52" y="47"/>
                  </a:lnTo>
                  <a:lnTo>
                    <a:pt x="38" y="55"/>
                  </a:lnTo>
                  <a:lnTo>
                    <a:pt x="22" y="67"/>
                  </a:lnTo>
                  <a:lnTo>
                    <a:pt x="0" y="85"/>
                  </a:lnTo>
                  <a:close/>
                </a:path>
              </a:pathLst>
            </a:custGeom>
            <a:solidFill>
              <a:srgbClr val="FFFFFF"/>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115" name="Freeform 121"/>
            <p:cNvSpPr>
              <a:spLocks/>
            </p:cNvSpPr>
            <p:nvPr/>
          </p:nvSpPr>
          <p:spPr bwMode="auto">
            <a:xfrm>
              <a:off x="4109" y="2980"/>
              <a:ext cx="123" cy="97"/>
            </a:xfrm>
            <a:custGeom>
              <a:avLst/>
              <a:gdLst>
                <a:gd name="T0" fmla="*/ 25 w 123"/>
                <a:gd name="T1" fmla="*/ 31 h 97"/>
                <a:gd name="T2" fmla="*/ 29 w 123"/>
                <a:gd name="T3" fmla="*/ 33 h 97"/>
                <a:gd name="T4" fmla="*/ 37 w 123"/>
                <a:gd name="T5" fmla="*/ 40 h 97"/>
                <a:gd name="T6" fmla="*/ 49 w 123"/>
                <a:gd name="T7" fmla="*/ 49 h 97"/>
                <a:gd name="T8" fmla="*/ 64 w 123"/>
                <a:gd name="T9" fmla="*/ 59 h 97"/>
                <a:gd name="T10" fmla="*/ 80 w 123"/>
                <a:gd name="T11" fmla="*/ 68 h 97"/>
                <a:gd name="T12" fmla="*/ 94 w 123"/>
                <a:gd name="T13" fmla="*/ 75 h 97"/>
                <a:gd name="T14" fmla="*/ 108 w 123"/>
                <a:gd name="T15" fmla="*/ 78 h 97"/>
                <a:gd name="T16" fmla="*/ 118 w 123"/>
                <a:gd name="T17" fmla="*/ 75 h 97"/>
                <a:gd name="T18" fmla="*/ 123 w 123"/>
                <a:gd name="T19" fmla="*/ 73 h 97"/>
                <a:gd name="T20" fmla="*/ 123 w 123"/>
                <a:gd name="T21" fmla="*/ 75 h 97"/>
                <a:gd name="T22" fmla="*/ 120 w 123"/>
                <a:gd name="T23" fmla="*/ 80 h 97"/>
                <a:gd name="T24" fmla="*/ 113 w 123"/>
                <a:gd name="T25" fmla="*/ 86 h 97"/>
                <a:gd name="T26" fmla="*/ 104 w 123"/>
                <a:gd name="T27" fmla="*/ 93 h 97"/>
                <a:gd name="T28" fmla="*/ 93 w 123"/>
                <a:gd name="T29" fmla="*/ 96 h 97"/>
                <a:gd name="T30" fmla="*/ 81 w 123"/>
                <a:gd name="T31" fmla="*/ 97 h 97"/>
                <a:gd name="T32" fmla="*/ 67 w 123"/>
                <a:gd name="T33" fmla="*/ 93 h 97"/>
                <a:gd name="T34" fmla="*/ 54 w 123"/>
                <a:gd name="T35" fmla="*/ 83 h 97"/>
                <a:gd name="T36" fmla="*/ 41 w 123"/>
                <a:gd name="T37" fmla="*/ 69 h 97"/>
                <a:gd name="T38" fmla="*/ 30 w 123"/>
                <a:gd name="T39" fmla="*/ 53 h 97"/>
                <a:gd name="T40" fmla="*/ 21 w 123"/>
                <a:gd name="T41" fmla="*/ 38 h 97"/>
                <a:gd name="T42" fmla="*/ 12 w 123"/>
                <a:gd name="T43" fmla="*/ 24 h 97"/>
                <a:gd name="T44" fmla="*/ 6 w 123"/>
                <a:gd name="T45" fmla="*/ 11 h 97"/>
                <a:gd name="T46" fmla="*/ 1 w 123"/>
                <a:gd name="T47" fmla="*/ 3 h 97"/>
                <a:gd name="T48" fmla="*/ 0 w 123"/>
                <a:gd name="T49" fmla="*/ 0 h 97"/>
                <a:gd name="T50" fmla="*/ 25 w 123"/>
                <a:gd name="T51" fmla="*/ 31 h 9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23"/>
                <a:gd name="T79" fmla="*/ 0 h 97"/>
                <a:gd name="T80" fmla="*/ 123 w 123"/>
                <a:gd name="T81" fmla="*/ 97 h 9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23" h="97">
                  <a:moveTo>
                    <a:pt x="25" y="31"/>
                  </a:moveTo>
                  <a:lnTo>
                    <a:pt x="29" y="33"/>
                  </a:lnTo>
                  <a:lnTo>
                    <a:pt x="37" y="40"/>
                  </a:lnTo>
                  <a:lnTo>
                    <a:pt x="49" y="49"/>
                  </a:lnTo>
                  <a:lnTo>
                    <a:pt x="64" y="59"/>
                  </a:lnTo>
                  <a:lnTo>
                    <a:pt x="80" y="68"/>
                  </a:lnTo>
                  <a:lnTo>
                    <a:pt x="94" y="75"/>
                  </a:lnTo>
                  <a:lnTo>
                    <a:pt x="108" y="78"/>
                  </a:lnTo>
                  <a:lnTo>
                    <a:pt x="118" y="75"/>
                  </a:lnTo>
                  <a:lnTo>
                    <a:pt x="123" y="73"/>
                  </a:lnTo>
                  <a:lnTo>
                    <a:pt x="123" y="75"/>
                  </a:lnTo>
                  <a:lnTo>
                    <a:pt x="120" y="80"/>
                  </a:lnTo>
                  <a:lnTo>
                    <a:pt x="113" y="86"/>
                  </a:lnTo>
                  <a:lnTo>
                    <a:pt x="104" y="93"/>
                  </a:lnTo>
                  <a:lnTo>
                    <a:pt x="93" y="96"/>
                  </a:lnTo>
                  <a:lnTo>
                    <a:pt x="81" y="97"/>
                  </a:lnTo>
                  <a:lnTo>
                    <a:pt x="67" y="93"/>
                  </a:lnTo>
                  <a:lnTo>
                    <a:pt x="54" y="83"/>
                  </a:lnTo>
                  <a:lnTo>
                    <a:pt x="41" y="69"/>
                  </a:lnTo>
                  <a:lnTo>
                    <a:pt x="30" y="53"/>
                  </a:lnTo>
                  <a:lnTo>
                    <a:pt x="21" y="38"/>
                  </a:lnTo>
                  <a:lnTo>
                    <a:pt x="12" y="24"/>
                  </a:lnTo>
                  <a:lnTo>
                    <a:pt x="6" y="11"/>
                  </a:lnTo>
                  <a:lnTo>
                    <a:pt x="1" y="3"/>
                  </a:lnTo>
                  <a:lnTo>
                    <a:pt x="0" y="0"/>
                  </a:lnTo>
                  <a:lnTo>
                    <a:pt x="25" y="31"/>
                  </a:lnTo>
                  <a:close/>
                </a:path>
              </a:pathLst>
            </a:custGeom>
            <a:solidFill>
              <a:srgbClr val="7FBFBF"/>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116" name="Freeform 122"/>
            <p:cNvSpPr>
              <a:spLocks/>
            </p:cNvSpPr>
            <p:nvPr/>
          </p:nvSpPr>
          <p:spPr bwMode="auto">
            <a:xfrm>
              <a:off x="4056" y="3079"/>
              <a:ext cx="123" cy="96"/>
            </a:xfrm>
            <a:custGeom>
              <a:avLst/>
              <a:gdLst>
                <a:gd name="T0" fmla="*/ 26 w 123"/>
                <a:gd name="T1" fmla="*/ 29 h 96"/>
                <a:gd name="T2" fmla="*/ 29 w 123"/>
                <a:gd name="T3" fmla="*/ 32 h 96"/>
                <a:gd name="T4" fmla="*/ 37 w 123"/>
                <a:gd name="T5" fmla="*/ 38 h 96"/>
                <a:gd name="T6" fmla="*/ 49 w 123"/>
                <a:gd name="T7" fmla="*/ 48 h 96"/>
                <a:gd name="T8" fmla="*/ 64 w 123"/>
                <a:gd name="T9" fmla="*/ 56 h 96"/>
                <a:gd name="T10" fmla="*/ 80 w 123"/>
                <a:gd name="T11" fmla="*/ 66 h 96"/>
                <a:gd name="T12" fmla="*/ 94 w 123"/>
                <a:gd name="T13" fmla="*/ 72 h 96"/>
                <a:gd name="T14" fmla="*/ 107 w 123"/>
                <a:gd name="T15" fmla="*/ 76 h 96"/>
                <a:gd name="T16" fmla="*/ 117 w 123"/>
                <a:gd name="T17" fmla="*/ 74 h 96"/>
                <a:gd name="T18" fmla="*/ 122 w 123"/>
                <a:gd name="T19" fmla="*/ 71 h 96"/>
                <a:gd name="T20" fmla="*/ 123 w 123"/>
                <a:gd name="T21" fmla="*/ 74 h 96"/>
                <a:gd name="T22" fmla="*/ 119 w 123"/>
                <a:gd name="T23" fmla="*/ 78 h 96"/>
                <a:gd name="T24" fmla="*/ 113 w 123"/>
                <a:gd name="T25" fmla="*/ 85 h 96"/>
                <a:gd name="T26" fmla="*/ 103 w 123"/>
                <a:gd name="T27" fmla="*/ 91 h 96"/>
                <a:gd name="T28" fmla="*/ 92 w 123"/>
                <a:gd name="T29" fmla="*/ 94 h 96"/>
                <a:gd name="T30" fmla="*/ 80 w 123"/>
                <a:gd name="T31" fmla="*/ 96 h 96"/>
                <a:gd name="T32" fmla="*/ 66 w 123"/>
                <a:gd name="T33" fmla="*/ 91 h 96"/>
                <a:gd name="T34" fmla="*/ 54 w 123"/>
                <a:gd name="T35" fmla="*/ 81 h 96"/>
                <a:gd name="T36" fmla="*/ 42 w 123"/>
                <a:gd name="T37" fmla="*/ 67 h 96"/>
                <a:gd name="T38" fmla="*/ 30 w 123"/>
                <a:gd name="T39" fmla="*/ 53 h 96"/>
                <a:gd name="T40" fmla="*/ 21 w 123"/>
                <a:gd name="T41" fmla="*/ 37 h 96"/>
                <a:gd name="T42" fmla="*/ 12 w 123"/>
                <a:gd name="T43" fmla="*/ 23 h 96"/>
                <a:gd name="T44" fmla="*/ 6 w 123"/>
                <a:gd name="T45" fmla="*/ 11 h 96"/>
                <a:gd name="T46" fmla="*/ 1 w 123"/>
                <a:gd name="T47" fmla="*/ 2 h 96"/>
                <a:gd name="T48" fmla="*/ 0 w 123"/>
                <a:gd name="T49" fmla="*/ 0 h 96"/>
                <a:gd name="T50" fmla="*/ 26 w 123"/>
                <a:gd name="T51" fmla="*/ 29 h 9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23"/>
                <a:gd name="T79" fmla="*/ 0 h 96"/>
                <a:gd name="T80" fmla="*/ 123 w 123"/>
                <a:gd name="T81" fmla="*/ 96 h 9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23" h="96">
                  <a:moveTo>
                    <a:pt x="26" y="29"/>
                  </a:moveTo>
                  <a:lnTo>
                    <a:pt x="29" y="32"/>
                  </a:lnTo>
                  <a:lnTo>
                    <a:pt x="37" y="38"/>
                  </a:lnTo>
                  <a:lnTo>
                    <a:pt x="49" y="48"/>
                  </a:lnTo>
                  <a:lnTo>
                    <a:pt x="64" y="56"/>
                  </a:lnTo>
                  <a:lnTo>
                    <a:pt x="80" y="66"/>
                  </a:lnTo>
                  <a:lnTo>
                    <a:pt x="94" y="72"/>
                  </a:lnTo>
                  <a:lnTo>
                    <a:pt x="107" y="76"/>
                  </a:lnTo>
                  <a:lnTo>
                    <a:pt x="117" y="74"/>
                  </a:lnTo>
                  <a:lnTo>
                    <a:pt x="122" y="71"/>
                  </a:lnTo>
                  <a:lnTo>
                    <a:pt x="123" y="74"/>
                  </a:lnTo>
                  <a:lnTo>
                    <a:pt x="119" y="78"/>
                  </a:lnTo>
                  <a:lnTo>
                    <a:pt x="113" y="85"/>
                  </a:lnTo>
                  <a:lnTo>
                    <a:pt x="103" y="91"/>
                  </a:lnTo>
                  <a:lnTo>
                    <a:pt x="92" y="94"/>
                  </a:lnTo>
                  <a:lnTo>
                    <a:pt x="80" y="96"/>
                  </a:lnTo>
                  <a:lnTo>
                    <a:pt x="66" y="91"/>
                  </a:lnTo>
                  <a:lnTo>
                    <a:pt x="54" y="81"/>
                  </a:lnTo>
                  <a:lnTo>
                    <a:pt x="42" y="67"/>
                  </a:lnTo>
                  <a:lnTo>
                    <a:pt x="30" y="53"/>
                  </a:lnTo>
                  <a:lnTo>
                    <a:pt x="21" y="37"/>
                  </a:lnTo>
                  <a:lnTo>
                    <a:pt x="12" y="23"/>
                  </a:lnTo>
                  <a:lnTo>
                    <a:pt x="6" y="11"/>
                  </a:lnTo>
                  <a:lnTo>
                    <a:pt x="1" y="2"/>
                  </a:lnTo>
                  <a:lnTo>
                    <a:pt x="0" y="0"/>
                  </a:lnTo>
                  <a:lnTo>
                    <a:pt x="26" y="29"/>
                  </a:lnTo>
                  <a:close/>
                </a:path>
              </a:pathLst>
            </a:custGeom>
            <a:solidFill>
              <a:srgbClr val="7FBFBF"/>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117" name="Freeform 123"/>
            <p:cNvSpPr>
              <a:spLocks/>
            </p:cNvSpPr>
            <p:nvPr/>
          </p:nvSpPr>
          <p:spPr bwMode="auto">
            <a:xfrm>
              <a:off x="3973" y="2727"/>
              <a:ext cx="40" cy="76"/>
            </a:xfrm>
            <a:custGeom>
              <a:avLst/>
              <a:gdLst>
                <a:gd name="T0" fmla="*/ 30 w 40"/>
                <a:gd name="T1" fmla="*/ 0 h 76"/>
                <a:gd name="T2" fmla="*/ 28 w 40"/>
                <a:gd name="T3" fmla="*/ 11 h 76"/>
                <a:gd name="T4" fmla="*/ 25 w 40"/>
                <a:gd name="T5" fmla="*/ 34 h 76"/>
                <a:gd name="T6" fmla="*/ 17 w 40"/>
                <a:gd name="T7" fmla="*/ 59 h 76"/>
                <a:gd name="T8" fmla="*/ 7 w 40"/>
                <a:gd name="T9" fmla="*/ 72 h 76"/>
                <a:gd name="T10" fmla="*/ 0 w 40"/>
                <a:gd name="T11" fmla="*/ 76 h 76"/>
                <a:gd name="T12" fmla="*/ 3 w 40"/>
                <a:gd name="T13" fmla="*/ 75 h 76"/>
                <a:gd name="T14" fmla="*/ 11 w 40"/>
                <a:gd name="T15" fmla="*/ 71 h 76"/>
                <a:gd name="T16" fmla="*/ 22 w 40"/>
                <a:gd name="T17" fmla="*/ 62 h 76"/>
                <a:gd name="T18" fmla="*/ 32 w 40"/>
                <a:gd name="T19" fmla="*/ 51 h 76"/>
                <a:gd name="T20" fmla="*/ 40 w 40"/>
                <a:gd name="T21" fmla="*/ 38 h 76"/>
                <a:gd name="T22" fmla="*/ 40 w 40"/>
                <a:gd name="T23" fmla="*/ 19 h 76"/>
                <a:gd name="T24" fmla="*/ 30 w 40"/>
                <a:gd name="T25" fmla="*/ 0 h 7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
                <a:gd name="T40" fmla="*/ 0 h 76"/>
                <a:gd name="T41" fmla="*/ 40 w 40"/>
                <a:gd name="T42" fmla="*/ 76 h 7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 h="76">
                  <a:moveTo>
                    <a:pt x="30" y="0"/>
                  </a:moveTo>
                  <a:lnTo>
                    <a:pt x="28" y="11"/>
                  </a:lnTo>
                  <a:lnTo>
                    <a:pt x="25" y="34"/>
                  </a:lnTo>
                  <a:lnTo>
                    <a:pt x="17" y="59"/>
                  </a:lnTo>
                  <a:lnTo>
                    <a:pt x="7" y="72"/>
                  </a:lnTo>
                  <a:lnTo>
                    <a:pt x="0" y="76"/>
                  </a:lnTo>
                  <a:lnTo>
                    <a:pt x="3" y="75"/>
                  </a:lnTo>
                  <a:lnTo>
                    <a:pt x="11" y="71"/>
                  </a:lnTo>
                  <a:lnTo>
                    <a:pt x="22" y="62"/>
                  </a:lnTo>
                  <a:lnTo>
                    <a:pt x="32" y="51"/>
                  </a:lnTo>
                  <a:lnTo>
                    <a:pt x="40" y="38"/>
                  </a:lnTo>
                  <a:lnTo>
                    <a:pt x="40" y="19"/>
                  </a:lnTo>
                  <a:lnTo>
                    <a:pt x="30" y="0"/>
                  </a:lnTo>
                  <a:close/>
                </a:path>
              </a:pathLst>
            </a:custGeom>
            <a:solidFill>
              <a:srgbClr val="FFFFFF"/>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118" name="Freeform 124"/>
            <p:cNvSpPr>
              <a:spLocks/>
            </p:cNvSpPr>
            <p:nvPr/>
          </p:nvSpPr>
          <p:spPr bwMode="auto">
            <a:xfrm>
              <a:off x="3902" y="2821"/>
              <a:ext cx="75" cy="75"/>
            </a:xfrm>
            <a:custGeom>
              <a:avLst/>
              <a:gdLst>
                <a:gd name="T0" fmla="*/ 43 w 75"/>
                <a:gd name="T1" fmla="*/ 0 h 75"/>
                <a:gd name="T2" fmla="*/ 43 w 75"/>
                <a:gd name="T3" fmla="*/ 3 h 75"/>
                <a:gd name="T4" fmla="*/ 40 w 75"/>
                <a:gd name="T5" fmla="*/ 10 h 75"/>
                <a:gd name="T6" fmla="*/ 38 w 75"/>
                <a:gd name="T7" fmla="*/ 21 h 75"/>
                <a:gd name="T8" fmla="*/ 33 w 75"/>
                <a:gd name="T9" fmla="*/ 34 h 75"/>
                <a:gd name="T10" fmla="*/ 28 w 75"/>
                <a:gd name="T11" fmla="*/ 46 h 75"/>
                <a:gd name="T12" fmla="*/ 21 w 75"/>
                <a:gd name="T13" fmla="*/ 57 h 75"/>
                <a:gd name="T14" fmla="*/ 12 w 75"/>
                <a:gd name="T15" fmla="*/ 66 h 75"/>
                <a:gd name="T16" fmla="*/ 2 w 75"/>
                <a:gd name="T17" fmla="*/ 71 h 75"/>
                <a:gd name="T18" fmla="*/ 0 w 75"/>
                <a:gd name="T19" fmla="*/ 73 h 75"/>
                <a:gd name="T20" fmla="*/ 11 w 75"/>
                <a:gd name="T21" fmla="*/ 75 h 75"/>
                <a:gd name="T22" fmla="*/ 29 w 75"/>
                <a:gd name="T23" fmla="*/ 75 h 75"/>
                <a:gd name="T24" fmla="*/ 49 w 75"/>
                <a:gd name="T25" fmla="*/ 72 h 75"/>
                <a:gd name="T26" fmla="*/ 66 w 75"/>
                <a:gd name="T27" fmla="*/ 64 h 75"/>
                <a:gd name="T28" fmla="*/ 75 w 75"/>
                <a:gd name="T29" fmla="*/ 51 h 75"/>
                <a:gd name="T30" fmla="*/ 69 w 75"/>
                <a:gd name="T31" fmla="*/ 30 h 75"/>
                <a:gd name="T32" fmla="*/ 43 w 75"/>
                <a:gd name="T33" fmla="*/ 0 h 7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5"/>
                <a:gd name="T52" fmla="*/ 0 h 75"/>
                <a:gd name="T53" fmla="*/ 75 w 75"/>
                <a:gd name="T54" fmla="*/ 75 h 7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5" h="75">
                  <a:moveTo>
                    <a:pt x="43" y="0"/>
                  </a:moveTo>
                  <a:lnTo>
                    <a:pt x="43" y="3"/>
                  </a:lnTo>
                  <a:lnTo>
                    <a:pt x="40" y="10"/>
                  </a:lnTo>
                  <a:lnTo>
                    <a:pt x="38" y="21"/>
                  </a:lnTo>
                  <a:lnTo>
                    <a:pt x="33" y="34"/>
                  </a:lnTo>
                  <a:lnTo>
                    <a:pt x="28" y="46"/>
                  </a:lnTo>
                  <a:lnTo>
                    <a:pt x="21" y="57"/>
                  </a:lnTo>
                  <a:lnTo>
                    <a:pt x="12" y="66"/>
                  </a:lnTo>
                  <a:lnTo>
                    <a:pt x="2" y="71"/>
                  </a:lnTo>
                  <a:lnTo>
                    <a:pt x="0" y="73"/>
                  </a:lnTo>
                  <a:lnTo>
                    <a:pt x="11" y="75"/>
                  </a:lnTo>
                  <a:lnTo>
                    <a:pt x="29" y="75"/>
                  </a:lnTo>
                  <a:lnTo>
                    <a:pt x="49" y="72"/>
                  </a:lnTo>
                  <a:lnTo>
                    <a:pt x="66" y="64"/>
                  </a:lnTo>
                  <a:lnTo>
                    <a:pt x="75" y="51"/>
                  </a:lnTo>
                  <a:lnTo>
                    <a:pt x="69" y="30"/>
                  </a:lnTo>
                  <a:lnTo>
                    <a:pt x="43" y="0"/>
                  </a:lnTo>
                  <a:close/>
                </a:path>
              </a:pathLst>
            </a:custGeom>
            <a:solidFill>
              <a:srgbClr val="FFFFFF"/>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119" name="Freeform 125"/>
            <p:cNvSpPr>
              <a:spLocks/>
            </p:cNvSpPr>
            <p:nvPr/>
          </p:nvSpPr>
          <p:spPr bwMode="auto">
            <a:xfrm>
              <a:off x="3808" y="2910"/>
              <a:ext cx="138" cy="126"/>
            </a:xfrm>
            <a:custGeom>
              <a:avLst/>
              <a:gdLst>
                <a:gd name="T0" fmla="*/ 0 w 138"/>
                <a:gd name="T1" fmla="*/ 63 h 126"/>
                <a:gd name="T2" fmla="*/ 2 w 138"/>
                <a:gd name="T3" fmla="*/ 63 h 126"/>
                <a:gd name="T4" fmla="*/ 11 w 138"/>
                <a:gd name="T5" fmla="*/ 62 h 126"/>
                <a:gd name="T6" fmla="*/ 22 w 138"/>
                <a:gd name="T7" fmla="*/ 59 h 126"/>
                <a:gd name="T8" fmla="*/ 35 w 138"/>
                <a:gd name="T9" fmla="*/ 55 h 126"/>
                <a:gd name="T10" fmla="*/ 47 w 138"/>
                <a:gd name="T11" fmla="*/ 49 h 126"/>
                <a:gd name="T12" fmla="*/ 57 w 138"/>
                <a:gd name="T13" fmla="*/ 39 h 126"/>
                <a:gd name="T14" fmla="*/ 64 w 138"/>
                <a:gd name="T15" fmla="*/ 27 h 126"/>
                <a:gd name="T16" fmla="*/ 65 w 138"/>
                <a:gd name="T17" fmla="*/ 10 h 126"/>
                <a:gd name="T18" fmla="*/ 68 w 138"/>
                <a:gd name="T19" fmla="*/ 0 h 126"/>
                <a:gd name="T20" fmla="*/ 75 w 138"/>
                <a:gd name="T21" fmla="*/ 6 h 126"/>
                <a:gd name="T22" fmla="*/ 87 w 138"/>
                <a:gd name="T23" fmla="*/ 25 h 126"/>
                <a:gd name="T24" fmla="*/ 101 w 138"/>
                <a:gd name="T25" fmla="*/ 49 h 126"/>
                <a:gd name="T26" fmla="*/ 115 w 138"/>
                <a:gd name="T27" fmla="*/ 75 h 126"/>
                <a:gd name="T28" fmla="*/ 127 w 138"/>
                <a:gd name="T29" fmla="*/ 101 h 126"/>
                <a:gd name="T30" fmla="*/ 134 w 138"/>
                <a:gd name="T31" fmla="*/ 118 h 126"/>
                <a:gd name="T32" fmla="*/ 138 w 138"/>
                <a:gd name="T33" fmla="*/ 126 h 126"/>
                <a:gd name="T34" fmla="*/ 63 w 138"/>
                <a:gd name="T35" fmla="*/ 63 h 126"/>
                <a:gd name="T36" fmla="*/ 62 w 138"/>
                <a:gd name="T37" fmla="*/ 64 h 126"/>
                <a:gd name="T38" fmla="*/ 58 w 138"/>
                <a:gd name="T39" fmla="*/ 66 h 126"/>
                <a:gd name="T40" fmla="*/ 53 w 138"/>
                <a:gd name="T41" fmla="*/ 70 h 126"/>
                <a:gd name="T42" fmla="*/ 46 w 138"/>
                <a:gd name="T43" fmla="*/ 73 h 126"/>
                <a:gd name="T44" fmla="*/ 36 w 138"/>
                <a:gd name="T45" fmla="*/ 75 h 126"/>
                <a:gd name="T46" fmla="*/ 26 w 138"/>
                <a:gd name="T47" fmla="*/ 74 h 126"/>
                <a:gd name="T48" fmla="*/ 14 w 138"/>
                <a:gd name="T49" fmla="*/ 70 h 126"/>
                <a:gd name="T50" fmla="*/ 0 w 138"/>
                <a:gd name="T51" fmla="*/ 63 h 12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38"/>
                <a:gd name="T79" fmla="*/ 0 h 126"/>
                <a:gd name="T80" fmla="*/ 138 w 138"/>
                <a:gd name="T81" fmla="*/ 126 h 12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38" h="126">
                  <a:moveTo>
                    <a:pt x="0" y="63"/>
                  </a:moveTo>
                  <a:lnTo>
                    <a:pt x="2" y="63"/>
                  </a:lnTo>
                  <a:lnTo>
                    <a:pt x="11" y="62"/>
                  </a:lnTo>
                  <a:lnTo>
                    <a:pt x="22" y="59"/>
                  </a:lnTo>
                  <a:lnTo>
                    <a:pt x="35" y="55"/>
                  </a:lnTo>
                  <a:lnTo>
                    <a:pt x="47" y="49"/>
                  </a:lnTo>
                  <a:lnTo>
                    <a:pt x="57" y="39"/>
                  </a:lnTo>
                  <a:lnTo>
                    <a:pt x="64" y="27"/>
                  </a:lnTo>
                  <a:lnTo>
                    <a:pt x="65" y="10"/>
                  </a:lnTo>
                  <a:lnTo>
                    <a:pt x="68" y="0"/>
                  </a:lnTo>
                  <a:lnTo>
                    <a:pt x="75" y="6"/>
                  </a:lnTo>
                  <a:lnTo>
                    <a:pt x="87" y="25"/>
                  </a:lnTo>
                  <a:lnTo>
                    <a:pt x="101" y="49"/>
                  </a:lnTo>
                  <a:lnTo>
                    <a:pt x="115" y="75"/>
                  </a:lnTo>
                  <a:lnTo>
                    <a:pt x="127" y="101"/>
                  </a:lnTo>
                  <a:lnTo>
                    <a:pt x="134" y="118"/>
                  </a:lnTo>
                  <a:lnTo>
                    <a:pt x="138" y="126"/>
                  </a:lnTo>
                  <a:lnTo>
                    <a:pt x="63" y="63"/>
                  </a:lnTo>
                  <a:lnTo>
                    <a:pt x="62" y="64"/>
                  </a:lnTo>
                  <a:lnTo>
                    <a:pt x="58" y="66"/>
                  </a:lnTo>
                  <a:lnTo>
                    <a:pt x="53" y="70"/>
                  </a:lnTo>
                  <a:lnTo>
                    <a:pt x="46" y="73"/>
                  </a:lnTo>
                  <a:lnTo>
                    <a:pt x="36" y="75"/>
                  </a:lnTo>
                  <a:lnTo>
                    <a:pt x="26" y="74"/>
                  </a:lnTo>
                  <a:lnTo>
                    <a:pt x="14" y="70"/>
                  </a:lnTo>
                  <a:lnTo>
                    <a:pt x="0" y="63"/>
                  </a:lnTo>
                  <a:close/>
                </a:path>
              </a:pathLst>
            </a:custGeom>
            <a:solidFill>
              <a:srgbClr val="FFFFFF"/>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120" name="Freeform 126"/>
            <p:cNvSpPr>
              <a:spLocks/>
            </p:cNvSpPr>
            <p:nvPr/>
          </p:nvSpPr>
          <p:spPr bwMode="auto">
            <a:xfrm>
              <a:off x="3780" y="3008"/>
              <a:ext cx="63" cy="82"/>
            </a:xfrm>
            <a:custGeom>
              <a:avLst/>
              <a:gdLst>
                <a:gd name="T0" fmla="*/ 0 w 63"/>
                <a:gd name="T1" fmla="*/ 69 h 82"/>
                <a:gd name="T2" fmla="*/ 1 w 63"/>
                <a:gd name="T3" fmla="*/ 68 h 82"/>
                <a:gd name="T4" fmla="*/ 6 w 63"/>
                <a:gd name="T5" fmla="*/ 66 h 82"/>
                <a:gd name="T6" fmla="*/ 11 w 63"/>
                <a:gd name="T7" fmla="*/ 61 h 82"/>
                <a:gd name="T8" fmla="*/ 17 w 63"/>
                <a:gd name="T9" fmla="*/ 55 h 82"/>
                <a:gd name="T10" fmla="*/ 22 w 63"/>
                <a:gd name="T11" fmla="*/ 46 h 82"/>
                <a:gd name="T12" fmla="*/ 24 w 63"/>
                <a:gd name="T13" fmla="*/ 36 h 82"/>
                <a:gd name="T14" fmla="*/ 24 w 63"/>
                <a:gd name="T15" fmla="*/ 24 h 82"/>
                <a:gd name="T16" fmla="*/ 18 w 63"/>
                <a:gd name="T17" fmla="*/ 9 h 82"/>
                <a:gd name="T18" fmla="*/ 13 w 63"/>
                <a:gd name="T19" fmla="*/ 0 h 82"/>
                <a:gd name="T20" fmla="*/ 16 w 63"/>
                <a:gd name="T21" fmla="*/ 3 h 82"/>
                <a:gd name="T22" fmla="*/ 22 w 63"/>
                <a:gd name="T23" fmla="*/ 14 h 82"/>
                <a:gd name="T24" fmla="*/ 32 w 63"/>
                <a:gd name="T25" fmla="*/ 30 h 82"/>
                <a:gd name="T26" fmla="*/ 43 w 63"/>
                <a:gd name="T27" fmla="*/ 49 h 82"/>
                <a:gd name="T28" fmla="*/ 53 w 63"/>
                <a:gd name="T29" fmla="*/ 65 h 82"/>
                <a:gd name="T30" fmla="*/ 60 w 63"/>
                <a:gd name="T31" fmla="*/ 77 h 82"/>
                <a:gd name="T32" fmla="*/ 63 w 63"/>
                <a:gd name="T33" fmla="*/ 82 h 82"/>
                <a:gd name="T34" fmla="*/ 37 w 63"/>
                <a:gd name="T35" fmla="*/ 60 h 82"/>
                <a:gd name="T36" fmla="*/ 34 w 63"/>
                <a:gd name="T37" fmla="*/ 62 h 82"/>
                <a:gd name="T38" fmla="*/ 27 w 63"/>
                <a:gd name="T39" fmla="*/ 67 h 82"/>
                <a:gd name="T40" fmla="*/ 17 w 63"/>
                <a:gd name="T41" fmla="*/ 72 h 82"/>
                <a:gd name="T42" fmla="*/ 8 w 63"/>
                <a:gd name="T43" fmla="*/ 72 h 82"/>
                <a:gd name="T44" fmla="*/ 0 w 63"/>
                <a:gd name="T45" fmla="*/ 69 h 8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63"/>
                <a:gd name="T70" fmla="*/ 0 h 82"/>
                <a:gd name="T71" fmla="*/ 63 w 63"/>
                <a:gd name="T72" fmla="*/ 82 h 8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63" h="82">
                  <a:moveTo>
                    <a:pt x="0" y="69"/>
                  </a:moveTo>
                  <a:lnTo>
                    <a:pt x="1" y="68"/>
                  </a:lnTo>
                  <a:lnTo>
                    <a:pt x="6" y="66"/>
                  </a:lnTo>
                  <a:lnTo>
                    <a:pt x="11" y="61"/>
                  </a:lnTo>
                  <a:lnTo>
                    <a:pt x="17" y="55"/>
                  </a:lnTo>
                  <a:lnTo>
                    <a:pt x="22" y="46"/>
                  </a:lnTo>
                  <a:lnTo>
                    <a:pt x="24" y="36"/>
                  </a:lnTo>
                  <a:lnTo>
                    <a:pt x="24" y="24"/>
                  </a:lnTo>
                  <a:lnTo>
                    <a:pt x="18" y="9"/>
                  </a:lnTo>
                  <a:lnTo>
                    <a:pt x="13" y="0"/>
                  </a:lnTo>
                  <a:lnTo>
                    <a:pt x="16" y="3"/>
                  </a:lnTo>
                  <a:lnTo>
                    <a:pt x="22" y="14"/>
                  </a:lnTo>
                  <a:lnTo>
                    <a:pt x="32" y="30"/>
                  </a:lnTo>
                  <a:lnTo>
                    <a:pt x="43" y="49"/>
                  </a:lnTo>
                  <a:lnTo>
                    <a:pt x="53" y="65"/>
                  </a:lnTo>
                  <a:lnTo>
                    <a:pt x="60" y="77"/>
                  </a:lnTo>
                  <a:lnTo>
                    <a:pt x="63" y="82"/>
                  </a:lnTo>
                  <a:lnTo>
                    <a:pt x="37" y="60"/>
                  </a:lnTo>
                  <a:lnTo>
                    <a:pt x="34" y="62"/>
                  </a:lnTo>
                  <a:lnTo>
                    <a:pt x="27" y="67"/>
                  </a:lnTo>
                  <a:lnTo>
                    <a:pt x="17" y="72"/>
                  </a:lnTo>
                  <a:lnTo>
                    <a:pt x="8" y="72"/>
                  </a:lnTo>
                  <a:lnTo>
                    <a:pt x="0" y="69"/>
                  </a:lnTo>
                  <a:close/>
                </a:path>
              </a:pathLst>
            </a:custGeom>
            <a:solidFill>
              <a:srgbClr val="FFFFFF"/>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45121" name="Freeform 127"/>
            <p:cNvSpPr>
              <a:spLocks/>
            </p:cNvSpPr>
            <p:nvPr/>
          </p:nvSpPr>
          <p:spPr bwMode="auto">
            <a:xfrm>
              <a:off x="3456" y="2928"/>
              <a:ext cx="294" cy="164"/>
            </a:xfrm>
            <a:custGeom>
              <a:avLst/>
              <a:gdLst>
                <a:gd name="T0" fmla="*/ 0 w 294"/>
                <a:gd name="T1" fmla="*/ 0 h 164"/>
                <a:gd name="T2" fmla="*/ 2 w 294"/>
                <a:gd name="T3" fmla="*/ 2 h 164"/>
                <a:gd name="T4" fmla="*/ 10 w 294"/>
                <a:gd name="T5" fmla="*/ 8 h 164"/>
                <a:gd name="T6" fmla="*/ 21 w 294"/>
                <a:gd name="T7" fmla="*/ 15 h 164"/>
                <a:gd name="T8" fmla="*/ 34 w 294"/>
                <a:gd name="T9" fmla="*/ 26 h 164"/>
                <a:gd name="T10" fmla="*/ 51 w 294"/>
                <a:gd name="T11" fmla="*/ 39 h 164"/>
                <a:gd name="T12" fmla="*/ 70 w 294"/>
                <a:gd name="T13" fmla="*/ 52 h 164"/>
                <a:gd name="T14" fmla="*/ 91 w 294"/>
                <a:gd name="T15" fmla="*/ 67 h 164"/>
                <a:gd name="T16" fmla="*/ 113 w 294"/>
                <a:gd name="T17" fmla="*/ 82 h 164"/>
                <a:gd name="T18" fmla="*/ 135 w 294"/>
                <a:gd name="T19" fmla="*/ 98 h 164"/>
                <a:gd name="T20" fmla="*/ 157 w 294"/>
                <a:gd name="T21" fmla="*/ 112 h 164"/>
                <a:gd name="T22" fmla="*/ 178 w 294"/>
                <a:gd name="T23" fmla="*/ 126 h 164"/>
                <a:gd name="T24" fmla="*/ 198 w 294"/>
                <a:gd name="T25" fmla="*/ 138 h 164"/>
                <a:gd name="T26" fmla="*/ 217 w 294"/>
                <a:gd name="T27" fmla="*/ 149 h 164"/>
                <a:gd name="T28" fmla="*/ 231 w 294"/>
                <a:gd name="T29" fmla="*/ 157 h 164"/>
                <a:gd name="T30" fmla="*/ 244 w 294"/>
                <a:gd name="T31" fmla="*/ 163 h 164"/>
                <a:gd name="T32" fmla="*/ 252 w 294"/>
                <a:gd name="T33" fmla="*/ 164 h 164"/>
                <a:gd name="T34" fmla="*/ 263 w 294"/>
                <a:gd name="T35" fmla="*/ 163 h 164"/>
                <a:gd name="T36" fmla="*/ 273 w 294"/>
                <a:gd name="T37" fmla="*/ 161 h 164"/>
                <a:gd name="T38" fmla="*/ 281 w 294"/>
                <a:gd name="T39" fmla="*/ 157 h 164"/>
                <a:gd name="T40" fmla="*/ 286 w 294"/>
                <a:gd name="T41" fmla="*/ 153 h 164"/>
                <a:gd name="T42" fmla="*/ 289 w 294"/>
                <a:gd name="T43" fmla="*/ 149 h 164"/>
                <a:gd name="T44" fmla="*/ 292 w 294"/>
                <a:gd name="T45" fmla="*/ 146 h 164"/>
                <a:gd name="T46" fmla="*/ 294 w 294"/>
                <a:gd name="T47" fmla="*/ 143 h 164"/>
                <a:gd name="T48" fmla="*/ 294 w 294"/>
                <a:gd name="T49" fmla="*/ 142 h 164"/>
                <a:gd name="T50" fmla="*/ 293 w 294"/>
                <a:gd name="T51" fmla="*/ 142 h 164"/>
                <a:gd name="T52" fmla="*/ 287 w 294"/>
                <a:gd name="T53" fmla="*/ 141 h 164"/>
                <a:gd name="T54" fmla="*/ 279 w 294"/>
                <a:gd name="T55" fmla="*/ 140 h 164"/>
                <a:gd name="T56" fmla="*/ 268 w 294"/>
                <a:gd name="T57" fmla="*/ 136 h 164"/>
                <a:gd name="T58" fmla="*/ 253 w 294"/>
                <a:gd name="T59" fmla="*/ 132 h 164"/>
                <a:gd name="T60" fmla="*/ 237 w 294"/>
                <a:gd name="T61" fmla="*/ 129 h 164"/>
                <a:gd name="T62" fmla="*/ 219 w 294"/>
                <a:gd name="T63" fmla="*/ 122 h 164"/>
                <a:gd name="T64" fmla="*/ 199 w 294"/>
                <a:gd name="T65" fmla="*/ 115 h 164"/>
                <a:gd name="T66" fmla="*/ 177 w 294"/>
                <a:gd name="T67" fmla="*/ 106 h 164"/>
                <a:gd name="T68" fmla="*/ 154 w 294"/>
                <a:gd name="T69" fmla="*/ 96 h 164"/>
                <a:gd name="T70" fmla="*/ 130 w 294"/>
                <a:gd name="T71" fmla="*/ 85 h 164"/>
                <a:gd name="T72" fmla="*/ 104 w 294"/>
                <a:gd name="T73" fmla="*/ 72 h 164"/>
                <a:gd name="T74" fmla="*/ 79 w 294"/>
                <a:gd name="T75" fmla="*/ 57 h 164"/>
                <a:gd name="T76" fmla="*/ 53 w 294"/>
                <a:gd name="T77" fmla="*/ 40 h 164"/>
                <a:gd name="T78" fmla="*/ 26 w 294"/>
                <a:gd name="T79" fmla="*/ 21 h 164"/>
                <a:gd name="T80" fmla="*/ 0 w 294"/>
                <a:gd name="T81" fmla="*/ 0 h 16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94"/>
                <a:gd name="T124" fmla="*/ 0 h 164"/>
                <a:gd name="T125" fmla="*/ 294 w 294"/>
                <a:gd name="T126" fmla="*/ 164 h 164"/>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94" h="164">
                  <a:moveTo>
                    <a:pt x="0" y="0"/>
                  </a:moveTo>
                  <a:lnTo>
                    <a:pt x="2" y="2"/>
                  </a:lnTo>
                  <a:lnTo>
                    <a:pt x="10" y="8"/>
                  </a:lnTo>
                  <a:lnTo>
                    <a:pt x="21" y="15"/>
                  </a:lnTo>
                  <a:lnTo>
                    <a:pt x="34" y="26"/>
                  </a:lnTo>
                  <a:lnTo>
                    <a:pt x="51" y="39"/>
                  </a:lnTo>
                  <a:lnTo>
                    <a:pt x="70" y="52"/>
                  </a:lnTo>
                  <a:lnTo>
                    <a:pt x="91" y="67"/>
                  </a:lnTo>
                  <a:lnTo>
                    <a:pt x="113" y="82"/>
                  </a:lnTo>
                  <a:lnTo>
                    <a:pt x="135" y="98"/>
                  </a:lnTo>
                  <a:lnTo>
                    <a:pt x="157" y="112"/>
                  </a:lnTo>
                  <a:lnTo>
                    <a:pt x="178" y="126"/>
                  </a:lnTo>
                  <a:lnTo>
                    <a:pt x="198" y="138"/>
                  </a:lnTo>
                  <a:lnTo>
                    <a:pt x="217" y="149"/>
                  </a:lnTo>
                  <a:lnTo>
                    <a:pt x="231" y="157"/>
                  </a:lnTo>
                  <a:lnTo>
                    <a:pt x="244" y="163"/>
                  </a:lnTo>
                  <a:lnTo>
                    <a:pt x="252" y="164"/>
                  </a:lnTo>
                  <a:lnTo>
                    <a:pt x="263" y="163"/>
                  </a:lnTo>
                  <a:lnTo>
                    <a:pt x="273" y="161"/>
                  </a:lnTo>
                  <a:lnTo>
                    <a:pt x="281" y="157"/>
                  </a:lnTo>
                  <a:lnTo>
                    <a:pt x="286" y="153"/>
                  </a:lnTo>
                  <a:lnTo>
                    <a:pt x="289" y="149"/>
                  </a:lnTo>
                  <a:lnTo>
                    <a:pt x="292" y="146"/>
                  </a:lnTo>
                  <a:lnTo>
                    <a:pt x="294" y="143"/>
                  </a:lnTo>
                  <a:lnTo>
                    <a:pt x="294" y="142"/>
                  </a:lnTo>
                  <a:lnTo>
                    <a:pt x="293" y="142"/>
                  </a:lnTo>
                  <a:lnTo>
                    <a:pt x="287" y="141"/>
                  </a:lnTo>
                  <a:lnTo>
                    <a:pt x="279" y="140"/>
                  </a:lnTo>
                  <a:lnTo>
                    <a:pt x="268" y="136"/>
                  </a:lnTo>
                  <a:lnTo>
                    <a:pt x="253" y="132"/>
                  </a:lnTo>
                  <a:lnTo>
                    <a:pt x="237" y="129"/>
                  </a:lnTo>
                  <a:lnTo>
                    <a:pt x="219" y="122"/>
                  </a:lnTo>
                  <a:lnTo>
                    <a:pt x="199" y="115"/>
                  </a:lnTo>
                  <a:lnTo>
                    <a:pt x="177" y="106"/>
                  </a:lnTo>
                  <a:lnTo>
                    <a:pt x="154" y="96"/>
                  </a:lnTo>
                  <a:lnTo>
                    <a:pt x="130" y="85"/>
                  </a:lnTo>
                  <a:lnTo>
                    <a:pt x="104" y="72"/>
                  </a:lnTo>
                  <a:lnTo>
                    <a:pt x="79" y="57"/>
                  </a:lnTo>
                  <a:lnTo>
                    <a:pt x="53" y="40"/>
                  </a:lnTo>
                  <a:lnTo>
                    <a:pt x="26" y="21"/>
                  </a:lnTo>
                  <a:lnTo>
                    <a:pt x="0" y="0"/>
                  </a:lnTo>
                  <a:close/>
                </a:path>
              </a:pathLst>
            </a:custGeom>
            <a:solidFill>
              <a:srgbClr val="FFFFFF"/>
            </a:solidFill>
            <a:ln w="9525">
              <a:no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grpSp>
    </p:spTree>
    <p:extLst>
      <p:ext uri="{BB962C8B-B14F-4D97-AF65-F5344CB8AC3E}">
        <p14:creationId xmlns:p14="http://schemas.microsoft.com/office/powerpoint/2010/main" val="660525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74467">
                                            <p:txEl>
                                              <p:pRg st="0" end="0"/>
                                            </p:txEl>
                                          </p:spTgt>
                                        </p:tgtEl>
                                        <p:attrNameLst>
                                          <p:attrName>style.visibility</p:attrName>
                                        </p:attrNameLst>
                                      </p:cBhvr>
                                      <p:to>
                                        <p:strVal val="visible"/>
                                      </p:to>
                                    </p:set>
                                    <p:animEffect transition="in" filter="wipe(left)">
                                      <p:cBhvr>
                                        <p:cTn id="7" dur="500"/>
                                        <p:tgtEl>
                                          <p:spTgt spid="5744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74470">
                                            <p:txEl>
                                              <p:pRg st="0" end="0"/>
                                            </p:txEl>
                                          </p:spTgt>
                                        </p:tgtEl>
                                        <p:attrNameLst>
                                          <p:attrName>style.visibility</p:attrName>
                                        </p:attrNameLst>
                                      </p:cBhvr>
                                      <p:to>
                                        <p:strVal val="visible"/>
                                      </p:to>
                                    </p:set>
                                    <p:animEffect transition="in" filter="wipe(left)">
                                      <p:cBhvr>
                                        <p:cTn id="12" dur="500"/>
                                        <p:tgtEl>
                                          <p:spTgt spid="574470">
                                            <p:txEl>
                                              <p:pRg st="0" end="0"/>
                                            </p:txEl>
                                          </p:spTgt>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574473"/>
                                        </p:tgtEl>
                                        <p:attrNameLst>
                                          <p:attrName>style.visibility</p:attrName>
                                        </p:attrNameLst>
                                      </p:cBhvr>
                                      <p:to>
                                        <p:strVal val="visible"/>
                                      </p:to>
                                    </p:set>
                                    <p:animEffect transition="in" filter="wipe(left)">
                                      <p:cBhvr>
                                        <p:cTn id="16" dur="500"/>
                                        <p:tgtEl>
                                          <p:spTgt spid="57447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74469">
                                            <p:txEl>
                                              <p:pRg st="0" end="0"/>
                                            </p:txEl>
                                          </p:spTgt>
                                        </p:tgtEl>
                                        <p:attrNameLst>
                                          <p:attrName>style.visibility</p:attrName>
                                        </p:attrNameLst>
                                      </p:cBhvr>
                                      <p:to>
                                        <p:strVal val="visible"/>
                                      </p:to>
                                    </p:set>
                                    <p:animEffect transition="in" filter="wipe(left)">
                                      <p:cBhvr>
                                        <p:cTn id="21" dur="500"/>
                                        <p:tgtEl>
                                          <p:spTgt spid="574469">
                                            <p:txEl>
                                              <p:pRg st="0" end="0"/>
                                            </p:txEl>
                                          </p:spTgt>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574474"/>
                                        </p:tgtEl>
                                        <p:attrNameLst>
                                          <p:attrName>style.visibility</p:attrName>
                                        </p:attrNameLst>
                                      </p:cBhvr>
                                      <p:to>
                                        <p:strVal val="visible"/>
                                      </p:to>
                                    </p:set>
                                    <p:animEffect transition="in" filter="wipe(left)">
                                      <p:cBhvr>
                                        <p:cTn id="25" dur="500"/>
                                        <p:tgtEl>
                                          <p:spTgt spid="5744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4467" grpId="0" build="p" autoUpdateAnimBg="0" advAuto="0"/>
      <p:bldP spid="574469" grpId="0" build="p" autoUpdateAnimBg="0"/>
      <p:bldP spid="574470" grpId="0" build="p" autoUpdateAnimBg="0"/>
      <p:bldP spid="574473" grpId="0" animBg="1"/>
      <p:bldP spid="57447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041CD-E772-87ED-8593-015EE2F6BDE2}"/>
              </a:ext>
            </a:extLst>
          </p:cNvPr>
          <p:cNvSpPr>
            <a:spLocks noGrp="1"/>
          </p:cNvSpPr>
          <p:nvPr>
            <p:ph type="title"/>
          </p:nvPr>
        </p:nvSpPr>
        <p:spPr/>
        <p:txBody>
          <a:bodyPr/>
          <a:lstStyle/>
          <a:p>
            <a:pPr algn="ctr"/>
            <a:r>
              <a:rPr lang="en-US" b="1" dirty="0"/>
              <a:t>Introduction continued</a:t>
            </a:r>
          </a:p>
        </p:txBody>
      </p:sp>
      <p:sp>
        <p:nvSpPr>
          <p:cNvPr id="4" name="Slide Number Placeholder 3">
            <a:extLst>
              <a:ext uri="{FF2B5EF4-FFF2-40B4-BE49-F238E27FC236}">
                <a16:creationId xmlns:a16="http://schemas.microsoft.com/office/drawing/2014/main" id="{4F0A7B52-4548-A37A-A317-55145010E2B2}"/>
              </a:ext>
            </a:extLst>
          </p:cNvPr>
          <p:cNvSpPr>
            <a:spLocks noGrp="1"/>
          </p:cNvSpPr>
          <p:nvPr>
            <p:ph type="sldNum" sz="quarter" idx="12"/>
          </p:nvPr>
        </p:nvSpPr>
        <p:spPr/>
        <p:txBody>
          <a:bodyPr/>
          <a:lstStyle/>
          <a:p>
            <a:fld id="{316C4710-B4F7-4359-B1ED-F19BB5470050}" type="slidenum">
              <a:rPr lang="en-GB" smtClean="0"/>
              <a:t>4</a:t>
            </a:fld>
            <a:endParaRPr lang="en-GB"/>
          </a:p>
        </p:txBody>
      </p:sp>
      <p:sp>
        <p:nvSpPr>
          <p:cNvPr id="7" name="Content Placeholder 6">
            <a:extLst>
              <a:ext uri="{FF2B5EF4-FFF2-40B4-BE49-F238E27FC236}">
                <a16:creationId xmlns:a16="http://schemas.microsoft.com/office/drawing/2014/main" id="{F92F4D3C-E15D-CAA8-FAB3-DD437AB5516E}"/>
              </a:ext>
            </a:extLst>
          </p:cNvPr>
          <p:cNvSpPr>
            <a:spLocks noGrp="1"/>
          </p:cNvSpPr>
          <p:nvPr>
            <p:ph idx="1"/>
          </p:nvPr>
        </p:nvSpPr>
        <p:spPr/>
        <p:txBody>
          <a:bodyPr/>
          <a:lstStyle/>
          <a:p>
            <a:pPr>
              <a:buFont typeface="Wingdings" panose="05000000000000000000" pitchFamily="2" charset="2"/>
              <a:buChar char="v"/>
            </a:pPr>
            <a:r>
              <a:rPr lang="en-US" b="1" dirty="0"/>
              <a:t>Degree of Saturation</a:t>
            </a:r>
          </a:p>
        </p:txBody>
      </p:sp>
      <p:pic>
        <p:nvPicPr>
          <p:cNvPr id="8" name="Picture 7">
            <a:extLst>
              <a:ext uri="{FF2B5EF4-FFF2-40B4-BE49-F238E27FC236}">
                <a16:creationId xmlns:a16="http://schemas.microsoft.com/office/drawing/2014/main" id="{A5094C2F-610E-3DA0-7977-914022C40DA1}"/>
              </a:ext>
            </a:extLst>
          </p:cNvPr>
          <p:cNvPicPr>
            <a:picLocks noChangeAspect="1"/>
          </p:cNvPicPr>
          <p:nvPr/>
        </p:nvPicPr>
        <p:blipFill>
          <a:blip r:embed="rId2"/>
          <a:stretch>
            <a:fillRect/>
          </a:stretch>
        </p:blipFill>
        <p:spPr>
          <a:xfrm>
            <a:off x="1708354" y="2357438"/>
            <a:ext cx="7940073" cy="3967162"/>
          </a:xfrm>
          <a:prstGeom prst="rect">
            <a:avLst/>
          </a:prstGeom>
        </p:spPr>
      </p:pic>
    </p:spTree>
    <p:extLst>
      <p:ext uri="{BB962C8B-B14F-4D97-AF65-F5344CB8AC3E}">
        <p14:creationId xmlns:p14="http://schemas.microsoft.com/office/powerpoint/2010/main" val="35617054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24AC3-C12B-7C92-4A44-D81BDE397607}"/>
              </a:ext>
            </a:extLst>
          </p:cNvPr>
          <p:cNvSpPr>
            <a:spLocks noGrp="1"/>
          </p:cNvSpPr>
          <p:nvPr>
            <p:ph type="title"/>
          </p:nvPr>
        </p:nvSpPr>
        <p:spPr/>
        <p:txBody>
          <a:bodyPr/>
          <a:lstStyle/>
          <a:p>
            <a:pPr algn="ctr"/>
            <a:r>
              <a:rPr lang="en-US" b="1" dirty="0"/>
              <a:t>Introduction continued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5CFD93C-DAF6-4BDF-6B18-CFE7CC441487}"/>
                  </a:ext>
                </a:extLst>
              </p:cNvPr>
              <p:cNvSpPr>
                <a:spLocks noGrp="1"/>
              </p:cNvSpPr>
              <p:nvPr>
                <p:ph idx="1"/>
              </p:nvPr>
            </p:nvSpPr>
            <p:spPr/>
            <p:txBody>
              <a:bodyPr/>
              <a:lstStyle/>
              <a:p>
                <a:pPr>
                  <a:buFont typeface="Wingdings" panose="05000000000000000000" pitchFamily="2" charset="2"/>
                  <a:buChar char="v"/>
                </a:pPr>
                <a:r>
                  <a:rPr lang="en-US" b="1" dirty="0"/>
                  <a:t>Solubility</a:t>
                </a:r>
                <a:r>
                  <a:rPr lang="en-US" dirty="0"/>
                  <a:t> is a physical property that describes the ability of a solute to dissolve in a solvent and create a uniform solution</a:t>
                </a:r>
              </a:p>
              <a:p>
                <a:pPr>
                  <a:buFont typeface="Wingdings" panose="05000000000000000000" pitchFamily="2" charset="2"/>
                  <a:buChar char="v"/>
                </a:pPr>
                <a:endParaRPr lang="en-US" dirty="0"/>
              </a:p>
              <a:p>
                <a:pPr>
                  <a:buFont typeface="Wingdings" panose="05000000000000000000" pitchFamily="2" charset="2"/>
                  <a:buChar char="v"/>
                </a:pPr>
                <a:r>
                  <a:rPr lang="en-US" b="1" dirty="0"/>
                  <a:t>Solubility</a:t>
                </a:r>
                <a:r>
                  <a:rPr lang="en-US" dirty="0"/>
                  <a:t> can also be defined as the maximum amount of solute that can be dissolved in a solvent</a:t>
                </a:r>
              </a:p>
              <a:p>
                <a:pPr>
                  <a:buFont typeface="Wingdings" panose="05000000000000000000" pitchFamily="2" charset="2"/>
                  <a:buChar char="v"/>
                </a:pPr>
                <a:endParaRPr lang="en-US" dirty="0"/>
              </a:p>
              <a:p>
                <a:pPr>
                  <a:buFont typeface="Wingdings" panose="05000000000000000000" pitchFamily="2" charset="2"/>
                  <a:buChar char="v"/>
                </a:pPr>
                <a:r>
                  <a:rPr lang="en-US" dirty="0"/>
                  <a:t>It is expressed as the grams of solute in 100g of solvent</a:t>
                </a:r>
              </a:p>
              <a:p>
                <a:pPr marL="0" indent="0">
                  <a:buNone/>
                </a:pPr>
                <a:r>
                  <a:rPr lang="en-US" dirty="0"/>
                  <a:t>                           </a:t>
                </a:r>
                <a14:m>
                  <m:oMath xmlns:m="http://schemas.openxmlformats.org/officeDocument/2006/math">
                    <m:f>
                      <m:fPr>
                        <m:ctrlPr>
                          <a:rPr lang="en-US" i="1" smtClean="0">
                            <a:latin typeface="Cambria Math" panose="02040503050406030204" pitchFamily="18" charset="0"/>
                          </a:rPr>
                        </m:ctrlPr>
                      </m:fPr>
                      <m:num>
                        <m:r>
                          <m:rPr>
                            <m:sty m:val="p"/>
                          </m:rPr>
                          <a:rPr lang="en-US" b="0" i="0" smtClean="0">
                            <a:latin typeface="Cambria Math" panose="02040503050406030204" pitchFamily="18" charset="0"/>
                          </a:rPr>
                          <m:t>g</m:t>
                        </m:r>
                        <m:r>
                          <a:rPr lang="en-US" b="0" i="0" smtClean="0">
                            <a:latin typeface="Cambria Math" panose="02040503050406030204" pitchFamily="18" charset="0"/>
                          </a:rPr>
                          <m:t> </m:t>
                        </m:r>
                        <m:r>
                          <m:rPr>
                            <m:sty m:val="p"/>
                          </m:rPr>
                          <a:rPr lang="en-US" b="0" i="0" smtClean="0">
                            <a:latin typeface="Cambria Math" panose="02040503050406030204" pitchFamily="18" charset="0"/>
                          </a:rPr>
                          <m:t>of</m:t>
                        </m:r>
                        <m:r>
                          <a:rPr lang="en-US" b="0" i="0" smtClean="0">
                            <a:latin typeface="Cambria Math" panose="02040503050406030204" pitchFamily="18" charset="0"/>
                          </a:rPr>
                          <m:t> </m:t>
                        </m:r>
                        <m:r>
                          <m:rPr>
                            <m:sty m:val="p"/>
                          </m:rPr>
                          <a:rPr lang="en-US" b="0" i="0" smtClean="0">
                            <a:latin typeface="Cambria Math" panose="02040503050406030204" pitchFamily="18" charset="0"/>
                          </a:rPr>
                          <m:t>solute</m:t>
                        </m:r>
                        <m:r>
                          <a:rPr lang="en-US" b="0" i="0" smtClean="0">
                            <a:latin typeface="Cambria Math" panose="02040503050406030204" pitchFamily="18" charset="0"/>
                          </a:rPr>
                          <m:t> </m:t>
                        </m:r>
                      </m:num>
                      <m:den>
                        <m:r>
                          <a:rPr lang="en-US" b="0" i="0" smtClean="0">
                            <a:latin typeface="Cambria Math" panose="02040503050406030204" pitchFamily="18" charset="0"/>
                          </a:rPr>
                          <m:t>100</m:t>
                        </m:r>
                        <m:r>
                          <m:rPr>
                            <m:sty m:val="p"/>
                          </m:rPr>
                          <a:rPr lang="en-US" b="0" i="0" smtClean="0">
                            <a:latin typeface="Cambria Math" panose="02040503050406030204" pitchFamily="18" charset="0"/>
                          </a:rPr>
                          <m:t>g</m:t>
                        </m:r>
                        <m:r>
                          <a:rPr lang="en-US" b="0" i="0" smtClean="0">
                            <a:latin typeface="Cambria Math" panose="02040503050406030204" pitchFamily="18" charset="0"/>
                          </a:rPr>
                          <m:t> </m:t>
                        </m:r>
                        <m:r>
                          <m:rPr>
                            <m:sty m:val="p"/>
                          </m:rPr>
                          <a:rPr lang="en-US" b="0" i="0" smtClean="0">
                            <a:latin typeface="Cambria Math" panose="02040503050406030204" pitchFamily="18" charset="0"/>
                          </a:rPr>
                          <m:t>of</m:t>
                        </m:r>
                        <m:r>
                          <a:rPr lang="en-US" b="0" i="0" smtClean="0">
                            <a:latin typeface="Cambria Math" panose="02040503050406030204" pitchFamily="18" charset="0"/>
                          </a:rPr>
                          <m:t> </m:t>
                        </m:r>
                        <m:r>
                          <m:rPr>
                            <m:sty m:val="p"/>
                          </m:rPr>
                          <a:rPr lang="en-US" b="0" i="0" smtClean="0">
                            <a:latin typeface="Cambria Math" panose="02040503050406030204" pitchFamily="18" charset="0"/>
                          </a:rPr>
                          <m:t>solvent</m:t>
                        </m:r>
                      </m:den>
                    </m:f>
                  </m:oMath>
                </a14:m>
                <a:endParaRPr lang="en-US" dirty="0">
                  <a:latin typeface="Calibri" panose="020F0502020204030204" pitchFamily="34" charset="0"/>
                  <a:cs typeface="Calibri" panose="020F0502020204030204" pitchFamily="34" charset="0"/>
                </a:endParaRPr>
              </a:p>
              <a:p>
                <a:pPr>
                  <a:buFont typeface="Wingdings" panose="05000000000000000000" pitchFamily="2" charset="2"/>
                  <a:buChar char="v"/>
                </a:pPr>
                <a:endParaRPr lang="en-US" dirty="0"/>
              </a:p>
              <a:p>
                <a:pPr lvl="1"/>
                <a:endParaRPr lang="en-US" dirty="0"/>
              </a:p>
              <a:p>
                <a:pPr marL="0" indent="0">
                  <a:buNone/>
                </a:pPr>
                <a:endParaRPr lang="en-US" dirty="0"/>
              </a:p>
              <a:p>
                <a:pPr marL="0" indent="0">
                  <a:buNone/>
                </a:pPr>
                <a:endParaRPr lang="en-US" dirty="0"/>
              </a:p>
              <a:p>
                <a:endParaRPr lang="en-US" dirty="0"/>
              </a:p>
            </p:txBody>
          </p:sp>
        </mc:Choice>
        <mc:Fallback xmlns="">
          <p:sp>
            <p:nvSpPr>
              <p:cNvPr id="3" name="Content Placeholder 2">
                <a:extLst>
                  <a:ext uri="{FF2B5EF4-FFF2-40B4-BE49-F238E27FC236}">
                    <a16:creationId xmlns:a16="http://schemas.microsoft.com/office/drawing/2014/main" id="{65CFD93C-DAF6-4BDF-6B18-CFE7CC441487}"/>
                  </a:ext>
                </a:extLst>
              </p:cNvPr>
              <p:cNvSpPr>
                <a:spLocks noGrp="1" noRot="1" noChangeAspect="1" noMove="1" noResize="1" noEditPoints="1" noAdjustHandles="1" noChangeArrowheads="1" noChangeShapeType="1" noTextEdit="1"/>
              </p:cNvSpPr>
              <p:nvPr>
                <p:ph idx="1"/>
              </p:nvPr>
            </p:nvSpPr>
            <p:spPr>
              <a:blipFill>
                <a:blip r:embed="rId2"/>
                <a:stretch>
                  <a:fillRect l="-500" t="-87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08326486-06E1-19FC-86A2-51CF7CE77DBA}"/>
              </a:ext>
            </a:extLst>
          </p:cNvPr>
          <p:cNvSpPr>
            <a:spLocks noGrp="1"/>
          </p:cNvSpPr>
          <p:nvPr>
            <p:ph type="sldNum" sz="quarter" idx="12"/>
          </p:nvPr>
        </p:nvSpPr>
        <p:spPr/>
        <p:txBody>
          <a:bodyPr/>
          <a:lstStyle/>
          <a:p>
            <a:fld id="{316C4710-B4F7-4359-B1ED-F19BB5470050}" type="slidenum">
              <a:rPr lang="en-GB" smtClean="0"/>
              <a:t>5</a:t>
            </a:fld>
            <a:endParaRPr lang="en-GB"/>
          </a:p>
        </p:txBody>
      </p:sp>
    </p:spTree>
    <p:extLst>
      <p:ext uri="{BB962C8B-B14F-4D97-AF65-F5344CB8AC3E}">
        <p14:creationId xmlns:p14="http://schemas.microsoft.com/office/powerpoint/2010/main" val="24789184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101B8-AC0E-DD58-20F6-1D731BB9C55F}"/>
              </a:ext>
            </a:extLst>
          </p:cNvPr>
          <p:cNvSpPr>
            <a:spLocks noGrp="1"/>
          </p:cNvSpPr>
          <p:nvPr>
            <p:ph type="title"/>
          </p:nvPr>
        </p:nvSpPr>
        <p:spPr/>
        <p:txBody>
          <a:bodyPr/>
          <a:lstStyle/>
          <a:p>
            <a:pPr algn="ctr"/>
            <a:r>
              <a:rPr lang="en-US" b="1" dirty="0"/>
              <a:t>Factors That  Affect Solubility</a:t>
            </a:r>
          </a:p>
        </p:txBody>
      </p:sp>
      <p:sp>
        <p:nvSpPr>
          <p:cNvPr id="3" name="Content Placeholder 2">
            <a:extLst>
              <a:ext uri="{FF2B5EF4-FFF2-40B4-BE49-F238E27FC236}">
                <a16:creationId xmlns:a16="http://schemas.microsoft.com/office/drawing/2014/main" id="{7A3D5D9B-8AFC-C6A4-8D71-D2A8BCC09090}"/>
              </a:ext>
            </a:extLst>
          </p:cNvPr>
          <p:cNvSpPr>
            <a:spLocks noGrp="1"/>
          </p:cNvSpPr>
          <p:nvPr>
            <p:ph idx="1"/>
          </p:nvPr>
        </p:nvSpPr>
        <p:spPr/>
        <p:txBody>
          <a:bodyPr/>
          <a:lstStyle/>
          <a:p>
            <a:pPr>
              <a:buFont typeface="Wingdings" panose="05000000000000000000" pitchFamily="2" charset="2"/>
              <a:buChar char="v"/>
            </a:pPr>
            <a:r>
              <a:rPr lang="en-US" b="1" dirty="0"/>
              <a:t>Temperature</a:t>
            </a:r>
          </a:p>
          <a:p>
            <a:r>
              <a:rPr lang="en-US" dirty="0"/>
              <a:t>The solubility of a solid in a liquid is significantly affected by temperature changes</a:t>
            </a:r>
            <a:r>
              <a:rPr lang="en-US" b="1" dirty="0"/>
              <a:t>.</a:t>
            </a:r>
          </a:p>
          <a:p>
            <a:endParaRPr lang="en-US" b="1" dirty="0"/>
          </a:p>
          <a:p>
            <a:r>
              <a:rPr lang="en-US" dirty="0"/>
              <a:t>Higher temperatures provide more kinetic energy, allowing solid particles to break away from the crystal lattice and dissolve more easily</a:t>
            </a:r>
          </a:p>
          <a:p>
            <a:pPr marL="0" indent="0">
              <a:buNone/>
            </a:pPr>
            <a:endParaRPr lang="en-US" b="1" dirty="0"/>
          </a:p>
          <a:p>
            <a:r>
              <a:rPr lang="en-US" dirty="0"/>
              <a:t>Solubility of gases in liquids decreases with rise in temperature. When dissolved, the gas molecules are present in liquid phase and the process of dissolution can be considered similar to condensation and heat is evolved in this process.</a:t>
            </a:r>
            <a:endParaRPr lang="en-US" b="1" dirty="0"/>
          </a:p>
        </p:txBody>
      </p:sp>
      <p:sp>
        <p:nvSpPr>
          <p:cNvPr id="4" name="Slide Number Placeholder 3">
            <a:extLst>
              <a:ext uri="{FF2B5EF4-FFF2-40B4-BE49-F238E27FC236}">
                <a16:creationId xmlns:a16="http://schemas.microsoft.com/office/drawing/2014/main" id="{B50EA79E-FEB1-992F-3E0F-819D15CCCEE5}"/>
              </a:ext>
            </a:extLst>
          </p:cNvPr>
          <p:cNvSpPr>
            <a:spLocks noGrp="1"/>
          </p:cNvSpPr>
          <p:nvPr>
            <p:ph type="sldNum" sz="quarter" idx="12"/>
          </p:nvPr>
        </p:nvSpPr>
        <p:spPr/>
        <p:txBody>
          <a:bodyPr/>
          <a:lstStyle/>
          <a:p>
            <a:fld id="{316C4710-B4F7-4359-B1ED-F19BB5470050}" type="slidenum">
              <a:rPr lang="en-GB" smtClean="0"/>
              <a:t>6</a:t>
            </a:fld>
            <a:endParaRPr lang="en-GB"/>
          </a:p>
        </p:txBody>
      </p:sp>
    </p:spTree>
    <p:extLst>
      <p:ext uri="{BB962C8B-B14F-4D97-AF65-F5344CB8AC3E}">
        <p14:creationId xmlns:p14="http://schemas.microsoft.com/office/powerpoint/2010/main" val="18392661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45"/>
          <p:cNvSpPr>
            <a:spLocks noChangeArrowheads="1"/>
          </p:cNvSpPr>
          <p:nvPr/>
        </p:nvSpPr>
        <p:spPr bwMode="auto">
          <a:xfrm>
            <a:off x="4495800" y="1981200"/>
            <a:ext cx="3962400" cy="4038600"/>
          </a:xfrm>
          <a:prstGeom prst="rect">
            <a:avLst/>
          </a:prstGeom>
          <a:solidFill>
            <a:srgbClr val="FFFF99">
              <a:alpha val="38039"/>
            </a:srgbClr>
          </a:solidFill>
          <a:ln w="9525">
            <a:solidFill>
              <a:schemeClr val="tx1"/>
            </a:solidFill>
            <a:miter lim="800000"/>
            <a:headEnd/>
            <a:tailEnd/>
          </a:ln>
        </p:spPr>
        <p:txBody>
          <a:bodyPr wrap="none" anchor="ctr"/>
          <a:lstStyle/>
          <a:p>
            <a:pPr algn="ctr" fontAlgn="base">
              <a:spcBef>
                <a:spcPct val="0"/>
              </a:spcBef>
              <a:spcAft>
                <a:spcPct val="0"/>
              </a:spcAft>
            </a:pPr>
            <a:endParaRPr lang="en-US" sz="2000">
              <a:solidFill>
                <a:srgbClr val="000000"/>
              </a:solidFill>
              <a:latin typeface="Arial" pitchFamily="34" charset="0"/>
            </a:endParaRPr>
          </a:p>
        </p:txBody>
      </p:sp>
      <p:sp>
        <p:nvSpPr>
          <p:cNvPr id="84995" name="Rectangle 2"/>
          <p:cNvSpPr>
            <a:spLocks noGrp="1" noChangeArrowheads="1"/>
          </p:cNvSpPr>
          <p:nvPr>
            <p:ph type="title"/>
          </p:nvPr>
        </p:nvSpPr>
        <p:spPr/>
        <p:txBody>
          <a:bodyPr/>
          <a:lstStyle/>
          <a:p>
            <a:pPr eaLnBrk="1" hangingPunct="1"/>
            <a:r>
              <a:rPr lang="en-US" b="1" dirty="0"/>
              <a:t>Solubility vs. Temperature</a:t>
            </a:r>
          </a:p>
        </p:txBody>
      </p:sp>
      <p:sp>
        <p:nvSpPr>
          <p:cNvPr id="84996" name="Rectangle 6"/>
          <p:cNvSpPr>
            <a:spLocks noChangeArrowheads="1"/>
          </p:cNvSpPr>
          <p:nvPr/>
        </p:nvSpPr>
        <p:spPr bwMode="auto">
          <a:xfrm>
            <a:off x="1600200" y="6567488"/>
            <a:ext cx="2191626" cy="215444"/>
          </a:xfrm>
          <a:prstGeom prst="rect">
            <a:avLst/>
          </a:prstGeom>
          <a:noFill/>
          <a:ln w="9525">
            <a:noFill/>
            <a:miter lim="800000"/>
            <a:headEnd/>
            <a:tailEnd/>
          </a:ln>
        </p:spPr>
        <p:txBody>
          <a:bodyPr wrap="none">
            <a:spAutoFit/>
          </a:bodyPr>
          <a:lstStyle/>
          <a:p>
            <a:pPr fontAlgn="base">
              <a:spcBef>
                <a:spcPct val="0"/>
              </a:spcBef>
              <a:spcAft>
                <a:spcPct val="0"/>
              </a:spcAft>
            </a:pPr>
            <a:r>
              <a:rPr lang="en-US" sz="800">
                <a:solidFill>
                  <a:srgbClr val="000000"/>
                </a:solidFill>
                <a:latin typeface="Arial" pitchFamily="34" charset="0"/>
              </a:rPr>
              <a:t>Timberlake, </a:t>
            </a:r>
            <a:r>
              <a:rPr lang="en-US" sz="800" u="sng">
                <a:solidFill>
                  <a:srgbClr val="000000"/>
                </a:solidFill>
                <a:latin typeface="Arial" pitchFamily="34" charset="0"/>
              </a:rPr>
              <a:t>Chemistry </a:t>
            </a:r>
            <a:r>
              <a:rPr lang="en-US" sz="800">
                <a:solidFill>
                  <a:srgbClr val="000000"/>
                </a:solidFill>
                <a:latin typeface="Arial" pitchFamily="34" charset="0"/>
              </a:rPr>
              <a:t>7</a:t>
            </a:r>
            <a:r>
              <a:rPr lang="en-US" sz="800" baseline="30000">
                <a:solidFill>
                  <a:srgbClr val="000000"/>
                </a:solidFill>
                <a:latin typeface="Arial" pitchFamily="34" charset="0"/>
              </a:rPr>
              <a:t>th</a:t>
            </a:r>
            <a:r>
              <a:rPr lang="en-US" sz="800">
                <a:solidFill>
                  <a:srgbClr val="000000"/>
                </a:solidFill>
                <a:latin typeface="Arial" pitchFamily="34" charset="0"/>
              </a:rPr>
              <a:t> Edition, page 297</a:t>
            </a:r>
          </a:p>
        </p:txBody>
      </p:sp>
      <p:sp>
        <p:nvSpPr>
          <p:cNvPr id="84997" name="Line 8"/>
          <p:cNvSpPr>
            <a:spLocks noChangeShapeType="1"/>
          </p:cNvSpPr>
          <p:nvPr/>
        </p:nvSpPr>
        <p:spPr bwMode="auto">
          <a:xfrm flipV="1">
            <a:off x="4495800" y="1981200"/>
            <a:ext cx="0" cy="4038600"/>
          </a:xfrm>
          <a:prstGeom prst="line">
            <a:avLst/>
          </a:prstGeom>
          <a:noFill/>
          <a:ln w="9525">
            <a:solidFill>
              <a:schemeClr val="tx1"/>
            </a:solid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84998" name="Line 9"/>
          <p:cNvSpPr>
            <a:spLocks noChangeShapeType="1"/>
          </p:cNvSpPr>
          <p:nvPr/>
        </p:nvSpPr>
        <p:spPr bwMode="auto">
          <a:xfrm>
            <a:off x="4495800" y="6019800"/>
            <a:ext cx="3962400" cy="0"/>
          </a:xfrm>
          <a:prstGeom prst="line">
            <a:avLst/>
          </a:prstGeom>
          <a:noFill/>
          <a:ln w="9525">
            <a:solidFill>
              <a:schemeClr val="tx1"/>
            </a:solid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84999" name="Line 10"/>
          <p:cNvSpPr>
            <a:spLocks noChangeShapeType="1"/>
          </p:cNvSpPr>
          <p:nvPr/>
        </p:nvSpPr>
        <p:spPr bwMode="auto">
          <a:xfrm flipV="1">
            <a:off x="4495800" y="1981200"/>
            <a:ext cx="3352800" cy="1524000"/>
          </a:xfrm>
          <a:prstGeom prst="line">
            <a:avLst/>
          </a:prstGeom>
          <a:noFill/>
          <a:ln w="19050">
            <a:solidFill>
              <a:srgbClr val="800080"/>
            </a:solid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85000" name="Freeform 11"/>
          <p:cNvSpPr>
            <a:spLocks/>
          </p:cNvSpPr>
          <p:nvPr/>
        </p:nvSpPr>
        <p:spPr bwMode="auto">
          <a:xfrm>
            <a:off x="4495800" y="1981200"/>
            <a:ext cx="3733800" cy="2590800"/>
          </a:xfrm>
          <a:custGeom>
            <a:avLst/>
            <a:gdLst>
              <a:gd name="T0" fmla="*/ 0 w 2352"/>
              <a:gd name="T1" fmla="*/ 2590800 h 1632"/>
              <a:gd name="T2" fmla="*/ 838200 w 2352"/>
              <a:gd name="T3" fmla="*/ 2286000 h 1632"/>
              <a:gd name="T4" fmla="*/ 1600200 w 2352"/>
              <a:gd name="T5" fmla="*/ 1905000 h 1632"/>
              <a:gd name="T6" fmla="*/ 2286000 w 2352"/>
              <a:gd name="T7" fmla="*/ 1524000 h 1632"/>
              <a:gd name="T8" fmla="*/ 2743200 w 2352"/>
              <a:gd name="T9" fmla="*/ 1219200 h 1632"/>
              <a:gd name="T10" fmla="*/ 2971800 w 2352"/>
              <a:gd name="T11" fmla="*/ 1066800 h 1632"/>
              <a:gd name="T12" fmla="*/ 3352800 w 2352"/>
              <a:gd name="T13" fmla="*/ 685800 h 1632"/>
              <a:gd name="T14" fmla="*/ 3521075 w 2352"/>
              <a:gd name="T15" fmla="*/ 461963 h 1632"/>
              <a:gd name="T16" fmla="*/ 3663950 w 2352"/>
              <a:gd name="T17" fmla="*/ 227013 h 1632"/>
              <a:gd name="T18" fmla="*/ 3733800 w 2352"/>
              <a:gd name="T19" fmla="*/ 0 h 163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352"/>
              <a:gd name="T31" fmla="*/ 0 h 1632"/>
              <a:gd name="T32" fmla="*/ 2352 w 2352"/>
              <a:gd name="T33" fmla="*/ 1632 h 163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352" h="1632">
                <a:moveTo>
                  <a:pt x="0" y="1632"/>
                </a:moveTo>
                <a:cubicBezTo>
                  <a:pt x="180" y="1572"/>
                  <a:pt x="360" y="1512"/>
                  <a:pt x="528" y="1440"/>
                </a:cubicBezTo>
                <a:cubicBezTo>
                  <a:pt x="696" y="1368"/>
                  <a:pt x="856" y="1280"/>
                  <a:pt x="1008" y="1200"/>
                </a:cubicBezTo>
                <a:cubicBezTo>
                  <a:pt x="1160" y="1120"/>
                  <a:pt x="1320" y="1032"/>
                  <a:pt x="1440" y="960"/>
                </a:cubicBezTo>
                <a:cubicBezTo>
                  <a:pt x="1560" y="888"/>
                  <a:pt x="1656" y="816"/>
                  <a:pt x="1728" y="768"/>
                </a:cubicBezTo>
                <a:cubicBezTo>
                  <a:pt x="1800" y="720"/>
                  <a:pt x="1808" y="728"/>
                  <a:pt x="1872" y="672"/>
                </a:cubicBezTo>
                <a:cubicBezTo>
                  <a:pt x="1936" y="616"/>
                  <a:pt x="2054" y="495"/>
                  <a:pt x="2112" y="432"/>
                </a:cubicBezTo>
                <a:cubicBezTo>
                  <a:pt x="2170" y="369"/>
                  <a:pt x="2185" y="339"/>
                  <a:pt x="2218" y="291"/>
                </a:cubicBezTo>
                <a:cubicBezTo>
                  <a:pt x="2251" y="243"/>
                  <a:pt x="2286" y="192"/>
                  <a:pt x="2308" y="143"/>
                </a:cubicBezTo>
                <a:cubicBezTo>
                  <a:pt x="2330" y="94"/>
                  <a:pt x="2343" y="30"/>
                  <a:pt x="2352" y="0"/>
                </a:cubicBezTo>
              </a:path>
            </a:pathLst>
          </a:custGeom>
          <a:noFill/>
          <a:ln w="19050">
            <a:solidFill>
              <a:schemeClr val="accent2"/>
            </a:solid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85001" name="Freeform 12"/>
          <p:cNvSpPr>
            <a:spLocks/>
          </p:cNvSpPr>
          <p:nvPr/>
        </p:nvSpPr>
        <p:spPr bwMode="auto">
          <a:xfrm>
            <a:off x="4502150" y="1998664"/>
            <a:ext cx="2965450" cy="3722687"/>
          </a:xfrm>
          <a:custGeom>
            <a:avLst/>
            <a:gdLst>
              <a:gd name="T0" fmla="*/ 0 w 1868"/>
              <a:gd name="T1" fmla="*/ 3722687 h 2345"/>
              <a:gd name="T2" fmla="*/ 339725 w 1868"/>
              <a:gd name="T3" fmla="*/ 3592512 h 2345"/>
              <a:gd name="T4" fmla="*/ 771525 w 1868"/>
              <a:gd name="T5" fmla="*/ 3240086 h 2345"/>
              <a:gd name="T6" fmla="*/ 1212850 w 1868"/>
              <a:gd name="T7" fmla="*/ 2725737 h 2345"/>
              <a:gd name="T8" fmla="*/ 1633538 w 1868"/>
              <a:gd name="T9" fmla="*/ 2208212 h 2345"/>
              <a:gd name="T10" fmla="*/ 2127250 w 1868"/>
              <a:gd name="T11" fmla="*/ 1506537 h 2345"/>
              <a:gd name="T12" fmla="*/ 2584450 w 1868"/>
              <a:gd name="T13" fmla="*/ 744537 h 2345"/>
              <a:gd name="T14" fmla="*/ 2889250 w 1868"/>
              <a:gd name="T15" fmla="*/ 211137 h 2345"/>
              <a:gd name="T16" fmla="*/ 2965450 w 1868"/>
              <a:gd name="T17" fmla="*/ 0 h 23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68"/>
              <a:gd name="T28" fmla="*/ 0 h 2345"/>
              <a:gd name="T29" fmla="*/ 1868 w 1868"/>
              <a:gd name="T30" fmla="*/ 2345 h 234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68" h="2345">
                <a:moveTo>
                  <a:pt x="0" y="2345"/>
                </a:moveTo>
                <a:cubicBezTo>
                  <a:pt x="36" y="2333"/>
                  <a:pt x="133" y="2314"/>
                  <a:pt x="214" y="2263"/>
                </a:cubicBezTo>
                <a:cubicBezTo>
                  <a:pt x="295" y="2212"/>
                  <a:pt x="394" y="2132"/>
                  <a:pt x="486" y="2041"/>
                </a:cubicBezTo>
                <a:cubicBezTo>
                  <a:pt x="578" y="1950"/>
                  <a:pt x="674" y="1825"/>
                  <a:pt x="764" y="1717"/>
                </a:cubicBezTo>
                <a:cubicBezTo>
                  <a:pt x="854" y="1609"/>
                  <a:pt x="933" y="1519"/>
                  <a:pt x="1029" y="1391"/>
                </a:cubicBezTo>
                <a:cubicBezTo>
                  <a:pt x="1125" y="1263"/>
                  <a:pt x="1240" y="1103"/>
                  <a:pt x="1340" y="949"/>
                </a:cubicBezTo>
                <a:cubicBezTo>
                  <a:pt x="1440" y="795"/>
                  <a:pt x="1548" y="605"/>
                  <a:pt x="1628" y="469"/>
                </a:cubicBezTo>
                <a:cubicBezTo>
                  <a:pt x="1708" y="333"/>
                  <a:pt x="1780" y="211"/>
                  <a:pt x="1820" y="133"/>
                </a:cubicBezTo>
                <a:cubicBezTo>
                  <a:pt x="1860" y="55"/>
                  <a:pt x="1858" y="28"/>
                  <a:pt x="1868" y="0"/>
                </a:cubicBezTo>
              </a:path>
            </a:pathLst>
          </a:custGeom>
          <a:noFill/>
          <a:ln w="19050">
            <a:solidFill>
              <a:srgbClr val="FF6600"/>
            </a:solid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85002" name="Freeform 13"/>
          <p:cNvSpPr>
            <a:spLocks/>
          </p:cNvSpPr>
          <p:nvPr/>
        </p:nvSpPr>
        <p:spPr bwMode="auto">
          <a:xfrm>
            <a:off x="4495800" y="3867150"/>
            <a:ext cx="3716338" cy="2076450"/>
          </a:xfrm>
          <a:custGeom>
            <a:avLst/>
            <a:gdLst>
              <a:gd name="T0" fmla="*/ 0 w 2341"/>
              <a:gd name="T1" fmla="*/ 2076450 h 1308"/>
              <a:gd name="T2" fmla="*/ 838200 w 2341"/>
              <a:gd name="T3" fmla="*/ 1771650 h 1308"/>
              <a:gd name="T4" fmla="*/ 1874838 w 2341"/>
              <a:gd name="T5" fmla="*/ 1227137 h 1308"/>
              <a:gd name="T6" fmla="*/ 2644775 w 2341"/>
              <a:gd name="T7" fmla="*/ 782637 h 1308"/>
              <a:gd name="T8" fmla="*/ 3324226 w 2341"/>
              <a:gd name="T9" fmla="*/ 352425 h 1308"/>
              <a:gd name="T10" fmla="*/ 3716338 w 2341"/>
              <a:gd name="T11" fmla="*/ 0 h 1308"/>
              <a:gd name="T12" fmla="*/ 0 60000 65536"/>
              <a:gd name="T13" fmla="*/ 0 60000 65536"/>
              <a:gd name="T14" fmla="*/ 0 60000 65536"/>
              <a:gd name="T15" fmla="*/ 0 60000 65536"/>
              <a:gd name="T16" fmla="*/ 0 60000 65536"/>
              <a:gd name="T17" fmla="*/ 0 60000 65536"/>
              <a:gd name="T18" fmla="*/ 0 w 2341"/>
              <a:gd name="T19" fmla="*/ 0 h 1308"/>
              <a:gd name="T20" fmla="*/ 2341 w 2341"/>
              <a:gd name="T21" fmla="*/ 1308 h 1308"/>
            </a:gdLst>
            <a:ahLst/>
            <a:cxnLst>
              <a:cxn ang="T12">
                <a:pos x="T0" y="T1"/>
              </a:cxn>
              <a:cxn ang="T13">
                <a:pos x="T2" y="T3"/>
              </a:cxn>
              <a:cxn ang="T14">
                <a:pos x="T4" y="T5"/>
              </a:cxn>
              <a:cxn ang="T15">
                <a:pos x="T6" y="T7"/>
              </a:cxn>
              <a:cxn ang="T16">
                <a:pos x="T8" y="T9"/>
              </a:cxn>
              <a:cxn ang="T17">
                <a:pos x="T10" y="T11"/>
              </a:cxn>
            </a:cxnLst>
            <a:rect l="T18" t="T19" r="T20" b="T21"/>
            <a:pathLst>
              <a:path w="2341" h="1308">
                <a:moveTo>
                  <a:pt x="0" y="1308"/>
                </a:moveTo>
                <a:cubicBezTo>
                  <a:pt x="176" y="1252"/>
                  <a:pt x="331" y="1205"/>
                  <a:pt x="528" y="1116"/>
                </a:cubicBezTo>
                <a:cubicBezTo>
                  <a:pt x="725" y="1027"/>
                  <a:pt x="991" y="877"/>
                  <a:pt x="1181" y="773"/>
                </a:cubicBezTo>
                <a:cubicBezTo>
                  <a:pt x="1371" y="669"/>
                  <a:pt x="1514" y="585"/>
                  <a:pt x="1666" y="493"/>
                </a:cubicBezTo>
                <a:cubicBezTo>
                  <a:pt x="1818" y="401"/>
                  <a:pt x="1982" y="304"/>
                  <a:pt x="2094" y="222"/>
                </a:cubicBezTo>
                <a:cubicBezTo>
                  <a:pt x="2206" y="140"/>
                  <a:pt x="2290" y="46"/>
                  <a:pt x="2341" y="0"/>
                </a:cubicBezTo>
              </a:path>
            </a:pathLst>
          </a:custGeom>
          <a:noFill/>
          <a:ln w="19050">
            <a:solidFill>
              <a:srgbClr val="33CCCC"/>
            </a:solid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85003" name="Freeform 17"/>
          <p:cNvSpPr>
            <a:spLocks/>
          </p:cNvSpPr>
          <p:nvPr/>
        </p:nvSpPr>
        <p:spPr bwMode="auto">
          <a:xfrm>
            <a:off x="4495800" y="5257800"/>
            <a:ext cx="3810000" cy="1588"/>
          </a:xfrm>
          <a:custGeom>
            <a:avLst/>
            <a:gdLst>
              <a:gd name="T0" fmla="*/ 0 w 2400"/>
              <a:gd name="T1" fmla="*/ 0 h 1"/>
              <a:gd name="T2" fmla="*/ 2209800 w 2400"/>
              <a:gd name="T3" fmla="*/ 0 h 1"/>
              <a:gd name="T4" fmla="*/ 3810000 w 2400"/>
              <a:gd name="T5" fmla="*/ 0 h 1"/>
              <a:gd name="T6" fmla="*/ 0 60000 65536"/>
              <a:gd name="T7" fmla="*/ 0 60000 65536"/>
              <a:gd name="T8" fmla="*/ 0 60000 65536"/>
              <a:gd name="T9" fmla="*/ 0 w 2400"/>
              <a:gd name="T10" fmla="*/ 0 h 1"/>
              <a:gd name="T11" fmla="*/ 2400 w 2400"/>
              <a:gd name="T12" fmla="*/ 1 h 1"/>
            </a:gdLst>
            <a:ahLst/>
            <a:cxnLst>
              <a:cxn ang="T6">
                <a:pos x="T0" y="T1"/>
              </a:cxn>
              <a:cxn ang="T7">
                <a:pos x="T2" y="T3"/>
              </a:cxn>
              <a:cxn ang="T8">
                <a:pos x="T4" y="T5"/>
              </a:cxn>
            </a:cxnLst>
            <a:rect l="T9" t="T10" r="T11" b="T12"/>
            <a:pathLst>
              <a:path w="2400" h="1">
                <a:moveTo>
                  <a:pt x="0" y="0"/>
                </a:moveTo>
                <a:cubicBezTo>
                  <a:pt x="496" y="0"/>
                  <a:pt x="992" y="0"/>
                  <a:pt x="1392" y="0"/>
                </a:cubicBezTo>
                <a:cubicBezTo>
                  <a:pt x="1792" y="0"/>
                  <a:pt x="2232" y="0"/>
                  <a:pt x="2400" y="0"/>
                </a:cubicBezTo>
              </a:path>
            </a:pathLst>
          </a:custGeom>
          <a:noFill/>
          <a:ln w="19050">
            <a:solidFill>
              <a:srgbClr val="FFFF00"/>
            </a:solidFill>
            <a:round/>
            <a:headEnd/>
            <a:tailEnd/>
          </a:ln>
        </p:spPr>
        <p:txBody>
          <a:bodyPr/>
          <a:lstStyle/>
          <a:p>
            <a:pPr algn="ctr" fontAlgn="base">
              <a:spcBef>
                <a:spcPct val="0"/>
              </a:spcBef>
              <a:spcAft>
                <a:spcPct val="0"/>
              </a:spcAft>
            </a:pPr>
            <a:endParaRPr lang="en-US" sz="2000">
              <a:solidFill>
                <a:srgbClr val="000000"/>
              </a:solidFill>
              <a:latin typeface="Arial" pitchFamily="34" charset="0"/>
            </a:endParaRPr>
          </a:p>
        </p:txBody>
      </p:sp>
      <p:sp>
        <p:nvSpPr>
          <p:cNvPr id="85004" name="Text Box 18"/>
          <p:cNvSpPr txBox="1">
            <a:spLocks noChangeArrowheads="1"/>
          </p:cNvSpPr>
          <p:nvPr/>
        </p:nvSpPr>
        <p:spPr bwMode="auto">
          <a:xfrm rot="-1357191">
            <a:off x="5262564" y="2743200"/>
            <a:ext cx="376237" cy="336550"/>
          </a:xfrm>
          <a:prstGeom prst="rect">
            <a:avLst/>
          </a:prstGeom>
          <a:noFill/>
          <a:ln w="9525">
            <a:noFill/>
            <a:miter lim="800000"/>
            <a:headEnd/>
            <a:tailEnd/>
          </a:ln>
        </p:spPr>
        <p:txBody>
          <a:bodyPr wrap="none">
            <a:spAutoFit/>
          </a:bodyPr>
          <a:lstStyle/>
          <a:p>
            <a:pPr fontAlgn="base">
              <a:spcBef>
                <a:spcPct val="0"/>
              </a:spcBef>
              <a:spcAft>
                <a:spcPct val="0"/>
              </a:spcAft>
            </a:pPr>
            <a:r>
              <a:rPr lang="en-US" sz="1600">
                <a:solidFill>
                  <a:srgbClr val="000000"/>
                </a:solidFill>
                <a:latin typeface="Arial" pitchFamily="34" charset="0"/>
              </a:rPr>
              <a:t>KI</a:t>
            </a:r>
          </a:p>
        </p:txBody>
      </p:sp>
      <p:sp>
        <p:nvSpPr>
          <p:cNvPr id="85005" name="Text Box 19"/>
          <p:cNvSpPr txBox="1">
            <a:spLocks noChangeArrowheads="1"/>
          </p:cNvSpPr>
          <p:nvPr/>
        </p:nvSpPr>
        <p:spPr bwMode="auto">
          <a:xfrm rot="-1357191">
            <a:off x="5181600" y="3810000"/>
            <a:ext cx="825500" cy="336550"/>
          </a:xfrm>
          <a:prstGeom prst="rect">
            <a:avLst/>
          </a:prstGeom>
          <a:noFill/>
          <a:ln w="9525">
            <a:noFill/>
            <a:miter lim="800000"/>
            <a:headEnd/>
            <a:tailEnd/>
          </a:ln>
        </p:spPr>
        <p:txBody>
          <a:bodyPr wrap="none">
            <a:spAutoFit/>
          </a:bodyPr>
          <a:lstStyle/>
          <a:p>
            <a:pPr fontAlgn="base">
              <a:spcBef>
                <a:spcPct val="0"/>
              </a:spcBef>
              <a:spcAft>
                <a:spcPct val="0"/>
              </a:spcAft>
            </a:pPr>
            <a:r>
              <a:rPr lang="en-US" sz="1600">
                <a:solidFill>
                  <a:srgbClr val="000000"/>
                </a:solidFill>
                <a:latin typeface="Arial" pitchFamily="34" charset="0"/>
              </a:rPr>
              <a:t>NaNO</a:t>
            </a:r>
            <a:r>
              <a:rPr lang="en-US" sz="1600" baseline="-25000">
                <a:solidFill>
                  <a:srgbClr val="000000"/>
                </a:solidFill>
                <a:latin typeface="Arial" pitchFamily="34" charset="0"/>
              </a:rPr>
              <a:t>3</a:t>
            </a:r>
          </a:p>
        </p:txBody>
      </p:sp>
      <p:sp>
        <p:nvSpPr>
          <p:cNvPr id="85006" name="Text Box 20"/>
          <p:cNvSpPr txBox="1">
            <a:spLocks noChangeArrowheads="1"/>
          </p:cNvSpPr>
          <p:nvPr/>
        </p:nvSpPr>
        <p:spPr bwMode="auto">
          <a:xfrm rot="-3525430">
            <a:off x="6370638" y="2773363"/>
            <a:ext cx="701675" cy="336550"/>
          </a:xfrm>
          <a:prstGeom prst="rect">
            <a:avLst/>
          </a:prstGeom>
          <a:noFill/>
          <a:ln w="9525">
            <a:noFill/>
            <a:miter lim="800000"/>
            <a:headEnd/>
            <a:tailEnd/>
          </a:ln>
        </p:spPr>
        <p:txBody>
          <a:bodyPr wrap="none">
            <a:spAutoFit/>
          </a:bodyPr>
          <a:lstStyle/>
          <a:p>
            <a:pPr fontAlgn="base">
              <a:spcBef>
                <a:spcPct val="0"/>
              </a:spcBef>
              <a:spcAft>
                <a:spcPct val="0"/>
              </a:spcAft>
            </a:pPr>
            <a:r>
              <a:rPr lang="en-US" sz="1600">
                <a:solidFill>
                  <a:srgbClr val="000000"/>
                </a:solidFill>
                <a:latin typeface="Arial" pitchFamily="34" charset="0"/>
              </a:rPr>
              <a:t>KNO</a:t>
            </a:r>
            <a:r>
              <a:rPr lang="en-US" sz="1600" baseline="-25000">
                <a:solidFill>
                  <a:srgbClr val="000000"/>
                </a:solidFill>
                <a:latin typeface="Arial" pitchFamily="34" charset="0"/>
              </a:rPr>
              <a:t>3</a:t>
            </a:r>
          </a:p>
        </p:txBody>
      </p:sp>
      <p:sp>
        <p:nvSpPr>
          <p:cNvPr id="85007" name="Text Box 21"/>
          <p:cNvSpPr txBox="1">
            <a:spLocks noChangeArrowheads="1"/>
          </p:cNvSpPr>
          <p:nvPr/>
        </p:nvSpPr>
        <p:spPr bwMode="auto">
          <a:xfrm rot="-1717313">
            <a:off x="6172201" y="4616450"/>
            <a:ext cx="906463" cy="336550"/>
          </a:xfrm>
          <a:prstGeom prst="rect">
            <a:avLst/>
          </a:prstGeom>
          <a:noFill/>
          <a:ln w="9525">
            <a:noFill/>
            <a:miter lim="800000"/>
            <a:headEnd/>
            <a:tailEnd/>
          </a:ln>
        </p:spPr>
        <p:txBody>
          <a:bodyPr wrap="none">
            <a:spAutoFit/>
          </a:bodyPr>
          <a:lstStyle/>
          <a:p>
            <a:pPr fontAlgn="base">
              <a:spcBef>
                <a:spcPct val="0"/>
              </a:spcBef>
              <a:spcAft>
                <a:spcPct val="0"/>
              </a:spcAft>
            </a:pPr>
            <a:r>
              <a:rPr lang="en-US" sz="1600">
                <a:solidFill>
                  <a:srgbClr val="000000"/>
                </a:solidFill>
                <a:latin typeface="Arial" pitchFamily="34" charset="0"/>
              </a:rPr>
              <a:t>Na</a:t>
            </a:r>
            <a:r>
              <a:rPr lang="en-US" sz="2000" baseline="-25000">
                <a:solidFill>
                  <a:srgbClr val="000000"/>
                </a:solidFill>
                <a:latin typeface="Arial" pitchFamily="34" charset="0"/>
              </a:rPr>
              <a:t>3</a:t>
            </a:r>
            <a:r>
              <a:rPr lang="en-US" sz="1600">
                <a:solidFill>
                  <a:srgbClr val="000000"/>
                </a:solidFill>
                <a:latin typeface="Arial" pitchFamily="34" charset="0"/>
              </a:rPr>
              <a:t>PO</a:t>
            </a:r>
            <a:r>
              <a:rPr lang="en-US" sz="1600" baseline="-25000">
                <a:solidFill>
                  <a:srgbClr val="000000"/>
                </a:solidFill>
                <a:latin typeface="Arial" pitchFamily="34" charset="0"/>
              </a:rPr>
              <a:t>4</a:t>
            </a:r>
          </a:p>
        </p:txBody>
      </p:sp>
      <p:sp>
        <p:nvSpPr>
          <p:cNvPr id="85008" name="Text Box 24"/>
          <p:cNvSpPr txBox="1">
            <a:spLocks noChangeArrowheads="1"/>
          </p:cNvSpPr>
          <p:nvPr/>
        </p:nvSpPr>
        <p:spPr bwMode="auto">
          <a:xfrm>
            <a:off x="7138988" y="4953000"/>
            <a:ext cx="633412" cy="336550"/>
          </a:xfrm>
          <a:prstGeom prst="rect">
            <a:avLst/>
          </a:prstGeom>
          <a:noFill/>
          <a:ln w="9525">
            <a:noFill/>
            <a:miter lim="800000"/>
            <a:headEnd/>
            <a:tailEnd/>
          </a:ln>
        </p:spPr>
        <p:txBody>
          <a:bodyPr wrap="none">
            <a:spAutoFit/>
          </a:bodyPr>
          <a:lstStyle/>
          <a:p>
            <a:pPr fontAlgn="base">
              <a:spcBef>
                <a:spcPct val="0"/>
              </a:spcBef>
              <a:spcAft>
                <a:spcPct val="0"/>
              </a:spcAft>
            </a:pPr>
            <a:r>
              <a:rPr lang="en-US" sz="1600">
                <a:solidFill>
                  <a:srgbClr val="000000"/>
                </a:solidFill>
                <a:latin typeface="Arial" pitchFamily="34" charset="0"/>
              </a:rPr>
              <a:t>NaCl</a:t>
            </a:r>
          </a:p>
        </p:txBody>
      </p:sp>
      <p:sp>
        <p:nvSpPr>
          <p:cNvPr id="85009" name="Text Box 25"/>
          <p:cNvSpPr txBox="1">
            <a:spLocks noChangeArrowheads="1"/>
          </p:cNvSpPr>
          <p:nvPr/>
        </p:nvSpPr>
        <p:spPr bwMode="auto">
          <a:xfrm>
            <a:off x="5562600" y="6248400"/>
            <a:ext cx="1765300" cy="336550"/>
          </a:xfrm>
          <a:prstGeom prst="rect">
            <a:avLst/>
          </a:prstGeom>
          <a:noFill/>
          <a:ln w="9525">
            <a:noFill/>
            <a:miter lim="800000"/>
            <a:headEnd/>
            <a:tailEnd/>
          </a:ln>
        </p:spPr>
        <p:txBody>
          <a:bodyPr wrap="none">
            <a:spAutoFit/>
          </a:bodyPr>
          <a:lstStyle/>
          <a:p>
            <a:pPr fontAlgn="base">
              <a:spcBef>
                <a:spcPct val="0"/>
              </a:spcBef>
              <a:spcAft>
                <a:spcPct val="0"/>
              </a:spcAft>
            </a:pPr>
            <a:r>
              <a:rPr lang="en-US" sz="1600">
                <a:solidFill>
                  <a:srgbClr val="000000"/>
                </a:solidFill>
                <a:latin typeface="Arial" pitchFamily="34" charset="0"/>
              </a:rPr>
              <a:t>Temperature (</a:t>
            </a:r>
            <a:r>
              <a:rPr lang="en-US" sz="1600" baseline="30000">
                <a:solidFill>
                  <a:srgbClr val="000000"/>
                </a:solidFill>
                <a:latin typeface="Arial" pitchFamily="34" charset="0"/>
              </a:rPr>
              <a:t>o</a:t>
            </a:r>
            <a:r>
              <a:rPr lang="en-US" sz="1600">
                <a:solidFill>
                  <a:srgbClr val="000000"/>
                </a:solidFill>
                <a:latin typeface="Arial" pitchFamily="34" charset="0"/>
              </a:rPr>
              <a:t>C)</a:t>
            </a:r>
          </a:p>
        </p:txBody>
      </p:sp>
      <p:sp>
        <p:nvSpPr>
          <p:cNvPr id="85010" name="Text Box 26"/>
          <p:cNvSpPr txBox="1">
            <a:spLocks noChangeArrowheads="1"/>
          </p:cNvSpPr>
          <p:nvPr/>
        </p:nvSpPr>
        <p:spPr bwMode="auto">
          <a:xfrm rot="-5400000">
            <a:off x="2240757" y="3733007"/>
            <a:ext cx="3017837" cy="336550"/>
          </a:xfrm>
          <a:prstGeom prst="rect">
            <a:avLst/>
          </a:prstGeom>
          <a:noFill/>
          <a:ln w="9525">
            <a:noFill/>
            <a:miter lim="800000"/>
            <a:headEnd/>
            <a:tailEnd/>
          </a:ln>
        </p:spPr>
        <p:txBody>
          <a:bodyPr wrap="none">
            <a:spAutoFit/>
          </a:bodyPr>
          <a:lstStyle/>
          <a:p>
            <a:pPr fontAlgn="base">
              <a:spcBef>
                <a:spcPct val="0"/>
              </a:spcBef>
              <a:spcAft>
                <a:spcPct val="0"/>
              </a:spcAft>
            </a:pPr>
            <a:r>
              <a:rPr lang="en-US" sz="1600">
                <a:solidFill>
                  <a:srgbClr val="000000"/>
                </a:solidFill>
                <a:latin typeface="Arial" pitchFamily="34" charset="0"/>
              </a:rPr>
              <a:t>Solubility (g solute / 100 g H</a:t>
            </a:r>
            <a:r>
              <a:rPr lang="en-US" sz="1600" baseline="-25000">
                <a:solidFill>
                  <a:srgbClr val="000000"/>
                </a:solidFill>
                <a:latin typeface="Arial" pitchFamily="34" charset="0"/>
              </a:rPr>
              <a:t>2</a:t>
            </a:r>
            <a:r>
              <a:rPr lang="en-US" sz="1600">
                <a:solidFill>
                  <a:srgbClr val="000000"/>
                </a:solidFill>
                <a:latin typeface="Arial" pitchFamily="34" charset="0"/>
              </a:rPr>
              <a:t>O)</a:t>
            </a:r>
          </a:p>
        </p:txBody>
      </p:sp>
      <p:grpSp>
        <p:nvGrpSpPr>
          <p:cNvPr id="85011" name="Group 44"/>
          <p:cNvGrpSpPr>
            <a:grpSpLocks/>
          </p:cNvGrpSpPr>
          <p:nvPr/>
        </p:nvGrpSpPr>
        <p:grpSpPr bwMode="auto">
          <a:xfrm>
            <a:off x="3989388" y="1905000"/>
            <a:ext cx="506412" cy="4267200"/>
            <a:chOff x="1553" y="1200"/>
            <a:chExt cx="319" cy="2688"/>
          </a:xfrm>
        </p:grpSpPr>
        <p:sp>
          <p:nvSpPr>
            <p:cNvPr id="85018" name="Text Box 27"/>
            <p:cNvSpPr txBox="1">
              <a:spLocks noChangeArrowheads="1"/>
            </p:cNvSpPr>
            <p:nvPr/>
          </p:nvSpPr>
          <p:spPr bwMode="auto">
            <a:xfrm>
              <a:off x="1567" y="1200"/>
              <a:ext cx="302" cy="192"/>
            </a:xfrm>
            <a:prstGeom prst="rect">
              <a:avLst/>
            </a:prstGeom>
            <a:noFill/>
            <a:ln w="9525">
              <a:noFill/>
              <a:miter lim="800000"/>
              <a:headEnd/>
              <a:tailEnd/>
            </a:ln>
          </p:spPr>
          <p:txBody>
            <a:bodyPr wrap="none">
              <a:spAutoFit/>
            </a:bodyPr>
            <a:lstStyle/>
            <a:p>
              <a:pPr fontAlgn="base">
                <a:spcBef>
                  <a:spcPct val="0"/>
                </a:spcBef>
                <a:spcAft>
                  <a:spcPct val="0"/>
                </a:spcAft>
              </a:pPr>
              <a:r>
                <a:rPr lang="en-US" sz="1400">
                  <a:solidFill>
                    <a:srgbClr val="000000"/>
                  </a:solidFill>
                  <a:latin typeface="Arial" pitchFamily="34" charset="0"/>
                </a:rPr>
                <a:t>200</a:t>
              </a:r>
            </a:p>
          </p:txBody>
        </p:sp>
        <p:sp>
          <p:nvSpPr>
            <p:cNvPr id="85019" name="Text Box 28"/>
            <p:cNvSpPr txBox="1">
              <a:spLocks noChangeArrowheads="1"/>
            </p:cNvSpPr>
            <p:nvPr/>
          </p:nvSpPr>
          <p:spPr bwMode="auto">
            <a:xfrm>
              <a:off x="1553" y="1440"/>
              <a:ext cx="302" cy="192"/>
            </a:xfrm>
            <a:prstGeom prst="rect">
              <a:avLst/>
            </a:prstGeom>
            <a:noFill/>
            <a:ln w="9525">
              <a:noFill/>
              <a:miter lim="800000"/>
              <a:headEnd/>
              <a:tailEnd/>
            </a:ln>
          </p:spPr>
          <p:txBody>
            <a:bodyPr wrap="none">
              <a:spAutoFit/>
            </a:bodyPr>
            <a:lstStyle/>
            <a:p>
              <a:pPr fontAlgn="base">
                <a:spcBef>
                  <a:spcPct val="0"/>
                </a:spcBef>
                <a:spcAft>
                  <a:spcPct val="0"/>
                </a:spcAft>
              </a:pPr>
              <a:r>
                <a:rPr lang="en-US" sz="1400">
                  <a:solidFill>
                    <a:srgbClr val="000000"/>
                  </a:solidFill>
                  <a:latin typeface="Arial" pitchFamily="34" charset="0"/>
                </a:rPr>
                <a:t>180</a:t>
              </a:r>
            </a:p>
          </p:txBody>
        </p:sp>
        <p:sp>
          <p:nvSpPr>
            <p:cNvPr id="85020" name="Text Box 29"/>
            <p:cNvSpPr txBox="1">
              <a:spLocks noChangeArrowheads="1"/>
            </p:cNvSpPr>
            <p:nvPr/>
          </p:nvSpPr>
          <p:spPr bwMode="auto">
            <a:xfrm>
              <a:off x="1553" y="1680"/>
              <a:ext cx="302" cy="192"/>
            </a:xfrm>
            <a:prstGeom prst="rect">
              <a:avLst/>
            </a:prstGeom>
            <a:noFill/>
            <a:ln w="9525">
              <a:noFill/>
              <a:miter lim="800000"/>
              <a:headEnd/>
              <a:tailEnd/>
            </a:ln>
          </p:spPr>
          <p:txBody>
            <a:bodyPr wrap="none">
              <a:spAutoFit/>
            </a:bodyPr>
            <a:lstStyle/>
            <a:p>
              <a:pPr fontAlgn="base">
                <a:spcBef>
                  <a:spcPct val="0"/>
                </a:spcBef>
                <a:spcAft>
                  <a:spcPct val="0"/>
                </a:spcAft>
              </a:pPr>
              <a:r>
                <a:rPr lang="en-US" sz="1400">
                  <a:solidFill>
                    <a:srgbClr val="000000"/>
                  </a:solidFill>
                  <a:latin typeface="Arial" pitchFamily="34" charset="0"/>
                </a:rPr>
                <a:t>160</a:t>
              </a:r>
            </a:p>
          </p:txBody>
        </p:sp>
        <p:sp>
          <p:nvSpPr>
            <p:cNvPr id="85021" name="Text Box 30"/>
            <p:cNvSpPr txBox="1">
              <a:spLocks noChangeArrowheads="1"/>
            </p:cNvSpPr>
            <p:nvPr/>
          </p:nvSpPr>
          <p:spPr bwMode="auto">
            <a:xfrm>
              <a:off x="1553" y="1920"/>
              <a:ext cx="302" cy="192"/>
            </a:xfrm>
            <a:prstGeom prst="rect">
              <a:avLst/>
            </a:prstGeom>
            <a:noFill/>
            <a:ln w="9525">
              <a:noFill/>
              <a:miter lim="800000"/>
              <a:headEnd/>
              <a:tailEnd/>
            </a:ln>
          </p:spPr>
          <p:txBody>
            <a:bodyPr wrap="none">
              <a:spAutoFit/>
            </a:bodyPr>
            <a:lstStyle/>
            <a:p>
              <a:pPr fontAlgn="base">
                <a:spcBef>
                  <a:spcPct val="0"/>
                </a:spcBef>
                <a:spcAft>
                  <a:spcPct val="0"/>
                </a:spcAft>
              </a:pPr>
              <a:r>
                <a:rPr lang="en-US" sz="1400">
                  <a:solidFill>
                    <a:srgbClr val="000000"/>
                  </a:solidFill>
                  <a:latin typeface="Arial" pitchFamily="34" charset="0"/>
                </a:rPr>
                <a:t>140</a:t>
              </a:r>
            </a:p>
          </p:txBody>
        </p:sp>
        <p:sp>
          <p:nvSpPr>
            <p:cNvPr id="85022" name="Text Box 31"/>
            <p:cNvSpPr txBox="1">
              <a:spLocks noChangeArrowheads="1"/>
            </p:cNvSpPr>
            <p:nvPr/>
          </p:nvSpPr>
          <p:spPr bwMode="auto">
            <a:xfrm>
              <a:off x="1567" y="2160"/>
              <a:ext cx="302" cy="192"/>
            </a:xfrm>
            <a:prstGeom prst="rect">
              <a:avLst/>
            </a:prstGeom>
            <a:noFill/>
            <a:ln w="9525">
              <a:noFill/>
              <a:miter lim="800000"/>
              <a:headEnd/>
              <a:tailEnd/>
            </a:ln>
          </p:spPr>
          <p:txBody>
            <a:bodyPr wrap="none">
              <a:spAutoFit/>
            </a:bodyPr>
            <a:lstStyle/>
            <a:p>
              <a:pPr fontAlgn="base">
                <a:spcBef>
                  <a:spcPct val="0"/>
                </a:spcBef>
                <a:spcAft>
                  <a:spcPct val="0"/>
                </a:spcAft>
              </a:pPr>
              <a:r>
                <a:rPr lang="en-US" sz="1400">
                  <a:solidFill>
                    <a:srgbClr val="000000"/>
                  </a:solidFill>
                  <a:latin typeface="Arial" pitchFamily="34" charset="0"/>
                </a:rPr>
                <a:t>120</a:t>
              </a:r>
            </a:p>
          </p:txBody>
        </p:sp>
        <p:sp>
          <p:nvSpPr>
            <p:cNvPr id="85023" name="Text Box 32"/>
            <p:cNvSpPr txBox="1">
              <a:spLocks noChangeArrowheads="1"/>
            </p:cNvSpPr>
            <p:nvPr/>
          </p:nvSpPr>
          <p:spPr bwMode="auto">
            <a:xfrm>
              <a:off x="1553" y="2448"/>
              <a:ext cx="302" cy="192"/>
            </a:xfrm>
            <a:prstGeom prst="rect">
              <a:avLst/>
            </a:prstGeom>
            <a:noFill/>
            <a:ln w="9525">
              <a:noFill/>
              <a:miter lim="800000"/>
              <a:headEnd/>
              <a:tailEnd/>
            </a:ln>
          </p:spPr>
          <p:txBody>
            <a:bodyPr wrap="none">
              <a:spAutoFit/>
            </a:bodyPr>
            <a:lstStyle/>
            <a:p>
              <a:pPr fontAlgn="base">
                <a:spcBef>
                  <a:spcPct val="0"/>
                </a:spcBef>
                <a:spcAft>
                  <a:spcPct val="0"/>
                </a:spcAft>
              </a:pPr>
              <a:r>
                <a:rPr lang="en-US" sz="1400">
                  <a:solidFill>
                    <a:srgbClr val="000000"/>
                  </a:solidFill>
                  <a:latin typeface="Arial" pitchFamily="34" charset="0"/>
                </a:rPr>
                <a:t>100</a:t>
              </a:r>
            </a:p>
          </p:txBody>
        </p:sp>
        <p:sp>
          <p:nvSpPr>
            <p:cNvPr id="85024" name="Text Box 33"/>
            <p:cNvSpPr txBox="1">
              <a:spLocks noChangeArrowheads="1"/>
            </p:cNvSpPr>
            <p:nvPr/>
          </p:nvSpPr>
          <p:spPr bwMode="auto">
            <a:xfrm>
              <a:off x="1615" y="2688"/>
              <a:ext cx="240" cy="192"/>
            </a:xfrm>
            <a:prstGeom prst="rect">
              <a:avLst/>
            </a:prstGeom>
            <a:noFill/>
            <a:ln w="9525">
              <a:noFill/>
              <a:miter lim="800000"/>
              <a:headEnd/>
              <a:tailEnd/>
            </a:ln>
          </p:spPr>
          <p:txBody>
            <a:bodyPr wrap="none">
              <a:spAutoFit/>
            </a:bodyPr>
            <a:lstStyle/>
            <a:p>
              <a:pPr fontAlgn="base">
                <a:spcBef>
                  <a:spcPct val="0"/>
                </a:spcBef>
                <a:spcAft>
                  <a:spcPct val="0"/>
                </a:spcAft>
              </a:pPr>
              <a:r>
                <a:rPr lang="en-US" sz="1400">
                  <a:solidFill>
                    <a:srgbClr val="000000"/>
                  </a:solidFill>
                  <a:latin typeface="Arial" pitchFamily="34" charset="0"/>
                </a:rPr>
                <a:t>80</a:t>
              </a:r>
            </a:p>
          </p:txBody>
        </p:sp>
        <p:sp>
          <p:nvSpPr>
            <p:cNvPr id="85025" name="Text Box 34"/>
            <p:cNvSpPr txBox="1">
              <a:spLocks noChangeArrowheads="1"/>
            </p:cNvSpPr>
            <p:nvPr/>
          </p:nvSpPr>
          <p:spPr bwMode="auto">
            <a:xfrm>
              <a:off x="1615" y="2928"/>
              <a:ext cx="240" cy="192"/>
            </a:xfrm>
            <a:prstGeom prst="rect">
              <a:avLst/>
            </a:prstGeom>
            <a:noFill/>
            <a:ln w="9525">
              <a:noFill/>
              <a:miter lim="800000"/>
              <a:headEnd/>
              <a:tailEnd/>
            </a:ln>
          </p:spPr>
          <p:txBody>
            <a:bodyPr wrap="none">
              <a:spAutoFit/>
            </a:bodyPr>
            <a:lstStyle/>
            <a:p>
              <a:pPr fontAlgn="base">
                <a:spcBef>
                  <a:spcPct val="0"/>
                </a:spcBef>
                <a:spcAft>
                  <a:spcPct val="0"/>
                </a:spcAft>
              </a:pPr>
              <a:r>
                <a:rPr lang="en-US" sz="1400">
                  <a:solidFill>
                    <a:srgbClr val="000000"/>
                  </a:solidFill>
                  <a:latin typeface="Arial" pitchFamily="34" charset="0"/>
                </a:rPr>
                <a:t>60</a:t>
              </a:r>
            </a:p>
          </p:txBody>
        </p:sp>
        <p:sp>
          <p:nvSpPr>
            <p:cNvPr id="85026" name="Text Box 35"/>
            <p:cNvSpPr txBox="1">
              <a:spLocks noChangeArrowheads="1"/>
            </p:cNvSpPr>
            <p:nvPr/>
          </p:nvSpPr>
          <p:spPr bwMode="auto">
            <a:xfrm>
              <a:off x="1615" y="3168"/>
              <a:ext cx="240" cy="192"/>
            </a:xfrm>
            <a:prstGeom prst="rect">
              <a:avLst/>
            </a:prstGeom>
            <a:noFill/>
            <a:ln w="9525">
              <a:noFill/>
              <a:miter lim="800000"/>
              <a:headEnd/>
              <a:tailEnd/>
            </a:ln>
          </p:spPr>
          <p:txBody>
            <a:bodyPr wrap="none">
              <a:spAutoFit/>
            </a:bodyPr>
            <a:lstStyle/>
            <a:p>
              <a:pPr fontAlgn="base">
                <a:spcBef>
                  <a:spcPct val="0"/>
                </a:spcBef>
                <a:spcAft>
                  <a:spcPct val="0"/>
                </a:spcAft>
              </a:pPr>
              <a:r>
                <a:rPr lang="en-US" sz="1400">
                  <a:solidFill>
                    <a:srgbClr val="000000"/>
                  </a:solidFill>
                  <a:latin typeface="Arial" pitchFamily="34" charset="0"/>
                </a:rPr>
                <a:t>40</a:t>
              </a:r>
            </a:p>
          </p:txBody>
        </p:sp>
        <p:sp>
          <p:nvSpPr>
            <p:cNvPr id="85027" name="Text Box 36"/>
            <p:cNvSpPr txBox="1">
              <a:spLocks noChangeArrowheads="1"/>
            </p:cNvSpPr>
            <p:nvPr/>
          </p:nvSpPr>
          <p:spPr bwMode="auto">
            <a:xfrm>
              <a:off x="1615" y="3456"/>
              <a:ext cx="240" cy="192"/>
            </a:xfrm>
            <a:prstGeom prst="rect">
              <a:avLst/>
            </a:prstGeom>
            <a:noFill/>
            <a:ln w="9525">
              <a:noFill/>
              <a:miter lim="800000"/>
              <a:headEnd/>
              <a:tailEnd/>
            </a:ln>
          </p:spPr>
          <p:txBody>
            <a:bodyPr wrap="none">
              <a:spAutoFit/>
            </a:bodyPr>
            <a:lstStyle/>
            <a:p>
              <a:pPr fontAlgn="base">
                <a:spcBef>
                  <a:spcPct val="0"/>
                </a:spcBef>
                <a:spcAft>
                  <a:spcPct val="0"/>
                </a:spcAft>
              </a:pPr>
              <a:r>
                <a:rPr lang="en-US" sz="1400">
                  <a:solidFill>
                    <a:srgbClr val="000000"/>
                  </a:solidFill>
                  <a:latin typeface="Arial" pitchFamily="34" charset="0"/>
                </a:rPr>
                <a:t>20</a:t>
              </a:r>
            </a:p>
          </p:txBody>
        </p:sp>
        <p:sp>
          <p:nvSpPr>
            <p:cNvPr id="85028" name="Text Box 37"/>
            <p:cNvSpPr txBox="1">
              <a:spLocks noChangeArrowheads="1"/>
            </p:cNvSpPr>
            <p:nvPr/>
          </p:nvSpPr>
          <p:spPr bwMode="auto">
            <a:xfrm>
              <a:off x="1663" y="3696"/>
              <a:ext cx="209" cy="192"/>
            </a:xfrm>
            <a:prstGeom prst="rect">
              <a:avLst/>
            </a:prstGeom>
            <a:noFill/>
            <a:ln w="9525">
              <a:noFill/>
              <a:miter lim="800000"/>
              <a:headEnd/>
              <a:tailEnd/>
            </a:ln>
          </p:spPr>
          <p:txBody>
            <a:bodyPr wrap="none">
              <a:spAutoFit/>
            </a:bodyPr>
            <a:lstStyle/>
            <a:p>
              <a:pPr fontAlgn="base">
                <a:spcBef>
                  <a:spcPct val="0"/>
                </a:spcBef>
                <a:spcAft>
                  <a:spcPct val="0"/>
                </a:spcAft>
              </a:pPr>
              <a:r>
                <a:rPr lang="en-US" sz="1400">
                  <a:solidFill>
                    <a:srgbClr val="000000"/>
                  </a:solidFill>
                  <a:latin typeface="Arial" pitchFamily="34" charset="0"/>
                </a:rPr>
                <a:t> 0</a:t>
              </a:r>
            </a:p>
          </p:txBody>
        </p:sp>
      </p:grpSp>
      <p:sp>
        <p:nvSpPr>
          <p:cNvPr id="85012" name="Text Box 38"/>
          <p:cNvSpPr txBox="1">
            <a:spLocks noChangeArrowheads="1"/>
          </p:cNvSpPr>
          <p:nvPr/>
        </p:nvSpPr>
        <p:spPr bwMode="auto">
          <a:xfrm>
            <a:off x="5029200" y="6019800"/>
            <a:ext cx="381000" cy="304800"/>
          </a:xfrm>
          <a:prstGeom prst="rect">
            <a:avLst/>
          </a:prstGeom>
          <a:noFill/>
          <a:ln w="9525">
            <a:noFill/>
            <a:miter lim="800000"/>
            <a:headEnd/>
            <a:tailEnd/>
          </a:ln>
        </p:spPr>
        <p:txBody>
          <a:bodyPr wrap="none">
            <a:spAutoFit/>
          </a:bodyPr>
          <a:lstStyle/>
          <a:p>
            <a:pPr fontAlgn="base">
              <a:spcBef>
                <a:spcPct val="0"/>
              </a:spcBef>
              <a:spcAft>
                <a:spcPct val="0"/>
              </a:spcAft>
            </a:pPr>
            <a:r>
              <a:rPr lang="en-US" sz="1400">
                <a:solidFill>
                  <a:srgbClr val="000000"/>
                </a:solidFill>
                <a:latin typeface="Arial" pitchFamily="34" charset="0"/>
              </a:rPr>
              <a:t>20</a:t>
            </a:r>
          </a:p>
        </p:txBody>
      </p:sp>
      <p:sp>
        <p:nvSpPr>
          <p:cNvPr id="85013" name="Text Box 39"/>
          <p:cNvSpPr txBox="1">
            <a:spLocks noChangeArrowheads="1"/>
          </p:cNvSpPr>
          <p:nvPr/>
        </p:nvSpPr>
        <p:spPr bwMode="auto">
          <a:xfrm>
            <a:off x="5791200" y="6019800"/>
            <a:ext cx="381000" cy="304800"/>
          </a:xfrm>
          <a:prstGeom prst="rect">
            <a:avLst/>
          </a:prstGeom>
          <a:noFill/>
          <a:ln w="9525">
            <a:noFill/>
            <a:miter lim="800000"/>
            <a:headEnd/>
            <a:tailEnd/>
          </a:ln>
        </p:spPr>
        <p:txBody>
          <a:bodyPr wrap="none">
            <a:spAutoFit/>
          </a:bodyPr>
          <a:lstStyle/>
          <a:p>
            <a:pPr fontAlgn="base">
              <a:spcBef>
                <a:spcPct val="0"/>
              </a:spcBef>
              <a:spcAft>
                <a:spcPct val="0"/>
              </a:spcAft>
            </a:pPr>
            <a:r>
              <a:rPr lang="en-US" sz="1400">
                <a:solidFill>
                  <a:srgbClr val="000000"/>
                </a:solidFill>
                <a:latin typeface="Arial" pitchFamily="34" charset="0"/>
              </a:rPr>
              <a:t>40</a:t>
            </a:r>
          </a:p>
        </p:txBody>
      </p:sp>
      <p:sp>
        <p:nvSpPr>
          <p:cNvPr id="85014" name="Text Box 40"/>
          <p:cNvSpPr txBox="1">
            <a:spLocks noChangeArrowheads="1"/>
          </p:cNvSpPr>
          <p:nvPr/>
        </p:nvSpPr>
        <p:spPr bwMode="auto">
          <a:xfrm>
            <a:off x="6553200" y="6019800"/>
            <a:ext cx="381000" cy="304800"/>
          </a:xfrm>
          <a:prstGeom prst="rect">
            <a:avLst/>
          </a:prstGeom>
          <a:noFill/>
          <a:ln w="9525">
            <a:noFill/>
            <a:miter lim="800000"/>
            <a:headEnd/>
            <a:tailEnd/>
          </a:ln>
        </p:spPr>
        <p:txBody>
          <a:bodyPr wrap="none">
            <a:spAutoFit/>
          </a:bodyPr>
          <a:lstStyle/>
          <a:p>
            <a:pPr fontAlgn="base">
              <a:spcBef>
                <a:spcPct val="0"/>
              </a:spcBef>
              <a:spcAft>
                <a:spcPct val="0"/>
              </a:spcAft>
            </a:pPr>
            <a:r>
              <a:rPr lang="en-US" sz="1400">
                <a:solidFill>
                  <a:srgbClr val="000000"/>
                </a:solidFill>
                <a:latin typeface="Arial" pitchFamily="34" charset="0"/>
              </a:rPr>
              <a:t>60</a:t>
            </a:r>
          </a:p>
        </p:txBody>
      </p:sp>
      <p:sp>
        <p:nvSpPr>
          <p:cNvPr id="85015" name="Text Box 41"/>
          <p:cNvSpPr txBox="1">
            <a:spLocks noChangeArrowheads="1"/>
          </p:cNvSpPr>
          <p:nvPr/>
        </p:nvSpPr>
        <p:spPr bwMode="auto">
          <a:xfrm>
            <a:off x="7315200" y="6019800"/>
            <a:ext cx="381000" cy="304800"/>
          </a:xfrm>
          <a:prstGeom prst="rect">
            <a:avLst/>
          </a:prstGeom>
          <a:noFill/>
          <a:ln w="9525">
            <a:noFill/>
            <a:miter lim="800000"/>
            <a:headEnd/>
            <a:tailEnd/>
          </a:ln>
        </p:spPr>
        <p:txBody>
          <a:bodyPr wrap="none">
            <a:spAutoFit/>
          </a:bodyPr>
          <a:lstStyle/>
          <a:p>
            <a:pPr fontAlgn="base">
              <a:spcBef>
                <a:spcPct val="0"/>
              </a:spcBef>
              <a:spcAft>
                <a:spcPct val="0"/>
              </a:spcAft>
            </a:pPr>
            <a:r>
              <a:rPr lang="en-US" sz="1400">
                <a:solidFill>
                  <a:srgbClr val="000000"/>
                </a:solidFill>
                <a:latin typeface="Arial" pitchFamily="34" charset="0"/>
              </a:rPr>
              <a:t>80</a:t>
            </a:r>
          </a:p>
        </p:txBody>
      </p:sp>
      <p:sp>
        <p:nvSpPr>
          <p:cNvPr id="85016" name="Text Box 42"/>
          <p:cNvSpPr txBox="1">
            <a:spLocks noChangeArrowheads="1"/>
          </p:cNvSpPr>
          <p:nvPr/>
        </p:nvSpPr>
        <p:spPr bwMode="auto">
          <a:xfrm>
            <a:off x="8077201" y="6019800"/>
            <a:ext cx="479425" cy="304800"/>
          </a:xfrm>
          <a:prstGeom prst="rect">
            <a:avLst/>
          </a:prstGeom>
          <a:noFill/>
          <a:ln w="9525">
            <a:noFill/>
            <a:miter lim="800000"/>
            <a:headEnd/>
            <a:tailEnd/>
          </a:ln>
        </p:spPr>
        <p:txBody>
          <a:bodyPr wrap="none">
            <a:spAutoFit/>
          </a:bodyPr>
          <a:lstStyle/>
          <a:p>
            <a:pPr fontAlgn="base">
              <a:spcBef>
                <a:spcPct val="0"/>
              </a:spcBef>
              <a:spcAft>
                <a:spcPct val="0"/>
              </a:spcAft>
            </a:pPr>
            <a:r>
              <a:rPr lang="en-US" sz="1400">
                <a:solidFill>
                  <a:srgbClr val="000000"/>
                </a:solidFill>
                <a:latin typeface="Arial" pitchFamily="34" charset="0"/>
              </a:rPr>
              <a:t>100</a:t>
            </a:r>
          </a:p>
        </p:txBody>
      </p:sp>
      <p:sp>
        <p:nvSpPr>
          <p:cNvPr id="85017" name="AutoShape 46">
            <a:hlinkClick r:id="" action="ppaction://noaction" highlightClick="1"/>
          </p:cNvPr>
          <p:cNvSpPr>
            <a:spLocks noChangeArrowheads="1"/>
          </p:cNvSpPr>
          <p:nvPr/>
        </p:nvSpPr>
        <p:spPr bwMode="auto">
          <a:xfrm>
            <a:off x="1524000" y="6119814"/>
            <a:ext cx="609600" cy="357187"/>
          </a:xfrm>
          <a:prstGeom prst="actionButtonBeginning">
            <a:avLst/>
          </a:prstGeom>
          <a:solidFill>
            <a:schemeClr val="bg1">
              <a:alpha val="50195"/>
            </a:schemeClr>
          </a:solidFill>
          <a:ln w="9525">
            <a:solidFill>
              <a:schemeClr val="bg1"/>
            </a:solidFill>
            <a:miter lim="800000"/>
            <a:headEnd/>
            <a:tailEnd/>
          </a:ln>
        </p:spPr>
        <p:txBody>
          <a:bodyPr wrap="none" anchor="ctr"/>
          <a:lstStyle/>
          <a:p>
            <a:pPr algn="ctr" fontAlgn="base">
              <a:spcBef>
                <a:spcPct val="0"/>
              </a:spcBef>
              <a:spcAft>
                <a:spcPct val="0"/>
              </a:spcAft>
            </a:pPr>
            <a:endParaRPr lang="en-US" sz="2000">
              <a:solidFill>
                <a:srgbClr val="000000"/>
              </a:solidFill>
              <a:latin typeface="Arial" pitchFamily="34" charset="0"/>
            </a:endParaRPr>
          </a:p>
        </p:txBody>
      </p:sp>
    </p:spTree>
    <p:extLst>
      <p:ext uri="{BB962C8B-B14F-4D97-AF65-F5344CB8AC3E}">
        <p14:creationId xmlns:p14="http://schemas.microsoft.com/office/powerpoint/2010/main" val="4086190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EEE0F-3586-57FC-9A1B-BEBA91784281}"/>
              </a:ext>
            </a:extLst>
          </p:cNvPr>
          <p:cNvSpPr>
            <a:spLocks noGrp="1"/>
          </p:cNvSpPr>
          <p:nvPr>
            <p:ph type="title"/>
          </p:nvPr>
        </p:nvSpPr>
        <p:spPr/>
        <p:txBody>
          <a:bodyPr/>
          <a:lstStyle/>
          <a:p>
            <a:r>
              <a:rPr lang="en-US" b="1" dirty="0"/>
              <a:t>Factors Affecting Solubility</a:t>
            </a:r>
          </a:p>
        </p:txBody>
      </p:sp>
      <p:sp>
        <p:nvSpPr>
          <p:cNvPr id="3" name="Content Placeholder 2">
            <a:extLst>
              <a:ext uri="{FF2B5EF4-FFF2-40B4-BE49-F238E27FC236}">
                <a16:creationId xmlns:a16="http://schemas.microsoft.com/office/drawing/2014/main" id="{FB375AA7-1247-6891-D998-E0FC0FA39C70}"/>
              </a:ext>
            </a:extLst>
          </p:cNvPr>
          <p:cNvSpPr>
            <a:spLocks noGrp="1"/>
          </p:cNvSpPr>
          <p:nvPr>
            <p:ph idx="1"/>
          </p:nvPr>
        </p:nvSpPr>
        <p:spPr/>
        <p:txBody>
          <a:bodyPr>
            <a:normAutofit/>
          </a:bodyPr>
          <a:lstStyle/>
          <a:p>
            <a:pPr>
              <a:buFont typeface="Wingdings" panose="05000000000000000000" pitchFamily="2" charset="2"/>
              <a:buChar char="v"/>
            </a:pPr>
            <a:r>
              <a:rPr lang="en-US" b="1" dirty="0"/>
              <a:t>Pressure</a:t>
            </a:r>
          </a:p>
          <a:p>
            <a:r>
              <a:rPr lang="en-US" dirty="0"/>
              <a:t>Pressure does not have any significant effect on the solubility of solids in liquids. It is so because solids and liquids are highly incompressible and practically remain unaffected by changes in pressure.</a:t>
            </a:r>
          </a:p>
          <a:p>
            <a:endParaRPr lang="en-US" b="1" dirty="0"/>
          </a:p>
          <a:p>
            <a:r>
              <a:rPr lang="en-US" dirty="0"/>
              <a:t>The solubility of a gaseous solute increases with an increase in pressure to which the solution is exposed.  Carbonated beverages provide a nice illustration of this relationship. </a:t>
            </a:r>
          </a:p>
          <a:p>
            <a:pPr marL="0" indent="0">
              <a:buNone/>
            </a:pPr>
            <a:endParaRPr lang="en-US" dirty="0"/>
          </a:p>
          <a:p>
            <a:r>
              <a:rPr lang="en-US" dirty="0"/>
              <a:t>The carbonation process involves exposing the beverage to a relatively high pressure of carbon dioxide gas and then sealing the beverage container, thus saturating the beverage with CO2 at this pressure. </a:t>
            </a:r>
          </a:p>
          <a:p>
            <a:pPr marL="0" indent="0">
              <a:buNone/>
            </a:pPr>
            <a:endParaRPr lang="en-US" dirty="0"/>
          </a:p>
        </p:txBody>
      </p:sp>
      <p:sp>
        <p:nvSpPr>
          <p:cNvPr id="4" name="Slide Number Placeholder 3">
            <a:extLst>
              <a:ext uri="{FF2B5EF4-FFF2-40B4-BE49-F238E27FC236}">
                <a16:creationId xmlns:a16="http://schemas.microsoft.com/office/drawing/2014/main" id="{3ADB4142-B20B-FAEA-7675-2452AF03DB0B}"/>
              </a:ext>
            </a:extLst>
          </p:cNvPr>
          <p:cNvSpPr>
            <a:spLocks noGrp="1"/>
          </p:cNvSpPr>
          <p:nvPr>
            <p:ph type="sldNum" sz="quarter" idx="12"/>
          </p:nvPr>
        </p:nvSpPr>
        <p:spPr/>
        <p:txBody>
          <a:bodyPr/>
          <a:lstStyle/>
          <a:p>
            <a:fld id="{316C4710-B4F7-4359-B1ED-F19BB5470050}" type="slidenum">
              <a:rPr lang="en-GB" smtClean="0"/>
              <a:t>8</a:t>
            </a:fld>
            <a:endParaRPr lang="en-GB"/>
          </a:p>
        </p:txBody>
      </p:sp>
    </p:spTree>
    <p:extLst>
      <p:ext uri="{BB962C8B-B14F-4D97-AF65-F5344CB8AC3E}">
        <p14:creationId xmlns:p14="http://schemas.microsoft.com/office/powerpoint/2010/main" val="36883516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61855-9E9D-75E0-69A5-E0FD2456A3F5}"/>
              </a:ext>
            </a:extLst>
          </p:cNvPr>
          <p:cNvSpPr>
            <a:spLocks noGrp="1"/>
          </p:cNvSpPr>
          <p:nvPr>
            <p:ph type="title"/>
          </p:nvPr>
        </p:nvSpPr>
        <p:spPr/>
        <p:txBody>
          <a:bodyPr/>
          <a:lstStyle/>
          <a:p>
            <a:r>
              <a:rPr lang="en-US" b="1" dirty="0"/>
              <a:t>Pressure continued</a:t>
            </a:r>
          </a:p>
        </p:txBody>
      </p:sp>
      <p:sp>
        <p:nvSpPr>
          <p:cNvPr id="3" name="Content Placeholder 2">
            <a:extLst>
              <a:ext uri="{FF2B5EF4-FFF2-40B4-BE49-F238E27FC236}">
                <a16:creationId xmlns:a16="http://schemas.microsoft.com/office/drawing/2014/main" id="{B69171CC-F2AE-09F3-5786-326CF987924C}"/>
              </a:ext>
            </a:extLst>
          </p:cNvPr>
          <p:cNvSpPr>
            <a:spLocks noGrp="1"/>
          </p:cNvSpPr>
          <p:nvPr>
            <p:ph idx="1"/>
          </p:nvPr>
        </p:nvSpPr>
        <p:spPr/>
        <p:txBody>
          <a:bodyPr/>
          <a:lstStyle/>
          <a:p>
            <a:r>
              <a:rPr lang="en-US" dirty="0"/>
              <a:t>When the beverage container is opened, a familiar hiss is heard as the carbon dioxide gas pressure is released, and some of the dissolved carbon dioxide is typically seen leaving solution in the form of bubbles</a:t>
            </a:r>
          </a:p>
          <a:p>
            <a:endParaRPr lang="en-US" dirty="0"/>
          </a:p>
        </p:txBody>
      </p:sp>
      <p:sp>
        <p:nvSpPr>
          <p:cNvPr id="4" name="Slide Number Placeholder 3">
            <a:extLst>
              <a:ext uri="{FF2B5EF4-FFF2-40B4-BE49-F238E27FC236}">
                <a16:creationId xmlns:a16="http://schemas.microsoft.com/office/drawing/2014/main" id="{1C6E4542-624B-91A4-6332-F62A2686D9A2}"/>
              </a:ext>
            </a:extLst>
          </p:cNvPr>
          <p:cNvSpPr>
            <a:spLocks noGrp="1"/>
          </p:cNvSpPr>
          <p:nvPr>
            <p:ph type="sldNum" sz="quarter" idx="12"/>
          </p:nvPr>
        </p:nvSpPr>
        <p:spPr/>
        <p:txBody>
          <a:bodyPr/>
          <a:lstStyle/>
          <a:p>
            <a:fld id="{316C4710-B4F7-4359-B1ED-F19BB5470050}" type="slidenum">
              <a:rPr lang="en-GB" smtClean="0"/>
              <a:t>9</a:t>
            </a:fld>
            <a:endParaRPr lang="en-GB"/>
          </a:p>
        </p:txBody>
      </p:sp>
    </p:spTree>
    <p:extLst>
      <p:ext uri="{BB962C8B-B14F-4D97-AF65-F5344CB8AC3E}">
        <p14:creationId xmlns:p14="http://schemas.microsoft.com/office/powerpoint/2010/main" val="176563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7F500-D4F2-8E99-BE71-1C4F14E53602}"/>
              </a:ext>
            </a:extLst>
          </p:cNvPr>
          <p:cNvSpPr>
            <a:spLocks noGrp="1"/>
          </p:cNvSpPr>
          <p:nvPr>
            <p:ph type="title"/>
          </p:nvPr>
        </p:nvSpPr>
        <p:spPr/>
        <p:txBody>
          <a:bodyPr/>
          <a:lstStyle/>
          <a:p>
            <a:r>
              <a:rPr lang="en-US" b="1" dirty="0"/>
              <a:t>Factors Affecting Solubility</a:t>
            </a:r>
          </a:p>
        </p:txBody>
      </p:sp>
      <p:sp>
        <p:nvSpPr>
          <p:cNvPr id="3" name="Content Placeholder 2">
            <a:extLst>
              <a:ext uri="{FF2B5EF4-FFF2-40B4-BE49-F238E27FC236}">
                <a16:creationId xmlns:a16="http://schemas.microsoft.com/office/drawing/2014/main" id="{CAB9EF28-BCBB-D2EB-062D-57ACE606475A}"/>
              </a:ext>
            </a:extLst>
          </p:cNvPr>
          <p:cNvSpPr>
            <a:spLocks noGrp="1"/>
          </p:cNvSpPr>
          <p:nvPr>
            <p:ph idx="1"/>
          </p:nvPr>
        </p:nvSpPr>
        <p:spPr/>
        <p:txBody>
          <a:bodyPr>
            <a:normAutofit/>
          </a:bodyPr>
          <a:lstStyle/>
          <a:p>
            <a:pPr>
              <a:buFont typeface="Wingdings" panose="05000000000000000000" pitchFamily="2" charset="2"/>
              <a:buChar char="q"/>
            </a:pPr>
            <a:r>
              <a:rPr lang="en-US" b="1" dirty="0"/>
              <a:t>Nature of the solvent </a:t>
            </a:r>
          </a:p>
          <a:p>
            <a:pPr>
              <a:buFont typeface="Wingdings" panose="05000000000000000000" pitchFamily="2" charset="2"/>
              <a:buChar char="v"/>
            </a:pPr>
            <a:r>
              <a:rPr lang="en-US" b="1" dirty="0"/>
              <a:t>Polar solvents</a:t>
            </a:r>
          </a:p>
          <a:p>
            <a:r>
              <a:rPr lang="en-US" dirty="0"/>
              <a:t>Polar solvents dissolve ionic solutes and other polar substances</a:t>
            </a:r>
          </a:p>
          <a:p>
            <a:r>
              <a:rPr lang="en-US" dirty="0"/>
              <a:t>Water dissolves phenols, alcohols and other oxygen and nitrogen-containing compounds that can form hydrogen bonds with water</a:t>
            </a:r>
          </a:p>
          <a:p>
            <a:endParaRPr lang="en-US" dirty="0"/>
          </a:p>
          <a:p>
            <a:r>
              <a:rPr lang="en-US" dirty="0"/>
              <a:t>The solubility of a substance also depends on the ratio of the polar to the nonpolar groups of the molecule</a:t>
            </a:r>
          </a:p>
          <a:p>
            <a:endParaRPr lang="en-US" dirty="0"/>
          </a:p>
          <a:p>
            <a:r>
              <a:rPr lang="en-US" dirty="0"/>
              <a:t>As the length of a nonpolar chain of an aliphatic alcohol increases, the solubility of the compound in water decreases</a:t>
            </a:r>
          </a:p>
        </p:txBody>
      </p:sp>
      <p:sp>
        <p:nvSpPr>
          <p:cNvPr id="4" name="Slide Number Placeholder 3">
            <a:extLst>
              <a:ext uri="{FF2B5EF4-FFF2-40B4-BE49-F238E27FC236}">
                <a16:creationId xmlns:a16="http://schemas.microsoft.com/office/drawing/2014/main" id="{F256C81A-1131-E0FE-FE5F-4D845FC0DD5E}"/>
              </a:ext>
            </a:extLst>
          </p:cNvPr>
          <p:cNvSpPr>
            <a:spLocks noGrp="1"/>
          </p:cNvSpPr>
          <p:nvPr>
            <p:ph type="sldNum" sz="quarter" idx="12"/>
          </p:nvPr>
        </p:nvSpPr>
        <p:spPr/>
        <p:txBody>
          <a:bodyPr/>
          <a:lstStyle/>
          <a:p>
            <a:fld id="{316C4710-B4F7-4359-B1ED-F19BB5470050}" type="slidenum">
              <a:rPr lang="en-GB" smtClean="0"/>
              <a:t>10</a:t>
            </a:fld>
            <a:endParaRPr lang="en-GB"/>
          </a:p>
        </p:txBody>
      </p:sp>
    </p:spTree>
    <p:extLst>
      <p:ext uri="{BB962C8B-B14F-4D97-AF65-F5344CB8AC3E}">
        <p14:creationId xmlns:p14="http://schemas.microsoft.com/office/powerpoint/2010/main" val="5880041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78FBB-6955-1175-D68A-E26EBA873701}"/>
              </a:ext>
            </a:extLst>
          </p:cNvPr>
          <p:cNvSpPr>
            <a:spLocks noGrp="1"/>
          </p:cNvSpPr>
          <p:nvPr>
            <p:ph type="title"/>
          </p:nvPr>
        </p:nvSpPr>
        <p:spPr/>
        <p:txBody>
          <a:bodyPr/>
          <a:lstStyle/>
          <a:p>
            <a:r>
              <a:rPr lang="en-US" b="1" dirty="0"/>
              <a:t>Polar solvents continued</a:t>
            </a:r>
          </a:p>
        </p:txBody>
      </p:sp>
      <p:sp>
        <p:nvSpPr>
          <p:cNvPr id="3" name="Content Placeholder 2">
            <a:extLst>
              <a:ext uri="{FF2B5EF4-FFF2-40B4-BE49-F238E27FC236}">
                <a16:creationId xmlns:a16="http://schemas.microsoft.com/office/drawing/2014/main" id="{6C613170-1067-DF44-FCBE-5CECCEFC7F9A}"/>
              </a:ext>
            </a:extLst>
          </p:cNvPr>
          <p:cNvSpPr>
            <a:spLocks noGrp="1"/>
          </p:cNvSpPr>
          <p:nvPr>
            <p:ph idx="1"/>
          </p:nvPr>
        </p:nvSpPr>
        <p:spPr/>
        <p:txBody>
          <a:bodyPr/>
          <a:lstStyle/>
          <a:p>
            <a:r>
              <a:rPr lang="en-US" dirty="0"/>
              <a:t>When there are additional polar groups in the molecule, as found in propylene glycol, glycerin and tartaric acid, solubility in water increases greatly</a:t>
            </a:r>
          </a:p>
          <a:p>
            <a:endParaRPr lang="en-US" dirty="0"/>
          </a:p>
          <a:p>
            <a:r>
              <a:rPr lang="en-US" dirty="0"/>
              <a:t>Branching of carbon chains reduces the nonpolar effect and leads to an increase in solubility</a:t>
            </a:r>
          </a:p>
        </p:txBody>
      </p:sp>
      <p:sp>
        <p:nvSpPr>
          <p:cNvPr id="4" name="Slide Number Placeholder 3">
            <a:extLst>
              <a:ext uri="{FF2B5EF4-FFF2-40B4-BE49-F238E27FC236}">
                <a16:creationId xmlns:a16="http://schemas.microsoft.com/office/drawing/2014/main" id="{F8793093-F9D4-F92B-40F5-71018DF23D95}"/>
              </a:ext>
            </a:extLst>
          </p:cNvPr>
          <p:cNvSpPr>
            <a:spLocks noGrp="1"/>
          </p:cNvSpPr>
          <p:nvPr>
            <p:ph type="sldNum" sz="quarter" idx="12"/>
          </p:nvPr>
        </p:nvSpPr>
        <p:spPr/>
        <p:txBody>
          <a:bodyPr/>
          <a:lstStyle/>
          <a:p>
            <a:fld id="{316C4710-B4F7-4359-B1ED-F19BB5470050}" type="slidenum">
              <a:rPr lang="en-GB" smtClean="0"/>
              <a:t>11</a:t>
            </a:fld>
            <a:endParaRPr lang="en-GB"/>
          </a:p>
        </p:txBody>
      </p:sp>
    </p:spTree>
    <p:extLst>
      <p:ext uri="{BB962C8B-B14F-4D97-AF65-F5344CB8AC3E}">
        <p14:creationId xmlns:p14="http://schemas.microsoft.com/office/powerpoint/2010/main" val="24549173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7D2C3-A778-4830-9FB2-0BA4822732B1}"/>
              </a:ext>
            </a:extLst>
          </p:cNvPr>
          <p:cNvSpPr>
            <a:spLocks noGrp="1"/>
          </p:cNvSpPr>
          <p:nvPr>
            <p:ph type="title"/>
          </p:nvPr>
        </p:nvSpPr>
        <p:spPr/>
        <p:txBody>
          <a:bodyPr/>
          <a:lstStyle/>
          <a:p>
            <a:r>
              <a:rPr lang="en-US" b="1" dirty="0"/>
              <a:t>Factors Affecting Solubility</a:t>
            </a:r>
          </a:p>
        </p:txBody>
      </p:sp>
      <p:sp>
        <p:nvSpPr>
          <p:cNvPr id="3" name="Content Placeholder 2">
            <a:extLst>
              <a:ext uri="{FF2B5EF4-FFF2-40B4-BE49-F238E27FC236}">
                <a16:creationId xmlns:a16="http://schemas.microsoft.com/office/drawing/2014/main" id="{C38A99E0-42C4-1CC5-794B-C3A80D9E6788}"/>
              </a:ext>
            </a:extLst>
          </p:cNvPr>
          <p:cNvSpPr>
            <a:spLocks noGrp="1"/>
          </p:cNvSpPr>
          <p:nvPr>
            <p:ph idx="1"/>
          </p:nvPr>
        </p:nvSpPr>
        <p:spPr/>
        <p:txBody>
          <a:bodyPr/>
          <a:lstStyle/>
          <a:p>
            <a:pPr>
              <a:buFont typeface="Wingdings" panose="05000000000000000000" pitchFamily="2" charset="2"/>
              <a:buChar char="v"/>
            </a:pPr>
            <a:r>
              <a:rPr lang="en-US" b="1" dirty="0"/>
              <a:t>Nonpolar solvents</a:t>
            </a:r>
          </a:p>
          <a:p>
            <a:r>
              <a:rPr lang="en-US" dirty="0"/>
              <a:t>Nonpolar solvents are unable to reduce the attraction between the ions of strong and weak electrolytes because of the solvent’s low dielectric constants</a:t>
            </a:r>
          </a:p>
          <a:p>
            <a:endParaRPr lang="en-US" dirty="0"/>
          </a:p>
          <a:p>
            <a:r>
              <a:rPr lang="en-US" dirty="0"/>
              <a:t>They are unable to form hydrogen bonds with nonelectrolytes</a:t>
            </a:r>
          </a:p>
          <a:p>
            <a:endParaRPr lang="en-US" dirty="0"/>
          </a:p>
          <a:p>
            <a:r>
              <a:rPr lang="en-US" dirty="0"/>
              <a:t>Nonpolar solvents can dissolve nonpolar solutes through weak van der Waals forces</a:t>
            </a:r>
          </a:p>
          <a:p>
            <a:r>
              <a:rPr lang="en-US" dirty="0"/>
              <a:t>Example; Solutions of fats and oils in carbon tetrachloride or benzene</a:t>
            </a:r>
          </a:p>
        </p:txBody>
      </p:sp>
      <p:sp>
        <p:nvSpPr>
          <p:cNvPr id="4" name="Slide Number Placeholder 3">
            <a:extLst>
              <a:ext uri="{FF2B5EF4-FFF2-40B4-BE49-F238E27FC236}">
                <a16:creationId xmlns:a16="http://schemas.microsoft.com/office/drawing/2014/main" id="{61F8183F-12EC-3F69-9EBB-DF71927BCE71}"/>
              </a:ext>
            </a:extLst>
          </p:cNvPr>
          <p:cNvSpPr>
            <a:spLocks noGrp="1"/>
          </p:cNvSpPr>
          <p:nvPr>
            <p:ph type="sldNum" sz="quarter" idx="12"/>
          </p:nvPr>
        </p:nvSpPr>
        <p:spPr/>
        <p:txBody>
          <a:bodyPr/>
          <a:lstStyle/>
          <a:p>
            <a:fld id="{316C4710-B4F7-4359-B1ED-F19BB5470050}" type="slidenum">
              <a:rPr lang="en-GB" smtClean="0"/>
              <a:t>12</a:t>
            </a:fld>
            <a:endParaRPr lang="en-GB"/>
          </a:p>
        </p:txBody>
      </p:sp>
    </p:spTree>
    <p:extLst>
      <p:ext uri="{BB962C8B-B14F-4D97-AF65-F5344CB8AC3E}">
        <p14:creationId xmlns:p14="http://schemas.microsoft.com/office/powerpoint/2010/main" val="120731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583A5-02DE-9781-92C8-30303F03955E}"/>
              </a:ext>
            </a:extLst>
          </p:cNvPr>
          <p:cNvSpPr>
            <a:spLocks noGrp="1"/>
          </p:cNvSpPr>
          <p:nvPr>
            <p:ph type="title"/>
          </p:nvPr>
        </p:nvSpPr>
        <p:spPr/>
        <p:txBody>
          <a:bodyPr/>
          <a:lstStyle/>
          <a:p>
            <a:r>
              <a:rPr lang="en-US" b="1" dirty="0"/>
              <a:t>Factors Affecting Solubility</a:t>
            </a:r>
          </a:p>
        </p:txBody>
      </p:sp>
      <p:sp>
        <p:nvSpPr>
          <p:cNvPr id="3" name="Content Placeholder 2">
            <a:extLst>
              <a:ext uri="{FF2B5EF4-FFF2-40B4-BE49-F238E27FC236}">
                <a16:creationId xmlns:a16="http://schemas.microsoft.com/office/drawing/2014/main" id="{C3A70D62-67FF-9B48-4A8B-CEB885E93C95}"/>
              </a:ext>
            </a:extLst>
          </p:cNvPr>
          <p:cNvSpPr>
            <a:spLocks noGrp="1"/>
          </p:cNvSpPr>
          <p:nvPr>
            <p:ph idx="1"/>
          </p:nvPr>
        </p:nvSpPr>
        <p:spPr/>
        <p:txBody>
          <a:bodyPr/>
          <a:lstStyle/>
          <a:p>
            <a:pPr>
              <a:buFont typeface="Wingdings" panose="05000000000000000000" pitchFamily="2" charset="2"/>
              <a:buChar char="v"/>
            </a:pPr>
            <a:r>
              <a:rPr lang="en-US" dirty="0"/>
              <a:t> </a:t>
            </a:r>
            <a:r>
              <a:rPr lang="en-US" b="1" dirty="0"/>
              <a:t>Semipolar solvents</a:t>
            </a:r>
          </a:p>
          <a:p>
            <a:r>
              <a:rPr lang="en-US" dirty="0"/>
              <a:t>Semipolar solvents such as ketones can induce a certain degree of polarity in nonpolar solvents. For example, benzene is readily polarizable, and becomes soluble in alcohol</a:t>
            </a:r>
          </a:p>
          <a:p>
            <a:endParaRPr lang="en-US" dirty="0"/>
          </a:p>
          <a:p>
            <a:r>
              <a:rPr lang="en-US" dirty="0"/>
              <a:t>They can act as intermediate solvents to bring about miscibility in polar and nonpolar liquids</a:t>
            </a:r>
          </a:p>
          <a:p>
            <a:pPr marL="0" indent="0">
              <a:buNone/>
            </a:pPr>
            <a:endParaRPr lang="en-US" dirty="0"/>
          </a:p>
          <a:p>
            <a:r>
              <a:rPr lang="en-US" dirty="0"/>
              <a:t>Example: Acetone increases the solubility of ether in water</a:t>
            </a:r>
          </a:p>
          <a:p>
            <a:r>
              <a:rPr lang="en-US" dirty="0"/>
              <a:t>Propylene glycol has been shown to increase the mutual solubility of water and peppermint oil and of water and benzyl benzoate</a:t>
            </a:r>
          </a:p>
          <a:p>
            <a:endParaRPr lang="en-US" b="1" dirty="0"/>
          </a:p>
        </p:txBody>
      </p:sp>
      <p:sp>
        <p:nvSpPr>
          <p:cNvPr id="4" name="Slide Number Placeholder 3">
            <a:extLst>
              <a:ext uri="{FF2B5EF4-FFF2-40B4-BE49-F238E27FC236}">
                <a16:creationId xmlns:a16="http://schemas.microsoft.com/office/drawing/2014/main" id="{2560BB84-3E5C-E727-3C03-DA8B8BD7622B}"/>
              </a:ext>
            </a:extLst>
          </p:cNvPr>
          <p:cNvSpPr>
            <a:spLocks noGrp="1"/>
          </p:cNvSpPr>
          <p:nvPr>
            <p:ph type="sldNum" sz="quarter" idx="12"/>
          </p:nvPr>
        </p:nvSpPr>
        <p:spPr/>
        <p:txBody>
          <a:bodyPr/>
          <a:lstStyle/>
          <a:p>
            <a:fld id="{316C4710-B4F7-4359-B1ED-F19BB5470050}" type="slidenum">
              <a:rPr lang="en-GB" smtClean="0"/>
              <a:t>13</a:t>
            </a:fld>
            <a:endParaRPr lang="en-GB"/>
          </a:p>
        </p:txBody>
      </p:sp>
    </p:spTree>
    <p:extLst>
      <p:ext uri="{BB962C8B-B14F-4D97-AF65-F5344CB8AC3E}">
        <p14:creationId xmlns:p14="http://schemas.microsoft.com/office/powerpoint/2010/main" val="29948621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81B51-5EA7-29CF-5005-7A7FF490DAE4}"/>
              </a:ext>
            </a:extLst>
          </p:cNvPr>
          <p:cNvSpPr>
            <a:spLocks noGrp="1"/>
          </p:cNvSpPr>
          <p:nvPr>
            <p:ph type="title"/>
          </p:nvPr>
        </p:nvSpPr>
        <p:spPr/>
        <p:txBody>
          <a:bodyPr/>
          <a:lstStyle/>
          <a:p>
            <a:r>
              <a:rPr lang="en-US" b="1" dirty="0"/>
              <a:t>Factors Affecting Solubility</a:t>
            </a:r>
          </a:p>
        </p:txBody>
      </p:sp>
      <p:sp>
        <p:nvSpPr>
          <p:cNvPr id="3" name="Content Placeholder 2">
            <a:extLst>
              <a:ext uri="{FF2B5EF4-FFF2-40B4-BE49-F238E27FC236}">
                <a16:creationId xmlns:a16="http://schemas.microsoft.com/office/drawing/2014/main" id="{8A803532-173B-9764-6EB3-375CA4892193}"/>
              </a:ext>
            </a:extLst>
          </p:cNvPr>
          <p:cNvSpPr>
            <a:spLocks noGrp="1"/>
          </p:cNvSpPr>
          <p:nvPr>
            <p:ph idx="1"/>
          </p:nvPr>
        </p:nvSpPr>
        <p:spPr/>
        <p:txBody>
          <a:bodyPr>
            <a:normAutofit lnSpcReduction="10000"/>
          </a:bodyPr>
          <a:lstStyle/>
          <a:p>
            <a:pPr>
              <a:buFont typeface="Wingdings" panose="05000000000000000000" pitchFamily="2" charset="2"/>
              <a:buChar char="v"/>
            </a:pPr>
            <a:r>
              <a:rPr lang="en-US" b="1" dirty="0"/>
              <a:t>Particle size</a:t>
            </a:r>
          </a:p>
          <a:p>
            <a:r>
              <a:rPr lang="en-US" dirty="0"/>
              <a:t>Molecular size affects solubility</a:t>
            </a:r>
          </a:p>
          <a:p>
            <a:endParaRPr lang="en-US" dirty="0"/>
          </a:p>
          <a:p>
            <a:r>
              <a:rPr lang="en-US" dirty="0"/>
              <a:t>The larger the molecule or the higher its molecular weight, the less soluble the substance</a:t>
            </a:r>
          </a:p>
          <a:p>
            <a:endParaRPr lang="en-US" dirty="0"/>
          </a:p>
          <a:p>
            <a:r>
              <a:rPr lang="en-US" dirty="0"/>
              <a:t>Larger molecules are more difficult to surround with solvent molecules to solvate the substance</a:t>
            </a:r>
          </a:p>
          <a:p>
            <a:endParaRPr lang="en-US" dirty="0"/>
          </a:p>
          <a:p>
            <a:r>
              <a:rPr lang="en-US" dirty="0"/>
              <a:t>In the case if organic compounds, the amount of carbon branches will increase the solubility since more branching will reduce the size of the molecule and make </a:t>
            </a:r>
            <a:r>
              <a:rPr lang="en-US" dirty="0" err="1"/>
              <a:t>iit</a:t>
            </a:r>
            <a:r>
              <a:rPr lang="en-US" dirty="0"/>
              <a:t> easier to solvate the molecules with the solvent</a:t>
            </a:r>
          </a:p>
        </p:txBody>
      </p:sp>
      <p:sp>
        <p:nvSpPr>
          <p:cNvPr id="4" name="Slide Number Placeholder 3">
            <a:extLst>
              <a:ext uri="{FF2B5EF4-FFF2-40B4-BE49-F238E27FC236}">
                <a16:creationId xmlns:a16="http://schemas.microsoft.com/office/drawing/2014/main" id="{2069587C-1C17-20CD-D61A-FD1C8EE07BC3}"/>
              </a:ext>
            </a:extLst>
          </p:cNvPr>
          <p:cNvSpPr>
            <a:spLocks noGrp="1"/>
          </p:cNvSpPr>
          <p:nvPr>
            <p:ph type="sldNum" sz="quarter" idx="12"/>
          </p:nvPr>
        </p:nvSpPr>
        <p:spPr/>
        <p:txBody>
          <a:bodyPr/>
          <a:lstStyle/>
          <a:p>
            <a:fld id="{316C4710-B4F7-4359-B1ED-F19BB5470050}" type="slidenum">
              <a:rPr lang="en-GB" smtClean="0"/>
              <a:t>14</a:t>
            </a:fld>
            <a:endParaRPr lang="en-GB"/>
          </a:p>
        </p:txBody>
      </p:sp>
    </p:spTree>
    <p:extLst>
      <p:ext uri="{BB962C8B-B14F-4D97-AF65-F5344CB8AC3E}">
        <p14:creationId xmlns:p14="http://schemas.microsoft.com/office/powerpoint/2010/main" val="6760978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CADEE-5020-2E42-67D4-96A57CC0272A}"/>
              </a:ext>
            </a:extLst>
          </p:cNvPr>
          <p:cNvSpPr>
            <a:spLocks noGrp="1"/>
          </p:cNvSpPr>
          <p:nvPr>
            <p:ph type="title"/>
          </p:nvPr>
        </p:nvSpPr>
        <p:spPr/>
        <p:txBody>
          <a:bodyPr>
            <a:normAutofit fontScale="90000"/>
          </a:bodyPr>
          <a:lstStyle/>
          <a:p>
            <a:pPr algn="ctr"/>
            <a:r>
              <a:rPr lang="en-US" b="1" dirty="0"/>
              <a:t>Methods of Expressing Concentration of Solutions</a:t>
            </a:r>
          </a:p>
        </p:txBody>
      </p:sp>
      <p:sp>
        <p:nvSpPr>
          <p:cNvPr id="3" name="Content Placeholder 2">
            <a:extLst>
              <a:ext uri="{FF2B5EF4-FFF2-40B4-BE49-F238E27FC236}">
                <a16:creationId xmlns:a16="http://schemas.microsoft.com/office/drawing/2014/main" id="{6C8FF430-3D10-50F0-F0FA-0A665F563490}"/>
              </a:ext>
            </a:extLst>
          </p:cNvPr>
          <p:cNvSpPr>
            <a:spLocks noGrp="1"/>
          </p:cNvSpPr>
          <p:nvPr>
            <p:ph idx="1"/>
          </p:nvPr>
        </p:nvSpPr>
        <p:spPr/>
        <p:txBody>
          <a:bodyPr>
            <a:normAutofit lnSpcReduction="10000"/>
          </a:bodyPr>
          <a:lstStyle/>
          <a:p>
            <a:pPr>
              <a:buFont typeface="Wingdings" panose="05000000000000000000" pitchFamily="2" charset="2"/>
              <a:buChar char="v"/>
            </a:pPr>
            <a:r>
              <a:rPr lang="en-US" b="1" dirty="0"/>
              <a:t>Mole fraction ( X )</a:t>
            </a:r>
          </a:p>
          <a:p>
            <a:r>
              <a:rPr lang="en-US" dirty="0"/>
              <a:t>It is defined as the ratio of the number of moles of a component to the total number of moles of all the components. </a:t>
            </a:r>
          </a:p>
          <a:p>
            <a:endParaRPr lang="en-US" dirty="0"/>
          </a:p>
          <a:p>
            <a:r>
              <a:rPr lang="en-US" dirty="0"/>
              <a:t>Mole fraction gives the concentration as the as the ratio of moles of one component to the total moles of present in the solution.</a:t>
            </a:r>
          </a:p>
          <a:p>
            <a:endParaRPr lang="en-US" dirty="0"/>
          </a:p>
          <a:p>
            <a:r>
              <a:rPr lang="en-US" dirty="0"/>
              <a:t>For a binary solution, if the number of moles of A and B are nA and nB respectively, the mole fraction of A will be </a:t>
            </a:r>
          </a:p>
          <a:p>
            <a:pPr marL="0" indent="0">
              <a:buNone/>
            </a:pPr>
            <a:r>
              <a:rPr lang="en-US" dirty="0"/>
              <a:t>                                 X </a:t>
            </a:r>
            <a:r>
              <a:rPr lang="en-US" baseline="-25000" dirty="0"/>
              <a:t>A</a:t>
            </a:r>
            <a:r>
              <a:rPr lang="en-US" dirty="0"/>
              <a:t>= n</a:t>
            </a:r>
            <a:r>
              <a:rPr lang="en-US" baseline="-25000" dirty="0"/>
              <a:t>A</a:t>
            </a:r>
            <a:r>
              <a:rPr lang="en-US" dirty="0"/>
              <a:t>/n</a:t>
            </a:r>
            <a:r>
              <a:rPr lang="en-US" baseline="-25000" dirty="0"/>
              <a:t>A</a:t>
            </a:r>
            <a:r>
              <a:rPr lang="en-US" dirty="0"/>
              <a:t>+n</a:t>
            </a:r>
            <a:r>
              <a:rPr lang="en-US" baseline="-25000" dirty="0"/>
              <a:t>B</a:t>
            </a:r>
            <a:r>
              <a:rPr lang="en-US" dirty="0"/>
              <a:t> </a:t>
            </a:r>
          </a:p>
          <a:p>
            <a:pPr marL="0" indent="0">
              <a:buNone/>
            </a:pPr>
            <a:r>
              <a:rPr lang="en-US" dirty="0"/>
              <a:t>                 </a:t>
            </a:r>
          </a:p>
          <a:p>
            <a:pPr marL="0" indent="0">
              <a:buNone/>
            </a:pPr>
            <a:r>
              <a:rPr lang="en-US" dirty="0"/>
              <a:t>                                 X B= nB/nA+nB </a:t>
            </a:r>
          </a:p>
          <a:p>
            <a:endParaRPr lang="en-US" dirty="0"/>
          </a:p>
        </p:txBody>
      </p:sp>
      <p:sp>
        <p:nvSpPr>
          <p:cNvPr id="4" name="Slide Number Placeholder 3">
            <a:extLst>
              <a:ext uri="{FF2B5EF4-FFF2-40B4-BE49-F238E27FC236}">
                <a16:creationId xmlns:a16="http://schemas.microsoft.com/office/drawing/2014/main" id="{9C01CC64-E7C8-A1B3-0793-309BC94329AC}"/>
              </a:ext>
            </a:extLst>
          </p:cNvPr>
          <p:cNvSpPr>
            <a:spLocks noGrp="1"/>
          </p:cNvSpPr>
          <p:nvPr>
            <p:ph type="sldNum" sz="quarter" idx="12"/>
          </p:nvPr>
        </p:nvSpPr>
        <p:spPr/>
        <p:txBody>
          <a:bodyPr/>
          <a:lstStyle/>
          <a:p>
            <a:fld id="{316C4710-B4F7-4359-B1ED-F19BB5470050}" type="slidenum">
              <a:rPr lang="en-GB" smtClean="0"/>
              <a:t>15</a:t>
            </a:fld>
            <a:endParaRPr lang="en-GB"/>
          </a:p>
        </p:txBody>
      </p:sp>
    </p:spTree>
    <p:extLst>
      <p:ext uri="{BB962C8B-B14F-4D97-AF65-F5344CB8AC3E}">
        <p14:creationId xmlns:p14="http://schemas.microsoft.com/office/powerpoint/2010/main" val="1772767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5BE1B-80B3-87BD-4D40-F5850758764F}"/>
              </a:ext>
            </a:extLst>
          </p:cNvPr>
          <p:cNvSpPr>
            <a:spLocks noGrp="1"/>
          </p:cNvSpPr>
          <p:nvPr>
            <p:ph type="title"/>
          </p:nvPr>
        </p:nvSpPr>
        <p:spPr/>
        <p:txBody>
          <a:bodyPr>
            <a:normAutofit fontScale="90000"/>
          </a:bodyPr>
          <a:lstStyle/>
          <a:p>
            <a:r>
              <a:rPr lang="en-US" b="1" dirty="0"/>
              <a:t>Methods of Expressing Concentration of Solutions continued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C0D106-831C-CDC3-4C44-28EF6132D74A}"/>
                  </a:ext>
                </a:extLst>
              </p:cNvPr>
              <p:cNvSpPr>
                <a:spLocks noGrp="1"/>
              </p:cNvSpPr>
              <p:nvPr>
                <p:ph idx="1"/>
              </p:nvPr>
            </p:nvSpPr>
            <p:spPr/>
            <p:txBody>
              <a:bodyPr>
                <a:normAutofit/>
              </a:bodyPr>
              <a:lstStyle/>
              <a:p>
                <a:pPr>
                  <a:buFont typeface="Wingdings" panose="05000000000000000000" pitchFamily="2" charset="2"/>
                  <a:buChar char="v"/>
                </a:pPr>
                <a:r>
                  <a:rPr lang="en-US" b="1" dirty="0"/>
                  <a:t>Parts per million (ppm)</a:t>
                </a:r>
              </a:p>
              <a:p>
                <a:r>
                  <a:rPr lang="en-US" dirty="0"/>
                  <a:t> It is defined as the parts of a component per million parts (10^6) of the solution. It is widely used when a solute is present in trace quantities. </a:t>
                </a:r>
              </a:p>
              <a:p>
                <a:endParaRPr lang="en-US" dirty="0"/>
              </a:p>
              <a:p>
                <a:r>
                  <a:rPr lang="en-US" b="1" dirty="0"/>
                  <a:t>Ppm (A)</a:t>
                </a:r>
                <a:r>
                  <a:rPr lang="en-US" dirty="0"/>
                  <a:t> = </a:t>
                </a:r>
                <a14:m>
                  <m:oMath xmlns:m="http://schemas.openxmlformats.org/officeDocument/2006/math">
                    <m:f>
                      <m:fPr>
                        <m:ctrlPr>
                          <a:rPr lang="en-US" sz="3500" i="1" smtClean="0">
                            <a:latin typeface="Cambria Math" panose="02040503050406030204" pitchFamily="18" charset="0"/>
                          </a:rPr>
                        </m:ctrlPr>
                      </m:fPr>
                      <m:num>
                        <m:r>
                          <m:rPr>
                            <m:sty m:val="p"/>
                          </m:rPr>
                          <a:rPr lang="en-US" sz="3500" b="0" i="0" smtClean="0">
                            <a:latin typeface="Cambria Math" panose="02040503050406030204" pitchFamily="18" charset="0"/>
                          </a:rPr>
                          <m:t>Mass</m:t>
                        </m:r>
                        <m:r>
                          <a:rPr lang="en-US" sz="3500" b="0" i="0" smtClean="0">
                            <a:latin typeface="Cambria Math" panose="02040503050406030204" pitchFamily="18" charset="0"/>
                          </a:rPr>
                          <m:t> </m:t>
                        </m:r>
                        <m:r>
                          <m:rPr>
                            <m:sty m:val="p"/>
                          </m:rPr>
                          <a:rPr lang="en-US" sz="3500" b="0" i="0" smtClean="0">
                            <a:latin typeface="Cambria Math" panose="02040503050406030204" pitchFamily="18" charset="0"/>
                          </a:rPr>
                          <m:t>of</m:t>
                        </m:r>
                        <m:r>
                          <a:rPr lang="en-US" sz="3500" b="0" i="0" smtClean="0">
                            <a:latin typeface="Cambria Math" panose="02040503050406030204" pitchFamily="18" charset="0"/>
                          </a:rPr>
                          <m:t> </m:t>
                        </m:r>
                        <m:r>
                          <m:rPr>
                            <m:sty m:val="p"/>
                          </m:rPr>
                          <a:rPr lang="en-US" sz="3500" b="0" i="0" smtClean="0">
                            <a:latin typeface="Cambria Math" panose="02040503050406030204" pitchFamily="18" charset="0"/>
                          </a:rPr>
                          <m:t>A</m:t>
                        </m:r>
                        <m:r>
                          <a:rPr lang="en-US" sz="3500" b="0" i="0" smtClean="0">
                            <a:latin typeface="Cambria Math" panose="02040503050406030204" pitchFamily="18" charset="0"/>
                          </a:rPr>
                          <m:t> </m:t>
                        </m:r>
                      </m:num>
                      <m:den>
                        <m:r>
                          <m:rPr>
                            <m:sty m:val="p"/>
                          </m:rPr>
                          <a:rPr lang="en-US" sz="3500" b="0" i="0" smtClean="0">
                            <a:latin typeface="Cambria Math" panose="02040503050406030204" pitchFamily="18" charset="0"/>
                          </a:rPr>
                          <m:t>Total</m:t>
                        </m:r>
                        <m:r>
                          <a:rPr lang="en-US" sz="3500" b="0" i="0" smtClean="0">
                            <a:latin typeface="Cambria Math" panose="02040503050406030204" pitchFamily="18" charset="0"/>
                          </a:rPr>
                          <m:t> </m:t>
                        </m:r>
                        <m:r>
                          <m:rPr>
                            <m:sty m:val="p"/>
                          </m:rPr>
                          <a:rPr lang="en-US" sz="3500" b="0" i="0" smtClean="0">
                            <a:latin typeface="Cambria Math" panose="02040503050406030204" pitchFamily="18" charset="0"/>
                          </a:rPr>
                          <m:t>mass</m:t>
                        </m:r>
                        <m:r>
                          <a:rPr lang="en-US" sz="3500" b="0" i="0" smtClean="0">
                            <a:latin typeface="Cambria Math" panose="02040503050406030204" pitchFamily="18" charset="0"/>
                          </a:rPr>
                          <m:t> </m:t>
                        </m:r>
                        <m:r>
                          <m:rPr>
                            <m:sty m:val="p"/>
                          </m:rPr>
                          <a:rPr lang="en-US" sz="3500" b="0" i="0" smtClean="0">
                            <a:latin typeface="Cambria Math" panose="02040503050406030204" pitchFamily="18" charset="0"/>
                          </a:rPr>
                          <m:t>of</m:t>
                        </m:r>
                        <m:r>
                          <a:rPr lang="en-US" sz="3500" b="0" i="0" smtClean="0">
                            <a:latin typeface="Cambria Math" panose="02040503050406030204" pitchFamily="18" charset="0"/>
                          </a:rPr>
                          <m:t> </m:t>
                        </m:r>
                        <m:r>
                          <m:rPr>
                            <m:sty m:val="p"/>
                          </m:rPr>
                          <a:rPr lang="en-US" sz="3500" b="0" i="0" smtClean="0">
                            <a:latin typeface="Cambria Math" panose="02040503050406030204" pitchFamily="18" charset="0"/>
                          </a:rPr>
                          <m:t>the</m:t>
                        </m:r>
                        <m:r>
                          <a:rPr lang="en-US" sz="3500" b="0" i="0" smtClean="0">
                            <a:latin typeface="Cambria Math" panose="02040503050406030204" pitchFamily="18" charset="0"/>
                          </a:rPr>
                          <m:t> </m:t>
                        </m:r>
                        <m:r>
                          <m:rPr>
                            <m:sty m:val="p"/>
                          </m:rPr>
                          <a:rPr lang="en-US" sz="3500" b="0" i="0" smtClean="0">
                            <a:latin typeface="Cambria Math" panose="02040503050406030204" pitchFamily="18" charset="0"/>
                          </a:rPr>
                          <m:t>sol</m:t>
                        </m:r>
                        <m:r>
                          <a:rPr lang="en-US" sz="3500" b="0" i="1" smtClean="0">
                            <a:latin typeface="Cambria Math" panose="02040503050406030204" pitchFamily="18" charset="0"/>
                          </a:rPr>
                          <m:t>𝑢𝑡𝑖𝑜𝑛</m:t>
                        </m:r>
                      </m:den>
                    </m:f>
                  </m:oMath>
                </a14:m>
                <a:r>
                  <a:rPr lang="en-US" sz="3500" dirty="0"/>
                  <a:t>×</a:t>
                </a:r>
                <a:r>
                  <a:rPr lang="en-US" sz="3200" dirty="0"/>
                  <a:t>10</a:t>
                </a:r>
                <a:r>
                  <a:rPr lang="en-US" sz="3200" baseline="30000" dirty="0"/>
                  <a:t>6</a:t>
                </a:r>
                <a:endParaRPr lang="en-US" sz="3200" dirty="0"/>
              </a:p>
              <a:p>
                <a:endParaRPr lang="en-US" sz="3500"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F2C0D106-831C-CDC3-4C44-28EF6132D74A}"/>
                  </a:ext>
                </a:extLst>
              </p:cNvPr>
              <p:cNvSpPr>
                <a:spLocks noGrp="1" noRot="1" noChangeAspect="1" noMove="1" noResize="1" noEditPoints="1" noAdjustHandles="1" noChangeArrowheads="1" noChangeShapeType="1" noTextEdit="1"/>
              </p:cNvSpPr>
              <p:nvPr>
                <p:ph idx="1"/>
              </p:nvPr>
            </p:nvSpPr>
            <p:spPr>
              <a:blipFill>
                <a:blip r:embed="rId2"/>
                <a:stretch>
                  <a:fillRect l="-500" t="-87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080AE29B-4BA7-C247-3895-B46C87B46CF3}"/>
              </a:ext>
            </a:extLst>
          </p:cNvPr>
          <p:cNvSpPr>
            <a:spLocks noGrp="1"/>
          </p:cNvSpPr>
          <p:nvPr>
            <p:ph type="sldNum" sz="quarter" idx="12"/>
          </p:nvPr>
        </p:nvSpPr>
        <p:spPr/>
        <p:txBody>
          <a:bodyPr/>
          <a:lstStyle/>
          <a:p>
            <a:fld id="{316C4710-B4F7-4359-B1ED-F19BB5470050}" type="slidenum">
              <a:rPr lang="en-GB" smtClean="0"/>
              <a:t>16</a:t>
            </a:fld>
            <a:endParaRPr lang="en-GB"/>
          </a:p>
        </p:txBody>
      </p:sp>
    </p:spTree>
    <p:extLst>
      <p:ext uri="{BB962C8B-B14F-4D97-AF65-F5344CB8AC3E}">
        <p14:creationId xmlns:p14="http://schemas.microsoft.com/office/powerpoint/2010/main" val="7838828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EE952-D294-F4D5-4EA7-1F09378FC357}"/>
              </a:ext>
            </a:extLst>
          </p:cNvPr>
          <p:cNvSpPr>
            <a:spLocks noGrp="1"/>
          </p:cNvSpPr>
          <p:nvPr>
            <p:ph type="title"/>
          </p:nvPr>
        </p:nvSpPr>
        <p:spPr/>
        <p:txBody>
          <a:bodyPr>
            <a:normAutofit fontScale="90000"/>
          </a:bodyPr>
          <a:lstStyle/>
          <a:p>
            <a:pPr algn="ctr"/>
            <a:r>
              <a:rPr lang="en-US" b="1" dirty="0"/>
              <a:t>Methods of Expressing Concentration of Solutions continued</a:t>
            </a:r>
          </a:p>
        </p:txBody>
      </p:sp>
      <p:sp>
        <p:nvSpPr>
          <p:cNvPr id="3" name="Content Placeholder 2">
            <a:extLst>
              <a:ext uri="{FF2B5EF4-FFF2-40B4-BE49-F238E27FC236}">
                <a16:creationId xmlns:a16="http://schemas.microsoft.com/office/drawing/2014/main" id="{81E1D249-8E55-B9EE-5B81-FD06E6E9F57B}"/>
              </a:ext>
            </a:extLst>
          </p:cNvPr>
          <p:cNvSpPr>
            <a:spLocks noGrp="1"/>
          </p:cNvSpPr>
          <p:nvPr>
            <p:ph idx="1"/>
          </p:nvPr>
        </p:nvSpPr>
        <p:spPr>
          <a:xfrm>
            <a:off x="609600" y="1709928"/>
            <a:ext cx="10972800" cy="4690872"/>
          </a:xfrm>
        </p:spPr>
        <p:txBody>
          <a:bodyPr/>
          <a:lstStyle/>
          <a:p>
            <a:pPr>
              <a:buFont typeface="Wingdings" panose="05000000000000000000" pitchFamily="2" charset="2"/>
              <a:buChar char="v"/>
            </a:pPr>
            <a:r>
              <a:rPr lang="en-US" b="1" dirty="0"/>
              <a:t>Molarity (M)</a:t>
            </a:r>
          </a:p>
          <a:p>
            <a:r>
              <a:rPr lang="en-US" dirty="0"/>
              <a:t>One of the most commonly used methods for expressing the concentrations is molarity. It is the number of moles of solute dissolved in one liter of a solution.</a:t>
            </a:r>
          </a:p>
          <a:p>
            <a:pPr marL="0" indent="0">
              <a:buNone/>
            </a:pPr>
            <a:endParaRPr lang="en-US" dirty="0"/>
          </a:p>
          <a:p>
            <a:r>
              <a:rPr lang="en-US" dirty="0"/>
              <a:t> Suppose a solution of ethanol is marked 0.25 M, this means that in one liter of the given solution 0.25 moles of ethanol is dissolved.</a:t>
            </a:r>
          </a:p>
          <a:p>
            <a:pPr marL="0" indent="0">
              <a:buNone/>
            </a:pPr>
            <a:endParaRPr lang="en-US" dirty="0"/>
          </a:p>
          <a:p>
            <a:r>
              <a:rPr lang="en-US" dirty="0"/>
              <a:t>Molarity (M) = Moles of Solute/Volume of Solution in liters</a:t>
            </a:r>
          </a:p>
          <a:p>
            <a:pPr marL="0" indent="0">
              <a:buNone/>
            </a:pPr>
            <a:endParaRPr lang="en-US" dirty="0"/>
          </a:p>
        </p:txBody>
      </p:sp>
      <p:sp>
        <p:nvSpPr>
          <p:cNvPr id="4" name="Slide Number Placeholder 3">
            <a:extLst>
              <a:ext uri="{FF2B5EF4-FFF2-40B4-BE49-F238E27FC236}">
                <a16:creationId xmlns:a16="http://schemas.microsoft.com/office/drawing/2014/main" id="{9526FDB2-CEDE-F845-266D-6238F45935EE}"/>
              </a:ext>
            </a:extLst>
          </p:cNvPr>
          <p:cNvSpPr>
            <a:spLocks noGrp="1"/>
          </p:cNvSpPr>
          <p:nvPr>
            <p:ph type="sldNum" sz="quarter" idx="12"/>
          </p:nvPr>
        </p:nvSpPr>
        <p:spPr/>
        <p:txBody>
          <a:bodyPr/>
          <a:lstStyle/>
          <a:p>
            <a:fld id="{316C4710-B4F7-4359-B1ED-F19BB5470050}" type="slidenum">
              <a:rPr lang="en-GB" smtClean="0"/>
              <a:t>17</a:t>
            </a:fld>
            <a:endParaRPr lang="en-GB"/>
          </a:p>
        </p:txBody>
      </p:sp>
    </p:spTree>
    <p:extLst>
      <p:ext uri="{BB962C8B-B14F-4D97-AF65-F5344CB8AC3E}">
        <p14:creationId xmlns:p14="http://schemas.microsoft.com/office/powerpoint/2010/main" val="15598555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8A369-6FB7-408A-6133-942C545236C6}"/>
              </a:ext>
            </a:extLst>
          </p:cNvPr>
          <p:cNvSpPr>
            <a:spLocks noGrp="1"/>
          </p:cNvSpPr>
          <p:nvPr>
            <p:ph type="title"/>
          </p:nvPr>
        </p:nvSpPr>
        <p:spPr/>
        <p:txBody>
          <a:bodyPr>
            <a:normAutofit fontScale="90000"/>
          </a:bodyPr>
          <a:lstStyle/>
          <a:p>
            <a:r>
              <a:rPr lang="en-US" b="1" dirty="0"/>
              <a:t>Methods of Expressing Concentration of Solutions continued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F94B4E0-22C5-C61B-276A-5E5540929CC8}"/>
                  </a:ext>
                </a:extLst>
              </p:cNvPr>
              <p:cNvSpPr>
                <a:spLocks noGrp="1"/>
              </p:cNvSpPr>
              <p:nvPr>
                <p:ph idx="1"/>
              </p:nvPr>
            </p:nvSpPr>
            <p:spPr/>
            <p:txBody>
              <a:bodyPr>
                <a:normAutofit fontScale="32500" lnSpcReduction="20000"/>
              </a:bodyPr>
              <a:lstStyle/>
              <a:p>
                <a:pPr>
                  <a:buFont typeface="Wingdings" panose="05000000000000000000" pitchFamily="2" charset="2"/>
                  <a:buChar char="v"/>
                </a:pPr>
                <a:r>
                  <a:rPr lang="en-US" sz="7400" b="1" dirty="0"/>
                  <a:t>Molality (m)</a:t>
                </a:r>
              </a:p>
              <a:p>
                <a:pPr>
                  <a:buFont typeface="Wingdings" panose="05000000000000000000" pitchFamily="2" charset="2"/>
                  <a:buChar char="v"/>
                </a:pPr>
                <a:endParaRPr lang="en-US" sz="7400" b="1" dirty="0"/>
              </a:p>
              <a:p>
                <a:r>
                  <a:rPr lang="en-US" sz="7400" dirty="0"/>
                  <a:t>Molality represents the concentration regarding moles of solute and the mass of solvent. It is given by moles of solute dissolved per kg of the solvent. The molality formula is as given;</a:t>
                </a:r>
              </a:p>
              <a:p>
                <a:pPr marL="0" indent="0">
                  <a:buNone/>
                </a:pPr>
                <a:r>
                  <a:rPr lang="en-US" sz="7400" dirty="0"/>
                  <a:t>                                         m = </a:t>
                </a:r>
                <a14:m>
                  <m:oMath xmlns:m="http://schemas.openxmlformats.org/officeDocument/2006/math">
                    <m:f>
                      <m:fPr>
                        <m:ctrlPr>
                          <a:rPr lang="en-US" sz="12800" i="1" smtClean="0">
                            <a:latin typeface="Cambria Math" panose="02040503050406030204" pitchFamily="18" charset="0"/>
                          </a:rPr>
                        </m:ctrlPr>
                      </m:fPr>
                      <m:num>
                        <m:r>
                          <m:rPr>
                            <m:sty m:val="p"/>
                          </m:rPr>
                          <a:rPr lang="en-US" sz="12800" b="0" i="0" smtClean="0">
                            <a:latin typeface="Cambria Math" panose="02040503050406030204" pitchFamily="18" charset="0"/>
                          </a:rPr>
                          <m:t>moles</m:t>
                        </m:r>
                        <m:r>
                          <a:rPr lang="en-US" sz="12800" b="0" i="0" smtClean="0">
                            <a:latin typeface="Cambria Math" panose="02040503050406030204" pitchFamily="18" charset="0"/>
                          </a:rPr>
                          <m:t> </m:t>
                        </m:r>
                        <m:r>
                          <m:rPr>
                            <m:sty m:val="p"/>
                          </m:rPr>
                          <a:rPr lang="en-US" sz="12800" b="0" i="0" smtClean="0">
                            <a:latin typeface="Cambria Math" panose="02040503050406030204" pitchFamily="18" charset="0"/>
                          </a:rPr>
                          <m:t>of</m:t>
                        </m:r>
                        <m:r>
                          <a:rPr lang="en-US" sz="12800" b="0" i="0" smtClean="0">
                            <a:latin typeface="Cambria Math" panose="02040503050406030204" pitchFamily="18" charset="0"/>
                          </a:rPr>
                          <m:t> </m:t>
                        </m:r>
                        <m:r>
                          <m:rPr>
                            <m:sty m:val="p"/>
                          </m:rPr>
                          <a:rPr lang="en-US" sz="12800" b="0" i="0" smtClean="0">
                            <a:latin typeface="Cambria Math" panose="02040503050406030204" pitchFamily="18" charset="0"/>
                          </a:rPr>
                          <m:t>solute</m:t>
                        </m:r>
                        <m:r>
                          <a:rPr lang="en-US" sz="12800" b="0" i="0" smtClean="0">
                            <a:latin typeface="Cambria Math" panose="02040503050406030204" pitchFamily="18" charset="0"/>
                          </a:rPr>
                          <m:t> </m:t>
                        </m:r>
                      </m:num>
                      <m:den>
                        <m:r>
                          <m:rPr>
                            <m:sty m:val="p"/>
                          </m:rPr>
                          <a:rPr lang="en-US" sz="12800" b="0" i="0" smtClean="0">
                            <a:latin typeface="Cambria Math" panose="02040503050406030204" pitchFamily="18" charset="0"/>
                          </a:rPr>
                          <m:t>mass</m:t>
                        </m:r>
                        <m:r>
                          <a:rPr lang="en-US" sz="12800" b="0" i="0" smtClean="0">
                            <a:latin typeface="Cambria Math" panose="02040503050406030204" pitchFamily="18" charset="0"/>
                          </a:rPr>
                          <m:t> </m:t>
                        </m:r>
                        <m:r>
                          <m:rPr>
                            <m:sty m:val="p"/>
                          </m:rPr>
                          <a:rPr lang="en-US" sz="12800" b="0" i="0" smtClean="0">
                            <a:latin typeface="Cambria Math" panose="02040503050406030204" pitchFamily="18" charset="0"/>
                          </a:rPr>
                          <m:t>of</m:t>
                        </m:r>
                        <m:r>
                          <a:rPr lang="en-US" sz="12800" b="0" i="0" smtClean="0">
                            <a:latin typeface="Cambria Math" panose="02040503050406030204" pitchFamily="18" charset="0"/>
                          </a:rPr>
                          <m:t> </m:t>
                        </m:r>
                        <m:r>
                          <m:rPr>
                            <m:sty m:val="p"/>
                          </m:rPr>
                          <a:rPr lang="en-US" sz="12800" b="0" i="0" smtClean="0">
                            <a:latin typeface="Cambria Math" panose="02040503050406030204" pitchFamily="18" charset="0"/>
                          </a:rPr>
                          <m:t>solvent</m:t>
                        </m:r>
                        <m:r>
                          <a:rPr lang="en-US" sz="12800" b="0" i="1" smtClean="0">
                            <a:latin typeface="Cambria Math" panose="02040503050406030204" pitchFamily="18" charset="0"/>
                          </a:rPr>
                          <m:t> </m:t>
                        </m:r>
                        <m:r>
                          <a:rPr lang="en-US" sz="12800" b="0" i="1" smtClean="0">
                            <a:latin typeface="Cambria Math" panose="02040503050406030204" pitchFamily="18" charset="0"/>
                          </a:rPr>
                          <m:t>𝑖𝑛</m:t>
                        </m:r>
                        <m:r>
                          <a:rPr lang="en-US" sz="12800" b="0" i="1" smtClean="0">
                            <a:latin typeface="Cambria Math" panose="02040503050406030204" pitchFamily="18" charset="0"/>
                          </a:rPr>
                          <m:t> </m:t>
                        </m:r>
                        <m:r>
                          <a:rPr lang="en-US" sz="12800" b="0" i="1" smtClean="0">
                            <a:latin typeface="Cambria Math" panose="02040503050406030204" pitchFamily="18" charset="0"/>
                          </a:rPr>
                          <m:t>𝑘𝑔</m:t>
                        </m:r>
                      </m:den>
                    </m:f>
                  </m:oMath>
                </a14:m>
                <a:endParaRPr lang="en-US" sz="12800" dirty="0"/>
              </a:p>
              <a:p>
                <a:pPr marL="0" indent="0">
                  <a:buNone/>
                </a:pPr>
                <a:endParaRPr lang="en-US" sz="7400" dirty="0"/>
              </a:p>
              <a:p>
                <a:pPr>
                  <a:buFont typeface="Wingdings" panose="05000000000000000000" pitchFamily="2" charset="2"/>
                  <a:buChar char="v"/>
                </a:pPr>
                <a:r>
                  <a:rPr lang="en-US" sz="7400" b="1" dirty="0"/>
                  <a:t>Formality (F) </a:t>
                </a:r>
              </a:p>
              <a:p>
                <a:r>
                  <a:rPr lang="en-US" sz="7400" dirty="0"/>
                  <a:t>It is the number of gram formular unit present in one liter of solution</a:t>
                </a:r>
              </a:p>
              <a:p>
                <a:pPr marL="0" indent="0">
                  <a:buNone/>
                </a:pPr>
                <a:r>
                  <a:rPr lang="en-US" sz="7400" dirty="0"/>
                  <a:t>                     F=</a:t>
                </a:r>
                <a14:m>
                  <m:oMath xmlns:m="http://schemas.openxmlformats.org/officeDocument/2006/math">
                    <m:f>
                      <m:fPr>
                        <m:ctrlPr>
                          <a:rPr lang="en-US" sz="9600" i="1" smtClean="0">
                            <a:latin typeface="Cambria Math" panose="02040503050406030204" pitchFamily="18" charset="0"/>
                          </a:rPr>
                        </m:ctrlPr>
                      </m:fPr>
                      <m:num>
                        <m:r>
                          <m:rPr>
                            <m:sty m:val="p"/>
                          </m:rPr>
                          <a:rPr lang="en-US" sz="9600" b="0" i="0" smtClean="0">
                            <a:latin typeface="Cambria Math" panose="02040503050406030204" pitchFamily="18" charset="0"/>
                          </a:rPr>
                          <m:t>Weight</m:t>
                        </m:r>
                        <m:r>
                          <a:rPr lang="en-US" sz="9600" b="0" i="0" smtClean="0">
                            <a:latin typeface="Cambria Math" panose="02040503050406030204" pitchFamily="18" charset="0"/>
                          </a:rPr>
                          <m:t> </m:t>
                        </m:r>
                        <m:r>
                          <m:rPr>
                            <m:sty m:val="p"/>
                          </m:rPr>
                          <a:rPr lang="en-US" sz="9600" b="0" i="0" smtClean="0">
                            <a:latin typeface="Cambria Math" panose="02040503050406030204" pitchFamily="18" charset="0"/>
                          </a:rPr>
                          <m:t>of</m:t>
                        </m:r>
                        <m:r>
                          <a:rPr lang="en-US" sz="9600" b="0" i="0" smtClean="0">
                            <a:latin typeface="Cambria Math" panose="02040503050406030204" pitchFamily="18" charset="0"/>
                          </a:rPr>
                          <m:t> </m:t>
                        </m:r>
                        <m:r>
                          <m:rPr>
                            <m:sty m:val="p"/>
                          </m:rPr>
                          <a:rPr lang="en-US" sz="9600" b="0" i="0" smtClean="0">
                            <a:latin typeface="Cambria Math" panose="02040503050406030204" pitchFamily="18" charset="0"/>
                          </a:rPr>
                          <m:t>solute</m:t>
                        </m:r>
                        <m:r>
                          <a:rPr lang="en-US" sz="9600" b="0" i="0" smtClean="0">
                            <a:latin typeface="Cambria Math" panose="02040503050406030204" pitchFamily="18" charset="0"/>
                          </a:rPr>
                          <m:t> </m:t>
                        </m:r>
                        <m:r>
                          <m:rPr>
                            <m:sty m:val="p"/>
                          </m:rPr>
                          <a:rPr lang="en-US" sz="9600" b="0" i="0" smtClean="0">
                            <a:latin typeface="Cambria Math" panose="02040503050406030204" pitchFamily="18" charset="0"/>
                          </a:rPr>
                          <m:t>in</m:t>
                        </m:r>
                        <m:r>
                          <a:rPr lang="en-US" sz="9600" b="0" i="0" smtClean="0">
                            <a:latin typeface="Cambria Math" panose="02040503050406030204" pitchFamily="18" charset="0"/>
                          </a:rPr>
                          <m:t> </m:t>
                        </m:r>
                        <m:r>
                          <m:rPr>
                            <m:sty m:val="p"/>
                          </m:rPr>
                          <a:rPr lang="en-US" sz="9600" b="0" i="0" smtClean="0">
                            <a:latin typeface="Cambria Math" panose="02040503050406030204" pitchFamily="18" charset="0"/>
                          </a:rPr>
                          <m:t>grams</m:t>
                        </m:r>
                      </m:num>
                      <m:den>
                        <m:r>
                          <m:rPr>
                            <m:sty m:val="p"/>
                          </m:rPr>
                          <a:rPr lang="en-US" sz="9600" b="0" i="0" smtClean="0">
                            <a:latin typeface="Cambria Math" panose="02040503050406030204" pitchFamily="18" charset="0"/>
                          </a:rPr>
                          <m:t>Formular</m:t>
                        </m:r>
                        <m:r>
                          <a:rPr lang="en-US" sz="9600" b="0" i="0" smtClean="0">
                            <a:latin typeface="Cambria Math" panose="02040503050406030204" pitchFamily="18" charset="0"/>
                          </a:rPr>
                          <m:t> </m:t>
                        </m:r>
                        <m:r>
                          <a:rPr lang="en-US" sz="9600" b="0" i="1" smtClean="0">
                            <a:latin typeface="Cambria Math" panose="02040503050406030204" pitchFamily="18" charset="0"/>
                          </a:rPr>
                          <m:t>ɯ</m:t>
                        </m:r>
                        <m:r>
                          <m:rPr>
                            <m:sty m:val="p"/>
                          </m:rPr>
                          <a:rPr lang="en-US" sz="9600" b="0" i="0" smtClean="0">
                            <a:latin typeface="Cambria Math" panose="02040503050406030204" pitchFamily="18" charset="0"/>
                          </a:rPr>
                          <m:t>t</m:t>
                        </m:r>
                        <m:r>
                          <a:rPr lang="en-US" sz="9600" b="0" i="0" smtClean="0">
                            <a:latin typeface="Cambria Math" panose="02040503050406030204" pitchFamily="18" charset="0"/>
                          </a:rPr>
                          <m:t> ×</m:t>
                        </m:r>
                        <m:r>
                          <m:rPr>
                            <m:sty m:val="p"/>
                          </m:rPr>
                          <a:rPr lang="en-US" sz="9600" b="0" i="0" smtClean="0">
                            <a:latin typeface="Cambria Math" panose="02040503050406030204" pitchFamily="18" charset="0"/>
                          </a:rPr>
                          <m:t>volume</m:t>
                        </m:r>
                        <m:r>
                          <a:rPr lang="en-US" sz="9600" b="0" i="0" smtClean="0">
                            <a:latin typeface="Cambria Math" panose="02040503050406030204" pitchFamily="18" charset="0"/>
                          </a:rPr>
                          <m:t> </m:t>
                        </m:r>
                        <m:r>
                          <m:rPr>
                            <m:sty m:val="p"/>
                          </m:rPr>
                          <a:rPr lang="en-US" sz="9600" b="0" i="0" smtClean="0">
                            <a:latin typeface="Cambria Math" panose="02040503050406030204" pitchFamily="18" charset="0"/>
                          </a:rPr>
                          <m:t>in</m:t>
                        </m:r>
                        <m:r>
                          <a:rPr lang="en-US" sz="9600" b="0" i="0" smtClean="0">
                            <a:latin typeface="Cambria Math" panose="02040503050406030204" pitchFamily="18" charset="0"/>
                          </a:rPr>
                          <m:t> </m:t>
                        </m:r>
                        <m:r>
                          <m:rPr>
                            <m:sty m:val="p"/>
                          </m:rPr>
                          <a:rPr lang="en-US" sz="9600" b="0" i="0" smtClean="0">
                            <a:latin typeface="Cambria Math" panose="02040503050406030204" pitchFamily="18" charset="0"/>
                          </a:rPr>
                          <m:t>liters</m:t>
                        </m:r>
                      </m:den>
                    </m:f>
                  </m:oMath>
                </a14:m>
                <a:endParaRPr lang="en-US" sz="9600" dirty="0"/>
              </a:p>
              <a:p>
                <a:endParaRPr lang="en-US" dirty="0"/>
              </a:p>
              <a:p>
                <a:r>
                  <a:rPr lang="en-US" dirty="0"/>
                  <a:t> </a:t>
                </a:r>
              </a:p>
              <a:p>
                <a:endParaRPr lang="en-US" dirty="0"/>
              </a:p>
            </p:txBody>
          </p:sp>
        </mc:Choice>
        <mc:Fallback xmlns="">
          <p:sp>
            <p:nvSpPr>
              <p:cNvPr id="3" name="Content Placeholder 2">
                <a:extLst>
                  <a:ext uri="{FF2B5EF4-FFF2-40B4-BE49-F238E27FC236}">
                    <a16:creationId xmlns:a16="http://schemas.microsoft.com/office/drawing/2014/main" id="{4F94B4E0-22C5-C61B-276A-5E5540929CC8}"/>
                  </a:ext>
                </a:extLst>
              </p:cNvPr>
              <p:cNvSpPr>
                <a:spLocks noGrp="1" noRot="1" noChangeAspect="1" noMove="1" noResize="1" noEditPoints="1" noAdjustHandles="1" noChangeArrowheads="1" noChangeShapeType="1" noTextEdit="1"/>
              </p:cNvSpPr>
              <p:nvPr>
                <p:ph idx="1"/>
              </p:nvPr>
            </p:nvSpPr>
            <p:spPr>
              <a:blipFill>
                <a:blip r:embed="rId2"/>
                <a:stretch>
                  <a:fillRect l="-500" t="-237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4793F68E-B29C-CCE3-F901-395A1449664C}"/>
              </a:ext>
            </a:extLst>
          </p:cNvPr>
          <p:cNvSpPr>
            <a:spLocks noGrp="1"/>
          </p:cNvSpPr>
          <p:nvPr>
            <p:ph type="sldNum" sz="quarter" idx="12"/>
          </p:nvPr>
        </p:nvSpPr>
        <p:spPr/>
        <p:txBody>
          <a:bodyPr/>
          <a:lstStyle/>
          <a:p>
            <a:fld id="{316C4710-B4F7-4359-B1ED-F19BB5470050}" type="slidenum">
              <a:rPr lang="en-GB" smtClean="0"/>
              <a:t>18</a:t>
            </a:fld>
            <a:endParaRPr lang="en-GB"/>
          </a:p>
        </p:txBody>
      </p:sp>
    </p:spTree>
    <p:extLst>
      <p:ext uri="{BB962C8B-B14F-4D97-AF65-F5344CB8AC3E}">
        <p14:creationId xmlns:p14="http://schemas.microsoft.com/office/powerpoint/2010/main" val="16247089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86C64-87FC-4703-34E9-E060F4355A6B}"/>
              </a:ext>
            </a:extLst>
          </p:cNvPr>
          <p:cNvSpPr>
            <a:spLocks noGrp="1"/>
          </p:cNvSpPr>
          <p:nvPr>
            <p:ph type="title"/>
          </p:nvPr>
        </p:nvSpPr>
        <p:spPr/>
        <p:txBody>
          <a:bodyPr>
            <a:normAutofit fontScale="90000"/>
          </a:bodyPr>
          <a:lstStyle/>
          <a:p>
            <a:r>
              <a:rPr lang="en-US" b="1" dirty="0"/>
              <a:t>Methods of Expressing Concentration of Solutions continued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940A12F-ADD5-5F85-8B00-A4382CB47F0B}"/>
                  </a:ext>
                </a:extLst>
              </p:cNvPr>
              <p:cNvSpPr>
                <a:spLocks noGrp="1"/>
              </p:cNvSpPr>
              <p:nvPr>
                <p:ph idx="1"/>
              </p:nvPr>
            </p:nvSpPr>
            <p:spPr/>
            <p:txBody>
              <a:bodyPr>
                <a:noAutofit/>
              </a:bodyPr>
              <a:lstStyle/>
              <a:p>
                <a:pPr algn="l">
                  <a:lnSpc>
                    <a:spcPts val="2400"/>
                  </a:lnSpc>
                  <a:spcBef>
                    <a:spcPts val="1500"/>
                  </a:spcBef>
                  <a:spcAft>
                    <a:spcPts val="750"/>
                  </a:spcAft>
                  <a:buFont typeface="Wingdings" panose="05000000000000000000" pitchFamily="2" charset="2"/>
                  <a:buChar char="v"/>
                </a:pPr>
                <a:r>
                  <a:rPr lang="en-US" b="1" i="0" dirty="0">
                    <a:solidFill>
                      <a:srgbClr val="800080"/>
                    </a:solidFill>
                    <a:effectLst/>
                  </a:rPr>
                  <a:t> </a:t>
                </a:r>
                <a:r>
                  <a:rPr lang="en-US" b="1" i="0" dirty="0">
                    <a:effectLst/>
                  </a:rPr>
                  <a:t>Normality</a:t>
                </a:r>
              </a:p>
              <a:p>
                <a:pPr>
                  <a:lnSpc>
                    <a:spcPts val="1800"/>
                  </a:lnSpc>
                  <a:spcAft>
                    <a:spcPts val="1200"/>
                  </a:spcAft>
                </a:pPr>
                <a:r>
                  <a:rPr lang="en-US" b="0" i="0" dirty="0">
                    <a:solidFill>
                      <a:srgbClr val="444444"/>
                    </a:solidFill>
                    <a:effectLst/>
                  </a:rPr>
                  <a:t>It is the number of gram equivalents of solute present in one liter of the solution and it is denoted by N.</a:t>
                </a:r>
              </a:p>
              <a:p>
                <a:pPr>
                  <a:lnSpc>
                    <a:spcPts val="1800"/>
                  </a:lnSpc>
                  <a:spcAft>
                    <a:spcPts val="1200"/>
                  </a:spcAft>
                  <a:buNone/>
                </a:pPr>
                <a:r>
                  <a:rPr lang="en-US" dirty="0"/>
                  <a:t>                         </a:t>
                </a:r>
                <a:endParaRPr lang="en-US" sz="2800" dirty="0"/>
              </a:p>
              <a:p>
                <a:pPr>
                  <a:lnSpc>
                    <a:spcPts val="1800"/>
                  </a:lnSpc>
                  <a:spcAft>
                    <a:spcPts val="1200"/>
                  </a:spcAft>
                  <a:buNone/>
                </a:pPr>
                <a:r>
                  <a:rPr lang="en-US" sz="2800" dirty="0"/>
                  <a:t>                                N=</a:t>
                </a:r>
                <a14:m>
                  <m:oMath xmlns:m="http://schemas.openxmlformats.org/officeDocument/2006/math">
                    <m:f>
                      <m:fPr>
                        <m:ctrlPr>
                          <a:rPr lang="en-US" sz="2800" i="1" smtClean="0">
                            <a:latin typeface="Cambria Math" panose="02040503050406030204" pitchFamily="18" charset="0"/>
                          </a:rPr>
                        </m:ctrlPr>
                      </m:fPr>
                      <m:num>
                        <m:r>
                          <m:rPr>
                            <m:sty m:val="p"/>
                          </m:rPr>
                          <a:rPr lang="en-US" sz="2800" b="0" i="0" smtClean="0">
                            <a:latin typeface="Cambria Math" panose="02040503050406030204" pitchFamily="18" charset="0"/>
                          </a:rPr>
                          <m:t>Weight</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of</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solute</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in</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grams</m:t>
                        </m:r>
                      </m:num>
                      <m:den>
                        <m:r>
                          <m:rPr>
                            <m:sty m:val="p"/>
                          </m:rPr>
                          <a:rPr lang="en-US" sz="2800" b="0" i="0" smtClean="0">
                            <a:latin typeface="Cambria Math" panose="02040503050406030204" pitchFamily="18" charset="0"/>
                          </a:rPr>
                          <m:t>Equivalent</m:t>
                        </m:r>
                        <m:r>
                          <a:rPr lang="en-US" sz="2800" b="0" i="0" smtClean="0">
                            <a:latin typeface="Cambria Math" panose="02040503050406030204" pitchFamily="18" charset="0"/>
                          </a:rPr>
                          <m:t> </m:t>
                        </m:r>
                        <m:r>
                          <m:rPr>
                            <m:sty m:val="p"/>
                          </m:rPr>
                          <a:rPr lang="en-US" sz="2800" b="0" i="0" smtClean="0">
                            <a:latin typeface="Cambria Math" panose="02040503050406030204" pitchFamily="18" charset="0"/>
                          </a:rPr>
                          <m:t>mass</m:t>
                        </m:r>
                        <m:r>
                          <a:rPr lang="en-US" sz="2800" b="0" i="0" smtClean="0">
                            <a:latin typeface="Cambria Math" panose="02040503050406030204" pitchFamily="18" charset="0"/>
                            <a:ea typeface="Cambria Math" panose="02040503050406030204" pitchFamily="18" charset="0"/>
                          </a:rPr>
                          <m:t>×</m:t>
                        </m:r>
                        <m:r>
                          <m:rPr>
                            <m:sty m:val="p"/>
                          </m:rPr>
                          <a:rPr lang="en-US" sz="2800" b="0" i="0" smtClean="0">
                            <a:latin typeface="Cambria Math" panose="02040503050406030204" pitchFamily="18" charset="0"/>
                            <a:ea typeface="Cambria Math" panose="02040503050406030204" pitchFamily="18" charset="0"/>
                          </a:rPr>
                          <m:t>volume</m:t>
                        </m:r>
                        <m:r>
                          <a:rPr lang="en-US" sz="2800" b="0" i="0" smtClean="0">
                            <a:latin typeface="Cambria Math" panose="02040503050406030204" pitchFamily="18" charset="0"/>
                            <a:ea typeface="Cambria Math" panose="02040503050406030204" pitchFamily="18" charset="0"/>
                          </a:rPr>
                          <m:t> </m:t>
                        </m:r>
                        <m:r>
                          <m:rPr>
                            <m:sty m:val="p"/>
                          </m:rPr>
                          <a:rPr lang="en-US" sz="2800" b="0" i="0" smtClean="0">
                            <a:latin typeface="Cambria Math" panose="02040503050406030204" pitchFamily="18" charset="0"/>
                            <a:ea typeface="Cambria Math" panose="02040503050406030204" pitchFamily="18" charset="0"/>
                          </a:rPr>
                          <m:t>in</m:t>
                        </m:r>
                        <m:r>
                          <a:rPr lang="en-US" sz="2800" b="0" i="0" smtClean="0">
                            <a:latin typeface="Cambria Math" panose="02040503050406030204" pitchFamily="18" charset="0"/>
                            <a:ea typeface="Cambria Math" panose="02040503050406030204" pitchFamily="18" charset="0"/>
                          </a:rPr>
                          <m:t> </m:t>
                        </m:r>
                        <m:r>
                          <m:rPr>
                            <m:sty m:val="p"/>
                          </m:rPr>
                          <a:rPr lang="en-US" sz="2800" b="0" i="0" smtClean="0">
                            <a:latin typeface="Cambria Math" panose="02040503050406030204" pitchFamily="18" charset="0"/>
                            <a:ea typeface="Cambria Math" panose="02040503050406030204" pitchFamily="18" charset="0"/>
                          </a:rPr>
                          <m:t>liter</m:t>
                        </m:r>
                      </m:den>
                    </m:f>
                  </m:oMath>
                </a14:m>
                <a:endParaRPr lang="en-US" sz="2800" dirty="0"/>
              </a:p>
              <a:p>
                <a:pPr>
                  <a:lnSpc>
                    <a:spcPts val="1800"/>
                  </a:lnSpc>
                  <a:spcAft>
                    <a:spcPts val="1200"/>
                  </a:spcAft>
                  <a:buNone/>
                </a:pPr>
                <a:endParaRPr lang="en-US" dirty="0"/>
              </a:p>
              <a:p>
                <a:pPr>
                  <a:lnSpc>
                    <a:spcPts val="1800"/>
                  </a:lnSpc>
                  <a:spcAft>
                    <a:spcPts val="1200"/>
                  </a:spcAft>
                </a:pPr>
                <a:r>
                  <a:rPr lang="en-US" dirty="0"/>
                  <a:t>The relation between normality and molarity</a:t>
                </a:r>
                <a:endParaRPr lang="en-US" b="0" i="0" dirty="0">
                  <a:solidFill>
                    <a:srgbClr val="444444"/>
                  </a:solidFill>
                  <a:effectLst/>
                </a:endParaRPr>
              </a:p>
              <a:p>
                <a:pPr marL="1600200" lvl="3" indent="-228600" algn="l">
                  <a:spcAft>
                    <a:spcPts val="375"/>
                  </a:spcAft>
                  <a:buFont typeface="Arial" panose="020B0604020202020204" pitchFamily="34" charset="0"/>
                  <a:buChar char="•"/>
                </a:pPr>
                <a:r>
                  <a:rPr lang="en-US" sz="2400" b="0" i="0" dirty="0">
                    <a:solidFill>
                      <a:srgbClr val="444444"/>
                    </a:solidFill>
                    <a:effectLst/>
                  </a:rPr>
                  <a:t>N x Eq.Wt = Molarity x Molar mass</a:t>
                </a:r>
              </a:p>
              <a:p>
                <a:pPr marL="1600200" lvl="3" indent="-228600" algn="l">
                  <a:spcAft>
                    <a:spcPts val="375"/>
                  </a:spcAft>
                  <a:buFont typeface="Arial" panose="020B0604020202020204" pitchFamily="34" charset="0"/>
                  <a:buChar char="•"/>
                </a:pPr>
                <a:r>
                  <a:rPr lang="en-US" sz="2400" b="0" i="0" dirty="0">
                    <a:solidFill>
                      <a:srgbClr val="444444"/>
                    </a:solidFill>
                    <a:effectLst/>
                  </a:rPr>
                  <a:t>N = Molarity x Valency</a:t>
                </a:r>
              </a:p>
              <a:p>
                <a:pPr marL="1600200" lvl="3" indent="-228600" algn="l">
                  <a:spcAft>
                    <a:spcPts val="375"/>
                  </a:spcAft>
                  <a:buFont typeface="Arial" panose="020B0604020202020204" pitchFamily="34" charset="0"/>
                  <a:buChar char="•"/>
                </a:pPr>
                <a:r>
                  <a:rPr lang="en-US" sz="2400" b="0" i="0" dirty="0">
                    <a:solidFill>
                      <a:srgbClr val="444444"/>
                    </a:solidFill>
                    <a:effectLst/>
                  </a:rPr>
                  <a:t>N = Molarity x Number of H</a:t>
                </a:r>
                <a:r>
                  <a:rPr lang="en-US" sz="2400" b="0" i="0" baseline="30000" dirty="0">
                    <a:solidFill>
                      <a:srgbClr val="444444"/>
                    </a:solidFill>
                    <a:effectLst/>
                  </a:rPr>
                  <a:t>+</a:t>
                </a:r>
                <a:r>
                  <a:rPr lang="en-US" sz="2400" b="0" i="0" dirty="0">
                    <a:solidFill>
                      <a:srgbClr val="444444"/>
                    </a:solidFill>
                    <a:effectLst/>
                  </a:rPr>
                  <a:t> or OH</a:t>
                </a:r>
                <a:r>
                  <a:rPr lang="en-US" sz="2400" b="0" i="0" baseline="30000" dirty="0">
                    <a:solidFill>
                      <a:srgbClr val="444444"/>
                    </a:solidFill>
                    <a:effectLst/>
                  </a:rPr>
                  <a:t>– </a:t>
                </a:r>
                <a:r>
                  <a:rPr lang="en-US" sz="2400" b="0" i="0" dirty="0">
                    <a:solidFill>
                      <a:srgbClr val="444444"/>
                    </a:solidFill>
                    <a:effectLst/>
                  </a:rPr>
                  <a:t>ion.</a:t>
                </a:r>
              </a:p>
              <a:p>
                <a:endParaRPr lang="en-US" dirty="0"/>
              </a:p>
              <a:p>
                <a:endParaRPr lang="en-US" dirty="0"/>
              </a:p>
              <a:p>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C940A12F-ADD5-5F85-8B00-A4382CB47F0B}"/>
                  </a:ext>
                </a:extLst>
              </p:cNvPr>
              <p:cNvSpPr>
                <a:spLocks noGrp="1" noRot="1" noChangeAspect="1" noMove="1" noResize="1" noEditPoints="1" noAdjustHandles="1" noChangeArrowheads="1" noChangeShapeType="1" noTextEdit="1"/>
              </p:cNvSpPr>
              <p:nvPr>
                <p:ph idx="1"/>
              </p:nvPr>
            </p:nvSpPr>
            <p:spPr>
              <a:blipFill>
                <a:blip r:embed="rId2"/>
                <a:stretch>
                  <a:fillRect l="-500" t="-212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C791DA80-A799-7EF1-1CC8-87D712A79183}"/>
              </a:ext>
            </a:extLst>
          </p:cNvPr>
          <p:cNvSpPr>
            <a:spLocks noGrp="1"/>
          </p:cNvSpPr>
          <p:nvPr>
            <p:ph type="sldNum" sz="quarter" idx="12"/>
          </p:nvPr>
        </p:nvSpPr>
        <p:spPr/>
        <p:txBody>
          <a:bodyPr/>
          <a:lstStyle/>
          <a:p>
            <a:fld id="{316C4710-B4F7-4359-B1ED-F19BB5470050}" type="slidenum">
              <a:rPr lang="en-GB" smtClean="0"/>
              <a:t>19</a:t>
            </a:fld>
            <a:endParaRPr lang="en-GB"/>
          </a:p>
        </p:txBody>
      </p:sp>
    </p:spTree>
    <p:extLst>
      <p:ext uri="{BB962C8B-B14F-4D97-AF65-F5344CB8AC3E}">
        <p14:creationId xmlns:p14="http://schemas.microsoft.com/office/powerpoint/2010/main" val="298992302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4373</TotalTime>
  <Words>1518</Words>
  <Application>Microsoft Office PowerPoint</Application>
  <PresentationFormat>Widescreen</PresentationFormat>
  <Paragraphs>193</Paragraphs>
  <Slides>19</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Bahnschrift SemiBold</vt:lpstr>
      <vt:lpstr>Calibri</vt:lpstr>
      <vt:lpstr>Cambria Math</vt:lpstr>
      <vt:lpstr>Symbol</vt:lpstr>
      <vt:lpstr>Times New Roman</vt:lpstr>
      <vt:lpstr>Wingdings</vt:lpstr>
      <vt:lpstr>Clarity</vt:lpstr>
      <vt:lpstr>PowerPoint Presentation</vt:lpstr>
      <vt:lpstr>SOLUBILITY</vt:lpstr>
      <vt:lpstr>Introduction</vt:lpstr>
      <vt:lpstr>Introduction continued</vt:lpstr>
      <vt:lpstr>Introduction continued</vt:lpstr>
      <vt:lpstr>Factors That  Affect Solubility</vt:lpstr>
      <vt:lpstr>Solubility vs. Temperature</vt:lpstr>
      <vt:lpstr>Factors Affecting Solubility</vt:lpstr>
      <vt:lpstr>Pressure continued</vt:lpstr>
      <vt:lpstr>Factors Affecting Solubility</vt:lpstr>
      <vt:lpstr>Polar solvents continued</vt:lpstr>
      <vt:lpstr>Factors Affecting Solubility</vt:lpstr>
      <vt:lpstr>Factors Affecting Solubility</vt:lpstr>
      <vt:lpstr>Factors Affecting Solubility</vt:lpstr>
      <vt:lpstr>Methods of Expressing Concentration of Solutions</vt:lpstr>
      <vt:lpstr>Methods of Expressing Concentration of Solutions continued</vt:lpstr>
      <vt:lpstr>Methods of Expressing Concentration of Solutions continued</vt:lpstr>
      <vt:lpstr>Methods of Expressing Concentration of Solutions continued</vt:lpstr>
      <vt:lpstr>Methods of Expressing Concentration of Solutions continued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Amma Aboagyewa LARBI</cp:lastModifiedBy>
  <cp:revision>73</cp:revision>
  <dcterms:created xsi:type="dcterms:W3CDTF">2020-04-16T23:49:44Z</dcterms:created>
  <dcterms:modified xsi:type="dcterms:W3CDTF">2026-04-28T05:03:04Z</dcterms:modified>
</cp:coreProperties>
</file>