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4" r:id="rId25"/>
    <p:sldId id="281" r:id="rId26"/>
    <p:sldId id="280" r:id="rId27"/>
    <p:sldId id="282" r:id="rId28"/>
    <p:sldId id="283" r:id="rId29"/>
    <p:sldId id="285" r:id="rId30"/>
    <p:sldId id="286" r:id="rId31"/>
    <p:sldId id="287" r:id="rId32"/>
    <p:sldId id="290" r:id="rId33"/>
    <p:sldId id="288" r:id="rId34"/>
    <p:sldId id="289" r:id="rId35"/>
    <p:sldId id="291" r:id="rId36"/>
    <p:sldId id="292" r:id="rId37"/>
    <p:sldId id="293" r:id="rId38"/>
    <p:sldId id="294" r:id="rId39"/>
    <p:sldId id="295" r:id="rId40"/>
    <p:sldId id="296"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28756" autoAdjust="0"/>
  </p:normalViewPr>
  <p:slideViewPr>
    <p:cSldViewPr snapToGrid="0">
      <p:cViewPr varScale="1">
        <p:scale>
          <a:sx n="111" d="100"/>
          <a:sy n="111" d="100"/>
        </p:scale>
        <p:origin x="51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DEE8BD-E05F-47EC-94D0-FAE541C5E9B1}"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4BABB-2F5B-4138-815B-791A1DE19589}" type="slidenum">
              <a:rPr lang="en-US" smtClean="0"/>
              <a:t>‹#›</a:t>
            </a:fld>
            <a:endParaRPr lang="en-US"/>
          </a:p>
        </p:txBody>
      </p:sp>
    </p:spTree>
    <p:extLst>
      <p:ext uri="{BB962C8B-B14F-4D97-AF65-F5344CB8AC3E}">
        <p14:creationId xmlns:p14="http://schemas.microsoft.com/office/powerpoint/2010/main" val="972778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B4BABB-2F5B-4138-815B-791A1DE19589}" type="slidenum">
              <a:rPr lang="en-US" smtClean="0"/>
              <a:t>17</a:t>
            </a:fld>
            <a:endParaRPr lang="en-US"/>
          </a:p>
        </p:txBody>
      </p:sp>
    </p:spTree>
    <p:extLst>
      <p:ext uri="{BB962C8B-B14F-4D97-AF65-F5344CB8AC3E}">
        <p14:creationId xmlns:p14="http://schemas.microsoft.com/office/powerpoint/2010/main" val="182344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EE204-18CC-2994-FB61-D5AA6B93AF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886F90-FF67-9FE4-220A-495F05731B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EFAFEF-045C-C22E-A51E-5FCF605CE4EC}"/>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5" name="Footer Placeholder 4">
            <a:extLst>
              <a:ext uri="{FF2B5EF4-FFF2-40B4-BE49-F238E27FC236}">
                <a16:creationId xmlns:a16="http://schemas.microsoft.com/office/drawing/2014/main" id="{2C87EFD4-C8C8-1A6C-0642-848CFAD36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B4C3E-AFE3-4CAE-ECB5-FADDEE6EBBDD}"/>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3709546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F46FE-1B74-EDB8-444C-EB9D7283FA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AF7EBA-036F-6A6B-5708-1E6F95AE3D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54F779-AD60-AB1B-FBB0-0D12FAF6DA8A}"/>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5" name="Footer Placeholder 4">
            <a:extLst>
              <a:ext uri="{FF2B5EF4-FFF2-40B4-BE49-F238E27FC236}">
                <a16:creationId xmlns:a16="http://schemas.microsoft.com/office/drawing/2014/main" id="{39386C32-04BF-E6B7-8521-A9698F69C8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EC7EFE-39DC-578B-2B57-E0D5410FAA81}"/>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222072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2081D-1CF4-97CE-9CCA-16C4DE3706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9BC4AD-53D9-E661-347E-33831A8558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5B8746-A092-9325-F670-1B6CF3C24F2D}"/>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5" name="Footer Placeholder 4">
            <a:extLst>
              <a:ext uri="{FF2B5EF4-FFF2-40B4-BE49-F238E27FC236}">
                <a16:creationId xmlns:a16="http://schemas.microsoft.com/office/drawing/2014/main" id="{94517CB0-E15A-A47D-6C1F-3B9172A83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13F89-875F-6B16-D904-D739C36BFB89}"/>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4219819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E80F-2283-390D-1828-2B27B4E021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FA074D-54E9-BD5F-C559-8D0A7A9298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F948AF-2D72-8138-F11D-6DB8B8A43E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279D88-C9B6-6B3C-297A-6462F7B3FF82}"/>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6" name="Footer Placeholder 5">
            <a:extLst>
              <a:ext uri="{FF2B5EF4-FFF2-40B4-BE49-F238E27FC236}">
                <a16:creationId xmlns:a16="http://schemas.microsoft.com/office/drawing/2014/main" id="{64F61926-7E7B-00B8-5AFC-EAD2FCCFF0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1F2765-FF75-F186-5A07-5951C2DA9F6D}"/>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9626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3F3F-759F-66C9-6AF4-3B438710D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8922CE-103B-A302-A7F2-EAFF78B63B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6B13A8-7AC1-E7D4-4CD1-103DA372AA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1110E8-6C5B-CC98-09D5-EBC39C56EE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821D36-E901-AF82-7305-C04CC098D3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025D14-EF6D-A3CA-DC22-B775CD85313E}"/>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8" name="Footer Placeholder 7">
            <a:extLst>
              <a:ext uri="{FF2B5EF4-FFF2-40B4-BE49-F238E27FC236}">
                <a16:creationId xmlns:a16="http://schemas.microsoft.com/office/drawing/2014/main" id="{8B3BE315-ACB6-B5B3-B412-7D70D8CA74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586C88-61D8-0B1C-3731-9E0CA999FF06}"/>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249102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82E8-FB9C-DA97-3E57-C021EFDFFC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468D77-BD8D-1CB4-B65E-99CF450C71DB}"/>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4" name="Footer Placeholder 3">
            <a:extLst>
              <a:ext uri="{FF2B5EF4-FFF2-40B4-BE49-F238E27FC236}">
                <a16:creationId xmlns:a16="http://schemas.microsoft.com/office/drawing/2014/main" id="{0970DC60-550E-DDAC-3EED-A649AE4BF4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082826-F7C1-98F5-BDA0-55AB0AF575D4}"/>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76238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5CBE5E-E784-0151-9566-2153358EF50C}"/>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3" name="Footer Placeholder 2">
            <a:extLst>
              <a:ext uri="{FF2B5EF4-FFF2-40B4-BE49-F238E27FC236}">
                <a16:creationId xmlns:a16="http://schemas.microsoft.com/office/drawing/2014/main" id="{775BDA31-A034-9EDB-BE86-C058BCD4B6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8BF838-556D-6C21-E722-1780489D0D12}"/>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105860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4E61-69A6-8041-CE3C-BD45A4F76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BAFAEE-C23D-0B7D-842D-68BEBDCFA3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038C04-E133-D6CC-307D-3D8B362EF7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3BF99-DE30-576B-6A2F-E7BCA6AA6A43}"/>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6" name="Footer Placeholder 5">
            <a:extLst>
              <a:ext uri="{FF2B5EF4-FFF2-40B4-BE49-F238E27FC236}">
                <a16:creationId xmlns:a16="http://schemas.microsoft.com/office/drawing/2014/main" id="{CA867DB9-5E47-274A-5E5D-77B93D0AF6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80E5A0-AA6C-F1DF-C7DE-3F08F5F12969}"/>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3417213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AF27C-B8CE-7605-774F-AE34FE7A8C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247F77-C37F-4EAF-AAEF-A76DFF0AD3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23B205-80FF-A608-EBE3-41F9AAA60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FEDC0D-7EAA-F1BB-1D57-A4F1638866E0}"/>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6" name="Footer Placeholder 5">
            <a:extLst>
              <a:ext uri="{FF2B5EF4-FFF2-40B4-BE49-F238E27FC236}">
                <a16:creationId xmlns:a16="http://schemas.microsoft.com/office/drawing/2014/main" id="{20F213DA-1E40-1FDE-938F-0035CEC83C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FCFC3-5D08-415A-7EDA-289D5D46EB0E}"/>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2508928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0335-48A2-6A09-B237-7F0AE37F34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0A8057-B677-D204-6CE1-63FF51179E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05649-2DF2-2082-9047-29D93E1506EC}"/>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5" name="Footer Placeholder 4">
            <a:extLst>
              <a:ext uri="{FF2B5EF4-FFF2-40B4-BE49-F238E27FC236}">
                <a16:creationId xmlns:a16="http://schemas.microsoft.com/office/drawing/2014/main" id="{5B82809E-F6A5-C276-209F-52A017B28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AC468-3A2B-927C-6920-1CDDBCA068A7}"/>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238201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60419D-DFCA-5DD8-64A7-3C5C91DE37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BBD002-9103-D1DB-62FD-AC6AAD532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A22F34-4C8D-7390-879D-9A513F5C72BE}"/>
              </a:ext>
            </a:extLst>
          </p:cNvPr>
          <p:cNvSpPr>
            <a:spLocks noGrp="1"/>
          </p:cNvSpPr>
          <p:nvPr>
            <p:ph type="dt" sz="half" idx="10"/>
          </p:nvPr>
        </p:nvSpPr>
        <p:spPr/>
        <p:txBody>
          <a:bodyPr/>
          <a:lstStyle/>
          <a:p>
            <a:fld id="{5E8F001A-8ECA-4523-B4DF-6187A22BDDBE}" type="datetimeFigureOut">
              <a:rPr lang="en-US" smtClean="0"/>
              <a:t>4/28/26</a:t>
            </a:fld>
            <a:endParaRPr lang="en-US"/>
          </a:p>
        </p:txBody>
      </p:sp>
      <p:sp>
        <p:nvSpPr>
          <p:cNvPr id="5" name="Footer Placeholder 4">
            <a:extLst>
              <a:ext uri="{FF2B5EF4-FFF2-40B4-BE49-F238E27FC236}">
                <a16:creationId xmlns:a16="http://schemas.microsoft.com/office/drawing/2014/main" id="{2E57623B-B36A-C3A3-4B82-1524022E46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4375A-C99F-807E-C989-CCDE5478496E}"/>
              </a:ext>
            </a:extLst>
          </p:cNvPr>
          <p:cNvSpPr>
            <a:spLocks noGrp="1"/>
          </p:cNvSpPr>
          <p:nvPr>
            <p:ph type="sldNum" sz="quarter" idx="12"/>
          </p:nvPr>
        </p:nvSpPr>
        <p:spPr/>
        <p:txBody>
          <a:bodyPr/>
          <a:lstStyle/>
          <a:p>
            <a:fld id="{516958C7-DEE0-47F5-8984-5EDB44C1A9BE}" type="slidenum">
              <a:rPr lang="en-US" smtClean="0"/>
              <a:t>‹#›</a:t>
            </a:fld>
            <a:endParaRPr lang="en-US"/>
          </a:p>
        </p:txBody>
      </p:sp>
    </p:spTree>
    <p:extLst>
      <p:ext uri="{BB962C8B-B14F-4D97-AF65-F5344CB8AC3E}">
        <p14:creationId xmlns:p14="http://schemas.microsoft.com/office/powerpoint/2010/main" val="95968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BBC8F8-43A8-40E4-E26E-46C881C8C3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69F846-760D-262D-E40F-909E5FA62B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CE3A9-0AF2-F707-A2C6-1DB1C5B7D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8F001A-8ECA-4523-B4DF-6187A22BDDBE}" type="datetimeFigureOut">
              <a:rPr lang="en-US" smtClean="0"/>
              <a:t>4/28/26</a:t>
            </a:fld>
            <a:endParaRPr lang="en-US"/>
          </a:p>
        </p:txBody>
      </p:sp>
      <p:sp>
        <p:nvSpPr>
          <p:cNvPr id="5" name="Footer Placeholder 4">
            <a:extLst>
              <a:ext uri="{FF2B5EF4-FFF2-40B4-BE49-F238E27FC236}">
                <a16:creationId xmlns:a16="http://schemas.microsoft.com/office/drawing/2014/main" id="{C59AC95D-ACBB-A71D-DE56-BC3FE096E7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A3D988-4A2B-6139-952C-B6C0E92CF1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6958C7-DEE0-47F5-8984-5EDB44C1A9BE}" type="slidenum">
              <a:rPr lang="en-US" smtClean="0"/>
              <a:t>‹#›</a:t>
            </a:fld>
            <a:endParaRPr lang="en-US"/>
          </a:p>
        </p:txBody>
      </p:sp>
    </p:spTree>
    <p:extLst>
      <p:ext uri="{BB962C8B-B14F-4D97-AF65-F5344CB8AC3E}">
        <p14:creationId xmlns:p14="http://schemas.microsoft.com/office/powerpoint/2010/main" val="3075127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A750-BBBD-AD6B-2572-6A8AE7D45518}"/>
              </a:ext>
            </a:extLst>
          </p:cNvPr>
          <p:cNvSpPr>
            <a:spLocks noGrp="1"/>
          </p:cNvSpPr>
          <p:nvPr>
            <p:ph type="ctrTitle"/>
          </p:nvPr>
        </p:nvSpPr>
        <p:spPr/>
        <p:txBody>
          <a:bodyPr>
            <a:normAutofit fontScale="90000"/>
          </a:bodyPr>
          <a:lstStyle/>
          <a:p>
            <a:r>
              <a:rPr lang="en-US" b="1" dirty="0"/>
              <a:t>English and Logical Reasoning for Graduate Entry Medicine </a:t>
            </a:r>
            <a:r>
              <a:rPr lang="en-US" b="1" dirty="0" err="1"/>
              <a:t>Programme</a:t>
            </a:r>
            <a:br>
              <a:rPr lang="en-US" dirty="0"/>
            </a:br>
            <a:r>
              <a:rPr lang="en-US" dirty="0"/>
              <a:t>(GEMP)</a:t>
            </a:r>
          </a:p>
        </p:txBody>
      </p:sp>
      <p:sp>
        <p:nvSpPr>
          <p:cNvPr id="3" name="Subtitle 2">
            <a:extLst>
              <a:ext uri="{FF2B5EF4-FFF2-40B4-BE49-F238E27FC236}">
                <a16:creationId xmlns:a16="http://schemas.microsoft.com/office/drawing/2014/main" id="{7D35DB7F-3862-58C0-C3F8-8983691C6A47}"/>
              </a:ext>
            </a:extLst>
          </p:cNvPr>
          <p:cNvSpPr>
            <a:spLocks noGrp="1"/>
          </p:cNvSpPr>
          <p:nvPr>
            <p:ph type="subTitle" idx="1"/>
          </p:nvPr>
        </p:nvSpPr>
        <p:spPr/>
        <p:txBody>
          <a:bodyPr/>
          <a:lstStyle/>
          <a:p>
            <a:r>
              <a:rPr lang="en-US" dirty="0"/>
              <a:t>DEPARTMENT OF ENGLISH,KNUST</a:t>
            </a:r>
          </a:p>
        </p:txBody>
      </p:sp>
    </p:spTree>
    <p:extLst>
      <p:ext uri="{BB962C8B-B14F-4D97-AF65-F5344CB8AC3E}">
        <p14:creationId xmlns:p14="http://schemas.microsoft.com/office/powerpoint/2010/main" val="4050890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8F0C-7E07-E698-6C1C-1B18E98E1196}"/>
              </a:ext>
            </a:extLst>
          </p:cNvPr>
          <p:cNvSpPr>
            <a:spLocks noGrp="1"/>
          </p:cNvSpPr>
          <p:nvPr>
            <p:ph type="title"/>
          </p:nvPr>
        </p:nvSpPr>
        <p:spPr/>
        <p:txBody>
          <a:bodyPr/>
          <a:lstStyle/>
          <a:p>
            <a:r>
              <a:rPr lang="en-US" dirty="0"/>
              <a:t>COURSE DESCRIPTION</a:t>
            </a:r>
          </a:p>
        </p:txBody>
      </p:sp>
      <p:sp>
        <p:nvSpPr>
          <p:cNvPr id="3" name="Content Placeholder 2">
            <a:extLst>
              <a:ext uri="{FF2B5EF4-FFF2-40B4-BE49-F238E27FC236}">
                <a16:creationId xmlns:a16="http://schemas.microsoft.com/office/drawing/2014/main" id="{A2DAAE94-D474-1ACF-645C-47AE44897A67}"/>
              </a:ext>
            </a:extLst>
          </p:cNvPr>
          <p:cNvSpPr>
            <a:spLocks noGrp="1"/>
          </p:cNvSpPr>
          <p:nvPr>
            <p:ph idx="1"/>
          </p:nvPr>
        </p:nvSpPr>
        <p:spPr>
          <a:xfrm>
            <a:off x="531223" y="1825625"/>
            <a:ext cx="10822577" cy="4932226"/>
          </a:xfrm>
        </p:spPr>
        <p:txBody>
          <a:bodyPr>
            <a:normAutofit/>
          </a:bodyPr>
          <a:lstStyle/>
          <a:p>
            <a:pPr>
              <a:buFont typeface="Wingdings" panose="05000000000000000000" pitchFamily="2" charset="2"/>
              <a:buChar char="§"/>
            </a:pPr>
            <a:r>
              <a:rPr lang="en-US" sz="3200" dirty="0"/>
              <a:t>This course is designed to strengthen the linguistic accuracy, academic literacy, and logical reasoning skills essential for success in medical education and professional medical practice.</a:t>
            </a:r>
          </a:p>
          <a:p>
            <a:pPr>
              <a:buFont typeface="Wingdings" panose="05000000000000000000" pitchFamily="2" charset="2"/>
              <a:buChar char="§"/>
            </a:pPr>
            <a:r>
              <a:rPr lang="en-US" sz="3200" dirty="0"/>
              <a:t>The course addresses common challenges encountered by graduate medical students, including grammatical inaccuracies, unclear sentence structures, weak argumentation, misinterpretation of texts, and imprecise medical writing. </a:t>
            </a:r>
          </a:p>
          <a:p>
            <a:endParaRPr lang="en-US" dirty="0"/>
          </a:p>
        </p:txBody>
      </p:sp>
    </p:spTree>
    <p:extLst>
      <p:ext uri="{BB962C8B-B14F-4D97-AF65-F5344CB8AC3E}">
        <p14:creationId xmlns:p14="http://schemas.microsoft.com/office/powerpoint/2010/main" val="4038754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712BB-D047-8402-5641-AF0DBE1AB1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5E27E5-87E9-A1C5-1DCD-11EDBED18604}"/>
              </a:ext>
            </a:extLst>
          </p:cNvPr>
          <p:cNvSpPr>
            <a:spLocks noGrp="1"/>
          </p:cNvSpPr>
          <p:nvPr>
            <p:ph idx="1"/>
          </p:nvPr>
        </p:nvSpPr>
        <p:spPr>
          <a:xfrm>
            <a:off x="330926" y="1825624"/>
            <a:ext cx="11022874" cy="4906101"/>
          </a:xfrm>
        </p:spPr>
        <p:txBody>
          <a:bodyPr>
            <a:normAutofit/>
          </a:bodyPr>
          <a:lstStyle/>
          <a:p>
            <a:pPr>
              <a:buFont typeface="Wingdings" panose="05000000000000000000" pitchFamily="2" charset="2"/>
              <a:buChar char="§"/>
            </a:pPr>
            <a:r>
              <a:rPr lang="en-US" dirty="0"/>
              <a:t>A major component of the course focuses on logical reasoning and argument construction, enabling students to evaluate evidence, detect faulty reasoning, organize ideas coherently, and present well-supported arguments in medical and academic writing. </a:t>
            </a:r>
          </a:p>
          <a:p>
            <a:pPr marL="0" indent="0">
              <a:buNone/>
            </a:pPr>
            <a:endParaRPr lang="en-US" dirty="0"/>
          </a:p>
          <a:p>
            <a:pPr>
              <a:buFont typeface="Wingdings" panose="05000000000000000000" pitchFamily="2" charset="2"/>
              <a:buChar char="§"/>
            </a:pPr>
            <a:r>
              <a:rPr lang="en-US" dirty="0"/>
              <a:t>By combining language instruction with logical reasoning skills, the course equips future medical professionals with the communicative competence and analytical clarity required for academic success, clinical documentation, professional interaction, and lifelong learning in medicine.</a:t>
            </a:r>
          </a:p>
          <a:p>
            <a:endParaRPr lang="en-US" dirty="0"/>
          </a:p>
        </p:txBody>
      </p:sp>
    </p:spTree>
    <p:extLst>
      <p:ext uri="{BB962C8B-B14F-4D97-AF65-F5344CB8AC3E}">
        <p14:creationId xmlns:p14="http://schemas.microsoft.com/office/powerpoint/2010/main" val="3752888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48822-20B2-E8C3-101D-C619A12B57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182684-573F-F9F2-277A-9F6F51DCAECB}"/>
              </a:ext>
            </a:extLst>
          </p:cNvPr>
          <p:cNvSpPr>
            <a:spLocks noGrp="1"/>
          </p:cNvSpPr>
          <p:nvPr>
            <p:ph idx="1"/>
          </p:nvPr>
        </p:nvSpPr>
        <p:spPr>
          <a:xfrm>
            <a:off x="435429" y="1825625"/>
            <a:ext cx="10918371" cy="4862558"/>
          </a:xfrm>
        </p:spPr>
        <p:txBody>
          <a:bodyPr>
            <a:normAutofit lnSpcReduction="10000"/>
          </a:bodyPr>
          <a:lstStyle/>
          <a:p>
            <a:pPr>
              <a:buFont typeface="Wingdings" panose="05000000000000000000" pitchFamily="2" charset="2"/>
              <a:buChar char="§"/>
            </a:pPr>
            <a:r>
              <a:rPr lang="en-US" dirty="0"/>
              <a:t>Key areas covered include General English, Academic English, and Medical English, </a:t>
            </a:r>
          </a:p>
          <a:p>
            <a:pPr>
              <a:buFont typeface="Wingdings" panose="05000000000000000000" pitchFamily="2" charset="2"/>
              <a:buChar char="§"/>
            </a:pPr>
            <a:r>
              <a:rPr lang="en-US" dirty="0"/>
              <a:t>sentence fragments, run-on sentences, subject–verb agreement, misplaced modifiers, faulty parallelism, pronoun reference errors, and commonly confused words).</a:t>
            </a:r>
          </a:p>
          <a:p>
            <a:pPr>
              <a:buFont typeface="Wingdings" panose="05000000000000000000" pitchFamily="2" charset="2"/>
              <a:buChar char="§"/>
            </a:pPr>
            <a:r>
              <a:rPr lang="en-US" dirty="0"/>
              <a:t> medical vocabulary, discipline-specific usage, and conventions of clear, precise, and ethical medical writing, including clinical notes, case summaries, and academic essays. </a:t>
            </a:r>
          </a:p>
          <a:p>
            <a:pPr>
              <a:buFont typeface="Wingdings" panose="05000000000000000000" pitchFamily="2" charset="2"/>
              <a:buChar char="§"/>
            </a:pPr>
            <a:r>
              <a:rPr lang="en-US" dirty="0"/>
              <a:t>Reading skills such as skimming and scanning are developed to enhance efficient processing of dense medical texts, while summary and paraphrasing techniques are taught to promote academic integrity and effective knowledge communication.</a:t>
            </a:r>
          </a:p>
          <a:p>
            <a:endParaRPr lang="en-US" dirty="0"/>
          </a:p>
        </p:txBody>
      </p:sp>
    </p:spTree>
    <p:extLst>
      <p:ext uri="{BB962C8B-B14F-4D97-AF65-F5344CB8AC3E}">
        <p14:creationId xmlns:p14="http://schemas.microsoft.com/office/powerpoint/2010/main" val="3398568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C2B79-77F3-E4B4-F3F8-4AC518458A42}"/>
              </a:ext>
            </a:extLst>
          </p:cNvPr>
          <p:cNvSpPr>
            <a:spLocks noGrp="1"/>
          </p:cNvSpPr>
          <p:nvPr>
            <p:ph type="title"/>
          </p:nvPr>
        </p:nvSpPr>
        <p:spPr/>
        <p:txBody>
          <a:bodyPr/>
          <a:lstStyle/>
          <a:p>
            <a:r>
              <a:rPr lang="en-US" b="1" dirty="0"/>
              <a:t>COURSE OBJECTIVES</a:t>
            </a:r>
            <a:br>
              <a:rPr lang="en-US" dirty="0"/>
            </a:br>
            <a:endParaRPr lang="en-US" dirty="0"/>
          </a:p>
        </p:txBody>
      </p:sp>
      <p:sp>
        <p:nvSpPr>
          <p:cNvPr id="3" name="Content Placeholder 2">
            <a:extLst>
              <a:ext uri="{FF2B5EF4-FFF2-40B4-BE49-F238E27FC236}">
                <a16:creationId xmlns:a16="http://schemas.microsoft.com/office/drawing/2014/main" id="{0F6888A3-7EA7-93C5-DEFB-6FFCA0C00D62}"/>
              </a:ext>
            </a:extLst>
          </p:cNvPr>
          <p:cNvSpPr>
            <a:spLocks noGrp="1"/>
          </p:cNvSpPr>
          <p:nvPr>
            <p:ph idx="1"/>
          </p:nvPr>
        </p:nvSpPr>
        <p:spPr>
          <a:xfrm>
            <a:off x="330926" y="1825624"/>
            <a:ext cx="11469188" cy="5032375"/>
          </a:xfrm>
        </p:spPr>
        <p:txBody>
          <a:bodyPr>
            <a:normAutofit/>
          </a:bodyPr>
          <a:lstStyle/>
          <a:p>
            <a:r>
              <a:rPr lang="en-US" dirty="0"/>
              <a:t>The overall aim of this course is to enable GEMP students to communicate accurately, logically, and professionally in spoken and written medical and academic contexts.</a:t>
            </a:r>
          </a:p>
          <a:p>
            <a:pPr marL="0" indent="0">
              <a:buNone/>
            </a:pPr>
            <a:r>
              <a:rPr lang="en-US" dirty="0"/>
              <a:t>Specifically, the course seeks to:</a:t>
            </a:r>
          </a:p>
          <a:p>
            <a:pPr marL="514350" lvl="0" indent="-514350">
              <a:buAutoNum type="arabicPeriod"/>
            </a:pPr>
            <a:r>
              <a:rPr lang="en-US" dirty="0"/>
              <a:t>Strengthen students’ command of General and Academic English.</a:t>
            </a:r>
          </a:p>
          <a:p>
            <a:pPr marL="514350" lvl="0" indent="-514350">
              <a:buAutoNum type="arabicPeriod"/>
            </a:pPr>
            <a:r>
              <a:rPr lang="en-US" dirty="0"/>
              <a:t>Develop students’ ability to recognize and correct common grammatical and syntactic errors that undermine clarity in academic and medical writing.</a:t>
            </a:r>
          </a:p>
          <a:p>
            <a:pPr marL="514350" lvl="0" indent="-514350">
              <a:buAutoNum type="arabicPeriod"/>
            </a:pPr>
            <a:r>
              <a:rPr lang="en-US" dirty="0"/>
              <a:t>Equip students with knowledge of Medical English and medical vocabulary, including accurate and context-appropriate usage.</a:t>
            </a:r>
          </a:p>
          <a:p>
            <a:endParaRPr lang="en-US" dirty="0"/>
          </a:p>
        </p:txBody>
      </p:sp>
    </p:spTree>
    <p:extLst>
      <p:ext uri="{BB962C8B-B14F-4D97-AF65-F5344CB8AC3E}">
        <p14:creationId xmlns:p14="http://schemas.microsoft.com/office/powerpoint/2010/main" val="2572060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C3177-BEF4-904B-3DCB-F4088F2647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29169A-87BE-C2E1-5D51-1AF188AEBF05}"/>
              </a:ext>
            </a:extLst>
          </p:cNvPr>
          <p:cNvSpPr>
            <a:spLocks noGrp="1"/>
          </p:cNvSpPr>
          <p:nvPr>
            <p:ph idx="1"/>
          </p:nvPr>
        </p:nvSpPr>
        <p:spPr>
          <a:xfrm>
            <a:off x="252549" y="1825624"/>
            <a:ext cx="11869782" cy="5032375"/>
          </a:xfrm>
        </p:spPr>
        <p:txBody>
          <a:bodyPr>
            <a:normAutofit lnSpcReduction="10000"/>
          </a:bodyPr>
          <a:lstStyle/>
          <a:p>
            <a:pPr marL="0" lvl="0" indent="0">
              <a:buNone/>
            </a:pPr>
            <a:r>
              <a:rPr lang="en-US" dirty="0"/>
              <a:t>4. Improve students’ reading efficiency through effective skimming and scanning strategies for medical and academic texts.</a:t>
            </a:r>
          </a:p>
          <a:p>
            <a:pPr marL="0" lvl="0" indent="0">
              <a:buNone/>
            </a:pPr>
            <a:endParaRPr lang="en-US" dirty="0"/>
          </a:p>
          <a:p>
            <a:pPr marL="0" lvl="0" indent="0">
              <a:buNone/>
            </a:pPr>
            <a:r>
              <a:rPr lang="en-US" dirty="0"/>
              <a:t>5. Train students to produce accurate summaries and paraphrases while maintaining original meaning and avoiding plagiarism.</a:t>
            </a:r>
          </a:p>
          <a:p>
            <a:pPr marL="0" lvl="0" indent="0">
              <a:buNone/>
            </a:pPr>
            <a:endParaRPr lang="en-US" dirty="0"/>
          </a:p>
          <a:p>
            <a:pPr marL="0" lvl="0" indent="0">
              <a:buNone/>
            </a:pPr>
            <a:r>
              <a:rPr lang="en-US" dirty="0"/>
              <a:t>6. Develop students’ logical reasoning skills, including the ability to analyze arguments, evaluate evidence, and avoid logical fallacies.</a:t>
            </a:r>
          </a:p>
          <a:p>
            <a:pPr marL="0" lvl="0" indent="0">
              <a:buNone/>
            </a:pPr>
            <a:endParaRPr lang="en-US" dirty="0"/>
          </a:p>
          <a:p>
            <a:pPr marL="0" lvl="0" indent="0">
              <a:buNone/>
            </a:pPr>
            <a:r>
              <a:rPr lang="en-US" dirty="0"/>
              <a:t>6. Enable students to construct coherent, logically structured essays and arguments, particularly in academic and medical contexts.</a:t>
            </a:r>
          </a:p>
          <a:p>
            <a:pPr marL="0" lvl="0" indent="0">
              <a:buNone/>
            </a:pPr>
            <a:endParaRPr lang="en-US" dirty="0"/>
          </a:p>
          <a:p>
            <a:endParaRPr lang="en-US" dirty="0"/>
          </a:p>
        </p:txBody>
      </p:sp>
    </p:spTree>
    <p:extLst>
      <p:ext uri="{BB962C8B-B14F-4D97-AF65-F5344CB8AC3E}">
        <p14:creationId xmlns:p14="http://schemas.microsoft.com/office/powerpoint/2010/main" val="3517160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98551-1DC2-6619-4EFE-D85929C957C6}"/>
              </a:ext>
            </a:extLst>
          </p:cNvPr>
          <p:cNvSpPr>
            <a:spLocks noGrp="1"/>
          </p:cNvSpPr>
          <p:nvPr>
            <p:ph type="title"/>
          </p:nvPr>
        </p:nvSpPr>
        <p:spPr/>
        <p:txBody>
          <a:bodyPr/>
          <a:lstStyle/>
          <a:p>
            <a:r>
              <a:rPr lang="en-US" b="1" dirty="0"/>
              <a:t>MEDICAL ENGLISH</a:t>
            </a:r>
            <a:br>
              <a:rPr lang="en-US" dirty="0"/>
            </a:br>
            <a:endParaRPr lang="en-US" dirty="0"/>
          </a:p>
        </p:txBody>
      </p:sp>
      <p:sp>
        <p:nvSpPr>
          <p:cNvPr id="3" name="Content Placeholder 2">
            <a:extLst>
              <a:ext uri="{FF2B5EF4-FFF2-40B4-BE49-F238E27FC236}">
                <a16:creationId xmlns:a16="http://schemas.microsoft.com/office/drawing/2014/main" id="{AB609371-1087-15D7-6C99-E69B86957FB7}"/>
              </a:ext>
            </a:extLst>
          </p:cNvPr>
          <p:cNvSpPr>
            <a:spLocks noGrp="1"/>
          </p:cNvSpPr>
          <p:nvPr>
            <p:ph idx="1"/>
          </p:nvPr>
        </p:nvSpPr>
        <p:spPr>
          <a:xfrm>
            <a:off x="838200" y="1825625"/>
            <a:ext cx="10515600" cy="5176066"/>
          </a:xfrm>
        </p:spPr>
        <p:txBody>
          <a:bodyPr>
            <a:normAutofit/>
          </a:bodyPr>
          <a:lstStyle/>
          <a:p>
            <a:pPr marL="0" indent="0">
              <a:buNone/>
            </a:pPr>
            <a:endParaRPr lang="en-US" dirty="0"/>
          </a:p>
          <a:p>
            <a:pPr marL="0" indent="0">
              <a:buNone/>
            </a:pPr>
            <a:endParaRPr lang="en-US" dirty="0"/>
          </a:p>
          <a:p>
            <a:pPr marL="0" indent="0" algn="ctr">
              <a:buNone/>
            </a:pPr>
            <a:r>
              <a:rPr lang="en-US" sz="4400" dirty="0"/>
              <a:t>WHAT IS IT?</a:t>
            </a:r>
          </a:p>
        </p:txBody>
      </p:sp>
    </p:spTree>
    <p:extLst>
      <p:ext uri="{BB962C8B-B14F-4D97-AF65-F5344CB8AC3E}">
        <p14:creationId xmlns:p14="http://schemas.microsoft.com/office/powerpoint/2010/main" val="3652529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74B7C-51C0-1A6D-0CFD-D742ECBE69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6B3881-311C-5119-5B43-9D87809AD3AC}"/>
              </a:ext>
            </a:extLst>
          </p:cNvPr>
          <p:cNvSpPr>
            <a:spLocks noGrp="1"/>
          </p:cNvSpPr>
          <p:nvPr>
            <p:ph idx="1"/>
          </p:nvPr>
        </p:nvSpPr>
        <p:spPr>
          <a:xfrm>
            <a:off x="243840" y="1825625"/>
            <a:ext cx="11109960" cy="4923518"/>
          </a:xfrm>
        </p:spPr>
        <p:txBody>
          <a:bodyPr>
            <a:normAutofit/>
          </a:bodyPr>
          <a:lstStyle/>
          <a:p>
            <a:pPr>
              <a:buFont typeface="Wingdings" panose="05000000000000000000" pitchFamily="2" charset="2"/>
              <a:buChar char="§"/>
            </a:pPr>
            <a:r>
              <a:rPr lang="en-US" sz="3600" dirty="0"/>
              <a:t>Medical English is a specialized variety of English used in healthcare and medical contexts. It focuses on:</a:t>
            </a:r>
          </a:p>
          <a:p>
            <a:pPr marL="571500" lvl="0" indent="-571500">
              <a:buFont typeface="+mj-lt"/>
              <a:buAutoNum type="romanLcPeriod"/>
            </a:pPr>
            <a:r>
              <a:rPr lang="en-US" sz="3600" dirty="0"/>
              <a:t>Medical terminology</a:t>
            </a:r>
          </a:p>
          <a:p>
            <a:pPr marL="571500" lvl="0" indent="-571500">
              <a:buFont typeface="+mj-lt"/>
              <a:buAutoNum type="romanLcPeriod"/>
            </a:pPr>
            <a:r>
              <a:rPr lang="en-US" sz="3600" dirty="0"/>
              <a:t>Clinical communication</a:t>
            </a:r>
          </a:p>
          <a:p>
            <a:pPr marL="571500" lvl="0" indent="-571500">
              <a:buFont typeface="+mj-lt"/>
              <a:buAutoNum type="romanLcPeriod"/>
            </a:pPr>
            <a:r>
              <a:rPr lang="en-US" sz="3600" dirty="0"/>
              <a:t>Patient–doctor interaction</a:t>
            </a:r>
          </a:p>
          <a:p>
            <a:pPr marL="571500" lvl="0" indent="-571500">
              <a:buFont typeface="+mj-lt"/>
              <a:buAutoNum type="romanLcPeriod"/>
            </a:pPr>
            <a:r>
              <a:rPr lang="en-US" sz="3600" dirty="0"/>
              <a:t>Medical documentation</a:t>
            </a:r>
          </a:p>
          <a:p>
            <a:pPr marL="571500" lvl="0" indent="-571500">
              <a:buFont typeface="+mj-lt"/>
              <a:buAutoNum type="romanLcPeriod"/>
            </a:pPr>
            <a:r>
              <a:rPr lang="en-US" sz="3600" dirty="0"/>
              <a:t>Academic and professional medical discourse</a:t>
            </a:r>
          </a:p>
          <a:p>
            <a:pPr marL="0" indent="0">
              <a:buNone/>
            </a:pPr>
            <a:endParaRPr lang="en-US" dirty="0"/>
          </a:p>
        </p:txBody>
      </p:sp>
    </p:spTree>
    <p:extLst>
      <p:ext uri="{BB962C8B-B14F-4D97-AF65-F5344CB8AC3E}">
        <p14:creationId xmlns:p14="http://schemas.microsoft.com/office/powerpoint/2010/main" val="261548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BD97-8378-7877-6424-7241A0B63DE7}"/>
              </a:ext>
            </a:extLst>
          </p:cNvPr>
          <p:cNvSpPr>
            <a:spLocks noGrp="1"/>
          </p:cNvSpPr>
          <p:nvPr>
            <p:ph type="title"/>
          </p:nvPr>
        </p:nvSpPr>
        <p:spPr/>
        <p:txBody>
          <a:bodyPr/>
          <a:lstStyle/>
          <a:p>
            <a:r>
              <a:rPr lang="en-US" b="1" dirty="0"/>
              <a:t>Importance of Medical English</a:t>
            </a:r>
            <a:br>
              <a:rPr lang="en-US" dirty="0"/>
            </a:br>
            <a:endParaRPr lang="en-US" dirty="0"/>
          </a:p>
        </p:txBody>
      </p:sp>
      <p:sp>
        <p:nvSpPr>
          <p:cNvPr id="3" name="Content Placeholder 2">
            <a:extLst>
              <a:ext uri="{FF2B5EF4-FFF2-40B4-BE49-F238E27FC236}">
                <a16:creationId xmlns:a16="http://schemas.microsoft.com/office/drawing/2014/main" id="{8C18AC45-5611-91F1-F7D2-4E30AC90F66F}"/>
              </a:ext>
            </a:extLst>
          </p:cNvPr>
          <p:cNvSpPr>
            <a:spLocks noGrp="1"/>
          </p:cNvSpPr>
          <p:nvPr>
            <p:ph idx="1"/>
          </p:nvPr>
        </p:nvSpPr>
        <p:spPr>
          <a:xfrm>
            <a:off x="313509" y="1825625"/>
            <a:ext cx="11040291" cy="4810306"/>
          </a:xfrm>
        </p:spPr>
        <p:txBody>
          <a:bodyPr>
            <a:normAutofit/>
          </a:bodyPr>
          <a:lstStyle/>
          <a:p>
            <a:pPr marL="0" indent="0">
              <a:buNone/>
            </a:pPr>
            <a:endParaRPr lang="en-US" dirty="0"/>
          </a:p>
          <a:p>
            <a:pPr marL="571500" indent="-571500">
              <a:buFont typeface="+mj-lt"/>
              <a:buAutoNum type="romanLcPeriod"/>
            </a:pPr>
            <a:r>
              <a:rPr lang="en-US" sz="3600" dirty="0"/>
              <a:t>Clear communication with patients and colleagues</a:t>
            </a:r>
          </a:p>
          <a:p>
            <a:pPr marL="571500" indent="-571500">
              <a:buFont typeface="+mj-lt"/>
              <a:buAutoNum type="romanLcPeriod"/>
            </a:pPr>
            <a:r>
              <a:rPr lang="en-US" sz="3600" dirty="0"/>
              <a:t>Accurate documentation of medical information</a:t>
            </a:r>
          </a:p>
          <a:p>
            <a:pPr marL="571500" indent="-571500">
              <a:buFont typeface="+mj-lt"/>
              <a:buAutoNum type="romanLcPeriod"/>
            </a:pPr>
            <a:r>
              <a:rPr lang="en-US" sz="3600" dirty="0"/>
              <a:t>Participation in international research and conferences</a:t>
            </a:r>
          </a:p>
          <a:p>
            <a:pPr marL="571500" indent="-571500">
              <a:buFont typeface="+mj-lt"/>
              <a:buAutoNum type="romanLcPeriod"/>
            </a:pPr>
            <a:r>
              <a:rPr lang="en-US" sz="3600" dirty="0"/>
              <a:t>Reduction of medical errors caused by miscommunication</a:t>
            </a:r>
          </a:p>
          <a:p>
            <a:pPr marL="571500" indent="-571500">
              <a:buFont typeface="+mj-lt"/>
              <a:buAutoNum type="romanLcPeriod"/>
            </a:pPr>
            <a:r>
              <a:rPr lang="en-US" sz="3600" dirty="0"/>
              <a:t>Effective medical communication has been shown to improve patient safety, trust, and treatment outcomes</a:t>
            </a:r>
          </a:p>
        </p:txBody>
      </p:sp>
    </p:spTree>
    <p:extLst>
      <p:ext uri="{BB962C8B-B14F-4D97-AF65-F5344CB8AC3E}">
        <p14:creationId xmlns:p14="http://schemas.microsoft.com/office/powerpoint/2010/main" val="3864349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64A21-2E73-525E-235A-B08626EC6028}"/>
              </a:ext>
            </a:extLst>
          </p:cNvPr>
          <p:cNvSpPr>
            <a:spLocks noGrp="1"/>
          </p:cNvSpPr>
          <p:nvPr>
            <p:ph type="title"/>
          </p:nvPr>
        </p:nvSpPr>
        <p:spPr/>
        <p:txBody>
          <a:bodyPr/>
          <a:lstStyle/>
          <a:p>
            <a:r>
              <a:rPr lang="en-US" b="1" dirty="0"/>
              <a:t>Characteristics of Medical English</a:t>
            </a:r>
            <a:br>
              <a:rPr lang="en-US" dirty="0"/>
            </a:br>
            <a:endParaRPr lang="en-US" dirty="0"/>
          </a:p>
        </p:txBody>
      </p:sp>
      <p:sp>
        <p:nvSpPr>
          <p:cNvPr id="3" name="Content Placeholder 2">
            <a:extLst>
              <a:ext uri="{FF2B5EF4-FFF2-40B4-BE49-F238E27FC236}">
                <a16:creationId xmlns:a16="http://schemas.microsoft.com/office/drawing/2014/main" id="{F77E0468-F383-5184-6966-DFD4D8F8AB45}"/>
              </a:ext>
            </a:extLst>
          </p:cNvPr>
          <p:cNvSpPr>
            <a:spLocks noGrp="1"/>
          </p:cNvSpPr>
          <p:nvPr>
            <p:ph idx="1"/>
          </p:nvPr>
        </p:nvSpPr>
        <p:spPr>
          <a:xfrm>
            <a:off x="313509" y="1825625"/>
            <a:ext cx="11040291" cy="4958352"/>
          </a:xfrm>
        </p:spPr>
        <p:txBody>
          <a:bodyPr>
            <a:normAutofit/>
          </a:bodyPr>
          <a:lstStyle/>
          <a:p>
            <a:pPr marL="0" indent="0">
              <a:buNone/>
            </a:pPr>
            <a:r>
              <a:rPr lang="en-US" b="1" dirty="0"/>
              <a:t>1.  Technical Vocabulary</a:t>
            </a:r>
            <a:endParaRPr lang="en-US" dirty="0"/>
          </a:p>
          <a:p>
            <a:pPr marL="0" indent="0">
              <a:buNone/>
            </a:pPr>
            <a:r>
              <a:rPr lang="en-US" dirty="0"/>
              <a:t>Medical English relies heavily on specialized terminology, much of which originates from:</a:t>
            </a:r>
          </a:p>
          <a:p>
            <a:pPr lvl="0">
              <a:buFont typeface="Wingdings" panose="05000000000000000000" pitchFamily="2" charset="2"/>
              <a:buChar char="§"/>
            </a:pPr>
            <a:r>
              <a:rPr lang="en-US" dirty="0"/>
              <a:t>Greek (e.g., </a:t>
            </a:r>
            <a:r>
              <a:rPr lang="en-US" i="1" dirty="0"/>
              <a:t>cardiology</a:t>
            </a:r>
            <a:r>
              <a:rPr lang="en-US" dirty="0"/>
              <a:t>, </a:t>
            </a:r>
            <a:r>
              <a:rPr lang="en-US" i="1" dirty="0"/>
              <a:t>dermatology</a:t>
            </a:r>
            <a:r>
              <a:rPr lang="en-US" dirty="0"/>
              <a:t>)</a:t>
            </a:r>
          </a:p>
          <a:p>
            <a:pPr lvl="0">
              <a:buFont typeface="Wingdings" panose="05000000000000000000" pitchFamily="2" charset="2"/>
              <a:buChar char="§"/>
            </a:pPr>
            <a:r>
              <a:rPr lang="en-US" dirty="0"/>
              <a:t>Latin (e.g., </a:t>
            </a:r>
            <a:r>
              <a:rPr lang="en-US" i="1" dirty="0"/>
              <a:t>femur</a:t>
            </a:r>
            <a:r>
              <a:rPr lang="en-US" dirty="0"/>
              <a:t>, </a:t>
            </a:r>
            <a:r>
              <a:rPr lang="en-US" i="1" dirty="0"/>
              <a:t>abdomen</a:t>
            </a:r>
            <a:r>
              <a:rPr lang="en-US" dirty="0"/>
              <a:t>)</a:t>
            </a:r>
          </a:p>
          <a:p>
            <a:pPr marL="0" indent="0">
              <a:buNone/>
            </a:pPr>
            <a:r>
              <a:rPr lang="en-US" dirty="0"/>
              <a:t>Examples:</a:t>
            </a:r>
          </a:p>
          <a:p>
            <a:pPr marL="0" lvl="0" indent="0">
              <a:buNone/>
            </a:pPr>
            <a:r>
              <a:rPr lang="en-US" i="1" dirty="0"/>
              <a:t>Hypertension</a:t>
            </a:r>
            <a:r>
              <a:rPr lang="en-US" dirty="0"/>
              <a:t> – high blood pressure</a:t>
            </a:r>
          </a:p>
          <a:p>
            <a:pPr marL="0" lvl="0" indent="0">
              <a:buNone/>
            </a:pPr>
            <a:r>
              <a:rPr lang="en-US" i="1" dirty="0"/>
              <a:t>Diagnosis</a:t>
            </a:r>
            <a:r>
              <a:rPr lang="en-US" dirty="0"/>
              <a:t> – identification of a disease</a:t>
            </a:r>
          </a:p>
          <a:p>
            <a:pPr marL="0" lvl="0" indent="0">
              <a:buNone/>
            </a:pPr>
            <a:r>
              <a:rPr lang="en-US" i="1" dirty="0"/>
              <a:t>Prognosis</a:t>
            </a:r>
            <a:r>
              <a:rPr lang="en-US" dirty="0"/>
              <a:t> – predicted course of a disease</a:t>
            </a:r>
          </a:p>
          <a:p>
            <a:endParaRPr lang="en-US" dirty="0"/>
          </a:p>
          <a:p>
            <a:pPr marL="0" indent="0">
              <a:buNone/>
            </a:pPr>
            <a:endParaRPr lang="en-US" dirty="0"/>
          </a:p>
        </p:txBody>
      </p:sp>
    </p:spTree>
    <p:extLst>
      <p:ext uri="{BB962C8B-B14F-4D97-AF65-F5344CB8AC3E}">
        <p14:creationId xmlns:p14="http://schemas.microsoft.com/office/powerpoint/2010/main" val="186924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0983E-C860-C9CF-9F87-51DCA6EF3A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DE7C12-23CE-B117-D198-994AB31EEDA0}"/>
              </a:ext>
            </a:extLst>
          </p:cNvPr>
          <p:cNvSpPr>
            <a:spLocks noGrp="1"/>
          </p:cNvSpPr>
          <p:nvPr>
            <p:ph idx="1"/>
          </p:nvPr>
        </p:nvSpPr>
        <p:spPr>
          <a:xfrm>
            <a:off x="838200" y="1825624"/>
            <a:ext cx="10515600" cy="4879975"/>
          </a:xfrm>
        </p:spPr>
        <p:txBody>
          <a:bodyPr>
            <a:normAutofit/>
          </a:bodyPr>
          <a:lstStyle/>
          <a:p>
            <a:pPr marL="0" indent="0">
              <a:buNone/>
            </a:pPr>
            <a:r>
              <a:rPr lang="en-US" b="1" dirty="0"/>
              <a:t>2. Precision and Accuracy</a:t>
            </a:r>
            <a:endParaRPr lang="en-US" dirty="0"/>
          </a:p>
          <a:p>
            <a:pPr marL="0" indent="0">
              <a:buNone/>
            </a:pPr>
            <a:r>
              <a:rPr lang="en-US" dirty="0"/>
              <a:t>Medical English avoids ambiguity. A small linguistic error can lead to:</a:t>
            </a:r>
          </a:p>
          <a:p>
            <a:pPr lvl="0">
              <a:buFont typeface="Wingdings" panose="05000000000000000000" pitchFamily="2" charset="2"/>
              <a:buChar char="ü"/>
            </a:pPr>
            <a:r>
              <a:rPr lang="en-US" dirty="0"/>
              <a:t>Wrong diagnosis</a:t>
            </a:r>
          </a:p>
          <a:p>
            <a:pPr lvl="0">
              <a:buFont typeface="Wingdings" panose="05000000000000000000" pitchFamily="2" charset="2"/>
              <a:buChar char="ü"/>
            </a:pPr>
            <a:r>
              <a:rPr lang="en-US" dirty="0"/>
              <a:t>Incorrect treatment</a:t>
            </a:r>
          </a:p>
          <a:p>
            <a:pPr lvl="0">
              <a:buFont typeface="Wingdings" panose="05000000000000000000" pitchFamily="2" charset="2"/>
              <a:buChar char="ü"/>
            </a:pPr>
            <a:r>
              <a:rPr lang="en-US" dirty="0"/>
              <a:t>Legal consequences</a:t>
            </a:r>
          </a:p>
          <a:p>
            <a:pPr marL="0" indent="0">
              <a:buNone/>
            </a:pPr>
            <a:r>
              <a:rPr lang="en-US" dirty="0"/>
              <a:t>For example:</a:t>
            </a:r>
          </a:p>
          <a:p>
            <a:pPr marL="0" lvl="0" indent="0">
              <a:buNone/>
            </a:pPr>
            <a:r>
              <a:rPr lang="en-US" dirty="0"/>
              <a:t>“The patient </a:t>
            </a:r>
            <a:r>
              <a:rPr lang="en-US" b="1" dirty="0"/>
              <a:t>complains of</a:t>
            </a:r>
            <a:r>
              <a:rPr lang="en-US" dirty="0"/>
              <a:t> chest pain” is preferred to “The patient </a:t>
            </a:r>
            <a:r>
              <a:rPr lang="en-US" b="1" dirty="0"/>
              <a:t>has</a:t>
            </a:r>
            <a:r>
              <a:rPr lang="en-US" dirty="0"/>
              <a:t> chest pain,” because it reflects reported symptoms accurately.</a:t>
            </a:r>
          </a:p>
        </p:txBody>
      </p:sp>
    </p:spTree>
    <p:extLst>
      <p:ext uri="{BB962C8B-B14F-4D97-AF65-F5344CB8AC3E}">
        <p14:creationId xmlns:p14="http://schemas.microsoft.com/office/powerpoint/2010/main" val="145001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CE636-BEE6-6801-4093-340272B024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B281BE-0E69-50F2-254D-E031F57E6E1A}"/>
              </a:ext>
            </a:extLst>
          </p:cNvPr>
          <p:cNvSpPr>
            <a:spLocks noGrp="1"/>
          </p:cNvSpPr>
          <p:nvPr>
            <p:ph idx="1"/>
          </p:nvPr>
        </p:nvSpPr>
        <p:spPr>
          <a:xfrm>
            <a:off x="838200" y="1825625"/>
            <a:ext cx="10515600" cy="4897392"/>
          </a:xfrm>
        </p:spPr>
        <p:txBody>
          <a:bodyPr>
            <a:normAutofit/>
          </a:bodyPr>
          <a:lstStyle/>
          <a:p>
            <a:pPr marL="0" indent="0">
              <a:buNone/>
            </a:pPr>
            <a:r>
              <a:rPr lang="en-US" b="1" dirty="0"/>
              <a:t>3 Formal and Objective Tone</a:t>
            </a:r>
            <a:endParaRPr lang="en-US" dirty="0"/>
          </a:p>
          <a:p>
            <a:r>
              <a:rPr lang="en-US" dirty="0"/>
              <a:t>Medical English is typically:</a:t>
            </a:r>
          </a:p>
          <a:p>
            <a:pPr lvl="0"/>
            <a:r>
              <a:rPr lang="en-US" dirty="0"/>
              <a:t>Impersonal</a:t>
            </a:r>
          </a:p>
          <a:p>
            <a:pPr lvl="0"/>
            <a:r>
              <a:rPr lang="en-US" dirty="0"/>
              <a:t>Objective</a:t>
            </a:r>
          </a:p>
          <a:p>
            <a:pPr lvl="0"/>
            <a:r>
              <a:rPr lang="en-US" dirty="0"/>
              <a:t>Evidence-based</a:t>
            </a:r>
          </a:p>
          <a:p>
            <a:endParaRPr lang="en-US" dirty="0"/>
          </a:p>
          <a:p>
            <a:pPr lvl="0"/>
            <a:r>
              <a:rPr lang="en-US" dirty="0"/>
              <a:t>Informal: </a:t>
            </a:r>
            <a:r>
              <a:rPr lang="en-US" i="1" dirty="0"/>
              <a:t>“The patient feels very sick.”</a:t>
            </a:r>
            <a:endParaRPr lang="en-US" dirty="0"/>
          </a:p>
          <a:p>
            <a:pPr lvl="0"/>
            <a:r>
              <a:rPr lang="en-US" dirty="0"/>
              <a:t>Medical English: </a:t>
            </a:r>
            <a:r>
              <a:rPr lang="en-US" i="1" dirty="0"/>
              <a:t>“The patient presents with severe nausea and weakness.”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2714667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C2F996-6004-37D8-BA98-38E21028A6DE}"/>
              </a:ext>
            </a:extLst>
          </p:cNvPr>
          <p:cNvSpPr>
            <a:spLocks noGrp="1"/>
          </p:cNvSpPr>
          <p:nvPr>
            <p:ph type="title"/>
          </p:nvPr>
        </p:nvSpPr>
        <p:spPr/>
        <p:txBody>
          <a:bodyPr/>
          <a:lstStyle/>
          <a:p>
            <a:r>
              <a:rPr lang="en-US" dirty="0"/>
              <a:t>4. C</a:t>
            </a:r>
            <a:r>
              <a:rPr lang="en-US" b="1" dirty="0"/>
              <a:t>ommon Prefixes and Suffixes</a:t>
            </a:r>
            <a:br>
              <a:rPr lang="en-US" dirty="0"/>
            </a:br>
            <a:endParaRPr lang="en-US" dirty="0"/>
          </a:p>
        </p:txBody>
      </p:sp>
      <p:graphicFrame>
        <p:nvGraphicFramePr>
          <p:cNvPr id="7" name="Content Placeholder 6">
            <a:extLst>
              <a:ext uri="{FF2B5EF4-FFF2-40B4-BE49-F238E27FC236}">
                <a16:creationId xmlns:a16="http://schemas.microsoft.com/office/drawing/2014/main" id="{0A04F427-51E7-D7D9-3022-30CFEAD1B653}"/>
              </a:ext>
            </a:extLst>
          </p:cNvPr>
          <p:cNvGraphicFramePr>
            <a:graphicFrameLocks noGrp="1"/>
          </p:cNvGraphicFramePr>
          <p:nvPr>
            <p:ph idx="1"/>
          </p:nvPr>
        </p:nvGraphicFramePr>
        <p:xfrm>
          <a:off x="838200" y="3093052"/>
          <a:ext cx="10515600" cy="1820291"/>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3614250495"/>
                    </a:ext>
                  </a:extLst>
                </a:gridCol>
                <a:gridCol w="3505200">
                  <a:extLst>
                    <a:ext uri="{9D8B030D-6E8A-4147-A177-3AD203B41FA5}">
                      <a16:colId xmlns:a16="http://schemas.microsoft.com/office/drawing/2014/main" val="1357102411"/>
                    </a:ext>
                  </a:extLst>
                </a:gridCol>
                <a:gridCol w="3505200">
                  <a:extLst>
                    <a:ext uri="{9D8B030D-6E8A-4147-A177-3AD203B41FA5}">
                      <a16:colId xmlns:a16="http://schemas.microsoft.com/office/drawing/2014/main" val="4194315718"/>
                    </a:ext>
                  </a:extLst>
                </a:gridCol>
              </a:tblGrid>
              <a:tr h="0">
                <a:tc>
                  <a:txBody>
                    <a:bodyPr/>
                    <a:lstStyle/>
                    <a:p>
                      <a:pPr marL="0" marR="0">
                        <a:lnSpc>
                          <a:spcPct val="200000"/>
                        </a:lnSpc>
                        <a:spcAft>
                          <a:spcPts val="800"/>
                        </a:spcAft>
                        <a:buNone/>
                      </a:pPr>
                      <a:r>
                        <a:rPr lang="en-US" sz="1200" kern="100">
                          <a:effectLst/>
                        </a:rPr>
                        <a:t>Prefix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1200" kern="100">
                          <a:effectLst/>
                        </a:rPr>
                        <a:t>Meaning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1200" kern="100">
                          <a:effectLst/>
                        </a:rPr>
                        <a:t>Example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1849549625"/>
                  </a:ext>
                </a:extLst>
              </a:tr>
              <a:tr h="0">
                <a:tc>
                  <a:txBody>
                    <a:bodyPr/>
                    <a:lstStyle/>
                    <a:p>
                      <a:pPr marL="0" marR="0">
                        <a:lnSpc>
                          <a:spcPct val="200000"/>
                        </a:lnSpc>
                        <a:spcAft>
                          <a:spcPts val="800"/>
                        </a:spcAft>
                        <a:buNone/>
                      </a:pPr>
                      <a:r>
                        <a:rPr lang="en-US" sz="1200" kern="100">
                          <a:effectLst/>
                        </a:rPr>
                        <a:t>hyper-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1200" kern="100">
                          <a:effectLst/>
                        </a:rPr>
                        <a:t>over/excessive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1200" kern="100">
                          <a:effectLst/>
                        </a:rPr>
                        <a:t>hypertension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3416350479"/>
                  </a:ext>
                </a:extLst>
              </a:tr>
              <a:tr h="0">
                <a:tc>
                  <a:txBody>
                    <a:bodyPr/>
                    <a:lstStyle/>
                    <a:p>
                      <a:pPr marL="0" marR="0">
                        <a:lnSpc>
                          <a:spcPct val="200000"/>
                        </a:lnSpc>
                        <a:spcAft>
                          <a:spcPts val="800"/>
                        </a:spcAft>
                        <a:buNone/>
                      </a:pPr>
                      <a:r>
                        <a:rPr lang="en-US" sz="1200" kern="100">
                          <a:effectLst/>
                        </a:rPr>
                        <a:t>hypo-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1200" kern="100">
                          <a:effectLst/>
                        </a:rPr>
                        <a:t>under/low</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1200" kern="100">
                          <a:effectLst/>
                        </a:rPr>
                        <a:t>hypothermia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104175751"/>
                  </a:ext>
                </a:extLst>
              </a:tr>
              <a:tr h="0">
                <a:tc>
                  <a:txBody>
                    <a:bodyPr/>
                    <a:lstStyle/>
                    <a:p>
                      <a:pPr marL="0" marR="0">
                        <a:lnSpc>
                          <a:spcPct val="200000"/>
                        </a:lnSpc>
                        <a:spcAft>
                          <a:spcPts val="800"/>
                        </a:spcAft>
                        <a:buNone/>
                      </a:pPr>
                      <a:r>
                        <a:rPr lang="en-US" sz="1200" kern="100">
                          <a:effectLst/>
                        </a:rPr>
                        <a:t>brady-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tc>
                  <a:txBody>
                    <a:bodyPr/>
                    <a:lstStyle/>
                    <a:p>
                      <a:pPr marL="0" marR="0">
                        <a:lnSpc>
                          <a:spcPct val="200000"/>
                        </a:lnSpc>
                        <a:spcAft>
                          <a:spcPts val="800"/>
                        </a:spcAft>
                        <a:buNone/>
                      </a:pPr>
                      <a:r>
                        <a:rPr lang="en-US" sz="1200" kern="100">
                          <a:effectLst/>
                        </a:rPr>
                        <a:t>slow</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tc>
                  <a:txBody>
                    <a:bodyPr/>
                    <a:lstStyle/>
                    <a:p>
                      <a:pPr marL="0" marR="0">
                        <a:lnSpc>
                          <a:spcPct val="200000"/>
                        </a:lnSpc>
                        <a:spcAft>
                          <a:spcPts val="800"/>
                        </a:spcAft>
                        <a:buNone/>
                      </a:pPr>
                      <a:r>
                        <a:rPr lang="en-US" sz="1200" kern="100">
                          <a:effectLst/>
                        </a:rPr>
                        <a:t>bradycardia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extLst>
                  <a:ext uri="{0D108BD9-81ED-4DB2-BD59-A6C34878D82A}">
                    <a16:rowId xmlns:a16="http://schemas.microsoft.com/office/drawing/2014/main" val="2696524860"/>
                  </a:ext>
                </a:extLst>
              </a:tr>
            </a:tbl>
          </a:graphicData>
        </a:graphic>
      </p:graphicFrame>
      <p:graphicFrame>
        <p:nvGraphicFramePr>
          <p:cNvPr id="8" name="Table 7">
            <a:extLst>
              <a:ext uri="{FF2B5EF4-FFF2-40B4-BE49-F238E27FC236}">
                <a16:creationId xmlns:a16="http://schemas.microsoft.com/office/drawing/2014/main" id="{11FE4FFB-98BA-C17F-A20F-560ED5772EFF}"/>
              </a:ext>
            </a:extLst>
          </p:cNvPr>
          <p:cNvGraphicFramePr>
            <a:graphicFrameLocks noGrp="1"/>
          </p:cNvGraphicFramePr>
          <p:nvPr>
            <p:extLst>
              <p:ext uri="{D42A27DB-BD31-4B8C-83A1-F6EECF244321}">
                <p14:modId xmlns:p14="http://schemas.microsoft.com/office/powerpoint/2010/main" val="3346364521"/>
              </p:ext>
            </p:extLst>
          </p:nvPr>
        </p:nvGraphicFramePr>
        <p:xfrm>
          <a:off x="374468" y="1690687"/>
          <a:ext cx="11564982" cy="4802187"/>
        </p:xfrm>
        <a:graphic>
          <a:graphicData uri="http://schemas.openxmlformats.org/drawingml/2006/table">
            <a:tbl>
              <a:tblPr firstRow="1" firstCol="1" bandRow="1">
                <a:tableStyleId>{5C22544A-7EE6-4342-B048-85BDC9FD1C3A}</a:tableStyleId>
              </a:tblPr>
              <a:tblGrid>
                <a:gridCol w="3854994">
                  <a:extLst>
                    <a:ext uri="{9D8B030D-6E8A-4147-A177-3AD203B41FA5}">
                      <a16:colId xmlns:a16="http://schemas.microsoft.com/office/drawing/2014/main" val="2944164898"/>
                    </a:ext>
                  </a:extLst>
                </a:gridCol>
                <a:gridCol w="3854994">
                  <a:extLst>
                    <a:ext uri="{9D8B030D-6E8A-4147-A177-3AD203B41FA5}">
                      <a16:colId xmlns:a16="http://schemas.microsoft.com/office/drawing/2014/main" val="3445515086"/>
                    </a:ext>
                  </a:extLst>
                </a:gridCol>
                <a:gridCol w="3854994">
                  <a:extLst>
                    <a:ext uri="{9D8B030D-6E8A-4147-A177-3AD203B41FA5}">
                      <a16:colId xmlns:a16="http://schemas.microsoft.com/office/drawing/2014/main" val="3453584303"/>
                    </a:ext>
                  </a:extLst>
                </a:gridCol>
              </a:tblGrid>
              <a:tr h="1206829">
                <a:tc>
                  <a:txBody>
                    <a:bodyPr/>
                    <a:lstStyle/>
                    <a:p>
                      <a:pPr marL="0" marR="0">
                        <a:lnSpc>
                          <a:spcPct val="200000"/>
                        </a:lnSpc>
                        <a:spcAft>
                          <a:spcPts val="800"/>
                        </a:spcAft>
                        <a:buNone/>
                      </a:pPr>
                      <a:r>
                        <a:rPr lang="en-US" sz="2400" kern="100" dirty="0">
                          <a:effectLst/>
                        </a:rPr>
                        <a:t>Suffix</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2400" kern="100" dirty="0">
                          <a:effectLst/>
                        </a:rPr>
                        <a:t>Meaning</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2400" kern="100">
                          <a:effectLst/>
                        </a:rPr>
                        <a:t>Example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3699650090"/>
                  </a:ext>
                </a:extLst>
              </a:tr>
              <a:tr h="1206829">
                <a:tc>
                  <a:txBody>
                    <a:bodyPr/>
                    <a:lstStyle/>
                    <a:p>
                      <a:pPr marL="0" marR="0">
                        <a:lnSpc>
                          <a:spcPct val="200000"/>
                        </a:lnSpc>
                        <a:spcAft>
                          <a:spcPts val="800"/>
                        </a:spcAft>
                        <a:buNone/>
                      </a:pPr>
                      <a:r>
                        <a:rPr lang="en-US" sz="2400" kern="100">
                          <a:effectLst/>
                        </a:rPr>
                        <a:t>-itis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2400" kern="100" dirty="0">
                          <a:effectLst/>
                        </a:rPr>
                        <a:t>inflammation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2400" kern="100">
                          <a:effectLst/>
                        </a:rPr>
                        <a:t>arthritis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2972378641"/>
                  </a:ext>
                </a:extLst>
              </a:tr>
              <a:tr h="1206829">
                <a:tc>
                  <a:txBody>
                    <a:bodyPr/>
                    <a:lstStyle/>
                    <a:p>
                      <a:pPr marL="0" marR="0">
                        <a:lnSpc>
                          <a:spcPct val="200000"/>
                        </a:lnSpc>
                        <a:spcAft>
                          <a:spcPts val="800"/>
                        </a:spcAft>
                        <a:buNone/>
                      </a:pPr>
                      <a:r>
                        <a:rPr lang="en-US" sz="2400" kern="100">
                          <a:effectLst/>
                        </a:rPr>
                        <a:t>-ectomy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2400" kern="100" dirty="0">
                          <a:effectLst/>
                        </a:rPr>
                        <a:t>surgical removal</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2400" kern="100" dirty="0">
                          <a:effectLst/>
                        </a:rPr>
                        <a:t>appendectomy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3322974688"/>
                  </a:ext>
                </a:extLst>
              </a:tr>
              <a:tr h="1181700">
                <a:tc>
                  <a:txBody>
                    <a:bodyPr/>
                    <a:lstStyle/>
                    <a:p>
                      <a:pPr marL="0" marR="0">
                        <a:lnSpc>
                          <a:spcPct val="200000"/>
                        </a:lnSpc>
                        <a:spcAft>
                          <a:spcPts val="800"/>
                        </a:spcAft>
                        <a:buNone/>
                      </a:pPr>
                      <a:r>
                        <a:rPr lang="en-US" sz="2400" kern="100">
                          <a:effectLst/>
                        </a:rPr>
                        <a:t>-osis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tc>
                  <a:txBody>
                    <a:bodyPr/>
                    <a:lstStyle/>
                    <a:p>
                      <a:pPr marL="0" marR="0">
                        <a:lnSpc>
                          <a:spcPct val="200000"/>
                        </a:lnSpc>
                        <a:spcAft>
                          <a:spcPts val="800"/>
                        </a:spcAft>
                        <a:buNone/>
                      </a:pPr>
                      <a:r>
                        <a:rPr lang="en-US" sz="2400" kern="100">
                          <a:effectLst/>
                        </a:rPr>
                        <a:t>disease/condition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tc>
                  <a:txBody>
                    <a:bodyPr/>
                    <a:lstStyle/>
                    <a:p>
                      <a:pPr marL="0" marR="0">
                        <a:lnSpc>
                          <a:spcPct val="200000"/>
                        </a:lnSpc>
                        <a:spcAft>
                          <a:spcPts val="800"/>
                        </a:spcAft>
                        <a:buNone/>
                      </a:pPr>
                      <a:r>
                        <a:rPr lang="en-US" sz="2400" kern="100" dirty="0">
                          <a:effectLst/>
                        </a:rPr>
                        <a:t>tuberculosis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extLst>
                  <a:ext uri="{0D108BD9-81ED-4DB2-BD59-A6C34878D82A}">
                    <a16:rowId xmlns:a16="http://schemas.microsoft.com/office/drawing/2014/main" val="4257644143"/>
                  </a:ext>
                </a:extLst>
              </a:tr>
            </a:tbl>
          </a:graphicData>
        </a:graphic>
      </p:graphicFrame>
      <p:sp>
        <p:nvSpPr>
          <p:cNvPr id="9" name="Rectangle 1">
            <a:extLst>
              <a:ext uri="{FF2B5EF4-FFF2-40B4-BE49-F238E27FC236}">
                <a16:creationId xmlns:a16="http://schemas.microsoft.com/office/drawing/2014/main" id="{C03B5695-559F-60D9-F34A-3E6C3E629325}"/>
              </a:ext>
            </a:extLst>
          </p:cNvPr>
          <p:cNvSpPr>
            <a:spLocks noChangeArrowheads="1"/>
          </p:cNvSpPr>
          <p:nvPr/>
        </p:nvSpPr>
        <p:spPr bwMode="auto">
          <a:xfrm>
            <a:off x="-537658" y="0"/>
            <a:ext cx="1340867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712788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A23A-C0C6-5BD8-C8FA-488E66C1FA60}"/>
              </a:ext>
            </a:extLst>
          </p:cNvPr>
          <p:cNvSpPr>
            <a:spLocks noGrp="1"/>
          </p:cNvSpPr>
          <p:nvPr>
            <p:ph type="title"/>
          </p:nvPr>
        </p:nvSpPr>
        <p:spPr/>
        <p:txBody>
          <a:bodyPr/>
          <a:lstStyle/>
          <a:p>
            <a:endParaRPr lang="en-US" dirty="0"/>
          </a:p>
        </p:txBody>
      </p:sp>
      <p:graphicFrame>
        <p:nvGraphicFramePr>
          <p:cNvPr id="4" name="Content Placeholder 3">
            <a:extLst>
              <a:ext uri="{FF2B5EF4-FFF2-40B4-BE49-F238E27FC236}">
                <a16:creationId xmlns:a16="http://schemas.microsoft.com/office/drawing/2014/main" id="{96DA15C6-E29E-D5A5-1F6C-10470211BCB9}"/>
              </a:ext>
            </a:extLst>
          </p:cNvPr>
          <p:cNvGraphicFramePr>
            <a:graphicFrameLocks noGrp="1"/>
          </p:cNvGraphicFramePr>
          <p:nvPr>
            <p:ph idx="1"/>
            <p:extLst>
              <p:ext uri="{D42A27DB-BD31-4B8C-83A1-F6EECF244321}">
                <p14:modId xmlns:p14="http://schemas.microsoft.com/office/powerpoint/2010/main" val="987327089"/>
              </p:ext>
            </p:extLst>
          </p:nvPr>
        </p:nvGraphicFramePr>
        <p:xfrm>
          <a:off x="287383" y="1793966"/>
          <a:ext cx="11669487" cy="4876801"/>
        </p:xfrm>
        <a:graphic>
          <a:graphicData uri="http://schemas.openxmlformats.org/drawingml/2006/table">
            <a:tbl>
              <a:tblPr firstRow="1" firstCol="1" bandRow="1">
                <a:tableStyleId>{5C22544A-7EE6-4342-B048-85BDC9FD1C3A}</a:tableStyleId>
              </a:tblPr>
              <a:tblGrid>
                <a:gridCol w="3889829">
                  <a:extLst>
                    <a:ext uri="{9D8B030D-6E8A-4147-A177-3AD203B41FA5}">
                      <a16:colId xmlns:a16="http://schemas.microsoft.com/office/drawing/2014/main" val="1847292355"/>
                    </a:ext>
                  </a:extLst>
                </a:gridCol>
                <a:gridCol w="3889829">
                  <a:extLst>
                    <a:ext uri="{9D8B030D-6E8A-4147-A177-3AD203B41FA5}">
                      <a16:colId xmlns:a16="http://schemas.microsoft.com/office/drawing/2014/main" val="1316589635"/>
                    </a:ext>
                  </a:extLst>
                </a:gridCol>
                <a:gridCol w="3889829">
                  <a:extLst>
                    <a:ext uri="{9D8B030D-6E8A-4147-A177-3AD203B41FA5}">
                      <a16:colId xmlns:a16="http://schemas.microsoft.com/office/drawing/2014/main" val="526493931"/>
                    </a:ext>
                  </a:extLst>
                </a:gridCol>
              </a:tblGrid>
              <a:tr h="1225580">
                <a:tc>
                  <a:txBody>
                    <a:bodyPr/>
                    <a:lstStyle/>
                    <a:p>
                      <a:pPr marL="0" marR="0">
                        <a:lnSpc>
                          <a:spcPct val="200000"/>
                        </a:lnSpc>
                        <a:spcAft>
                          <a:spcPts val="800"/>
                        </a:spcAft>
                        <a:buNone/>
                      </a:pPr>
                      <a:r>
                        <a:rPr lang="en-US" sz="3200" kern="100" dirty="0">
                          <a:effectLst/>
                        </a:rPr>
                        <a:t>Prefix</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3200" kern="100">
                          <a:effectLst/>
                        </a:rPr>
                        <a:t>Meaning</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3200" kern="100">
                          <a:effectLst/>
                        </a:rPr>
                        <a:t>Example</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3700197610"/>
                  </a:ext>
                </a:extLst>
              </a:tr>
              <a:tr h="1225580">
                <a:tc>
                  <a:txBody>
                    <a:bodyPr/>
                    <a:lstStyle/>
                    <a:p>
                      <a:pPr marL="0" marR="0">
                        <a:lnSpc>
                          <a:spcPct val="200000"/>
                        </a:lnSpc>
                        <a:spcAft>
                          <a:spcPts val="800"/>
                        </a:spcAft>
                        <a:buNone/>
                      </a:pPr>
                      <a:r>
                        <a:rPr lang="en-US" sz="3200" kern="100" dirty="0">
                          <a:effectLst/>
                        </a:rPr>
                        <a:t>hyper-</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3200" kern="100">
                          <a:effectLst/>
                        </a:rPr>
                        <a:t>over/excessive</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3200" kern="100" dirty="0">
                          <a:effectLst/>
                        </a:rPr>
                        <a:t>hypertension</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1367766130"/>
                  </a:ext>
                </a:extLst>
              </a:tr>
              <a:tr h="1225580">
                <a:tc>
                  <a:txBody>
                    <a:bodyPr/>
                    <a:lstStyle/>
                    <a:p>
                      <a:pPr marL="0" marR="0">
                        <a:lnSpc>
                          <a:spcPct val="200000"/>
                        </a:lnSpc>
                        <a:spcAft>
                          <a:spcPts val="800"/>
                        </a:spcAft>
                        <a:buNone/>
                      </a:pPr>
                      <a:r>
                        <a:rPr lang="en-US" sz="3200" kern="100">
                          <a:effectLst/>
                        </a:rPr>
                        <a:t>hypo-</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3200" kern="100" dirty="0">
                          <a:effectLst/>
                        </a:rPr>
                        <a:t>under/low</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tc>
                  <a:txBody>
                    <a:bodyPr/>
                    <a:lstStyle/>
                    <a:p>
                      <a:pPr marL="0" marR="0">
                        <a:lnSpc>
                          <a:spcPct val="200000"/>
                        </a:lnSpc>
                        <a:spcAft>
                          <a:spcPts val="800"/>
                        </a:spcAft>
                        <a:buNone/>
                      </a:pPr>
                      <a:r>
                        <a:rPr lang="en-US" sz="3200" kern="100">
                          <a:effectLst/>
                        </a:rPr>
                        <a:t>hypothermia</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66675"/>
                </a:tc>
                <a:extLst>
                  <a:ext uri="{0D108BD9-81ED-4DB2-BD59-A6C34878D82A}">
                    <a16:rowId xmlns:a16="http://schemas.microsoft.com/office/drawing/2014/main" val="24517691"/>
                  </a:ext>
                </a:extLst>
              </a:tr>
              <a:tr h="1200061">
                <a:tc>
                  <a:txBody>
                    <a:bodyPr/>
                    <a:lstStyle/>
                    <a:p>
                      <a:pPr marL="0" marR="0">
                        <a:lnSpc>
                          <a:spcPct val="200000"/>
                        </a:lnSpc>
                        <a:spcAft>
                          <a:spcPts val="800"/>
                        </a:spcAft>
                        <a:buNone/>
                      </a:pPr>
                      <a:r>
                        <a:rPr lang="en-US" sz="3200" kern="100">
                          <a:effectLst/>
                        </a:rPr>
                        <a:t>brady-</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tc>
                  <a:txBody>
                    <a:bodyPr/>
                    <a:lstStyle/>
                    <a:p>
                      <a:pPr marL="0" marR="0">
                        <a:lnSpc>
                          <a:spcPct val="200000"/>
                        </a:lnSpc>
                        <a:spcAft>
                          <a:spcPts val="800"/>
                        </a:spcAft>
                        <a:buNone/>
                      </a:pPr>
                      <a:r>
                        <a:rPr lang="en-US" sz="3200" kern="100">
                          <a:effectLst/>
                        </a:rPr>
                        <a:t>slow</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tc>
                  <a:txBody>
                    <a:bodyPr/>
                    <a:lstStyle/>
                    <a:p>
                      <a:pPr marL="0" marR="0">
                        <a:lnSpc>
                          <a:spcPct val="200000"/>
                        </a:lnSpc>
                        <a:spcAft>
                          <a:spcPts val="800"/>
                        </a:spcAft>
                        <a:buNone/>
                      </a:pPr>
                      <a:r>
                        <a:rPr lang="en-US" sz="3200" kern="100" dirty="0">
                          <a:effectLst/>
                        </a:rPr>
                        <a:t>bradycardia</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76200" marT="76200" marB="57150"/>
                </a:tc>
                <a:extLst>
                  <a:ext uri="{0D108BD9-81ED-4DB2-BD59-A6C34878D82A}">
                    <a16:rowId xmlns:a16="http://schemas.microsoft.com/office/drawing/2014/main" val="3249541317"/>
                  </a:ext>
                </a:extLst>
              </a:tr>
            </a:tbl>
          </a:graphicData>
        </a:graphic>
      </p:graphicFrame>
    </p:spTree>
    <p:extLst>
      <p:ext uri="{BB962C8B-B14F-4D97-AF65-F5344CB8AC3E}">
        <p14:creationId xmlns:p14="http://schemas.microsoft.com/office/powerpoint/2010/main" val="26032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39118-0B07-371E-9A86-50E8FB75D534}"/>
              </a:ext>
            </a:extLst>
          </p:cNvPr>
          <p:cNvSpPr>
            <a:spLocks noGrp="1"/>
          </p:cNvSpPr>
          <p:nvPr>
            <p:ph type="title"/>
          </p:nvPr>
        </p:nvSpPr>
        <p:spPr/>
        <p:txBody>
          <a:bodyPr/>
          <a:lstStyle/>
          <a:p>
            <a:r>
              <a:rPr lang="en-US" b="1" dirty="0"/>
              <a:t>GENERAL ENGLISH AND ACADEMIC ENGLISH</a:t>
            </a:r>
            <a:br>
              <a:rPr lang="en-US" dirty="0"/>
            </a:br>
            <a:endParaRPr lang="en-US" dirty="0"/>
          </a:p>
        </p:txBody>
      </p:sp>
      <p:sp>
        <p:nvSpPr>
          <p:cNvPr id="3" name="Content Placeholder 2">
            <a:extLst>
              <a:ext uri="{FF2B5EF4-FFF2-40B4-BE49-F238E27FC236}">
                <a16:creationId xmlns:a16="http://schemas.microsoft.com/office/drawing/2014/main" id="{626D6066-BDF0-EFA1-E4B9-0A313CD76635}"/>
              </a:ext>
            </a:extLst>
          </p:cNvPr>
          <p:cNvSpPr>
            <a:spLocks noGrp="1"/>
          </p:cNvSpPr>
          <p:nvPr>
            <p:ph idx="1"/>
          </p:nvPr>
        </p:nvSpPr>
        <p:spPr>
          <a:xfrm>
            <a:off x="838200" y="1825624"/>
            <a:ext cx="10515600" cy="4784181"/>
          </a:xfrm>
        </p:spPr>
        <p:txBody>
          <a:bodyPr>
            <a:normAutofit lnSpcReduction="10000"/>
          </a:bodyPr>
          <a:lstStyle/>
          <a:p>
            <a:pPr marL="0" indent="0">
              <a:buNone/>
            </a:pPr>
            <a:r>
              <a:rPr lang="en-US" b="1" dirty="0"/>
              <a:t> General English</a:t>
            </a:r>
            <a:endParaRPr lang="en-US" dirty="0"/>
          </a:p>
          <a:p>
            <a:pPr>
              <a:buFont typeface="Wingdings" panose="05000000000000000000" pitchFamily="2" charset="2"/>
              <a:buChar char="§"/>
            </a:pPr>
            <a:r>
              <a:rPr lang="en-US" dirty="0"/>
              <a:t>General English (GE</a:t>
            </a:r>
            <a:r>
              <a:rPr lang="en-US" b="1" dirty="0"/>
              <a:t>)</a:t>
            </a:r>
            <a:r>
              <a:rPr lang="en-US" dirty="0"/>
              <a:t>—also referred to as English for General Purposes </a:t>
            </a:r>
            <a:r>
              <a:rPr lang="en-US" b="1" dirty="0"/>
              <a:t>(EGP)</a:t>
            </a:r>
            <a:r>
              <a:rPr lang="en-US" dirty="0"/>
              <a:t>—is the type of English taught and learned for everyday</a:t>
            </a:r>
            <a:r>
              <a:rPr lang="en-US" b="1" dirty="0"/>
              <a:t> </a:t>
            </a:r>
            <a:r>
              <a:rPr lang="en-US" dirty="0"/>
              <a:t>communication rather than for any specialized or professional purpose. </a:t>
            </a:r>
          </a:p>
          <a:p>
            <a:pPr>
              <a:buFont typeface="Wingdings" panose="05000000000000000000" pitchFamily="2" charset="2"/>
              <a:buChar char="§"/>
            </a:pPr>
            <a:r>
              <a:rPr lang="en-US" dirty="0"/>
              <a:t>It focuses on building overall communicative competence in the language. </a:t>
            </a:r>
          </a:p>
          <a:p>
            <a:r>
              <a:rPr lang="en-US" dirty="0"/>
              <a:t>General English is commonly taught:</a:t>
            </a:r>
          </a:p>
          <a:p>
            <a:pPr lvl="0"/>
            <a:r>
              <a:rPr lang="en-US" dirty="0"/>
              <a:t>In basic and secondary schools</a:t>
            </a:r>
          </a:p>
          <a:p>
            <a:pPr lvl="0"/>
            <a:r>
              <a:rPr lang="en-US" dirty="0"/>
              <a:t>In language institutes</a:t>
            </a:r>
          </a:p>
          <a:p>
            <a:pPr lvl="0"/>
            <a:r>
              <a:rPr lang="en-US" dirty="0"/>
              <a:t>To beginners, intermediate, and advanced learners</a:t>
            </a:r>
          </a:p>
          <a:p>
            <a:pPr marL="0" indent="0">
              <a:buNone/>
            </a:pPr>
            <a:endParaRPr lang="en-US" dirty="0"/>
          </a:p>
          <a:p>
            <a:endParaRPr lang="en-US" dirty="0"/>
          </a:p>
        </p:txBody>
      </p:sp>
    </p:spTree>
    <p:extLst>
      <p:ext uri="{BB962C8B-B14F-4D97-AF65-F5344CB8AC3E}">
        <p14:creationId xmlns:p14="http://schemas.microsoft.com/office/powerpoint/2010/main" val="1170876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5501-7856-DB6E-491D-A089B23CF229}"/>
              </a:ext>
            </a:extLst>
          </p:cNvPr>
          <p:cNvSpPr>
            <a:spLocks noGrp="1"/>
          </p:cNvSpPr>
          <p:nvPr>
            <p:ph type="title"/>
          </p:nvPr>
        </p:nvSpPr>
        <p:spPr/>
        <p:txBody>
          <a:bodyPr/>
          <a:lstStyle/>
          <a:p>
            <a:r>
              <a:rPr lang="en-US" b="1" dirty="0"/>
              <a:t> Academic English</a:t>
            </a:r>
            <a:br>
              <a:rPr lang="en-US" dirty="0"/>
            </a:br>
            <a:endParaRPr lang="en-US" dirty="0"/>
          </a:p>
        </p:txBody>
      </p:sp>
      <p:sp>
        <p:nvSpPr>
          <p:cNvPr id="3" name="Content Placeholder 2">
            <a:extLst>
              <a:ext uri="{FF2B5EF4-FFF2-40B4-BE49-F238E27FC236}">
                <a16:creationId xmlns:a16="http://schemas.microsoft.com/office/drawing/2014/main" id="{A1601271-4181-C1AD-A614-BBAFAB6F503C}"/>
              </a:ext>
            </a:extLst>
          </p:cNvPr>
          <p:cNvSpPr>
            <a:spLocks noGrp="1"/>
          </p:cNvSpPr>
          <p:nvPr>
            <p:ph idx="1"/>
          </p:nvPr>
        </p:nvSpPr>
        <p:spPr/>
        <p:txBody>
          <a:bodyPr>
            <a:normAutofit lnSpcReduction="10000"/>
          </a:bodyPr>
          <a:lstStyle/>
          <a:p>
            <a:pPr>
              <a:buFont typeface="Wingdings" panose="05000000000000000000" pitchFamily="2" charset="2"/>
              <a:buChar char="§"/>
            </a:pPr>
            <a:r>
              <a:rPr lang="en-US" dirty="0"/>
              <a:t>Academic English refers to the form of English used in educational and scholarly contexts, especially in universities.</a:t>
            </a:r>
          </a:p>
          <a:p>
            <a:pPr marL="0" indent="0">
              <a:buNone/>
            </a:pPr>
            <a:r>
              <a:rPr lang="en-US" dirty="0"/>
              <a:t> </a:t>
            </a:r>
          </a:p>
          <a:p>
            <a:pPr>
              <a:buFont typeface="Wingdings" panose="05000000000000000000" pitchFamily="2" charset="2"/>
              <a:buChar char="§"/>
            </a:pPr>
            <a:r>
              <a:rPr lang="en-US" dirty="0"/>
              <a:t>It is the language required to study, teach, research, and communicate knowledge academically. </a:t>
            </a:r>
          </a:p>
          <a:p>
            <a:pPr>
              <a:buFont typeface="Wingdings" panose="05000000000000000000" pitchFamily="2" charset="2"/>
              <a:buChar char="§"/>
            </a:pPr>
            <a:endParaRPr lang="en-US" dirty="0"/>
          </a:p>
          <a:p>
            <a:pPr>
              <a:buFont typeface="Wingdings" panose="05000000000000000000" pitchFamily="2" charset="2"/>
              <a:buChar char="§"/>
            </a:pPr>
            <a:r>
              <a:rPr lang="en-US" dirty="0"/>
              <a:t>Academic English is closely associated with </a:t>
            </a:r>
            <a:r>
              <a:rPr lang="en-US" b="1" dirty="0"/>
              <a:t>English for Academic Purposes (EAP)</a:t>
            </a:r>
            <a:r>
              <a:rPr lang="en-US" dirty="0"/>
              <a:t>—a recognized branch of English for Specific Purposes (ESP).</a:t>
            </a:r>
            <a:br>
              <a:rPr lang="en-US" dirty="0"/>
            </a:br>
            <a:endParaRPr lang="en-US" dirty="0"/>
          </a:p>
          <a:p>
            <a:endParaRPr lang="en-US" dirty="0"/>
          </a:p>
        </p:txBody>
      </p:sp>
    </p:spTree>
    <p:extLst>
      <p:ext uri="{BB962C8B-B14F-4D97-AF65-F5344CB8AC3E}">
        <p14:creationId xmlns:p14="http://schemas.microsoft.com/office/powerpoint/2010/main" val="376542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AF778-BD71-D2AD-4AAD-DE342EB64C81}"/>
              </a:ext>
            </a:extLst>
          </p:cNvPr>
          <p:cNvSpPr>
            <a:spLocks noGrp="1"/>
          </p:cNvSpPr>
          <p:nvPr>
            <p:ph type="title"/>
          </p:nvPr>
        </p:nvSpPr>
        <p:spPr/>
        <p:txBody>
          <a:bodyPr/>
          <a:lstStyle/>
          <a:p>
            <a:r>
              <a:rPr lang="en-US" b="1" dirty="0"/>
              <a:t> Characteristics of Academic English</a:t>
            </a:r>
            <a:br>
              <a:rPr lang="en-US" dirty="0"/>
            </a:br>
            <a:endParaRPr lang="en-US" dirty="0"/>
          </a:p>
        </p:txBody>
      </p:sp>
      <p:sp>
        <p:nvSpPr>
          <p:cNvPr id="3" name="Content Placeholder 2">
            <a:extLst>
              <a:ext uri="{FF2B5EF4-FFF2-40B4-BE49-F238E27FC236}">
                <a16:creationId xmlns:a16="http://schemas.microsoft.com/office/drawing/2014/main" id="{CC4E3C18-17D5-0612-7D6A-E834F9FC029F}"/>
              </a:ext>
            </a:extLst>
          </p:cNvPr>
          <p:cNvSpPr>
            <a:spLocks noGrp="1"/>
          </p:cNvSpPr>
          <p:nvPr>
            <p:ph idx="1"/>
          </p:nvPr>
        </p:nvSpPr>
        <p:spPr>
          <a:xfrm>
            <a:off x="287867" y="1825625"/>
            <a:ext cx="11065933" cy="5125508"/>
          </a:xfrm>
        </p:spPr>
        <p:txBody>
          <a:bodyPr>
            <a:normAutofit/>
          </a:bodyPr>
          <a:lstStyle/>
          <a:p>
            <a:pPr marL="0" indent="0">
              <a:buNone/>
            </a:pPr>
            <a:r>
              <a:rPr lang="en-US" b="1" dirty="0"/>
              <a:t>a. Formal Register</a:t>
            </a:r>
            <a:br>
              <a:rPr lang="en-US" dirty="0"/>
            </a:br>
            <a:r>
              <a:rPr lang="en-US" dirty="0"/>
              <a:t>Academic English avoids slang, contractions, and informal expressions.</a:t>
            </a:r>
          </a:p>
          <a:p>
            <a:pPr marL="0" indent="0">
              <a:buNone/>
            </a:pPr>
            <a:r>
              <a:rPr lang="en-US" dirty="0"/>
              <a:t>Example:</a:t>
            </a:r>
          </a:p>
          <a:p>
            <a:pPr marL="0" lvl="0" indent="0">
              <a:buNone/>
            </a:pPr>
            <a:r>
              <a:rPr lang="en-US" dirty="0"/>
              <a:t>General English: </a:t>
            </a:r>
            <a:r>
              <a:rPr lang="en-US" i="1" dirty="0"/>
              <a:t>“Kids learn fast.”</a:t>
            </a:r>
            <a:endParaRPr lang="en-US" dirty="0"/>
          </a:p>
          <a:p>
            <a:pPr marL="0" lvl="0" indent="0">
              <a:buNone/>
            </a:pPr>
            <a:r>
              <a:rPr lang="en-US" dirty="0"/>
              <a:t>Academic English: </a:t>
            </a:r>
            <a:r>
              <a:rPr lang="en-US" i="1" dirty="0"/>
              <a:t>“Children acquire knowledge rapidly.”</a:t>
            </a:r>
            <a:endParaRPr lang="en-US" dirty="0"/>
          </a:p>
          <a:p>
            <a:pPr marL="0" indent="0">
              <a:buNone/>
            </a:pPr>
            <a:r>
              <a:rPr lang="en-US" b="1" dirty="0"/>
              <a:t>b. Precision and Accuracy</a:t>
            </a:r>
            <a:br>
              <a:rPr lang="en-US" dirty="0"/>
            </a:br>
            <a:r>
              <a:rPr lang="en-US" dirty="0"/>
              <a:t>Words are carefully selected to convey exact meaning.</a:t>
            </a:r>
          </a:p>
          <a:p>
            <a:pPr marL="0" indent="0">
              <a:buNone/>
            </a:pPr>
            <a:r>
              <a:rPr lang="en-US" b="1" dirty="0"/>
              <a:t>c. Complex Sentence Structures</a:t>
            </a:r>
            <a:br>
              <a:rPr lang="en-US" dirty="0"/>
            </a:br>
            <a:r>
              <a:rPr lang="en-US" dirty="0"/>
              <a:t>Academic writing often uses longer, logically developed sentences.</a:t>
            </a:r>
          </a:p>
          <a:p>
            <a:pPr marL="0" indent="0">
              <a:buNone/>
            </a:pPr>
            <a:endParaRPr lang="en-US" dirty="0"/>
          </a:p>
        </p:txBody>
      </p:sp>
    </p:spTree>
    <p:extLst>
      <p:ext uri="{BB962C8B-B14F-4D97-AF65-F5344CB8AC3E}">
        <p14:creationId xmlns:p14="http://schemas.microsoft.com/office/powerpoint/2010/main" val="3057222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F804-2783-8BD2-FB75-D55992C08A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C292A6-848A-7D3A-6EE3-627EA594EFDD}"/>
              </a:ext>
            </a:extLst>
          </p:cNvPr>
          <p:cNvSpPr>
            <a:spLocks noGrp="1"/>
          </p:cNvSpPr>
          <p:nvPr>
            <p:ph idx="1"/>
          </p:nvPr>
        </p:nvSpPr>
        <p:spPr>
          <a:xfrm>
            <a:off x="838200" y="1825625"/>
            <a:ext cx="10515600" cy="4863042"/>
          </a:xfrm>
        </p:spPr>
        <p:txBody>
          <a:bodyPr/>
          <a:lstStyle/>
          <a:p>
            <a:pPr marL="0" indent="0">
              <a:buNone/>
            </a:pPr>
            <a:r>
              <a:rPr lang="en-US" b="1" dirty="0"/>
              <a:t>d. Objectivity and Impersonality</a:t>
            </a:r>
            <a:br>
              <a:rPr lang="en-US" dirty="0"/>
            </a:br>
            <a:r>
              <a:rPr lang="en-US" dirty="0"/>
              <a:t>Use of passive voice and avoidance of personal opinions unless justified.</a:t>
            </a:r>
          </a:p>
          <a:p>
            <a:pPr marL="0" indent="0">
              <a:buNone/>
            </a:pPr>
            <a:r>
              <a:rPr lang="en-US" dirty="0"/>
              <a:t>Example:</a:t>
            </a:r>
          </a:p>
          <a:p>
            <a:pPr marL="0" indent="0">
              <a:buNone/>
            </a:pPr>
            <a:r>
              <a:rPr lang="en-US" i="1" dirty="0"/>
              <a:t>“The data were analyzed using thematic analysis.”</a:t>
            </a:r>
            <a:endParaRPr lang="en-US" dirty="0"/>
          </a:p>
          <a:p>
            <a:pPr marL="0" indent="0">
              <a:buNone/>
            </a:pPr>
            <a:r>
              <a:rPr lang="en-US" b="1" dirty="0"/>
              <a:t>e. Discipline‑Specific Vocabulary</a:t>
            </a:r>
            <a:br>
              <a:rPr lang="en-US" dirty="0"/>
            </a:br>
            <a:r>
              <a:rPr lang="en-US" dirty="0"/>
              <a:t>Each academic field has its specialized terminology (e.g., linguistics, medicine, education).</a:t>
            </a:r>
          </a:p>
          <a:p>
            <a:endParaRPr lang="en-US" dirty="0"/>
          </a:p>
        </p:txBody>
      </p:sp>
    </p:spTree>
    <p:extLst>
      <p:ext uri="{BB962C8B-B14F-4D97-AF65-F5344CB8AC3E}">
        <p14:creationId xmlns:p14="http://schemas.microsoft.com/office/powerpoint/2010/main" val="1152875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6CF5A-0DB8-0C9E-3D85-66F94FD93BDF}"/>
              </a:ext>
            </a:extLst>
          </p:cNvPr>
          <p:cNvSpPr>
            <a:spLocks noGrp="1"/>
          </p:cNvSpPr>
          <p:nvPr>
            <p:ph type="title"/>
          </p:nvPr>
        </p:nvSpPr>
        <p:spPr/>
        <p:txBody>
          <a:bodyPr>
            <a:normAutofit/>
          </a:bodyPr>
          <a:lstStyle/>
          <a:p>
            <a:r>
              <a:rPr lang="en-US" b="1" dirty="0"/>
              <a:t> General English vs Academic </a:t>
            </a:r>
            <a:r>
              <a:rPr lang="en-US" b="1" dirty="0" err="1"/>
              <a:t>Englissh</a:t>
            </a:r>
            <a:br>
              <a:rPr lang="en-US" dirty="0"/>
            </a:br>
            <a:endParaRPr lang="en-US" dirty="0"/>
          </a:p>
        </p:txBody>
      </p:sp>
      <p:graphicFrame>
        <p:nvGraphicFramePr>
          <p:cNvPr id="4" name="Content Placeholder 3">
            <a:extLst>
              <a:ext uri="{FF2B5EF4-FFF2-40B4-BE49-F238E27FC236}">
                <a16:creationId xmlns:a16="http://schemas.microsoft.com/office/drawing/2014/main" id="{6B3951A5-F64A-1102-AFEC-5FFD0CA3C6E9}"/>
              </a:ext>
            </a:extLst>
          </p:cNvPr>
          <p:cNvGraphicFramePr>
            <a:graphicFrameLocks noGrp="1"/>
          </p:cNvGraphicFramePr>
          <p:nvPr>
            <p:ph idx="1"/>
            <p:extLst>
              <p:ext uri="{D42A27DB-BD31-4B8C-83A1-F6EECF244321}">
                <p14:modId xmlns:p14="http://schemas.microsoft.com/office/powerpoint/2010/main" val="1972639320"/>
              </p:ext>
            </p:extLst>
          </p:nvPr>
        </p:nvGraphicFramePr>
        <p:xfrm>
          <a:off x="389467" y="1742178"/>
          <a:ext cx="11345333" cy="5210221"/>
        </p:xfrm>
        <a:graphic>
          <a:graphicData uri="http://schemas.openxmlformats.org/drawingml/2006/table">
            <a:tbl>
              <a:tblPr firstRow="1" firstCol="1" bandRow="1">
                <a:tableStyleId>{5C22544A-7EE6-4342-B048-85BDC9FD1C3A}</a:tableStyleId>
              </a:tblPr>
              <a:tblGrid>
                <a:gridCol w="1267672">
                  <a:extLst>
                    <a:ext uri="{9D8B030D-6E8A-4147-A177-3AD203B41FA5}">
                      <a16:colId xmlns:a16="http://schemas.microsoft.com/office/drawing/2014/main" val="1784656667"/>
                    </a:ext>
                  </a:extLst>
                </a:gridCol>
                <a:gridCol w="1011444">
                  <a:extLst>
                    <a:ext uri="{9D8B030D-6E8A-4147-A177-3AD203B41FA5}">
                      <a16:colId xmlns:a16="http://schemas.microsoft.com/office/drawing/2014/main" val="626069433"/>
                    </a:ext>
                  </a:extLst>
                </a:gridCol>
                <a:gridCol w="1011444">
                  <a:extLst>
                    <a:ext uri="{9D8B030D-6E8A-4147-A177-3AD203B41FA5}">
                      <a16:colId xmlns:a16="http://schemas.microsoft.com/office/drawing/2014/main" val="3183545156"/>
                    </a:ext>
                  </a:extLst>
                </a:gridCol>
                <a:gridCol w="1011444">
                  <a:extLst>
                    <a:ext uri="{9D8B030D-6E8A-4147-A177-3AD203B41FA5}">
                      <a16:colId xmlns:a16="http://schemas.microsoft.com/office/drawing/2014/main" val="111026067"/>
                    </a:ext>
                  </a:extLst>
                </a:gridCol>
                <a:gridCol w="1011444">
                  <a:extLst>
                    <a:ext uri="{9D8B030D-6E8A-4147-A177-3AD203B41FA5}">
                      <a16:colId xmlns:a16="http://schemas.microsoft.com/office/drawing/2014/main" val="2860171667"/>
                    </a:ext>
                  </a:extLst>
                </a:gridCol>
                <a:gridCol w="6031885">
                  <a:extLst>
                    <a:ext uri="{9D8B030D-6E8A-4147-A177-3AD203B41FA5}">
                      <a16:colId xmlns:a16="http://schemas.microsoft.com/office/drawing/2014/main" val="2193655592"/>
                    </a:ext>
                  </a:extLst>
                </a:gridCol>
              </a:tblGrid>
              <a:tr h="765786">
                <a:tc>
                  <a:txBody>
                    <a:bodyPr/>
                    <a:lstStyle/>
                    <a:p>
                      <a:pPr marL="0" marR="0">
                        <a:lnSpc>
                          <a:spcPct val="200000"/>
                        </a:lnSpc>
                        <a:spcAft>
                          <a:spcPts val="800"/>
                        </a:spcAft>
                        <a:buNone/>
                      </a:pPr>
                      <a:r>
                        <a:rPr lang="en-US" sz="1800" kern="100">
                          <a:effectLst/>
                        </a:rPr>
                        <a:t>Aspect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gridSpan="2">
                  <a:txBody>
                    <a:bodyPr/>
                    <a:lstStyle/>
                    <a:p>
                      <a:pPr marL="0" marR="0">
                        <a:lnSpc>
                          <a:spcPct val="200000"/>
                        </a:lnSpc>
                        <a:spcAft>
                          <a:spcPts val="800"/>
                        </a:spcAft>
                        <a:buNone/>
                      </a:pPr>
                      <a:r>
                        <a:rPr lang="en-US" sz="1800" kern="100">
                          <a:effectLst/>
                        </a:rPr>
                        <a:t>General English</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dirty="0">
                          <a:effectLst/>
                        </a:rPr>
                        <a:t>Academic English</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a:txBody>
                    <a:bodyPr/>
                    <a:lstStyle/>
                    <a:p>
                      <a:endParaRPr lang="en-US" sz="1700"/>
                    </a:p>
                  </a:txBody>
                  <a:tcPr marL="87964" marR="87964" marT="43982" marB="43982"/>
                </a:tc>
                <a:extLst>
                  <a:ext uri="{0D108BD9-81ED-4DB2-BD59-A6C34878D82A}">
                    <a16:rowId xmlns:a16="http://schemas.microsoft.com/office/drawing/2014/main" val="241625624"/>
                  </a:ext>
                </a:extLst>
              </a:tr>
              <a:tr h="1166815">
                <a:tc gridSpan="2">
                  <a:txBody>
                    <a:bodyPr/>
                    <a:lstStyle/>
                    <a:p>
                      <a:pPr marL="0" marR="0">
                        <a:lnSpc>
                          <a:spcPct val="200000"/>
                        </a:lnSpc>
                        <a:spcAft>
                          <a:spcPts val="800"/>
                        </a:spcAft>
                        <a:buNone/>
                      </a:pPr>
                      <a:r>
                        <a:rPr lang="en-US" sz="1800" kern="100">
                          <a:effectLst/>
                        </a:rPr>
                        <a:t>Purpose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Everyday communication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Academic study &amp; research</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extLst>
                  <a:ext uri="{0D108BD9-81ED-4DB2-BD59-A6C34878D82A}">
                    <a16:rowId xmlns:a16="http://schemas.microsoft.com/office/drawing/2014/main" val="3581501079"/>
                  </a:ext>
                </a:extLst>
              </a:tr>
              <a:tr h="765786">
                <a:tc gridSpan="2">
                  <a:txBody>
                    <a:bodyPr/>
                    <a:lstStyle/>
                    <a:p>
                      <a:pPr marL="0" marR="0">
                        <a:lnSpc>
                          <a:spcPct val="200000"/>
                        </a:lnSpc>
                        <a:spcAft>
                          <a:spcPts val="800"/>
                        </a:spcAft>
                        <a:buNone/>
                      </a:pPr>
                      <a:r>
                        <a:rPr lang="en-US" sz="1800" kern="100">
                          <a:effectLst/>
                        </a:rPr>
                        <a:t>Context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Social &amp; informal</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dirty="0">
                          <a:effectLst/>
                        </a:rPr>
                        <a:t>University &amp; scholarly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extLst>
                  <a:ext uri="{0D108BD9-81ED-4DB2-BD59-A6C34878D82A}">
                    <a16:rowId xmlns:a16="http://schemas.microsoft.com/office/drawing/2014/main" val="3190744039"/>
                  </a:ext>
                </a:extLst>
              </a:tr>
              <a:tr h="765786">
                <a:tc gridSpan="2">
                  <a:txBody>
                    <a:bodyPr/>
                    <a:lstStyle/>
                    <a:p>
                      <a:pPr marL="0" marR="0">
                        <a:lnSpc>
                          <a:spcPct val="200000"/>
                        </a:lnSpc>
                        <a:spcAft>
                          <a:spcPts val="800"/>
                        </a:spcAft>
                        <a:buNone/>
                      </a:pPr>
                      <a:r>
                        <a:rPr lang="en-US" sz="1800" kern="100">
                          <a:effectLst/>
                        </a:rPr>
                        <a:t>Vocabulary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Common words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Technical &amp; abstract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extLst>
                  <a:ext uri="{0D108BD9-81ED-4DB2-BD59-A6C34878D82A}">
                    <a16:rowId xmlns:a16="http://schemas.microsoft.com/office/drawing/2014/main" val="1949911145"/>
                  </a:ext>
                </a:extLst>
              </a:tr>
              <a:tr h="765786">
                <a:tc gridSpan="2">
                  <a:txBody>
                    <a:bodyPr/>
                    <a:lstStyle/>
                    <a:p>
                      <a:pPr marL="0" marR="0">
                        <a:lnSpc>
                          <a:spcPct val="200000"/>
                        </a:lnSpc>
                        <a:spcAft>
                          <a:spcPts val="800"/>
                        </a:spcAft>
                        <a:buNone/>
                      </a:pPr>
                      <a:r>
                        <a:rPr lang="en-US" sz="1800" kern="100">
                          <a:effectLst/>
                        </a:rPr>
                        <a:t>Style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Informal/semi‑formal</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dirty="0">
                          <a:effectLst/>
                        </a:rPr>
                        <a:t>Formal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extLst>
                  <a:ext uri="{0D108BD9-81ED-4DB2-BD59-A6C34878D82A}">
                    <a16:rowId xmlns:a16="http://schemas.microsoft.com/office/drawing/2014/main" val="2791877047"/>
                  </a:ext>
                </a:extLst>
              </a:tr>
              <a:tr h="379431">
                <a:tc gridSpan="2">
                  <a:txBody>
                    <a:bodyPr/>
                    <a:lstStyle/>
                    <a:p>
                      <a:pPr marL="0" marR="0">
                        <a:lnSpc>
                          <a:spcPct val="200000"/>
                        </a:lnSpc>
                        <a:spcAft>
                          <a:spcPts val="800"/>
                        </a:spcAft>
                        <a:buNone/>
                      </a:pPr>
                      <a:r>
                        <a:rPr lang="en-US" sz="1800" kern="100">
                          <a:effectLst/>
                        </a:rPr>
                        <a:t>Structure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Simple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dirty="0">
                          <a:effectLst/>
                        </a:rPr>
                        <a:t>Complex</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extLst>
                  <a:ext uri="{0D108BD9-81ED-4DB2-BD59-A6C34878D82A}">
                    <a16:rowId xmlns:a16="http://schemas.microsoft.com/office/drawing/2014/main" val="1496578358"/>
                  </a:ext>
                </a:extLst>
              </a:tr>
              <a:tr h="379431">
                <a:tc gridSpan="2">
                  <a:txBody>
                    <a:bodyPr/>
                    <a:lstStyle/>
                    <a:p>
                      <a:pPr marL="0" marR="0">
                        <a:lnSpc>
                          <a:spcPct val="200000"/>
                        </a:lnSpc>
                        <a:spcAft>
                          <a:spcPts val="800"/>
                        </a:spcAft>
                        <a:buNone/>
                      </a:pPr>
                      <a:r>
                        <a:rPr lang="en-US" sz="1800" kern="100">
                          <a:effectLst/>
                        </a:rPr>
                        <a:t>Accuracy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a:effectLst/>
                        </a:rPr>
                        <a:t>Moderate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tc gridSpan="2">
                  <a:txBody>
                    <a:bodyPr/>
                    <a:lstStyle/>
                    <a:p>
                      <a:pPr marL="0" marR="0">
                        <a:lnSpc>
                          <a:spcPct val="200000"/>
                        </a:lnSpc>
                        <a:spcAft>
                          <a:spcPts val="800"/>
                        </a:spcAft>
                        <a:buNone/>
                      </a:pPr>
                      <a:r>
                        <a:rPr lang="en-US" sz="1800" kern="100" dirty="0">
                          <a:effectLst/>
                        </a:rPr>
                        <a:t>High precision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163" marR="9163" marT="9163" marB="9163" anchor="ctr"/>
                </a:tc>
                <a:tc hMerge="1">
                  <a:txBody>
                    <a:bodyPr/>
                    <a:lstStyle/>
                    <a:p>
                      <a:endParaRPr lang="en-US"/>
                    </a:p>
                  </a:txBody>
                  <a:tcPr/>
                </a:tc>
                <a:extLst>
                  <a:ext uri="{0D108BD9-81ED-4DB2-BD59-A6C34878D82A}">
                    <a16:rowId xmlns:a16="http://schemas.microsoft.com/office/drawing/2014/main" val="3850356671"/>
                  </a:ext>
                </a:extLst>
              </a:tr>
            </a:tbl>
          </a:graphicData>
        </a:graphic>
      </p:graphicFrame>
    </p:spTree>
    <p:extLst>
      <p:ext uri="{BB962C8B-B14F-4D97-AF65-F5344CB8AC3E}">
        <p14:creationId xmlns:p14="http://schemas.microsoft.com/office/powerpoint/2010/main" val="2215674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D00D-39D2-65B1-FE48-E1B0E470EE0F}"/>
              </a:ext>
            </a:extLst>
          </p:cNvPr>
          <p:cNvSpPr>
            <a:spLocks noGrp="1"/>
          </p:cNvSpPr>
          <p:nvPr>
            <p:ph type="title"/>
          </p:nvPr>
        </p:nvSpPr>
        <p:spPr/>
        <p:txBody>
          <a:bodyPr>
            <a:normAutofit fontScale="90000"/>
          </a:bodyPr>
          <a:lstStyle/>
          <a:p>
            <a:r>
              <a:rPr lang="en-US" b="1" dirty="0"/>
              <a:t>SENTENCE FRAGMENTS, AND RUN-ON SENTENCES</a:t>
            </a:r>
            <a:br>
              <a:rPr lang="en-US" dirty="0"/>
            </a:br>
            <a:endParaRPr lang="en-US" dirty="0"/>
          </a:p>
        </p:txBody>
      </p:sp>
      <p:sp>
        <p:nvSpPr>
          <p:cNvPr id="3" name="Content Placeholder 2">
            <a:extLst>
              <a:ext uri="{FF2B5EF4-FFF2-40B4-BE49-F238E27FC236}">
                <a16:creationId xmlns:a16="http://schemas.microsoft.com/office/drawing/2014/main" id="{CD6C42B2-9E3D-2C8D-E10B-274E3717A441}"/>
              </a:ext>
            </a:extLst>
          </p:cNvPr>
          <p:cNvSpPr>
            <a:spLocks noGrp="1"/>
          </p:cNvSpPr>
          <p:nvPr>
            <p:ph idx="1"/>
          </p:nvPr>
        </p:nvSpPr>
        <p:spPr>
          <a:xfrm>
            <a:off x="207818" y="1825625"/>
            <a:ext cx="11145982" cy="4866120"/>
          </a:xfrm>
        </p:spPr>
        <p:txBody>
          <a:bodyPr>
            <a:normAutofit lnSpcReduction="10000"/>
          </a:bodyPr>
          <a:lstStyle/>
          <a:p>
            <a:pPr marL="0" indent="0">
              <a:buNone/>
            </a:pPr>
            <a:r>
              <a:rPr lang="en-US" b="1" dirty="0"/>
              <a:t>THE ENGLISH SENTENCE</a:t>
            </a:r>
            <a:endParaRPr lang="en-US" dirty="0"/>
          </a:p>
          <a:p>
            <a:pPr>
              <a:buFont typeface="Wingdings" panose="05000000000000000000" pitchFamily="2" charset="2"/>
              <a:buChar char="§"/>
            </a:pPr>
            <a:r>
              <a:rPr lang="en-US" sz="2600" dirty="0"/>
              <a:t>In academic and medical communication, sentences must be clear, complete, and logically structured because poorly constructed sentences can distort meaning and lead to misunderstanding.</a:t>
            </a:r>
          </a:p>
          <a:p>
            <a:pPr marL="0" indent="0">
              <a:buNone/>
            </a:pPr>
            <a:br>
              <a:rPr lang="en-US" dirty="0"/>
            </a:br>
            <a:r>
              <a:rPr lang="en-US" dirty="0"/>
              <a:t>A sentence is a group of words that:</a:t>
            </a:r>
          </a:p>
          <a:p>
            <a:pPr marL="0" indent="0">
              <a:buNone/>
            </a:pPr>
            <a:endParaRPr lang="en-US" dirty="0"/>
          </a:p>
          <a:p>
            <a:pPr lvl="0">
              <a:buFont typeface="Wingdings" panose="05000000000000000000" pitchFamily="2" charset="2"/>
              <a:buChar char="ü"/>
            </a:pPr>
            <a:r>
              <a:rPr lang="en-US" dirty="0"/>
              <a:t>Expresses a </a:t>
            </a:r>
            <a:r>
              <a:rPr lang="en-US" b="1" dirty="0"/>
              <a:t>complete thought</a:t>
            </a:r>
            <a:r>
              <a:rPr lang="en-US" dirty="0"/>
              <a:t>, and</a:t>
            </a:r>
          </a:p>
          <a:p>
            <a:pPr lvl="0">
              <a:buFont typeface="Wingdings" panose="05000000000000000000" pitchFamily="2" charset="2"/>
              <a:buChar char="ü"/>
            </a:pPr>
            <a:endParaRPr lang="en-US" dirty="0"/>
          </a:p>
          <a:p>
            <a:pPr lvl="0">
              <a:buFont typeface="Wingdings" panose="05000000000000000000" pitchFamily="2" charset="2"/>
              <a:buChar char="ü"/>
            </a:pPr>
            <a:r>
              <a:rPr lang="en-US" dirty="0"/>
              <a:t>Contains at least one </a:t>
            </a:r>
            <a:r>
              <a:rPr lang="en-US" b="1" dirty="0"/>
              <a:t>independent clause</a:t>
            </a:r>
            <a:r>
              <a:rPr lang="en-US" dirty="0"/>
              <a:t>.</a:t>
            </a:r>
            <a:br>
              <a:rPr lang="en-US" dirty="0"/>
            </a:br>
            <a:endParaRPr lang="en-US" dirty="0"/>
          </a:p>
          <a:p>
            <a:endParaRPr lang="en-US" dirty="0"/>
          </a:p>
        </p:txBody>
      </p:sp>
    </p:spTree>
    <p:extLst>
      <p:ext uri="{BB962C8B-B14F-4D97-AF65-F5344CB8AC3E}">
        <p14:creationId xmlns:p14="http://schemas.microsoft.com/office/powerpoint/2010/main" val="522769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C926-F140-0A5D-C243-DE66F9E81DD8}"/>
              </a:ext>
            </a:extLst>
          </p:cNvPr>
          <p:cNvSpPr>
            <a:spLocks noGrp="1"/>
          </p:cNvSpPr>
          <p:nvPr>
            <p:ph type="title"/>
          </p:nvPr>
        </p:nvSpPr>
        <p:spPr/>
        <p:txBody>
          <a:bodyPr/>
          <a:lstStyle/>
          <a:p>
            <a:r>
              <a:rPr lang="en-US" b="1" dirty="0"/>
              <a:t>Essential Components of a Sentence</a:t>
            </a:r>
            <a:br>
              <a:rPr lang="en-US" dirty="0"/>
            </a:br>
            <a:endParaRPr lang="en-US" dirty="0"/>
          </a:p>
        </p:txBody>
      </p:sp>
      <p:sp>
        <p:nvSpPr>
          <p:cNvPr id="3" name="Content Placeholder 2">
            <a:extLst>
              <a:ext uri="{FF2B5EF4-FFF2-40B4-BE49-F238E27FC236}">
                <a16:creationId xmlns:a16="http://schemas.microsoft.com/office/drawing/2014/main" id="{CE425273-5E5B-5D57-E101-4757484854A8}"/>
              </a:ext>
            </a:extLst>
          </p:cNvPr>
          <p:cNvSpPr>
            <a:spLocks noGrp="1"/>
          </p:cNvSpPr>
          <p:nvPr>
            <p:ph idx="1"/>
          </p:nvPr>
        </p:nvSpPr>
        <p:spPr>
          <a:xfrm>
            <a:off x="414867" y="1825624"/>
            <a:ext cx="11421533" cy="5032375"/>
          </a:xfrm>
        </p:spPr>
        <p:txBody>
          <a:bodyPr/>
          <a:lstStyle/>
          <a:p>
            <a:pPr marL="0" indent="0">
              <a:buNone/>
            </a:pPr>
            <a:endParaRPr lang="en-US" dirty="0"/>
          </a:p>
          <a:p>
            <a:pPr marL="0" indent="0">
              <a:buNone/>
            </a:pPr>
            <a:r>
              <a:rPr lang="en-US" dirty="0"/>
              <a:t>A complete sentence must have the following:</a:t>
            </a:r>
          </a:p>
          <a:p>
            <a:pPr marL="0" indent="0">
              <a:buNone/>
            </a:pPr>
            <a:r>
              <a:rPr lang="en-US" b="1" dirty="0"/>
              <a:t>a. Subject</a:t>
            </a:r>
            <a:endParaRPr lang="en-US" dirty="0"/>
          </a:p>
          <a:p>
            <a:pPr marL="0" indent="0">
              <a:buNone/>
            </a:pPr>
            <a:r>
              <a:rPr lang="en-US" dirty="0"/>
              <a:t>The </a:t>
            </a:r>
            <a:r>
              <a:rPr lang="en-US" b="1" dirty="0"/>
              <a:t>subject</a:t>
            </a:r>
            <a:r>
              <a:rPr lang="en-US" dirty="0"/>
              <a:t> tells us </a:t>
            </a:r>
            <a:r>
              <a:rPr lang="en-US" i="1" dirty="0"/>
              <a:t>who</a:t>
            </a:r>
            <a:r>
              <a:rPr lang="en-US" dirty="0"/>
              <a:t> or </a:t>
            </a:r>
            <a:r>
              <a:rPr lang="en-US" i="1" dirty="0"/>
              <a:t>what</a:t>
            </a:r>
            <a:r>
              <a:rPr lang="en-US" dirty="0"/>
              <a:t> the sentence is about.</a:t>
            </a:r>
          </a:p>
          <a:p>
            <a:pPr marL="0" indent="0">
              <a:buNone/>
            </a:pPr>
            <a:r>
              <a:rPr lang="en-US" dirty="0"/>
              <a:t>Examples:</a:t>
            </a:r>
          </a:p>
          <a:p>
            <a:pPr marL="0" indent="0">
              <a:buNone/>
            </a:pPr>
            <a:endParaRPr lang="en-US" dirty="0"/>
          </a:p>
          <a:p>
            <a:pPr marL="0" lvl="0" indent="0">
              <a:buNone/>
            </a:pPr>
            <a:r>
              <a:rPr lang="en-US" i="1" dirty="0"/>
              <a:t>The patient</a:t>
            </a:r>
            <a:r>
              <a:rPr lang="en-US" dirty="0"/>
              <a:t> reported severe chest pain.</a:t>
            </a:r>
          </a:p>
          <a:p>
            <a:pPr marL="0" lvl="0" indent="0">
              <a:buNone/>
            </a:pPr>
            <a:endParaRPr lang="en-US" dirty="0"/>
          </a:p>
          <a:p>
            <a:pPr marL="0" lvl="0" indent="0">
              <a:buNone/>
            </a:pPr>
            <a:r>
              <a:rPr lang="en-US" i="1" dirty="0"/>
              <a:t>Accurate documentation</a:t>
            </a:r>
            <a:r>
              <a:rPr lang="en-US" dirty="0"/>
              <a:t> is essential in medicine.</a:t>
            </a:r>
          </a:p>
          <a:p>
            <a:endParaRPr lang="en-US" dirty="0"/>
          </a:p>
        </p:txBody>
      </p:sp>
    </p:spTree>
    <p:extLst>
      <p:ext uri="{BB962C8B-B14F-4D97-AF65-F5344CB8AC3E}">
        <p14:creationId xmlns:p14="http://schemas.microsoft.com/office/powerpoint/2010/main" val="3125159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2582-71F1-CBEE-64C2-85E4FFEB88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8B37E8-4747-914D-5834-C70F880303D9}"/>
              </a:ext>
            </a:extLst>
          </p:cNvPr>
          <p:cNvSpPr>
            <a:spLocks noGrp="1"/>
          </p:cNvSpPr>
          <p:nvPr>
            <p:ph idx="1"/>
          </p:nvPr>
        </p:nvSpPr>
        <p:spPr/>
        <p:txBody>
          <a:bodyPr/>
          <a:lstStyle/>
          <a:p>
            <a:pPr marL="0" indent="0">
              <a:buNone/>
            </a:pPr>
            <a:r>
              <a:rPr lang="en-US" b="1" dirty="0"/>
              <a:t>b. Verb</a:t>
            </a:r>
            <a:endParaRPr lang="en-US" dirty="0"/>
          </a:p>
          <a:p>
            <a:r>
              <a:rPr lang="en-US" dirty="0"/>
              <a:t>The </a:t>
            </a:r>
            <a:r>
              <a:rPr lang="en-US" b="1" dirty="0"/>
              <a:t>verb</a:t>
            </a:r>
            <a:r>
              <a:rPr lang="en-US" dirty="0"/>
              <a:t> shows the action or state of being.</a:t>
            </a:r>
          </a:p>
          <a:p>
            <a:r>
              <a:rPr lang="en-US" dirty="0"/>
              <a:t>Examples:</a:t>
            </a:r>
          </a:p>
          <a:p>
            <a:pPr lvl="0"/>
            <a:r>
              <a:rPr lang="en-US" dirty="0"/>
              <a:t>The patient </a:t>
            </a:r>
            <a:r>
              <a:rPr lang="en-US" b="1" dirty="0"/>
              <a:t>complains</a:t>
            </a:r>
            <a:r>
              <a:rPr lang="en-US" dirty="0"/>
              <a:t> of dizziness.</a:t>
            </a:r>
          </a:p>
          <a:p>
            <a:pPr lvl="0"/>
            <a:r>
              <a:rPr lang="en-US" dirty="0"/>
              <a:t>The diagnosis </a:t>
            </a:r>
            <a:r>
              <a:rPr lang="en-US" b="1" dirty="0"/>
              <a:t>was</a:t>
            </a:r>
            <a:r>
              <a:rPr lang="en-US" dirty="0"/>
              <a:t> confirmed.</a:t>
            </a:r>
          </a:p>
          <a:p>
            <a:pPr marL="0" lvl="0" indent="0">
              <a:buNone/>
            </a:pPr>
            <a:endParaRPr lang="en-US" dirty="0"/>
          </a:p>
          <a:p>
            <a:pPr marL="0" indent="0">
              <a:buNone/>
            </a:pPr>
            <a:r>
              <a:rPr lang="en-US" dirty="0"/>
              <a:t>A sentence </a:t>
            </a:r>
            <a:r>
              <a:rPr lang="en-US" b="1" dirty="0"/>
              <a:t>must</a:t>
            </a:r>
            <a:r>
              <a:rPr lang="en-US" dirty="0"/>
              <a:t> include a subject and a finite verb.</a:t>
            </a:r>
          </a:p>
          <a:p>
            <a:endParaRPr lang="en-US" dirty="0"/>
          </a:p>
        </p:txBody>
      </p:sp>
    </p:spTree>
    <p:extLst>
      <p:ext uri="{BB962C8B-B14F-4D97-AF65-F5344CB8AC3E}">
        <p14:creationId xmlns:p14="http://schemas.microsoft.com/office/powerpoint/2010/main" val="1873054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17055-84B8-74D7-DE87-DDAD153A4BDA}"/>
              </a:ext>
            </a:extLst>
          </p:cNvPr>
          <p:cNvSpPr>
            <a:spLocks noGrp="1"/>
          </p:cNvSpPr>
          <p:nvPr>
            <p:ph type="title"/>
          </p:nvPr>
        </p:nvSpPr>
        <p:spPr/>
        <p:txBody>
          <a:bodyPr/>
          <a:lstStyle/>
          <a:p>
            <a:r>
              <a:rPr lang="en-US" b="1" dirty="0"/>
              <a:t>SENTENCE FRAGMENTS</a:t>
            </a:r>
            <a:br>
              <a:rPr lang="en-US" dirty="0"/>
            </a:br>
            <a:endParaRPr lang="en-US" dirty="0"/>
          </a:p>
        </p:txBody>
      </p:sp>
      <p:sp>
        <p:nvSpPr>
          <p:cNvPr id="3" name="Content Placeholder 2">
            <a:extLst>
              <a:ext uri="{FF2B5EF4-FFF2-40B4-BE49-F238E27FC236}">
                <a16:creationId xmlns:a16="http://schemas.microsoft.com/office/drawing/2014/main" id="{E26861FB-8DC9-8514-53FA-BE504FDFB9CC}"/>
              </a:ext>
            </a:extLst>
          </p:cNvPr>
          <p:cNvSpPr>
            <a:spLocks noGrp="1"/>
          </p:cNvSpPr>
          <p:nvPr>
            <p:ph idx="1"/>
          </p:nvPr>
        </p:nvSpPr>
        <p:spPr>
          <a:xfrm>
            <a:off x="838200" y="1825624"/>
            <a:ext cx="10515600" cy="5032375"/>
          </a:xfrm>
        </p:spPr>
        <p:txBody>
          <a:bodyPr>
            <a:normAutofit/>
          </a:bodyPr>
          <a:lstStyle/>
          <a:p>
            <a:pPr>
              <a:buFont typeface="Wingdings" panose="05000000000000000000" pitchFamily="2" charset="2"/>
              <a:buChar char="§"/>
            </a:pPr>
            <a:r>
              <a:rPr lang="en-US" dirty="0"/>
              <a:t>A sentence fragment is an incomplete sentence that is mistakenly written as if it were complete.</a:t>
            </a:r>
          </a:p>
          <a:p>
            <a:pPr marL="0" indent="0">
              <a:buNone/>
            </a:pPr>
            <a:br>
              <a:rPr lang="en-US" dirty="0"/>
            </a:br>
            <a:r>
              <a:rPr lang="en-US" dirty="0"/>
              <a:t>A sentence fragment lacks:</a:t>
            </a:r>
          </a:p>
          <a:p>
            <a:pPr lvl="0">
              <a:buFont typeface="Wingdings" panose="05000000000000000000" pitchFamily="2" charset="2"/>
              <a:buChar char="ü"/>
            </a:pPr>
            <a:r>
              <a:rPr lang="en-US" dirty="0"/>
              <a:t>A subject, </a:t>
            </a:r>
            <a:r>
              <a:rPr lang="en-US" b="1" dirty="0"/>
              <a:t>or</a:t>
            </a:r>
          </a:p>
          <a:p>
            <a:pPr lvl="0">
              <a:buFont typeface="Wingdings" panose="05000000000000000000" pitchFamily="2" charset="2"/>
              <a:buChar char="ü"/>
            </a:pPr>
            <a:r>
              <a:rPr lang="en-US" dirty="0"/>
              <a:t>A main verb, </a:t>
            </a:r>
            <a:r>
              <a:rPr lang="en-US" b="1" dirty="0"/>
              <a:t>or</a:t>
            </a:r>
          </a:p>
          <a:p>
            <a:pPr lvl="0">
              <a:buFont typeface="Wingdings" panose="05000000000000000000" pitchFamily="2" charset="2"/>
              <a:buChar char="ü"/>
            </a:pPr>
            <a:r>
              <a:rPr lang="en-US" dirty="0"/>
              <a:t>A complete thought</a:t>
            </a:r>
          </a:p>
          <a:p>
            <a:pPr marL="0" indent="0">
              <a:buNone/>
            </a:pPr>
            <a:endParaRPr lang="en-US" dirty="0"/>
          </a:p>
          <a:p>
            <a:pPr>
              <a:buFont typeface="Wingdings" panose="05000000000000000000" pitchFamily="2" charset="2"/>
              <a:buChar char="q"/>
            </a:pPr>
            <a:r>
              <a:rPr lang="en-US" dirty="0"/>
              <a:t>Sentence fragments are very common in student writing, especially in summaries, explanations, and academic essays.</a:t>
            </a:r>
          </a:p>
          <a:p>
            <a:pPr marL="0" indent="0">
              <a:buNone/>
            </a:pPr>
            <a:endParaRPr lang="en-US" dirty="0"/>
          </a:p>
        </p:txBody>
      </p:sp>
    </p:spTree>
    <p:extLst>
      <p:ext uri="{BB962C8B-B14F-4D97-AF65-F5344CB8AC3E}">
        <p14:creationId xmlns:p14="http://schemas.microsoft.com/office/powerpoint/2010/main" val="2606443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0FF8F-BB44-7BC9-CF3C-33E075DDA2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1D4E4D-32E5-D2BD-3EF2-34301FD2CA96}"/>
              </a:ext>
            </a:extLst>
          </p:cNvPr>
          <p:cNvSpPr>
            <a:spLocks noGrp="1"/>
          </p:cNvSpPr>
          <p:nvPr>
            <p:ph idx="1"/>
          </p:nvPr>
        </p:nvSpPr>
        <p:spPr>
          <a:xfrm>
            <a:off x="838200" y="1825624"/>
            <a:ext cx="10515600" cy="5032375"/>
          </a:xfrm>
        </p:spPr>
        <p:txBody>
          <a:bodyPr>
            <a:normAutofit lnSpcReduction="10000"/>
          </a:bodyPr>
          <a:lstStyle/>
          <a:p>
            <a:pPr marL="0" lvl="0" indent="0">
              <a:buNone/>
            </a:pPr>
            <a:r>
              <a:rPr lang="en-US" b="1" dirty="0"/>
              <a:t>Person A:</a:t>
            </a:r>
            <a:r>
              <a:rPr lang="en-US" dirty="0"/>
              <a:t> I saw someone rushing outside earlier.</a:t>
            </a:r>
            <a:br>
              <a:rPr lang="en-US" dirty="0"/>
            </a:br>
            <a:r>
              <a:rPr lang="en-US" b="1" dirty="0"/>
              <a:t>Person B:</a:t>
            </a:r>
            <a:r>
              <a:rPr lang="en-US" dirty="0"/>
              <a:t> Running down the street.</a:t>
            </a:r>
          </a:p>
          <a:p>
            <a:pPr marL="0" lvl="0" indent="0">
              <a:buNone/>
            </a:pPr>
            <a:endParaRPr lang="en-US" dirty="0"/>
          </a:p>
          <a:p>
            <a:pPr marL="0" lvl="0" indent="0">
              <a:buNone/>
            </a:pPr>
            <a:r>
              <a:rPr lang="en-US" b="1" dirty="0"/>
              <a:t>Person A:</a:t>
            </a:r>
            <a:r>
              <a:rPr lang="en-US" dirty="0"/>
              <a:t> When did everyone leave?</a:t>
            </a:r>
            <a:br>
              <a:rPr lang="en-US" dirty="0"/>
            </a:br>
            <a:r>
              <a:rPr lang="en-US" b="1" dirty="0"/>
              <a:t>Person B:</a:t>
            </a:r>
            <a:r>
              <a:rPr lang="en-US" dirty="0"/>
              <a:t> After the lecture ended.</a:t>
            </a:r>
          </a:p>
          <a:p>
            <a:pPr marL="0" lvl="0" indent="0">
              <a:buNone/>
            </a:pPr>
            <a:endParaRPr lang="en-US" dirty="0"/>
          </a:p>
          <a:p>
            <a:pPr marL="0" lvl="0" indent="0">
              <a:buNone/>
            </a:pPr>
            <a:r>
              <a:rPr lang="en-US" b="1" dirty="0"/>
              <a:t>Person A:</a:t>
            </a:r>
            <a:r>
              <a:rPr lang="en-US" dirty="0"/>
              <a:t> What supplies do we need for class tomorrow?</a:t>
            </a:r>
            <a:br>
              <a:rPr lang="en-US" dirty="0"/>
            </a:br>
            <a:r>
              <a:rPr lang="en-US" b="1" dirty="0"/>
              <a:t>Person B:</a:t>
            </a:r>
            <a:r>
              <a:rPr lang="en-US" dirty="0"/>
              <a:t> Such as books, pens, and notebooks.</a:t>
            </a:r>
          </a:p>
          <a:p>
            <a:pPr marL="0" lvl="0" indent="0">
              <a:buNone/>
            </a:pPr>
            <a:endParaRPr lang="en-US" dirty="0"/>
          </a:p>
          <a:p>
            <a:pPr marL="0" lvl="0" indent="0">
              <a:buNone/>
            </a:pPr>
            <a:r>
              <a:rPr lang="en-US" b="1" dirty="0"/>
              <a:t>Person A:</a:t>
            </a:r>
            <a:r>
              <a:rPr lang="en-US" dirty="0"/>
              <a:t> How was the seminar yesterday?</a:t>
            </a:r>
            <a:br>
              <a:rPr lang="en-US" dirty="0"/>
            </a:br>
            <a:r>
              <a:rPr lang="en-US" b="1" dirty="0"/>
              <a:t>Person B:</a:t>
            </a:r>
            <a:r>
              <a:rPr lang="en-US" dirty="0"/>
              <a:t> Which was very interesting.</a:t>
            </a:r>
          </a:p>
          <a:p>
            <a:endParaRPr lang="en-US" dirty="0"/>
          </a:p>
        </p:txBody>
      </p:sp>
    </p:spTree>
    <p:extLst>
      <p:ext uri="{BB962C8B-B14F-4D97-AF65-F5344CB8AC3E}">
        <p14:creationId xmlns:p14="http://schemas.microsoft.com/office/powerpoint/2010/main" val="2550678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15782-DB0B-F08F-0B93-4AD63ADE8F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3822ED-2128-AEC0-18B3-2EC170FC0D1A}"/>
              </a:ext>
            </a:extLst>
          </p:cNvPr>
          <p:cNvSpPr>
            <a:spLocks noGrp="1"/>
          </p:cNvSpPr>
          <p:nvPr>
            <p:ph idx="1"/>
          </p:nvPr>
        </p:nvSpPr>
        <p:spPr>
          <a:xfrm>
            <a:off x="290945" y="1825624"/>
            <a:ext cx="11062855" cy="4965873"/>
          </a:xfrm>
        </p:spPr>
        <p:txBody>
          <a:bodyPr>
            <a:normAutofit/>
          </a:bodyPr>
          <a:lstStyle/>
          <a:p>
            <a:pPr lvl="0">
              <a:buFont typeface="Wingdings" panose="05000000000000000000" pitchFamily="2" charset="2"/>
              <a:buChar char="§"/>
            </a:pPr>
            <a:r>
              <a:rPr lang="en-US" dirty="0"/>
              <a:t> </a:t>
            </a:r>
            <a:r>
              <a:rPr lang="en-US" b="1" dirty="0"/>
              <a:t>Because I was tired. I did not watch. The movie</a:t>
            </a:r>
          </a:p>
          <a:p>
            <a:pPr lvl="0">
              <a:buFont typeface="Wingdings" panose="05000000000000000000" pitchFamily="2" charset="2"/>
              <a:buChar char="§"/>
            </a:pPr>
            <a:endParaRPr lang="en-US" b="1" dirty="0"/>
          </a:p>
          <a:p>
            <a:pPr lvl="0">
              <a:buFont typeface="Wingdings" panose="05000000000000000000" pitchFamily="2" charset="2"/>
              <a:buChar char="§"/>
            </a:pPr>
            <a:r>
              <a:rPr lang="en-US" b="1" dirty="0"/>
              <a:t>Running down the street.</a:t>
            </a:r>
          </a:p>
          <a:p>
            <a:pPr lvl="0">
              <a:buFont typeface="Wingdings" panose="05000000000000000000" pitchFamily="2" charset="2"/>
              <a:buChar char="§"/>
            </a:pPr>
            <a:endParaRPr lang="en-US" b="1" dirty="0"/>
          </a:p>
          <a:p>
            <a:pPr lvl="0">
              <a:buFont typeface="Wingdings" panose="05000000000000000000" pitchFamily="2" charset="2"/>
              <a:buChar char="§"/>
            </a:pPr>
            <a:r>
              <a:rPr lang="en-US" dirty="0"/>
              <a:t> </a:t>
            </a:r>
            <a:r>
              <a:rPr lang="en-US" b="1" dirty="0"/>
              <a:t>After the lecture ended.</a:t>
            </a:r>
            <a:br>
              <a:rPr lang="en-US" dirty="0"/>
            </a:br>
            <a:endParaRPr lang="en-US" i="1" dirty="0"/>
          </a:p>
          <a:p>
            <a:pPr lvl="0">
              <a:buFont typeface="Wingdings" panose="05000000000000000000" pitchFamily="2" charset="2"/>
              <a:buChar char="§"/>
            </a:pPr>
            <a:r>
              <a:rPr lang="en-US" b="1" dirty="0"/>
              <a:t>Such as books, pens, and notebooks.</a:t>
            </a:r>
          </a:p>
          <a:p>
            <a:pPr lvl="0">
              <a:buFont typeface="Wingdings" panose="05000000000000000000" pitchFamily="2" charset="2"/>
              <a:buChar char="§"/>
            </a:pPr>
            <a:endParaRPr lang="en-US" b="1" dirty="0"/>
          </a:p>
          <a:p>
            <a:pPr lvl="0">
              <a:buFont typeface="Wingdings" panose="05000000000000000000" pitchFamily="2" charset="2"/>
              <a:buChar char="§"/>
            </a:pPr>
            <a:r>
              <a:rPr lang="en-US" dirty="0"/>
              <a:t> </a:t>
            </a:r>
            <a:r>
              <a:rPr lang="en-US" b="1" dirty="0"/>
              <a:t>Which was very interesting.</a:t>
            </a:r>
            <a:br>
              <a:rPr lang="en-US" dirty="0"/>
            </a:br>
            <a:endParaRPr lang="en-US" dirty="0"/>
          </a:p>
          <a:p>
            <a:pPr marL="0" indent="0">
              <a:buNone/>
            </a:pPr>
            <a:endParaRPr lang="en-US" dirty="0"/>
          </a:p>
        </p:txBody>
      </p:sp>
    </p:spTree>
    <p:extLst>
      <p:ext uri="{BB962C8B-B14F-4D97-AF65-F5344CB8AC3E}">
        <p14:creationId xmlns:p14="http://schemas.microsoft.com/office/powerpoint/2010/main" val="2972085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12F3-EC50-ADAD-F423-294FA00B307A}"/>
              </a:ext>
            </a:extLst>
          </p:cNvPr>
          <p:cNvSpPr>
            <a:spLocks noGrp="1"/>
          </p:cNvSpPr>
          <p:nvPr>
            <p:ph type="title"/>
          </p:nvPr>
        </p:nvSpPr>
        <p:spPr/>
        <p:txBody>
          <a:bodyPr/>
          <a:lstStyle/>
          <a:p>
            <a:r>
              <a:rPr lang="en-US" b="1" dirty="0"/>
              <a:t>Common Types of Sentence Fragments</a:t>
            </a:r>
            <a:br>
              <a:rPr lang="en-US" dirty="0"/>
            </a:br>
            <a:endParaRPr lang="en-US" dirty="0"/>
          </a:p>
        </p:txBody>
      </p:sp>
      <p:sp>
        <p:nvSpPr>
          <p:cNvPr id="3" name="Content Placeholder 2">
            <a:extLst>
              <a:ext uri="{FF2B5EF4-FFF2-40B4-BE49-F238E27FC236}">
                <a16:creationId xmlns:a16="http://schemas.microsoft.com/office/drawing/2014/main" id="{21566066-853A-4669-9096-E1A5D1D96582}"/>
              </a:ext>
            </a:extLst>
          </p:cNvPr>
          <p:cNvSpPr>
            <a:spLocks noGrp="1"/>
          </p:cNvSpPr>
          <p:nvPr>
            <p:ph idx="1"/>
          </p:nvPr>
        </p:nvSpPr>
        <p:spPr>
          <a:xfrm>
            <a:off x="241069" y="1446416"/>
            <a:ext cx="11587942" cy="5503024"/>
          </a:xfrm>
        </p:spPr>
        <p:txBody>
          <a:bodyPr>
            <a:normAutofit fontScale="92500" lnSpcReduction="10000"/>
          </a:bodyPr>
          <a:lstStyle/>
          <a:p>
            <a:pPr marL="0" indent="0">
              <a:buNone/>
            </a:pPr>
            <a:r>
              <a:rPr lang="en-US" b="1" dirty="0"/>
              <a:t>a. Fragment Lacking a Subject</a:t>
            </a:r>
            <a:endParaRPr lang="en-US" dirty="0"/>
          </a:p>
          <a:p>
            <a:pPr marL="0" indent="0">
              <a:buNone/>
            </a:pPr>
            <a:r>
              <a:rPr lang="en-US" dirty="0"/>
              <a:t>❌ Incorrect:</a:t>
            </a:r>
          </a:p>
          <a:p>
            <a:pPr lvl="0">
              <a:buFont typeface="Wingdings" panose="05000000000000000000" pitchFamily="2" charset="2"/>
              <a:buChar char="§"/>
            </a:pPr>
            <a:r>
              <a:rPr lang="en-US" i="1" dirty="0"/>
              <a:t>Because was administered late.</a:t>
            </a:r>
          </a:p>
          <a:p>
            <a:pPr marL="0" lvl="0" indent="0">
              <a:buNone/>
            </a:pPr>
            <a:endParaRPr lang="en-US" dirty="0"/>
          </a:p>
          <a:p>
            <a:pPr marL="0" indent="0">
              <a:buNone/>
            </a:pPr>
            <a:r>
              <a:rPr lang="en-US" dirty="0"/>
              <a:t>✅ Corrected:</a:t>
            </a:r>
          </a:p>
          <a:p>
            <a:pPr marL="0" indent="0">
              <a:buNone/>
            </a:pPr>
            <a:endParaRPr lang="en-US" dirty="0"/>
          </a:p>
          <a:p>
            <a:pPr marL="0" indent="0">
              <a:buNone/>
            </a:pPr>
            <a:r>
              <a:rPr lang="en-US" dirty="0"/>
              <a:t>Because </a:t>
            </a:r>
            <a:r>
              <a:rPr lang="en-US" b="1" dirty="0"/>
              <a:t>the medication</a:t>
            </a:r>
            <a:r>
              <a:rPr lang="en-US" dirty="0"/>
              <a:t> was administered late, the patient deteriorated.</a:t>
            </a:r>
          </a:p>
          <a:p>
            <a:pPr marL="0" indent="0">
              <a:buNone/>
            </a:pPr>
            <a:r>
              <a:rPr lang="en-US" b="1" dirty="0"/>
              <a:t>b. Fragment Lacking a Verb</a:t>
            </a:r>
            <a:endParaRPr lang="en-US" dirty="0"/>
          </a:p>
          <a:p>
            <a:pPr marL="0" indent="0">
              <a:buNone/>
            </a:pPr>
            <a:r>
              <a:rPr lang="en-US" dirty="0"/>
              <a:t>❌ Incorrect:</a:t>
            </a:r>
          </a:p>
          <a:p>
            <a:pPr marL="0" lvl="0" indent="0">
              <a:buNone/>
            </a:pPr>
            <a:r>
              <a:rPr lang="en-US" i="1" dirty="0"/>
              <a:t>The primary cause of the symptoms.</a:t>
            </a:r>
            <a:endParaRPr lang="en-US" dirty="0"/>
          </a:p>
          <a:p>
            <a:pPr marL="0" indent="0">
              <a:buNone/>
            </a:pPr>
            <a:r>
              <a:rPr lang="en-US" dirty="0"/>
              <a:t>✅ Corrected:</a:t>
            </a:r>
          </a:p>
          <a:p>
            <a:pPr marL="0" lvl="0" indent="0">
              <a:buNone/>
            </a:pPr>
            <a:r>
              <a:rPr lang="en-US" dirty="0"/>
              <a:t>The primary cause of the symptoms </a:t>
            </a:r>
            <a:r>
              <a:rPr lang="en-US" b="1" dirty="0"/>
              <a:t>was dehydration</a:t>
            </a:r>
            <a:r>
              <a:rPr lang="en-US" dirty="0"/>
              <a:t>.</a:t>
            </a:r>
          </a:p>
          <a:p>
            <a:endParaRPr lang="en-US" dirty="0"/>
          </a:p>
        </p:txBody>
      </p:sp>
    </p:spTree>
    <p:extLst>
      <p:ext uri="{BB962C8B-B14F-4D97-AF65-F5344CB8AC3E}">
        <p14:creationId xmlns:p14="http://schemas.microsoft.com/office/powerpoint/2010/main" val="2625892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B0703-6FD4-0ECF-43D3-D5EB2BF0DF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BC0BD5-EBF2-7F9C-D168-0B6231D1028B}"/>
              </a:ext>
            </a:extLst>
          </p:cNvPr>
          <p:cNvSpPr>
            <a:spLocks noGrp="1"/>
          </p:cNvSpPr>
          <p:nvPr>
            <p:ph idx="1"/>
          </p:nvPr>
        </p:nvSpPr>
        <p:spPr>
          <a:xfrm>
            <a:off x="399011" y="1825625"/>
            <a:ext cx="10954789" cy="4774680"/>
          </a:xfrm>
        </p:spPr>
        <p:txBody>
          <a:bodyPr>
            <a:normAutofit fontScale="92500"/>
          </a:bodyPr>
          <a:lstStyle/>
          <a:p>
            <a:pPr marL="514350" indent="-514350">
              <a:buAutoNum type="alphaUcPeriod" startAt="3"/>
            </a:pPr>
            <a:r>
              <a:rPr lang="en-US" b="1" dirty="0"/>
              <a:t>Fragment Beginning with a Subordinating Word</a:t>
            </a:r>
          </a:p>
          <a:p>
            <a:pPr marL="0" indent="0">
              <a:buNone/>
            </a:pPr>
            <a:endParaRPr lang="en-US" dirty="0"/>
          </a:p>
          <a:p>
            <a:pPr marL="0" indent="0">
              <a:buNone/>
            </a:pPr>
            <a:r>
              <a:rPr lang="en-US" dirty="0"/>
              <a:t>Words such as </a:t>
            </a:r>
            <a:r>
              <a:rPr lang="en-US" b="1" dirty="0"/>
              <a:t>although, because, since, while, when, if</a:t>
            </a:r>
            <a:r>
              <a:rPr lang="en-US" dirty="0"/>
              <a:t> often cause fragments.</a:t>
            </a:r>
          </a:p>
          <a:p>
            <a:pPr marL="0" indent="0">
              <a:buNone/>
            </a:pPr>
            <a:endParaRPr lang="en-US" dirty="0"/>
          </a:p>
          <a:p>
            <a:pPr marL="0" indent="0">
              <a:buNone/>
            </a:pPr>
            <a:r>
              <a:rPr lang="en-US" dirty="0"/>
              <a:t>❌ Incorrect:</a:t>
            </a:r>
          </a:p>
          <a:p>
            <a:pPr marL="0" lvl="0" indent="0">
              <a:buNone/>
            </a:pPr>
            <a:r>
              <a:rPr lang="en-US" i="1" dirty="0"/>
              <a:t>Although the patient was stable.</a:t>
            </a:r>
            <a:endParaRPr lang="en-US" dirty="0"/>
          </a:p>
          <a:p>
            <a:pPr marL="0" indent="0">
              <a:buNone/>
            </a:pPr>
            <a:r>
              <a:rPr lang="en-US" dirty="0"/>
              <a:t>✅ Corrected:</a:t>
            </a:r>
          </a:p>
          <a:p>
            <a:pPr marL="0" lvl="0" indent="0">
              <a:buNone/>
            </a:pPr>
            <a:endParaRPr lang="en-US" dirty="0"/>
          </a:p>
          <a:p>
            <a:pPr marL="0" lvl="0" indent="0">
              <a:buNone/>
            </a:pPr>
            <a:r>
              <a:rPr lang="en-US" dirty="0"/>
              <a:t>Although the patient was stable, further observation was required.</a:t>
            </a:r>
            <a:br>
              <a:rPr lang="en-US" dirty="0"/>
            </a:br>
            <a:endParaRPr lang="en-US" dirty="0"/>
          </a:p>
          <a:p>
            <a:endParaRPr lang="en-US" dirty="0"/>
          </a:p>
        </p:txBody>
      </p:sp>
    </p:spTree>
    <p:extLst>
      <p:ext uri="{BB962C8B-B14F-4D97-AF65-F5344CB8AC3E}">
        <p14:creationId xmlns:p14="http://schemas.microsoft.com/office/powerpoint/2010/main" val="3672754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A860-03E9-DDC8-77EB-CD2A7F15E0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EADC50-210B-8B47-2FC3-6E75A335484B}"/>
              </a:ext>
            </a:extLst>
          </p:cNvPr>
          <p:cNvSpPr>
            <a:spLocks noGrp="1"/>
          </p:cNvSpPr>
          <p:nvPr>
            <p:ph idx="1"/>
          </p:nvPr>
        </p:nvSpPr>
        <p:spPr/>
        <p:txBody>
          <a:bodyPr/>
          <a:lstStyle/>
          <a:p>
            <a:pPr marL="0" indent="0">
              <a:buNone/>
            </a:pPr>
            <a:r>
              <a:rPr lang="en-US" b="1" dirty="0"/>
              <a:t>d. Fragment That Is Part of a Longer Thought</a:t>
            </a:r>
          </a:p>
          <a:p>
            <a:pPr marL="0" indent="0">
              <a:buNone/>
            </a:pPr>
            <a:endParaRPr lang="en-US" dirty="0"/>
          </a:p>
          <a:p>
            <a:pPr marL="0" indent="0">
              <a:buNone/>
            </a:pPr>
            <a:r>
              <a:rPr lang="en-US" dirty="0"/>
              <a:t>❌ Incorrect:</a:t>
            </a:r>
          </a:p>
          <a:p>
            <a:pPr marL="0" lvl="0" indent="0">
              <a:buNone/>
            </a:pPr>
            <a:r>
              <a:rPr lang="en-US" i="1" dirty="0"/>
              <a:t>Such as headaches and nausea.</a:t>
            </a:r>
            <a:endParaRPr lang="en-US" dirty="0"/>
          </a:p>
          <a:p>
            <a:pPr marL="0" indent="0">
              <a:buNone/>
            </a:pPr>
            <a:r>
              <a:rPr lang="en-US" dirty="0"/>
              <a:t>✅ Corrected:</a:t>
            </a:r>
          </a:p>
          <a:p>
            <a:pPr marL="0" indent="0">
              <a:buNone/>
            </a:pPr>
            <a:endParaRPr lang="en-US" dirty="0"/>
          </a:p>
          <a:p>
            <a:pPr marL="0" lvl="0" indent="0">
              <a:buNone/>
            </a:pPr>
            <a:r>
              <a:rPr lang="en-US" dirty="0"/>
              <a:t>The patient reported symptoms such as headaches and nausea.</a:t>
            </a:r>
          </a:p>
          <a:p>
            <a:endParaRPr lang="en-US" dirty="0"/>
          </a:p>
        </p:txBody>
      </p:sp>
    </p:spTree>
    <p:extLst>
      <p:ext uri="{BB962C8B-B14F-4D97-AF65-F5344CB8AC3E}">
        <p14:creationId xmlns:p14="http://schemas.microsoft.com/office/powerpoint/2010/main" val="3761819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A5514-E5EC-C3A8-2CA6-67D334120A98}"/>
              </a:ext>
            </a:extLst>
          </p:cNvPr>
          <p:cNvSpPr>
            <a:spLocks noGrp="1"/>
          </p:cNvSpPr>
          <p:nvPr>
            <p:ph type="title"/>
          </p:nvPr>
        </p:nvSpPr>
        <p:spPr/>
        <p:txBody>
          <a:bodyPr/>
          <a:lstStyle/>
          <a:p>
            <a:r>
              <a:rPr lang="en-US" b="1" dirty="0"/>
              <a:t>How to Identify and Fix Sentence Fragments</a:t>
            </a:r>
            <a:br>
              <a:rPr lang="en-US" dirty="0"/>
            </a:br>
            <a:endParaRPr lang="en-US" dirty="0"/>
          </a:p>
        </p:txBody>
      </p:sp>
      <p:sp>
        <p:nvSpPr>
          <p:cNvPr id="3" name="Content Placeholder 2">
            <a:extLst>
              <a:ext uri="{FF2B5EF4-FFF2-40B4-BE49-F238E27FC236}">
                <a16:creationId xmlns:a16="http://schemas.microsoft.com/office/drawing/2014/main" id="{20E69387-58DA-A23D-0E9D-BCD1FDC09055}"/>
              </a:ext>
            </a:extLst>
          </p:cNvPr>
          <p:cNvSpPr>
            <a:spLocks noGrp="1"/>
          </p:cNvSpPr>
          <p:nvPr>
            <p:ph idx="1"/>
          </p:nvPr>
        </p:nvSpPr>
        <p:spPr/>
        <p:txBody>
          <a:bodyPr>
            <a:normAutofit/>
          </a:bodyPr>
          <a:lstStyle/>
          <a:p>
            <a:pPr>
              <a:buFont typeface="Wingdings" panose="05000000000000000000" pitchFamily="2" charset="2"/>
              <a:buChar char="§"/>
            </a:pPr>
            <a:r>
              <a:rPr lang="en-US" dirty="0"/>
              <a:t>Ask the following questions:</a:t>
            </a:r>
          </a:p>
          <a:p>
            <a:pPr lvl="0">
              <a:buFont typeface="Wingdings" panose="05000000000000000000" pitchFamily="2" charset="2"/>
              <a:buChar char="ü"/>
            </a:pPr>
            <a:r>
              <a:rPr lang="en-US" dirty="0"/>
              <a:t>Does the sentence have a subject?</a:t>
            </a:r>
          </a:p>
          <a:p>
            <a:pPr lvl="0">
              <a:buFont typeface="Wingdings" panose="05000000000000000000" pitchFamily="2" charset="2"/>
              <a:buChar char="ü"/>
            </a:pPr>
            <a:r>
              <a:rPr lang="en-US" dirty="0"/>
              <a:t>Does it have a main verb?</a:t>
            </a:r>
          </a:p>
          <a:p>
            <a:pPr lvl="0">
              <a:buFont typeface="Wingdings" panose="05000000000000000000" pitchFamily="2" charset="2"/>
              <a:buChar char="ü"/>
            </a:pPr>
            <a:r>
              <a:rPr lang="en-US" dirty="0"/>
              <a:t>Does it express a complete idea?</a:t>
            </a:r>
          </a:p>
          <a:p>
            <a:r>
              <a:rPr lang="en-US" dirty="0"/>
              <a:t>Ways to fix fragments:</a:t>
            </a:r>
          </a:p>
          <a:p>
            <a:pPr lvl="0"/>
            <a:r>
              <a:rPr lang="en-US" dirty="0"/>
              <a:t>Attach the fragment to a nearby sentence</a:t>
            </a:r>
          </a:p>
          <a:p>
            <a:pPr lvl="0"/>
            <a:r>
              <a:rPr lang="en-US" dirty="0"/>
              <a:t>Add the missing subject or verb</a:t>
            </a:r>
          </a:p>
          <a:p>
            <a:pPr lvl="0"/>
            <a:r>
              <a:rPr lang="en-US" dirty="0"/>
              <a:t>Rewrite the sentence completely</a:t>
            </a:r>
          </a:p>
          <a:p>
            <a:endParaRPr lang="en-US" dirty="0"/>
          </a:p>
        </p:txBody>
      </p:sp>
    </p:spTree>
    <p:extLst>
      <p:ext uri="{BB962C8B-B14F-4D97-AF65-F5344CB8AC3E}">
        <p14:creationId xmlns:p14="http://schemas.microsoft.com/office/powerpoint/2010/main" val="3431554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BA937-71D5-E199-68F8-87C4446649CC}"/>
              </a:ext>
            </a:extLst>
          </p:cNvPr>
          <p:cNvSpPr>
            <a:spLocks noGrp="1"/>
          </p:cNvSpPr>
          <p:nvPr>
            <p:ph type="title"/>
          </p:nvPr>
        </p:nvSpPr>
        <p:spPr/>
        <p:txBody>
          <a:bodyPr/>
          <a:lstStyle/>
          <a:p>
            <a:r>
              <a:rPr lang="en-US" dirty="0"/>
              <a:t>Ways to fix fragments:</a:t>
            </a:r>
            <a:br>
              <a:rPr lang="en-US" dirty="0"/>
            </a:br>
            <a:endParaRPr lang="en-US" dirty="0"/>
          </a:p>
        </p:txBody>
      </p:sp>
      <p:sp>
        <p:nvSpPr>
          <p:cNvPr id="3" name="Content Placeholder 2">
            <a:extLst>
              <a:ext uri="{FF2B5EF4-FFF2-40B4-BE49-F238E27FC236}">
                <a16:creationId xmlns:a16="http://schemas.microsoft.com/office/drawing/2014/main" id="{47B109A7-E38D-A21B-2F31-869464FFD83C}"/>
              </a:ext>
            </a:extLst>
          </p:cNvPr>
          <p:cNvSpPr>
            <a:spLocks noGrp="1"/>
          </p:cNvSpPr>
          <p:nvPr>
            <p:ph idx="1"/>
          </p:nvPr>
        </p:nvSpPr>
        <p:spPr/>
        <p:txBody>
          <a:bodyPr/>
          <a:lstStyle/>
          <a:p>
            <a:pPr lvl="0">
              <a:buFont typeface="Wingdings" panose="05000000000000000000" pitchFamily="2" charset="2"/>
              <a:buChar char="§"/>
            </a:pPr>
            <a:r>
              <a:rPr lang="en-US" dirty="0"/>
              <a:t>Attach the fragment to a nearby sentence</a:t>
            </a:r>
          </a:p>
          <a:p>
            <a:pPr lvl="0">
              <a:buFont typeface="Wingdings" panose="05000000000000000000" pitchFamily="2" charset="2"/>
              <a:buChar char="§"/>
            </a:pPr>
            <a:endParaRPr lang="en-US" dirty="0"/>
          </a:p>
          <a:p>
            <a:pPr marL="0" lvl="0" indent="0">
              <a:buNone/>
            </a:pPr>
            <a:endParaRPr lang="en-US" dirty="0"/>
          </a:p>
          <a:p>
            <a:pPr lvl="0">
              <a:buFont typeface="Wingdings" panose="05000000000000000000" pitchFamily="2" charset="2"/>
              <a:buChar char="§"/>
            </a:pPr>
            <a:r>
              <a:rPr lang="en-US" dirty="0"/>
              <a:t>Add the missing subject or verb</a:t>
            </a:r>
          </a:p>
          <a:p>
            <a:pPr lvl="0">
              <a:buFont typeface="Wingdings" panose="05000000000000000000" pitchFamily="2" charset="2"/>
              <a:buChar char="§"/>
            </a:pPr>
            <a:endParaRPr lang="en-US" dirty="0"/>
          </a:p>
          <a:p>
            <a:pPr lvl="0">
              <a:buFont typeface="Wingdings" panose="05000000000000000000" pitchFamily="2" charset="2"/>
              <a:buChar char="§"/>
            </a:pPr>
            <a:endParaRPr lang="en-US" dirty="0"/>
          </a:p>
          <a:p>
            <a:pPr lvl="0">
              <a:buFont typeface="Wingdings" panose="05000000000000000000" pitchFamily="2" charset="2"/>
              <a:buChar char="§"/>
            </a:pPr>
            <a:r>
              <a:rPr lang="en-US" dirty="0"/>
              <a:t>Rewrite the sentence completely</a:t>
            </a:r>
          </a:p>
          <a:p>
            <a:endParaRPr lang="en-US" dirty="0"/>
          </a:p>
        </p:txBody>
      </p:sp>
    </p:spTree>
    <p:extLst>
      <p:ext uri="{BB962C8B-B14F-4D97-AF65-F5344CB8AC3E}">
        <p14:creationId xmlns:p14="http://schemas.microsoft.com/office/powerpoint/2010/main" val="62263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016FB-6D4C-38DD-A744-182DFB427EA0}"/>
              </a:ext>
            </a:extLst>
          </p:cNvPr>
          <p:cNvSpPr>
            <a:spLocks noGrp="1"/>
          </p:cNvSpPr>
          <p:nvPr>
            <p:ph type="title"/>
          </p:nvPr>
        </p:nvSpPr>
        <p:spPr/>
        <p:txBody>
          <a:bodyPr>
            <a:normAutofit fontScale="90000"/>
          </a:bodyPr>
          <a:lstStyle/>
          <a:p>
            <a:r>
              <a:rPr lang="en-US" b="1" dirty="0"/>
              <a:t>Scenario: Two University Students After a Lecture</a:t>
            </a:r>
            <a:br>
              <a:rPr lang="en-US" dirty="0"/>
            </a:br>
            <a:endParaRPr lang="en-US" dirty="0"/>
          </a:p>
        </p:txBody>
      </p:sp>
      <p:sp>
        <p:nvSpPr>
          <p:cNvPr id="3" name="Content Placeholder 2">
            <a:extLst>
              <a:ext uri="{FF2B5EF4-FFF2-40B4-BE49-F238E27FC236}">
                <a16:creationId xmlns:a16="http://schemas.microsoft.com/office/drawing/2014/main" id="{85273839-6F0A-7B26-17C4-D6AFD1EDE931}"/>
              </a:ext>
            </a:extLst>
          </p:cNvPr>
          <p:cNvSpPr>
            <a:spLocks noGrp="1"/>
          </p:cNvSpPr>
          <p:nvPr>
            <p:ph idx="1"/>
          </p:nvPr>
        </p:nvSpPr>
        <p:spPr>
          <a:xfrm>
            <a:off x="91441" y="1263536"/>
            <a:ext cx="11762509" cy="5594464"/>
          </a:xfrm>
        </p:spPr>
        <p:txBody>
          <a:bodyPr>
            <a:normAutofit fontScale="77500" lnSpcReduction="20000"/>
          </a:bodyPr>
          <a:lstStyle/>
          <a:p>
            <a:pPr marL="0" indent="0">
              <a:buNone/>
            </a:pPr>
            <a:r>
              <a:rPr lang="en-US" sz="3300" dirty="0"/>
              <a:t>Ama and Kojo are discussing a lecture they just attended.</a:t>
            </a:r>
          </a:p>
          <a:p>
            <a:pPr marL="0" indent="0">
              <a:buNone/>
            </a:pPr>
            <a:r>
              <a:rPr lang="en-US" sz="3300" b="1" dirty="0"/>
              <a:t>Ama:</a:t>
            </a:r>
            <a:r>
              <a:rPr lang="en-US" sz="3300" dirty="0"/>
              <a:t> Why did the lecturer end the class so quickly?</a:t>
            </a:r>
            <a:br>
              <a:rPr lang="en-US" sz="3300" dirty="0"/>
            </a:br>
            <a:r>
              <a:rPr lang="en-US" sz="3300" b="1" dirty="0"/>
              <a:t>Kojo:</a:t>
            </a:r>
            <a:r>
              <a:rPr lang="en-US" sz="3300" dirty="0"/>
              <a:t> Because the power went off.</a:t>
            </a:r>
          </a:p>
          <a:p>
            <a:pPr marL="0" indent="0">
              <a:buNone/>
            </a:pPr>
            <a:endParaRPr lang="en-US" sz="3300" b="1" dirty="0"/>
          </a:p>
          <a:p>
            <a:pPr marL="0" indent="0">
              <a:buNone/>
            </a:pPr>
            <a:r>
              <a:rPr lang="en-US" sz="3300" b="1" dirty="0"/>
              <a:t>Ama:</a:t>
            </a:r>
            <a:r>
              <a:rPr lang="en-US" sz="3300" dirty="0"/>
              <a:t> I saw many students leaving suddenly.</a:t>
            </a:r>
            <a:br>
              <a:rPr lang="en-US" sz="3300" dirty="0"/>
            </a:br>
            <a:r>
              <a:rPr lang="en-US" sz="3300" b="1" dirty="0"/>
              <a:t>Kojo:</a:t>
            </a:r>
            <a:r>
              <a:rPr lang="en-US" sz="3300" dirty="0"/>
              <a:t> Running out of the lecture hall.</a:t>
            </a:r>
          </a:p>
          <a:p>
            <a:pPr marL="0" indent="0">
              <a:buNone/>
            </a:pPr>
            <a:endParaRPr lang="en-US" sz="3300" b="1" dirty="0"/>
          </a:p>
          <a:p>
            <a:pPr marL="0" indent="0">
              <a:buNone/>
            </a:pPr>
            <a:r>
              <a:rPr lang="en-US" sz="3300" b="1" dirty="0"/>
              <a:t>Ama:</a:t>
            </a:r>
            <a:r>
              <a:rPr lang="en-US" sz="3300" dirty="0"/>
              <a:t> When did the confusion start?</a:t>
            </a:r>
            <a:br>
              <a:rPr lang="en-US" sz="3300" dirty="0"/>
            </a:br>
            <a:r>
              <a:rPr lang="en-US" sz="3300" b="1" dirty="0"/>
              <a:t>Kojo:</a:t>
            </a:r>
            <a:r>
              <a:rPr lang="en-US" sz="3300" dirty="0"/>
              <a:t> After the projector stopped working.</a:t>
            </a:r>
          </a:p>
          <a:p>
            <a:pPr marL="0" indent="0">
              <a:buNone/>
            </a:pPr>
            <a:endParaRPr lang="en-US" sz="3300" b="1" dirty="0"/>
          </a:p>
          <a:p>
            <a:pPr marL="0" indent="0">
              <a:buNone/>
            </a:pPr>
            <a:r>
              <a:rPr lang="en-US" sz="3300" b="1" dirty="0"/>
              <a:t>Ama:</a:t>
            </a:r>
            <a:r>
              <a:rPr lang="en-US" sz="3300" dirty="0"/>
              <a:t> What materials should we revise for the test?</a:t>
            </a:r>
            <a:br>
              <a:rPr lang="en-US" sz="3300" dirty="0"/>
            </a:br>
            <a:r>
              <a:rPr lang="en-US" sz="3300" b="1" dirty="0"/>
              <a:t>Kojo:</a:t>
            </a:r>
            <a:r>
              <a:rPr lang="en-US" sz="3300" dirty="0"/>
              <a:t> Such as lecture notes, handouts, and past questions.</a:t>
            </a:r>
          </a:p>
          <a:p>
            <a:pPr marL="0" indent="0">
              <a:buNone/>
            </a:pPr>
            <a:endParaRPr lang="en-US" sz="3300" b="1" dirty="0"/>
          </a:p>
          <a:p>
            <a:pPr marL="0" indent="0">
              <a:buNone/>
            </a:pPr>
            <a:r>
              <a:rPr lang="en-US" sz="3300" b="1" dirty="0"/>
              <a:t>Ama:</a:t>
            </a:r>
            <a:r>
              <a:rPr lang="en-US" sz="3300" dirty="0"/>
              <a:t> How was the discussion on research ethics?</a:t>
            </a:r>
            <a:br>
              <a:rPr lang="en-US" sz="3300" dirty="0"/>
            </a:br>
            <a:r>
              <a:rPr lang="en-US" sz="3300" b="1" dirty="0"/>
              <a:t>Kojo:</a:t>
            </a:r>
            <a:r>
              <a:rPr lang="en-US" sz="3300" dirty="0"/>
              <a:t> Which was very interesting. </a:t>
            </a:r>
          </a:p>
          <a:p>
            <a:endParaRPr lang="en-US" dirty="0"/>
          </a:p>
        </p:txBody>
      </p:sp>
    </p:spTree>
    <p:extLst>
      <p:ext uri="{BB962C8B-B14F-4D97-AF65-F5344CB8AC3E}">
        <p14:creationId xmlns:p14="http://schemas.microsoft.com/office/powerpoint/2010/main" val="223315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2075-F328-2B4F-3739-3D7F37D71F7E}"/>
              </a:ext>
            </a:extLst>
          </p:cNvPr>
          <p:cNvSpPr>
            <a:spLocks noGrp="1"/>
          </p:cNvSpPr>
          <p:nvPr>
            <p:ph type="title"/>
          </p:nvPr>
        </p:nvSpPr>
        <p:spPr/>
        <p:txBody>
          <a:bodyPr/>
          <a:lstStyle/>
          <a:p>
            <a:r>
              <a:rPr lang="en-US" dirty="0"/>
              <a:t>MODEL ANSWERS</a:t>
            </a:r>
          </a:p>
        </p:txBody>
      </p:sp>
      <p:graphicFrame>
        <p:nvGraphicFramePr>
          <p:cNvPr id="4" name="Content Placeholder 3">
            <a:extLst>
              <a:ext uri="{FF2B5EF4-FFF2-40B4-BE49-F238E27FC236}">
                <a16:creationId xmlns:a16="http://schemas.microsoft.com/office/drawing/2014/main" id="{E83AD281-E6E8-E5BC-0AE1-5066A7B1E43F}"/>
              </a:ext>
            </a:extLst>
          </p:cNvPr>
          <p:cNvGraphicFramePr>
            <a:graphicFrameLocks noGrp="1"/>
          </p:cNvGraphicFramePr>
          <p:nvPr>
            <p:ph idx="1"/>
            <p:extLst>
              <p:ext uri="{D42A27DB-BD31-4B8C-83A1-F6EECF244321}">
                <p14:modId xmlns:p14="http://schemas.microsoft.com/office/powerpoint/2010/main" val="684136053"/>
              </p:ext>
            </p:extLst>
          </p:nvPr>
        </p:nvGraphicFramePr>
        <p:xfrm>
          <a:off x="166255" y="1898174"/>
          <a:ext cx="11829009" cy="4959825"/>
        </p:xfrm>
        <a:graphic>
          <a:graphicData uri="http://schemas.openxmlformats.org/drawingml/2006/table">
            <a:tbl>
              <a:tblPr/>
              <a:tblGrid>
                <a:gridCol w="3943003">
                  <a:extLst>
                    <a:ext uri="{9D8B030D-6E8A-4147-A177-3AD203B41FA5}">
                      <a16:colId xmlns:a16="http://schemas.microsoft.com/office/drawing/2014/main" val="135029816"/>
                    </a:ext>
                  </a:extLst>
                </a:gridCol>
                <a:gridCol w="3943003">
                  <a:extLst>
                    <a:ext uri="{9D8B030D-6E8A-4147-A177-3AD203B41FA5}">
                      <a16:colId xmlns:a16="http://schemas.microsoft.com/office/drawing/2014/main" val="2846487968"/>
                    </a:ext>
                  </a:extLst>
                </a:gridCol>
                <a:gridCol w="3943003">
                  <a:extLst>
                    <a:ext uri="{9D8B030D-6E8A-4147-A177-3AD203B41FA5}">
                      <a16:colId xmlns:a16="http://schemas.microsoft.com/office/drawing/2014/main" val="425583224"/>
                    </a:ext>
                  </a:extLst>
                </a:gridCol>
              </a:tblGrid>
              <a:tr h="431289">
                <a:tc>
                  <a:txBody>
                    <a:bodyPr/>
                    <a:lstStyle/>
                    <a:p>
                      <a:endParaRPr lang="en-US"/>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endParaRPr lang="en-US"/>
                    </a:p>
                  </a:txBody>
                  <a:tcPr>
                    <a:lnL w="6350" cap="flat" cmpd="sng" algn="ctr">
                      <a:solidFill>
                        <a:srgbClr val="E6E6E6"/>
                      </a:solidFill>
                      <a:prstDash val="solid"/>
                      <a:round/>
                      <a:headEnd type="none" w="med" len="med"/>
                      <a:tailEnd type="none" w="med" len="med"/>
                    </a:lnL>
                    <a:lnB w="6350" cap="flat" cmpd="sng" algn="ctr">
                      <a:solidFill>
                        <a:srgbClr val="E6E6E6"/>
                      </a:solidFill>
                      <a:prstDash val="solid"/>
                      <a:round/>
                      <a:headEnd type="none" w="med" len="med"/>
                      <a:tailEnd type="none" w="med" len="med"/>
                    </a:lnB>
                  </a:tcPr>
                </a:tc>
                <a:tc>
                  <a:txBody>
                    <a:bodyPr/>
                    <a:lstStyle/>
                    <a:p>
                      <a:endParaRPr lang="en-US"/>
                    </a:p>
                  </a:txBody>
                  <a:tcPr>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2041931182"/>
                  </a:ext>
                </a:extLst>
              </a:tr>
              <a:tr h="431289">
                <a:tc>
                  <a:txBody>
                    <a:bodyPr/>
                    <a:lstStyle/>
                    <a:p>
                      <a:pPr>
                        <a:buNone/>
                      </a:pPr>
                      <a:r>
                        <a:rPr lang="en-US">
                          <a:effectLst/>
                        </a:rPr>
                        <a:t>Sentence Fragment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Why It Is a Fragment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Corrected Sentence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386176536"/>
                  </a:ext>
                </a:extLst>
              </a:tr>
              <a:tr h="754756">
                <a:tc>
                  <a:txBody>
                    <a:bodyPr/>
                    <a:lstStyle/>
                    <a:p>
                      <a:pPr>
                        <a:buNone/>
                      </a:pPr>
                      <a:r>
                        <a:rPr lang="en-US">
                          <a:effectLst/>
                        </a:rPr>
                        <a:t>Because the power went off.</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Dependent clause; no main clause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The lecturer ended the class early because the power went off.</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187831724"/>
                  </a:ext>
                </a:extLst>
              </a:tr>
              <a:tr h="754756">
                <a:tc>
                  <a:txBody>
                    <a:bodyPr/>
                    <a:lstStyle/>
                    <a:p>
                      <a:pPr>
                        <a:buNone/>
                      </a:pPr>
                      <a:r>
                        <a:rPr lang="en-US">
                          <a:effectLst/>
                        </a:rPr>
                        <a:t>Running out of the lecture hall.</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Verb phrase; missing subject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The students were running out of the lecture hall.</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902474112"/>
                  </a:ext>
                </a:extLst>
              </a:tr>
              <a:tr h="754756">
                <a:tc>
                  <a:txBody>
                    <a:bodyPr/>
                    <a:lstStyle/>
                    <a:p>
                      <a:pPr>
                        <a:buNone/>
                      </a:pPr>
                      <a:r>
                        <a:rPr lang="en-US">
                          <a:effectLst/>
                        </a:rPr>
                        <a:t>After the projector stopped working.</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Subordinate clause; incomplete idea</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The confusion started after the projector stopped working.</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481719230"/>
                  </a:ext>
                </a:extLst>
              </a:tr>
              <a:tr h="1078223">
                <a:tc>
                  <a:txBody>
                    <a:bodyPr/>
                    <a:lstStyle/>
                    <a:p>
                      <a:pPr>
                        <a:buNone/>
                      </a:pPr>
                      <a:r>
                        <a:rPr lang="en-US">
                          <a:effectLst/>
                        </a:rPr>
                        <a:t>Such as lecture notes, handouts, and past questions.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Incomplete list; no main clause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We should revise materials such as lecture notes, handouts, and past questions.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581249149"/>
                  </a:ext>
                </a:extLst>
              </a:tr>
              <a:tr h="754756">
                <a:tc>
                  <a:txBody>
                    <a:bodyPr/>
                    <a:lstStyle/>
                    <a:p>
                      <a:pPr>
                        <a:buNone/>
                      </a:pPr>
                      <a:r>
                        <a:rPr lang="en-US">
                          <a:effectLst/>
                        </a:rPr>
                        <a:t>Which was very interesting.</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Relative clause standing alone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buNone/>
                      </a:pPr>
                      <a:r>
                        <a:rPr lang="en-US" dirty="0">
                          <a:effectLst/>
                        </a:rPr>
                        <a:t>The discussion on research ethics was very interesting.</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14566435"/>
                  </a:ext>
                </a:extLst>
              </a:tr>
            </a:tbl>
          </a:graphicData>
        </a:graphic>
      </p:graphicFrame>
    </p:spTree>
    <p:extLst>
      <p:ext uri="{BB962C8B-B14F-4D97-AF65-F5344CB8AC3E}">
        <p14:creationId xmlns:p14="http://schemas.microsoft.com/office/powerpoint/2010/main" val="786567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581AE-4382-369F-A27C-69FCB6A5C5AD}"/>
              </a:ext>
            </a:extLst>
          </p:cNvPr>
          <p:cNvSpPr>
            <a:spLocks noGrp="1"/>
          </p:cNvSpPr>
          <p:nvPr>
            <p:ph type="title"/>
          </p:nvPr>
        </p:nvSpPr>
        <p:spPr/>
        <p:txBody>
          <a:bodyPr/>
          <a:lstStyle/>
          <a:p>
            <a:r>
              <a:rPr lang="en-US" b="1" dirty="0"/>
              <a:t>RUN-ON SENTENCES</a:t>
            </a:r>
            <a:br>
              <a:rPr lang="en-US" dirty="0"/>
            </a:br>
            <a:endParaRPr lang="en-US" dirty="0"/>
          </a:p>
        </p:txBody>
      </p:sp>
      <p:sp>
        <p:nvSpPr>
          <p:cNvPr id="3" name="Content Placeholder 2">
            <a:extLst>
              <a:ext uri="{FF2B5EF4-FFF2-40B4-BE49-F238E27FC236}">
                <a16:creationId xmlns:a16="http://schemas.microsoft.com/office/drawing/2014/main" id="{C6B07D8A-860F-0F53-9904-A1A506DE3288}"/>
              </a:ext>
            </a:extLst>
          </p:cNvPr>
          <p:cNvSpPr>
            <a:spLocks noGrp="1"/>
          </p:cNvSpPr>
          <p:nvPr>
            <p:ph idx="1"/>
          </p:nvPr>
        </p:nvSpPr>
        <p:spPr>
          <a:xfrm>
            <a:off x="838200" y="1825624"/>
            <a:ext cx="10515600" cy="5123815"/>
          </a:xfrm>
        </p:spPr>
        <p:txBody>
          <a:bodyPr>
            <a:normAutofit lnSpcReduction="10000"/>
          </a:bodyPr>
          <a:lstStyle/>
          <a:p>
            <a:pPr>
              <a:buFont typeface="Wingdings" panose="05000000000000000000" pitchFamily="2" charset="2"/>
              <a:buChar char="§"/>
            </a:pPr>
            <a:r>
              <a:rPr lang="en-US" dirty="0"/>
              <a:t>A run-on sentence occurs when two or more independent clauses are joined incorrectly without proper punctuation or conjunctions.</a:t>
            </a:r>
          </a:p>
          <a:p>
            <a:pPr lvl="0">
              <a:buFont typeface="Wingdings" panose="05000000000000000000" pitchFamily="2" charset="2"/>
              <a:buChar char="§"/>
            </a:pPr>
            <a:r>
              <a:rPr lang="en-US" dirty="0"/>
              <a:t> </a:t>
            </a:r>
            <a:r>
              <a:rPr lang="en-US" b="1" dirty="0"/>
              <a:t>I finished my assignment I submitted it late.</a:t>
            </a:r>
          </a:p>
          <a:p>
            <a:pPr marL="0" lvl="0" indent="0">
              <a:buNone/>
            </a:pPr>
            <a:endParaRPr lang="en-US" i="1" dirty="0"/>
          </a:p>
          <a:p>
            <a:pPr lvl="0">
              <a:buFont typeface="Wingdings" panose="05000000000000000000" pitchFamily="2" charset="2"/>
              <a:buChar char="§"/>
            </a:pPr>
            <a:r>
              <a:rPr lang="en-US" b="1" dirty="0"/>
              <a:t>The lecturer explained the concept it was still confusing.</a:t>
            </a:r>
            <a:br>
              <a:rPr lang="en-US" dirty="0"/>
            </a:br>
            <a:endParaRPr lang="en-US" i="1" dirty="0"/>
          </a:p>
          <a:p>
            <a:pPr lvl="0">
              <a:buFont typeface="Wingdings" panose="05000000000000000000" pitchFamily="2" charset="2"/>
              <a:buChar char="§"/>
            </a:pPr>
            <a:r>
              <a:rPr lang="en-US" dirty="0"/>
              <a:t> </a:t>
            </a:r>
            <a:r>
              <a:rPr lang="en-US" b="1" dirty="0"/>
              <a:t>She loves reading novels she spends hours in the library.</a:t>
            </a:r>
            <a:br>
              <a:rPr lang="en-US" dirty="0"/>
            </a:br>
            <a:endParaRPr lang="en-US" i="1" dirty="0"/>
          </a:p>
          <a:p>
            <a:pPr lvl="0">
              <a:buFont typeface="Wingdings" panose="05000000000000000000" pitchFamily="2" charset="2"/>
              <a:buChar char="§"/>
            </a:pPr>
            <a:r>
              <a:rPr lang="en-US" dirty="0"/>
              <a:t> </a:t>
            </a:r>
            <a:r>
              <a:rPr lang="en-US" b="1" dirty="0"/>
              <a:t>The students were tired they continued studying for the exam.</a:t>
            </a:r>
            <a:br>
              <a:rPr lang="en-US" dirty="0"/>
            </a:br>
            <a:endParaRPr lang="en-US" i="1" dirty="0"/>
          </a:p>
          <a:p>
            <a:pPr lvl="0">
              <a:buFont typeface="Wingdings" panose="05000000000000000000" pitchFamily="2" charset="2"/>
              <a:buChar char="§"/>
            </a:pPr>
            <a:r>
              <a:rPr lang="en-US" dirty="0"/>
              <a:t> </a:t>
            </a:r>
            <a:r>
              <a:rPr lang="en-US" b="1" dirty="0"/>
              <a:t>We planned to meet at the café it was already closed.</a:t>
            </a:r>
            <a:br>
              <a:rPr lang="en-US" dirty="0"/>
            </a:br>
            <a:endParaRPr lang="en-US" dirty="0"/>
          </a:p>
        </p:txBody>
      </p:sp>
    </p:spTree>
    <p:extLst>
      <p:ext uri="{BB962C8B-B14F-4D97-AF65-F5344CB8AC3E}">
        <p14:creationId xmlns:p14="http://schemas.microsoft.com/office/powerpoint/2010/main" val="3221762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F876-999E-628B-E658-381634C4C361}"/>
              </a:ext>
            </a:extLst>
          </p:cNvPr>
          <p:cNvSpPr>
            <a:spLocks noGrp="1"/>
          </p:cNvSpPr>
          <p:nvPr>
            <p:ph type="title"/>
          </p:nvPr>
        </p:nvSpPr>
        <p:spPr/>
        <p:txBody>
          <a:bodyPr/>
          <a:lstStyle/>
          <a:p>
            <a:r>
              <a:rPr lang="en-US" b="1" dirty="0"/>
              <a:t>Types of Run-On Sentences</a:t>
            </a:r>
            <a:br>
              <a:rPr lang="en-US" dirty="0"/>
            </a:br>
            <a:endParaRPr lang="en-US" dirty="0"/>
          </a:p>
        </p:txBody>
      </p:sp>
      <p:sp>
        <p:nvSpPr>
          <p:cNvPr id="3" name="Content Placeholder 2">
            <a:extLst>
              <a:ext uri="{FF2B5EF4-FFF2-40B4-BE49-F238E27FC236}">
                <a16:creationId xmlns:a16="http://schemas.microsoft.com/office/drawing/2014/main" id="{B451B029-7CA3-7239-BFEC-A7F74E75DA82}"/>
              </a:ext>
            </a:extLst>
          </p:cNvPr>
          <p:cNvSpPr>
            <a:spLocks noGrp="1"/>
          </p:cNvSpPr>
          <p:nvPr>
            <p:ph idx="1"/>
          </p:nvPr>
        </p:nvSpPr>
        <p:spPr>
          <a:xfrm>
            <a:off x="340821" y="1825625"/>
            <a:ext cx="11604567" cy="4949248"/>
          </a:xfrm>
        </p:spPr>
        <p:txBody>
          <a:bodyPr>
            <a:normAutofit/>
          </a:bodyPr>
          <a:lstStyle/>
          <a:p>
            <a:pPr marL="0" indent="0">
              <a:buNone/>
            </a:pPr>
            <a:r>
              <a:rPr lang="en-US" b="1" dirty="0"/>
              <a:t>a. Fused Sentence (No Punctuation)</a:t>
            </a:r>
            <a:endParaRPr lang="en-US" dirty="0"/>
          </a:p>
          <a:p>
            <a:pPr marL="0" indent="0">
              <a:buNone/>
            </a:pPr>
            <a:r>
              <a:rPr lang="en-US" dirty="0"/>
              <a:t>❌ Incorrect:</a:t>
            </a:r>
          </a:p>
          <a:p>
            <a:pPr marL="0" lvl="0" indent="0">
              <a:buNone/>
            </a:pPr>
            <a:r>
              <a:rPr lang="en-US" dirty="0"/>
              <a:t>The patient was admitted she was discharged the same day.</a:t>
            </a:r>
          </a:p>
          <a:p>
            <a:pPr marL="0" lvl="0" indent="0">
              <a:buNone/>
            </a:pPr>
            <a:endParaRPr lang="en-US" dirty="0"/>
          </a:p>
          <a:p>
            <a:pPr marL="0" indent="0">
              <a:buNone/>
            </a:pPr>
            <a:r>
              <a:rPr lang="en-US" dirty="0"/>
              <a:t>✅ Correct:</a:t>
            </a:r>
          </a:p>
          <a:p>
            <a:pPr marL="0" lvl="0" indent="0">
              <a:buNone/>
            </a:pPr>
            <a:r>
              <a:rPr lang="en-US" dirty="0"/>
              <a:t>The patient was admitted, and she was discharged the same day.</a:t>
            </a:r>
          </a:p>
          <a:p>
            <a:pPr marL="0" lvl="0" indent="0">
              <a:buNone/>
            </a:pPr>
            <a:r>
              <a:rPr lang="en-US" dirty="0"/>
              <a:t>The patient was admitted. She was discharged the same day.</a:t>
            </a:r>
            <a:br>
              <a:rPr lang="en-US" dirty="0"/>
            </a:br>
            <a:endParaRPr lang="en-US" dirty="0"/>
          </a:p>
          <a:p>
            <a:endParaRPr lang="en-US" dirty="0"/>
          </a:p>
        </p:txBody>
      </p:sp>
    </p:spTree>
    <p:extLst>
      <p:ext uri="{BB962C8B-B14F-4D97-AF65-F5344CB8AC3E}">
        <p14:creationId xmlns:p14="http://schemas.microsoft.com/office/powerpoint/2010/main" val="1639645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65EAB-1A95-1D12-3204-B82861E4FF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2532CD-C909-3A02-AF9D-0AC52D90D883}"/>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US" b="1" dirty="0"/>
              <a:t>b. Comma Splice</a:t>
            </a:r>
            <a:endParaRPr lang="en-US" dirty="0"/>
          </a:p>
          <a:p>
            <a:pPr>
              <a:buFont typeface="Wingdings" panose="05000000000000000000" pitchFamily="2" charset="2"/>
              <a:buChar char="§"/>
            </a:pPr>
            <a:r>
              <a:rPr lang="en-US" b="1" dirty="0"/>
              <a:t>A comma splice </a:t>
            </a:r>
            <a:r>
              <a:rPr lang="en-US" dirty="0"/>
              <a:t>occurs when two independent clauses are joined by a comma alone.</a:t>
            </a:r>
          </a:p>
          <a:p>
            <a:pPr marL="0" indent="0">
              <a:buNone/>
            </a:pPr>
            <a:r>
              <a:rPr lang="en-US" dirty="0"/>
              <a:t>❌ Incorrect:</a:t>
            </a:r>
          </a:p>
          <a:p>
            <a:pPr marL="0" lvl="0" indent="0">
              <a:buNone/>
            </a:pPr>
            <a:endParaRPr lang="en-US" dirty="0"/>
          </a:p>
          <a:p>
            <a:pPr marL="0" lvl="0" indent="0">
              <a:buNone/>
            </a:pPr>
            <a:r>
              <a:rPr lang="en-US" dirty="0"/>
              <a:t>The symptoms persisted, the medication was ineffective.</a:t>
            </a:r>
          </a:p>
          <a:p>
            <a:pPr marL="0" indent="0">
              <a:buNone/>
            </a:pPr>
            <a:r>
              <a:rPr lang="en-US" dirty="0"/>
              <a:t>✅ Correct:</a:t>
            </a:r>
          </a:p>
          <a:p>
            <a:pPr marL="0" lvl="0" indent="0">
              <a:buNone/>
            </a:pPr>
            <a:r>
              <a:rPr lang="en-US" dirty="0"/>
              <a:t>The symptoms persisted, and the medication was ineffective.</a:t>
            </a:r>
          </a:p>
          <a:p>
            <a:pPr marL="0" lvl="0" indent="0">
              <a:buNone/>
            </a:pPr>
            <a:endParaRPr lang="en-US" dirty="0"/>
          </a:p>
          <a:p>
            <a:pPr marL="0" lvl="0" indent="0">
              <a:buNone/>
            </a:pPr>
            <a:r>
              <a:rPr lang="en-US" dirty="0"/>
              <a:t>The symptoms persisted; the medication was ineffective.</a:t>
            </a:r>
          </a:p>
          <a:p>
            <a:pPr marL="0" lvl="0" indent="0">
              <a:buNone/>
            </a:pPr>
            <a:endParaRPr lang="en-US" dirty="0"/>
          </a:p>
          <a:p>
            <a:pPr marL="0" lvl="0" indent="0">
              <a:buNone/>
            </a:pPr>
            <a:r>
              <a:rPr lang="en-US" dirty="0"/>
              <a:t>Although the symptoms persisted, the medication was ineffective.</a:t>
            </a:r>
          </a:p>
          <a:p>
            <a:endParaRPr lang="en-US" dirty="0"/>
          </a:p>
        </p:txBody>
      </p:sp>
    </p:spTree>
    <p:extLst>
      <p:ext uri="{BB962C8B-B14F-4D97-AF65-F5344CB8AC3E}">
        <p14:creationId xmlns:p14="http://schemas.microsoft.com/office/powerpoint/2010/main" val="2710758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F405-73B1-ECEF-8884-968B37C9EA92}"/>
              </a:ext>
            </a:extLst>
          </p:cNvPr>
          <p:cNvSpPr>
            <a:spLocks noGrp="1"/>
          </p:cNvSpPr>
          <p:nvPr>
            <p:ph type="title"/>
          </p:nvPr>
        </p:nvSpPr>
        <p:spPr/>
        <p:txBody>
          <a:bodyPr>
            <a:normAutofit fontScale="90000"/>
          </a:bodyPr>
          <a:lstStyle/>
          <a:p>
            <a:r>
              <a:rPr lang="en-US" b="1" dirty="0"/>
              <a:t>Why Run-On Sentences Are Problematic in Medical Writing</a:t>
            </a:r>
            <a:br>
              <a:rPr lang="en-US" dirty="0"/>
            </a:br>
            <a:endParaRPr lang="en-US" dirty="0"/>
          </a:p>
        </p:txBody>
      </p:sp>
      <p:sp>
        <p:nvSpPr>
          <p:cNvPr id="3" name="Content Placeholder 2">
            <a:extLst>
              <a:ext uri="{FF2B5EF4-FFF2-40B4-BE49-F238E27FC236}">
                <a16:creationId xmlns:a16="http://schemas.microsoft.com/office/drawing/2014/main" id="{9A618431-1070-05EE-70CA-11442BA586F9}"/>
              </a:ext>
            </a:extLst>
          </p:cNvPr>
          <p:cNvSpPr>
            <a:spLocks noGrp="1"/>
          </p:cNvSpPr>
          <p:nvPr>
            <p:ph idx="1"/>
          </p:nvPr>
        </p:nvSpPr>
        <p:spPr/>
        <p:txBody>
          <a:bodyPr>
            <a:normAutofit fontScale="92500" lnSpcReduction="20000"/>
          </a:bodyPr>
          <a:lstStyle/>
          <a:p>
            <a:pPr marL="0" indent="0">
              <a:buNone/>
            </a:pPr>
            <a:r>
              <a:rPr lang="en-US" dirty="0"/>
              <a:t>Run-on sentences:</a:t>
            </a:r>
          </a:p>
          <a:p>
            <a:pPr marL="0" indent="0">
              <a:buNone/>
            </a:pPr>
            <a:endParaRPr lang="en-US" dirty="0"/>
          </a:p>
          <a:p>
            <a:pPr lvl="0">
              <a:buFont typeface="Wingdings" panose="05000000000000000000" pitchFamily="2" charset="2"/>
              <a:buChar char="Ø"/>
            </a:pPr>
            <a:r>
              <a:rPr lang="en-US" dirty="0"/>
              <a:t>Obscure relationships between ideas</a:t>
            </a:r>
          </a:p>
          <a:p>
            <a:pPr lvl="0">
              <a:buFont typeface="Wingdings" panose="05000000000000000000" pitchFamily="2" charset="2"/>
              <a:buChar char="Ø"/>
            </a:pPr>
            <a:r>
              <a:rPr lang="en-US" dirty="0"/>
              <a:t>Make medical explanations confusing</a:t>
            </a:r>
          </a:p>
          <a:p>
            <a:pPr lvl="0">
              <a:buFont typeface="Wingdings" panose="05000000000000000000" pitchFamily="2" charset="2"/>
              <a:buChar char="Ø"/>
            </a:pPr>
            <a:r>
              <a:rPr lang="en-US" dirty="0"/>
              <a:t>Impede logical reasoning</a:t>
            </a:r>
          </a:p>
          <a:p>
            <a:pPr lvl="0">
              <a:buFont typeface="Wingdings" panose="05000000000000000000" pitchFamily="2" charset="2"/>
              <a:buChar char="Ø"/>
            </a:pPr>
            <a:r>
              <a:rPr lang="en-US" dirty="0"/>
              <a:t>Reduce readability and precision</a:t>
            </a:r>
          </a:p>
          <a:p>
            <a:pPr lvl="0">
              <a:buFont typeface="Wingdings" panose="05000000000000000000" pitchFamily="2" charset="2"/>
              <a:buChar char="Ø"/>
            </a:pPr>
            <a:endParaRPr lang="en-US" dirty="0"/>
          </a:p>
          <a:p>
            <a:pPr lvl="0">
              <a:buFont typeface="Wingdings" panose="05000000000000000000" pitchFamily="2" charset="2"/>
              <a:buChar char="Ø"/>
            </a:pPr>
            <a:endParaRPr lang="en-US" dirty="0"/>
          </a:p>
          <a:p>
            <a:pPr marL="0" lvl="0" indent="0">
              <a:buNone/>
            </a:pPr>
            <a:r>
              <a:rPr lang="en-US" dirty="0"/>
              <a:t>Medical writing values </a:t>
            </a:r>
            <a:r>
              <a:rPr lang="en-US" b="1" dirty="0"/>
              <a:t>clarity over stylistic complexity</a:t>
            </a:r>
            <a:r>
              <a:rPr lang="en-US" dirty="0"/>
              <a:t>.</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683496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25EBC-E0FB-8BDD-B489-B98D652F7AAB}"/>
              </a:ext>
            </a:extLst>
          </p:cNvPr>
          <p:cNvSpPr>
            <a:spLocks noGrp="1"/>
          </p:cNvSpPr>
          <p:nvPr>
            <p:ph type="title"/>
          </p:nvPr>
        </p:nvSpPr>
        <p:spPr/>
        <p:txBody>
          <a:bodyPr/>
          <a:lstStyle/>
          <a:p>
            <a:r>
              <a:rPr lang="en-US" b="1" dirty="0"/>
              <a:t>Ways to Fix Run-On Sentences</a:t>
            </a:r>
            <a:endParaRPr lang="en-US" dirty="0"/>
          </a:p>
        </p:txBody>
      </p:sp>
      <p:sp>
        <p:nvSpPr>
          <p:cNvPr id="3" name="Content Placeholder 2">
            <a:extLst>
              <a:ext uri="{FF2B5EF4-FFF2-40B4-BE49-F238E27FC236}">
                <a16:creationId xmlns:a16="http://schemas.microsoft.com/office/drawing/2014/main" id="{FAA16739-13F0-1286-C8B4-E4FF80BC21FD}"/>
              </a:ext>
            </a:extLst>
          </p:cNvPr>
          <p:cNvSpPr>
            <a:spLocks noGrp="1"/>
          </p:cNvSpPr>
          <p:nvPr>
            <p:ph idx="1"/>
          </p:nvPr>
        </p:nvSpPr>
        <p:spPr>
          <a:xfrm>
            <a:off x="191193" y="1825624"/>
            <a:ext cx="11712632" cy="5032375"/>
          </a:xfrm>
        </p:spPr>
        <p:txBody>
          <a:bodyPr>
            <a:normAutofit lnSpcReduction="10000"/>
          </a:bodyPr>
          <a:lstStyle/>
          <a:p>
            <a:pPr marL="0" indent="0">
              <a:buNone/>
            </a:pPr>
            <a:r>
              <a:rPr lang="en-US" dirty="0"/>
              <a:t>You can fix run-on sentences by using:</a:t>
            </a:r>
          </a:p>
          <a:p>
            <a:pPr marL="0" indent="0">
              <a:buNone/>
            </a:pPr>
            <a:r>
              <a:rPr lang="en-US" b="1" dirty="0"/>
              <a:t>a. Coordinating Conjunctions (FANBOYS)</a:t>
            </a:r>
            <a:endParaRPr lang="en-US" dirty="0"/>
          </a:p>
          <a:p>
            <a:pPr marL="0" lvl="0" indent="0">
              <a:buNone/>
            </a:pPr>
            <a:r>
              <a:rPr lang="en-US" dirty="0"/>
              <a:t>for, and, nor, but, or, yet, so</a:t>
            </a:r>
          </a:p>
          <a:p>
            <a:pPr marL="0" indent="0">
              <a:buNone/>
            </a:pPr>
            <a:r>
              <a:rPr lang="en-US" dirty="0"/>
              <a:t>Example:</a:t>
            </a:r>
          </a:p>
          <a:p>
            <a:pPr lvl="0">
              <a:buFont typeface="Wingdings" panose="05000000000000000000" pitchFamily="2" charset="2"/>
              <a:buChar char="§"/>
            </a:pPr>
            <a:r>
              <a:rPr lang="en-US" dirty="0"/>
              <a:t>The patient improved, </a:t>
            </a:r>
            <a:r>
              <a:rPr lang="en-US" b="1" dirty="0"/>
              <a:t>but</a:t>
            </a:r>
            <a:r>
              <a:rPr lang="en-US" dirty="0"/>
              <a:t> close monitoring continued.</a:t>
            </a:r>
            <a:br>
              <a:rPr lang="en-US" dirty="0"/>
            </a:br>
            <a:endParaRPr lang="en-US" dirty="0"/>
          </a:p>
          <a:p>
            <a:pPr marL="0" indent="0">
              <a:buNone/>
            </a:pPr>
            <a:r>
              <a:rPr lang="en-US" b="1" dirty="0"/>
              <a:t>b. Period or Semicolon</a:t>
            </a:r>
            <a:endParaRPr lang="en-US" dirty="0"/>
          </a:p>
          <a:p>
            <a:pPr marL="0" lvl="0" indent="0">
              <a:buNone/>
            </a:pPr>
            <a:r>
              <a:rPr lang="en-US" dirty="0"/>
              <a:t>Period:</a:t>
            </a:r>
          </a:p>
          <a:p>
            <a:pPr marL="457200" lvl="1" indent="0">
              <a:buNone/>
            </a:pPr>
            <a:r>
              <a:rPr lang="en-US" dirty="0"/>
              <a:t>The dosage was reduced. The symptoms subsided.</a:t>
            </a:r>
          </a:p>
          <a:p>
            <a:pPr marL="0" lvl="0" indent="0">
              <a:buNone/>
            </a:pPr>
            <a:r>
              <a:rPr lang="en-US" dirty="0"/>
              <a:t>Semicolon:</a:t>
            </a:r>
          </a:p>
          <a:p>
            <a:pPr marL="457200" lvl="1" indent="0">
              <a:buNone/>
            </a:pPr>
            <a:r>
              <a:rPr lang="en-US" dirty="0"/>
              <a:t>The dosage was reduced; the symptoms subsided.</a:t>
            </a:r>
          </a:p>
          <a:p>
            <a:endParaRPr lang="en-US" dirty="0"/>
          </a:p>
        </p:txBody>
      </p:sp>
    </p:spTree>
    <p:extLst>
      <p:ext uri="{BB962C8B-B14F-4D97-AF65-F5344CB8AC3E}">
        <p14:creationId xmlns:p14="http://schemas.microsoft.com/office/powerpoint/2010/main" val="1542332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B9C3-1537-9F54-2635-D9BD59AFAF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6F4A1A-B704-2591-9618-60735C85BFBE}"/>
              </a:ext>
            </a:extLst>
          </p:cNvPr>
          <p:cNvSpPr>
            <a:spLocks noGrp="1"/>
          </p:cNvSpPr>
          <p:nvPr>
            <p:ph idx="1"/>
          </p:nvPr>
        </p:nvSpPr>
        <p:spPr/>
        <p:txBody>
          <a:bodyPr/>
          <a:lstStyle/>
          <a:p>
            <a:pPr marL="0" indent="0">
              <a:buNone/>
            </a:pPr>
            <a:r>
              <a:rPr lang="en-US" b="1" dirty="0"/>
              <a:t>C. Subordinating Conjunctions</a:t>
            </a:r>
            <a:endParaRPr lang="en-US" dirty="0"/>
          </a:p>
          <a:p>
            <a:r>
              <a:rPr lang="en-US" dirty="0"/>
              <a:t>Example:</a:t>
            </a:r>
          </a:p>
          <a:p>
            <a:pPr lvl="0"/>
            <a:r>
              <a:rPr lang="en-US" dirty="0"/>
              <a:t>Because the dosage was reduced, the symptoms subsided.</a:t>
            </a:r>
          </a:p>
          <a:p>
            <a:endParaRPr lang="en-US" dirty="0"/>
          </a:p>
        </p:txBody>
      </p:sp>
    </p:spTree>
    <p:extLst>
      <p:ext uri="{BB962C8B-B14F-4D97-AF65-F5344CB8AC3E}">
        <p14:creationId xmlns:p14="http://schemas.microsoft.com/office/powerpoint/2010/main" val="1174232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7F473-0EB2-1899-A8EC-F0B494B5140A}"/>
              </a:ext>
            </a:extLst>
          </p:cNvPr>
          <p:cNvSpPr>
            <a:spLocks noGrp="1"/>
          </p:cNvSpPr>
          <p:nvPr>
            <p:ph type="title"/>
          </p:nvPr>
        </p:nvSpPr>
        <p:spPr/>
        <p:txBody>
          <a:bodyPr/>
          <a:lstStyle/>
          <a:p>
            <a:r>
              <a:rPr lang="en-US" b="1" dirty="0"/>
              <a:t>SUMMARY TABLE</a:t>
            </a:r>
            <a:endParaRPr lang="en-US" dirty="0"/>
          </a:p>
        </p:txBody>
      </p:sp>
      <p:graphicFrame>
        <p:nvGraphicFramePr>
          <p:cNvPr id="4" name="Content Placeholder 3">
            <a:extLst>
              <a:ext uri="{FF2B5EF4-FFF2-40B4-BE49-F238E27FC236}">
                <a16:creationId xmlns:a16="http://schemas.microsoft.com/office/drawing/2014/main" id="{86DC3154-CFDF-9AAD-3B44-EE45A9951290}"/>
              </a:ext>
            </a:extLst>
          </p:cNvPr>
          <p:cNvGraphicFramePr>
            <a:graphicFrameLocks noGrp="1"/>
          </p:cNvGraphicFramePr>
          <p:nvPr>
            <p:ph idx="1"/>
            <p:extLst>
              <p:ext uri="{D42A27DB-BD31-4B8C-83A1-F6EECF244321}">
                <p14:modId xmlns:p14="http://schemas.microsoft.com/office/powerpoint/2010/main" val="830249642"/>
              </p:ext>
            </p:extLst>
          </p:nvPr>
        </p:nvGraphicFramePr>
        <p:xfrm>
          <a:off x="149629" y="1803861"/>
          <a:ext cx="11953701" cy="4887884"/>
        </p:xfrm>
        <a:graphic>
          <a:graphicData uri="http://schemas.openxmlformats.org/drawingml/2006/table">
            <a:tbl>
              <a:tblPr firstRow="1" firstCol="1" bandRow="1">
                <a:tableStyleId>{5C22544A-7EE6-4342-B048-85BDC9FD1C3A}</a:tableStyleId>
              </a:tblPr>
              <a:tblGrid>
                <a:gridCol w="3984567">
                  <a:extLst>
                    <a:ext uri="{9D8B030D-6E8A-4147-A177-3AD203B41FA5}">
                      <a16:colId xmlns:a16="http://schemas.microsoft.com/office/drawing/2014/main" val="2238305619"/>
                    </a:ext>
                  </a:extLst>
                </a:gridCol>
                <a:gridCol w="3984567">
                  <a:extLst>
                    <a:ext uri="{9D8B030D-6E8A-4147-A177-3AD203B41FA5}">
                      <a16:colId xmlns:a16="http://schemas.microsoft.com/office/drawing/2014/main" val="3554282463"/>
                    </a:ext>
                  </a:extLst>
                </a:gridCol>
                <a:gridCol w="3984567">
                  <a:extLst>
                    <a:ext uri="{9D8B030D-6E8A-4147-A177-3AD203B41FA5}">
                      <a16:colId xmlns:a16="http://schemas.microsoft.com/office/drawing/2014/main" val="803920485"/>
                    </a:ext>
                  </a:extLst>
                </a:gridCol>
              </a:tblGrid>
              <a:tr h="1221971">
                <a:tc>
                  <a:txBody>
                    <a:bodyPr/>
                    <a:lstStyle/>
                    <a:p>
                      <a:pPr marL="0" marR="0">
                        <a:lnSpc>
                          <a:spcPct val="200000"/>
                        </a:lnSpc>
                        <a:spcAft>
                          <a:spcPts val="800"/>
                        </a:spcAft>
                        <a:buNone/>
                      </a:pPr>
                      <a:r>
                        <a:rPr lang="en-US" sz="1800" kern="100" dirty="0">
                          <a:effectLst/>
                        </a:rPr>
                        <a:t>Error Type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a:effectLst/>
                        </a:rPr>
                        <a:t>Problem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a:effectLst/>
                        </a:rPr>
                        <a:t>Solution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9326940"/>
                  </a:ext>
                </a:extLst>
              </a:tr>
              <a:tr h="1221971">
                <a:tc>
                  <a:txBody>
                    <a:bodyPr/>
                    <a:lstStyle/>
                    <a:p>
                      <a:pPr marL="0" marR="0">
                        <a:lnSpc>
                          <a:spcPct val="200000"/>
                        </a:lnSpc>
                        <a:spcAft>
                          <a:spcPts val="800"/>
                        </a:spcAft>
                        <a:buNone/>
                      </a:pPr>
                      <a:r>
                        <a:rPr lang="en-US" sz="1800" kern="100">
                          <a:effectLst/>
                        </a:rPr>
                        <a:t>Sentence Fragment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dirty="0">
                          <a:effectLst/>
                        </a:rPr>
                        <a:t>Incomplete thought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dirty="0">
                          <a:effectLst/>
                        </a:rPr>
                        <a:t>Add missing subject/verb</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52293374"/>
                  </a:ext>
                </a:extLst>
              </a:tr>
              <a:tr h="1221971">
                <a:tc>
                  <a:txBody>
                    <a:bodyPr/>
                    <a:lstStyle/>
                    <a:p>
                      <a:pPr marL="0" marR="0">
                        <a:lnSpc>
                          <a:spcPct val="200000"/>
                        </a:lnSpc>
                        <a:spcAft>
                          <a:spcPts val="800"/>
                        </a:spcAft>
                        <a:buNone/>
                      </a:pPr>
                      <a:r>
                        <a:rPr lang="en-US" sz="1800" kern="100">
                          <a:effectLst/>
                        </a:rPr>
                        <a:t>Fused Sentence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dirty="0">
                          <a:effectLst/>
                        </a:rPr>
                        <a:t>No punctuation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dirty="0">
                          <a:effectLst/>
                        </a:rPr>
                        <a:t>Add conjunction or punctuation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3245730"/>
                  </a:ext>
                </a:extLst>
              </a:tr>
              <a:tr h="1221971">
                <a:tc>
                  <a:txBody>
                    <a:bodyPr/>
                    <a:lstStyle/>
                    <a:p>
                      <a:pPr marL="0" marR="0">
                        <a:lnSpc>
                          <a:spcPct val="200000"/>
                        </a:lnSpc>
                        <a:spcAft>
                          <a:spcPts val="800"/>
                        </a:spcAft>
                        <a:buNone/>
                      </a:pPr>
                      <a:r>
                        <a:rPr lang="en-US" sz="1800" kern="100">
                          <a:effectLst/>
                        </a:rPr>
                        <a:t>Comma Splice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a:effectLst/>
                        </a:rPr>
                        <a:t>Comma only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1800" kern="100" dirty="0">
                          <a:effectLst/>
                        </a:rPr>
                        <a:t>Use conjunction, semicolon, or period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04703492"/>
                  </a:ext>
                </a:extLst>
              </a:tr>
            </a:tbl>
          </a:graphicData>
        </a:graphic>
      </p:graphicFrame>
    </p:spTree>
    <p:extLst>
      <p:ext uri="{BB962C8B-B14F-4D97-AF65-F5344CB8AC3E}">
        <p14:creationId xmlns:p14="http://schemas.microsoft.com/office/powerpoint/2010/main" val="4248159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7C2D1-A7EE-5158-6028-FDDA125B278F}"/>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2932212E-291F-8C0B-2982-A0146E79A811}"/>
              </a:ext>
            </a:extLst>
          </p:cNvPr>
          <p:cNvSpPr>
            <a:spLocks noGrp="1"/>
          </p:cNvSpPr>
          <p:nvPr>
            <p:ph idx="1"/>
          </p:nvPr>
        </p:nvSpPr>
        <p:spPr>
          <a:xfrm>
            <a:off x="189808" y="1233488"/>
            <a:ext cx="12002192" cy="5749203"/>
          </a:xfrm>
        </p:spPr>
        <p:txBody>
          <a:bodyPr>
            <a:normAutofit fontScale="85000" lnSpcReduction="20000"/>
          </a:bodyPr>
          <a:lstStyle/>
          <a:p>
            <a:pPr marL="0" indent="0">
              <a:buNone/>
            </a:pPr>
            <a:r>
              <a:rPr lang="en-US" dirty="0"/>
              <a:t>Rewrite each sentence correctly. You may:</a:t>
            </a:r>
          </a:p>
          <a:p>
            <a:pPr lvl="0"/>
            <a:r>
              <a:rPr lang="en-US" dirty="0"/>
              <a:t>join clauses properly,</a:t>
            </a:r>
          </a:p>
          <a:p>
            <a:pPr lvl="0"/>
            <a:r>
              <a:rPr lang="en-US" dirty="0"/>
              <a:t>add missing main clauses, or</a:t>
            </a:r>
          </a:p>
          <a:p>
            <a:pPr lvl="0"/>
            <a:r>
              <a:rPr lang="en-US" dirty="0"/>
              <a:t>split sentences where necessary.</a:t>
            </a:r>
          </a:p>
          <a:p>
            <a:pPr marL="514350" lvl="0" indent="-514350">
              <a:buAutoNum type="arabicPeriod"/>
            </a:pPr>
            <a:r>
              <a:rPr lang="en-US" b="1" dirty="0"/>
              <a:t>Although the patient was stable.</a:t>
            </a:r>
          </a:p>
          <a:p>
            <a:pPr marL="514350" lvl="0" indent="-514350">
              <a:buAutoNum type="arabicPeriod"/>
            </a:pPr>
            <a:r>
              <a:rPr lang="en-US" b="1" dirty="0"/>
              <a:t>Because the equipment malfunctioned.</a:t>
            </a:r>
          </a:p>
          <a:p>
            <a:pPr marL="514350" lvl="0" indent="-514350">
              <a:buAutoNum type="arabicPeriod"/>
            </a:pPr>
            <a:r>
              <a:rPr lang="en-US" b="1" dirty="0"/>
              <a:t>After the consent form was signed.</a:t>
            </a:r>
          </a:p>
          <a:p>
            <a:pPr marL="514350" lvl="0" indent="-514350">
              <a:buAutoNum type="arabicPeriod"/>
            </a:pPr>
            <a:r>
              <a:rPr lang="en-US" b="1" dirty="0"/>
              <a:t>Which was discussed in the lecture.</a:t>
            </a:r>
          </a:p>
          <a:p>
            <a:pPr marL="514350" lvl="0" indent="-514350">
              <a:buAutoNum type="arabicPeriod"/>
            </a:pPr>
            <a:r>
              <a:rPr lang="en-US" b="1" dirty="0"/>
              <a:t>During the night shift at the hospital.</a:t>
            </a:r>
          </a:p>
          <a:p>
            <a:pPr marL="514350" lvl="0" indent="-514350">
              <a:buAutoNum type="arabicPeriod"/>
            </a:pPr>
            <a:r>
              <a:rPr lang="en-US" b="1" dirty="0"/>
              <a:t>The nurse recorded the data it was later reviewed.</a:t>
            </a:r>
          </a:p>
          <a:p>
            <a:pPr marL="514350" lvl="0" indent="-514350">
              <a:buAutoNum type="arabicPeriod"/>
            </a:pPr>
            <a:r>
              <a:rPr lang="en-US" b="1" dirty="0"/>
              <a:t>The lecture was long the students remained attentive.</a:t>
            </a:r>
          </a:p>
          <a:p>
            <a:pPr marL="514350" lvl="0" indent="-514350">
              <a:buAutoNum type="arabicPeriod"/>
            </a:pPr>
            <a:r>
              <a:rPr lang="en-US" b="1" dirty="0"/>
              <a:t>The experiment failed the hypothesis was revised.</a:t>
            </a:r>
          </a:p>
          <a:p>
            <a:pPr marL="514350" lvl="0" indent="-514350">
              <a:buAutoNum type="arabicPeriod"/>
            </a:pPr>
            <a:r>
              <a:rPr lang="en-US" b="1" dirty="0"/>
              <a:t>The doctor explained the procedure the patient agreed.</a:t>
            </a:r>
          </a:p>
          <a:p>
            <a:pPr marL="514350" lvl="0" indent="-514350">
              <a:buAutoNum type="arabicPeriod"/>
            </a:pPr>
            <a:r>
              <a:rPr lang="en-US" b="1" dirty="0"/>
              <a:t>The results were significant they supported the theory.</a:t>
            </a:r>
            <a:endParaRPr lang="en-US" dirty="0"/>
          </a:p>
          <a:p>
            <a:endParaRPr lang="en-US" dirty="0"/>
          </a:p>
        </p:txBody>
      </p:sp>
    </p:spTree>
    <p:extLst>
      <p:ext uri="{BB962C8B-B14F-4D97-AF65-F5344CB8AC3E}">
        <p14:creationId xmlns:p14="http://schemas.microsoft.com/office/powerpoint/2010/main" val="9043488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9ED17-418F-DC00-1BDD-CEE3BD1B9BB6}"/>
              </a:ext>
            </a:extLst>
          </p:cNvPr>
          <p:cNvSpPr>
            <a:spLocks noGrp="1"/>
          </p:cNvSpPr>
          <p:nvPr>
            <p:ph type="title"/>
          </p:nvPr>
        </p:nvSpPr>
        <p:spPr/>
        <p:txBody>
          <a:bodyPr/>
          <a:lstStyle/>
          <a:p>
            <a:r>
              <a:rPr lang="en-US" b="1" dirty="0"/>
              <a:t>KEY TAKEAWAY FOR GEMP STUDENTS</a:t>
            </a:r>
            <a:br>
              <a:rPr lang="en-US" dirty="0"/>
            </a:br>
            <a:endParaRPr lang="en-US" dirty="0"/>
          </a:p>
        </p:txBody>
      </p:sp>
      <p:sp>
        <p:nvSpPr>
          <p:cNvPr id="3" name="Content Placeholder 2">
            <a:extLst>
              <a:ext uri="{FF2B5EF4-FFF2-40B4-BE49-F238E27FC236}">
                <a16:creationId xmlns:a16="http://schemas.microsoft.com/office/drawing/2014/main" id="{CB63E8BE-23B7-92EA-59DF-2E1DC468F8FA}"/>
              </a:ext>
            </a:extLst>
          </p:cNvPr>
          <p:cNvSpPr>
            <a:spLocks noGrp="1"/>
          </p:cNvSpPr>
          <p:nvPr>
            <p:ph idx="1"/>
          </p:nvPr>
        </p:nvSpPr>
        <p:spPr>
          <a:xfrm>
            <a:off x="83127" y="1280160"/>
            <a:ext cx="11978640" cy="5868785"/>
          </a:xfrm>
        </p:spPr>
        <p:txBody>
          <a:bodyPr/>
          <a:lstStyle/>
          <a:p>
            <a:pPr marL="0" indent="0">
              <a:buNone/>
            </a:pPr>
            <a:endParaRPr lang="en-US" dirty="0"/>
          </a:p>
          <a:p>
            <a:pPr marL="0" indent="0">
              <a:buNone/>
            </a:pPr>
            <a:r>
              <a:rPr lang="en-US" dirty="0"/>
              <a:t>✔ Every sentence in medical and academic writing must be </a:t>
            </a:r>
            <a:r>
              <a:rPr lang="en-US" b="1" dirty="0"/>
              <a:t>complete</a:t>
            </a:r>
          </a:p>
          <a:p>
            <a:pPr marL="0" indent="0">
              <a:buNone/>
            </a:pPr>
            <a:endParaRPr lang="en-US" b="1" dirty="0"/>
          </a:p>
          <a:p>
            <a:pPr marL="0" indent="0">
              <a:buNone/>
            </a:pPr>
            <a:br>
              <a:rPr lang="en-US" dirty="0"/>
            </a:br>
            <a:r>
              <a:rPr lang="en-US" dirty="0"/>
              <a:t>✔ Avoid fragments and run-ons to ensure </a:t>
            </a:r>
            <a:r>
              <a:rPr lang="en-US" b="1" dirty="0"/>
              <a:t>accuracy and professionalism</a:t>
            </a:r>
          </a:p>
          <a:p>
            <a:pPr marL="0" indent="0">
              <a:buNone/>
            </a:pPr>
            <a:endParaRPr lang="en-US" b="1" dirty="0"/>
          </a:p>
          <a:p>
            <a:pPr marL="0" indent="0">
              <a:buNone/>
            </a:pPr>
            <a:br>
              <a:rPr lang="en-US" dirty="0"/>
            </a:br>
            <a:r>
              <a:rPr lang="en-US" dirty="0"/>
              <a:t>✔ Clear sentences support </a:t>
            </a:r>
            <a:r>
              <a:rPr lang="en-US" b="1" dirty="0"/>
              <a:t>logical reasoning and safe medical practice</a:t>
            </a:r>
            <a:endParaRPr lang="en-US" dirty="0"/>
          </a:p>
          <a:p>
            <a:endParaRPr lang="en-US" dirty="0"/>
          </a:p>
        </p:txBody>
      </p:sp>
    </p:spTree>
    <p:extLst>
      <p:ext uri="{BB962C8B-B14F-4D97-AF65-F5344CB8AC3E}">
        <p14:creationId xmlns:p14="http://schemas.microsoft.com/office/powerpoint/2010/main" val="3230032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133</TotalTime>
  <Words>2329</Words>
  <Application>Microsoft Macintosh PowerPoint</Application>
  <PresentationFormat>Widescreen</PresentationFormat>
  <Paragraphs>362</Paragraphs>
  <Slides>41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Wingdings</vt:lpstr>
      <vt:lpstr>Office Theme</vt:lpstr>
      <vt:lpstr>English and Logical Reasoning for Graduate Entry Medicine Programme (GEMP)</vt:lpstr>
      <vt:lpstr>COURSE DESCRIPTION</vt:lpstr>
      <vt:lpstr>PowerPoint Presentation</vt:lpstr>
      <vt:lpstr>PowerPoint Presentation</vt:lpstr>
      <vt:lpstr>COURSE OBJECTIVES </vt:lpstr>
      <vt:lpstr>PowerPoint Presentation</vt:lpstr>
      <vt:lpstr>MEDICAL ENGLISH </vt:lpstr>
      <vt:lpstr>PowerPoint Presentation</vt:lpstr>
      <vt:lpstr>Importance of Medical English </vt:lpstr>
      <vt:lpstr>Characteristics of Medical English </vt:lpstr>
      <vt:lpstr>PowerPoint Presentation</vt:lpstr>
      <vt:lpstr>PowerPoint Presentation</vt:lpstr>
      <vt:lpstr>4. Common Prefixes and Suffixes </vt:lpstr>
      <vt:lpstr>PowerPoint Presentation</vt:lpstr>
      <vt:lpstr>GENERAL ENGLISH AND ACADEMIC ENGLISH </vt:lpstr>
      <vt:lpstr> Academic English </vt:lpstr>
      <vt:lpstr> Characteristics of Academic English </vt:lpstr>
      <vt:lpstr>PowerPoint Presentation</vt:lpstr>
      <vt:lpstr> General English vs Academic Englissh </vt:lpstr>
      <vt:lpstr>SENTENCE FRAGMENTS, AND RUN-ON SENTENCES </vt:lpstr>
      <vt:lpstr>Essential Components of a Sentence </vt:lpstr>
      <vt:lpstr>PowerPoint Presentation</vt:lpstr>
      <vt:lpstr>SENTENCE FRAGMENTS </vt:lpstr>
      <vt:lpstr>PowerPoint Presentation</vt:lpstr>
      <vt:lpstr>PowerPoint Presentation</vt:lpstr>
      <vt:lpstr>Common Types of Sentence Fragments </vt:lpstr>
      <vt:lpstr>PowerPoint Presentation</vt:lpstr>
      <vt:lpstr>PowerPoint Presentation</vt:lpstr>
      <vt:lpstr>How to Identify and Fix Sentence Fragments </vt:lpstr>
      <vt:lpstr>Ways to fix fragments: </vt:lpstr>
      <vt:lpstr>Scenario: Two University Students After a Lecture </vt:lpstr>
      <vt:lpstr>MODEL ANSWERS</vt:lpstr>
      <vt:lpstr>RUN-ON SENTENCES </vt:lpstr>
      <vt:lpstr>Types of Run-On Sentences </vt:lpstr>
      <vt:lpstr>PowerPoint Presentation</vt:lpstr>
      <vt:lpstr>Why Run-On Sentences Are Problematic in Medical Writing </vt:lpstr>
      <vt:lpstr>Ways to Fix Run-On Sentences</vt:lpstr>
      <vt:lpstr>PowerPoint Presentation</vt:lpstr>
      <vt:lpstr>SUMMARY TABLE</vt:lpstr>
      <vt:lpstr>EXERCISE</vt:lpstr>
      <vt:lpstr>KEY TAKEAWAY FOR GEMP STUDENTS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Alhassan Yakubu</dc:creator>
  <cp:lastModifiedBy>Ato Aikins</cp:lastModifiedBy>
  <cp:revision>1</cp:revision>
  <dcterms:created xsi:type="dcterms:W3CDTF">2026-04-27T07:02:31Z</dcterms:created>
  <dcterms:modified xsi:type="dcterms:W3CDTF">2026-04-28T04:03:52Z</dcterms:modified>
</cp:coreProperties>
</file>