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9" r:id="rId41"/>
    <p:sldId id="300" r:id="rId42"/>
    <p:sldId id="289" r:id="rId43"/>
    <p:sldId id="301" r:id="rId44"/>
    <p:sldId id="29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9" d="100"/>
          <a:sy n="69" d="100"/>
        </p:scale>
        <p:origin x="52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FB70-2A77-6E38-05E6-016081ED1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02154-270F-2EE4-4670-B26755F75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DA57D-9C5C-8402-3EBA-C8EC6FA68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E26E7-139D-E42B-55DA-74FD5E78B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85821-9BAE-6A42-0C82-D768E55D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CBFB-94C8-EC61-583A-A32EC2C8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27AE3-1ECF-BDE6-8E83-A22BF6AC9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5336B-37B6-BE9E-7787-62ED1DF8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EFB39-14DA-34D7-E02A-BF2C63B03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CA9B2-BE82-58FF-9004-DC9DE3C5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3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F3F00-9B3E-842F-F2A1-BBF5C7DF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1270C-D096-2928-46CC-E3AA775DC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C640F-D74B-FFCC-1830-F0E780AE6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55CA6-2F7B-D4D4-5D29-1303070E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FE24B-03CA-0663-437A-A6EEA2A3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3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4E30-FB53-DE19-CA34-C6938A562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1F6A6-23DE-8118-8C90-544A0728C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E4E1C-1BF8-8243-DC68-07A1100F4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580FC-CD20-2709-C850-3C200D30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7C734-0864-672B-0552-076F50089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8F7CC-A6C7-8D28-D6FD-8A460B40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9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706C-630E-7BCD-6448-A96754382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80AAB-9EEE-D7A9-AA51-4D5D3F52C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D43A7-9AA6-9208-5425-7C8681AFE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FCBF59-B596-CD2F-260B-E3271D012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024E8-0C62-E957-F53E-AC1FEE852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D8174E-6F82-F870-06C4-52C30EA1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72EC4-C995-76DB-E305-831103E8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AA88A1-5A8C-4084-4B39-DECA2CA1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24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1BC7-2BBE-4833-2581-C8963640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3F839-9356-1BE7-2C5C-7AC75A7B4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B98DB-A1CB-D9A9-51CD-558992CEE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DCA48-5ED5-2907-0E27-348143A4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5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B47FB-253B-A3BD-47A9-7783F93DC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8CAA1-3A8A-BE83-91BB-B40C5F2B8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294FC-C14A-55D6-F29F-54AADEE3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1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32A2-9AD5-3767-BB8E-5ECE7761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E1A4-C0F3-82CA-4501-022014973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17106-024C-EA11-EC2C-7F60051B5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EBCEF-9711-39DB-C3DF-D68DDEFE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131B1-CA6F-B111-F929-FA2489CD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6823B-83E5-C99F-9F5B-9945F104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54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88BC7-91E8-1DF0-A003-56D47D6C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8F8A2D-860A-22E3-6E54-0ABE41D3B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AE669-81C3-029B-52E9-1074D886C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63251-493B-2E50-903B-F1EACB085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0CED1-7D71-31C1-75C8-AFBF39AE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3DE8A-997A-7C38-1048-BD3E3437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2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FDFB-9574-C2FB-53AB-E9662DEF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71822-8266-C125-7E53-79D90C585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E8BFE-CC7C-0D2E-81C0-6FC60821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958EA-B296-7F14-DBDE-A6663D5F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9623D-6A81-6FC9-3515-DE66E7D3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84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4C840-D39B-74DA-AFBF-0219F624A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35010-44EF-BDAB-DE8B-A781625A5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0A852-60FB-E1E4-11E7-64F5DA29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EAE59-DCEC-9D4F-31F7-08BE52139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785E-BA2D-8773-E662-D199960F4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2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71529-D2A7-3BEF-AFD4-383CAAEB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E565A-D37B-37DA-6438-AA1BC5924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BD4B8-395F-FAE9-140A-7FD3A9F64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76F0A-BE87-44D4-AEAA-438F7C52ACB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FC116-38E7-20F3-EB65-82C6C39D0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EC31-28CA-D0FB-0153-545FBDC99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BB68D-2653-4BE5-ABF1-20CAE197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8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F7B42-7F50-E467-6F8D-24E2E8D8FC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/>
              <a:t>SUBJECT–VERB AGREEMENT, MISPLACED MODIFIERS, AND FAULTY PARALLELISM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F276B-8164-D48F-35A8-AECBC46EF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50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9047-606D-4AD9-B530-D13A2A51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Subject–Verb Agreement?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98DD-475D-4751-7FA3-3F23F3786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825624"/>
            <a:ext cx="11895908" cy="4906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Subject–verb agreement</a:t>
            </a:r>
            <a:r>
              <a:rPr lang="en-US" dirty="0"/>
              <a:t> means that the </a:t>
            </a:r>
            <a:r>
              <a:rPr lang="en-US" b="1" dirty="0"/>
              <a:t>verb in a sentence must agree in number</a:t>
            </a:r>
            <a:r>
              <a:rPr lang="en-US" dirty="0"/>
              <a:t> with its subject.</a:t>
            </a:r>
          </a:p>
          <a:p>
            <a:pPr marL="0" indent="0">
              <a:buNone/>
            </a:pPr>
            <a:r>
              <a:rPr lang="en-US" b="1" dirty="0"/>
              <a:t>Rule: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Singular subjects take </a:t>
            </a:r>
            <a:r>
              <a:rPr lang="en-US" b="1" dirty="0"/>
              <a:t>singular verbs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Plural subjects take </a:t>
            </a:r>
            <a:r>
              <a:rPr lang="en-US" b="1" dirty="0"/>
              <a:t>plural verbs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rule is non-negotiable in academic and medical writing because disagreement can:</a:t>
            </a:r>
          </a:p>
          <a:p>
            <a:pPr lvl="0"/>
            <a:r>
              <a:rPr lang="en-US" dirty="0"/>
              <a:t>Confuse meaning</a:t>
            </a:r>
          </a:p>
          <a:p>
            <a:pPr lvl="0"/>
            <a:r>
              <a:rPr lang="en-US" dirty="0"/>
              <a:t>Reduce clarity</a:t>
            </a:r>
          </a:p>
          <a:p>
            <a:pPr lvl="0"/>
            <a:r>
              <a:rPr lang="en-US" dirty="0"/>
              <a:t>Damage professional credibility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34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9D83-F238-52DE-40AC-DEC1CB681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F819E-F313-9D18-07DA-5E81D04BC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9" y="1567544"/>
            <a:ext cx="12035245" cy="52251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Singular Subjects</a:t>
            </a:r>
            <a:endParaRPr lang="en-US" dirty="0"/>
          </a:p>
          <a:p>
            <a:pPr lvl="0"/>
            <a:r>
              <a:rPr lang="en-US" dirty="0"/>
              <a:t>The </a:t>
            </a:r>
            <a:r>
              <a:rPr lang="en-US" b="1" dirty="0"/>
              <a:t>patient</a:t>
            </a:r>
            <a:r>
              <a:rPr lang="en-US" dirty="0"/>
              <a:t> </a:t>
            </a:r>
            <a:r>
              <a:rPr lang="en-US" i="1" dirty="0"/>
              <a:t>complains</a:t>
            </a:r>
            <a:r>
              <a:rPr lang="en-US" dirty="0"/>
              <a:t> of severe pain.</a:t>
            </a:r>
          </a:p>
          <a:p>
            <a:pPr lvl="0"/>
            <a:r>
              <a:rPr lang="en-US" dirty="0"/>
              <a:t>The </a:t>
            </a:r>
            <a:r>
              <a:rPr lang="en-US" b="1" dirty="0"/>
              <a:t>diagnosis</a:t>
            </a:r>
            <a:r>
              <a:rPr lang="en-US" dirty="0"/>
              <a:t> </a:t>
            </a:r>
            <a:r>
              <a:rPr lang="en-US" i="1" dirty="0"/>
              <a:t>was</a:t>
            </a:r>
            <a:r>
              <a:rPr lang="en-US" dirty="0"/>
              <a:t> confirmed by laboratory tests.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Plural Subjects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The </a:t>
            </a:r>
            <a:r>
              <a:rPr lang="en-US" b="1" dirty="0"/>
              <a:t>patients</a:t>
            </a:r>
            <a:r>
              <a:rPr lang="en-US" dirty="0"/>
              <a:t> </a:t>
            </a:r>
            <a:r>
              <a:rPr lang="en-US" i="1" dirty="0"/>
              <a:t>complain</a:t>
            </a:r>
            <a:r>
              <a:rPr lang="en-US" dirty="0"/>
              <a:t> of severe pain.</a:t>
            </a:r>
          </a:p>
          <a:p>
            <a:pPr lvl="0"/>
            <a:r>
              <a:rPr lang="en-US" dirty="0"/>
              <a:t>The </a:t>
            </a:r>
            <a:r>
              <a:rPr lang="en-US" b="1" dirty="0"/>
              <a:t>diagnoses</a:t>
            </a:r>
            <a:r>
              <a:rPr lang="en-US" dirty="0"/>
              <a:t> </a:t>
            </a:r>
            <a:r>
              <a:rPr lang="en-US" i="1" dirty="0"/>
              <a:t>were</a:t>
            </a:r>
            <a:r>
              <a:rPr lang="en-US" dirty="0"/>
              <a:t> confirmed.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61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AFEBC-A60A-E905-1AB8-BA37988A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Common Subject–Verb Agreement Problems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06DCC-CC02-09E6-3773-30CA418C5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31" y="1825624"/>
            <a:ext cx="11118669" cy="4914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a. Intervening Words Between Subject and Verb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Words between the subject and verb </a:t>
            </a:r>
            <a:r>
              <a:rPr lang="en-US" b="1" dirty="0"/>
              <a:t>do not change</a:t>
            </a:r>
            <a:r>
              <a:rPr lang="en-US" dirty="0"/>
              <a:t> the number of the subject.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❌ Incorrect:</a:t>
            </a:r>
          </a:p>
          <a:p>
            <a:pPr marL="0" lvl="0" indent="0">
              <a:buNone/>
            </a:pPr>
            <a:r>
              <a:rPr lang="en-US" dirty="0"/>
              <a:t>The </a:t>
            </a:r>
            <a:r>
              <a:rPr lang="en-US" b="1" dirty="0"/>
              <a:t>result</a:t>
            </a:r>
            <a:r>
              <a:rPr lang="en-US" dirty="0"/>
              <a:t> of the tests </a:t>
            </a:r>
            <a:r>
              <a:rPr lang="en-US" i="1" dirty="0"/>
              <a:t>show</a:t>
            </a:r>
            <a:r>
              <a:rPr lang="en-US" dirty="0"/>
              <a:t> abnormalities.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✅ Correct:</a:t>
            </a:r>
          </a:p>
          <a:p>
            <a:pPr marL="0" lvl="0" indent="0">
              <a:buNone/>
            </a:pPr>
            <a:r>
              <a:rPr lang="en-US" dirty="0"/>
              <a:t>The </a:t>
            </a:r>
            <a:r>
              <a:rPr lang="en-US" b="1" dirty="0"/>
              <a:t>result</a:t>
            </a:r>
            <a:r>
              <a:rPr lang="en-US" dirty="0"/>
              <a:t> of the tests </a:t>
            </a:r>
            <a:r>
              <a:rPr lang="en-US" i="1" dirty="0"/>
              <a:t>shows</a:t>
            </a:r>
            <a:r>
              <a:rPr lang="en-US" dirty="0"/>
              <a:t> abnormalities.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15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4214-D8E7-739C-E1CE-ECB114E7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Compound Subjects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82E99-8830-B733-9394-3AAF96CCF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571500" indent="-571500">
              <a:buAutoNum type="romanLcPeriod"/>
            </a:pPr>
            <a:r>
              <a:rPr lang="en-US" b="1" dirty="0"/>
              <a:t>Joined by and → plural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❌ Incorrect: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Fever and nausea </a:t>
            </a:r>
            <a:r>
              <a:rPr lang="en-US" i="1" dirty="0"/>
              <a:t>is</a:t>
            </a:r>
            <a:r>
              <a:rPr lang="en-US" dirty="0"/>
              <a:t> present.</a:t>
            </a:r>
          </a:p>
          <a:p>
            <a:pPr marL="0" lvl="0" indent="0">
              <a:buNone/>
            </a:pPr>
            <a:endParaRPr lang="en-US" dirty="0"/>
          </a:p>
          <a:p>
            <a:r>
              <a:rPr lang="en-US" dirty="0"/>
              <a:t>✅ Correct:</a:t>
            </a:r>
          </a:p>
          <a:p>
            <a:pPr lvl="0"/>
            <a:r>
              <a:rPr lang="en-US" dirty="0"/>
              <a:t>Fever and nausea </a:t>
            </a:r>
            <a:r>
              <a:rPr lang="en-US" i="1" dirty="0"/>
              <a:t>are</a:t>
            </a:r>
            <a:r>
              <a:rPr lang="en-US" dirty="0"/>
              <a:t> present.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711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1F25-C044-2E28-AC72-4F5D69C9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C2BB3-0E91-9390-8BCB-8CE499100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ii. Joined by or / nor → verb agrees with nearest subject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✅ Correct:</a:t>
            </a:r>
          </a:p>
          <a:p>
            <a:pPr lvl="0"/>
            <a:r>
              <a:rPr lang="en-US" dirty="0"/>
              <a:t>Either the </a:t>
            </a:r>
            <a:r>
              <a:rPr lang="en-US" b="1" dirty="0"/>
              <a:t>doctor</a:t>
            </a:r>
            <a:r>
              <a:rPr lang="en-US" dirty="0"/>
              <a:t> or the </a:t>
            </a:r>
            <a:r>
              <a:rPr lang="en-US" b="1" dirty="0"/>
              <a:t>nurses</a:t>
            </a:r>
            <a:r>
              <a:rPr lang="en-US" dirty="0"/>
              <a:t> </a:t>
            </a:r>
            <a:r>
              <a:rPr lang="en-US" i="1" dirty="0"/>
              <a:t>are</a:t>
            </a:r>
            <a:r>
              <a:rPr lang="en-US" dirty="0"/>
              <a:t> responsible.</a:t>
            </a:r>
          </a:p>
          <a:p>
            <a:pPr lvl="0"/>
            <a:r>
              <a:rPr lang="en-US" dirty="0"/>
              <a:t>Either the </a:t>
            </a:r>
            <a:r>
              <a:rPr lang="en-US" b="1" dirty="0"/>
              <a:t>nurses</a:t>
            </a:r>
            <a:r>
              <a:rPr lang="en-US" dirty="0"/>
              <a:t> or the </a:t>
            </a:r>
            <a:r>
              <a:rPr lang="en-US" b="1" dirty="0"/>
              <a:t>doctor</a:t>
            </a:r>
            <a:r>
              <a:rPr lang="en-US" dirty="0"/>
              <a:t> </a:t>
            </a:r>
            <a:r>
              <a:rPr lang="en-US" i="1" dirty="0"/>
              <a:t>is</a:t>
            </a:r>
            <a:r>
              <a:rPr lang="en-US" dirty="0"/>
              <a:t> responsible.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524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06BCB-3963-F4B4-F156-81DBDD6E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iii. Collective Nouns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EF23E-9A48-227A-DF53-6D04AE3AE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1825624"/>
            <a:ext cx="11003280" cy="51847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/>
              <a:t>Examples:</a:t>
            </a:r>
          </a:p>
          <a:p>
            <a:pPr lvl="0"/>
            <a:r>
              <a:rPr lang="en-US" dirty="0"/>
              <a:t>team</a:t>
            </a:r>
          </a:p>
          <a:p>
            <a:pPr lvl="0"/>
            <a:r>
              <a:rPr lang="en-US" dirty="0"/>
              <a:t>staff</a:t>
            </a:r>
          </a:p>
          <a:p>
            <a:pPr lvl="0"/>
            <a:r>
              <a:rPr lang="en-US" dirty="0"/>
              <a:t>committee</a:t>
            </a:r>
          </a:p>
          <a:p>
            <a:pPr lvl="0"/>
            <a:r>
              <a:rPr lang="en-US" dirty="0"/>
              <a:t>Group</a:t>
            </a:r>
          </a:p>
          <a:p>
            <a:pPr marL="0" indent="0">
              <a:buNone/>
            </a:pPr>
            <a:r>
              <a:rPr lang="en-US" dirty="0"/>
              <a:t>❌ Incorrect:</a:t>
            </a:r>
          </a:p>
          <a:p>
            <a:pPr lvl="0"/>
            <a:r>
              <a:rPr lang="en-US" dirty="0"/>
              <a:t>The medical team </a:t>
            </a:r>
            <a:r>
              <a:rPr lang="en-US" i="1" dirty="0"/>
              <a:t>are</a:t>
            </a:r>
            <a:r>
              <a:rPr lang="en-US" dirty="0"/>
              <a:t> reviewing the case.</a:t>
            </a:r>
          </a:p>
          <a:p>
            <a:r>
              <a:rPr lang="en-US" dirty="0"/>
              <a:t>✅ Correct:</a:t>
            </a:r>
          </a:p>
          <a:p>
            <a:pPr lvl="0"/>
            <a:r>
              <a:rPr lang="en-US" dirty="0"/>
              <a:t>The medical team </a:t>
            </a:r>
            <a:r>
              <a:rPr lang="en-US" i="1" dirty="0"/>
              <a:t>is</a:t>
            </a:r>
            <a:r>
              <a:rPr lang="en-US" dirty="0"/>
              <a:t> reviewing the case.</a:t>
            </a:r>
          </a:p>
          <a:p>
            <a:pPr marL="0" indent="0">
              <a:buNone/>
            </a:pPr>
            <a:r>
              <a:rPr lang="en-US" dirty="0"/>
              <a:t>Note:</a:t>
            </a:r>
            <a:br>
              <a:rPr lang="en-US" dirty="0"/>
            </a:br>
            <a:r>
              <a:rPr lang="en-US" dirty="0"/>
              <a:t>In medical writing, collective nouns are usually treated as </a:t>
            </a:r>
            <a:r>
              <a:rPr lang="en-US" b="1" dirty="0"/>
              <a:t>singular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397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F833-2C29-720D-0935-78AD87F3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iv. Indefinite Pronouns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62D7-AB18-214B-555B-11AFEE639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615" y="1825624"/>
            <a:ext cx="11640708" cy="485347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Indefinite pronouns such as </a:t>
            </a:r>
            <a:r>
              <a:rPr lang="en-US" b="1" dirty="0"/>
              <a:t>each, everyone, someone, nobody</a:t>
            </a:r>
            <a:r>
              <a:rPr lang="en-US" dirty="0"/>
              <a:t> are </a:t>
            </a:r>
            <a:r>
              <a:rPr lang="en-US" b="1" dirty="0"/>
              <a:t>singular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❌ Incorrect:</a:t>
            </a:r>
          </a:p>
          <a:p>
            <a:pPr marL="0" lvl="0" indent="0">
              <a:buNone/>
            </a:pPr>
            <a:r>
              <a:rPr lang="en-US" dirty="0"/>
              <a:t>Everyone </a:t>
            </a:r>
            <a:r>
              <a:rPr lang="en-US" i="1" dirty="0"/>
              <a:t>know</a:t>
            </a:r>
            <a:r>
              <a:rPr lang="en-US" dirty="0"/>
              <a:t> the risks involved.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✅ Correct:</a:t>
            </a:r>
          </a:p>
          <a:p>
            <a:pPr marL="0" lvl="0" indent="0">
              <a:buNone/>
            </a:pPr>
            <a:r>
              <a:rPr lang="en-US" dirty="0"/>
              <a:t>Everyone </a:t>
            </a:r>
            <a:r>
              <a:rPr lang="en-US" i="1" dirty="0"/>
              <a:t>knows</a:t>
            </a:r>
            <a:r>
              <a:rPr lang="en-US" dirty="0"/>
              <a:t> the risks involved.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0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2A8A-8ED8-88F2-CC93-D58729D3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Subject–Verb Agreement Matters in Medicine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F1AF-2C39-A656-DF37-1F2EC7048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Errors in SVA can:</a:t>
            </a:r>
          </a:p>
          <a:p>
            <a:pPr mar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Distort clinical meaning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Create ambiguity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Undermine academic integrity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Reduce clarity in patient records</a:t>
            </a:r>
          </a:p>
          <a:p>
            <a:pPr lvl="0">
              <a:buFont typeface="Wingdings" panose="05000000000000000000" pitchFamily="2" charset="2"/>
              <a:buChar char="§"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Precision saves lives. Grammar supports precision.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247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CEB4-5229-FB2A-5BEE-B1E4EA145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MISPLACED MODIFIERS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F58C9-920F-6379-0038-09E551372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28" y="1149292"/>
            <a:ext cx="11905672" cy="5629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a Modifier?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A modifier is a word, phrase, or clause that gives more information about another word in a sentence.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Modifiers typically describe, limit, or clarify nouns, pronouns, verbs, adjectives, or adverbs</a:t>
            </a:r>
            <a:endParaRPr lang="en-US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i="1" dirty="0"/>
              <a:t>The tired student fell asleep.</a:t>
            </a:r>
            <a:br>
              <a:rPr lang="en-US" b="1" dirty="0"/>
            </a:br>
            <a:r>
              <a:rPr lang="en-US" b="1" dirty="0"/>
              <a:t>→ tired modifies </a:t>
            </a:r>
            <a:r>
              <a:rPr lang="en-US" b="1" i="1" dirty="0"/>
              <a:t>student</a:t>
            </a:r>
            <a:r>
              <a:rPr lang="en-US" b="1" dirty="0"/>
              <a:t>.</a:t>
            </a:r>
            <a:endParaRPr lang="en-US" dirty="0"/>
          </a:p>
          <a:p>
            <a:pPr marL="0" lvl="0" indent="0">
              <a:buNone/>
            </a:pPr>
            <a:r>
              <a:rPr lang="en-US" b="1" i="1" dirty="0"/>
              <a:t>She spoke clearly.</a:t>
            </a:r>
            <a:br>
              <a:rPr lang="en-US" b="1" dirty="0"/>
            </a:br>
            <a:r>
              <a:rPr lang="en-US" b="1" dirty="0"/>
              <a:t>→ clearly modifies </a:t>
            </a:r>
            <a:r>
              <a:rPr lang="en-US" b="1" i="1" dirty="0"/>
              <a:t>spoke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570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C57F-83B7-0377-3075-19A57F95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3276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Modifiers Based on Position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054BC-75AA-4F59-42B1-D4EC5D2EA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455"/>
            <a:ext cx="10515600" cy="4867563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US" b="1" dirty="0"/>
              <a:t>Modifiers are often classified based on where they appear in relation to the word they modify:</a:t>
            </a:r>
          </a:p>
          <a:p>
            <a:pPr marL="0" lv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US" b="1" dirty="0"/>
              <a:t>Pre‑modifiers (come </a:t>
            </a:r>
            <a:r>
              <a:rPr lang="en-US" b="1" i="1" dirty="0"/>
              <a:t>before</a:t>
            </a:r>
            <a:r>
              <a:rPr lang="en-US" b="1" dirty="0"/>
              <a:t> the headword)</a:t>
            </a:r>
            <a:endParaRPr lang="en-US" dirty="0"/>
          </a:p>
          <a:p>
            <a:pPr lvl="0">
              <a:buFont typeface="Wingdings" panose="05000000000000000000" pitchFamily="2" charset="2"/>
              <a:buChar char="§"/>
            </a:pPr>
            <a:endParaRPr lang="en-US" b="1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US" b="1" dirty="0"/>
              <a:t>Post‑modifiers (come </a:t>
            </a:r>
            <a:r>
              <a:rPr lang="en-US" b="1" i="1" dirty="0"/>
              <a:t>after</a:t>
            </a:r>
            <a:r>
              <a:rPr lang="en-US" b="1" dirty="0"/>
              <a:t> the headword)</a:t>
            </a:r>
            <a:endParaRPr lang="en-US" dirty="0"/>
          </a:p>
          <a:p>
            <a:pPr marL="0" lvl="0" indent="0">
              <a:buNone/>
            </a:pPr>
            <a:br>
              <a:rPr lang="en-US" b="1" dirty="0"/>
            </a:b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79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3949-EBCC-4C5D-7A3B-8DDDB625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B5491-EBFA-1FB2-3C99-8B6347B82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US" b="1" dirty="0"/>
              <a:t>A pre‑modifier is a word or group of words that comes before the noun it modifies.</a:t>
            </a:r>
            <a:endParaRPr lang="en-US" dirty="0"/>
          </a:p>
          <a:p>
            <a:pPr marL="0" lvl="0" indent="0">
              <a:buNone/>
            </a:pPr>
            <a:r>
              <a:rPr lang="en-US" b="1" dirty="0"/>
              <a:t>Pre‑modifiers usually include:</a:t>
            </a: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/>
              <a:t>Adjectives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/>
              <a:t>Nouns used adjectivally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/>
              <a:t>Participles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/>
              <a:t>Determiners (in some analyses)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797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2476-0AB9-20C0-DE34-9BAC0D18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B3105-FE5D-31DB-ED65-DECAA763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825624"/>
            <a:ext cx="11868727" cy="48245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i="1" dirty="0"/>
              <a:t>The </a:t>
            </a:r>
            <a:r>
              <a:rPr lang="en-US" b="1" i="1" u="sng" dirty="0"/>
              <a:t>responsible</a:t>
            </a:r>
            <a:r>
              <a:rPr lang="en-US" b="1" i="1" dirty="0"/>
              <a:t> nurse</a:t>
            </a:r>
            <a:endParaRPr lang="en-US" dirty="0"/>
          </a:p>
          <a:p>
            <a:pPr marL="0" lvl="0" indent="0">
              <a:buNone/>
            </a:pPr>
            <a:r>
              <a:rPr lang="en-US" b="1" i="1" dirty="0"/>
              <a:t>A </a:t>
            </a:r>
            <a:r>
              <a:rPr lang="en-US" b="1" i="1" u="sng" dirty="0"/>
              <a:t>research</a:t>
            </a:r>
            <a:r>
              <a:rPr lang="en-US" b="1" i="1" dirty="0"/>
              <a:t> paper</a:t>
            </a:r>
            <a:endParaRPr lang="en-US" dirty="0"/>
          </a:p>
          <a:p>
            <a:pPr marL="0" lvl="0" indent="0">
              <a:buNone/>
            </a:pPr>
            <a:r>
              <a:rPr lang="en-US" b="1" i="1" dirty="0"/>
              <a:t>The </a:t>
            </a:r>
            <a:r>
              <a:rPr lang="en-US" b="1" i="1" u="sng" dirty="0"/>
              <a:t>broken</a:t>
            </a:r>
            <a:r>
              <a:rPr lang="en-US" b="1" i="1" dirty="0"/>
              <a:t> equipment</a:t>
            </a:r>
            <a:endParaRPr lang="en-US" dirty="0"/>
          </a:p>
          <a:p>
            <a:pPr marL="0" lvl="0" indent="0">
              <a:buNone/>
            </a:pPr>
            <a:r>
              <a:rPr lang="en-US" b="1" i="1" dirty="0"/>
              <a:t>That large medical facility</a:t>
            </a:r>
            <a:endParaRPr lang="en-US" dirty="0"/>
          </a:p>
          <a:p>
            <a:pPr marL="0" lvl="0" indent="0">
              <a:buNone/>
            </a:pPr>
            <a:r>
              <a:rPr lang="en-US" b="1" i="1" dirty="0"/>
              <a:t>An </a:t>
            </a:r>
            <a:r>
              <a:rPr lang="en-US" b="1" i="1" u="sng" dirty="0"/>
              <a:t>experienced</a:t>
            </a:r>
            <a:r>
              <a:rPr lang="en-US" b="1" i="1" dirty="0"/>
              <a:t> university lecturer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➡ In each case, the pre‑modifier comes before the noun and limits or describes it.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94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82754-FF18-9E38-A481-EF850A3F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7A54F-4EE4-760D-99B7-7A39FF916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Structure</a:t>
            </a:r>
            <a:endParaRPr lang="en-US" dirty="0"/>
          </a:p>
          <a:p>
            <a:pPr marL="0" lvl="0" indent="0">
              <a:buNone/>
            </a:pPr>
            <a:r>
              <a:rPr lang="en-US" b="1" dirty="0"/>
              <a:t>Pre‑modifier + Head Noun</a:t>
            </a:r>
            <a:endParaRPr lang="en-US" dirty="0"/>
          </a:p>
          <a:p>
            <a:pPr marL="0" lvl="0" indent="0">
              <a:buNone/>
            </a:pPr>
            <a:r>
              <a:rPr lang="en-US" b="1" i="1" dirty="0"/>
              <a:t>a difficult exam</a:t>
            </a:r>
            <a:endParaRPr lang="en-US" dirty="0"/>
          </a:p>
          <a:p>
            <a:pPr marL="0" lvl="0" indent="0">
              <a:buNone/>
            </a:pPr>
            <a:r>
              <a:rPr lang="en-US" b="1" i="1" dirty="0"/>
              <a:t>the final decision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364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67C5-8BC5-E069-8A76-DDD34CF3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Post‑Modifiers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BBDF5-638E-33CA-9E49-5BE379F0A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Definition</a:t>
            </a:r>
            <a:endParaRPr lang="en-US" dirty="0"/>
          </a:p>
          <a:p>
            <a:pPr marL="0" lvl="0" indent="0">
              <a:buNone/>
            </a:pPr>
            <a:r>
              <a:rPr lang="en-US" b="1" dirty="0"/>
              <a:t>A post‑modifier is a modifier that comes after the noun it describes.</a:t>
            </a:r>
            <a:endParaRPr lang="en-US" dirty="0"/>
          </a:p>
          <a:p>
            <a:pPr marL="0" lvl="0" indent="0">
              <a:buNone/>
            </a:pPr>
            <a:r>
              <a:rPr lang="en-US" b="1" dirty="0"/>
              <a:t>Post‑modifiers are usually: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Prepositional phrases</a:t>
            </a:r>
            <a:endParaRPr lang="en-US" dirty="0"/>
          </a:p>
          <a:p>
            <a:pPr lvl="0"/>
            <a:r>
              <a:rPr lang="en-US" b="1" dirty="0"/>
              <a:t>Relative clauses</a:t>
            </a:r>
            <a:endParaRPr lang="en-US" dirty="0"/>
          </a:p>
          <a:p>
            <a:pPr lvl="0"/>
            <a:r>
              <a:rPr lang="en-US" b="1" dirty="0"/>
              <a:t>Non‑finite clauses (‑</a:t>
            </a:r>
            <a:r>
              <a:rPr lang="en-US" b="1" dirty="0" err="1"/>
              <a:t>ing</a:t>
            </a:r>
            <a:r>
              <a:rPr lang="en-US" b="1" dirty="0"/>
              <a:t> / ‑ed / infinitives)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21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6059-1C98-00DE-7B94-14E6F8E2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Prepositional Phrase as Post‑Modifier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3E49E-8656-B3FA-F54B-18DA5BFD8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855" y="1825624"/>
            <a:ext cx="11085945" cy="503237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i="1" dirty="0"/>
              <a:t>The student </a:t>
            </a:r>
            <a:r>
              <a:rPr lang="en-US" b="1" i="1" u="sng" dirty="0"/>
              <a:t>in the library</a:t>
            </a:r>
            <a:endParaRPr lang="en-US" u="sng" dirty="0"/>
          </a:p>
          <a:p>
            <a:pPr marL="0" lvl="0" indent="0">
              <a:buNone/>
            </a:pPr>
            <a:r>
              <a:rPr lang="en-US" b="1" i="1" dirty="0"/>
              <a:t>The book </a:t>
            </a:r>
            <a:r>
              <a:rPr lang="en-US" b="1" i="1" u="sng" dirty="0"/>
              <a:t>on the table</a:t>
            </a:r>
            <a:endParaRPr lang="en-US" u="sng" dirty="0"/>
          </a:p>
          <a:p>
            <a:pPr marL="0" lvl="0" indent="0">
              <a:buNone/>
            </a:pPr>
            <a:r>
              <a:rPr lang="en-US" b="1" dirty="0"/>
              <a:t>➡ </a:t>
            </a:r>
            <a:r>
              <a:rPr lang="en-US" b="1" i="1" dirty="0"/>
              <a:t>in the library</a:t>
            </a:r>
            <a:r>
              <a:rPr lang="en-US" b="1" dirty="0"/>
              <a:t>, </a:t>
            </a:r>
            <a:r>
              <a:rPr lang="en-US" b="1" i="1" dirty="0"/>
              <a:t>on the table</a:t>
            </a:r>
            <a:r>
              <a:rPr lang="en-US" b="1" dirty="0"/>
              <a:t> modify the nouns </a:t>
            </a:r>
            <a:r>
              <a:rPr lang="en-US" b="1" i="1" dirty="0"/>
              <a:t>student</a:t>
            </a:r>
            <a:r>
              <a:rPr lang="en-US" b="1" dirty="0"/>
              <a:t> and </a:t>
            </a:r>
            <a:r>
              <a:rPr lang="en-US" b="1" i="1" dirty="0"/>
              <a:t>book</a:t>
            </a:r>
            <a:r>
              <a:rPr lang="en-US" b="1" dirty="0"/>
              <a:t>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B. Relative Clause as Post‑Modifier</a:t>
            </a:r>
            <a:endParaRPr lang="en-US" dirty="0"/>
          </a:p>
          <a:p>
            <a:pPr marL="0" lvl="0" indent="0">
              <a:buNone/>
            </a:pPr>
            <a:r>
              <a:rPr lang="en-US" b="1" i="1" dirty="0"/>
              <a:t>The lecturer </a:t>
            </a:r>
            <a:r>
              <a:rPr lang="en-US" b="1" i="1" u="sng" dirty="0"/>
              <a:t>who taught us syntax</a:t>
            </a:r>
            <a:endParaRPr lang="en-US" u="sng" dirty="0"/>
          </a:p>
          <a:p>
            <a:pPr marL="0" lvl="0" indent="0">
              <a:buNone/>
            </a:pPr>
            <a:r>
              <a:rPr lang="en-US" b="1" i="1" dirty="0"/>
              <a:t>The assignment </a:t>
            </a:r>
            <a:r>
              <a:rPr lang="en-US" b="1" i="1" u="sng" dirty="0"/>
              <a:t>that was submitted late</a:t>
            </a:r>
            <a:endParaRPr lang="en-US" u="sng" dirty="0"/>
          </a:p>
          <a:p>
            <a:pPr marL="0" lvl="0" indent="0">
              <a:buNone/>
            </a:pPr>
            <a:r>
              <a:rPr lang="en-US" b="1" dirty="0"/>
              <a:t>➡ These clauses give additional identifying information.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996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8F54-8FFD-C461-0771-B4742B64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9B06D-BC81-0B20-C735-51B892342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C. Non‑finite Clause as Post‑Modifier</a:t>
            </a:r>
            <a:endParaRPr lang="en-US" dirty="0"/>
          </a:p>
          <a:p>
            <a:pPr lvl="0"/>
            <a:r>
              <a:rPr lang="en-US" b="1" i="1" dirty="0"/>
              <a:t>The students </a:t>
            </a:r>
            <a:r>
              <a:rPr lang="en-US" b="1" i="1" u="sng" dirty="0"/>
              <a:t>waiting outside</a:t>
            </a:r>
            <a:endParaRPr lang="en-US" u="sng" dirty="0"/>
          </a:p>
          <a:p>
            <a:pPr lvl="0"/>
            <a:r>
              <a:rPr lang="en-US" b="1" i="1" dirty="0"/>
              <a:t>The report </a:t>
            </a:r>
            <a:r>
              <a:rPr lang="en-US" b="1" i="1" u="sng" dirty="0"/>
              <a:t>written yesterday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Structure</a:t>
            </a:r>
            <a:endParaRPr lang="en-US" dirty="0"/>
          </a:p>
          <a:p>
            <a:pPr lvl="0"/>
            <a:r>
              <a:rPr lang="en-US" b="1" dirty="0"/>
              <a:t>Head Noun + Post‑modifier</a:t>
            </a:r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670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8D13-F120-AD72-E1A8-2F47870B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Misplaced Modifiers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D2367-15D6-F841-1414-4CE1C0FB5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US" b="1" dirty="0"/>
              <a:t>A misplaced modifier is a modifier that is placed too far from the word it is meant to modify, making the sentence unclear, illogical, or humorous</a:t>
            </a:r>
            <a:endParaRPr lang="en-US" dirty="0"/>
          </a:p>
          <a:p>
            <a:pPr lvl="0">
              <a:buFont typeface="Wingdings" panose="05000000000000000000" pitchFamily="2" charset="2"/>
              <a:buChar char="§"/>
            </a:pPr>
            <a:endParaRPr lang="en-US" b="1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US" b="1" dirty="0"/>
              <a:t>The modifier appears to modify the wrong word.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❌ </a:t>
            </a:r>
            <a:r>
              <a:rPr lang="en-US" b="1" i="1" dirty="0"/>
              <a:t>Walking to the hospital, the rain soaked the nurse</a:t>
            </a:r>
            <a:r>
              <a:rPr lang="en-US" b="1" dirty="0"/>
              <a:t>.</a:t>
            </a:r>
          </a:p>
          <a:p>
            <a:pPr marL="0" lvl="0" indent="0">
              <a:buNone/>
            </a:pPr>
            <a:br>
              <a:rPr lang="en-US" b="1" dirty="0"/>
            </a:br>
            <a:r>
              <a:rPr lang="en-US" b="1" dirty="0"/>
              <a:t>✔ </a:t>
            </a:r>
            <a:r>
              <a:rPr lang="en-US" b="1" i="1" dirty="0"/>
              <a:t>Walking to the hospital, the nurse was soaked by the rain</a:t>
            </a:r>
            <a:r>
              <a:rPr lang="en-US" b="1" dirty="0"/>
              <a:t>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006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1EAF-36AA-F76B-6814-5242A068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FC256-056B-1F2C-2258-B559C9E0A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❌ </a:t>
            </a:r>
            <a:r>
              <a:rPr lang="en-US" b="1" i="1" dirty="0"/>
              <a:t>She almost failed every course.</a:t>
            </a:r>
          </a:p>
          <a:p>
            <a:pPr marL="0" lvl="0" indent="0">
              <a:buNone/>
            </a:pPr>
            <a:br>
              <a:rPr lang="en-US" b="1" dirty="0"/>
            </a:br>
            <a:r>
              <a:rPr lang="en-US" b="1" dirty="0"/>
              <a:t>✔ </a:t>
            </a:r>
            <a:r>
              <a:rPr lang="en-US" b="1" i="1" dirty="0"/>
              <a:t>She failed almost every course.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 </a:t>
            </a:r>
            <a:r>
              <a:rPr lang="en-US" b="1" i="1" dirty="0"/>
              <a:t>Almost</a:t>
            </a:r>
            <a:r>
              <a:rPr lang="en-US" b="1" dirty="0"/>
              <a:t> is misplaced; it changes the meaning.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❌ </a:t>
            </a:r>
            <a:r>
              <a:rPr lang="en-US" b="1" i="1" dirty="0"/>
              <a:t>The lecturer discussed plagiarism using clear examples</a:t>
            </a:r>
            <a:r>
              <a:rPr lang="en-US" b="1" dirty="0"/>
              <a:t>.</a:t>
            </a:r>
          </a:p>
          <a:p>
            <a:pPr marL="0" lvl="0" indent="0">
              <a:buNone/>
            </a:pPr>
            <a:br>
              <a:rPr lang="en-US" b="1" dirty="0"/>
            </a:br>
            <a:r>
              <a:rPr lang="en-US" b="1" dirty="0"/>
              <a:t>✔ </a:t>
            </a:r>
            <a:r>
              <a:rPr lang="en-US" b="1" i="1" dirty="0"/>
              <a:t>Using clear examples, the lecturer discussed plagiarism.</a:t>
            </a:r>
            <a:endParaRPr lang="en-US" dirty="0"/>
          </a:p>
          <a:p>
            <a:pPr marL="0" lvl="0" indent="0">
              <a:buNone/>
            </a:pPr>
            <a:r>
              <a:rPr lang="en-US" b="1" dirty="0"/>
              <a:t>👉 It sounds as if </a:t>
            </a:r>
            <a:r>
              <a:rPr lang="en-US" b="1" i="1" dirty="0"/>
              <a:t>plagiarism</a:t>
            </a:r>
            <a:r>
              <a:rPr lang="en-US" b="1" dirty="0"/>
              <a:t> was using examples.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174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A8BD0-769E-71F9-8BD4-F30BFAA95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3719A-CC51-D239-EB74-4A25A989F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0" lvl="0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GB" b="1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lvl="0" indent="0">
              <a:buNone/>
            </a:pPr>
            <a:r>
              <a:rPr lang="en-US" b="1" i="1" dirty="0"/>
              <a:t>I saw a man driving to campus with a microscope.</a:t>
            </a:r>
          </a:p>
          <a:p>
            <a:pPr marL="0" lvl="0" indent="0">
              <a:buNone/>
            </a:pPr>
            <a:br>
              <a:rPr lang="en-US" b="1" dirty="0"/>
            </a:br>
            <a:r>
              <a:rPr lang="en-US" b="1" dirty="0"/>
              <a:t>✔ </a:t>
            </a:r>
            <a:r>
              <a:rPr lang="en-US" b="1" i="1" dirty="0"/>
              <a:t>While I was driving to campus, I saw a man with a microscope.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👉 Who was driving—</a:t>
            </a:r>
            <a:r>
              <a:rPr lang="en-US" b="1" i="1" dirty="0"/>
              <a:t>the man</a:t>
            </a:r>
            <a:r>
              <a:rPr lang="en-US" b="1" dirty="0"/>
              <a:t> or </a:t>
            </a:r>
            <a:r>
              <a:rPr lang="en-US" b="1" i="1" dirty="0"/>
              <a:t>the speaker</a:t>
            </a:r>
            <a:br>
              <a:rPr lang="en-US" b="1" dirty="0"/>
            </a:br>
            <a:endParaRPr lang="en-US" dirty="0"/>
          </a:p>
          <a:p>
            <a:pPr marL="0" lvl="0" indent="0">
              <a:buNone/>
            </a:pPr>
            <a:r>
              <a:rPr lang="en-US" b="1" dirty="0"/>
              <a:t>❌ </a:t>
            </a:r>
            <a:r>
              <a:rPr lang="en-US" b="1" i="1" dirty="0"/>
              <a:t>Covered in dust, we examined the old books.</a:t>
            </a:r>
          </a:p>
          <a:p>
            <a:pPr marL="0" lvl="0" indent="0">
              <a:buNone/>
            </a:pPr>
            <a:br>
              <a:rPr lang="en-US" b="1" dirty="0"/>
            </a:br>
            <a:r>
              <a:rPr lang="en-US" b="1" dirty="0"/>
              <a:t>✔ </a:t>
            </a:r>
            <a:r>
              <a:rPr lang="en-US" b="1" i="1" dirty="0"/>
              <a:t>We examined the old books that were covered in dust.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👉 The phrase wrongly modifies </a:t>
            </a:r>
            <a:r>
              <a:rPr lang="en-US" b="1" i="1" dirty="0"/>
              <a:t>we</a:t>
            </a:r>
            <a:r>
              <a:rPr lang="en-US" b="1" dirty="0"/>
              <a:t> instead of </a:t>
            </a:r>
            <a:r>
              <a:rPr lang="en-US" b="1" i="1" dirty="0"/>
              <a:t>books</a:t>
            </a:r>
            <a:r>
              <a:rPr lang="en-US" b="1" dirty="0"/>
              <a:t>.</a:t>
            </a:r>
            <a:endParaRPr lang="en-US" dirty="0"/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GB" b="1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GB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166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53E7E-8F48-6226-A2E3-56AF949A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Dangling Modifiers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78D3-7CF7-2BB9-163A-C898B9597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§"/>
            </a:pPr>
            <a:r>
              <a:rPr lang="en-US" b="1" dirty="0"/>
              <a:t>A dangling modifier occurs when the word being modified is missing entirely from the sentence.</a:t>
            </a:r>
            <a:endParaRPr lang="en-US" dirty="0"/>
          </a:p>
          <a:p>
            <a:pPr lvl="0"/>
            <a:endParaRPr lang="en-US" dirty="0"/>
          </a:p>
          <a:p>
            <a:pPr marL="0" lvl="0" indent="0">
              <a:buNone/>
            </a:pPr>
            <a:r>
              <a:rPr lang="en-US" b="1" dirty="0"/>
              <a:t>❌ </a:t>
            </a:r>
            <a:r>
              <a:rPr lang="en-US" b="1" i="1" dirty="0"/>
              <a:t>After submitting the assignment, the deadline passed.</a:t>
            </a:r>
          </a:p>
          <a:p>
            <a:pPr lvl="0"/>
            <a:endParaRPr lang="en-US" b="1" i="1" dirty="0"/>
          </a:p>
          <a:p>
            <a:pPr marL="0" lvl="0" indent="0">
              <a:buNone/>
            </a:pPr>
            <a:br>
              <a:rPr lang="en-US" b="1" dirty="0"/>
            </a:br>
            <a:r>
              <a:rPr lang="en-US" b="1" dirty="0"/>
              <a:t>✔ </a:t>
            </a:r>
            <a:r>
              <a:rPr lang="en-US" b="1" i="1" dirty="0"/>
              <a:t>After submitting the assignment, the student waited for feedback.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560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0480-2263-4512-CD40-638C4CED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A0E0D2-4D91-7663-CEF3-C63C45A8F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6564379"/>
              </p:ext>
            </p:extLst>
          </p:nvPr>
        </p:nvGraphicFramePr>
        <p:xfrm>
          <a:off x="314037" y="1690684"/>
          <a:ext cx="11610108" cy="50149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70036">
                  <a:extLst>
                    <a:ext uri="{9D8B030D-6E8A-4147-A177-3AD203B41FA5}">
                      <a16:colId xmlns:a16="http://schemas.microsoft.com/office/drawing/2014/main" val="2616047037"/>
                    </a:ext>
                  </a:extLst>
                </a:gridCol>
                <a:gridCol w="3870036">
                  <a:extLst>
                    <a:ext uri="{9D8B030D-6E8A-4147-A177-3AD203B41FA5}">
                      <a16:colId xmlns:a16="http://schemas.microsoft.com/office/drawing/2014/main" val="2995095832"/>
                    </a:ext>
                  </a:extLst>
                </a:gridCol>
                <a:gridCol w="3870036">
                  <a:extLst>
                    <a:ext uri="{9D8B030D-6E8A-4147-A177-3AD203B41FA5}">
                      <a16:colId xmlns:a16="http://schemas.microsoft.com/office/drawing/2014/main" val="3236816587"/>
                    </a:ext>
                  </a:extLst>
                </a:gridCol>
              </a:tblGrid>
              <a:tr h="1002983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Type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>
                          <a:effectLst/>
                        </a:rPr>
                        <a:t>Position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>
                          <a:effectLst/>
                        </a:rPr>
                        <a:t>Example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31041876"/>
                  </a:ext>
                </a:extLst>
              </a:tr>
              <a:tr h="1002983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Modifier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Varies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>
                          <a:effectLst/>
                        </a:rPr>
                        <a:t>a careful student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17282349"/>
                  </a:ext>
                </a:extLst>
              </a:tr>
              <a:tr h="1002983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>
                          <a:effectLst/>
                        </a:rPr>
                        <a:t>Pre‑modifier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Before noun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the final exam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61589569"/>
                  </a:ext>
                </a:extLst>
              </a:tr>
              <a:tr h="1002983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>
                          <a:effectLst/>
                        </a:rPr>
                        <a:t>Post‑modifier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>
                          <a:effectLst/>
                        </a:rPr>
                        <a:t>After noun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the exam on Friday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3587876"/>
                  </a:ext>
                </a:extLst>
              </a:tr>
              <a:tr h="1002983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>
                          <a:effectLst/>
                        </a:rPr>
                        <a:t>Misplaced modifier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>
                          <a:effectLst/>
                        </a:rPr>
                        <a:t>Incorrect position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2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kern="100" dirty="0">
                          <a:effectLst/>
                        </a:rPr>
                        <a:t>Running fast, the exam ended early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3950212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6D092D9-8905-B267-5237-829CB258A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07726" y="0"/>
            <a:ext cx="1346099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048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9EF3-9F16-0CF5-4A0F-1E952FF11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FAULTY PARALLELISM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8EBA9-8516-22F4-3887-FDC91402E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What Is Parallelism?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Parallelism</a:t>
            </a:r>
            <a:r>
              <a:rPr lang="en-US" dirty="0"/>
              <a:t> means using </a:t>
            </a:r>
            <a:r>
              <a:rPr lang="en-US" b="1" dirty="0"/>
              <a:t>the same grammatical form</a:t>
            </a:r>
            <a:r>
              <a:rPr lang="en-US" dirty="0"/>
              <a:t> for ideas of equal importance.</a:t>
            </a:r>
          </a:p>
          <a:p>
            <a:pPr marL="0" indent="0">
              <a:buNone/>
            </a:pPr>
            <a:r>
              <a:rPr lang="en-US" dirty="0"/>
              <a:t>Parallel structures improve:</a:t>
            </a:r>
          </a:p>
          <a:p>
            <a:pPr lvl="0"/>
            <a:r>
              <a:rPr lang="en-US" dirty="0"/>
              <a:t>Clarity</a:t>
            </a:r>
          </a:p>
          <a:p>
            <a:pPr lvl="0"/>
            <a:r>
              <a:rPr lang="en-US" dirty="0"/>
              <a:t>Balance</a:t>
            </a:r>
          </a:p>
          <a:p>
            <a:pPr lvl="0"/>
            <a:r>
              <a:rPr lang="en-US" dirty="0"/>
              <a:t>Logical flow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75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6CE82-EEB3-0A3A-680C-D01D0E48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1155-FB44-42F8-90E9-D38B67907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5624"/>
            <a:ext cx="1153621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Common Forms of Faulty Parallelism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a. Lists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❌ Incorrect:</a:t>
            </a:r>
          </a:p>
          <a:p>
            <a:pPr marL="0" lvl="0" indent="0">
              <a:buNone/>
            </a:pPr>
            <a:r>
              <a:rPr lang="en-US" dirty="0"/>
              <a:t>The procedure involves </a:t>
            </a:r>
            <a:r>
              <a:rPr lang="en-US" b="1" dirty="0"/>
              <a:t>measuring vital signs, to record data, and diagnosis</a:t>
            </a:r>
            <a:r>
              <a:rPr lang="en-US" dirty="0"/>
              <a:t>.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✅ Correct:</a:t>
            </a:r>
          </a:p>
          <a:p>
            <a:pPr marL="0" indent="0">
              <a:buNone/>
            </a:pPr>
            <a:r>
              <a:rPr lang="en-US" dirty="0"/>
              <a:t>The procedure involves </a:t>
            </a:r>
            <a:r>
              <a:rPr lang="en-US" b="1" dirty="0"/>
              <a:t>measuring vital signs, recording data, and diagnosing conditions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24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08BF3-304B-FE0D-BC86-0A9F6B93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b. Paired Constructions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9E933-C115-8317-230C-7BF1AD885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1" y="1825625"/>
            <a:ext cx="11868727" cy="49631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Words that require parallel structure:</a:t>
            </a:r>
          </a:p>
          <a:p>
            <a:pPr marL="0" lvl="0" indent="0">
              <a:buNone/>
            </a:pPr>
            <a:r>
              <a:rPr lang="en-US" dirty="0"/>
              <a:t>both … and</a:t>
            </a:r>
          </a:p>
          <a:p>
            <a:pPr marL="0" lvl="0" indent="0">
              <a:buNone/>
            </a:pPr>
            <a:r>
              <a:rPr lang="en-US" dirty="0"/>
              <a:t>not only … but also</a:t>
            </a:r>
          </a:p>
          <a:p>
            <a:pPr marL="0" lvl="0" indent="0">
              <a:buNone/>
            </a:pPr>
            <a:r>
              <a:rPr lang="en-US" dirty="0"/>
              <a:t>either … or</a:t>
            </a:r>
          </a:p>
          <a:p>
            <a:pPr marL="0" indent="0">
              <a:buNone/>
            </a:pPr>
            <a:r>
              <a:rPr lang="en-US" dirty="0"/>
              <a:t>❌ Incorrect:</a:t>
            </a:r>
          </a:p>
          <a:p>
            <a:pPr mar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The treatment was </a:t>
            </a:r>
            <a:r>
              <a:rPr lang="en-US" b="1" dirty="0"/>
              <a:t>not only effective but also reducing pain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✅ Correct:</a:t>
            </a:r>
          </a:p>
          <a:p>
            <a:pPr marL="0" lvl="0" indent="0">
              <a:buNone/>
            </a:pPr>
            <a:r>
              <a:rPr lang="en-US" dirty="0"/>
              <a:t>The treatment was </a:t>
            </a:r>
            <a:r>
              <a:rPr lang="en-US" b="1" dirty="0"/>
              <a:t>not only effective but also pain-reducing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707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8EE6-FF24-97E2-2A32-D8F6E173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AD1D0-2FAF-8936-1FCA-25C316471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46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Faulty Parallelism in Medical Writing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❌ Incorrect:</a:t>
            </a:r>
          </a:p>
          <a:p>
            <a:pPr marL="0" lvl="0" indent="0">
              <a:buNone/>
            </a:pPr>
            <a:r>
              <a:rPr lang="en-US" dirty="0"/>
              <a:t>The aims of the study are </a:t>
            </a:r>
            <a:r>
              <a:rPr lang="en-US" b="1" dirty="0"/>
              <a:t>to examine patient outcomes, assessing treatment methods, and data analysis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✅ Correct:</a:t>
            </a:r>
          </a:p>
          <a:p>
            <a:pPr marL="0" lvl="0" indent="0">
              <a:buNone/>
            </a:pPr>
            <a:r>
              <a:rPr lang="en-US" dirty="0"/>
              <a:t>The aims of the study are </a:t>
            </a:r>
            <a:r>
              <a:rPr lang="en-US" b="1" dirty="0"/>
              <a:t>to examine patient outcomes, assess treatment methods, and analyse data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828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6503-F8EF-5943-70C4-7A638178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PRONOUNS WITH AMBIGUOUS REFERENCE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F58B0-D100-6931-48CE-1BD29F30E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3891" y="1016000"/>
            <a:ext cx="11427691" cy="59666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Pronoun reference is the relationship between a pronoun and the noun or noun phrase it replaces or refers to (the </a:t>
            </a:r>
            <a:r>
              <a:rPr lang="en-US" sz="3200" b="1" dirty="0"/>
              <a:t>antecedent</a:t>
            </a:r>
            <a:r>
              <a:rPr lang="en-US" sz="3200" dirty="0"/>
              <a:t>).</a:t>
            </a:r>
          </a:p>
          <a:p>
            <a:pPr marL="0" lvl="0" indent="0">
              <a:buNone/>
            </a:pPr>
            <a:r>
              <a:rPr lang="en-US" sz="3200" i="1" dirty="0"/>
              <a:t>Ama submitted </a:t>
            </a:r>
            <a:r>
              <a:rPr lang="en-US" sz="3200" b="1" i="1" dirty="0"/>
              <a:t>her</a:t>
            </a:r>
            <a:r>
              <a:rPr lang="en-US" sz="3200" i="1" dirty="0"/>
              <a:t> thesis.</a:t>
            </a:r>
            <a:br>
              <a:rPr lang="en-US" sz="3200" dirty="0"/>
            </a:br>
            <a:r>
              <a:rPr lang="en-US" sz="3200" dirty="0"/>
              <a:t>→ </a:t>
            </a:r>
            <a:r>
              <a:rPr lang="en-US" sz="3200" b="1" dirty="0"/>
              <a:t>her</a:t>
            </a:r>
            <a:r>
              <a:rPr lang="en-US" sz="3200" dirty="0"/>
              <a:t> refers clearly to </a:t>
            </a:r>
            <a:r>
              <a:rPr lang="en-US" sz="3200" i="1" dirty="0"/>
              <a:t>Ama</a:t>
            </a:r>
            <a:r>
              <a:rPr lang="en-US" sz="3200" dirty="0"/>
              <a:t>.</a:t>
            </a:r>
          </a:p>
          <a:p>
            <a:pPr marL="0" lvl="0" indent="0">
              <a:buNone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pronoun reference becomes </a:t>
            </a:r>
            <a:r>
              <a:rPr lang="en-US" sz="3200" b="1" dirty="0"/>
              <a:t>ambiguous</a:t>
            </a:r>
            <a:r>
              <a:rPr lang="en-US" sz="3200" dirty="0"/>
              <a:t> when:</a:t>
            </a:r>
          </a:p>
          <a:p>
            <a:pPr marL="0" lvl="0" indent="0">
              <a:buNone/>
            </a:pPr>
            <a:r>
              <a:rPr lang="en-US" sz="3200" dirty="0"/>
              <a:t>the antecedent is </a:t>
            </a:r>
            <a:r>
              <a:rPr lang="en-US" sz="3200" b="1" dirty="0"/>
              <a:t>unclear</a:t>
            </a:r>
            <a:endParaRPr lang="en-US" sz="3200" dirty="0"/>
          </a:p>
          <a:p>
            <a:pPr marL="0" lvl="0" indent="0">
              <a:buNone/>
            </a:pPr>
            <a:r>
              <a:rPr lang="en-US" sz="3200" dirty="0"/>
              <a:t>there is </a:t>
            </a:r>
            <a:r>
              <a:rPr lang="en-US" sz="3200" b="1" dirty="0"/>
              <a:t>more than one possible antecedent</a:t>
            </a:r>
            <a:endParaRPr lang="en-US" sz="3200" dirty="0"/>
          </a:p>
          <a:p>
            <a:pPr marL="0" lvl="0" indent="0">
              <a:buNone/>
            </a:pPr>
            <a:r>
              <a:rPr lang="en-US" sz="3200" dirty="0"/>
              <a:t>the antecedent is </a:t>
            </a:r>
            <a:r>
              <a:rPr lang="en-US" sz="3200" b="1" dirty="0"/>
              <a:t>missing</a:t>
            </a:r>
            <a:endParaRPr lang="en-US" sz="3200" dirty="0"/>
          </a:p>
          <a:p>
            <a:pPr marL="0" lvl="0" indent="0">
              <a:buNone/>
            </a:pPr>
            <a:r>
              <a:rPr lang="en-US" sz="3200" dirty="0"/>
              <a:t>the pronoun refers vaguely to an </a:t>
            </a:r>
            <a:r>
              <a:rPr lang="en-US" sz="3200" b="1" dirty="0"/>
              <a:t>entire clause or idea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420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77EB-9BCF-4EF5-6779-370E56414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Ambiguous Pronoun Reference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F3666-941E-0988-F36A-A5DC5AA7F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37" y="1191491"/>
            <a:ext cx="11804072" cy="559723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a. Multiple Possible Antecedents</a:t>
            </a:r>
            <a:endParaRPr lang="en-US" dirty="0"/>
          </a:p>
          <a:p>
            <a:r>
              <a:rPr lang="en-US" dirty="0"/>
              <a:t>This occurs when a pronoun could logically refer to more than one noun.</a:t>
            </a:r>
          </a:p>
          <a:p>
            <a:pPr marL="0" indent="0">
              <a:buNone/>
            </a:pPr>
            <a:r>
              <a:rPr lang="en-US" i="1" dirty="0"/>
              <a:t>Example:</a:t>
            </a:r>
          </a:p>
          <a:p>
            <a:pPr marL="0" indent="0">
              <a:buNone/>
            </a:pPr>
            <a:r>
              <a:rPr lang="en-US" i="1" dirty="0"/>
              <a:t>When the supervisor spoke to the student, </a:t>
            </a:r>
            <a:r>
              <a:rPr lang="en-US" b="1" i="1" dirty="0"/>
              <a:t>he</a:t>
            </a:r>
            <a:r>
              <a:rPr lang="en-US" i="1" dirty="0"/>
              <a:t> was upset.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Problem: Who was upset—the supervisor or the student?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22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2799-C7FB-7AAA-1BD5-BB71D1082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Pronoun Referring to a Vague Idea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374A-ABD7-696F-A395-D6F47714A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909" y="1825624"/>
            <a:ext cx="11776364" cy="513859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pronoun refers not to a specific noun but to an entire situation or idea.</a:t>
            </a:r>
          </a:p>
          <a:p>
            <a:pPr marL="0" indent="0">
              <a:buNone/>
            </a:pPr>
            <a:r>
              <a:rPr lang="en-US" i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The departments were merged without consultation. </a:t>
            </a:r>
            <a:r>
              <a:rPr lang="en-US" b="1" i="1" dirty="0"/>
              <a:t>This</a:t>
            </a:r>
            <a:r>
              <a:rPr lang="en-US" i="1" dirty="0"/>
              <a:t> caused confusion.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exactly does </a:t>
            </a:r>
            <a:r>
              <a:rPr lang="en-US" b="1" dirty="0"/>
              <a:t>this</a:t>
            </a:r>
            <a:r>
              <a:rPr lang="en-US" dirty="0"/>
              <a:t> refer to—the merger, the lack of consultation, or both?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04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3EAA8-2D13-8F9C-D7E0-130D19D2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B19F2-8931-5E3C-E3AF-050A56784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Missing or Implied Antecedent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noun the pronoun is supposed to refer to does not appear explicitly in the sentence.</a:t>
            </a:r>
          </a:p>
          <a:p>
            <a:pPr marL="0" indent="0">
              <a:buNone/>
            </a:pPr>
            <a:r>
              <a:rPr lang="en-US" i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When </a:t>
            </a:r>
            <a:r>
              <a:rPr lang="en-US" i="1" dirty="0" err="1"/>
              <a:t>analysing</a:t>
            </a:r>
            <a:r>
              <a:rPr lang="en-US" i="1" dirty="0"/>
              <a:t> the data, </a:t>
            </a:r>
            <a:r>
              <a:rPr lang="en-US" b="1" i="1" dirty="0"/>
              <a:t>they</a:t>
            </a:r>
            <a:r>
              <a:rPr lang="en-US" i="1" dirty="0"/>
              <a:t> found inconsistencies.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Who are </a:t>
            </a:r>
            <a:r>
              <a:rPr lang="en-US" b="1" dirty="0"/>
              <a:t>they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34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A621-F989-F8CD-EF21-E38BB26A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3353A-DF47-EA25-C9DA-3DD48CF4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d. Pronoun–Antecedent Distance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antecedent is too far from the pronoun, weakening clarity.</a:t>
            </a:r>
          </a:p>
          <a:p>
            <a:pPr marL="0" indent="0">
              <a:buNone/>
            </a:pPr>
            <a:r>
              <a:rPr lang="en-US" i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The committee reviewed several proposals from different faculties and departments over three months, but </a:t>
            </a:r>
            <a:r>
              <a:rPr lang="en-US" b="1" i="1" dirty="0"/>
              <a:t>it</a:t>
            </a:r>
            <a:r>
              <a:rPr lang="en-US" i="1" dirty="0"/>
              <a:t> rejected the final submission.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 does </a:t>
            </a:r>
            <a:r>
              <a:rPr lang="en-US" b="1" dirty="0"/>
              <a:t>it</a:t>
            </a:r>
            <a:r>
              <a:rPr lang="en-US" dirty="0"/>
              <a:t> refer to—committee, faculties, departments?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68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42500-1E15-C3C0-1071-05286F61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Avoiding Ambiguous Reference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2BBD3-0B8B-3EF8-90C7-FFB0DB985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964" y="1825625"/>
            <a:ext cx="11159836" cy="4351338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Place pronouns </a:t>
            </a:r>
            <a:r>
              <a:rPr lang="en-US" b="1" dirty="0"/>
              <a:t>close to their antecedents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Repeat the noun where clarity is more important than variation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Replace vague pronouns (</a:t>
            </a:r>
            <a:r>
              <a:rPr lang="en-US" i="1" dirty="0"/>
              <a:t>this, it, that</a:t>
            </a:r>
            <a:r>
              <a:rPr lang="en-US" dirty="0"/>
              <a:t>) with </a:t>
            </a:r>
            <a:r>
              <a:rPr lang="en-US" b="1" dirty="0"/>
              <a:t>specific nouns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Ensure every pronoun has </a:t>
            </a:r>
            <a:r>
              <a:rPr lang="en-US" b="1" dirty="0"/>
              <a:t>one clear antecedent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dirty="0"/>
              <a:t>Avoid overusing </a:t>
            </a:r>
            <a:r>
              <a:rPr lang="en-US" b="1" dirty="0"/>
              <a:t>it</a:t>
            </a:r>
            <a:r>
              <a:rPr lang="en-US" dirty="0"/>
              <a:t>, </a:t>
            </a:r>
            <a:r>
              <a:rPr lang="en-US" b="1" dirty="0"/>
              <a:t>this</a:t>
            </a:r>
            <a:r>
              <a:rPr lang="en-US" dirty="0"/>
              <a:t>, </a:t>
            </a:r>
            <a:r>
              <a:rPr lang="en-US" b="1" dirty="0"/>
              <a:t>they</a:t>
            </a:r>
            <a:r>
              <a:rPr lang="en-US" dirty="0"/>
              <a:t> in analytical writing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432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F092-FAC9-8E44-592F-B630C1DFD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SPEAKING SKILLS FOR MEDICAL COMMUNICATION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F5C8E-EA81-335F-80D7-FA9A92575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27" y="1825624"/>
            <a:ext cx="11942618" cy="50323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Speaking skills are central to effective medical practice. Medical professionals interact orally with patients, relatives, colleagues, and the wider healthcare team on a daily basis.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Unlike casual conversation, medical communication involves high stakes: patient safety, ethical responsibility, emotional sensitivity, and legal accountability.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Poor speaking skills may lead to misunderstanding, anxiety, non‑compliance with treatment, or even medical errors. Therefore, medical communication requires clarity, accuracy, empathy, professionalism, and ethical awareness.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52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2823-56D6-F263-4590-A94C7DFC0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Effective Speaking in Medical Settings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56AD4-71B5-C257-ED29-6D6276524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825625"/>
            <a:ext cx="11776364" cy="5406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a. Clarity and Precision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Medical speech must be </a:t>
            </a:r>
            <a:r>
              <a:rPr lang="en-US" b="1" dirty="0"/>
              <a:t>clear, direct, and unambiguous</a:t>
            </a:r>
            <a:r>
              <a:rPr lang="en-US" dirty="0"/>
              <a:t>. Vague expressions can confuse patients and colleagues.</a:t>
            </a:r>
          </a:p>
          <a:p>
            <a:pPr marL="0" indent="0">
              <a:buNone/>
            </a:pPr>
            <a:r>
              <a:rPr lang="en-US" i="1" dirty="0"/>
              <a:t>Ineffective: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“You may experience some issues.”</a:t>
            </a:r>
          </a:p>
          <a:p>
            <a:pPr marL="0" indent="0">
              <a:buNone/>
            </a:pPr>
            <a:r>
              <a:rPr lang="en-US" i="1" dirty="0"/>
              <a:t>Effective: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“You may experience mild pain at the injection site for one to two days.”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9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9F4FA-5CF2-284A-0FE1-D33E616F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Appropriateness to Audience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EE8F-EAD3-1BE6-3DA1-DD99E85FB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2" y="1825624"/>
            <a:ext cx="11942618" cy="5032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Medical professionals must adjust their speech depending on whether they are speaking to:</a:t>
            </a:r>
          </a:p>
          <a:p>
            <a:pPr lvl="0"/>
            <a:r>
              <a:rPr lang="en-US" dirty="0"/>
              <a:t>Patients (lay language)</a:t>
            </a:r>
          </a:p>
          <a:p>
            <a:pPr lvl="0"/>
            <a:r>
              <a:rPr lang="en-US" dirty="0"/>
              <a:t>Colleagues (technical language)</a:t>
            </a:r>
          </a:p>
          <a:p>
            <a:pPr lvl="0"/>
            <a:r>
              <a:rPr lang="en-US" dirty="0"/>
              <a:t>Family members (simplified but respectful explanations)</a:t>
            </a:r>
          </a:p>
          <a:p>
            <a:pPr marL="0" indent="0">
              <a:buNone/>
            </a:pPr>
            <a:r>
              <a:rPr lang="en-US" i="1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Instead of</a:t>
            </a:r>
            <a:r>
              <a:rPr lang="en-US" dirty="0"/>
              <a:t>: “You have hypertension.”</a:t>
            </a:r>
            <a:br>
              <a:rPr lang="en-US" dirty="0"/>
            </a:br>
            <a:r>
              <a:rPr lang="en-US" i="1" dirty="0"/>
              <a:t>Say to a patient</a:t>
            </a:r>
            <a:r>
              <a:rPr lang="en-US" dirty="0"/>
              <a:t>: “Your blood pressure is higher than normal, which we need to control.”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2911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4D151-D906-2347-829D-0805C11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EDE6-E549-8663-CB64-F0C19A46B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1825624"/>
            <a:ext cx="1179483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Empathy and Compassion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Speaking skills must reflect </a:t>
            </a:r>
            <a:r>
              <a:rPr lang="en-US" b="1" dirty="0"/>
              <a:t>concern and emotional awareness</a:t>
            </a:r>
            <a:r>
              <a:rPr lang="en-US" dirty="0"/>
              <a:t>, especially when dealing with pain, fear, or loss.</a:t>
            </a:r>
          </a:p>
          <a:p>
            <a:pPr marL="0" indent="0">
              <a:buNone/>
            </a:pPr>
            <a:r>
              <a:rPr lang="en-US" i="1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“I understand this diagnosis may be frightening, and I want you to know we will support you throughout your treatment.”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794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5C1D-444E-2B0C-433C-FFA1D80C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Ethical Responsibility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0DA84-BFA1-6704-62B9-71BD71B40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1" y="1825624"/>
            <a:ext cx="11859491" cy="4926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Medical speech must be:</a:t>
            </a:r>
          </a:p>
          <a:p>
            <a:pPr lvl="0"/>
            <a:r>
              <a:rPr lang="en-US" dirty="0"/>
              <a:t>Honest but sensitive</a:t>
            </a:r>
          </a:p>
          <a:p>
            <a:pPr lvl="0"/>
            <a:r>
              <a:rPr lang="en-US" dirty="0"/>
              <a:t>Respectful of patient dignity</a:t>
            </a:r>
          </a:p>
          <a:p>
            <a:pPr lvl="0"/>
            <a:r>
              <a:rPr lang="en-US" dirty="0"/>
              <a:t>Non‑judgmental</a:t>
            </a:r>
          </a:p>
          <a:p>
            <a:pPr lvl="0"/>
            <a:r>
              <a:rPr lang="en-US" dirty="0"/>
              <a:t>Confidential</a:t>
            </a:r>
          </a:p>
          <a:p>
            <a:pPr marL="0" indent="0">
              <a:buNone/>
            </a:pPr>
            <a:r>
              <a:rPr lang="en-US" i="1" dirty="0"/>
              <a:t>Problematic: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“You didn’t follow instructions, so this happened.”</a:t>
            </a:r>
          </a:p>
          <a:p>
            <a:r>
              <a:rPr lang="en-US" i="1" dirty="0"/>
              <a:t>Ethical:</a:t>
            </a:r>
            <a:endParaRPr lang="en-US" dirty="0"/>
          </a:p>
          <a:p>
            <a:r>
              <a:rPr lang="en-US" dirty="0"/>
              <a:t>“Let’s talk about the challenges you faced in following the treatment plan.”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35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1766-EBF8-06AB-00F4-204172F18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444A8-B24E-D6A2-386D-5B516EABB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Asking Questions Effectively</a:t>
            </a:r>
            <a:endParaRPr lang="en-US" dirty="0"/>
          </a:p>
          <a:p>
            <a:r>
              <a:rPr lang="en-US" dirty="0"/>
              <a:t>Medical interviews rely heavily on </a:t>
            </a:r>
            <a:r>
              <a:rPr lang="en-US" b="1" dirty="0"/>
              <a:t>spoken questioning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Open‑ended questions</a:t>
            </a:r>
            <a:r>
              <a:rPr lang="en-US" dirty="0"/>
              <a:t> encourage patient narratives:</a:t>
            </a:r>
          </a:p>
          <a:p>
            <a:r>
              <a:rPr lang="en-US" dirty="0"/>
              <a:t>“Can you describe how the pain started?”</a:t>
            </a:r>
          </a:p>
          <a:p>
            <a:pPr lvl="0"/>
            <a:r>
              <a:rPr lang="en-US" b="1" dirty="0"/>
              <a:t>Closed questions</a:t>
            </a:r>
            <a:r>
              <a:rPr lang="en-US" dirty="0"/>
              <a:t> confirm details:</a:t>
            </a:r>
          </a:p>
          <a:p>
            <a:r>
              <a:rPr lang="en-US" dirty="0"/>
              <a:t>“Does the pain worsen at night?”</a:t>
            </a:r>
          </a:p>
          <a:p>
            <a:r>
              <a:rPr lang="en-US" dirty="0"/>
              <a:t>Balancing both is essential.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444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6C41-BF5E-03DD-FE6B-3DE5A2EDB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55CB7-E450-4281-A567-902DB0536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91" y="1825624"/>
            <a:ext cx="1183178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Explaining Medical Information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Doctors often translate </a:t>
            </a:r>
            <a:r>
              <a:rPr lang="en-US" b="1" dirty="0"/>
              <a:t>complex biomedical knowledge</a:t>
            </a:r>
            <a:r>
              <a:rPr lang="en-US" dirty="0"/>
              <a:t> into patient‑friendly speech.</a:t>
            </a:r>
          </a:p>
          <a:p>
            <a:pPr marL="0" indent="0">
              <a:buNone/>
            </a:pPr>
            <a:r>
              <a:rPr lang="en-US" i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“This medication helps widen your blood vessels so blood can flow more easily.”</a:t>
            </a:r>
          </a:p>
          <a:p>
            <a:pPr marL="0" indent="0">
              <a:buNone/>
            </a:pPr>
            <a:r>
              <a:rPr lang="en-US" dirty="0"/>
              <a:t>Use:</a:t>
            </a:r>
          </a:p>
          <a:p>
            <a:pPr lvl="0"/>
            <a:r>
              <a:rPr lang="en-US" dirty="0"/>
              <a:t>Simple vocabulary</a:t>
            </a:r>
          </a:p>
          <a:p>
            <a:pPr lvl="0"/>
            <a:r>
              <a:rPr lang="en-US" dirty="0"/>
              <a:t>Short sentences-SIMPLE SENTENCES</a:t>
            </a:r>
          </a:p>
          <a:p>
            <a:pPr lvl="0"/>
            <a:r>
              <a:rPr lang="en-US" dirty="0"/>
              <a:t>Examples and analogies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2679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B2F66-B33F-9296-50C1-F8D6CA8E9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4DB5A-714B-2C4F-B6F2-C7E796606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45" y="1825624"/>
            <a:ext cx="1195185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Delivering Bad News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Speaking in situations involving bad news requires sensitivity, structure, and pacing.</a:t>
            </a:r>
          </a:p>
          <a:p>
            <a:pPr marL="0" indent="0">
              <a:buNone/>
            </a:pPr>
            <a:r>
              <a:rPr lang="en-US" dirty="0"/>
              <a:t>Key principles:</a:t>
            </a:r>
          </a:p>
          <a:p>
            <a:pPr lvl="0"/>
            <a:r>
              <a:rPr lang="en-US" dirty="0"/>
              <a:t>Speak slowly</a:t>
            </a:r>
          </a:p>
          <a:p>
            <a:pPr lvl="0"/>
            <a:r>
              <a:rPr lang="en-US" dirty="0"/>
              <a:t>Avoid medical jargon</a:t>
            </a:r>
          </a:p>
          <a:p>
            <a:pPr lvl="0"/>
            <a:r>
              <a:rPr lang="en-US" dirty="0"/>
              <a:t>Allow silence</a:t>
            </a:r>
          </a:p>
          <a:p>
            <a:pPr lvl="0"/>
            <a:r>
              <a:rPr lang="en-US" dirty="0"/>
              <a:t>Acknowledge emotions</a:t>
            </a:r>
          </a:p>
          <a:p>
            <a:pPr marL="0" indent="0">
              <a:buNone/>
            </a:pPr>
            <a:r>
              <a:rPr lang="en-US" i="1" dirty="0"/>
              <a:t>Example:</a:t>
            </a:r>
            <a:endParaRPr lang="en-US" dirty="0"/>
          </a:p>
          <a:p>
            <a:r>
              <a:rPr lang="en-US" dirty="0"/>
              <a:t>“I am sorry to tell you that the test results are not what we hoped for.”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2322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C348-CBAE-5ACE-8465-DDC6357C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Common Speaking Problems in Medical Communication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1E39E-6A85-388E-7242-F2757FADA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964" y="1825625"/>
            <a:ext cx="11159836" cy="495386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Overuse of technical jargon</a:t>
            </a:r>
          </a:p>
          <a:p>
            <a:pPr lvl="0"/>
            <a:r>
              <a:rPr lang="en-US" dirty="0"/>
              <a:t>Ambiguous pronouns (“it,” “this”)</a:t>
            </a:r>
          </a:p>
          <a:p>
            <a:pPr lvl="0"/>
            <a:r>
              <a:rPr lang="en-US" dirty="0"/>
              <a:t>Excessive dominance (not allowing patients to speak)</a:t>
            </a:r>
          </a:p>
          <a:p>
            <a:pPr lvl="0"/>
            <a:r>
              <a:rPr lang="en-US" dirty="0"/>
              <a:t>Poor turn‑taking</a:t>
            </a:r>
          </a:p>
          <a:p>
            <a:pPr lvl="0"/>
            <a:r>
              <a:rPr lang="en-US" dirty="0"/>
              <a:t>Lack of empathy markers</a:t>
            </a:r>
          </a:p>
          <a:p>
            <a:pPr lvl="0"/>
            <a:r>
              <a:rPr lang="en-US" dirty="0"/>
              <a:t>Cultural insensitivity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148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F36F-AD6D-2203-3F1A-6D11D9FC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A34EB-6C1F-16DF-1104-7A9594594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AutoNum type="romanLcParenR"/>
            </a:pPr>
            <a:r>
              <a:rPr lang="en-US" dirty="0"/>
              <a:t>identify the modifier(s),</a:t>
            </a:r>
          </a:p>
          <a:p>
            <a:pPr marL="571500" indent="-571500">
              <a:buAutoNum type="romanLcParenR"/>
            </a:pPr>
            <a:r>
              <a:rPr lang="en-US" dirty="0"/>
              <a:t> state exactly what the modifier modifies,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256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2585-455B-59F1-5A5A-788A3BB5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Rewrite the following statement for a patient with no medical background: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B7DEE-ED29-EDA8-E981-662D0DF4F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825625"/>
            <a:ext cx="11794836" cy="514783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“You have acute renal insufficiency. ”How can you say this better to a patience with no medical background</a:t>
            </a:r>
          </a:p>
          <a:p>
            <a:pPr marL="514350" indent="-514350">
              <a:buAutoNum type="arabicPeriod"/>
            </a:pPr>
            <a:r>
              <a:rPr lang="en-US" dirty="0"/>
              <a:t>“You didn’t listen to instructions, so this is your </a:t>
            </a:r>
            <a:r>
              <a:rPr lang="en-US" dirty="0" err="1"/>
              <a:t>fault.”How</a:t>
            </a:r>
            <a:r>
              <a:rPr lang="en-US" dirty="0"/>
              <a:t> can you say this better</a:t>
            </a:r>
          </a:p>
          <a:p>
            <a:pPr marL="514350" indent="-514350">
              <a:buAutoNum type="arabicPeriod"/>
            </a:pPr>
            <a:r>
              <a:rPr lang="en-US" dirty="0"/>
              <a:t>Provide two alternative ways of saying the following politely:</a:t>
            </a:r>
          </a:p>
          <a:p>
            <a:pPr marL="0" indent="0">
              <a:buNone/>
            </a:pPr>
            <a:r>
              <a:rPr lang="en-US" dirty="0"/>
              <a:t>“You must stop smoking immediately.”</a:t>
            </a:r>
          </a:p>
          <a:p>
            <a:pPr marL="0" indent="0">
              <a:buNone/>
            </a:pPr>
            <a:r>
              <a:rPr lang="en-US" dirty="0"/>
              <a:t>4. Rewrite the following instruction to make it clearer and safer:</a:t>
            </a:r>
          </a:p>
          <a:p>
            <a:pPr marL="0" indent="0">
              <a:buNone/>
            </a:pPr>
            <a:r>
              <a:rPr lang="en-US" dirty="0"/>
              <a:t>“Take the medicine regularly.”</a:t>
            </a: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588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7077-4BB5-37C5-623A-24D2FB8CE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09C98-67A3-7237-9351-4DBDA9F9F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91" y="1825625"/>
            <a:ext cx="11942618" cy="5110884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1.  </a:t>
            </a:r>
            <a:r>
              <a:rPr lang="en-US" b="1" dirty="0"/>
              <a:t>“the rapidly expanding urban informal settlement research project”</a:t>
            </a:r>
            <a:r>
              <a:rPr lang="en-US" dirty="0"/>
              <a:t>, identify all </a:t>
            </a:r>
            <a:r>
              <a:rPr lang="en-US" b="1" dirty="0"/>
              <a:t>pre‑modifiers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dirty="0"/>
              <a:t>2. Explain the interpretive difference between </a:t>
            </a:r>
            <a:r>
              <a:rPr lang="en-US" b="1" dirty="0"/>
              <a:t>“a responsible senior lecturer”</a:t>
            </a:r>
            <a:r>
              <a:rPr lang="en-US" dirty="0"/>
              <a:t> and </a:t>
            </a:r>
            <a:r>
              <a:rPr lang="en-US" b="1" dirty="0"/>
              <a:t>“a senior lecturer responsible for the supervision process”</a:t>
            </a:r>
            <a:r>
              <a:rPr lang="en-US" dirty="0"/>
              <a:t>; what exactly changes when the modifier shifts position?</a:t>
            </a:r>
          </a:p>
          <a:p>
            <a:pPr lvl="0"/>
            <a:r>
              <a:rPr lang="en-US" dirty="0"/>
              <a:t>·  The phrase </a:t>
            </a:r>
            <a:r>
              <a:rPr lang="en-US" b="1" dirty="0"/>
              <a:t>“policy‑induced language‑shift patterns”</a:t>
            </a:r>
            <a:r>
              <a:rPr lang="en-US" dirty="0"/>
              <a:t> compresses information: expand it into a full clause (or two) and argue whether the compressed version is more effective in an academic paragraph meant for an interdisciplinary audience.</a:t>
            </a:r>
          </a:p>
          <a:p>
            <a:pPr lvl="0"/>
            <a:r>
              <a:rPr lang="en-US" dirty="0"/>
              <a:t>·  Provide two plausible interpretations for </a:t>
            </a:r>
            <a:r>
              <a:rPr lang="en-US" b="1" dirty="0"/>
              <a:t>“old student association records”</a:t>
            </a:r>
            <a:r>
              <a:rPr lang="en-US" dirty="0"/>
              <a:t> and rewrite it so that only one interpretation is possible; explain what ambiguity remains if your rewrite is too brief.</a:t>
            </a:r>
          </a:p>
          <a:p>
            <a:pPr lvl="0"/>
            <a:r>
              <a:rPr lang="en-US" dirty="0"/>
              <a:t>·  Decide which is more appropriate for formal academic prose and why: </a:t>
            </a:r>
            <a:r>
              <a:rPr lang="en-US" b="1" dirty="0"/>
              <a:t>“students interested in applied linguistics”</a:t>
            </a:r>
            <a:r>
              <a:rPr lang="en-US" dirty="0"/>
              <a:t> or </a:t>
            </a:r>
            <a:r>
              <a:rPr lang="en-US" b="1" dirty="0"/>
              <a:t>“applied‑linguistics‑interested students”</a:t>
            </a:r>
            <a:r>
              <a:rPr lang="en-US" dirty="0"/>
              <a:t>; your answer must reference readability, convention, and potential misreading.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05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2193</Words>
  <Application>Microsoft Office PowerPoint</Application>
  <PresentationFormat>Widescreen</PresentationFormat>
  <Paragraphs>329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Calibri Light</vt:lpstr>
      <vt:lpstr>Helvetica</vt:lpstr>
      <vt:lpstr>Symbol</vt:lpstr>
      <vt:lpstr>Wingdings</vt:lpstr>
      <vt:lpstr>Office Theme</vt:lpstr>
      <vt:lpstr>SUBJECT–VERB AGREEMENT, MISPLACED MODIFIERS, AND FAULTY PARALLELISM </vt:lpstr>
      <vt:lpstr>What Is Subject–Verb Agreement? </vt:lpstr>
      <vt:lpstr>Examples: </vt:lpstr>
      <vt:lpstr>Common Subject–Verb Agreement Problems </vt:lpstr>
      <vt:lpstr>Compound Subjects </vt:lpstr>
      <vt:lpstr>PowerPoint Presentation</vt:lpstr>
      <vt:lpstr>iii. Collective Nouns </vt:lpstr>
      <vt:lpstr>iv. Indefinite Pronouns </vt:lpstr>
      <vt:lpstr>Why Subject–Verb Agreement Matters in Medicine</vt:lpstr>
      <vt:lpstr>MISPLACED MODIFIERS </vt:lpstr>
      <vt:lpstr>Types of Modifiers Based on Position </vt:lpstr>
      <vt:lpstr>PowerPoint Presentation</vt:lpstr>
      <vt:lpstr>PowerPoint Presentation</vt:lpstr>
      <vt:lpstr>PowerPoint Presentation</vt:lpstr>
      <vt:lpstr>Post‑Modifiers </vt:lpstr>
      <vt:lpstr>Prepositional Phrase as Post‑Modifier</vt:lpstr>
      <vt:lpstr>PowerPoint Presentation</vt:lpstr>
      <vt:lpstr>Misplaced Modifiers </vt:lpstr>
      <vt:lpstr>PowerPoint Presentation</vt:lpstr>
      <vt:lpstr>PowerPoint Presentation</vt:lpstr>
      <vt:lpstr>Dangling Modifiers  </vt:lpstr>
      <vt:lpstr>PowerPoint Presentation</vt:lpstr>
      <vt:lpstr>FAULTY PARALLELISM </vt:lpstr>
      <vt:lpstr>PowerPoint Presentation</vt:lpstr>
      <vt:lpstr>b. Paired Constructions </vt:lpstr>
      <vt:lpstr> </vt:lpstr>
      <vt:lpstr> PRONOUNS WITH AMBIGUOUS REFERENCE </vt:lpstr>
      <vt:lpstr>Types of Ambiguous Pronoun Reference </vt:lpstr>
      <vt:lpstr>Pronoun Referring to a Vague Idea</vt:lpstr>
      <vt:lpstr>PowerPoint Presentation</vt:lpstr>
      <vt:lpstr>PowerPoint Presentation</vt:lpstr>
      <vt:lpstr>Avoiding Ambiguous Reference </vt:lpstr>
      <vt:lpstr>SPEAKING SKILLS FOR MEDICAL COMMUNICATION</vt:lpstr>
      <vt:lpstr> Effective Speaking in Medical Settings </vt:lpstr>
      <vt:lpstr>Appropriateness to Audience</vt:lpstr>
      <vt:lpstr>PowerPoint Presentation</vt:lpstr>
      <vt:lpstr>Ethical Responsibility </vt:lpstr>
      <vt:lpstr>PowerPoint Presentation</vt:lpstr>
      <vt:lpstr>PowerPoint Presentation</vt:lpstr>
      <vt:lpstr>PowerPoint Presentation</vt:lpstr>
      <vt:lpstr>Common Speaking Problems in Medical Communication </vt:lpstr>
      <vt:lpstr>CLASS EXERCISE</vt:lpstr>
      <vt:lpstr> Rewrite the following statement for a patient with no medical background: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Alhassan Yakubu</dc:creator>
  <cp:lastModifiedBy>Alhassan Yakubu</cp:lastModifiedBy>
  <cp:revision>1</cp:revision>
  <dcterms:created xsi:type="dcterms:W3CDTF">2026-04-28T07:23:49Z</dcterms:created>
  <dcterms:modified xsi:type="dcterms:W3CDTF">2026-04-28T10:34:30Z</dcterms:modified>
</cp:coreProperties>
</file>