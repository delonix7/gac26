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 id="273" r:id="rId19"/>
    <p:sldId id="274" r:id="rId20"/>
    <p:sldId id="275" r:id="rId21"/>
    <p:sldId id="277" r:id="rId22"/>
    <p:sldId id="278" r:id="rId23"/>
    <p:sldId id="279" r:id="rId24"/>
    <p:sldId id="280" r:id="rId25"/>
    <p:sldId id="281" r:id="rId26"/>
    <p:sldId id="282" r:id="rId27"/>
    <p:sldId id="286" r:id="rId28"/>
    <p:sldId id="283" r:id="rId29"/>
    <p:sldId id="285" r:id="rId30"/>
    <p:sldId id="284"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94660"/>
  </p:normalViewPr>
  <p:slideViewPr>
    <p:cSldViewPr snapToGrid="0">
      <p:cViewPr>
        <p:scale>
          <a:sx n="78" d="100"/>
          <a:sy n="78" d="100"/>
        </p:scale>
        <p:origin x="100"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hassan Yakubu" userId="a3cd813aec660e3d" providerId="LiveId" clId="{79A764C6-DBFB-4467-B95F-FCD1D067F950}"/>
    <pc:docChg chg="addSld">
      <pc:chgData name="Alhassan Yakubu" userId="a3cd813aec660e3d" providerId="LiveId" clId="{79A764C6-DBFB-4467-B95F-FCD1D067F950}" dt="2026-04-29T11:06:43.218" v="0" actId="680"/>
      <pc:docMkLst>
        <pc:docMk/>
      </pc:docMkLst>
      <pc:sldChg chg="new">
        <pc:chgData name="Alhassan Yakubu" userId="a3cd813aec660e3d" providerId="LiveId" clId="{79A764C6-DBFB-4467-B95F-FCD1D067F950}" dt="2026-04-29T11:06:43.218" v="0" actId="680"/>
        <pc:sldMkLst>
          <pc:docMk/>
          <pc:sldMk cId="2838573421" sldId="310"/>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4E96D-B362-BA3A-454E-21DAD95122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2B4572-FBB7-196F-727B-3B12EDBC8F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4FB8C5-26C5-EF5B-9571-64299D6ED3C7}"/>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5" name="Footer Placeholder 4">
            <a:extLst>
              <a:ext uri="{FF2B5EF4-FFF2-40B4-BE49-F238E27FC236}">
                <a16:creationId xmlns:a16="http://schemas.microsoft.com/office/drawing/2014/main" id="{48BDCD74-F1BA-6D6D-151D-996DF053189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4D1E5-1CB9-100E-315A-F61B8130CC5A}"/>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6071658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82847-04C1-B3DE-508A-DBD760034B8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15BBFF-92AA-FF29-2744-F895B9E11F4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67D541-F9CB-83DC-44A7-E7F25975A680}"/>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5" name="Footer Placeholder 4">
            <a:extLst>
              <a:ext uri="{FF2B5EF4-FFF2-40B4-BE49-F238E27FC236}">
                <a16:creationId xmlns:a16="http://schemas.microsoft.com/office/drawing/2014/main" id="{F3233408-621E-7BBF-D33F-50AFF9EBE0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7C7139-2DDB-84BB-A670-5A539A950F13}"/>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4033793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2290-3886-50A4-9682-9B436DB326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E8952D8-2DDB-E556-ABC3-CC8E8AF6C6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7768ED2-1348-AA3E-60AD-75E781BB63E1}"/>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5" name="Footer Placeholder 4">
            <a:extLst>
              <a:ext uri="{FF2B5EF4-FFF2-40B4-BE49-F238E27FC236}">
                <a16:creationId xmlns:a16="http://schemas.microsoft.com/office/drawing/2014/main" id="{050AC54E-FA57-9902-62A6-798AC723C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7034B-1D64-BF07-61D0-92847C34D0A1}"/>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77736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3905-CDEF-B481-C6BC-023CD2EDCA2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90A8D3-1D13-B0F5-C6C1-9EAB2F8BBF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6780D84-649D-758D-35EC-57F6F486B7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EE2962-77D7-730F-FCA5-9B39FAE95575}"/>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6" name="Footer Placeholder 5">
            <a:extLst>
              <a:ext uri="{FF2B5EF4-FFF2-40B4-BE49-F238E27FC236}">
                <a16:creationId xmlns:a16="http://schemas.microsoft.com/office/drawing/2014/main" id="{84B3B0E6-46FF-785E-06F7-7B5B7F1CF6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E032B0-317F-5FC4-CDEF-D594FAFABE1D}"/>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1184286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3E98A3-FE4F-08D4-2DCE-CDAFB3ECCD2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A4514AA-8C59-4E65-9C70-BA4C44F192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707CA90-A54B-F8D6-5B86-6898F96B69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8635A5-F1A4-3735-FDC7-C31449114F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3C6CC8-531D-A1F0-12A5-63BF4CC843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139468-C744-8084-ECDF-8DFFC69DB3A8}"/>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8" name="Footer Placeholder 7">
            <a:extLst>
              <a:ext uri="{FF2B5EF4-FFF2-40B4-BE49-F238E27FC236}">
                <a16:creationId xmlns:a16="http://schemas.microsoft.com/office/drawing/2014/main" id="{97FEC12C-5EC8-727A-4199-EED13D95700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50EA658-35A3-8117-F9A5-EEFE92005659}"/>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1650426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C7018-DC57-D00D-261B-5AFF7E87073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F7F1A1-4F9A-69F1-4A82-D08687CBEACD}"/>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4" name="Footer Placeholder 3">
            <a:extLst>
              <a:ext uri="{FF2B5EF4-FFF2-40B4-BE49-F238E27FC236}">
                <a16:creationId xmlns:a16="http://schemas.microsoft.com/office/drawing/2014/main" id="{722510AC-EC04-02E4-4AA8-E11AF2617FF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2DC9E1-D51B-2A03-E83B-58884B5D5027}"/>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372357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318C51-2055-5398-3C31-A8E20CFCC05B}"/>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3" name="Footer Placeholder 2">
            <a:extLst>
              <a:ext uri="{FF2B5EF4-FFF2-40B4-BE49-F238E27FC236}">
                <a16:creationId xmlns:a16="http://schemas.microsoft.com/office/drawing/2014/main" id="{7344C28C-6B78-A70F-8ECC-14E118C5B4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3BF850-B194-D84F-6817-D32146E0780A}"/>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36841390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40435-4440-EA3F-D073-563F70C904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BBCBBD-E3F5-51CD-156D-0562AD94CB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855B33-5C0E-FAF8-5847-FC92BDC68E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4A9317-8633-9CF0-6938-1D66B3DCD071}"/>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6" name="Footer Placeholder 5">
            <a:extLst>
              <a:ext uri="{FF2B5EF4-FFF2-40B4-BE49-F238E27FC236}">
                <a16:creationId xmlns:a16="http://schemas.microsoft.com/office/drawing/2014/main" id="{CA19B50A-DA83-801F-8D62-788780BB05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99B31BD-07E3-5EE7-4A4A-19A94201A86F}"/>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23887930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C2A98-F7E5-BCE6-5418-0CEBAF5FA9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51D677E-98BB-9D94-C963-8813BBCA93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705E5A-D229-A28A-886C-9506AAEEBC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0E8218-7CEC-226E-0675-8712D8845D8E}"/>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6" name="Footer Placeholder 5">
            <a:extLst>
              <a:ext uri="{FF2B5EF4-FFF2-40B4-BE49-F238E27FC236}">
                <a16:creationId xmlns:a16="http://schemas.microsoft.com/office/drawing/2014/main" id="{3C8B0212-1652-D439-13E1-4F24D2ACDF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96B55B-FA17-DE39-75AB-720D2FDA1AB6}"/>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7512397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C2AC7-5E15-1935-DDA2-DA2DEE19290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DD2E-5A26-F1D9-25ED-C214DF6A3A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10E75D-0B14-2031-8582-0A3667B7FD5A}"/>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5" name="Footer Placeholder 4">
            <a:extLst>
              <a:ext uri="{FF2B5EF4-FFF2-40B4-BE49-F238E27FC236}">
                <a16:creationId xmlns:a16="http://schemas.microsoft.com/office/drawing/2014/main" id="{069BB2F1-FA26-710B-C94E-ADFE3D4353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1B0DE1-506A-965C-5D35-A6A94A596370}"/>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3668997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9808DC2-4FE3-3510-B0D9-77F3B640E06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B7C6E1-1F70-DDA5-6D4F-38753ECCEB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EF881C-079C-77E4-1CF9-A8C2C1031A27}"/>
              </a:ext>
            </a:extLst>
          </p:cNvPr>
          <p:cNvSpPr>
            <a:spLocks noGrp="1"/>
          </p:cNvSpPr>
          <p:nvPr>
            <p:ph type="dt" sz="half" idx="10"/>
          </p:nvPr>
        </p:nvSpPr>
        <p:spPr/>
        <p:txBody>
          <a:bodyPr/>
          <a:lstStyle/>
          <a:p>
            <a:fld id="{6D5A0E4E-3A8E-4276-ABD4-4DD7CE9A69AF}" type="datetimeFigureOut">
              <a:rPr lang="en-US" smtClean="0"/>
              <a:t>4/29/2026</a:t>
            </a:fld>
            <a:endParaRPr lang="en-US"/>
          </a:p>
        </p:txBody>
      </p:sp>
      <p:sp>
        <p:nvSpPr>
          <p:cNvPr id="5" name="Footer Placeholder 4">
            <a:extLst>
              <a:ext uri="{FF2B5EF4-FFF2-40B4-BE49-F238E27FC236}">
                <a16:creationId xmlns:a16="http://schemas.microsoft.com/office/drawing/2014/main" id="{9F63B4B5-5ED0-A4EA-E3DA-9CE1E7F1B0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770AF1-1B7D-31AE-B395-29FC03C7AF54}"/>
              </a:ext>
            </a:extLst>
          </p:cNvPr>
          <p:cNvSpPr>
            <a:spLocks noGrp="1"/>
          </p:cNvSpPr>
          <p:nvPr>
            <p:ph type="sldNum" sz="quarter" idx="12"/>
          </p:nvPr>
        </p:nvSpPr>
        <p:spPr/>
        <p:txBody>
          <a:bodyPr/>
          <a:lstStyle/>
          <a:p>
            <a:fld id="{AA8F296F-3408-4E0D-9AC0-5C4172935237}" type="slidenum">
              <a:rPr lang="en-US" smtClean="0"/>
              <a:t>‹#›</a:t>
            </a:fld>
            <a:endParaRPr lang="en-US"/>
          </a:p>
        </p:txBody>
      </p:sp>
    </p:spTree>
    <p:extLst>
      <p:ext uri="{BB962C8B-B14F-4D97-AF65-F5344CB8AC3E}">
        <p14:creationId xmlns:p14="http://schemas.microsoft.com/office/powerpoint/2010/main" val="12170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3BFAC4-C0B5-3F4F-939B-B94D77B0F45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5C7205-BB41-5D20-5C6F-9E679F6BE8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852BF8-4863-A95A-43C7-06E01D4DDF6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5A0E4E-3A8E-4276-ABD4-4DD7CE9A69AF}" type="datetimeFigureOut">
              <a:rPr lang="en-US" smtClean="0"/>
              <a:t>4/29/2026</a:t>
            </a:fld>
            <a:endParaRPr lang="en-US"/>
          </a:p>
        </p:txBody>
      </p:sp>
      <p:sp>
        <p:nvSpPr>
          <p:cNvPr id="5" name="Footer Placeholder 4">
            <a:extLst>
              <a:ext uri="{FF2B5EF4-FFF2-40B4-BE49-F238E27FC236}">
                <a16:creationId xmlns:a16="http://schemas.microsoft.com/office/drawing/2014/main" id="{A6D918EB-F043-8058-B6BD-14499FC928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2908694-46F7-0E88-036F-A879A527FA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8F296F-3408-4E0D-9AC0-5C4172935237}" type="slidenum">
              <a:rPr lang="en-US" smtClean="0"/>
              <a:t>‹#›</a:t>
            </a:fld>
            <a:endParaRPr lang="en-US"/>
          </a:p>
        </p:txBody>
      </p:sp>
    </p:spTree>
    <p:extLst>
      <p:ext uri="{BB962C8B-B14F-4D97-AF65-F5344CB8AC3E}">
        <p14:creationId xmlns:p14="http://schemas.microsoft.com/office/powerpoint/2010/main" val="237390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081C6-7D40-7797-6390-4EBA8AF7BED0}"/>
              </a:ext>
            </a:extLst>
          </p:cNvPr>
          <p:cNvSpPr>
            <a:spLocks noGrp="1"/>
          </p:cNvSpPr>
          <p:nvPr>
            <p:ph type="ctrTitle"/>
          </p:nvPr>
        </p:nvSpPr>
        <p:spPr/>
        <p:txBody>
          <a:bodyPr>
            <a:normAutofit fontScale="90000"/>
          </a:bodyPr>
          <a:lstStyle/>
          <a:p>
            <a:r>
              <a:rPr lang="en-US" b="1" dirty="0"/>
              <a:t>INTRODUCTION TO PARAGRAPHS</a:t>
            </a:r>
            <a:br>
              <a:rPr lang="en-US" dirty="0"/>
            </a:br>
            <a:endParaRPr lang="en-US" dirty="0"/>
          </a:p>
        </p:txBody>
      </p:sp>
      <p:sp>
        <p:nvSpPr>
          <p:cNvPr id="3" name="Subtitle 2">
            <a:extLst>
              <a:ext uri="{FF2B5EF4-FFF2-40B4-BE49-F238E27FC236}">
                <a16:creationId xmlns:a16="http://schemas.microsoft.com/office/drawing/2014/main" id="{B2CEF68A-A398-1A10-4708-1FC4CB65D72B}"/>
              </a:ext>
            </a:extLst>
          </p:cNvPr>
          <p:cNvSpPr>
            <a:spLocks noGrp="1"/>
          </p:cNvSpPr>
          <p:nvPr>
            <p:ph type="subTitle" idx="1"/>
          </p:nvPr>
        </p:nvSpPr>
        <p:spPr/>
        <p:txBody>
          <a:bodyPr/>
          <a:lstStyle/>
          <a:p>
            <a:r>
              <a:rPr lang="en-US" dirty="0"/>
              <a:t>THIRD LECTURE</a:t>
            </a:r>
          </a:p>
        </p:txBody>
      </p:sp>
    </p:spTree>
    <p:extLst>
      <p:ext uri="{BB962C8B-B14F-4D97-AF65-F5344CB8AC3E}">
        <p14:creationId xmlns:p14="http://schemas.microsoft.com/office/powerpoint/2010/main" val="38095595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D2DE7-83B7-C218-A26E-70F240BE7F06}"/>
              </a:ext>
            </a:extLst>
          </p:cNvPr>
          <p:cNvSpPr>
            <a:spLocks noGrp="1"/>
          </p:cNvSpPr>
          <p:nvPr>
            <p:ph type="title"/>
          </p:nvPr>
        </p:nvSpPr>
        <p:spPr/>
        <p:txBody>
          <a:bodyPr/>
          <a:lstStyle/>
          <a:p>
            <a:r>
              <a:rPr lang="en-US" dirty="0"/>
              <a:t>WHAT IS IT?</a:t>
            </a:r>
          </a:p>
        </p:txBody>
      </p:sp>
      <p:sp>
        <p:nvSpPr>
          <p:cNvPr id="3" name="Content Placeholder 2">
            <a:extLst>
              <a:ext uri="{FF2B5EF4-FFF2-40B4-BE49-F238E27FC236}">
                <a16:creationId xmlns:a16="http://schemas.microsoft.com/office/drawing/2014/main" id="{A7DCB2FD-E27D-8333-DA67-E83968A890BE}"/>
              </a:ext>
            </a:extLst>
          </p:cNvPr>
          <p:cNvSpPr>
            <a:spLocks noGrp="1"/>
          </p:cNvSpPr>
          <p:nvPr>
            <p:ph idx="1"/>
          </p:nvPr>
        </p:nvSpPr>
        <p:spPr>
          <a:xfrm>
            <a:off x="838200" y="1825624"/>
            <a:ext cx="10515600" cy="4947409"/>
          </a:xfrm>
        </p:spPr>
        <p:txBody>
          <a:bodyPr/>
          <a:lstStyle/>
          <a:p>
            <a:pPr>
              <a:buFont typeface="Wingdings" panose="05000000000000000000" pitchFamily="2" charset="2"/>
              <a:buChar char="§"/>
            </a:pPr>
            <a:r>
              <a:rPr lang="en-US" dirty="0"/>
              <a:t>Writing is organized in units called paragraphs. </a:t>
            </a:r>
          </a:p>
          <a:p>
            <a:pPr>
              <a:buFont typeface="Wingdings" panose="05000000000000000000" pitchFamily="2" charset="2"/>
              <a:buChar char="§"/>
            </a:pPr>
            <a:r>
              <a:rPr lang="en-US" dirty="0"/>
              <a:t>A paragraph is not just a group of sentences written together; rather, it is a </a:t>
            </a:r>
            <a:r>
              <a:rPr lang="en-US" b="1" dirty="0"/>
              <a:t>logical unit of thought</a:t>
            </a:r>
            <a:r>
              <a:rPr lang="en-US" dirty="0"/>
              <a:t>. </a:t>
            </a:r>
          </a:p>
          <a:p>
            <a:pPr>
              <a:buFont typeface="Wingdings" panose="05000000000000000000" pitchFamily="2" charset="2"/>
              <a:buChar char="§"/>
            </a:pPr>
            <a:r>
              <a:rPr lang="en-US" dirty="0"/>
              <a:t>Paragraphs help writers present ideas clearly and help readers understand and follow those ideas easily.</a:t>
            </a:r>
          </a:p>
          <a:p>
            <a:pPr>
              <a:buFont typeface="Wingdings" panose="05000000000000000000" pitchFamily="2" charset="2"/>
              <a:buChar char="§"/>
            </a:pPr>
            <a:r>
              <a:rPr lang="en-US" dirty="0"/>
              <a:t>In both academic and creative writing, paragraphs serve as the building blocks of communication. </a:t>
            </a:r>
          </a:p>
          <a:p>
            <a:pPr>
              <a:buFont typeface="Wingdings" panose="05000000000000000000" pitchFamily="2" charset="2"/>
              <a:buChar char="§"/>
            </a:pPr>
            <a:endParaRPr lang="en-US" dirty="0"/>
          </a:p>
          <a:p>
            <a:pPr>
              <a:buFont typeface="Wingdings" panose="05000000000000000000" pitchFamily="2" charset="2"/>
              <a:buChar char="§"/>
            </a:pPr>
            <a:r>
              <a:rPr lang="en-US" dirty="0"/>
              <a:t>Without paragraphs, writing becomes confusing, overcrowded, and difficult to read.</a:t>
            </a:r>
          </a:p>
          <a:p>
            <a:endParaRPr lang="en-US" dirty="0"/>
          </a:p>
        </p:txBody>
      </p:sp>
    </p:spTree>
    <p:extLst>
      <p:ext uri="{BB962C8B-B14F-4D97-AF65-F5344CB8AC3E}">
        <p14:creationId xmlns:p14="http://schemas.microsoft.com/office/powerpoint/2010/main" val="1079347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56223-460A-36E3-FD19-8E1818270B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3A84817-0E78-271A-8A5E-F8D68B653EC6}"/>
              </a:ext>
            </a:extLst>
          </p:cNvPr>
          <p:cNvSpPr>
            <a:spLocks noGrp="1"/>
          </p:cNvSpPr>
          <p:nvPr>
            <p:ph idx="1"/>
          </p:nvPr>
        </p:nvSpPr>
        <p:spPr>
          <a:xfrm>
            <a:off x="838200" y="1825624"/>
            <a:ext cx="10515600" cy="5032375"/>
          </a:xfrm>
        </p:spPr>
        <p:txBody>
          <a:bodyPr/>
          <a:lstStyle/>
          <a:p>
            <a:pPr>
              <a:buFont typeface="Wingdings" panose="05000000000000000000" pitchFamily="2" charset="2"/>
              <a:buChar char="§"/>
            </a:pPr>
            <a:r>
              <a:rPr lang="en-US" dirty="0"/>
              <a:t>A </a:t>
            </a:r>
            <a:r>
              <a:rPr lang="en-US" b="1" dirty="0"/>
              <a:t>paragraph</a:t>
            </a:r>
            <a:r>
              <a:rPr lang="en-US" dirty="0"/>
              <a:t> is a group of sentences that are closely related and work together to develop one central idea.</a:t>
            </a:r>
          </a:p>
          <a:p>
            <a:pPr>
              <a:buFont typeface="Wingdings" panose="05000000000000000000" pitchFamily="2" charset="2"/>
              <a:buChar char="§"/>
            </a:pPr>
            <a:endParaRPr lang="en-US" dirty="0"/>
          </a:p>
          <a:p>
            <a:pPr>
              <a:buFont typeface="Wingdings" panose="05000000000000000000" pitchFamily="2" charset="2"/>
              <a:buChar char="§"/>
            </a:pPr>
            <a:endParaRPr lang="en-US" dirty="0"/>
          </a:p>
          <a:p>
            <a:pPr marL="0" indent="0">
              <a:buNone/>
            </a:pPr>
            <a:r>
              <a:rPr lang="en-US" dirty="0"/>
              <a:t>Each paragraph:</a:t>
            </a:r>
          </a:p>
          <a:p>
            <a:pPr lvl="0"/>
            <a:r>
              <a:rPr lang="en-US" dirty="0"/>
              <a:t>Focuses on </a:t>
            </a:r>
            <a:r>
              <a:rPr lang="en-US" b="1" dirty="0"/>
              <a:t>one main idea</a:t>
            </a:r>
            <a:endParaRPr lang="en-US" dirty="0"/>
          </a:p>
          <a:p>
            <a:pPr lvl="0"/>
            <a:r>
              <a:rPr lang="en-US" dirty="0"/>
              <a:t>Develops that idea fully</a:t>
            </a:r>
          </a:p>
          <a:p>
            <a:pPr lvl="0"/>
            <a:r>
              <a:rPr lang="en-US" dirty="0"/>
              <a:t>Is usually separated from others by indentation or spacing</a:t>
            </a:r>
          </a:p>
          <a:p>
            <a:endParaRPr lang="en-US" dirty="0"/>
          </a:p>
        </p:txBody>
      </p:sp>
    </p:spTree>
    <p:extLst>
      <p:ext uri="{BB962C8B-B14F-4D97-AF65-F5344CB8AC3E}">
        <p14:creationId xmlns:p14="http://schemas.microsoft.com/office/powerpoint/2010/main" val="1367679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CF72D-41C1-53F1-4766-E501D4CD272C}"/>
              </a:ext>
            </a:extLst>
          </p:cNvPr>
          <p:cNvSpPr>
            <a:spLocks noGrp="1"/>
          </p:cNvSpPr>
          <p:nvPr>
            <p:ph type="title"/>
          </p:nvPr>
        </p:nvSpPr>
        <p:spPr/>
        <p:txBody>
          <a:bodyPr/>
          <a:lstStyle/>
          <a:p>
            <a:r>
              <a:rPr lang="en-US" dirty="0"/>
              <a:t>RELEVANCE</a:t>
            </a:r>
          </a:p>
        </p:txBody>
      </p:sp>
      <p:sp>
        <p:nvSpPr>
          <p:cNvPr id="3" name="Content Placeholder 2">
            <a:extLst>
              <a:ext uri="{FF2B5EF4-FFF2-40B4-BE49-F238E27FC236}">
                <a16:creationId xmlns:a16="http://schemas.microsoft.com/office/drawing/2014/main" id="{B406385B-BE50-22F0-12E3-46C288F392A0}"/>
              </a:ext>
            </a:extLst>
          </p:cNvPr>
          <p:cNvSpPr>
            <a:spLocks noGrp="1"/>
          </p:cNvSpPr>
          <p:nvPr>
            <p:ph idx="1"/>
          </p:nvPr>
        </p:nvSpPr>
        <p:spPr>
          <a:xfrm>
            <a:off x="178025" y="1825624"/>
            <a:ext cx="11175775" cy="5125433"/>
          </a:xfrm>
        </p:spPr>
        <p:txBody>
          <a:bodyPr>
            <a:normAutofit/>
          </a:bodyPr>
          <a:lstStyle/>
          <a:p>
            <a:pPr>
              <a:buFont typeface="Wingdings" panose="05000000000000000000" pitchFamily="2" charset="2"/>
              <a:buChar char="§"/>
            </a:pPr>
            <a:r>
              <a:rPr lang="en-US" dirty="0"/>
              <a:t>A paragraph is an essential part of writing because it helps to organize ideas clearly. </a:t>
            </a:r>
          </a:p>
          <a:p>
            <a:pPr>
              <a:buFont typeface="Wingdings" panose="05000000000000000000" pitchFamily="2" charset="2"/>
              <a:buChar char="§"/>
            </a:pPr>
            <a:r>
              <a:rPr lang="en-US" dirty="0"/>
              <a:t>When ideas are grouped into separate paragraphs, readers can easily follow the writer’s thoughts. </a:t>
            </a:r>
          </a:p>
          <a:p>
            <a:pPr>
              <a:buFont typeface="Wingdings" panose="05000000000000000000" pitchFamily="2" charset="2"/>
              <a:buChar char="§"/>
            </a:pPr>
            <a:endParaRPr lang="en-US" dirty="0"/>
          </a:p>
          <a:p>
            <a:pPr>
              <a:buFont typeface="Wingdings" panose="05000000000000000000" pitchFamily="2" charset="2"/>
              <a:buChar char="§"/>
            </a:pPr>
            <a:r>
              <a:rPr lang="en-US" dirty="0"/>
              <a:t>Each paragraph discusses only one main idea, which prevents confusion and repetition. Without proper paragraphs, writing becomes crowded and difficult to understand.</a:t>
            </a:r>
          </a:p>
          <a:p>
            <a:pPr>
              <a:buFont typeface="Wingdings" panose="05000000000000000000" pitchFamily="2" charset="2"/>
              <a:buChar char="§"/>
            </a:pPr>
            <a:r>
              <a:rPr lang="en-US" dirty="0"/>
              <a:t> Therefore, learning how to write effective paragraphs is important for every student.</a:t>
            </a:r>
          </a:p>
          <a:p>
            <a:endParaRPr lang="en-US" dirty="0"/>
          </a:p>
        </p:txBody>
      </p:sp>
    </p:spTree>
    <p:extLst>
      <p:ext uri="{BB962C8B-B14F-4D97-AF65-F5344CB8AC3E}">
        <p14:creationId xmlns:p14="http://schemas.microsoft.com/office/powerpoint/2010/main" val="30714148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E0E3D-F914-A424-266C-98447C41FB95}"/>
              </a:ext>
            </a:extLst>
          </p:cNvPr>
          <p:cNvSpPr>
            <a:spLocks noGrp="1"/>
          </p:cNvSpPr>
          <p:nvPr>
            <p:ph type="title"/>
          </p:nvPr>
        </p:nvSpPr>
        <p:spPr/>
        <p:txBody>
          <a:bodyPr/>
          <a:lstStyle/>
          <a:p>
            <a:r>
              <a:rPr lang="en-US" b="1" dirty="0"/>
              <a:t>STRUCTURE OF A PARAGRAPH </a:t>
            </a:r>
            <a:br>
              <a:rPr lang="en-US" dirty="0"/>
            </a:br>
            <a:endParaRPr lang="en-US" dirty="0"/>
          </a:p>
        </p:txBody>
      </p:sp>
      <p:sp>
        <p:nvSpPr>
          <p:cNvPr id="3" name="Content Placeholder 2">
            <a:extLst>
              <a:ext uri="{FF2B5EF4-FFF2-40B4-BE49-F238E27FC236}">
                <a16:creationId xmlns:a16="http://schemas.microsoft.com/office/drawing/2014/main" id="{D6DE3181-3B60-9112-AA75-B5B8E3692CD1}"/>
              </a:ext>
            </a:extLst>
          </p:cNvPr>
          <p:cNvSpPr>
            <a:spLocks noGrp="1"/>
          </p:cNvSpPr>
          <p:nvPr>
            <p:ph idx="1"/>
          </p:nvPr>
        </p:nvSpPr>
        <p:spPr>
          <a:xfrm>
            <a:off x="178025" y="1825624"/>
            <a:ext cx="11175775" cy="5032375"/>
          </a:xfrm>
        </p:spPr>
        <p:txBody>
          <a:bodyPr>
            <a:normAutofit/>
          </a:bodyPr>
          <a:lstStyle/>
          <a:p>
            <a:pPr>
              <a:buFont typeface="Wingdings" panose="05000000000000000000" pitchFamily="2" charset="2"/>
              <a:buChar char="§"/>
            </a:pPr>
            <a:r>
              <a:rPr lang="en-US" dirty="0"/>
              <a:t>A well‑developed paragraph usually contains </a:t>
            </a:r>
            <a:r>
              <a:rPr lang="en-US" b="1" dirty="0"/>
              <a:t>three major parts</a:t>
            </a:r>
            <a:r>
              <a:rPr lang="en-US" dirty="0"/>
              <a:t>:</a:t>
            </a:r>
          </a:p>
          <a:p>
            <a:pPr marL="0" indent="0">
              <a:buNone/>
            </a:pPr>
            <a:r>
              <a:rPr lang="en-US" b="1" dirty="0"/>
              <a:t>1 Topic Sentence</a:t>
            </a:r>
            <a:endParaRPr lang="en-US" dirty="0"/>
          </a:p>
          <a:p>
            <a:pPr>
              <a:buFont typeface="Wingdings" panose="05000000000000000000" pitchFamily="2" charset="2"/>
              <a:buChar char="§"/>
            </a:pPr>
            <a:r>
              <a:rPr lang="en-US" dirty="0"/>
              <a:t>The </a:t>
            </a:r>
            <a:r>
              <a:rPr lang="en-US" b="1" dirty="0"/>
              <a:t>topic sentence</a:t>
            </a:r>
            <a:r>
              <a:rPr lang="en-US" dirty="0"/>
              <a:t> introduces the </a:t>
            </a:r>
            <a:r>
              <a:rPr lang="en-US" b="1" dirty="0"/>
              <a:t>main idea</a:t>
            </a:r>
            <a:r>
              <a:rPr lang="en-US" dirty="0"/>
              <a:t> of the paragraph. </a:t>
            </a:r>
          </a:p>
          <a:p>
            <a:pPr>
              <a:buFont typeface="Wingdings" panose="05000000000000000000" pitchFamily="2" charset="2"/>
              <a:buChar char="§"/>
            </a:pPr>
            <a:r>
              <a:rPr lang="en-US" dirty="0"/>
              <a:t>It tells the reader exactly what the paragraph will be about.</a:t>
            </a:r>
          </a:p>
          <a:p>
            <a:pPr marL="0" indent="0">
              <a:buNone/>
            </a:pPr>
            <a:r>
              <a:rPr lang="en-US" b="1" dirty="0"/>
              <a:t>Functions of a Topic Sentence</a:t>
            </a:r>
            <a:endParaRPr lang="en-US" dirty="0"/>
          </a:p>
          <a:p>
            <a:pPr lvl="0"/>
            <a:r>
              <a:rPr lang="en-US" dirty="0"/>
              <a:t>Introduces the controlling idea</a:t>
            </a:r>
          </a:p>
          <a:p>
            <a:pPr lvl="0"/>
            <a:r>
              <a:rPr lang="en-US" dirty="0"/>
              <a:t>Limits what the paragraph will discuss</a:t>
            </a:r>
          </a:p>
          <a:p>
            <a:pPr lvl="0"/>
            <a:r>
              <a:rPr lang="en-US" dirty="0"/>
              <a:t>Gives direction to the supporting sentences</a:t>
            </a:r>
          </a:p>
          <a:p>
            <a:endParaRPr lang="en-US" dirty="0"/>
          </a:p>
        </p:txBody>
      </p:sp>
    </p:spTree>
    <p:extLst>
      <p:ext uri="{BB962C8B-B14F-4D97-AF65-F5344CB8AC3E}">
        <p14:creationId xmlns:p14="http://schemas.microsoft.com/office/powerpoint/2010/main" val="2275133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5BF90-B986-69D1-6300-BE8EF787760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46A4724-12F7-DF80-903A-A71FD856D013}"/>
              </a:ext>
            </a:extLst>
          </p:cNvPr>
          <p:cNvSpPr>
            <a:spLocks noGrp="1"/>
          </p:cNvSpPr>
          <p:nvPr>
            <p:ph idx="1"/>
          </p:nvPr>
        </p:nvSpPr>
        <p:spPr/>
        <p:txBody>
          <a:bodyPr>
            <a:normAutofit/>
          </a:bodyPr>
          <a:lstStyle/>
          <a:p>
            <a:r>
              <a:rPr lang="en-US" b="1" dirty="0"/>
              <a:t> Supporting Sentences</a:t>
            </a:r>
            <a:endParaRPr lang="en-US" dirty="0"/>
          </a:p>
          <a:p>
            <a:r>
              <a:rPr lang="en-US" dirty="0"/>
              <a:t>Supporting sentences:</a:t>
            </a:r>
          </a:p>
          <a:p>
            <a:pPr lvl="0"/>
            <a:r>
              <a:rPr lang="en-US" dirty="0"/>
              <a:t>Explain the topic sentence</a:t>
            </a:r>
          </a:p>
          <a:p>
            <a:pPr lvl="0"/>
            <a:r>
              <a:rPr lang="en-US" dirty="0"/>
              <a:t>Give examples, facts, reasons, or illustrations</a:t>
            </a:r>
          </a:p>
          <a:p>
            <a:pPr lvl="0"/>
            <a:r>
              <a:rPr lang="en-US" dirty="0"/>
              <a:t>Answer questions such as </a:t>
            </a:r>
            <a:r>
              <a:rPr lang="en-US" i="1" dirty="0"/>
              <a:t>how? why? when? where?</a:t>
            </a:r>
            <a:endParaRPr lang="en-US" dirty="0"/>
          </a:p>
          <a:p>
            <a:r>
              <a:rPr lang="en-US" dirty="0"/>
              <a:t>A paragraph may have </a:t>
            </a:r>
            <a:r>
              <a:rPr lang="en-US" b="1" dirty="0"/>
              <a:t>two or more supporting sentences</a:t>
            </a:r>
            <a:r>
              <a:rPr lang="en-US" dirty="0"/>
              <a:t>, depending on the length and purpose of the paragraph.</a:t>
            </a:r>
          </a:p>
          <a:p>
            <a:br>
              <a:rPr lang="en-US" dirty="0"/>
            </a:br>
            <a:endParaRPr lang="en-US" dirty="0"/>
          </a:p>
          <a:p>
            <a:endParaRPr lang="en-US" dirty="0"/>
          </a:p>
        </p:txBody>
      </p:sp>
    </p:spTree>
    <p:extLst>
      <p:ext uri="{BB962C8B-B14F-4D97-AF65-F5344CB8AC3E}">
        <p14:creationId xmlns:p14="http://schemas.microsoft.com/office/powerpoint/2010/main" val="26444999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F1BBF-7951-9FCA-7E5F-26FA1BE80C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4841133-C600-84FC-4847-2741FEF21735}"/>
              </a:ext>
            </a:extLst>
          </p:cNvPr>
          <p:cNvSpPr>
            <a:spLocks noGrp="1"/>
          </p:cNvSpPr>
          <p:nvPr>
            <p:ph idx="1"/>
          </p:nvPr>
        </p:nvSpPr>
        <p:spPr>
          <a:xfrm>
            <a:off x="323681" y="1825625"/>
            <a:ext cx="11030119" cy="5287274"/>
          </a:xfrm>
        </p:spPr>
        <p:txBody>
          <a:bodyPr/>
          <a:lstStyle/>
          <a:p>
            <a:pPr marL="0" indent="0">
              <a:buNone/>
            </a:pPr>
            <a:r>
              <a:rPr lang="en-US" b="1" dirty="0"/>
              <a:t>Concluding Sentence</a:t>
            </a:r>
          </a:p>
          <a:p>
            <a:pPr marL="0" indent="0">
              <a:buNone/>
            </a:pPr>
            <a:endParaRPr lang="en-US" dirty="0"/>
          </a:p>
          <a:p>
            <a:r>
              <a:rPr lang="en-US" dirty="0"/>
              <a:t>The concluding sentence:</a:t>
            </a:r>
          </a:p>
          <a:p>
            <a:pPr lvl="0"/>
            <a:r>
              <a:rPr lang="en-US" dirty="0"/>
              <a:t>Restates the main idea</a:t>
            </a:r>
          </a:p>
          <a:p>
            <a:pPr lvl="0"/>
            <a:r>
              <a:rPr lang="en-US" dirty="0"/>
              <a:t>Gives a final comment</a:t>
            </a:r>
          </a:p>
          <a:p>
            <a:pPr lvl="0"/>
            <a:r>
              <a:rPr lang="en-US" dirty="0"/>
              <a:t>Sometimes links to the next paragraph</a:t>
            </a:r>
          </a:p>
          <a:p>
            <a:r>
              <a:rPr lang="en-US" dirty="0"/>
              <a:t>Not every paragraph must have one, but it is </a:t>
            </a:r>
            <a:r>
              <a:rPr lang="en-US" b="1" dirty="0"/>
              <a:t>highly recommended for students</a:t>
            </a:r>
            <a:r>
              <a:rPr lang="en-US" dirty="0"/>
              <a:t>.</a:t>
            </a:r>
          </a:p>
          <a:p>
            <a:endParaRPr lang="en-US" dirty="0"/>
          </a:p>
        </p:txBody>
      </p:sp>
    </p:spTree>
    <p:extLst>
      <p:ext uri="{BB962C8B-B14F-4D97-AF65-F5344CB8AC3E}">
        <p14:creationId xmlns:p14="http://schemas.microsoft.com/office/powerpoint/2010/main" val="20977238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11869-7072-6C6D-7B8A-AFE8B73549DD}"/>
              </a:ext>
            </a:extLst>
          </p:cNvPr>
          <p:cNvSpPr>
            <a:spLocks noGrp="1"/>
          </p:cNvSpPr>
          <p:nvPr>
            <p:ph type="title"/>
          </p:nvPr>
        </p:nvSpPr>
        <p:spPr/>
        <p:txBody>
          <a:bodyPr/>
          <a:lstStyle/>
          <a:p>
            <a:r>
              <a:rPr lang="en-US" b="1" dirty="0"/>
              <a:t>Example of a Fully Structured Paragraph</a:t>
            </a:r>
            <a:br>
              <a:rPr lang="en-US" dirty="0"/>
            </a:br>
            <a:endParaRPr lang="en-US" dirty="0"/>
          </a:p>
        </p:txBody>
      </p:sp>
      <p:sp>
        <p:nvSpPr>
          <p:cNvPr id="3" name="Content Placeholder 2">
            <a:extLst>
              <a:ext uri="{FF2B5EF4-FFF2-40B4-BE49-F238E27FC236}">
                <a16:creationId xmlns:a16="http://schemas.microsoft.com/office/drawing/2014/main" id="{B083BE8A-F67C-E101-FE80-63E0688074C0}"/>
              </a:ext>
            </a:extLst>
          </p:cNvPr>
          <p:cNvSpPr>
            <a:spLocks noGrp="1"/>
          </p:cNvSpPr>
          <p:nvPr>
            <p:ph idx="1"/>
          </p:nvPr>
        </p:nvSpPr>
        <p:spPr>
          <a:xfrm>
            <a:off x="178025" y="1189528"/>
            <a:ext cx="11175775" cy="5668471"/>
          </a:xfrm>
        </p:spPr>
        <p:txBody>
          <a:bodyPr>
            <a:normAutofit lnSpcReduction="10000"/>
          </a:bodyPr>
          <a:lstStyle/>
          <a:p>
            <a:pPr marL="0" indent="0">
              <a:buNone/>
            </a:pPr>
            <a:r>
              <a:rPr lang="en-US" b="1" dirty="0"/>
              <a:t>(Topic sentence)</a:t>
            </a:r>
            <a:r>
              <a:rPr lang="en-US" dirty="0"/>
              <a:t> Punctuality is an important habit every student should develop.</a:t>
            </a:r>
          </a:p>
          <a:p>
            <a:pPr marL="0" indent="0">
              <a:buNone/>
            </a:pPr>
            <a:br>
              <a:rPr lang="en-US" dirty="0"/>
            </a:br>
            <a:r>
              <a:rPr lang="en-US" b="1" dirty="0"/>
              <a:t>(Supporting sentence 1)</a:t>
            </a:r>
            <a:r>
              <a:rPr lang="en-US" dirty="0"/>
              <a:t> Students who arrive in school on time are able to settle down and concentrate before lessons begin.</a:t>
            </a:r>
          </a:p>
          <a:p>
            <a:pPr marL="0" indent="0">
              <a:buNone/>
            </a:pPr>
            <a:br>
              <a:rPr lang="en-US" dirty="0"/>
            </a:br>
            <a:r>
              <a:rPr lang="en-US" b="1" dirty="0"/>
              <a:t>(Supporting sentence 2)</a:t>
            </a:r>
            <a:r>
              <a:rPr lang="en-US" dirty="0"/>
              <a:t> Punctuality also creates a good impression and shows respect for teachers and classmates.</a:t>
            </a:r>
          </a:p>
          <a:p>
            <a:pPr marL="0" indent="0">
              <a:buNone/>
            </a:pPr>
            <a:br>
              <a:rPr lang="en-US" dirty="0"/>
            </a:br>
            <a:r>
              <a:rPr lang="en-US" b="1" dirty="0"/>
              <a:t>(Supporting sentence 3)</a:t>
            </a:r>
            <a:r>
              <a:rPr lang="en-US" dirty="0"/>
              <a:t> In addition, it helps students avoid punishment and unnecessary stress.</a:t>
            </a:r>
          </a:p>
          <a:p>
            <a:pPr marL="0" indent="0">
              <a:buNone/>
            </a:pPr>
            <a:br>
              <a:rPr lang="en-US" dirty="0"/>
            </a:br>
            <a:r>
              <a:rPr lang="en-US" b="1" dirty="0"/>
              <a:t>(Concluding sentence)</a:t>
            </a:r>
            <a:r>
              <a:rPr lang="en-US" dirty="0"/>
              <a:t> For these reasons, punctuality plays a key role in academic success.</a:t>
            </a:r>
          </a:p>
          <a:p>
            <a:endParaRPr lang="en-US" dirty="0"/>
          </a:p>
        </p:txBody>
      </p:sp>
    </p:spTree>
    <p:extLst>
      <p:ext uri="{BB962C8B-B14F-4D97-AF65-F5344CB8AC3E}">
        <p14:creationId xmlns:p14="http://schemas.microsoft.com/office/powerpoint/2010/main" val="3994045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C0342-6C95-010E-F22F-B75906EEE74D}"/>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C4A8B003-020A-B9BF-88F5-518E09F65EEE}"/>
              </a:ext>
            </a:extLst>
          </p:cNvPr>
          <p:cNvSpPr>
            <a:spLocks noGrp="1"/>
          </p:cNvSpPr>
          <p:nvPr>
            <p:ph idx="1"/>
          </p:nvPr>
        </p:nvSpPr>
        <p:spPr>
          <a:xfrm>
            <a:off x="267037" y="1690688"/>
            <a:ext cx="11814372" cy="5167311"/>
          </a:xfrm>
        </p:spPr>
        <p:txBody>
          <a:bodyPr>
            <a:normAutofit fontScale="92500" lnSpcReduction="20000"/>
          </a:bodyPr>
          <a:lstStyle/>
          <a:p>
            <a:r>
              <a:rPr lang="en-US" b="1" dirty="0"/>
              <a:t>Topic Sentence)</a:t>
            </a:r>
            <a:br>
              <a:rPr lang="en-US" dirty="0"/>
            </a:br>
            <a:r>
              <a:rPr lang="en-US" dirty="0"/>
              <a:t>Proper hand hygiene is one of the most effective ways to prevent the spread of infections in healthcare settings.</a:t>
            </a:r>
          </a:p>
          <a:p>
            <a:r>
              <a:rPr lang="en-US" b="1" dirty="0"/>
              <a:t>(Supporting Sentence 1)</a:t>
            </a:r>
            <a:br>
              <a:rPr lang="en-US" dirty="0"/>
            </a:br>
            <a:r>
              <a:rPr lang="en-US" dirty="0"/>
              <a:t>In hospitals and clinics, healthcare workers come into contact with patients, medical equipment, and bodily fluids that may carry harmful microorganisms.</a:t>
            </a:r>
          </a:p>
          <a:p>
            <a:r>
              <a:rPr lang="en-US" b="1" dirty="0"/>
              <a:t>(Supporting Sentence 2)</a:t>
            </a:r>
            <a:br>
              <a:rPr lang="en-US" dirty="0"/>
            </a:br>
            <a:r>
              <a:rPr lang="en-US" dirty="0"/>
              <a:t>When hands are not washed or </a:t>
            </a:r>
            <a:r>
              <a:rPr lang="en-US" dirty="0" err="1"/>
              <a:t>sanitised</a:t>
            </a:r>
            <a:r>
              <a:rPr lang="en-US" dirty="0"/>
              <a:t> appropriately, these microorganisms can easily be transferred from one patient to another.</a:t>
            </a:r>
          </a:p>
          <a:p>
            <a:r>
              <a:rPr lang="en-US" b="1" dirty="0"/>
              <a:t>(Supporting Sentence 3)</a:t>
            </a:r>
            <a:br>
              <a:rPr lang="en-US" dirty="0"/>
            </a:br>
            <a:r>
              <a:rPr lang="en-US" dirty="0"/>
              <a:t>Studies have shown that regular hand washing with soap or the use of alcohol‑based </a:t>
            </a:r>
            <a:r>
              <a:rPr lang="en-US" dirty="0" err="1"/>
              <a:t>sanitisers</a:t>
            </a:r>
            <a:r>
              <a:rPr lang="en-US" dirty="0"/>
              <a:t> significantly reduces healthcare‑associated infections.</a:t>
            </a:r>
          </a:p>
          <a:p>
            <a:r>
              <a:rPr lang="en-US" b="1" dirty="0"/>
              <a:t>(Concluding Sentence)</a:t>
            </a:r>
            <a:br>
              <a:rPr lang="en-US" dirty="0"/>
            </a:br>
            <a:r>
              <a:rPr lang="en-US" dirty="0"/>
              <a:t>Therefore, strict adherence to proper hand hygiene practices is essential for ensuring patient safety and maintaining effective infection control in medical environments.</a:t>
            </a:r>
          </a:p>
          <a:p>
            <a:endParaRPr lang="en-US" dirty="0"/>
          </a:p>
        </p:txBody>
      </p:sp>
    </p:spTree>
    <p:extLst>
      <p:ext uri="{BB962C8B-B14F-4D97-AF65-F5344CB8AC3E}">
        <p14:creationId xmlns:p14="http://schemas.microsoft.com/office/powerpoint/2010/main" val="10067562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1A0B5-6E98-5DC4-9D17-7798FA1E203F}"/>
              </a:ext>
            </a:extLst>
          </p:cNvPr>
          <p:cNvSpPr>
            <a:spLocks noGrp="1"/>
          </p:cNvSpPr>
          <p:nvPr>
            <p:ph type="title"/>
          </p:nvPr>
        </p:nvSpPr>
        <p:spPr/>
        <p:txBody>
          <a:bodyPr/>
          <a:lstStyle/>
          <a:p>
            <a:r>
              <a:rPr lang="en-US" b="1" dirty="0"/>
              <a:t>POSITIONS OF THE TOPIC SENTENCE </a:t>
            </a:r>
            <a:endParaRPr lang="en-US" dirty="0"/>
          </a:p>
        </p:txBody>
      </p:sp>
      <p:sp>
        <p:nvSpPr>
          <p:cNvPr id="3" name="Content Placeholder 2">
            <a:extLst>
              <a:ext uri="{FF2B5EF4-FFF2-40B4-BE49-F238E27FC236}">
                <a16:creationId xmlns:a16="http://schemas.microsoft.com/office/drawing/2014/main" id="{DF1D5258-8082-EBAA-0C63-9FC27B0A1D2D}"/>
              </a:ext>
            </a:extLst>
          </p:cNvPr>
          <p:cNvSpPr>
            <a:spLocks noGrp="1"/>
          </p:cNvSpPr>
          <p:nvPr>
            <p:ph idx="1"/>
          </p:nvPr>
        </p:nvSpPr>
        <p:spPr>
          <a:xfrm>
            <a:off x="121381" y="1825625"/>
            <a:ext cx="11232419" cy="5198262"/>
          </a:xfrm>
        </p:spPr>
        <p:txBody>
          <a:bodyPr>
            <a:normAutofit fontScale="92500" lnSpcReduction="10000"/>
          </a:bodyPr>
          <a:lstStyle/>
          <a:p>
            <a:pPr marL="0" indent="0">
              <a:buNone/>
            </a:pPr>
            <a:r>
              <a:rPr lang="en-US" b="1" dirty="0"/>
              <a:t>A. Topic Sentence at the Beginning (Most Common)</a:t>
            </a:r>
            <a:endParaRPr lang="en-US" dirty="0"/>
          </a:p>
          <a:p>
            <a:pPr marL="0" indent="0">
              <a:buNone/>
            </a:pPr>
            <a:endParaRPr lang="en-US" dirty="0"/>
          </a:p>
          <a:p>
            <a:pPr marL="0" indent="0">
              <a:buNone/>
            </a:pPr>
            <a:r>
              <a:rPr lang="en-US" dirty="0"/>
              <a:t>This is the most common and recommended position, especially for academic and examination writing.</a:t>
            </a:r>
          </a:p>
          <a:p>
            <a:pPr marL="0" indent="0">
              <a:buNone/>
            </a:pPr>
            <a:r>
              <a:rPr lang="en-US" b="1" dirty="0"/>
              <a:t>Full Paragraph Example</a:t>
            </a:r>
            <a:endParaRPr lang="en-US" dirty="0"/>
          </a:p>
          <a:p>
            <a:pPr marL="0" indent="0">
              <a:buNone/>
            </a:pPr>
            <a:r>
              <a:rPr lang="en-US" sz="3100" b="1" dirty="0"/>
              <a:t>Honesty is a vital value in human relationships.</a:t>
            </a:r>
            <a:r>
              <a:rPr lang="en-US" sz="3100" dirty="0"/>
              <a:t> An honest person is trusted by friends, teachers, and employers. Students who are honest avoid cheating and develop confidence in their own abilities. In society, honesty promotes peace and mutual respect. For these reasons, honesty should be encouraged at home and in school.</a:t>
            </a:r>
          </a:p>
          <a:p>
            <a:pPr marL="0" indent="0">
              <a:buNone/>
            </a:pPr>
            <a:br>
              <a:rPr lang="en-US" dirty="0"/>
            </a:br>
            <a:endParaRPr lang="en-US" dirty="0"/>
          </a:p>
          <a:p>
            <a:endParaRPr lang="en-US" dirty="0"/>
          </a:p>
        </p:txBody>
      </p:sp>
    </p:spTree>
    <p:extLst>
      <p:ext uri="{BB962C8B-B14F-4D97-AF65-F5344CB8AC3E}">
        <p14:creationId xmlns:p14="http://schemas.microsoft.com/office/powerpoint/2010/main" val="2820080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275D1-F741-1C75-771A-13F330F7248B}"/>
              </a:ext>
            </a:extLst>
          </p:cNvPr>
          <p:cNvSpPr>
            <a:spLocks noGrp="1"/>
          </p:cNvSpPr>
          <p:nvPr>
            <p:ph type="title"/>
          </p:nvPr>
        </p:nvSpPr>
        <p:spPr/>
        <p:txBody>
          <a:bodyPr/>
          <a:lstStyle/>
          <a:p>
            <a:r>
              <a:rPr lang="en-US" b="1" dirty="0"/>
              <a:t>B. Topic Sentence in the Middle</a:t>
            </a:r>
            <a:br>
              <a:rPr lang="en-US" dirty="0"/>
            </a:br>
            <a:endParaRPr lang="en-US" dirty="0"/>
          </a:p>
        </p:txBody>
      </p:sp>
      <p:sp>
        <p:nvSpPr>
          <p:cNvPr id="3" name="Content Placeholder 2">
            <a:extLst>
              <a:ext uri="{FF2B5EF4-FFF2-40B4-BE49-F238E27FC236}">
                <a16:creationId xmlns:a16="http://schemas.microsoft.com/office/drawing/2014/main" id="{D3885DBD-997C-97FA-34E3-2CC1521B6E9C}"/>
              </a:ext>
            </a:extLst>
          </p:cNvPr>
          <p:cNvSpPr>
            <a:spLocks noGrp="1"/>
          </p:cNvSpPr>
          <p:nvPr>
            <p:ph idx="1"/>
          </p:nvPr>
        </p:nvSpPr>
        <p:spPr>
          <a:xfrm>
            <a:off x="339865" y="1825624"/>
            <a:ext cx="11013935" cy="4963593"/>
          </a:xfrm>
        </p:spPr>
        <p:txBody>
          <a:bodyPr>
            <a:normAutofit/>
          </a:bodyPr>
          <a:lstStyle/>
          <a:p>
            <a:pPr marL="0" indent="0">
              <a:buNone/>
            </a:pPr>
            <a:endParaRPr lang="en-US" dirty="0"/>
          </a:p>
          <a:p>
            <a:pPr marL="0" indent="0">
              <a:buNone/>
            </a:pPr>
            <a:r>
              <a:rPr lang="en-US" dirty="0"/>
              <a:t>The paragraph begins with details, and the topic sentence appears after some explanation.</a:t>
            </a:r>
          </a:p>
          <a:p>
            <a:pPr marL="0" indent="0">
              <a:buNone/>
            </a:pPr>
            <a:r>
              <a:rPr lang="en-US" b="1" dirty="0"/>
              <a:t> Example</a:t>
            </a:r>
            <a:endParaRPr lang="en-US" dirty="0"/>
          </a:p>
          <a:p>
            <a:pPr marL="0" indent="0">
              <a:buNone/>
            </a:pPr>
            <a:r>
              <a:rPr lang="en-US" dirty="0"/>
              <a:t>Many people in urban areas struggle with poor waste management. Rubbish is often dumped into gutters, streets, and open spaces. </a:t>
            </a:r>
            <a:r>
              <a:rPr lang="en-US" b="1" dirty="0"/>
              <a:t>This situation shows that proper waste management is a major challenge in many cities.</a:t>
            </a:r>
            <a:r>
              <a:rPr lang="en-US" dirty="0"/>
              <a:t> If citizens and authorities work together, these problems can be reduced.</a:t>
            </a:r>
            <a:br>
              <a:rPr lang="en-US" dirty="0"/>
            </a:br>
            <a:endParaRPr lang="en-US" dirty="0"/>
          </a:p>
        </p:txBody>
      </p:sp>
    </p:spTree>
    <p:extLst>
      <p:ext uri="{BB962C8B-B14F-4D97-AF65-F5344CB8AC3E}">
        <p14:creationId xmlns:p14="http://schemas.microsoft.com/office/powerpoint/2010/main" val="436466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A98B-EF16-D178-9A51-05B7CA56C3FA}"/>
              </a:ext>
            </a:extLst>
          </p:cNvPr>
          <p:cNvSpPr>
            <a:spLocks noGrp="1"/>
          </p:cNvSpPr>
          <p:nvPr>
            <p:ph type="title"/>
          </p:nvPr>
        </p:nvSpPr>
        <p:spPr/>
        <p:txBody>
          <a:bodyPr/>
          <a:lstStyle/>
          <a:p>
            <a:r>
              <a:rPr lang="en-US" b="1" dirty="0"/>
              <a:t>C. Topic Sentence at the end</a:t>
            </a:r>
            <a:endParaRPr lang="en-US" dirty="0"/>
          </a:p>
        </p:txBody>
      </p:sp>
      <p:sp>
        <p:nvSpPr>
          <p:cNvPr id="3" name="Content Placeholder 2">
            <a:extLst>
              <a:ext uri="{FF2B5EF4-FFF2-40B4-BE49-F238E27FC236}">
                <a16:creationId xmlns:a16="http://schemas.microsoft.com/office/drawing/2014/main" id="{3887B0BF-6C4A-1A76-0A67-7AC6E9AB42BD}"/>
              </a:ext>
            </a:extLst>
          </p:cNvPr>
          <p:cNvSpPr>
            <a:spLocks noGrp="1"/>
          </p:cNvSpPr>
          <p:nvPr>
            <p:ph idx="1"/>
          </p:nvPr>
        </p:nvSpPr>
        <p:spPr>
          <a:xfrm>
            <a:off x="153749" y="1825624"/>
            <a:ext cx="11200051" cy="5032375"/>
          </a:xfrm>
        </p:spPr>
        <p:txBody>
          <a:bodyPr>
            <a:normAutofit/>
          </a:bodyPr>
          <a:lstStyle/>
          <a:p>
            <a:pPr marL="0" indent="0">
              <a:buNone/>
            </a:pPr>
            <a:r>
              <a:rPr lang="en-US" dirty="0"/>
              <a:t>1. Health professionals are exposed to infectious agents through direct patient contact, contaminated equipment, and bodily fluids. Inadequate use of protective gear increases the risk of infection among healthcare workers. Poor infection control practices can also lead to outbreaks within hospitals.</a:t>
            </a:r>
            <a:br>
              <a:rPr lang="en-US" dirty="0"/>
            </a:br>
            <a:r>
              <a:rPr lang="en-US" b="1" dirty="0"/>
              <a:t>(Topic sentence at the end)</a:t>
            </a:r>
            <a:br>
              <a:rPr lang="en-US" dirty="0"/>
            </a:br>
            <a:r>
              <a:rPr lang="en-US" dirty="0"/>
              <a:t>These factors demonstrate that strict infection control measures are vital in healthcare settings.</a:t>
            </a:r>
          </a:p>
          <a:p>
            <a:pPr marL="0" indent="0">
              <a:buNone/>
            </a:pPr>
            <a:r>
              <a:rPr lang="en-US" dirty="0"/>
              <a:t>2. Students who do not prepare well for examinations often panic during tests. They forget important points and struggle to manage time. Many of them perform below their expectations. </a:t>
            </a:r>
            <a:r>
              <a:rPr lang="en-US" b="1" dirty="0"/>
              <a:t>These difficulties show that proper preparation is essential for examination success.</a:t>
            </a:r>
            <a:endParaRPr lang="en-US" dirty="0"/>
          </a:p>
        </p:txBody>
      </p:sp>
    </p:spTree>
    <p:extLst>
      <p:ext uri="{BB962C8B-B14F-4D97-AF65-F5344CB8AC3E}">
        <p14:creationId xmlns:p14="http://schemas.microsoft.com/office/powerpoint/2010/main" val="3637570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E66CFA-E62B-F3E2-7C53-1EF4E84802CD}"/>
              </a:ext>
            </a:extLst>
          </p:cNvPr>
          <p:cNvSpPr>
            <a:spLocks noGrp="1"/>
          </p:cNvSpPr>
          <p:nvPr>
            <p:ph type="title"/>
          </p:nvPr>
        </p:nvSpPr>
        <p:spPr/>
        <p:txBody>
          <a:bodyPr>
            <a:normAutofit/>
          </a:bodyPr>
          <a:lstStyle/>
          <a:p>
            <a:r>
              <a:rPr lang="en-US" b="1" dirty="0"/>
              <a:t>D. Implied Topic Sentence </a:t>
            </a:r>
            <a:br>
              <a:rPr lang="en-US" dirty="0"/>
            </a:br>
            <a:endParaRPr lang="en-US" dirty="0"/>
          </a:p>
        </p:txBody>
      </p:sp>
      <p:sp>
        <p:nvSpPr>
          <p:cNvPr id="3" name="Content Placeholder 2">
            <a:extLst>
              <a:ext uri="{FF2B5EF4-FFF2-40B4-BE49-F238E27FC236}">
                <a16:creationId xmlns:a16="http://schemas.microsoft.com/office/drawing/2014/main" id="{26511193-AEA3-3543-8762-54EA00A6AB58}"/>
              </a:ext>
            </a:extLst>
          </p:cNvPr>
          <p:cNvSpPr>
            <a:spLocks noGrp="1"/>
          </p:cNvSpPr>
          <p:nvPr>
            <p:ph idx="1"/>
          </p:nvPr>
        </p:nvSpPr>
        <p:spPr>
          <a:xfrm>
            <a:off x="299405" y="1825625"/>
            <a:ext cx="11054395" cy="5165894"/>
          </a:xfrm>
        </p:spPr>
        <p:txBody>
          <a:bodyPr/>
          <a:lstStyle/>
          <a:p>
            <a:pPr marL="0" indent="0">
              <a:buNone/>
            </a:pPr>
            <a:r>
              <a:rPr lang="en-US" dirty="0"/>
              <a:t>The topic sentence is </a:t>
            </a:r>
            <a:r>
              <a:rPr lang="en-US" b="1" dirty="0"/>
              <a:t>not directly stated</a:t>
            </a:r>
            <a:r>
              <a:rPr lang="en-US" dirty="0"/>
              <a:t>, but the reader infers it.</a:t>
            </a:r>
          </a:p>
          <a:p>
            <a:pPr marL="0" indent="0">
              <a:buNone/>
            </a:pPr>
            <a:r>
              <a:rPr lang="en-US" b="1" dirty="0"/>
              <a:t> Example</a:t>
            </a:r>
            <a:endParaRPr lang="en-US" dirty="0"/>
          </a:p>
          <a:p>
            <a:pPr marL="0" indent="0">
              <a:buNone/>
            </a:pPr>
            <a:endParaRPr lang="en-US" dirty="0"/>
          </a:p>
          <a:p>
            <a:pPr marL="0" indent="0">
              <a:buNone/>
            </a:pPr>
            <a:r>
              <a:rPr lang="en-US" dirty="0"/>
              <a:t>Ama wakes up early every morning to sweep the compound. She completes her homework before school and still helps her parents in the evening. At night, she revises her lessons before going to bed.</a:t>
            </a:r>
          </a:p>
          <a:p>
            <a:pPr marL="0" indent="0">
              <a:buNone/>
            </a:pPr>
            <a:r>
              <a:rPr lang="en-US" dirty="0"/>
              <a:t>👉 Implied idea: </a:t>
            </a:r>
            <a:r>
              <a:rPr lang="en-US" i="1" dirty="0"/>
              <a:t>Ama is hardworking.</a:t>
            </a:r>
            <a:endParaRPr lang="en-US" dirty="0"/>
          </a:p>
          <a:p>
            <a:pPr marL="0" indent="0">
              <a:buNone/>
            </a:pPr>
            <a:r>
              <a:rPr lang="en-US" dirty="0"/>
              <a:t>⚠️ Not recommended for examination essays</a:t>
            </a:r>
          </a:p>
          <a:p>
            <a:endParaRPr lang="en-US" dirty="0"/>
          </a:p>
        </p:txBody>
      </p:sp>
    </p:spTree>
    <p:extLst>
      <p:ext uri="{BB962C8B-B14F-4D97-AF65-F5344CB8AC3E}">
        <p14:creationId xmlns:p14="http://schemas.microsoft.com/office/powerpoint/2010/main" val="8048687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D8F98-B947-AC27-4F0D-41101869E212}"/>
              </a:ext>
            </a:extLst>
          </p:cNvPr>
          <p:cNvSpPr>
            <a:spLocks noGrp="1"/>
          </p:cNvSpPr>
          <p:nvPr>
            <p:ph type="title"/>
          </p:nvPr>
        </p:nvSpPr>
        <p:spPr/>
        <p:txBody>
          <a:bodyPr/>
          <a:lstStyle/>
          <a:p>
            <a:r>
              <a:rPr lang="en-US" b="1" dirty="0"/>
              <a:t>TYPES OF PARAGRAPHS </a:t>
            </a:r>
            <a:endParaRPr lang="en-US" dirty="0"/>
          </a:p>
        </p:txBody>
      </p:sp>
      <p:sp>
        <p:nvSpPr>
          <p:cNvPr id="3" name="Content Placeholder 2">
            <a:extLst>
              <a:ext uri="{FF2B5EF4-FFF2-40B4-BE49-F238E27FC236}">
                <a16:creationId xmlns:a16="http://schemas.microsoft.com/office/drawing/2014/main" id="{65F29BFD-19D5-FB28-4FC3-636867A45885}"/>
              </a:ext>
            </a:extLst>
          </p:cNvPr>
          <p:cNvSpPr>
            <a:spLocks noGrp="1"/>
          </p:cNvSpPr>
          <p:nvPr>
            <p:ph idx="1"/>
          </p:nvPr>
        </p:nvSpPr>
        <p:spPr>
          <a:xfrm>
            <a:off x="114300" y="1825624"/>
            <a:ext cx="12077700" cy="5032375"/>
          </a:xfrm>
        </p:spPr>
        <p:txBody>
          <a:bodyPr>
            <a:normAutofit/>
          </a:bodyPr>
          <a:lstStyle/>
          <a:p>
            <a:pPr marL="0" indent="0">
              <a:buNone/>
            </a:pPr>
            <a:r>
              <a:rPr lang="en-US" b="1" dirty="0"/>
              <a:t>1 Descriptive Paragraph</a:t>
            </a:r>
            <a:endParaRPr lang="en-US" dirty="0"/>
          </a:p>
          <a:p>
            <a:pPr marL="0" indent="0">
              <a:buNone/>
            </a:pPr>
            <a:r>
              <a:rPr lang="en-US" b="1" dirty="0"/>
              <a:t>Purpose:</a:t>
            </a:r>
            <a:endParaRPr lang="en-US" dirty="0"/>
          </a:p>
          <a:p>
            <a:r>
              <a:rPr lang="en-US" dirty="0"/>
              <a:t>To </a:t>
            </a:r>
            <a:r>
              <a:rPr lang="en-US" b="1" dirty="0"/>
              <a:t>describe</a:t>
            </a:r>
            <a:r>
              <a:rPr lang="en-US" dirty="0"/>
              <a:t> a person, place, object, or event vividly.</a:t>
            </a:r>
          </a:p>
          <a:p>
            <a:pPr marL="0" indent="0">
              <a:buNone/>
            </a:pPr>
            <a:r>
              <a:rPr lang="en-US" b="1" dirty="0"/>
              <a:t> Example</a:t>
            </a:r>
          </a:p>
          <a:p>
            <a:pPr marL="0" indent="0">
              <a:buNone/>
            </a:pPr>
            <a:r>
              <a:rPr lang="en-US" dirty="0"/>
              <a:t>The intensive care unit is a highly controlled and carefully </a:t>
            </a:r>
            <a:r>
              <a:rPr lang="en-US" dirty="0" err="1"/>
              <a:t>organised</a:t>
            </a:r>
            <a:r>
              <a:rPr lang="en-US" dirty="0"/>
              <a:t> environment. Machines beep rhythmically as they monitor patients’ vital signs, while nurses move quietly from bed to bed. The air smells faintly of disinfectant, and bright lights ensure that every detail is clearly visible. Doctors stand around patient charts, discussing treatment plans in calm but serious tones. The entire setting reflects the urgency and precision required in critical medical care.</a:t>
            </a:r>
          </a:p>
          <a:p>
            <a:pPr marL="0" indent="0">
              <a:buNone/>
            </a:pPr>
            <a:endParaRPr lang="en-US" dirty="0"/>
          </a:p>
          <a:p>
            <a:endParaRPr lang="en-US" dirty="0"/>
          </a:p>
        </p:txBody>
      </p:sp>
    </p:spTree>
    <p:extLst>
      <p:ext uri="{BB962C8B-B14F-4D97-AF65-F5344CB8AC3E}">
        <p14:creationId xmlns:p14="http://schemas.microsoft.com/office/powerpoint/2010/main" val="3594072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1642D-5DD6-6550-129D-106E47FA014C}"/>
              </a:ext>
            </a:extLst>
          </p:cNvPr>
          <p:cNvSpPr>
            <a:spLocks noGrp="1"/>
          </p:cNvSpPr>
          <p:nvPr>
            <p:ph type="title"/>
          </p:nvPr>
        </p:nvSpPr>
        <p:spPr/>
        <p:txBody>
          <a:bodyPr/>
          <a:lstStyle/>
          <a:p>
            <a:r>
              <a:rPr lang="en-US" b="1" dirty="0"/>
              <a:t>2 Narrative Paragraph</a:t>
            </a:r>
            <a:br>
              <a:rPr lang="en-US" dirty="0"/>
            </a:br>
            <a:endParaRPr lang="en-US" dirty="0"/>
          </a:p>
        </p:txBody>
      </p:sp>
      <p:sp>
        <p:nvSpPr>
          <p:cNvPr id="3" name="Content Placeholder 2">
            <a:extLst>
              <a:ext uri="{FF2B5EF4-FFF2-40B4-BE49-F238E27FC236}">
                <a16:creationId xmlns:a16="http://schemas.microsoft.com/office/drawing/2014/main" id="{644CEBB8-8FA1-7310-ED9C-96270A32D4EC}"/>
              </a:ext>
            </a:extLst>
          </p:cNvPr>
          <p:cNvSpPr>
            <a:spLocks noGrp="1"/>
          </p:cNvSpPr>
          <p:nvPr>
            <p:ph idx="1"/>
          </p:nvPr>
        </p:nvSpPr>
        <p:spPr>
          <a:xfrm>
            <a:off x="122464" y="1110343"/>
            <a:ext cx="11819165" cy="5821135"/>
          </a:xfrm>
        </p:spPr>
        <p:txBody>
          <a:bodyPr>
            <a:normAutofit fontScale="92500" lnSpcReduction="10000"/>
          </a:bodyPr>
          <a:lstStyle/>
          <a:p>
            <a:pPr marL="0" indent="0">
              <a:buNone/>
            </a:pPr>
            <a:r>
              <a:rPr lang="en-US" b="1" dirty="0"/>
              <a:t>Purpose:</a:t>
            </a:r>
            <a:endParaRPr lang="en-US" dirty="0"/>
          </a:p>
          <a:p>
            <a:pPr marL="0" indent="0">
              <a:buNone/>
            </a:pPr>
            <a:r>
              <a:rPr lang="en-US" dirty="0"/>
              <a:t>To </a:t>
            </a:r>
            <a:r>
              <a:rPr lang="en-US" b="1" dirty="0"/>
              <a:t>tell a story</a:t>
            </a:r>
            <a:r>
              <a:rPr lang="en-US" dirty="0"/>
              <a:t> or relate events in chronological order.</a:t>
            </a:r>
          </a:p>
          <a:p>
            <a:pPr marL="0" indent="0">
              <a:buNone/>
            </a:pPr>
            <a:r>
              <a:rPr lang="en-US" b="1" dirty="0"/>
              <a:t> Example</a:t>
            </a:r>
          </a:p>
          <a:p>
            <a:pPr marL="0" indent="0">
              <a:buNone/>
            </a:pPr>
            <a:r>
              <a:rPr lang="en-US" dirty="0"/>
              <a:t>1. Last Monday during my clinical rotation, I witnessed my first emergency resuscitation. A patient was rushed into the emergency unit after losing consciousness. The doctors and nurses immediately began cardiopulmonary resuscitation while others prepared emergency medications. After several intense minutes, the patient’s heartbeat was restored, and the medical team breathed a sigh of relief. This experience taught me the importance of teamwork and quick decision‑making in medical practice.</a:t>
            </a:r>
          </a:p>
          <a:p>
            <a:pPr marL="0" indent="0">
              <a:buNone/>
            </a:pPr>
            <a:endParaRPr lang="en-US" dirty="0"/>
          </a:p>
          <a:p>
            <a:pPr marL="0" indent="0">
              <a:buNone/>
            </a:pPr>
            <a:r>
              <a:rPr lang="en-US" dirty="0"/>
              <a:t>2. Last Saturday was a memorable day in my life. I woke up early and prepared for my first public speaking competition. When my name was called, my heart beat rapidly, but I gathered confidence and delivered my speech. At the end of the </a:t>
            </a:r>
            <a:r>
              <a:rPr lang="en-US" dirty="0" err="1"/>
              <a:t>programme</a:t>
            </a:r>
            <a:r>
              <a:rPr lang="en-US" dirty="0"/>
              <a:t>, I won second place, and my teachers praised my effort.</a:t>
            </a:r>
          </a:p>
          <a:p>
            <a:pPr marL="0" indent="0">
              <a:buNone/>
            </a:pPr>
            <a:endParaRPr lang="en-US" dirty="0"/>
          </a:p>
          <a:p>
            <a:endParaRPr lang="en-US" dirty="0"/>
          </a:p>
        </p:txBody>
      </p:sp>
    </p:spTree>
    <p:extLst>
      <p:ext uri="{BB962C8B-B14F-4D97-AF65-F5344CB8AC3E}">
        <p14:creationId xmlns:p14="http://schemas.microsoft.com/office/powerpoint/2010/main" val="1656029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24C1E-CF3C-A855-BF64-D4A852EFD463}"/>
              </a:ext>
            </a:extLst>
          </p:cNvPr>
          <p:cNvSpPr>
            <a:spLocks noGrp="1"/>
          </p:cNvSpPr>
          <p:nvPr>
            <p:ph type="title"/>
          </p:nvPr>
        </p:nvSpPr>
        <p:spPr/>
        <p:txBody>
          <a:bodyPr/>
          <a:lstStyle/>
          <a:p>
            <a:r>
              <a:rPr lang="en-US" b="1" dirty="0"/>
              <a:t>Expository Paragraph</a:t>
            </a:r>
            <a:br>
              <a:rPr lang="en-US" dirty="0"/>
            </a:br>
            <a:endParaRPr lang="en-US" dirty="0"/>
          </a:p>
        </p:txBody>
      </p:sp>
      <p:sp>
        <p:nvSpPr>
          <p:cNvPr id="3" name="Content Placeholder 2">
            <a:extLst>
              <a:ext uri="{FF2B5EF4-FFF2-40B4-BE49-F238E27FC236}">
                <a16:creationId xmlns:a16="http://schemas.microsoft.com/office/drawing/2014/main" id="{5D06695F-E03D-6447-74BF-FA966A3D9F5C}"/>
              </a:ext>
            </a:extLst>
          </p:cNvPr>
          <p:cNvSpPr>
            <a:spLocks noGrp="1"/>
          </p:cNvSpPr>
          <p:nvPr>
            <p:ph idx="1"/>
          </p:nvPr>
        </p:nvSpPr>
        <p:spPr>
          <a:xfrm>
            <a:off x="187779" y="1825624"/>
            <a:ext cx="11166021" cy="5032375"/>
          </a:xfrm>
        </p:spPr>
        <p:txBody>
          <a:bodyPr>
            <a:normAutofit fontScale="92500" lnSpcReduction="20000"/>
          </a:bodyPr>
          <a:lstStyle/>
          <a:p>
            <a:pPr marL="0" indent="0">
              <a:buNone/>
            </a:pPr>
            <a:r>
              <a:rPr lang="en-US" b="1" dirty="0"/>
              <a:t>Purpose:</a:t>
            </a:r>
            <a:endParaRPr lang="en-US" dirty="0"/>
          </a:p>
          <a:p>
            <a:r>
              <a:rPr lang="en-US" dirty="0"/>
              <a:t>To </a:t>
            </a:r>
            <a:r>
              <a:rPr lang="en-US" b="1" dirty="0"/>
              <a:t>explain or inform</a:t>
            </a:r>
            <a:r>
              <a:rPr lang="en-US" dirty="0"/>
              <a:t> the reader about a topic.</a:t>
            </a:r>
          </a:p>
          <a:p>
            <a:pPr marL="0" indent="0">
              <a:buNone/>
            </a:pPr>
            <a:r>
              <a:rPr lang="en-US" b="1" dirty="0"/>
              <a:t> Example</a:t>
            </a:r>
            <a:endParaRPr lang="en-US" dirty="0"/>
          </a:p>
          <a:p>
            <a:pPr marL="0" indent="0">
              <a:buNone/>
            </a:pPr>
            <a:r>
              <a:rPr lang="en-US" dirty="0"/>
              <a:t>Photosynthesis is the process by which green plants make their food. During this process, plants use sunlight, water, and carbon dioxide to produce glucose. Oxygen is released as a by‑product, which is essential for human life. Without photosynthesis, life on earth would be impossible.</a:t>
            </a:r>
          </a:p>
          <a:p>
            <a:pPr marL="0" indent="0">
              <a:buNone/>
            </a:pPr>
            <a:endParaRPr lang="en-US" dirty="0"/>
          </a:p>
          <a:p>
            <a:pPr marL="0" indent="0">
              <a:buNone/>
            </a:pPr>
            <a:r>
              <a:rPr lang="en-US" dirty="0"/>
              <a:t>Diabetes mellitus is a chronic condition that affects the body’s ability to regulate blood sugar levels. It occurs when the pancreas does not produce enough insulin or when the body cannot effectively use the insulin produced. As a result, glucose builds up in the bloodstream, leading to complications such as nerve damage, kidney disease, and vision problems. Proper management through medication, diet, and lifestyle changes is essential for preventing these complications.</a:t>
            </a:r>
          </a:p>
          <a:p>
            <a:pPr marL="0" indent="0">
              <a:buNone/>
            </a:pPr>
            <a:endParaRPr lang="en-US" dirty="0"/>
          </a:p>
          <a:p>
            <a:endParaRPr lang="en-US" dirty="0"/>
          </a:p>
        </p:txBody>
      </p:sp>
    </p:spTree>
    <p:extLst>
      <p:ext uri="{BB962C8B-B14F-4D97-AF65-F5344CB8AC3E}">
        <p14:creationId xmlns:p14="http://schemas.microsoft.com/office/powerpoint/2010/main" val="33495420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DDC0-8380-E571-601E-7E4EB341DEAB}"/>
              </a:ext>
            </a:extLst>
          </p:cNvPr>
          <p:cNvSpPr>
            <a:spLocks noGrp="1"/>
          </p:cNvSpPr>
          <p:nvPr>
            <p:ph type="title"/>
          </p:nvPr>
        </p:nvSpPr>
        <p:spPr/>
        <p:txBody>
          <a:bodyPr/>
          <a:lstStyle/>
          <a:p>
            <a:r>
              <a:rPr lang="en-US" b="1" dirty="0"/>
              <a:t>Argumentative Paragraph</a:t>
            </a:r>
            <a:br>
              <a:rPr lang="en-US" dirty="0"/>
            </a:br>
            <a:endParaRPr lang="en-US" dirty="0"/>
          </a:p>
        </p:txBody>
      </p:sp>
      <p:sp>
        <p:nvSpPr>
          <p:cNvPr id="3" name="Content Placeholder 2">
            <a:extLst>
              <a:ext uri="{FF2B5EF4-FFF2-40B4-BE49-F238E27FC236}">
                <a16:creationId xmlns:a16="http://schemas.microsoft.com/office/drawing/2014/main" id="{A67E02F4-1F0E-FECA-D0B2-CB33F38E11A7}"/>
              </a:ext>
            </a:extLst>
          </p:cNvPr>
          <p:cNvSpPr>
            <a:spLocks noGrp="1"/>
          </p:cNvSpPr>
          <p:nvPr>
            <p:ph idx="1"/>
          </p:nvPr>
        </p:nvSpPr>
        <p:spPr>
          <a:xfrm>
            <a:off x="89807" y="1053193"/>
            <a:ext cx="11263993" cy="6008914"/>
          </a:xfrm>
        </p:spPr>
        <p:txBody>
          <a:bodyPr>
            <a:normAutofit lnSpcReduction="10000"/>
          </a:bodyPr>
          <a:lstStyle/>
          <a:p>
            <a:pPr marL="0" indent="0">
              <a:buNone/>
            </a:pPr>
            <a:r>
              <a:rPr lang="en-US" b="1" dirty="0"/>
              <a:t>Purpose:</a:t>
            </a:r>
            <a:endParaRPr lang="en-US" dirty="0"/>
          </a:p>
          <a:p>
            <a:r>
              <a:rPr lang="en-US" dirty="0"/>
              <a:t>To present and support an opinion using logical reasons.</a:t>
            </a:r>
          </a:p>
          <a:p>
            <a:pPr marL="0" indent="0">
              <a:buNone/>
            </a:pPr>
            <a:r>
              <a:rPr lang="en-US" b="1" dirty="0"/>
              <a:t> Example</a:t>
            </a:r>
            <a:endParaRPr lang="en-US" dirty="0"/>
          </a:p>
          <a:p>
            <a:pPr marL="0" indent="0">
              <a:buNone/>
            </a:pPr>
            <a:r>
              <a:rPr lang="en-US" dirty="0"/>
              <a:t>1. Corporal punishment should not be used in schools. It creates fear rather than respect among students and often affects their emotional well‑being. Students perform better when they are corrected through guidance and encouragement. Therefore, discipline should be based on counselling rather than punishment.</a:t>
            </a:r>
          </a:p>
          <a:p>
            <a:pPr marL="0" indent="0">
              <a:buNone/>
            </a:pPr>
            <a:r>
              <a:rPr lang="en-US" dirty="0"/>
              <a:t>2. Antibiotics should not be taken without a medical prescription. The misuse of antibiotics contributes significantly to antibiotic resistance, making infections harder to treat. When patients self‑medicate, they often use incorrect dosages or stop treatment too early. This practice weakens the effectiveness of antibiotics and endangers public health. Therefore, antibiotics should only be used under the guidance of qualified healthcare professionals.</a:t>
            </a:r>
          </a:p>
          <a:p>
            <a:endParaRPr lang="en-US" dirty="0"/>
          </a:p>
          <a:p>
            <a:endParaRPr lang="en-US" dirty="0"/>
          </a:p>
        </p:txBody>
      </p:sp>
    </p:spTree>
    <p:extLst>
      <p:ext uri="{BB962C8B-B14F-4D97-AF65-F5344CB8AC3E}">
        <p14:creationId xmlns:p14="http://schemas.microsoft.com/office/powerpoint/2010/main" val="2680960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B3601-6A76-8EFA-4C6C-99FAB142B278}"/>
              </a:ext>
            </a:extLst>
          </p:cNvPr>
          <p:cNvSpPr>
            <a:spLocks noGrp="1"/>
          </p:cNvSpPr>
          <p:nvPr>
            <p:ph type="title"/>
          </p:nvPr>
        </p:nvSpPr>
        <p:spPr/>
        <p:txBody>
          <a:bodyPr/>
          <a:lstStyle/>
          <a:p>
            <a:r>
              <a:rPr lang="en-US" b="1" dirty="0"/>
              <a:t>Persuasive Paragraph</a:t>
            </a:r>
            <a:br>
              <a:rPr lang="en-US" dirty="0"/>
            </a:br>
            <a:endParaRPr lang="en-US" dirty="0"/>
          </a:p>
        </p:txBody>
      </p:sp>
      <p:sp>
        <p:nvSpPr>
          <p:cNvPr id="3" name="Content Placeholder 2">
            <a:extLst>
              <a:ext uri="{FF2B5EF4-FFF2-40B4-BE49-F238E27FC236}">
                <a16:creationId xmlns:a16="http://schemas.microsoft.com/office/drawing/2014/main" id="{1D8A70F5-DC63-A5E4-5F1A-536EBBCEFA56}"/>
              </a:ext>
            </a:extLst>
          </p:cNvPr>
          <p:cNvSpPr>
            <a:spLocks noGrp="1"/>
          </p:cNvSpPr>
          <p:nvPr>
            <p:ph idx="1"/>
          </p:nvPr>
        </p:nvSpPr>
        <p:spPr>
          <a:xfrm>
            <a:off x="838200" y="1825625"/>
            <a:ext cx="10515600" cy="5105854"/>
          </a:xfrm>
        </p:spPr>
        <p:txBody>
          <a:bodyPr/>
          <a:lstStyle/>
          <a:p>
            <a:pPr marL="0" indent="0">
              <a:buNone/>
            </a:pPr>
            <a:r>
              <a:rPr lang="en-US" b="1" dirty="0"/>
              <a:t>Purpose:</a:t>
            </a:r>
            <a:endParaRPr lang="en-US" dirty="0"/>
          </a:p>
          <a:p>
            <a:r>
              <a:rPr lang="en-US" dirty="0"/>
              <a:t>To </a:t>
            </a:r>
            <a:r>
              <a:rPr lang="en-US" b="1" dirty="0"/>
              <a:t>convince the reader</a:t>
            </a:r>
            <a:r>
              <a:rPr lang="en-US" dirty="0"/>
              <a:t> to take action.</a:t>
            </a:r>
          </a:p>
          <a:p>
            <a:r>
              <a:rPr lang="en-US" b="1" dirty="0"/>
              <a:t>Full Paragraph Example</a:t>
            </a:r>
          </a:p>
          <a:p>
            <a:endParaRPr lang="en-US" dirty="0"/>
          </a:p>
          <a:p>
            <a:pPr marL="0" indent="0">
              <a:buNone/>
            </a:pPr>
            <a:r>
              <a:rPr lang="en-US" dirty="0"/>
              <a:t>Students should develop the habit of regular reading. Reading widens vocabulary and improves sentence construction. It also exposes learners to new ideas and cultures. If students read daily, they will perform better academically and express themselves confidently.</a:t>
            </a:r>
          </a:p>
          <a:p>
            <a:endParaRPr lang="en-US" dirty="0"/>
          </a:p>
        </p:txBody>
      </p:sp>
    </p:spTree>
    <p:extLst>
      <p:ext uri="{BB962C8B-B14F-4D97-AF65-F5344CB8AC3E}">
        <p14:creationId xmlns:p14="http://schemas.microsoft.com/office/powerpoint/2010/main" val="2542339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7744E-73E5-7148-6293-6370558AC9A7}"/>
              </a:ext>
            </a:extLst>
          </p:cNvPr>
          <p:cNvSpPr>
            <a:spLocks noGrp="1"/>
          </p:cNvSpPr>
          <p:nvPr>
            <p:ph type="title"/>
          </p:nvPr>
        </p:nvSpPr>
        <p:spPr/>
        <p:txBody>
          <a:bodyPr>
            <a:normAutofit/>
          </a:bodyPr>
          <a:lstStyle/>
          <a:p>
            <a:r>
              <a:rPr lang="en-US" b="1" dirty="0"/>
              <a:t>CHARACTERISTICS OF A GOOD PARAGRAPH </a:t>
            </a:r>
            <a:br>
              <a:rPr lang="en-US" dirty="0"/>
            </a:br>
            <a:endParaRPr lang="en-US" dirty="0"/>
          </a:p>
        </p:txBody>
      </p:sp>
      <p:sp>
        <p:nvSpPr>
          <p:cNvPr id="3" name="Content Placeholder 2">
            <a:extLst>
              <a:ext uri="{FF2B5EF4-FFF2-40B4-BE49-F238E27FC236}">
                <a16:creationId xmlns:a16="http://schemas.microsoft.com/office/drawing/2014/main" id="{3BACE195-6A9B-3F15-7A62-2CB3AA76B67E}"/>
              </a:ext>
            </a:extLst>
          </p:cNvPr>
          <p:cNvSpPr>
            <a:spLocks noGrp="1"/>
          </p:cNvSpPr>
          <p:nvPr>
            <p:ph idx="1"/>
          </p:nvPr>
        </p:nvSpPr>
        <p:spPr>
          <a:xfrm>
            <a:off x="838200" y="1825624"/>
            <a:ext cx="10515600" cy="4918075"/>
          </a:xfrm>
        </p:spPr>
        <p:txBody>
          <a:bodyPr>
            <a:normAutofit/>
          </a:bodyPr>
          <a:lstStyle/>
          <a:p>
            <a:pPr marL="0" indent="0">
              <a:buNone/>
            </a:pPr>
            <a:r>
              <a:rPr lang="en-US" dirty="0"/>
              <a:t>A good paragraph must:</a:t>
            </a:r>
          </a:p>
          <a:p>
            <a:pPr marL="0" indent="0">
              <a:buNone/>
            </a:pPr>
            <a:endParaRPr lang="en-US" dirty="0"/>
          </a:p>
          <a:p>
            <a:pPr lvl="0"/>
            <a:r>
              <a:rPr lang="en-US" dirty="0"/>
              <a:t>Focus on </a:t>
            </a:r>
            <a:r>
              <a:rPr lang="en-US" b="1" dirty="0"/>
              <a:t>one central idea</a:t>
            </a:r>
            <a:endParaRPr lang="en-US" dirty="0"/>
          </a:p>
          <a:p>
            <a:pPr lvl="0"/>
            <a:r>
              <a:rPr lang="en-US" dirty="0"/>
              <a:t>Contain a </a:t>
            </a:r>
            <a:r>
              <a:rPr lang="en-US" b="1" dirty="0"/>
              <a:t>clear topic sentence</a:t>
            </a:r>
            <a:endParaRPr lang="en-US" dirty="0"/>
          </a:p>
          <a:p>
            <a:pPr lvl="0"/>
            <a:r>
              <a:rPr lang="en-US" dirty="0"/>
              <a:t>Include </a:t>
            </a:r>
            <a:r>
              <a:rPr lang="en-US" b="1" dirty="0"/>
              <a:t>relevant and sufficient supporting details</a:t>
            </a:r>
            <a:endParaRPr lang="en-US" dirty="0"/>
          </a:p>
          <a:p>
            <a:pPr lvl="0"/>
            <a:r>
              <a:rPr lang="en-US" dirty="0"/>
              <a:t>Show </a:t>
            </a:r>
            <a:r>
              <a:rPr lang="en-US" b="1" dirty="0"/>
              <a:t>logical flow of ideas</a:t>
            </a:r>
            <a:endParaRPr lang="en-US" dirty="0"/>
          </a:p>
          <a:p>
            <a:pPr lvl="0"/>
            <a:r>
              <a:rPr lang="en-US" dirty="0"/>
              <a:t>Be clear and grammatically correct</a:t>
            </a:r>
            <a:br>
              <a:rPr lang="en-US" dirty="0"/>
            </a:br>
            <a:endParaRPr lang="en-US" dirty="0"/>
          </a:p>
          <a:p>
            <a:endParaRPr lang="en-US" dirty="0"/>
          </a:p>
        </p:txBody>
      </p:sp>
    </p:spTree>
    <p:extLst>
      <p:ext uri="{BB962C8B-B14F-4D97-AF65-F5344CB8AC3E}">
        <p14:creationId xmlns:p14="http://schemas.microsoft.com/office/powerpoint/2010/main" val="4206266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C73E3-6B12-DBF7-5417-946313048E9F}"/>
              </a:ext>
            </a:extLst>
          </p:cNvPr>
          <p:cNvSpPr>
            <a:spLocks noGrp="1"/>
          </p:cNvSpPr>
          <p:nvPr>
            <p:ph type="title"/>
          </p:nvPr>
        </p:nvSpPr>
        <p:spPr/>
        <p:txBody>
          <a:bodyPr>
            <a:normAutofit/>
          </a:bodyPr>
          <a:lstStyle/>
          <a:p>
            <a:r>
              <a:rPr lang="en-US" b="1" dirty="0"/>
              <a:t>COMMON ERRORS STUDENTS SHOULD AVOID</a:t>
            </a:r>
            <a:br>
              <a:rPr lang="en-US" dirty="0"/>
            </a:br>
            <a:endParaRPr lang="en-US" dirty="0"/>
          </a:p>
        </p:txBody>
      </p:sp>
      <p:sp>
        <p:nvSpPr>
          <p:cNvPr id="3" name="Content Placeholder 2">
            <a:extLst>
              <a:ext uri="{FF2B5EF4-FFF2-40B4-BE49-F238E27FC236}">
                <a16:creationId xmlns:a16="http://schemas.microsoft.com/office/drawing/2014/main" id="{2EBB0F34-40BF-270B-AF5D-4F01F25B10E2}"/>
              </a:ext>
            </a:extLst>
          </p:cNvPr>
          <p:cNvSpPr>
            <a:spLocks noGrp="1"/>
          </p:cNvSpPr>
          <p:nvPr>
            <p:ph idx="1"/>
          </p:nvPr>
        </p:nvSpPr>
        <p:spPr>
          <a:xfrm>
            <a:off x="838200" y="1825624"/>
            <a:ext cx="10515600" cy="5146675"/>
          </a:xfrm>
        </p:spPr>
        <p:txBody>
          <a:bodyPr/>
          <a:lstStyle/>
          <a:p>
            <a:pPr marL="0" indent="0">
              <a:buNone/>
            </a:pPr>
            <a:endParaRPr lang="en-US" dirty="0"/>
          </a:p>
          <a:p>
            <a:pPr lvl="0"/>
            <a:r>
              <a:rPr lang="en-US" sz="3600" dirty="0"/>
              <a:t>Mixing more than one idea in a paragraph</a:t>
            </a:r>
          </a:p>
          <a:p>
            <a:pPr lvl="0"/>
            <a:r>
              <a:rPr lang="en-US" sz="3600" dirty="0"/>
              <a:t>Writing paragraphs without topic sentences</a:t>
            </a:r>
          </a:p>
          <a:p>
            <a:pPr lvl="0"/>
            <a:r>
              <a:rPr lang="en-US" sz="3600" dirty="0"/>
              <a:t>Using irrelevant examples</a:t>
            </a:r>
          </a:p>
          <a:p>
            <a:pPr lvl="0"/>
            <a:r>
              <a:rPr lang="en-US" sz="3600" dirty="0"/>
              <a:t>Writing overly long paragraphs</a:t>
            </a:r>
          </a:p>
          <a:p>
            <a:pPr lvl="0"/>
            <a:r>
              <a:rPr lang="en-US" sz="3600" dirty="0"/>
              <a:t>Poor sentence connection</a:t>
            </a:r>
          </a:p>
          <a:p>
            <a:endParaRPr lang="en-US" dirty="0"/>
          </a:p>
        </p:txBody>
      </p:sp>
    </p:spTree>
    <p:extLst>
      <p:ext uri="{BB962C8B-B14F-4D97-AF65-F5344CB8AC3E}">
        <p14:creationId xmlns:p14="http://schemas.microsoft.com/office/powerpoint/2010/main" val="596958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D6900-60CC-22F5-16FF-20E3218FE875}"/>
              </a:ext>
            </a:extLst>
          </p:cNvPr>
          <p:cNvSpPr>
            <a:spLocks noGrp="1"/>
          </p:cNvSpPr>
          <p:nvPr>
            <p:ph type="title"/>
          </p:nvPr>
        </p:nvSpPr>
        <p:spPr/>
        <p:txBody>
          <a:bodyPr/>
          <a:lstStyle/>
          <a:p>
            <a:r>
              <a:rPr lang="en-US" dirty="0"/>
              <a:t>THE UCC PRINCLIPLE</a:t>
            </a:r>
          </a:p>
        </p:txBody>
      </p:sp>
      <p:sp>
        <p:nvSpPr>
          <p:cNvPr id="3" name="Content Placeholder 2">
            <a:extLst>
              <a:ext uri="{FF2B5EF4-FFF2-40B4-BE49-F238E27FC236}">
                <a16:creationId xmlns:a16="http://schemas.microsoft.com/office/drawing/2014/main" id="{54977FCE-378A-B424-331D-C46A6AA7AF66}"/>
              </a:ext>
            </a:extLst>
          </p:cNvPr>
          <p:cNvSpPr>
            <a:spLocks noGrp="1"/>
          </p:cNvSpPr>
          <p:nvPr>
            <p:ph idx="1"/>
          </p:nvPr>
        </p:nvSpPr>
        <p:spPr>
          <a:xfrm>
            <a:off x="838200" y="1825625"/>
            <a:ext cx="10515600" cy="4942568"/>
          </a:xfrm>
        </p:spPr>
        <p:txBody>
          <a:bodyPr>
            <a:normAutofit/>
          </a:bodyPr>
          <a:lstStyle/>
          <a:p>
            <a:pPr marL="0" indent="0">
              <a:buNone/>
            </a:pPr>
            <a:r>
              <a:rPr lang="en-US" b="1" dirty="0"/>
              <a:t>UNITY</a:t>
            </a:r>
            <a:endParaRPr lang="en-US" dirty="0"/>
          </a:p>
          <a:p>
            <a:pPr marL="0" indent="0">
              <a:buNone/>
            </a:pPr>
            <a:endParaRPr lang="en-US" dirty="0"/>
          </a:p>
          <a:p>
            <a:pPr>
              <a:buFont typeface="Wingdings" panose="05000000000000000000" pitchFamily="2" charset="2"/>
              <a:buChar char="§"/>
            </a:pPr>
            <a:r>
              <a:rPr lang="en-US" b="1" dirty="0"/>
              <a:t>Unity</a:t>
            </a:r>
            <a:r>
              <a:rPr lang="en-US" dirty="0"/>
              <a:t> in a paragraph means that </a:t>
            </a:r>
            <a:r>
              <a:rPr lang="en-US" b="1" dirty="0"/>
              <a:t>all sentences focus on one main idea</a:t>
            </a:r>
            <a:r>
              <a:rPr lang="en-US" dirty="0"/>
              <a:t>.</a:t>
            </a:r>
          </a:p>
          <a:p>
            <a:pPr marL="0" indent="0">
              <a:buNone/>
            </a:pPr>
            <a:r>
              <a:rPr lang="en-US" dirty="0"/>
              <a:t>A paragraph has unity when:</a:t>
            </a:r>
          </a:p>
          <a:p>
            <a:pPr marL="0" lvl="0" indent="0">
              <a:buNone/>
            </a:pPr>
            <a:r>
              <a:rPr lang="en-US" dirty="0"/>
              <a:t>There is </a:t>
            </a:r>
            <a:r>
              <a:rPr lang="en-US" b="1" dirty="0"/>
              <a:t>one clear topic sentence</a:t>
            </a:r>
            <a:r>
              <a:rPr lang="en-US" dirty="0"/>
              <a:t>, and</a:t>
            </a:r>
          </a:p>
          <a:p>
            <a:pPr marL="0" lvl="0" indent="0">
              <a:buNone/>
            </a:pPr>
            <a:endParaRPr lang="en-US" dirty="0"/>
          </a:p>
          <a:p>
            <a:pPr marL="0" lvl="0" indent="0">
              <a:buNone/>
            </a:pPr>
            <a:r>
              <a:rPr lang="en-US" dirty="0"/>
              <a:t>Every supporting sentence </a:t>
            </a:r>
            <a:r>
              <a:rPr lang="en-US" b="1" dirty="0"/>
              <a:t>explains, illustrates, or supports that topic sentence</a:t>
            </a:r>
            <a:r>
              <a:rPr lang="en-US" dirty="0"/>
              <a:t>.</a:t>
            </a:r>
            <a:br>
              <a:rPr lang="en-US" dirty="0"/>
            </a:br>
            <a:endParaRPr lang="en-US" dirty="0"/>
          </a:p>
          <a:p>
            <a:endParaRPr lang="en-US" dirty="0"/>
          </a:p>
        </p:txBody>
      </p:sp>
    </p:spTree>
    <p:extLst>
      <p:ext uri="{BB962C8B-B14F-4D97-AF65-F5344CB8AC3E}">
        <p14:creationId xmlns:p14="http://schemas.microsoft.com/office/powerpoint/2010/main" val="3696654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F4713-788E-BA32-2B71-34AEA6E2E6F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0B5818-E673-F8C9-EF40-6BDC6AA49A39}"/>
              </a:ext>
            </a:extLst>
          </p:cNvPr>
          <p:cNvSpPr>
            <a:spLocks noGrp="1"/>
          </p:cNvSpPr>
          <p:nvPr>
            <p:ph idx="1"/>
          </p:nvPr>
        </p:nvSpPr>
        <p:spPr>
          <a:xfrm>
            <a:off x="155121" y="1825624"/>
            <a:ext cx="11198679" cy="5146675"/>
          </a:xfrm>
        </p:spPr>
        <p:txBody>
          <a:bodyPr>
            <a:normAutofit/>
          </a:bodyPr>
          <a:lstStyle/>
          <a:p>
            <a:pPr marL="0" lvl="0" indent="0">
              <a:buNone/>
            </a:pPr>
            <a:r>
              <a:rPr lang="en-US" dirty="0"/>
              <a:t>One paragraph = </a:t>
            </a:r>
            <a:r>
              <a:rPr lang="en-US" b="1" dirty="0"/>
              <a:t>one idea</a:t>
            </a:r>
            <a:endParaRPr lang="en-US" dirty="0"/>
          </a:p>
          <a:p>
            <a:pPr lvl="0"/>
            <a:r>
              <a:rPr lang="en-US" dirty="0"/>
              <a:t>Irrelevant sentences </a:t>
            </a:r>
            <a:r>
              <a:rPr lang="en-US" b="1" dirty="0"/>
              <a:t>break unity</a:t>
            </a:r>
            <a:endParaRPr lang="en-US" dirty="0"/>
          </a:p>
          <a:p>
            <a:pPr lvl="0"/>
            <a:r>
              <a:rPr lang="en-US" dirty="0"/>
              <a:t>Unity helps the reader stay focused</a:t>
            </a:r>
          </a:p>
          <a:p>
            <a:pPr marL="0" indent="0">
              <a:buNone/>
            </a:pPr>
            <a:r>
              <a:rPr lang="en-US" b="1" dirty="0"/>
              <a:t>Example </a:t>
            </a:r>
            <a:endParaRPr lang="en-US" dirty="0"/>
          </a:p>
          <a:p>
            <a:pPr marL="0" indent="0">
              <a:buNone/>
            </a:pPr>
            <a:r>
              <a:rPr lang="en-US" dirty="0"/>
              <a:t>Proper hand hygiene is essential in preventing hospital‑acquired infections. Regular hand washing removes harmful microorganisms from healthcare workers’ hands. The use of alcohol‑based </a:t>
            </a:r>
            <a:r>
              <a:rPr lang="en-US" dirty="0" err="1"/>
              <a:t>sanitisers</a:t>
            </a:r>
            <a:r>
              <a:rPr lang="en-US" dirty="0"/>
              <a:t> further reduces infection risks. However, many people enjoy swimming as a form of exercise.</a:t>
            </a:r>
          </a:p>
          <a:p>
            <a:r>
              <a:rPr lang="en-US" dirty="0"/>
              <a:t>❌ The last sentence breaks </a:t>
            </a:r>
            <a:r>
              <a:rPr lang="en-US" b="1" dirty="0"/>
              <a:t>unity</a:t>
            </a:r>
            <a:r>
              <a:rPr lang="en-US" dirty="0"/>
              <a:t> because it is unrelated to hand hygiene.</a:t>
            </a:r>
          </a:p>
          <a:p>
            <a:endParaRPr lang="en-US" dirty="0"/>
          </a:p>
        </p:txBody>
      </p:sp>
    </p:spTree>
    <p:extLst>
      <p:ext uri="{BB962C8B-B14F-4D97-AF65-F5344CB8AC3E}">
        <p14:creationId xmlns:p14="http://schemas.microsoft.com/office/powerpoint/2010/main" val="36778603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7F736-EBAC-79F0-0A22-18DFEB82431E}"/>
              </a:ext>
            </a:extLst>
          </p:cNvPr>
          <p:cNvSpPr>
            <a:spLocks noGrp="1"/>
          </p:cNvSpPr>
          <p:nvPr>
            <p:ph type="title"/>
          </p:nvPr>
        </p:nvSpPr>
        <p:spPr/>
        <p:txBody>
          <a:bodyPr/>
          <a:lstStyle/>
          <a:p>
            <a:r>
              <a:rPr lang="en-US" b="1" dirty="0"/>
              <a:t>COHERENCE</a:t>
            </a:r>
            <a:br>
              <a:rPr lang="en-US" dirty="0"/>
            </a:br>
            <a:endParaRPr lang="en-US" dirty="0"/>
          </a:p>
        </p:txBody>
      </p:sp>
      <p:sp>
        <p:nvSpPr>
          <p:cNvPr id="3" name="Content Placeholder 2">
            <a:extLst>
              <a:ext uri="{FF2B5EF4-FFF2-40B4-BE49-F238E27FC236}">
                <a16:creationId xmlns:a16="http://schemas.microsoft.com/office/drawing/2014/main" id="{99CAC600-F570-4E8E-6BAF-90E712235EE3}"/>
              </a:ext>
            </a:extLst>
          </p:cNvPr>
          <p:cNvSpPr>
            <a:spLocks noGrp="1"/>
          </p:cNvSpPr>
          <p:nvPr>
            <p:ph idx="1"/>
          </p:nvPr>
        </p:nvSpPr>
        <p:spPr/>
        <p:txBody>
          <a:bodyPr>
            <a:normAutofit/>
          </a:bodyPr>
          <a:lstStyle/>
          <a:p>
            <a:pPr marL="0" indent="0">
              <a:buNone/>
            </a:pPr>
            <a:r>
              <a:rPr lang="en-US" b="1" dirty="0"/>
              <a:t>Coherence</a:t>
            </a:r>
            <a:r>
              <a:rPr lang="en-US" dirty="0"/>
              <a:t> refers to the </a:t>
            </a:r>
            <a:r>
              <a:rPr lang="en-US" b="1" dirty="0"/>
              <a:t>logical and smooth flow of ideas</a:t>
            </a:r>
            <a:r>
              <a:rPr lang="en-US" dirty="0"/>
              <a:t> in a paragraph.</a:t>
            </a:r>
          </a:p>
          <a:p>
            <a:pPr marL="0" indent="0">
              <a:buNone/>
            </a:pPr>
            <a:endParaRPr lang="en-US" dirty="0"/>
          </a:p>
          <a:p>
            <a:pPr marL="0" indent="0">
              <a:buNone/>
            </a:pPr>
            <a:r>
              <a:rPr lang="en-US" dirty="0"/>
              <a:t>A paragraph is coherent when:</a:t>
            </a:r>
          </a:p>
          <a:p>
            <a:pPr lvl="0"/>
            <a:r>
              <a:rPr lang="en-US" dirty="0"/>
              <a:t>Sentences are arranged in a </a:t>
            </a:r>
            <a:r>
              <a:rPr lang="en-US" b="1" dirty="0"/>
              <a:t>logical order</a:t>
            </a:r>
            <a:endParaRPr lang="en-US" dirty="0"/>
          </a:p>
          <a:p>
            <a:pPr lvl="0"/>
            <a:r>
              <a:rPr lang="en-US" dirty="0"/>
              <a:t>Ideas move clearly from one sentence to the next</a:t>
            </a:r>
          </a:p>
          <a:p>
            <a:pPr lvl="0"/>
            <a:r>
              <a:rPr lang="en-US" dirty="0"/>
              <a:t>The reader can follow the writer’s thinking easily</a:t>
            </a:r>
            <a:br>
              <a:rPr lang="en-US" dirty="0"/>
            </a:br>
            <a:endParaRPr lang="en-US" dirty="0"/>
          </a:p>
          <a:p>
            <a:endParaRPr lang="en-US" dirty="0"/>
          </a:p>
        </p:txBody>
      </p:sp>
    </p:spTree>
    <p:extLst>
      <p:ext uri="{BB962C8B-B14F-4D97-AF65-F5344CB8AC3E}">
        <p14:creationId xmlns:p14="http://schemas.microsoft.com/office/powerpoint/2010/main" val="2873877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81000-AAB3-C5A4-71E4-26E1371B22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E410325-7215-5CA1-853F-9DAD5EB9C453}"/>
              </a:ext>
            </a:extLst>
          </p:cNvPr>
          <p:cNvSpPr>
            <a:spLocks noGrp="1"/>
          </p:cNvSpPr>
          <p:nvPr>
            <p:ph idx="1"/>
          </p:nvPr>
        </p:nvSpPr>
        <p:spPr>
          <a:xfrm>
            <a:off x="212271" y="1825624"/>
            <a:ext cx="11141529" cy="5032375"/>
          </a:xfrm>
        </p:spPr>
        <p:txBody>
          <a:bodyPr>
            <a:normAutofit/>
          </a:bodyPr>
          <a:lstStyle/>
          <a:p>
            <a:pPr marL="0" indent="0">
              <a:buNone/>
            </a:pPr>
            <a:r>
              <a:rPr lang="en-US" b="1" dirty="0"/>
              <a:t>How Coherence Is Achieved</a:t>
            </a:r>
          </a:p>
          <a:p>
            <a:pPr marL="0" indent="0">
              <a:buNone/>
            </a:pPr>
            <a:endParaRPr lang="en-US" dirty="0"/>
          </a:p>
          <a:p>
            <a:pPr marL="0" lvl="0" indent="0">
              <a:buNone/>
            </a:pPr>
            <a:r>
              <a:rPr lang="en-US" dirty="0"/>
              <a:t>Logical sequencing (cause → effect, general → specific)</a:t>
            </a:r>
          </a:p>
          <a:p>
            <a:pPr marL="0" lvl="0" indent="0">
              <a:buNone/>
            </a:pPr>
            <a:r>
              <a:rPr lang="en-US" dirty="0"/>
              <a:t>Appropriate paragraph order</a:t>
            </a:r>
          </a:p>
          <a:p>
            <a:pPr marL="0" lvl="0" indent="0">
              <a:buNone/>
            </a:pPr>
            <a:r>
              <a:rPr lang="en-US" dirty="0"/>
              <a:t>Clear sentence connections</a:t>
            </a:r>
          </a:p>
          <a:p>
            <a:pPr marL="0" indent="0">
              <a:buNone/>
            </a:pPr>
            <a:r>
              <a:rPr lang="en-US" b="1" dirty="0"/>
              <a:t>Example </a:t>
            </a:r>
            <a:endParaRPr lang="en-US" dirty="0"/>
          </a:p>
          <a:p>
            <a:pPr marL="0" indent="0">
              <a:buNone/>
            </a:pPr>
            <a:r>
              <a:rPr lang="en-US" dirty="0"/>
              <a:t>Vaccination protects individuals against infectious diseases. By stimulating the immune system, vaccines prepare the body to fight harmful pathogens. As a result, vaccinated populations experience fewer disease outbreaks. Consequently, vaccination plays a critical role in public health.</a:t>
            </a:r>
          </a:p>
          <a:p>
            <a:pPr marL="0" indent="0">
              <a:buNone/>
            </a:pPr>
            <a:endParaRPr lang="en-US" dirty="0"/>
          </a:p>
          <a:p>
            <a:endParaRPr lang="en-US" dirty="0"/>
          </a:p>
        </p:txBody>
      </p:sp>
    </p:spTree>
    <p:extLst>
      <p:ext uri="{BB962C8B-B14F-4D97-AF65-F5344CB8AC3E}">
        <p14:creationId xmlns:p14="http://schemas.microsoft.com/office/powerpoint/2010/main" val="2670495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19025-033B-053E-1147-9D2A92D74ABD}"/>
              </a:ext>
            </a:extLst>
          </p:cNvPr>
          <p:cNvSpPr>
            <a:spLocks noGrp="1"/>
          </p:cNvSpPr>
          <p:nvPr>
            <p:ph type="title"/>
          </p:nvPr>
        </p:nvSpPr>
        <p:spPr/>
        <p:txBody>
          <a:bodyPr/>
          <a:lstStyle/>
          <a:p>
            <a:r>
              <a:rPr lang="en-US" b="1" dirty="0"/>
              <a:t> COHESION</a:t>
            </a:r>
            <a:br>
              <a:rPr lang="en-US" dirty="0"/>
            </a:br>
            <a:endParaRPr lang="en-US" dirty="0"/>
          </a:p>
        </p:txBody>
      </p:sp>
      <p:sp>
        <p:nvSpPr>
          <p:cNvPr id="3" name="Content Placeholder 2">
            <a:extLst>
              <a:ext uri="{FF2B5EF4-FFF2-40B4-BE49-F238E27FC236}">
                <a16:creationId xmlns:a16="http://schemas.microsoft.com/office/drawing/2014/main" id="{ED9C6342-5E72-8854-8599-310A88714F90}"/>
              </a:ext>
            </a:extLst>
          </p:cNvPr>
          <p:cNvSpPr>
            <a:spLocks noGrp="1"/>
          </p:cNvSpPr>
          <p:nvPr>
            <p:ph idx="1"/>
          </p:nvPr>
        </p:nvSpPr>
        <p:spPr>
          <a:xfrm>
            <a:off x="579664" y="1289958"/>
            <a:ext cx="10774136" cy="5568042"/>
          </a:xfrm>
        </p:spPr>
        <p:txBody>
          <a:bodyPr>
            <a:normAutofit fontScale="92500" lnSpcReduction="20000"/>
          </a:bodyPr>
          <a:lstStyle/>
          <a:p>
            <a:pPr marL="0" indent="0">
              <a:buNone/>
            </a:pPr>
            <a:r>
              <a:rPr lang="en-US" b="1" dirty="0"/>
              <a:t>Cohesion</a:t>
            </a:r>
            <a:r>
              <a:rPr lang="en-US" dirty="0"/>
              <a:t> refers to the grammatical and linguistic connections that link sentences together in a paragraph.</a:t>
            </a:r>
          </a:p>
          <a:p>
            <a:r>
              <a:rPr lang="en-US" dirty="0"/>
              <a:t>It deals with the </a:t>
            </a:r>
            <a:r>
              <a:rPr lang="en-US" b="1" dirty="0"/>
              <a:t>language tools</a:t>
            </a:r>
            <a:r>
              <a:rPr lang="en-US" dirty="0"/>
              <a:t> that hold the paragraph together.</a:t>
            </a:r>
            <a:br>
              <a:rPr lang="en-US" dirty="0"/>
            </a:br>
            <a:endParaRPr lang="en-US" dirty="0"/>
          </a:p>
          <a:p>
            <a:pPr marL="0" indent="0">
              <a:buNone/>
            </a:pPr>
            <a:r>
              <a:rPr lang="en-US" b="1" dirty="0"/>
              <a:t>Devices That Create Cohesion</a:t>
            </a:r>
            <a:endParaRPr lang="en-US" dirty="0"/>
          </a:p>
          <a:p>
            <a:pPr lvl="0"/>
            <a:r>
              <a:rPr lang="en-US" dirty="0"/>
              <a:t>Linking words: </a:t>
            </a:r>
            <a:r>
              <a:rPr lang="en-US" i="1" dirty="0"/>
              <a:t>therefore, however, in addition</a:t>
            </a:r>
            <a:endParaRPr lang="en-US" dirty="0"/>
          </a:p>
          <a:p>
            <a:pPr lvl="0"/>
            <a:r>
              <a:rPr lang="en-US" dirty="0"/>
              <a:t>Pronouns: </a:t>
            </a:r>
            <a:r>
              <a:rPr lang="en-US" i="1" dirty="0"/>
              <a:t>it, they, this</a:t>
            </a:r>
            <a:endParaRPr lang="en-US" dirty="0"/>
          </a:p>
          <a:p>
            <a:pPr lvl="0"/>
            <a:r>
              <a:rPr lang="en-US" dirty="0"/>
              <a:t>Repetition of key words</a:t>
            </a:r>
          </a:p>
          <a:p>
            <a:pPr lvl="0"/>
            <a:r>
              <a:rPr lang="en-US" dirty="0"/>
              <a:t>Synonyms</a:t>
            </a:r>
          </a:p>
          <a:p>
            <a:pPr marL="0" indent="0">
              <a:buNone/>
            </a:pPr>
            <a:endParaRPr lang="en-US" dirty="0"/>
          </a:p>
          <a:p>
            <a:pPr marL="0" indent="0">
              <a:buNone/>
            </a:pPr>
            <a:r>
              <a:rPr lang="en-US" b="1" dirty="0"/>
              <a:t>Example (Medical Context)</a:t>
            </a:r>
            <a:endParaRPr lang="en-US" dirty="0"/>
          </a:p>
          <a:p>
            <a:pPr marL="0" indent="0">
              <a:buNone/>
            </a:pPr>
            <a:r>
              <a:rPr lang="en-US" dirty="0"/>
              <a:t>Nurses monitor patients’ vital signs regularly. </a:t>
            </a:r>
            <a:r>
              <a:rPr lang="en-US" b="1" dirty="0"/>
              <a:t>They</a:t>
            </a:r>
            <a:r>
              <a:rPr lang="en-US" dirty="0"/>
              <a:t> record temperature, pulse, and blood pressure on observation charts. </a:t>
            </a:r>
            <a:r>
              <a:rPr lang="en-US" b="1" dirty="0"/>
              <a:t>This practice</a:t>
            </a:r>
            <a:r>
              <a:rPr lang="en-US" dirty="0"/>
              <a:t> helps doctors detect complications early. </a:t>
            </a:r>
            <a:r>
              <a:rPr lang="en-US" b="1" dirty="0"/>
              <a:t>In addition</a:t>
            </a:r>
            <a:r>
              <a:rPr lang="en-US" dirty="0"/>
              <a:t>, accurate records improve the quality of patient care.</a:t>
            </a:r>
          </a:p>
          <a:p>
            <a:pPr marL="0" indent="0">
              <a:buNone/>
            </a:pPr>
            <a:endParaRPr lang="en-US" dirty="0"/>
          </a:p>
          <a:p>
            <a:endParaRPr lang="en-US" dirty="0"/>
          </a:p>
        </p:txBody>
      </p:sp>
    </p:spTree>
    <p:extLst>
      <p:ext uri="{BB962C8B-B14F-4D97-AF65-F5344CB8AC3E}">
        <p14:creationId xmlns:p14="http://schemas.microsoft.com/office/powerpoint/2010/main" val="42463643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8D11D-3BC2-BB00-F114-64BDFB0568D4}"/>
              </a:ext>
            </a:extLst>
          </p:cNvPr>
          <p:cNvSpPr>
            <a:spLocks noGrp="1"/>
          </p:cNvSpPr>
          <p:nvPr>
            <p:ph type="title"/>
          </p:nvPr>
        </p:nvSpPr>
        <p:spPr/>
        <p:txBody>
          <a:bodyPr/>
          <a:lstStyle/>
          <a:p>
            <a:r>
              <a:rPr lang="en-US" dirty="0"/>
              <a:t>SUMMARY</a:t>
            </a:r>
          </a:p>
        </p:txBody>
      </p:sp>
      <p:graphicFrame>
        <p:nvGraphicFramePr>
          <p:cNvPr id="4" name="Content Placeholder 3">
            <a:extLst>
              <a:ext uri="{FF2B5EF4-FFF2-40B4-BE49-F238E27FC236}">
                <a16:creationId xmlns:a16="http://schemas.microsoft.com/office/drawing/2014/main" id="{744A8445-8990-8DCA-49FB-02B260FC4C4A}"/>
              </a:ext>
            </a:extLst>
          </p:cNvPr>
          <p:cNvGraphicFramePr>
            <a:graphicFrameLocks noGrp="1"/>
          </p:cNvGraphicFramePr>
          <p:nvPr>
            <p:ph idx="1"/>
            <p:extLst>
              <p:ext uri="{D42A27DB-BD31-4B8C-83A1-F6EECF244321}">
                <p14:modId xmlns:p14="http://schemas.microsoft.com/office/powerpoint/2010/main" val="2316443365"/>
              </p:ext>
            </p:extLst>
          </p:nvPr>
        </p:nvGraphicFramePr>
        <p:xfrm>
          <a:off x="334736" y="2090056"/>
          <a:ext cx="11642271" cy="4490356"/>
        </p:xfrm>
        <a:graphic>
          <a:graphicData uri="http://schemas.openxmlformats.org/drawingml/2006/table">
            <a:tbl>
              <a:tblPr firstRow="1" firstCol="1" bandRow="1">
                <a:tableStyleId>{5C22544A-7EE6-4342-B048-85BDC9FD1C3A}</a:tableStyleId>
              </a:tblPr>
              <a:tblGrid>
                <a:gridCol w="3880757">
                  <a:extLst>
                    <a:ext uri="{9D8B030D-6E8A-4147-A177-3AD203B41FA5}">
                      <a16:colId xmlns:a16="http://schemas.microsoft.com/office/drawing/2014/main" val="3750406198"/>
                    </a:ext>
                  </a:extLst>
                </a:gridCol>
                <a:gridCol w="3880757">
                  <a:extLst>
                    <a:ext uri="{9D8B030D-6E8A-4147-A177-3AD203B41FA5}">
                      <a16:colId xmlns:a16="http://schemas.microsoft.com/office/drawing/2014/main" val="3188759749"/>
                    </a:ext>
                  </a:extLst>
                </a:gridCol>
                <a:gridCol w="3880757">
                  <a:extLst>
                    <a:ext uri="{9D8B030D-6E8A-4147-A177-3AD203B41FA5}">
                      <a16:colId xmlns:a16="http://schemas.microsoft.com/office/drawing/2014/main" val="3649217474"/>
                    </a:ext>
                  </a:extLst>
                </a:gridCol>
              </a:tblGrid>
              <a:tr h="1122589">
                <a:tc>
                  <a:txBody>
                    <a:bodyPr/>
                    <a:lstStyle/>
                    <a:p>
                      <a:pPr marL="0" marR="0">
                        <a:lnSpc>
                          <a:spcPct val="115000"/>
                        </a:lnSpc>
                        <a:spcAft>
                          <a:spcPts val="800"/>
                        </a:spcAft>
                        <a:buNone/>
                      </a:pPr>
                      <a:r>
                        <a:rPr lang="en-US" sz="2400" kern="100" dirty="0">
                          <a:effectLst/>
                        </a:rPr>
                        <a:t>Term</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rPr>
                        <a:t>Focus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rPr>
                        <a:t>Key Question</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97351861"/>
                  </a:ext>
                </a:extLst>
              </a:tr>
              <a:tr h="1122589">
                <a:tc>
                  <a:txBody>
                    <a:bodyPr/>
                    <a:lstStyle/>
                    <a:p>
                      <a:pPr marL="0" marR="0">
                        <a:lnSpc>
                          <a:spcPct val="115000"/>
                        </a:lnSpc>
                        <a:spcAft>
                          <a:spcPts val="800"/>
                        </a:spcAft>
                        <a:buNone/>
                      </a:pPr>
                      <a:r>
                        <a:rPr lang="en-US" sz="2400" kern="100">
                          <a:effectLst/>
                        </a:rPr>
                        <a:t>Unity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rPr>
                        <a:t>One idea</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rPr>
                        <a:t>Is everything about the same topic?</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75889713"/>
                  </a:ext>
                </a:extLst>
              </a:tr>
              <a:tr h="1122589">
                <a:tc>
                  <a:txBody>
                    <a:bodyPr/>
                    <a:lstStyle/>
                    <a:p>
                      <a:pPr marL="0" marR="0">
                        <a:lnSpc>
                          <a:spcPct val="115000"/>
                        </a:lnSpc>
                        <a:spcAft>
                          <a:spcPts val="800"/>
                        </a:spcAft>
                        <a:buNone/>
                      </a:pPr>
                      <a:r>
                        <a:rPr lang="en-US" sz="2400" kern="100" dirty="0">
                          <a:effectLst/>
                        </a:rPr>
                        <a:t>Coherence</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rPr>
                        <a:t>Logical flow</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rPr>
                        <a:t>Do ideas move smoothly?</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46474368"/>
                  </a:ext>
                </a:extLst>
              </a:tr>
              <a:tr h="1122589">
                <a:tc>
                  <a:txBody>
                    <a:bodyPr/>
                    <a:lstStyle/>
                    <a:p>
                      <a:pPr marL="0" marR="0">
                        <a:lnSpc>
                          <a:spcPct val="115000"/>
                        </a:lnSpc>
                        <a:spcAft>
                          <a:spcPts val="800"/>
                        </a:spcAft>
                        <a:buNone/>
                      </a:pPr>
                      <a:r>
                        <a:rPr lang="en-US" sz="2400" kern="100">
                          <a:effectLst/>
                        </a:rPr>
                        <a:t>Cohesion</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a:effectLst/>
                        </a:rPr>
                        <a:t>Language links</a:t>
                      </a:r>
                      <a:endParaRPr lang="en-US" sz="24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Aft>
                          <a:spcPts val="800"/>
                        </a:spcAft>
                        <a:buNone/>
                      </a:pPr>
                      <a:r>
                        <a:rPr lang="en-US" sz="2400" kern="100" dirty="0">
                          <a:effectLst/>
                        </a:rPr>
                        <a:t>Are sentences grammatically connected?</a:t>
                      </a:r>
                      <a:endParaRPr lang="en-US" sz="2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54603537"/>
                  </a:ext>
                </a:extLst>
              </a:tr>
            </a:tbl>
          </a:graphicData>
        </a:graphic>
      </p:graphicFrame>
      <p:sp>
        <p:nvSpPr>
          <p:cNvPr id="5" name="Rectangle 1">
            <a:extLst>
              <a:ext uri="{FF2B5EF4-FFF2-40B4-BE49-F238E27FC236}">
                <a16:creationId xmlns:a16="http://schemas.microsoft.com/office/drawing/2014/main" id="{304BE0A6-2293-225C-1C3E-90DF2AEE3E7B}"/>
              </a:ext>
            </a:extLst>
          </p:cNvPr>
          <p:cNvSpPr>
            <a:spLocks noChangeArrowheads="1"/>
          </p:cNvSpPr>
          <p:nvPr/>
        </p:nvSpPr>
        <p:spPr bwMode="auto">
          <a:xfrm>
            <a:off x="-465364" y="-2286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SUMMARY OF THE THREE CONCEPTS</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48055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F0664-BC77-5645-48B6-F2AF3BFB700D}"/>
              </a:ext>
            </a:extLst>
          </p:cNvPr>
          <p:cNvSpPr>
            <a:spLocks noGrp="1"/>
          </p:cNvSpPr>
          <p:nvPr>
            <p:ph type="title"/>
          </p:nvPr>
        </p:nvSpPr>
        <p:spPr/>
        <p:txBody>
          <a:bodyPr/>
          <a:lstStyle/>
          <a:p>
            <a:r>
              <a:rPr lang="en-US" b="1" dirty="0"/>
              <a:t>CONCLUSION</a:t>
            </a:r>
            <a:br>
              <a:rPr lang="en-US" dirty="0"/>
            </a:br>
            <a:endParaRPr lang="en-US" dirty="0"/>
          </a:p>
        </p:txBody>
      </p:sp>
      <p:sp>
        <p:nvSpPr>
          <p:cNvPr id="3" name="Content Placeholder 2">
            <a:extLst>
              <a:ext uri="{FF2B5EF4-FFF2-40B4-BE49-F238E27FC236}">
                <a16:creationId xmlns:a16="http://schemas.microsoft.com/office/drawing/2014/main" id="{E8695D1D-CA4B-9E43-B050-45F145742997}"/>
              </a:ext>
            </a:extLst>
          </p:cNvPr>
          <p:cNvSpPr>
            <a:spLocks noGrp="1"/>
          </p:cNvSpPr>
          <p:nvPr>
            <p:ph idx="1"/>
          </p:nvPr>
        </p:nvSpPr>
        <p:spPr>
          <a:xfrm>
            <a:off x="285750" y="1825624"/>
            <a:ext cx="11068050" cy="4975225"/>
          </a:xfrm>
        </p:spPr>
        <p:txBody>
          <a:bodyPr/>
          <a:lstStyle/>
          <a:p>
            <a:pPr marL="0" indent="0">
              <a:buNone/>
            </a:pPr>
            <a:endParaRPr lang="en-US" dirty="0"/>
          </a:p>
          <a:p>
            <a:pPr marL="0" indent="0">
              <a:buNone/>
            </a:pPr>
            <a:r>
              <a:rPr lang="en-US" sz="3600" dirty="0"/>
              <a:t>Paragraph writing is a </a:t>
            </a:r>
            <a:r>
              <a:rPr lang="en-US" sz="3600" b="1" dirty="0"/>
              <a:t>fundamental skill</a:t>
            </a:r>
            <a:r>
              <a:rPr lang="en-US" sz="3600" dirty="0"/>
              <a:t> in English language learning. Understanding paragraph structure, topic sentences, and paragraph types equips students with the ability to communicate ideas clearly and effectively. Mastery of paragraph writing leads to better essays, reports, and examinations performance.</a:t>
            </a:r>
          </a:p>
          <a:p>
            <a:endParaRPr lang="en-US" dirty="0"/>
          </a:p>
        </p:txBody>
      </p:sp>
    </p:spTree>
    <p:extLst>
      <p:ext uri="{BB962C8B-B14F-4D97-AF65-F5344CB8AC3E}">
        <p14:creationId xmlns:p14="http://schemas.microsoft.com/office/powerpoint/2010/main" val="37063274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F2B46-43C2-C1F8-47AF-3023BFBFEE08}"/>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306090DA-EF20-389B-D0B2-6399DE941B5C}"/>
              </a:ext>
            </a:extLst>
          </p:cNvPr>
          <p:cNvSpPr>
            <a:spLocks noGrp="1"/>
          </p:cNvSpPr>
          <p:nvPr>
            <p:ph idx="1"/>
          </p:nvPr>
        </p:nvSpPr>
        <p:spPr/>
        <p:txBody>
          <a:bodyPr>
            <a:normAutofit fontScale="92500" lnSpcReduction="10000"/>
          </a:bodyPr>
          <a:lstStyle/>
          <a:p>
            <a:pPr marL="514350" indent="-514350">
              <a:buAutoNum type="arabicPeriod"/>
            </a:pPr>
            <a:r>
              <a:rPr lang="en-US" dirty="0"/>
              <a:t>Identify the topic sentence and supporting sentences in this paragraph.</a:t>
            </a:r>
          </a:p>
          <a:p>
            <a:pPr marL="514350" indent="-514350">
              <a:buAutoNum type="arabicPeriod"/>
            </a:pPr>
            <a:r>
              <a:rPr lang="en-US" dirty="0"/>
              <a:t>What type of paragraph is this</a:t>
            </a:r>
          </a:p>
          <a:p>
            <a:pPr marL="0" indent="0">
              <a:buNone/>
            </a:pPr>
            <a:endParaRPr lang="en-US" dirty="0"/>
          </a:p>
          <a:p>
            <a:pPr marL="0" indent="0">
              <a:buNone/>
            </a:pPr>
            <a:endParaRPr lang="en-US" dirty="0"/>
          </a:p>
          <a:p>
            <a:pPr marL="0" indent="0">
              <a:buNone/>
            </a:pPr>
            <a:r>
              <a:rPr lang="en-US" dirty="0"/>
              <a:t>Last Monday during my clinical rotation, I witnessed my first emergency resuscitation. A patient was rushed into the emergency unit after losing consciousness. The doctors and nurses immediately began cardiopulmonary resuscitation while others prepared emergency medications. After several intense minutes, the patient’s heartbeat was restored, and the medical team breathed a sigh of relief. This experience taught me the importance of teamwork and quick decision‑making in medical practice.</a:t>
            </a:r>
          </a:p>
          <a:p>
            <a:endParaRPr lang="en-US" dirty="0"/>
          </a:p>
        </p:txBody>
      </p:sp>
    </p:spTree>
    <p:extLst>
      <p:ext uri="{BB962C8B-B14F-4D97-AF65-F5344CB8AC3E}">
        <p14:creationId xmlns:p14="http://schemas.microsoft.com/office/powerpoint/2010/main" val="14119957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4F4A0-80F0-4C84-A0E4-76BCDFB55E4C}"/>
              </a:ext>
            </a:extLst>
          </p:cNvPr>
          <p:cNvSpPr>
            <a:spLocks noGrp="1"/>
          </p:cNvSpPr>
          <p:nvPr>
            <p:ph type="title"/>
          </p:nvPr>
        </p:nvSpPr>
        <p:spPr/>
        <p:txBody>
          <a:bodyPr/>
          <a:lstStyle/>
          <a:p>
            <a:r>
              <a:rPr lang="en-US" dirty="0"/>
              <a:t>READING SKILLS</a:t>
            </a:r>
          </a:p>
        </p:txBody>
      </p:sp>
      <p:sp>
        <p:nvSpPr>
          <p:cNvPr id="3" name="Content Placeholder 2">
            <a:extLst>
              <a:ext uri="{FF2B5EF4-FFF2-40B4-BE49-F238E27FC236}">
                <a16:creationId xmlns:a16="http://schemas.microsoft.com/office/drawing/2014/main" id="{000CD6CB-A641-E3DF-7DA1-390A72CF6BA2}"/>
              </a:ext>
            </a:extLst>
          </p:cNvPr>
          <p:cNvSpPr>
            <a:spLocks noGrp="1"/>
          </p:cNvSpPr>
          <p:nvPr>
            <p:ph idx="1"/>
          </p:nvPr>
        </p:nvSpPr>
        <p:spPr>
          <a:xfrm>
            <a:off x="187779" y="1825624"/>
            <a:ext cx="11166021" cy="5032375"/>
          </a:xfrm>
        </p:spPr>
        <p:txBody>
          <a:bodyPr/>
          <a:lstStyle/>
          <a:p>
            <a:pPr>
              <a:buFont typeface="Wingdings" panose="05000000000000000000" pitchFamily="2" charset="2"/>
              <a:buChar char="§"/>
            </a:pPr>
            <a:r>
              <a:rPr lang="en-US" dirty="0"/>
              <a:t>Reading is one of the most important language skills.</a:t>
            </a:r>
          </a:p>
          <a:p>
            <a:pPr>
              <a:buFont typeface="Wingdings" panose="05000000000000000000" pitchFamily="2" charset="2"/>
              <a:buChar char="§"/>
            </a:pPr>
            <a:r>
              <a:rPr lang="en-US" dirty="0"/>
              <a:t> It is central to academic success because it supports learning in all subjects. Students read textbooks, examination questions, instructions, notices, literary texts, and digital materials. </a:t>
            </a:r>
          </a:p>
          <a:p>
            <a:pPr>
              <a:buFont typeface="Wingdings" panose="05000000000000000000" pitchFamily="2" charset="2"/>
              <a:buChar char="§"/>
            </a:pPr>
            <a:r>
              <a:rPr lang="en-US" dirty="0"/>
              <a:t>Without effective reading skills, learners struggle to understand content, follow arguments, and respond accurately in examinations.</a:t>
            </a:r>
          </a:p>
          <a:p>
            <a:pPr>
              <a:buFont typeface="Wingdings" panose="05000000000000000000" pitchFamily="2" charset="2"/>
              <a:buChar char="§"/>
            </a:pPr>
            <a:r>
              <a:rPr lang="en-US" dirty="0"/>
              <a:t>Reading is </a:t>
            </a:r>
            <a:r>
              <a:rPr lang="en-US" b="1" dirty="0"/>
              <a:t>not just looking at words</a:t>
            </a:r>
            <a:r>
              <a:rPr lang="en-US" dirty="0"/>
              <a:t> on a page. </a:t>
            </a:r>
          </a:p>
          <a:p>
            <a:pPr>
              <a:buFont typeface="Wingdings" panose="05000000000000000000" pitchFamily="2" charset="2"/>
              <a:buChar char="§"/>
            </a:pPr>
            <a:r>
              <a:rPr lang="en-US" dirty="0"/>
              <a:t>It is an </a:t>
            </a:r>
            <a:r>
              <a:rPr lang="en-US" b="1" dirty="0"/>
              <a:t>active and purposeful process</a:t>
            </a:r>
            <a:r>
              <a:rPr lang="en-US" dirty="0"/>
              <a:t> that involves thinking, interpreting, and making meaning from written texts.</a:t>
            </a:r>
          </a:p>
          <a:p>
            <a:endParaRPr lang="en-US" dirty="0"/>
          </a:p>
        </p:txBody>
      </p:sp>
    </p:spTree>
    <p:extLst>
      <p:ext uri="{BB962C8B-B14F-4D97-AF65-F5344CB8AC3E}">
        <p14:creationId xmlns:p14="http://schemas.microsoft.com/office/powerpoint/2010/main" val="14541752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FEA79-1C87-D3C1-B5FF-920D74088228}"/>
              </a:ext>
            </a:extLst>
          </p:cNvPr>
          <p:cNvSpPr>
            <a:spLocks noGrp="1"/>
          </p:cNvSpPr>
          <p:nvPr>
            <p:ph type="title"/>
          </p:nvPr>
        </p:nvSpPr>
        <p:spPr/>
        <p:txBody>
          <a:bodyPr/>
          <a:lstStyle/>
          <a:p>
            <a:r>
              <a:rPr lang="en-US" dirty="0"/>
              <a:t>READING SKILLS</a:t>
            </a:r>
          </a:p>
        </p:txBody>
      </p:sp>
      <p:sp>
        <p:nvSpPr>
          <p:cNvPr id="3" name="Content Placeholder 2">
            <a:extLst>
              <a:ext uri="{FF2B5EF4-FFF2-40B4-BE49-F238E27FC236}">
                <a16:creationId xmlns:a16="http://schemas.microsoft.com/office/drawing/2014/main" id="{2B9F4207-32C4-A8AB-1D14-B1F82942D441}"/>
              </a:ext>
            </a:extLst>
          </p:cNvPr>
          <p:cNvSpPr>
            <a:spLocks noGrp="1"/>
          </p:cNvSpPr>
          <p:nvPr>
            <p:ph idx="1"/>
          </p:nvPr>
        </p:nvSpPr>
        <p:spPr/>
        <p:txBody>
          <a:bodyPr/>
          <a:lstStyle/>
          <a:p>
            <a:pPr marL="0" indent="0">
              <a:buNone/>
            </a:pPr>
            <a:r>
              <a:rPr lang="en-US" dirty="0"/>
              <a:t>Reading also involves:</a:t>
            </a:r>
          </a:p>
          <a:p>
            <a:pPr lvl="0"/>
            <a:endParaRPr lang="en-US" dirty="0"/>
          </a:p>
          <a:p>
            <a:pPr lvl="0"/>
            <a:endParaRPr lang="en-US" dirty="0"/>
          </a:p>
          <a:p>
            <a:pPr lvl="0"/>
            <a:r>
              <a:rPr lang="en-US" dirty="0"/>
              <a:t>understanding vocabulary,</a:t>
            </a:r>
          </a:p>
          <a:p>
            <a:pPr lvl="0"/>
            <a:r>
              <a:rPr lang="en-US" dirty="0" err="1"/>
              <a:t>recognising</a:t>
            </a:r>
            <a:r>
              <a:rPr lang="en-US" dirty="0"/>
              <a:t> sentence structure,</a:t>
            </a:r>
          </a:p>
          <a:p>
            <a:pPr lvl="0"/>
            <a:r>
              <a:rPr lang="en-US" dirty="0"/>
              <a:t>identifying main ideas and details,</a:t>
            </a:r>
          </a:p>
          <a:p>
            <a:pPr lvl="0"/>
            <a:r>
              <a:rPr lang="en-US" dirty="0"/>
              <a:t>and making sense of the writer’s message.</a:t>
            </a:r>
          </a:p>
          <a:p>
            <a:endParaRPr lang="en-US" dirty="0"/>
          </a:p>
        </p:txBody>
      </p:sp>
    </p:spTree>
    <p:extLst>
      <p:ext uri="{BB962C8B-B14F-4D97-AF65-F5344CB8AC3E}">
        <p14:creationId xmlns:p14="http://schemas.microsoft.com/office/powerpoint/2010/main" val="3995876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D7D26-540A-2F9B-F451-DA6613060C31}"/>
              </a:ext>
            </a:extLst>
          </p:cNvPr>
          <p:cNvSpPr>
            <a:spLocks noGrp="1"/>
          </p:cNvSpPr>
          <p:nvPr>
            <p:ph type="title"/>
          </p:nvPr>
        </p:nvSpPr>
        <p:spPr/>
        <p:txBody>
          <a:bodyPr/>
          <a:lstStyle/>
          <a:p>
            <a:r>
              <a:rPr lang="en-US" b="1" dirty="0"/>
              <a:t>PURPOSES OF READING</a:t>
            </a:r>
            <a:br>
              <a:rPr lang="en-US" dirty="0"/>
            </a:br>
            <a:endParaRPr lang="en-US" dirty="0"/>
          </a:p>
        </p:txBody>
      </p:sp>
      <p:sp>
        <p:nvSpPr>
          <p:cNvPr id="3" name="Content Placeholder 2">
            <a:extLst>
              <a:ext uri="{FF2B5EF4-FFF2-40B4-BE49-F238E27FC236}">
                <a16:creationId xmlns:a16="http://schemas.microsoft.com/office/drawing/2014/main" id="{CE381BEA-BB04-96D4-F3DE-C9F88EB7F6D1}"/>
              </a:ext>
            </a:extLst>
          </p:cNvPr>
          <p:cNvSpPr>
            <a:spLocks noGrp="1"/>
          </p:cNvSpPr>
          <p:nvPr>
            <p:ph idx="1"/>
          </p:nvPr>
        </p:nvSpPr>
        <p:spPr>
          <a:xfrm>
            <a:off x="838200" y="1825624"/>
            <a:ext cx="10515600" cy="5032375"/>
          </a:xfrm>
        </p:spPr>
        <p:txBody>
          <a:bodyPr>
            <a:normAutofit/>
          </a:bodyPr>
          <a:lstStyle/>
          <a:p>
            <a:pPr marL="0" indent="0">
              <a:buNone/>
            </a:pPr>
            <a:r>
              <a:rPr lang="en-US" dirty="0"/>
              <a:t>People read for different reasons. These purposes determine </a:t>
            </a:r>
            <a:r>
              <a:rPr lang="en-US" b="1" dirty="0"/>
              <a:t>how</a:t>
            </a:r>
            <a:r>
              <a:rPr lang="en-US" dirty="0"/>
              <a:t> they read a text.</a:t>
            </a:r>
          </a:p>
          <a:p>
            <a:r>
              <a:rPr lang="en-US" dirty="0"/>
              <a:t>Some common purposes of reading include:</a:t>
            </a:r>
          </a:p>
          <a:p>
            <a:pPr lvl="0"/>
            <a:r>
              <a:rPr lang="en-US" dirty="0"/>
              <a:t>Reading to get </a:t>
            </a:r>
            <a:r>
              <a:rPr lang="en-US" b="1" dirty="0"/>
              <a:t>information</a:t>
            </a:r>
            <a:endParaRPr lang="en-US" dirty="0"/>
          </a:p>
          <a:p>
            <a:pPr lvl="0"/>
            <a:r>
              <a:rPr lang="en-US" dirty="0"/>
              <a:t>Reading to understand </a:t>
            </a:r>
            <a:r>
              <a:rPr lang="en-US" b="1" dirty="0"/>
              <a:t>instructions</a:t>
            </a:r>
            <a:endParaRPr lang="en-US" dirty="0"/>
          </a:p>
          <a:p>
            <a:pPr lvl="0"/>
            <a:r>
              <a:rPr lang="en-US" dirty="0"/>
              <a:t>Reading for </a:t>
            </a:r>
            <a:r>
              <a:rPr lang="en-US" b="1" dirty="0"/>
              <a:t>pleasure or enjoyment</a:t>
            </a:r>
            <a:endParaRPr lang="en-US" dirty="0"/>
          </a:p>
          <a:p>
            <a:pPr lvl="0"/>
            <a:r>
              <a:rPr lang="en-US" dirty="0"/>
              <a:t>Reading for </a:t>
            </a:r>
            <a:r>
              <a:rPr lang="en-US" b="1" dirty="0"/>
              <a:t>academic study</a:t>
            </a:r>
            <a:endParaRPr lang="en-US" dirty="0"/>
          </a:p>
          <a:p>
            <a:pPr lvl="0"/>
            <a:r>
              <a:rPr lang="en-US" dirty="0"/>
              <a:t>Reading to form an </a:t>
            </a:r>
            <a:r>
              <a:rPr lang="en-US" b="1" dirty="0"/>
              <a:t>opinion or argument</a:t>
            </a:r>
            <a:endParaRPr lang="en-US" dirty="0"/>
          </a:p>
          <a:p>
            <a:endParaRPr lang="en-US" dirty="0"/>
          </a:p>
        </p:txBody>
      </p:sp>
    </p:spTree>
    <p:extLst>
      <p:ext uri="{BB962C8B-B14F-4D97-AF65-F5344CB8AC3E}">
        <p14:creationId xmlns:p14="http://schemas.microsoft.com/office/powerpoint/2010/main" val="4416933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CC04-3048-91FB-B337-68A7A7A75331}"/>
              </a:ext>
            </a:extLst>
          </p:cNvPr>
          <p:cNvSpPr>
            <a:spLocks noGrp="1"/>
          </p:cNvSpPr>
          <p:nvPr>
            <p:ph type="title"/>
          </p:nvPr>
        </p:nvSpPr>
        <p:spPr/>
        <p:txBody>
          <a:bodyPr/>
          <a:lstStyle/>
          <a:p>
            <a:r>
              <a:rPr lang="en-US" dirty="0"/>
              <a:t>WHAT SKILLS ARE INVOLVED?</a:t>
            </a:r>
          </a:p>
        </p:txBody>
      </p:sp>
      <p:sp>
        <p:nvSpPr>
          <p:cNvPr id="3" name="Content Placeholder 2">
            <a:extLst>
              <a:ext uri="{FF2B5EF4-FFF2-40B4-BE49-F238E27FC236}">
                <a16:creationId xmlns:a16="http://schemas.microsoft.com/office/drawing/2014/main" id="{17974592-2C89-4FA5-D7B5-5D7DA955FB39}"/>
              </a:ext>
            </a:extLst>
          </p:cNvPr>
          <p:cNvSpPr>
            <a:spLocks noGrp="1"/>
          </p:cNvSpPr>
          <p:nvPr>
            <p:ph idx="1"/>
          </p:nvPr>
        </p:nvSpPr>
        <p:spPr/>
        <p:txBody>
          <a:bodyPr>
            <a:normAutofit/>
          </a:bodyPr>
          <a:lstStyle/>
          <a:p>
            <a:pPr>
              <a:buFont typeface="Wingdings" panose="05000000000000000000" pitchFamily="2" charset="2"/>
              <a:buChar char="§"/>
            </a:pPr>
            <a:r>
              <a:rPr lang="en-US" dirty="0"/>
              <a:t>Reading is made up of several </a:t>
            </a:r>
            <a:r>
              <a:rPr lang="en-US" b="1" dirty="0"/>
              <a:t>sub‑skills</a:t>
            </a:r>
            <a:r>
              <a:rPr lang="en-US" dirty="0"/>
              <a:t> that work together to ensure meaning is constructed successfully.</a:t>
            </a:r>
          </a:p>
          <a:p>
            <a:pPr marL="0" indent="0">
              <a:buNone/>
            </a:pPr>
            <a:r>
              <a:rPr lang="en-US" b="1" dirty="0"/>
              <a:t>1 Word Recognition Skills</a:t>
            </a:r>
            <a:endParaRPr lang="en-US" dirty="0"/>
          </a:p>
          <a:p>
            <a:r>
              <a:rPr lang="en-US" dirty="0"/>
              <a:t>This involves </a:t>
            </a:r>
            <a:r>
              <a:rPr lang="en-US" dirty="0" err="1"/>
              <a:t>recognising</a:t>
            </a:r>
            <a:r>
              <a:rPr lang="en-US" dirty="0"/>
              <a:t> letters and words quickly and accurately.</a:t>
            </a:r>
          </a:p>
          <a:p>
            <a:pPr lvl="0"/>
            <a:r>
              <a:rPr lang="en-US" dirty="0"/>
              <a:t>Identifying familiar words</a:t>
            </a:r>
          </a:p>
          <a:p>
            <a:pPr lvl="0"/>
            <a:r>
              <a:rPr lang="en-US" dirty="0"/>
              <a:t>Linking letters to sounds</a:t>
            </a:r>
          </a:p>
          <a:p>
            <a:pPr lvl="0"/>
            <a:r>
              <a:rPr lang="en-US" dirty="0" err="1"/>
              <a:t>Recognising</a:t>
            </a:r>
            <a:r>
              <a:rPr lang="en-US" dirty="0"/>
              <a:t> word patterns</a:t>
            </a:r>
            <a:br>
              <a:rPr lang="en-US" dirty="0"/>
            </a:br>
            <a:endParaRPr lang="en-US" dirty="0"/>
          </a:p>
          <a:p>
            <a:endParaRPr lang="en-US" dirty="0"/>
          </a:p>
        </p:txBody>
      </p:sp>
    </p:spTree>
    <p:extLst>
      <p:ext uri="{BB962C8B-B14F-4D97-AF65-F5344CB8AC3E}">
        <p14:creationId xmlns:p14="http://schemas.microsoft.com/office/powerpoint/2010/main" val="17236842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C3A0-F692-01E7-F5BC-C813658A563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4B4CE3-D09C-70D5-D474-B2177E217E88}"/>
              </a:ext>
            </a:extLst>
          </p:cNvPr>
          <p:cNvSpPr>
            <a:spLocks noGrp="1"/>
          </p:cNvSpPr>
          <p:nvPr>
            <p:ph idx="1"/>
          </p:nvPr>
        </p:nvSpPr>
        <p:spPr>
          <a:xfrm>
            <a:off x="236764" y="1825624"/>
            <a:ext cx="11117036" cy="5089525"/>
          </a:xfrm>
        </p:spPr>
        <p:txBody>
          <a:bodyPr>
            <a:normAutofit/>
          </a:bodyPr>
          <a:lstStyle/>
          <a:p>
            <a:pPr marL="0" indent="0">
              <a:buNone/>
            </a:pPr>
            <a:r>
              <a:rPr lang="en-US" b="1" dirty="0"/>
              <a:t>2 Vocabulary Knowledge</a:t>
            </a:r>
            <a:endParaRPr lang="en-US" dirty="0"/>
          </a:p>
          <a:p>
            <a:r>
              <a:rPr lang="en-US" dirty="0"/>
              <a:t>Vocabulary is critical in reading comprehension.</a:t>
            </a:r>
          </a:p>
          <a:p>
            <a:pPr lvl="0"/>
            <a:r>
              <a:rPr lang="en-US" dirty="0"/>
              <a:t>Understanding word meanings</a:t>
            </a:r>
          </a:p>
          <a:p>
            <a:pPr lvl="0"/>
            <a:r>
              <a:rPr lang="en-US" dirty="0"/>
              <a:t>Using context clues</a:t>
            </a:r>
          </a:p>
          <a:p>
            <a:pPr lvl="0"/>
            <a:r>
              <a:rPr lang="en-US" dirty="0" err="1"/>
              <a:t>Recognising</a:t>
            </a:r>
            <a:r>
              <a:rPr lang="en-US" dirty="0"/>
              <a:t> synonyms and antonyms</a:t>
            </a:r>
          </a:p>
          <a:p>
            <a:pPr marL="0" indent="0">
              <a:buNone/>
            </a:pPr>
            <a:r>
              <a:rPr lang="en-US" b="1" dirty="0"/>
              <a:t>3 Comprehension Skills</a:t>
            </a:r>
            <a:endParaRPr lang="en-US" dirty="0"/>
          </a:p>
          <a:p>
            <a:r>
              <a:rPr lang="en-US" dirty="0"/>
              <a:t>These skills help readers understand the text.</a:t>
            </a:r>
          </a:p>
          <a:p>
            <a:pPr lvl="0"/>
            <a:r>
              <a:rPr lang="en-US" dirty="0"/>
              <a:t>Identifying main ideas</a:t>
            </a:r>
          </a:p>
          <a:p>
            <a:pPr lvl="0"/>
            <a:r>
              <a:rPr lang="en-US" dirty="0" err="1"/>
              <a:t>Recognising</a:t>
            </a:r>
            <a:r>
              <a:rPr lang="en-US" dirty="0"/>
              <a:t> supporting details</a:t>
            </a:r>
          </a:p>
          <a:p>
            <a:pPr lvl="0"/>
            <a:r>
              <a:rPr lang="en-US" dirty="0"/>
              <a:t>Understanding relationships between ideas</a:t>
            </a:r>
          </a:p>
          <a:p>
            <a:endParaRPr lang="en-US" dirty="0"/>
          </a:p>
        </p:txBody>
      </p:sp>
    </p:spTree>
    <p:extLst>
      <p:ext uri="{BB962C8B-B14F-4D97-AF65-F5344CB8AC3E}">
        <p14:creationId xmlns:p14="http://schemas.microsoft.com/office/powerpoint/2010/main" val="23389403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E81F0-A2D2-824A-8112-F99CDE45EA3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7C1586E-5E22-4A59-0094-476E98F0CB42}"/>
              </a:ext>
            </a:extLst>
          </p:cNvPr>
          <p:cNvSpPr>
            <a:spLocks noGrp="1"/>
          </p:cNvSpPr>
          <p:nvPr>
            <p:ph idx="1"/>
          </p:nvPr>
        </p:nvSpPr>
        <p:spPr>
          <a:xfrm>
            <a:off x="383721" y="1825625"/>
            <a:ext cx="10970079" cy="5130346"/>
          </a:xfrm>
        </p:spPr>
        <p:txBody>
          <a:bodyPr>
            <a:normAutofit/>
          </a:bodyPr>
          <a:lstStyle/>
          <a:p>
            <a:pPr marL="0" indent="0">
              <a:buNone/>
            </a:pPr>
            <a:r>
              <a:rPr lang="en-US" b="1" dirty="0"/>
              <a:t>Inferential Skills</a:t>
            </a:r>
            <a:endParaRPr lang="en-US" dirty="0"/>
          </a:p>
          <a:p>
            <a:r>
              <a:rPr lang="en-US" dirty="0"/>
              <a:t>Inference involves </a:t>
            </a:r>
            <a:r>
              <a:rPr lang="en-US" b="1" dirty="0"/>
              <a:t>reading between the lines</a:t>
            </a:r>
            <a:r>
              <a:rPr lang="en-US" dirty="0"/>
              <a:t>.</a:t>
            </a:r>
          </a:p>
          <a:p>
            <a:pPr lvl="0"/>
            <a:r>
              <a:rPr lang="en-US" dirty="0"/>
              <a:t>Drawing conclusions</a:t>
            </a:r>
          </a:p>
          <a:p>
            <a:pPr lvl="0"/>
            <a:r>
              <a:rPr lang="en-US" dirty="0"/>
              <a:t>Predicting outcomes</a:t>
            </a:r>
          </a:p>
          <a:p>
            <a:pPr lvl="0"/>
            <a:r>
              <a:rPr lang="en-US" dirty="0"/>
              <a:t>Interpreting implied meanings</a:t>
            </a:r>
          </a:p>
          <a:p>
            <a:pPr marL="0" indent="0">
              <a:buNone/>
            </a:pPr>
            <a:r>
              <a:rPr lang="en-US" b="1" dirty="0"/>
              <a:t>Critical Reading Skills</a:t>
            </a:r>
            <a:endParaRPr lang="en-US" dirty="0"/>
          </a:p>
          <a:p>
            <a:r>
              <a:rPr lang="en-US" dirty="0"/>
              <a:t>Critical reading goes beyond understanding.</a:t>
            </a:r>
          </a:p>
          <a:p>
            <a:pPr lvl="0"/>
            <a:r>
              <a:rPr lang="en-US" dirty="0"/>
              <a:t>Evaluating arguments</a:t>
            </a:r>
          </a:p>
          <a:p>
            <a:pPr lvl="0"/>
            <a:r>
              <a:rPr lang="en-US" dirty="0"/>
              <a:t>Identifying bias</a:t>
            </a:r>
          </a:p>
          <a:p>
            <a:pPr lvl="0"/>
            <a:r>
              <a:rPr lang="en-US" dirty="0"/>
              <a:t>Questioning the writer’s viewpoint</a:t>
            </a:r>
          </a:p>
          <a:p>
            <a:endParaRPr lang="en-US" dirty="0"/>
          </a:p>
        </p:txBody>
      </p:sp>
    </p:spTree>
    <p:extLst>
      <p:ext uri="{BB962C8B-B14F-4D97-AF65-F5344CB8AC3E}">
        <p14:creationId xmlns:p14="http://schemas.microsoft.com/office/powerpoint/2010/main" val="252834449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5C7DD-4F04-06DC-265D-2BDA26E6C2B1}"/>
              </a:ext>
            </a:extLst>
          </p:cNvPr>
          <p:cNvSpPr>
            <a:spLocks noGrp="1"/>
          </p:cNvSpPr>
          <p:nvPr>
            <p:ph type="title"/>
          </p:nvPr>
        </p:nvSpPr>
        <p:spPr/>
        <p:txBody>
          <a:bodyPr/>
          <a:lstStyle/>
          <a:p>
            <a:r>
              <a:rPr lang="en-US" b="1" dirty="0"/>
              <a:t>TYPES OF READING SKILLS / STRATEGIES</a:t>
            </a:r>
            <a:br>
              <a:rPr lang="en-US" dirty="0"/>
            </a:br>
            <a:endParaRPr lang="en-US" dirty="0"/>
          </a:p>
        </p:txBody>
      </p:sp>
      <p:sp>
        <p:nvSpPr>
          <p:cNvPr id="3" name="Content Placeholder 2">
            <a:extLst>
              <a:ext uri="{FF2B5EF4-FFF2-40B4-BE49-F238E27FC236}">
                <a16:creationId xmlns:a16="http://schemas.microsoft.com/office/drawing/2014/main" id="{AA81BE21-09C2-FB8F-CF49-AA55366F09CF}"/>
              </a:ext>
            </a:extLst>
          </p:cNvPr>
          <p:cNvSpPr>
            <a:spLocks noGrp="1"/>
          </p:cNvSpPr>
          <p:nvPr>
            <p:ph idx="1"/>
          </p:nvPr>
        </p:nvSpPr>
        <p:spPr>
          <a:xfrm>
            <a:off x="416379" y="1825624"/>
            <a:ext cx="10937421" cy="5154839"/>
          </a:xfrm>
        </p:spPr>
        <p:txBody>
          <a:bodyPr>
            <a:normAutofit fontScale="85000" lnSpcReduction="20000"/>
          </a:bodyPr>
          <a:lstStyle/>
          <a:p>
            <a:pPr>
              <a:buFont typeface="Wingdings" panose="05000000000000000000" pitchFamily="2" charset="2"/>
              <a:buChar char="§"/>
            </a:pPr>
            <a:r>
              <a:rPr lang="en-US" dirty="0"/>
              <a:t>Depending on purpose, readers use different reading strategies. Three important strategies are skimming, scanning, and close reading.</a:t>
            </a:r>
          </a:p>
          <a:p>
            <a:pPr marL="0" indent="0">
              <a:buNone/>
            </a:pPr>
            <a:r>
              <a:rPr lang="en-US" b="1" dirty="0"/>
              <a:t>SKIMMING</a:t>
            </a:r>
            <a:endParaRPr lang="en-US" dirty="0"/>
          </a:p>
          <a:p>
            <a:pPr>
              <a:buFont typeface="Wingdings" panose="05000000000000000000" pitchFamily="2" charset="2"/>
              <a:buChar char="§"/>
            </a:pPr>
            <a:r>
              <a:rPr lang="en-US" b="1" dirty="0"/>
              <a:t>Skimming</a:t>
            </a:r>
            <a:r>
              <a:rPr lang="en-US" dirty="0"/>
              <a:t> is a reading strategy used to get the general idea or overview of a text quickly without reading every word.</a:t>
            </a:r>
          </a:p>
          <a:p>
            <a:pPr marL="0" indent="0">
              <a:buNone/>
            </a:pPr>
            <a:r>
              <a:rPr lang="en-US" b="1" dirty="0"/>
              <a:t>Purpose of Skimming</a:t>
            </a:r>
          </a:p>
          <a:p>
            <a:pPr marL="0" indent="0">
              <a:buNone/>
            </a:pPr>
            <a:endParaRPr lang="en-US" dirty="0"/>
          </a:p>
          <a:p>
            <a:r>
              <a:rPr lang="en-US" dirty="0"/>
              <a:t>Skimming is used when:</a:t>
            </a:r>
          </a:p>
          <a:p>
            <a:pPr lvl="0"/>
            <a:r>
              <a:rPr lang="en-US" dirty="0"/>
              <a:t>previewing a text</a:t>
            </a:r>
          </a:p>
          <a:p>
            <a:pPr lvl="0"/>
            <a:r>
              <a:rPr lang="en-US" dirty="0"/>
              <a:t>finding the main idea</a:t>
            </a:r>
          </a:p>
          <a:p>
            <a:pPr lvl="0"/>
            <a:r>
              <a:rPr lang="en-US" dirty="0"/>
              <a:t>deciding whether a text is useful</a:t>
            </a:r>
          </a:p>
          <a:p>
            <a:pPr lvl="0"/>
            <a:r>
              <a:rPr lang="en-US" dirty="0"/>
              <a:t>preparing for detailed reading</a:t>
            </a:r>
          </a:p>
          <a:p>
            <a:pPr marL="0" indent="0">
              <a:buNone/>
            </a:pPr>
            <a:br>
              <a:rPr lang="en-US" dirty="0"/>
            </a:br>
            <a:endParaRPr lang="en-US" dirty="0"/>
          </a:p>
          <a:p>
            <a:endParaRPr lang="en-US" dirty="0"/>
          </a:p>
        </p:txBody>
      </p:sp>
    </p:spTree>
    <p:extLst>
      <p:ext uri="{BB962C8B-B14F-4D97-AF65-F5344CB8AC3E}">
        <p14:creationId xmlns:p14="http://schemas.microsoft.com/office/powerpoint/2010/main" val="2238626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55339-2E99-B04F-C191-96F5B5DF3B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5D8464-D1BA-2052-C44D-7995AAAE6C7D}"/>
              </a:ext>
            </a:extLst>
          </p:cNvPr>
          <p:cNvSpPr>
            <a:spLocks noGrp="1"/>
          </p:cNvSpPr>
          <p:nvPr>
            <p:ph idx="1"/>
          </p:nvPr>
        </p:nvSpPr>
        <p:spPr>
          <a:xfrm>
            <a:off x="285750" y="1825625"/>
            <a:ext cx="11068050" cy="4885418"/>
          </a:xfrm>
        </p:spPr>
        <p:txBody>
          <a:bodyPr/>
          <a:lstStyle/>
          <a:p>
            <a:pPr marL="0" indent="0">
              <a:buNone/>
            </a:pPr>
            <a:r>
              <a:rPr lang="en-US" b="1" dirty="0"/>
              <a:t>How Skimming Is Done</a:t>
            </a:r>
            <a:endParaRPr lang="en-US" dirty="0"/>
          </a:p>
          <a:p>
            <a:endParaRPr lang="en-US" dirty="0"/>
          </a:p>
          <a:p>
            <a:pPr marL="0" indent="0">
              <a:buNone/>
            </a:pPr>
            <a:r>
              <a:rPr lang="en-US" dirty="0"/>
              <a:t>When skimming, a reader:</a:t>
            </a:r>
          </a:p>
          <a:p>
            <a:pPr marL="0" lvl="0" indent="0">
              <a:buNone/>
            </a:pPr>
            <a:r>
              <a:rPr lang="en-US" dirty="0"/>
              <a:t>reads the title and headings</a:t>
            </a:r>
          </a:p>
          <a:p>
            <a:pPr marL="0" lvl="0" indent="0">
              <a:buNone/>
            </a:pPr>
            <a:r>
              <a:rPr lang="en-US" dirty="0"/>
              <a:t>pays attention to the introduction and conclusion</a:t>
            </a:r>
          </a:p>
          <a:p>
            <a:pPr marL="0" lvl="0" indent="0">
              <a:buNone/>
            </a:pPr>
            <a:r>
              <a:rPr lang="en-US" dirty="0"/>
              <a:t>looks at topic sentences</a:t>
            </a:r>
          </a:p>
          <a:p>
            <a:pPr marL="0" lvl="0" indent="0">
              <a:buNone/>
            </a:pPr>
            <a:r>
              <a:rPr lang="en-US" dirty="0"/>
              <a:t>ignores less important details</a:t>
            </a:r>
          </a:p>
          <a:p>
            <a:endParaRPr lang="en-US" dirty="0"/>
          </a:p>
        </p:txBody>
      </p:sp>
    </p:spTree>
    <p:extLst>
      <p:ext uri="{BB962C8B-B14F-4D97-AF65-F5344CB8AC3E}">
        <p14:creationId xmlns:p14="http://schemas.microsoft.com/office/powerpoint/2010/main" val="22224063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6CFB2-203E-3856-AEB9-30E7821D1E85}"/>
              </a:ext>
            </a:extLst>
          </p:cNvPr>
          <p:cNvSpPr>
            <a:spLocks noGrp="1"/>
          </p:cNvSpPr>
          <p:nvPr>
            <p:ph type="title"/>
          </p:nvPr>
        </p:nvSpPr>
        <p:spPr/>
        <p:txBody>
          <a:bodyPr/>
          <a:lstStyle/>
          <a:p>
            <a:r>
              <a:rPr lang="en-US" b="1" dirty="0"/>
              <a:t>SCANNING</a:t>
            </a:r>
            <a:br>
              <a:rPr lang="en-US" dirty="0"/>
            </a:br>
            <a:endParaRPr lang="en-US" dirty="0"/>
          </a:p>
        </p:txBody>
      </p:sp>
      <p:sp>
        <p:nvSpPr>
          <p:cNvPr id="3" name="Content Placeholder 2">
            <a:extLst>
              <a:ext uri="{FF2B5EF4-FFF2-40B4-BE49-F238E27FC236}">
                <a16:creationId xmlns:a16="http://schemas.microsoft.com/office/drawing/2014/main" id="{AEEFC7E2-79E1-5D7E-C5F7-EAF976EF0F88}"/>
              </a:ext>
            </a:extLst>
          </p:cNvPr>
          <p:cNvSpPr>
            <a:spLocks noGrp="1"/>
          </p:cNvSpPr>
          <p:nvPr>
            <p:ph idx="1"/>
          </p:nvPr>
        </p:nvSpPr>
        <p:spPr>
          <a:xfrm>
            <a:off x="220435" y="1825624"/>
            <a:ext cx="11879035" cy="5097689"/>
          </a:xfrm>
        </p:spPr>
        <p:txBody>
          <a:bodyPr>
            <a:normAutofit/>
          </a:bodyPr>
          <a:lstStyle/>
          <a:p>
            <a:pPr>
              <a:buFont typeface="Wingdings" panose="05000000000000000000" pitchFamily="2" charset="2"/>
              <a:buChar char="§"/>
            </a:pPr>
            <a:r>
              <a:rPr lang="en-US" b="1" dirty="0"/>
              <a:t>Scanning</a:t>
            </a:r>
            <a:r>
              <a:rPr lang="en-US" dirty="0"/>
              <a:t> is a reading strategy used to </a:t>
            </a:r>
            <a:r>
              <a:rPr lang="en-US" b="1" dirty="0"/>
              <a:t>locate specific information</a:t>
            </a:r>
            <a:r>
              <a:rPr lang="en-US" dirty="0"/>
              <a:t> in a text quickly.</a:t>
            </a:r>
          </a:p>
          <a:p>
            <a:pPr marL="0" indent="0">
              <a:buNone/>
            </a:pPr>
            <a:r>
              <a:rPr lang="en-US" b="1" dirty="0"/>
              <a:t>Purpose of Scanning</a:t>
            </a:r>
            <a:endParaRPr lang="en-US" dirty="0"/>
          </a:p>
          <a:p>
            <a:r>
              <a:rPr lang="en-US" dirty="0"/>
              <a:t>Scanning is used when looking for:</a:t>
            </a:r>
          </a:p>
          <a:p>
            <a:pPr lvl="0"/>
            <a:r>
              <a:rPr lang="en-US" dirty="0"/>
              <a:t>names</a:t>
            </a:r>
          </a:p>
          <a:p>
            <a:pPr lvl="0"/>
            <a:r>
              <a:rPr lang="en-US" dirty="0"/>
              <a:t>dates</a:t>
            </a:r>
          </a:p>
          <a:p>
            <a:pPr lvl="0"/>
            <a:r>
              <a:rPr lang="en-US" dirty="0"/>
              <a:t>figures</a:t>
            </a:r>
          </a:p>
          <a:p>
            <a:pPr lvl="0"/>
            <a:r>
              <a:rPr lang="en-US" dirty="0"/>
              <a:t>definitions</a:t>
            </a:r>
          </a:p>
          <a:p>
            <a:pPr lvl="0"/>
            <a:r>
              <a:rPr lang="en-US" dirty="0"/>
              <a:t>specific answers</a:t>
            </a:r>
          </a:p>
          <a:p>
            <a:pPr marL="0" indent="0">
              <a:buNone/>
            </a:pPr>
            <a:endParaRPr lang="en-US" dirty="0"/>
          </a:p>
          <a:p>
            <a:endParaRPr lang="en-US" dirty="0"/>
          </a:p>
        </p:txBody>
      </p:sp>
    </p:spTree>
    <p:extLst>
      <p:ext uri="{BB962C8B-B14F-4D97-AF65-F5344CB8AC3E}">
        <p14:creationId xmlns:p14="http://schemas.microsoft.com/office/powerpoint/2010/main" val="3877826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AE913-2E59-8E22-D943-143B4DCADCF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E549EFF-5C94-A9F2-F2A3-6188ED878EFC}"/>
              </a:ext>
            </a:extLst>
          </p:cNvPr>
          <p:cNvSpPr>
            <a:spLocks noGrp="1"/>
          </p:cNvSpPr>
          <p:nvPr>
            <p:ph idx="1"/>
          </p:nvPr>
        </p:nvSpPr>
        <p:spPr/>
        <p:txBody>
          <a:bodyPr/>
          <a:lstStyle/>
          <a:p>
            <a:pPr marL="0" indent="0">
              <a:buNone/>
            </a:pPr>
            <a:r>
              <a:rPr lang="en-US" b="1" dirty="0"/>
              <a:t>How Scanning Is Done</a:t>
            </a:r>
          </a:p>
          <a:p>
            <a:pPr marL="0" indent="0">
              <a:buNone/>
            </a:pPr>
            <a:endParaRPr lang="en-US" dirty="0"/>
          </a:p>
          <a:p>
            <a:pPr marL="0" indent="0">
              <a:buNone/>
            </a:pPr>
            <a:r>
              <a:rPr lang="en-US" dirty="0"/>
              <a:t>When scanning, a reader:</a:t>
            </a:r>
          </a:p>
          <a:p>
            <a:pPr marL="0" indent="0">
              <a:buNone/>
            </a:pPr>
            <a:endParaRPr lang="en-US" dirty="0"/>
          </a:p>
          <a:p>
            <a:pPr lvl="0"/>
            <a:r>
              <a:rPr lang="en-US" dirty="0"/>
              <a:t>moves eyes quickly over the text</a:t>
            </a:r>
          </a:p>
          <a:p>
            <a:pPr lvl="0"/>
            <a:r>
              <a:rPr lang="en-US" dirty="0"/>
              <a:t>searches for key words or numbers</a:t>
            </a:r>
          </a:p>
          <a:p>
            <a:pPr lvl="0"/>
            <a:r>
              <a:rPr lang="en-US" dirty="0"/>
              <a:t>ignores unnecessary information</a:t>
            </a:r>
          </a:p>
          <a:p>
            <a:endParaRPr lang="en-US" dirty="0"/>
          </a:p>
        </p:txBody>
      </p:sp>
    </p:spTree>
    <p:extLst>
      <p:ext uri="{BB962C8B-B14F-4D97-AF65-F5344CB8AC3E}">
        <p14:creationId xmlns:p14="http://schemas.microsoft.com/office/powerpoint/2010/main" val="22346147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78874-2A21-92CB-CB55-CB029F300CF7}"/>
              </a:ext>
            </a:extLst>
          </p:cNvPr>
          <p:cNvSpPr>
            <a:spLocks noGrp="1"/>
          </p:cNvSpPr>
          <p:nvPr>
            <p:ph type="title"/>
          </p:nvPr>
        </p:nvSpPr>
        <p:spPr/>
        <p:txBody>
          <a:bodyPr/>
          <a:lstStyle/>
          <a:p>
            <a:r>
              <a:rPr lang="en-US" b="1" dirty="0"/>
              <a:t>CLOSE READING</a:t>
            </a:r>
            <a:br>
              <a:rPr lang="en-US" dirty="0"/>
            </a:br>
            <a:endParaRPr lang="en-US" dirty="0"/>
          </a:p>
        </p:txBody>
      </p:sp>
      <p:sp>
        <p:nvSpPr>
          <p:cNvPr id="3" name="Content Placeholder 2">
            <a:extLst>
              <a:ext uri="{FF2B5EF4-FFF2-40B4-BE49-F238E27FC236}">
                <a16:creationId xmlns:a16="http://schemas.microsoft.com/office/drawing/2014/main" id="{9118CCC2-0FE0-ACC6-5497-B29D23823A53}"/>
              </a:ext>
            </a:extLst>
          </p:cNvPr>
          <p:cNvSpPr>
            <a:spLocks noGrp="1"/>
          </p:cNvSpPr>
          <p:nvPr>
            <p:ph idx="1"/>
          </p:nvPr>
        </p:nvSpPr>
        <p:spPr>
          <a:xfrm>
            <a:off x="838200" y="1825624"/>
            <a:ext cx="10515600" cy="5032375"/>
          </a:xfrm>
        </p:spPr>
        <p:txBody>
          <a:bodyPr>
            <a:normAutofit lnSpcReduction="10000"/>
          </a:bodyPr>
          <a:lstStyle/>
          <a:p>
            <a:pPr marL="0" indent="0">
              <a:buNone/>
            </a:pPr>
            <a:r>
              <a:rPr lang="en-US" b="1" dirty="0"/>
              <a:t>Close reading</a:t>
            </a:r>
            <a:r>
              <a:rPr lang="en-US" dirty="0"/>
              <a:t> is a careful, detailed, and slow method of reading used to achieve </a:t>
            </a:r>
            <a:r>
              <a:rPr lang="en-US" b="1" dirty="0"/>
              <a:t>deep understanding</a:t>
            </a:r>
            <a:r>
              <a:rPr lang="en-US" dirty="0"/>
              <a:t> of a text.</a:t>
            </a:r>
          </a:p>
          <a:p>
            <a:pPr marL="0" indent="0">
              <a:buNone/>
            </a:pPr>
            <a:r>
              <a:rPr lang="en-US" b="1" dirty="0"/>
              <a:t>Purpose of Close Reading</a:t>
            </a:r>
          </a:p>
          <a:p>
            <a:pPr marL="0" indent="0">
              <a:buNone/>
            </a:pPr>
            <a:endParaRPr lang="en-US" dirty="0"/>
          </a:p>
          <a:p>
            <a:r>
              <a:rPr lang="en-US" dirty="0"/>
              <a:t>Close reading is used to:</a:t>
            </a:r>
          </a:p>
          <a:p>
            <a:pPr lvl="0"/>
            <a:r>
              <a:rPr lang="en-US" dirty="0"/>
              <a:t>analyse texts critically</a:t>
            </a:r>
          </a:p>
          <a:p>
            <a:pPr lvl="0"/>
            <a:r>
              <a:rPr lang="en-US" dirty="0"/>
              <a:t>understand complex ideas</a:t>
            </a:r>
          </a:p>
          <a:p>
            <a:pPr lvl="0"/>
            <a:r>
              <a:rPr lang="en-US" dirty="0"/>
              <a:t>interpret literary and academic texts</a:t>
            </a:r>
          </a:p>
          <a:p>
            <a:pPr lvl="0"/>
            <a:r>
              <a:rPr lang="en-US" dirty="0"/>
              <a:t>answer comprehension questions</a:t>
            </a:r>
          </a:p>
          <a:p>
            <a:pPr marL="0" indent="0">
              <a:buNone/>
            </a:pPr>
            <a:br>
              <a:rPr lang="en-US" dirty="0"/>
            </a:br>
            <a:endParaRPr lang="en-US" dirty="0"/>
          </a:p>
          <a:p>
            <a:endParaRPr lang="en-US" dirty="0"/>
          </a:p>
        </p:txBody>
      </p:sp>
    </p:spTree>
    <p:extLst>
      <p:ext uri="{BB962C8B-B14F-4D97-AF65-F5344CB8AC3E}">
        <p14:creationId xmlns:p14="http://schemas.microsoft.com/office/powerpoint/2010/main" val="11479502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46E4B-A087-FDCA-5240-3EA6D3DC5B50}"/>
              </a:ext>
            </a:extLst>
          </p:cNvPr>
          <p:cNvSpPr>
            <a:spLocks noGrp="1"/>
          </p:cNvSpPr>
          <p:nvPr>
            <p:ph type="title"/>
          </p:nvPr>
        </p:nvSpPr>
        <p:spPr/>
        <p:txBody>
          <a:bodyPr/>
          <a:lstStyle/>
          <a:p>
            <a:r>
              <a:rPr lang="en-US" b="1" dirty="0"/>
              <a:t>Features of Close Reading</a:t>
            </a:r>
            <a:br>
              <a:rPr lang="en-US" dirty="0"/>
            </a:br>
            <a:endParaRPr lang="en-US" dirty="0"/>
          </a:p>
        </p:txBody>
      </p:sp>
      <p:sp>
        <p:nvSpPr>
          <p:cNvPr id="3" name="Content Placeholder 2">
            <a:extLst>
              <a:ext uri="{FF2B5EF4-FFF2-40B4-BE49-F238E27FC236}">
                <a16:creationId xmlns:a16="http://schemas.microsoft.com/office/drawing/2014/main" id="{4DDED984-36CB-662B-AE99-0CA707D95842}"/>
              </a:ext>
            </a:extLst>
          </p:cNvPr>
          <p:cNvSpPr>
            <a:spLocks noGrp="1"/>
          </p:cNvSpPr>
          <p:nvPr>
            <p:ph idx="1"/>
          </p:nvPr>
        </p:nvSpPr>
        <p:spPr/>
        <p:txBody>
          <a:bodyPr/>
          <a:lstStyle/>
          <a:p>
            <a:pPr marL="0" indent="0">
              <a:buNone/>
            </a:pPr>
            <a:r>
              <a:rPr lang="en-US" dirty="0"/>
              <a:t>Close reading involves:</a:t>
            </a:r>
          </a:p>
          <a:p>
            <a:pPr marL="0" indent="0">
              <a:buNone/>
            </a:pPr>
            <a:endParaRPr lang="en-US" dirty="0"/>
          </a:p>
          <a:p>
            <a:pPr marL="0" lvl="0" indent="0">
              <a:buNone/>
            </a:pPr>
            <a:r>
              <a:rPr lang="en-US" dirty="0"/>
              <a:t>reading every word carefully</a:t>
            </a:r>
          </a:p>
          <a:p>
            <a:pPr marL="0" lvl="0" indent="0">
              <a:buNone/>
            </a:pPr>
            <a:r>
              <a:rPr lang="en-US" dirty="0" err="1"/>
              <a:t>analysing</a:t>
            </a:r>
            <a:r>
              <a:rPr lang="en-US" dirty="0"/>
              <a:t> vocabulary and sentence structure</a:t>
            </a:r>
          </a:p>
          <a:p>
            <a:pPr marL="0" lvl="0" indent="0">
              <a:buNone/>
            </a:pPr>
            <a:r>
              <a:rPr lang="en-US" dirty="0"/>
              <a:t>noting tone, style, and purpose</a:t>
            </a:r>
          </a:p>
          <a:p>
            <a:pPr marL="0" lvl="0" indent="0">
              <a:buNone/>
            </a:pPr>
            <a:r>
              <a:rPr lang="en-US" dirty="0"/>
              <a:t>making interpretations and evaluations</a:t>
            </a:r>
          </a:p>
          <a:p>
            <a:endParaRPr lang="en-US" dirty="0"/>
          </a:p>
        </p:txBody>
      </p:sp>
    </p:spTree>
    <p:extLst>
      <p:ext uri="{BB962C8B-B14F-4D97-AF65-F5344CB8AC3E}">
        <p14:creationId xmlns:p14="http://schemas.microsoft.com/office/powerpoint/2010/main" val="2427536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6EE47-52E7-88CF-3FFA-1E98A8C60C3F}"/>
              </a:ext>
            </a:extLst>
          </p:cNvPr>
          <p:cNvSpPr>
            <a:spLocks noGrp="1"/>
          </p:cNvSpPr>
          <p:nvPr>
            <p:ph type="title"/>
          </p:nvPr>
        </p:nvSpPr>
        <p:spPr>
          <a:xfrm>
            <a:off x="838200" y="320515"/>
            <a:ext cx="10515600" cy="1370173"/>
          </a:xfrm>
        </p:spPr>
        <p:txBody>
          <a:bodyPr/>
          <a:lstStyle/>
          <a:p>
            <a:endParaRPr lang="en-US" dirty="0"/>
          </a:p>
        </p:txBody>
      </p:sp>
      <p:graphicFrame>
        <p:nvGraphicFramePr>
          <p:cNvPr id="4" name="Content Placeholder 3">
            <a:extLst>
              <a:ext uri="{FF2B5EF4-FFF2-40B4-BE49-F238E27FC236}">
                <a16:creationId xmlns:a16="http://schemas.microsoft.com/office/drawing/2014/main" id="{14D248C5-F542-182B-0B53-01C870622B16}"/>
              </a:ext>
            </a:extLst>
          </p:cNvPr>
          <p:cNvGraphicFramePr>
            <a:graphicFrameLocks noGrp="1"/>
          </p:cNvGraphicFramePr>
          <p:nvPr>
            <p:ph idx="1"/>
            <p:extLst>
              <p:ext uri="{D42A27DB-BD31-4B8C-83A1-F6EECF244321}">
                <p14:modId xmlns:p14="http://schemas.microsoft.com/office/powerpoint/2010/main" val="3134336761"/>
              </p:ext>
            </p:extLst>
          </p:nvPr>
        </p:nvGraphicFramePr>
        <p:xfrm>
          <a:off x="391886" y="1592036"/>
          <a:ext cx="10961916" cy="5265964"/>
        </p:xfrm>
        <a:graphic>
          <a:graphicData uri="http://schemas.openxmlformats.org/drawingml/2006/table">
            <a:tbl>
              <a:tblPr firstRow="1" firstCol="1" bandRow="1">
                <a:tableStyleId>{5C22544A-7EE6-4342-B048-85BDC9FD1C3A}</a:tableStyleId>
              </a:tblPr>
              <a:tblGrid>
                <a:gridCol w="2740479">
                  <a:extLst>
                    <a:ext uri="{9D8B030D-6E8A-4147-A177-3AD203B41FA5}">
                      <a16:colId xmlns:a16="http://schemas.microsoft.com/office/drawing/2014/main" val="1996966736"/>
                    </a:ext>
                  </a:extLst>
                </a:gridCol>
                <a:gridCol w="2740479">
                  <a:extLst>
                    <a:ext uri="{9D8B030D-6E8A-4147-A177-3AD203B41FA5}">
                      <a16:colId xmlns:a16="http://schemas.microsoft.com/office/drawing/2014/main" val="4117109031"/>
                    </a:ext>
                  </a:extLst>
                </a:gridCol>
                <a:gridCol w="2740479">
                  <a:extLst>
                    <a:ext uri="{9D8B030D-6E8A-4147-A177-3AD203B41FA5}">
                      <a16:colId xmlns:a16="http://schemas.microsoft.com/office/drawing/2014/main" val="2471834622"/>
                    </a:ext>
                  </a:extLst>
                </a:gridCol>
                <a:gridCol w="2740479">
                  <a:extLst>
                    <a:ext uri="{9D8B030D-6E8A-4147-A177-3AD203B41FA5}">
                      <a16:colId xmlns:a16="http://schemas.microsoft.com/office/drawing/2014/main" val="1726752857"/>
                    </a:ext>
                  </a:extLst>
                </a:gridCol>
              </a:tblGrid>
              <a:tr h="1316491">
                <a:tc>
                  <a:txBody>
                    <a:bodyPr/>
                    <a:lstStyle/>
                    <a:p>
                      <a:pPr marL="0" marR="0">
                        <a:lnSpc>
                          <a:spcPct val="200000"/>
                        </a:lnSpc>
                        <a:spcAft>
                          <a:spcPts val="800"/>
                        </a:spcAft>
                        <a:buNone/>
                      </a:pPr>
                      <a:r>
                        <a:rPr lang="en-US" sz="2000" kern="100" dirty="0">
                          <a:effectLst/>
                        </a:rPr>
                        <a:t>Skill</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dirty="0">
                          <a:effectLst/>
                        </a:rPr>
                        <a:t>Purpose</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a:effectLst/>
                        </a:rPr>
                        <a:t>Reading Speed</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a:effectLst/>
                        </a:rPr>
                        <a:t>Focus</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78870934"/>
                  </a:ext>
                </a:extLst>
              </a:tr>
              <a:tr h="1316491">
                <a:tc>
                  <a:txBody>
                    <a:bodyPr/>
                    <a:lstStyle/>
                    <a:p>
                      <a:pPr marL="0" marR="0">
                        <a:lnSpc>
                          <a:spcPct val="200000"/>
                        </a:lnSpc>
                        <a:spcAft>
                          <a:spcPts val="800"/>
                        </a:spcAft>
                        <a:buNone/>
                      </a:pPr>
                      <a:r>
                        <a:rPr lang="en-US" sz="2000" kern="100">
                          <a:effectLst/>
                        </a:rPr>
                        <a:t>Skimming</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dirty="0">
                          <a:effectLst/>
                        </a:rPr>
                        <a:t>General idea</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dirty="0">
                          <a:effectLst/>
                        </a:rPr>
                        <a:t>Very fast</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a:effectLst/>
                        </a:rPr>
                        <a:t>Main ideas</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4892357"/>
                  </a:ext>
                </a:extLst>
              </a:tr>
              <a:tr h="1316491">
                <a:tc>
                  <a:txBody>
                    <a:bodyPr/>
                    <a:lstStyle/>
                    <a:p>
                      <a:pPr marL="0" marR="0">
                        <a:lnSpc>
                          <a:spcPct val="200000"/>
                        </a:lnSpc>
                        <a:spcAft>
                          <a:spcPts val="800"/>
                        </a:spcAft>
                        <a:buNone/>
                      </a:pPr>
                      <a:r>
                        <a:rPr lang="en-US" sz="2000" kern="100">
                          <a:effectLst/>
                        </a:rPr>
                        <a:t>Scanning</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a:effectLst/>
                        </a:rPr>
                        <a:t>Specific detail</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a:effectLst/>
                        </a:rPr>
                        <a:t>Fast</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dirty="0">
                          <a:effectLst/>
                        </a:rPr>
                        <a:t>Key words</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28240317"/>
                  </a:ext>
                </a:extLst>
              </a:tr>
              <a:tr h="1316491">
                <a:tc>
                  <a:txBody>
                    <a:bodyPr/>
                    <a:lstStyle/>
                    <a:p>
                      <a:pPr marL="0" marR="0">
                        <a:lnSpc>
                          <a:spcPct val="200000"/>
                        </a:lnSpc>
                        <a:spcAft>
                          <a:spcPts val="800"/>
                        </a:spcAft>
                        <a:buNone/>
                      </a:pPr>
                      <a:r>
                        <a:rPr lang="en-US" sz="2000" kern="100">
                          <a:effectLst/>
                        </a:rPr>
                        <a:t>Close Reading</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a:effectLst/>
                        </a:rPr>
                        <a:t>Deep understanding</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a:effectLst/>
                        </a:rPr>
                        <a:t>Slow</a:t>
                      </a:r>
                      <a:endParaRPr lang="en-US" sz="2000" kern="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200000"/>
                        </a:lnSpc>
                        <a:spcAft>
                          <a:spcPts val="800"/>
                        </a:spcAft>
                        <a:buNone/>
                      </a:pPr>
                      <a:r>
                        <a:rPr lang="en-US" sz="2000" kern="100" dirty="0">
                          <a:effectLst/>
                        </a:rPr>
                        <a:t>Details &amp; meaning</a:t>
                      </a:r>
                      <a:endParaRPr lang="en-US" sz="20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70293046"/>
                  </a:ext>
                </a:extLst>
              </a:tr>
            </a:tbl>
          </a:graphicData>
        </a:graphic>
      </p:graphicFrame>
      <p:sp>
        <p:nvSpPr>
          <p:cNvPr id="5" name="Rectangle 1">
            <a:extLst>
              <a:ext uri="{FF2B5EF4-FFF2-40B4-BE49-F238E27FC236}">
                <a16:creationId xmlns:a16="http://schemas.microsoft.com/office/drawing/2014/main" id="{D8B1B80B-6574-F4B9-C355-DD06F16F67D6}"/>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DIFFERENCES BETWEEN SKIMMING, SCANNING, AND CLOSE READING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9779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99BF1-510D-C6B8-6FBA-7A3820D0FC2D}"/>
              </a:ext>
            </a:extLst>
          </p:cNvPr>
          <p:cNvSpPr>
            <a:spLocks noGrp="1"/>
          </p:cNvSpPr>
          <p:nvPr>
            <p:ph type="title"/>
          </p:nvPr>
        </p:nvSpPr>
        <p:spPr/>
        <p:txBody>
          <a:bodyPr/>
          <a:lstStyle/>
          <a:p>
            <a:r>
              <a:rPr lang="en-US" b="1" dirty="0"/>
              <a:t>IMPORTANCE OF DEVELOPING READING SKILLS</a:t>
            </a:r>
            <a:br>
              <a:rPr lang="en-US" dirty="0"/>
            </a:br>
            <a:endParaRPr lang="en-US" dirty="0"/>
          </a:p>
        </p:txBody>
      </p:sp>
      <p:sp>
        <p:nvSpPr>
          <p:cNvPr id="3" name="Content Placeholder 2">
            <a:extLst>
              <a:ext uri="{FF2B5EF4-FFF2-40B4-BE49-F238E27FC236}">
                <a16:creationId xmlns:a16="http://schemas.microsoft.com/office/drawing/2014/main" id="{0A1451F4-4C27-C43B-009A-B6EBEEB8F7E5}"/>
              </a:ext>
            </a:extLst>
          </p:cNvPr>
          <p:cNvSpPr>
            <a:spLocks noGrp="1"/>
          </p:cNvSpPr>
          <p:nvPr>
            <p:ph idx="1"/>
          </p:nvPr>
        </p:nvSpPr>
        <p:spPr/>
        <p:txBody>
          <a:bodyPr/>
          <a:lstStyle/>
          <a:p>
            <a:pPr marL="0" indent="0">
              <a:buNone/>
            </a:pPr>
            <a:endParaRPr lang="en-US" b="1" dirty="0"/>
          </a:p>
          <a:p>
            <a:pPr marL="0" indent="0">
              <a:buNone/>
            </a:pPr>
            <a:endParaRPr lang="en-US" dirty="0"/>
          </a:p>
          <a:p>
            <a:pPr lvl="0"/>
            <a:r>
              <a:rPr lang="en-US" dirty="0"/>
              <a:t>Improves academic performance</a:t>
            </a:r>
          </a:p>
          <a:p>
            <a:pPr lvl="0"/>
            <a:r>
              <a:rPr lang="en-US" dirty="0"/>
              <a:t>Enhances vocabulary</a:t>
            </a:r>
          </a:p>
          <a:p>
            <a:pPr lvl="0"/>
            <a:r>
              <a:rPr lang="en-US" dirty="0"/>
              <a:t>Builds critical thinking</a:t>
            </a:r>
          </a:p>
          <a:p>
            <a:pPr lvl="0"/>
            <a:r>
              <a:rPr lang="en-US" dirty="0"/>
              <a:t>Increases confidence in learning</a:t>
            </a:r>
          </a:p>
          <a:p>
            <a:pPr lvl="0"/>
            <a:r>
              <a:rPr lang="en-US" dirty="0"/>
              <a:t>Promotes independent study</a:t>
            </a:r>
          </a:p>
          <a:p>
            <a:endParaRPr lang="en-US" dirty="0"/>
          </a:p>
        </p:txBody>
      </p:sp>
    </p:spTree>
    <p:extLst>
      <p:ext uri="{BB962C8B-B14F-4D97-AF65-F5344CB8AC3E}">
        <p14:creationId xmlns:p14="http://schemas.microsoft.com/office/powerpoint/2010/main" val="40299582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A90E5-CDD0-A98C-5292-23D941C10F33}"/>
              </a:ext>
            </a:extLst>
          </p:cNvPr>
          <p:cNvSpPr>
            <a:spLocks noGrp="1"/>
          </p:cNvSpPr>
          <p:nvPr>
            <p:ph type="title"/>
          </p:nvPr>
        </p:nvSpPr>
        <p:spPr/>
        <p:txBody>
          <a:bodyPr/>
          <a:lstStyle/>
          <a:p>
            <a:r>
              <a:rPr lang="en-US" b="1" dirty="0"/>
              <a:t>CONCLUSION</a:t>
            </a:r>
            <a:br>
              <a:rPr lang="en-US" dirty="0"/>
            </a:br>
            <a:endParaRPr lang="en-US" dirty="0"/>
          </a:p>
        </p:txBody>
      </p:sp>
      <p:sp>
        <p:nvSpPr>
          <p:cNvPr id="3" name="Content Placeholder 2">
            <a:extLst>
              <a:ext uri="{FF2B5EF4-FFF2-40B4-BE49-F238E27FC236}">
                <a16:creationId xmlns:a16="http://schemas.microsoft.com/office/drawing/2014/main" id="{D30D44DF-41B4-5268-4C77-C6F9F9D1192B}"/>
              </a:ext>
            </a:extLst>
          </p:cNvPr>
          <p:cNvSpPr>
            <a:spLocks noGrp="1"/>
          </p:cNvSpPr>
          <p:nvPr>
            <p:ph idx="1"/>
          </p:nvPr>
        </p:nvSpPr>
        <p:spPr/>
        <p:txBody>
          <a:bodyPr/>
          <a:lstStyle/>
          <a:p>
            <a:pPr marL="0" indent="0">
              <a:buNone/>
            </a:pPr>
            <a:endParaRPr lang="en-US" dirty="0"/>
          </a:p>
          <a:p>
            <a:pPr marL="0" indent="0">
              <a:buNone/>
            </a:pPr>
            <a:endParaRPr lang="en-US" dirty="0"/>
          </a:p>
          <a:p>
            <a:pPr>
              <a:buFont typeface="Wingdings" panose="05000000000000000000" pitchFamily="2" charset="2"/>
              <a:buChar char="§"/>
            </a:pPr>
            <a:r>
              <a:rPr lang="en-US" dirty="0"/>
              <a:t>Reading is a fundamental language skill that supports learning across all subjects. </a:t>
            </a:r>
          </a:p>
          <a:p>
            <a:pPr>
              <a:buFont typeface="Wingdings" panose="05000000000000000000" pitchFamily="2" charset="2"/>
              <a:buChar char="§"/>
            </a:pPr>
            <a:r>
              <a:rPr lang="en-US" dirty="0"/>
              <a:t>It involves several skills such as comprehension, inference, and critical thinking. Depending on purpose, readers use strategies like skimming, scanning, and close reading. </a:t>
            </a:r>
          </a:p>
          <a:p>
            <a:pPr>
              <a:buFont typeface="Wingdings" panose="05000000000000000000" pitchFamily="2" charset="2"/>
              <a:buChar char="§"/>
            </a:pPr>
            <a:r>
              <a:rPr lang="en-US" dirty="0"/>
              <a:t>Mastery of these strategies enables students to read efficiently, understand deeply, and perform well academically.</a:t>
            </a:r>
          </a:p>
          <a:p>
            <a:endParaRPr lang="en-US" dirty="0"/>
          </a:p>
        </p:txBody>
      </p:sp>
    </p:spTree>
    <p:extLst>
      <p:ext uri="{BB962C8B-B14F-4D97-AF65-F5344CB8AC3E}">
        <p14:creationId xmlns:p14="http://schemas.microsoft.com/office/powerpoint/2010/main" val="2705486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5628B-523C-311D-D665-1F9F6F68F6EE}"/>
              </a:ext>
            </a:extLst>
          </p:cNvPr>
          <p:cNvSpPr>
            <a:spLocks noGrp="1"/>
          </p:cNvSpPr>
          <p:nvPr>
            <p:ph type="title"/>
          </p:nvPr>
        </p:nvSpPr>
        <p:spPr/>
        <p:txBody>
          <a:bodyPr/>
          <a:lstStyle/>
          <a:p>
            <a:r>
              <a:rPr lang="en-US" b="1" dirty="0"/>
              <a:t>LISTENING AND NOTE‑TAKING</a:t>
            </a:r>
            <a:br>
              <a:rPr lang="en-US" dirty="0"/>
            </a:br>
            <a:endParaRPr lang="en-US" dirty="0"/>
          </a:p>
        </p:txBody>
      </p:sp>
      <p:sp>
        <p:nvSpPr>
          <p:cNvPr id="3" name="Content Placeholder 2">
            <a:extLst>
              <a:ext uri="{FF2B5EF4-FFF2-40B4-BE49-F238E27FC236}">
                <a16:creationId xmlns:a16="http://schemas.microsoft.com/office/drawing/2014/main" id="{6C8E86D7-D38C-EE2B-1458-D2A626665F9E}"/>
              </a:ext>
            </a:extLst>
          </p:cNvPr>
          <p:cNvSpPr>
            <a:spLocks noGrp="1"/>
          </p:cNvSpPr>
          <p:nvPr>
            <p:ph idx="1"/>
          </p:nvPr>
        </p:nvSpPr>
        <p:spPr>
          <a:xfrm>
            <a:off x="212271" y="1825625"/>
            <a:ext cx="11141529" cy="5187496"/>
          </a:xfrm>
        </p:spPr>
        <p:txBody>
          <a:bodyPr>
            <a:normAutofit lnSpcReduction="10000"/>
          </a:bodyPr>
          <a:lstStyle/>
          <a:p>
            <a:pPr marL="0" indent="0">
              <a:buNone/>
            </a:pPr>
            <a:r>
              <a:rPr lang="en-US" b="1" dirty="0"/>
              <a:t>1. Introduction</a:t>
            </a:r>
            <a:endParaRPr lang="en-US" dirty="0"/>
          </a:p>
          <a:p>
            <a:pPr>
              <a:buFont typeface="Wingdings" panose="05000000000000000000" pitchFamily="2" charset="2"/>
              <a:buChar char="§"/>
            </a:pPr>
            <a:r>
              <a:rPr lang="en-US" dirty="0"/>
              <a:t>Listening and note‑taking are essential academic study skills. </a:t>
            </a:r>
          </a:p>
          <a:p>
            <a:pPr>
              <a:buFont typeface="Wingdings" panose="05000000000000000000" pitchFamily="2" charset="2"/>
              <a:buChar char="§"/>
            </a:pPr>
            <a:r>
              <a:rPr lang="en-US" dirty="0"/>
              <a:t>Students spend a large part of their academic life listening to lectures, discussions, presentations, and instructions. </a:t>
            </a:r>
          </a:p>
          <a:p>
            <a:pPr>
              <a:buFont typeface="Wingdings" panose="05000000000000000000" pitchFamily="2" charset="2"/>
              <a:buChar char="§"/>
            </a:pPr>
            <a:r>
              <a:rPr lang="en-US" dirty="0"/>
              <a:t>However, listening alone is not enough; learners must also take notes to help them remember, understand, and use information later.</a:t>
            </a:r>
          </a:p>
          <a:p>
            <a:r>
              <a:rPr lang="en-US" dirty="0"/>
              <a:t>Effective listening and good note‑taking help students:</a:t>
            </a:r>
          </a:p>
          <a:p>
            <a:pPr lvl="0"/>
            <a:r>
              <a:rPr lang="en-US" dirty="0"/>
              <a:t>Understand lessons clearly</a:t>
            </a:r>
          </a:p>
          <a:p>
            <a:pPr lvl="0"/>
            <a:r>
              <a:rPr lang="en-US" dirty="0"/>
              <a:t>Remember important ideas</a:t>
            </a:r>
          </a:p>
          <a:p>
            <a:pPr lvl="0"/>
            <a:r>
              <a:rPr lang="en-US" dirty="0"/>
              <a:t>Study better for examinations</a:t>
            </a:r>
          </a:p>
          <a:p>
            <a:pPr lvl="0"/>
            <a:r>
              <a:rPr lang="en-US" dirty="0"/>
              <a:t>Participate actively in class</a:t>
            </a:r>
          </a:p>
          <a:p>
            <a:endParaRPr lang="en-US" dirty="0"/>
          </a:p>
        </p:txBody>
      </p:sp>
    </p:spTree>
    <p:extLst>
      <p:ext uri="{BB962C8B-B14F-4D97-AF65-F5344CB8AC3E}">
        <p14:creationId xmlns:p14="http://schemas.microsoft.com/office/powerpoint/2010/main" val="258728309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ED5A5-BA67-19D5-6347-1D06CD5ECAD0}"/>
              </a:ext>
            </a:extLst>
          </p:cNvPr>
          <p:cNvSpPr>
            <a:spLocks noGrp="1"/>
          </p:cNvSpPr>
          <p:nvPr>
            <p:ph type="title"/>
          </p:nvPr>
        </p:nvSpPr>
        <p:spPr/>
        <p:txBody>
          <a:bodyPr/>
          <a:lstStyle/>
          <a:p>
            <a:r>
              <a:rPr lang="en-US" b="1" dirty="0"/>
              <a:t>What is Listening?</a:t>
            </a:r>
            <a:br>
              <a:rPr lang="en-US" dirty="0"/>
            </a:br>
            <a:endParaRPr lang="en-US" dirty="0"/>
          </a:p>
        </p:txBody>
      </p:sp>
      <p:sp>
        <p:nvSpPr>
          <p:cNvPr id="3" name="Content Placeholder 2">
            <a:extLst>
              <a:ext uri="{FF2B5EF4-FFF2-40B4-BE49-F238E27FC236}">
                <a16:creationId xmlns:a16="http://schemas.microsoft.com/office/drawing/2014/main" id="{A3722285-56AA-3C66-B1B4-367725CD10AD}"/>
              </a:ext>
            </a:extLst>
          </p:cNvPr>
          <p:cNvSpPr>
            <a:spLocks noGrp="1"/>
          </p:cNvSpPr>
          <p:nvPr>
            <p:ph idx="1"/>
          </p:nvPr>
        </p:nvSpPr>
        <p:spPr>
          <a:xfrm>
            <a:off x="65314" y="1825624"/>
            <a:ext cx="11288486" cy="5032375"/>
          </a:xfrm>
        </p:spPr>
        <p:txBody>
          <a:bodyPr/>
          <a:lstStyle/>
          <a:p>
            <a:pPr>
              <a:buFont typeface="Wingdings" panose="05000000000000000000" pitchFamily="2" charset="2"/>
              <a:buChar char="§"/>
            </a:pPr>
            <a:r>
              <a:rPr lang="en-US" dirty="0"/>
              <a:t>Listening is the active process of receiving, understanding, interpreting, and responding to spoken messages. </a:t>
            </a:r>
          </a:p>
          <a:p>
            <a:pPr>
              <a:buFont typeface="Wingdings" panose="05000000000000000000" pitchFamily="2" charset="2"/>
              <a:buChar char="§"/>
            </a:pPr>
            <a:r>
              <a:rPr lang="en-US" dirty="0"/>
              <a:t>It is different from hearing.</a:t>
            </a:r>
          </a:p>
          <a:p>
            <a:pPr marL="0" lvl="0" indent="0">
              <a:buNone/>
            </a:pPr>
            <a:r>
              <a:rPr lang="en-US" b="1" dirty="0"/>
              <a:t>Hearing</a:t>
            </a:r>
            <a:r>
              <a:rPr lang="en-US" dirty="0"/>
              <a:t> is passive and automatic.</a:t>
            </a:r>
          </a:p>
          <a:p>
            <a:pPr marL="0" lvl="0" indent="0">
              <a:buNone/>
            </a:pPr>
            <a:r>
              <a:rPr lang="en-US" b="1" dirty="0"/>
              <a:t>Listening</a:t>
            </a:r>
            <a:r>
              <a:rPr lang="en-US" dirty="0"/>
              <a:t> is active and intentional.</a:t>
            </a:r>
          </a:p>
          <a:p>
            <a:pPr marL="0" indent="0">
              <a:buNone/>
            </a:pPr>
            <a:endParaRPr lang="en-US" dirty="0"/>
          </a:p>
          <a:p>
            <a:pPr marL="0" indent="0">
              <a:buNone/>
            </a:pPr>
            <a:r>
              <a:rPr lang="en-US" dirty="0"/>
              <a:t>Listening is the ability to pay attention to spoken language, understand its meaning, and respond appropriately.</a:t>
            </a:r>
          </a:p>
          <a:p>
            <a:endParaRPr lang="en-US" dirty="0"/>
          </a:p>
        </p:txBody>
      </p:sp>
    </p:spTree>
    <p:extLst>
      <p:ext uri="{BB962C8B-B14F-4D97-AF65-F5344CB8AC3E}">
        <p14:creationId xmlns:p14="http://schemas.microsoft.com/office/powerpoint/2010/main" val="298050827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CD2E-E90B-A968-E865-91F96C103F0B}"/>
              </a:ext>
            </a:extLst>
          </p:cNvPr>
          <p:cNvSpPr>
            <a:spLocks noGrp="1"/>
          </p:cNvSpPr>
          <p:nvPr>
            <p:ph type="title"/>
          </p:nvPr>
        </p:nvSpPr>
        <p:spPr/>
        <p:txBody>
          <a:bodyPr/>
          <a:lstStyle/>
          <a:p>
            <a:r>
              <a:rPr lang="en-US" b="1" dirty="0"/>
              <a:t>Types of Listening</a:t>
            </a:r>
            <a:br>
              <a:rPr lang="en-US" dirty="0"/>
            </a:br>
            <a:endParaRPr lang="en-US" dirty="0"/>
          </a:p>
        </p:txBody>
      </p:sp>
      <p:sp>
        <p:nvSpPr>
          <p:cNvPr id="3" name="Content Placeholder 2">
            <a:extLst>
              <a:ext uri="{FF2B5EF4-FFF2-40B4-BE49-F238E27FC236}">
                <a16:creationId xmlns:a16="http://schemas.microsoft.com/office/drawing/2014/main" id="{477F99DA-984A-DF4B-1337-A37C588D5F3D}"/>
              </a:ext>
            </a:extLst>
          </p:cNvPr>
          <p:cNvSpPr>
            <a:spLocks noGrp="1"/>
          </p:cNvSpPr>
          <p:nvPr>
            <p:ph idx="1"/>
          </p:nvPr>
        </p:nvSpPr>
        <p:spPr>
          <a:xfrm>
            <a:off x="838200" y="1825625"/>
            <a:ext cx="10515600" cy="4828268"/>
          </a:xfrm>
        </p:spPr>
        <p:txBody>
          <a:bodyPr>
            <a:normAutofit/>
          </a:bodyPr>
          <a:lstStyle/>
          <a:p>
            <a:pPr marL="0" indent="0">
              <a:buNone/>
            </a:pPr>
            <a:r>
              <a:rPr lang="en-US" b="1" dirty="0"/>
              <a:t>a. Informative Listening</a:t>
            </a:r>
            <a:endParaRPr lang="en-US" dirty="0"/>
          </a:p>
          <a:p>
            <a:pPr marL="0" indent="0">
              <a:buNone/>
            </a:pPr>
            <a:endParaRPr lang="en-US" dirty="0"/>
          </a:p>
          <a:p>
            <a:pPr marL="0" indent="0">
              <a:buNone/>
            </a:pPr>
            <a:r>
              <a:rPr lang="en-US" dirty="0"/>
              <a:t>Listening to understand facts and ideas. </a:t>
            </a:r>
          </a:p>
          <a:p>
            <a:endParaRPr lang="en-US" b="1" dirty="0"/>
          </a:p>
          <a:p>
            <a:r>
              <a:rPr lang="en-US" b="1" dirty="0"/>
              <a:t>Examples:</a:t>
            </a:r>
            <a:endParaRPr lang="en-US" dirty="0"/>
          </a:p>
          <a:p>
            <a:pPr lvl="0"/>
            <a:r>
              <a:rPr lang="en-US" dirty="0"/>
              <a:t>Classroom lectures</a:t>
            </a:r>
          </a:p>
          <a:p>
            <a:pPr lvl="0"/>
            <a:r>
              <a:rPr lang="en-US" dirty="0"/>
              <a:t>News reports</a:t>
            </a:r>
          </a:p>
          <a:p>
            <a:pPr lvl="0"/>
            <a:r>
              <a:rPr lang="en-US" dirty="0"/>
              <a:t>Instructions</a:t>
            </a:r>
          </a:p>
          <a:p>
            <a:pPr marL="0" indent="0">
              <a:buNone/>
            </a:pPr>
            <a:endParaRPr lang="en-US" dirty="0"/>
          </a:p>
        </p:txBody>
      </p:sp>
    </p:spTree>
    <p:extLst>
      <p:ext uri="{BB962C8B-B14F-4D97-AF65-F5344CB8AC3E}">
        <p14:creationId xmlns:p14="http://schemas.microsoft.com/office/powerpoint/2010/main" val="11455279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7C3BB-DEEB-9DBD-42E6-B22F61791BC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C071F5D-3F60-DCE0-F809-8BF373A3B2AF}"/>
              </a:ext>
            </a:extLst>
          </p:cNvPr>
          <p:cNvSpPr>
            <a:spLocks noGrp="1"/>
          </p:cNvSpPr>
          <p:nvPr>
            <p:ph idx="1"/>
          </p:nvPr>
        </p:nvSpPr>
        <p:spPr/>
        <p:txBody>
          <a:bodyPr>
            <a:normAutofit/>
          </a:bodyPr>
          <a:lstStyle/>
          <a:p>
            <a:pPr marL="0" indent="0">
              <a:buNone/>
            </a:pPr>
            <a:r>
              <a:rPr lang="en-US" b="1" dirty="0"/>
              <a:t>b. Critical Listening</a:t>
            </a:r>
            <a:endParaRPr lang="en-US" dirty="0"/>
          </a:p>
          <a:p>
            <a:pPr marL="0" indent="0">
              <a:buNone/>
            </a:pPr>
            <a:r>
              <a:rPr lang="en-US" dirty="0"/>
              <a:t>Listening to analyze, judge, and evaluate information. </a:t>
            </a:r>
          </a:p>
          <a:p>
            <a:endParaRPr lang="en-US" b="1" dirty="0"/>
          </a:p>
          <a:p>
            <a:pPr marL="0" indent="0">
              <a:buNone/>
            </a:pPr>
            <a:r>
              <a:rPr lang="en-US" b="1" dirty="0"/>
              <a:t>Examples:</a:t>
            </a:r>
            <a:endParaRPr lang="en-US" dirty="0"/>
          </a:p>
          <a:p>
            <a:pPr lvl="0"/>
            <a:r>
              <a:rPr lang="en-US" dirty="0"/>
              <a:t>Debates</a:t>
            </a:r>
          </a:p>
          <a:p>
            <a:pPr lvl="0"/>
            <a:r>
              <a:rPr lang="en-US" dirty="0"/>
              <a:t>Persuasive speeches</a:t>
            </a:r>
          </a:p>
          <a:p>
            <a:pPr lvl="0"/>
            <a:r>
              <a:rPr lang="en-US" dirty="0"/>
              <a:t>Arguments</a:t>
            </a:r>
          </a:p>
          <a:p>
            <a:endParaRPr lang="en-US" dirty="0"/>
          </a:p>
        </p:txBody>
      </p:sp>
    </p:spTree>
    <p:extLst>
      <p:ext uri="{BB962C8B-B14F-4D97-AF65-F5344CB8AC3E}">
        <p14:creationId xmlns:p14="http://schemas.microsoft.com/office/powerpoint/2010/main" val="3031811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BBD1F-8768-5D8B-D9DB-6B2C6C0C092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6FA500F-B899-2D62-B4BF-61DE18437B5F}"/>
              </a:ext>
            </a:extLst>
          </p:cNvPr>
          <p:cNvSpPr>
            <a:spLocks noGrp="1"/>
          </p:cNvSpPr>
          <p:nvPr>
            <p:ph idx="1"/>
          </p:nvPr>
        </p:nvSpPr>
        <p:spPr>
          <a:xfrm>
            <a:off x="367393" y="1825625"/>
            <a:ext cx="10986407" cy="5114018"/>
          </a:xfrm>
        </p:spPr>
        <p:txBody>
          <a:bodyPr>
            <a:normAutofit fontScale="92500" lnSpcReduction="10000"/>
          </a:bodyPr>
          <a:lstStyle/>
          <a:p>
            <a:pPr marL="0" indent="0">
              <a:buNone/>
            </a:pPr>
            <a:r>
              <a:rPr lang="en-US" b="1" dirty="0"/>
              <a:t>c. Appreciative Listening</a:t>
            </a:r>
            <a:endParaRPr lang="en-US" dirty="0"/>
          </a:p>
          <a:p>
            <a:pPr marL="0" indent="0">
              <a:buNone/>
            </a:pPr>
            <a:r>
              <a:rPr lang="en-US" dirty="0"/>
              <a:t>Listening for enjoyment. </a:t>
            </a:r>
            <a:endParaRPr lang="en-US" b="1" dirty="0"/>
          </a:p>
          <a:p>
            <a:pPr marL="0" indent="0">
              <a:buNone/>
            </a:pPr>
            <a:r>
              <a:rPr lang="en-US" b="1" dirty="0"/>
              <a:t>Examples:</a:t>
            </a:r>
            <a:endParaRPr lang="en-US" dirty="0"/>
          </a:p>
          <a:p>
            <a:pPr lvl="0"/>
            <a:r>
              <a:rPr lang="en-US" dirty="0"/>
              <a:t>Stories</a:t>
            </a:r>
          </a:p>
          <a:p>
            <a:pPr lvl="0"/>
            <a:r>
              <a:rPr lang="en-US" dirty="0"/>
              <a:t>Poems</a:t>
            </a:r>
          </a:p>
          <a:p>
            <a:pPr lvl="0"/>
            <a:r>
              <a:rPr lang="en-US" dirty="0"/>
              <a:t>Songs</a:t>
            </a:r>
          </a:p>
          <a:p>
            <a:pPr marL="0" indent="0">
              <a:buNone/>
            </a:pPr>
            <a:r>
              <a:rPr lang="en-US" b="1" dirty="0"/>
              <a:t>d. Empathetic Listening</a:t>
            </a:r>
            <a:endParaRPr lang="en-US" dirty="0"/>
          </a:p>
          <a:p>
            <a:pPr marL="0" indent="0">
              <a:buNone/>
            </a:pPr>
            <a:r>
              <a:rPr lang="en-US" dirty="0"/>
              <a:t>Listening to understand feelings and emotions. </a:t>
            </a:r>
          </a:p>
          <a:p>
            <a:pPr marL="0" indent="0">
              <a:buNone/>
            </a:pPr>
            <a:r>
              <a:rPr lang="en-US" b="1" dirty="0"/>
              <a:t>Examples:</a:t>
            </a:r>
            <a:endParaRPr lang="en-US" dirty="0"/>
          </a:p>
          <a:p>
            <a:pPr lvl="0"/>
            <a:r>
              <a:rPr lang="en-US" dirty="0"/>
              <a:t>Counselling sessions</a:t>
            </a:r>
          </a:p>
          <a:p>
            <a:pPr lvl="0"/>
            <a:r>
              <a:rPr lang="en-US" dirty="0"/>
              <a:t>Personal conversations</a:t>
            </a:r>
          </a:p>
          <a:p>
            <a:endParaRPr lang="en-US" dirty="0"/>
          </a:p>
        </p:txBody>
      </p:sp>
    </p:spTree>
    <p:extLst>
      <p:ext uri="{BB962C8B-B14F-4D97-AF65-F5344CB8AC3E}">
        <p14:creationId xmlns:p14="http://schemas.microsoft.com/office/powerpoint/2010/main" val="6833336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34766-6E3C-9F78-D767-7FD6C5B425E6}"/>
              </a:ext>
            </a:extLst>
          </p:cNvPr>
          <p:cNvSpPr>
            <a:spLocks noGrp="1"/>
          </p:cNvSpPr>
          <p:nvPr>
            <p:ph type="title"/>
          </p:nvPr>
        </p:nvSpPr>
        <p:spPr/>
        <p:txBody>
          <a:bodyPr/>
          <a:lstStyle/>
          <a:p>
            <a:r>
              <a:rPr lang="en-US" b="1" dirty="0"/>
              <a:t>Barriers to Effective Listening</a:t>
            </a:r>
            <a:br>
              <a:rPr lang="en-US" dirty="0"/>
            </a:br>
            <a:endParaRPr lang="en-US" dirty="0"/>
          </a:p>
        </p:txBody>
      </p:sp>
      <p:sp>
        <p:nvSpPr>
          <p:cNvPr id="3" name="Content Placeholder 2">
            <a:extLst>
              <a:ext uri="{FF2B5EF4-FFF2-40B4-BE49-F238E27FC236}">
                <a16:creationId xmlns:a16="http://schemas.microsoft.com/office/drawing/2014/main" id="{B080BE03-3639-B84C-3B95-AEB2F317AC5F}"/>
              </a:ext>
            </a:extLst>
          </p:cNvPr>
          <p:cNvSpPr>
            <a:spLocks noGrp="1"/>
          </p:cNvSpPr>
          <p:nvPr>
            <p:ph idx="1"/>
          </p:nvPr>
        </p:nvSpPr>
        <p:spPr/>
        <p:txBody>
          <a:bodyPr/>
          <a:lstStyle/>
          <a:p>
            <a:pPr marL="0" indent="0">
              <a:buNone/>
            </a:pPr>
            <a:r>
              <a:rPr lang="en-US" dirty="0"/>
              <a:t>Students may fail to listen well because of:</a:t>
            </a:r>
          </a:p>
          <a:p>
            <a:pPr lvl="0"/>
            <a:r>
              <a:rPr lang="en-US" b="1" dirty="0"/>
              <a:t>Noise</a:t>
            </a:r>
            <a:r>
              <a:rPr lang="en-US" dirty="0"/>
              <a:t> – talking, movement, or distractions</a:t>
            </a:r>
          </a:p>
          <a:p>
            <a:pPr lvl="0"/>
            <a:r>
              <a:rPr lang="en-US" b="1" dirty="0"/>
              <a:t>Lack of concentration</a:t>
            </a:r>
            <a:endParaRPr lang="en-US" dirty="0"/>
          </a:p>
          <a:p>
            <a:pPr lvl="0"/>
            <a:r>
              <a:rPr lang="en-US" b="1" dirty="0"/>
              <a:t>Prejudice or bias</a:t>
            </a:r>
            <a:r>
              <a:rPr lang="en-US" dirty="0"/>
              <a:t> – rejecting ideas before understanding</a:t>
            </a:r>
          </a:p>
          <a:p>
            <a:pPr lvl="0"/>
            <a:r>
              <a:rPr lang="en-US" b="1" dirty="0"/>
              <a:t>Poor listening habits</a:t>
            </a:r>
            <a:r>
              <a:rPr lang="en-US" dirty="0"/>
              <a:t> – daydreaming, interrupting</a:t>
            </a:r>
          </a:p>
          <a:p>
            <a:pPr lvl="0"/>
            <a:r>
              <a:rPr lang="en-US" b="1" dirty="0"/>
              <a:t>Language difficulties</a:t>
            </a:r>
            <a:r>
              <a:rPr lang="en-US" dirty="0"/>
              <a:t> – unfamiliar vocabulary</a:t>
            </a:r>
          </a:p>
          <a:p>
            <a:endParaRPr lang="en-US" dirty="0"/>
          </a:p>
        </p:txBody>
      </p:sp>
    </p:spTree>
    <p:extLst>
      <p:ext uri="{BB962C8B-B14F-4D97-AF65-F5344CB8AC3E}">
        <p14:creationId xmlns:p14="http://schemas.microsoft.com/office/powerpoint/2010/main" val="17683929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1C8FD-3D34-6997-B8D0-532631584B5B}"/>
              </a:ext>
            </a:extLst>
          </p:cNvPr>
          <p:cNvSpPr>
            <a:spLocks noGrp="1"/>
          </p:cNvSpPr>
          <p:nvPr>
            <p:ph type="title"/>
          </p:nvPr>
        </p:nvSpPr>
        <p:spPr/>
        <p:txBody>
          <a:bodyPr/>
          <a:lstStyle/>
          <a:p>
            <a:r>
              <a:rPr lang="en-US" b="1" dirty="0"/>
              <a:t>Note‑Taking</a:t>
            </a:r>
            <a:br>
              <a:rPr lang="en-US" dirty="0"/>
            </a:br>
            <a:endParaRPr lang="en-US" dirty="0"/>
          </a:p>
        </p:txBody>
      </p:sp>
      <p:sp>
        <p:nvSpPr>
          <p:cNvPr id="3" name="Content Placeholder 2">
            <a:extLst>
              <a:ext uri="{FF2B5EF4-FFF2-40B4-BE49-F238E27FC236}">
                <a16:creationId xmlns:a16="http://schemas.microsoft.com/office/drawing/2014/main" id="{28B087B6-9B3F-1A3D-32E2-EAC1CDF69AF3}"/>
              </a:ext>
            </a:extLst>
          </p:cNvPr>
          <p:cNvSpPr>
            <a:spLocks noGrp="1"/>
          </p:cNvSpPr>
          <p:nvPr>
            <p:ph idx="1"/>
          </p:nvPr>
        </p:nvSpPr>
        <p:spPr>
          <a:xfrm>
            <a:off x="277586" y="1289958"/>
            <a:ext cx="11076214" cy="5747656"/>
          </a:xfrm>
        </p:spPr>
        <p:txBody>
          <a:bodyPr>
            <a:normAutofit lnSpcReduction="10000"/>
          </a:bodyPr>
          <a:lstStyle/>
          <a:p>
            <a:pPr marL="0" indent="0">
              <a:buNone/>
            </a:pPr>
            <a:r>
              <a:rPr lang="en-US" b="1" dirty="0"/>
              <a:t>What is Note‑Taking?</a:t>
            </a:r>
            <a:endParaRPr lang="en-US" dirty="0"/>
          </a:p>
          <a:p>
            <a:pPr>
              <a:buFont typeface="Wingdings" panose="05000000000000000000" pitchFamily="2" charset="2"/>
              <a:buChar char="§"/>
            </a:pPr>
            <a:r>
              <a:rPr lang="en-US" dirty="0"/>
              <a:t>Note‑taking is the act of writing down important ideas, points, and information from listening or reading.</a:t>
            </a:r>
          </a:p>
          <a:p>
            <a:pPr>
              <a:buFont typeface="Wingdings" panose="05000000000000000000" pitchFamily="2" charset="2"/>
              <a:buChar char="§"/>
            </a:pPr>
            <a:r>
              <a:rPr lang="en-US" dirty="0"/>
              <a:t>Note‑taking is a study skill that involves selecting, summarizing, and recording key information for future use.</a:t>
            </a:r>
          </a:p>
          <a:p>
            <a:pPr marL="0" indent="0">
              <a:buNone/>
            </a:pPr>
            <a:r>
              <a:rPr lang="en-US" b="1" dirty="0"/>
              <a:t>Importance of Note‑Taking</a:t>
            </a:r>
            <a:endParaRPr lang="en-US" dirty="0"/>
          </a:p>
          <a:p>
            <a:r>
              <a:rPr lang="en-US" dirty="0"/>
              <a:t>Effective note‑taking:</a:t>
            </a:r>
          </a:p>
          <a:p>
            <a:pPr lvl="0"/>
            <a:r>
              <a:rPr lang="en-US" dirty="0"/>
              <a:t>Helps memory and recall</a:t>
            </a:r>
          </a:p>
          <a:p>
            <a:pPr lvl="0"/>
            <a:r>
              <a:rPr lang="en-US" dirty="0"/>
              <a:t>Aids understanding</a:t>
            </a:r>
          </a:p>
          <a:p>
            <a:pPr lvl="0"/>
            <a:r>
              <a:rPr lang="en-US" dirty="0"/>
              <a:t>Makes revision easier</a:t>
            </a:r>
          </a:p>
          <a:p>
            <a:pPr lvl="0"/>
            <a:r>
              <a:rPr lang="en-US" dirty="0"/>
              <a:t>Saves time during studying</a:t>
            </a:r>
          </a:p>
          <a:p>
            <a:pPr lvl="0"/>
            <a:r>
              <a:rPr lang="en-US" dirty="0"/>
              <a:t>Organizes information clearly</a:t>
            </a:r>
          </a:p>
          <a:p>
            <a:endParaRPr lang="en-US" dirty="0"/>
          </a:p>
        </p:txBody>
      </p:sp>
    </p:spTree>
    <p:extLst>
      <p:ext uri="{BB962C8B-B14F-4D97-AF65-F5344CB8AC3E}">
        <p14:creationId xmlns:p14="http://schemas.microsoft.com/office/powerpoint/2010/main" val="39376149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7B9EF-5657-4EFC-2D59-43AFC268EDBA}"/>
              </a:ext>
            </a:extLst>
          </p:cNvPr>
          <p:cNvSpPr>
            <a:spLocks noGrp="1"/>
          </p:cNvSpPr>
          <p:nvPr>
            <p:ph type="title"/>
          </p:nvPr>
        </p:nvSpPr>
        <p:spPr/>
        <p:txBody>
          <a:bodyPr/>
          <a:lstStyle/>
          <a:p>
            <a:r>
              <a:rPr lang="en-US" b="1" dirty="0"/>
              <a:t>Characteristics of Good Notes</a:t>
            </a:r>
            <a:br>
              <a:rPr lang="en-US" dirty="0"/>
            </a:br>
            <a:endParaRPr lang="en-US" dirty="0"/>
          </a:p>
        </p:txBody>
      </p:sp>
      <p:sp>
        <p:nvSpPr>
          <p:cNvPr id="3" name="Content Placeholder 2">
            <a:extLst>
              <a:ext uri="{FF2B5EF4-FFF2-40B4-BE49-F238E27FC236}">
                <a16:creationId xmlns:a16="http://schemas.microsoft.com/office/drawing/2014/main" id="{6E70B495-096E-0031-6008-EC1163EFBF98}"/>
              </a:ext>
            </a:extLst>
          </p:cNvPr>
          <p:cNvSpPr>
            <a:spLocks noGrp="1"/>
          </p:cNvSpPr>
          <p:nvPr>
            <p:ph idx="1"/>
          </p:nvPr>
        </p:nvSpPr>
        <p:spPr>
          <a:xfrm>
            <a:off x="171450" y="1825625"/>
            <a:ext cx="11182350" cy="4958896"/>
          </a:xfrm>
        </p:spPr>
        <p:txBody>
          <a:bodyPr>
            <a:normAutofit fontScale="92500" lnSpcReduction="20000"/>
          </a:bodyPr>
          <a:lstStyle/>
          <a:p>
            <a:pPr marL="0" indent="0">
              <a:buNone/>
            </a:pPr>
            <a:r>
              <a:rPr lang="en-US" dirty="0"/>
              <a:t>Good notes should be:</a:t>
            </a:r>
          </a:p>
          <a:p>
            <a:pPr lvl="0">
              <a:buFont typeface="Wingdings" panose="05000000000000000000" pitchFamily="2" charset="2"/>
              <a:buChar char="ü"/>
            </a:pPr>
            <a:r>
              <a:rPr lang="en-US" dirty="0"/>
              <a:t>Brief and clear</a:t>
            </a:r>
          </a:p>
          <a:p>
            <a:pPr lvl="0">
              <a:buFont typeface="Wingdings" panose="05000000000000000000" pitchFamily="2" charset="2"/>
              <a:buChar char="ü"/>
            </a:pPr>
            <a:r>
              <a:rPr lang="en-US" dirty="0"/>
              <a:t>Well‑organized</a:t>
            </a:r>
          </a:p>
          <a:p>
            <a:pPr lvl="0">
              <a:buFont typeface="Wingdings" panose="05000000000000000000" pitchFamily="2" charset="2"/>
              <a:buChar char="ü"/>
            </a:pPr>
            <a:r>
              <a:rPr lang="en-US" dirty="0"/>
              <a:t>Accurate</a:t>
            </a:r>
          </a:p>
          <a:p>
            <a:pPr lvl="0">
              <a:buFont typeface="Wingdings" panose="05000000000000000000" pitchFamily="2" charset="2"/>
              <a:buChar char="ü"/>
            </a:pPr>
            <a:r>
              <a:rPr lang="en-US" dirty="0"/>
              <a:t>Written in simple language</a:t>
            </a:r>
          </a:p>
          <a:p>
            <a:pPr lvl="0">
              <a:buFont typeface="Wingdings" panose="05000000000000000000" pitchFamily="2" charset="2"/>
              <a:buChar char="ü"/>
            </a:pPr>
            <a:r>
              <a:rPr lang="en-US" dirty="0"/>
              <a:t>Focused on main ideas, not everything</a:t>
            </a:r>
            <a:br>
              <a:rPr lang="en-US" dirty="0"/>
            </a:br>
            <a:endParaRPr lang="en-US" dirty="0"/>
          </a:p>
          <a:p>
            <a:pPr marL="0" lvl="0" indent="0">
              <a:buNone/>
            </a:pPr>
            <a:r>
              <a:rPr lang="en-US" b="1" dirty="0"/>
              <a:t>Steps in Effective Note‑Taking</a:t>
            </a:r>
            <a:endParaRPr lang="en-US" dirty="0"/>
          </a:p>
          <a:p>
            <a:pPr marL="0" indent="0">
              <a:buNone/>
            </a:pPr>
            <a:r>
              <a:rPr lang="en-US" b="1" dirty="0"/>
              <a:t>a. Before Listening</a:t>
            </a:r>
            <a:endParaRPr lang="en-US" dirty="0"/>
          </a:p>
          <a:p>
            <a:pPr lvl="0"/>
            <a:r>
              <a:rPr lang="en-US" dirty="0"/>
              <a:t>Prepare mentally</a:t>
            </a:r>
          </a:p>
          <a:p>
            <a:pPr lvl="0"/>
            <a:r>
              <a:rPr lang="en-US" dirty="0"/>
              <a:t>Know the topic</a:t>
            </a:r>
          </a:p>
          <a:p>
            <a:pPr lvl="0"/>
            <a:r>
              <a:rPr lang="en-US" dirty="0"/>
              <a:t>Arrange writing materials</a:t>
            </a:r>
          </a:p>
          <a:p>
            <a:endParaRPr lang="en-US" dirty="0"/>
          </a:p>
        </p:txBody>
      </p:sp>
    </p:spTree>
    <p:extLst>
      <p:ext uri="{BB962C8B-B14F-4D97-AF65-F5344CB8AC3E}">
        <p14:creationId xmlns:p14="http://schemas.microsoft.com/office/powerpoint/2010/main" val="26103442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CBBF8-CE77-D118-DA3B-072A2521E24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B42F99C-7FCB-4938-DB34-8D75EA8606F1}"/>
              </a:ext>
            </a:extLst>
          </p:cNvPr>
          <p:cNvSpPr>
            <a:spLocks noGrp="1"/>
          </p:cNvSpPr>
          <p:nvPr>
            <p:ph idx="1"/>
          </p:nvPr>
        </p:nvSpPr>
        <p:spPr/>
        <p:txBody>
          <a:bodyPr/>
          <a:lstStyle/>
          <a:p>
            <a:pPr marL="0" indent="0">
              <a:buNone/>
            </a:pPr>
            <a:r>
              <a:rPr lang="en-US" b="1" dirty="0"/>
              <a:t>During Listening</a:t>
            </a:r>
            <a:endParaRPr lang="en-US" dirty="0"/>
          </a:p>
          <a:p>
            <a:pPr lvl="0"/>
            <a:r>
              <a:rPr lang="en-US" dirty="0"/>
              <a:t>Listen carefully for main points</a:t>
            </a:r>
          </a:p>
          <a:p>
            <a:pPr lvl="0"/>
            <a:r>
              <a:rPr lang="en-US" dirty="0"/>
              <a:t>Write keywords and phrases</a:t>
            </a:r>
          </a:p>
          <a:p>
            <a:pPr lvl="0"/>
            <a:r>
              <a:rPr lang="en-US" dirty="0"/>
              <a:t>Use abbreviations and symbols</a:t>
            </a:r>
          </a:p>
          <a:p>
            <a:pPr marL="0" indent="0">
              <a:buNone/>
            </a:pPr>
            <a:r>
              <a:rPr lang="en-US" b="1" dirty="0"/>
              <a:t> After Listening</a:t>
            </a:r>
            <a:endParaRPr lang="en-US" dirty="0"/>
          </a:p>
          <a:p>
            <a:pPr lvl="0"/>
            <a:r>
              <a:rPr lang="en-US" dirty="0"/>
              <a:t>Review notes</a:t>
            </a:r>
          </a:p>
          <a:p>
            <a:pPr lvl="0"/>
            <a:r>
              <a:rPr lang="en-US" dirty="0"/>
              <a:t>Add missing details</a:t>
            </a:r>
          </a:p>
          <a:p>
            <a:pPr lvl="0"/>
            <a:r>
              <a:rPr lang="en-US" dirty="0"/>
              <a:t>Clarify confusing points</a:t>
            </a:r>
          </a:p>
          <a:p>
            <a:endParaRPr lang="en-US" dirty="0"/>
          </a:p>
        </p:txBody>
      </p:sp>
    </p:spTree>
    <p:extLst>
      <p:ext uri="{BB962C8B-B14F-4D97-AF65-F5344CB8AC3E}">
        <p14:creationId xmlns:p14="http://schemas.microsoft.com/office/powerpoint/2010/main" val="2911545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AF3AC-2587-522F-9A5B-5D2A0E92B67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31BC126-5DC6-1C74-FAE1-65E14407561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379950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B3C60-4BB6-4D12-0092-3F0C5296A0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77D55DB-1292-D7BF-AD80-9ECEC7764859}"/>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38573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TotalTime>
  <Words>3248</Words>
  <Application>Microsoft Office PowerPoint</Application>
  <PresentationFormat>Widescreen</PresentationFormat>
  <Paragraphs>401</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Arial</vt:lpstr>
      <vt:lpstr>Calibri</vt:lpstr>
      <vt:lpstr>Calibri Light</vt:lpstr>
      <vt:lpstr>Times New Roman</vt:lpstr>
      <vt:lpstr>Wingdings</vt:lpstr>
      <vt:lpstr>Office Theme</vt:lpstr>
      <vt:lpstr>INTRODUCTION TO PARAGRAPHS </vt:lpstr>
      <vt:lpstr>WHAT IS IT?</vt:lpstr>
      <vt:lpstr>PowerPoint Presentation</vt:lpstr>
      <vt:lpstr>RELEVANCE</vt:lpstr>
      <vt:lpstr>STRUCTURE OF A PARAGRAPH  </vt:lpstr>
      <vt:lpstr>PowerPoint Presentation</vt:lpstr>
      <vt:lpstr>PowerPoint Presentation</vt:lpstr>
      <vt:lpstr>Example of a Fully Structured Paragraph </vt:lpstr>
      <vt:lpstr>PowerPoint Presentation</vt:lpstr>
      <vt:lpstr>POSITIONS OF THE TOPIC SENTENCE </vt:lpstr>
      <vt:lpstr>B. Topic Sentence in the Middle </vt:lpstr>
      <vt:lpstr>C. Topic Sentence at the end</vt:lpstr>
      <vt:lpstr>D. Implied Topic Sentence  </vt:lpstr>
      <vt:lpstr>TYPES OF PARAGRAPHS </vt:lpstr>
      <vt:lpstr>2 Narrative Paragraph </vt:lpstr>
      <vt:lpstr>Expository Paragraph </vt:lpstr>
      <vt:lpstr>Argumentative Paragraph </vt:lpstr>
      <vt:lpstr>Persuasive Paragraph </vt:lpstr>
      <vt:lpstr>CHARACTERISTICS OF A GOOD PARAGRAPH  </vt:lpstr>
      <vt:lpstr>COMMON ERRORS STUDENTS SHOULD AVOID </vt:lpstr>
      <vt:lpstr>THE UCC PRINCLIPLE</vt:lpstr>
      <vt:lpstr>PowerPoint Presentation</vt:lpstr>
      <vt:lpstr>COHERENCE </vt:lpstr>
      <vt:lpstr>PowerPoint Presentation</vt:lpstr>
      <vt:lpstr> COHESION </vt:lpstr>
      <vt:lpstr>SUMMARY</vt:lpstr>
      <vt:lpstr>CONCLUSION </vt:lpstr>
      <vt:lpstr>EXERCISE</vt:lpstr>
      <vt:lpstr>READING SKILLS</vt:lpstr>
      <vt:lpstr>READING SKILLS</vt:lpstr>
      <vt:lpstr>PURPOSES OF READING </vt:lpstr>
      <vt:lpstr>WHAT SKILLS ARE INVOLVED?</vt:lpstr>
      <vt:lpstr>PowerPoint Presentation</vt:lpstr>
      <vt:lpstr>PowerPoint Presentation</vt:lpstr>
      <vt:lpstr>TYPES OF READING SKILLS / STRATEGIES </vt:lpstr>
      <vt:lpstr>PowerPoint Presentation</vt:lpstr>
      <vt:lpstr>SCANNING </vt:lpstr>
      <vt:lpstr>PowerPoint Presentation</vt:lpstr>
      <vt:lpstr>CLOSE READING </vt:lpstr>
      <vt:lpstr>Features of Close Reading </vt:lpstr>
      <vt:lpstr>PowerPoint Presentation</vt:lpstr>
      <vt:lpstr>IMPORTANCE OF DEVELOPING READING SKILLS </vt:lpstr>
      <vt:lpstr>CONCLUSION </vt:lpstr>
      <vt:lpstr>LISTENING AND NOTE‑TAKING </vt:lpstr>
      <vt:lpstr>What is Listening? </vt:lpstr>
      <vt:lpstr>Types of Listening </vt:lpstr>
      <vt:lpstr>PowerPoint Presentation</vt:lpstr>
      <vt:lpstr>PowerPoint Presentation</vt:lpstr>
      <vt:lpstr>Barriers to Effective Listening </vt:lpstr>
      <vt:lpstr>Note‑Taking </vt:lpstr>
      <vt:lpstr>Characteristics of Good Notes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Alhassan Yakubu</dc:creator>
  <cp:lastModifiedBy>Alhassan Yakubu</cp:lastModifiedBy>
  <cp:revision>1</cp:revision>
  <dcterms:created xsi:type="dcterms:W3CDTF">2026-04-29T07:32:39Z</dcterms:created>
  <dcterms:modified xsi:type="dcterms:W3CDTF">2026-04-29T11:06:50Z</dcterms:modified>
</cp:coreProperties>
</file>