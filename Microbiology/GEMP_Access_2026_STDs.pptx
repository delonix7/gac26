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handoutMasterIdLst>
    <p:handoutMasterId r:id="rId25"/>
  </p:handoutMasterIdLst>
  <p:sldIdLst>
    <p:sldId id="465" r:id="rId2"/>
    <p:sldId id="381" r:id="rId3"/>
    <p:sldId id="256" r:id="rId4"/>
    <p:sldId id="259" r:id="rId5"/>
    <p:sldId id="526" r:id="rId6"/>
    <p:sldId id="348" r:id="rId7"/>
    <p:sldId id="489" r:id="rId8"/>
    <p:sldId id="378" r:id="rId9"/>
    <p:sldId id="271" r:id="rId10"/>
    <p:sldId id="529" r:id="rId11"/>
    <p:sldId id="531" r:id="rId12"/>
    <p:sldId id="534" r:id="rId13"/>
    <p:sldId id="532" r:id="rId14"/>
    <p:sldId id="533" r:id="rId15"/>
    <p:sldId id="486" r:id="rId16"/>
    <p:sldId id="444" r:id="rId17"/>
    <p:sldId id="535" r:id="rId18"/>
    <p:sldId id="393" r:id="rId19"/>
    <p:sldId id="536" r:id="rId20"/>
    <p:sldId id="257" r:id="rId21"/>
    <p:sldId id="260" r:id="rId22"/>
    <p:sldId id="537" r:id="rId23"/>
  </p:sldIdLst>
  <p:sldSz cx="9144000" cy="6858000" type="screen4x3"/>
  <p:notesSz cx="9004300" cy="707707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55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72"/>
    <p:restoredTop sz="89118"/>
  </p:normalViewPr>
  <p:slideViewPr>
    <p:cSldViewPr>
      <p:cViewPr varScale="1">
        <p:scale>
          <a:sx n="104" d="100"/>
          <a:sy n="104" d="100"/>
        </p:scale>
        <p:origin x="1168" y="208"/>
      </p:cViewPr>
      <p:guideLst>
        <p:guide orient="horz" pos="2160"/>
        <p:guide pos="3552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00" d="100"/>
        <a:sy n="100" d="100"/>
      </p:scale>
      <p:origin x="0" y="989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6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402B32C-EF4E-2A53-D781-18443EFD9E6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02075" cy="354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BEE512-9B01-4654-45C4-AC6EA08CD2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00638" y="0"/>
            <a:ext cx="3902075" cy="354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fld id="{80CE4D8A-E4F6-7347-8369-54AAEE619A5E}" type="datetimeFigureOut">
              <a:rPr lang="en-US"/>
              <a:pPr>
                <a:defRPr/>
              </a:pPr>
              <a:t>5/7/26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2BC3DB-395F-FE18-6340-D428DABFFFE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723063"/>
            <a:ext cx="3902075" cy="354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ea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C3813C-3A35-015D-86D0-3CB3CED5C7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00638" y="6723063"/>
            <a:ext cx="3902075" cy="354012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571B3B0-6AF7-FC43-BE26-DEB9251E43B4}" type="slidenum">
              <a:rPr lang="en-US" altLang="en-GH"/>
              <a:pPr>
                <a:defRPr/>
              </a:pPr>
              <a:t>‹#›</a:t>
            </a:fld>
            <a:endParaRPr lang="en-US" altLang="en-GH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185F1C8-98D3-0AC9-CEA0-8FC6743B242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9020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EBBBBBA4-FB07-E322-2104-3DAB5E11D0D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5099050" y="0"/>
            <a:ext cx="3903663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4340" name="Rectangle 4">
            <a:extLst>
              <a:ext uri="{FF2B5EF4-FFF2-40B4-BE49-F238E27FC236}">
                <a16:creationId xmlns:a16="http://schemas.microsoft.com/office/drawing/2014/main" id="{7F94A10D-C878-7839-8541-3B75F92CAA13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735263" y="530225"/>
            <a:ext cx="3538537" cy="26543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>
            <a:extLst>
              <a:ext uri="{FF2B5EF4-FFF2-40B4-BE49-F238E27FC236}">
                <a16:creationId xmlns:a16="http://schemas.microsoft.com/office/drawing/2014/main" id="{91EB52B8-CD0E-24CA-C1B9-C7F7B5A7F77B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3362325"/>
            <a:ext cx="7204075" cy="3184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>
            <a:extLst>
              <a:ext uri="{FF2B5EF4-FFF2-40B4-BE49-F238E27FC236}">
                <a16:creationId xmlns:a16="http://schemas.microsoft.com/office/drawing/2014/main" id="{1B85D011-0701-5BD9-A90D-68BEE934381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6721475"/>
            <a:ext cx="3902075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defTabSz="931863" eaLnBrk="1" hangingPunct="1">
              <a:defRPr sz="12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>
            <a:extLst>
              <a:ext uri="{FF2B5EF4-FFF2-40B4-BE49-F238E27FC236}">
                <a16:creationId xmlns:a16="http://schemas.microsoft.com/office/drawing/2014/main" id="{81250D05-D198-31D4-11B2-E8F3268C24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099050" y="6721475"/>
            <a:ext cx="3903663" cy="3540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168" tIns="46584" rIns="93168" bIns="46584" numCol="1" anchor="b" anchorCtr="0" compatLnSpc="1">
            <a:prstTxWarp prst="textNoShape">
              <a:avLst/>
            </a:prstTxWarp>
          </a:bodyPr>
          <a:lstStyle>
            <a:lvl1pPr algn="r" defTabSz="931863" eaLnBrk="1" hangingPunct="1">
              <a:defRPr sz="1200"/>
            </a:lvl1pPr>
          </a:lstStyle>
          <a:p>
            <a:pPr>
              <a:defRPr/>
            </a:pPr>
            <a:fld id="{B33BB652-5A15-E741-97F2-CFE7CDCB8AA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ＭＳ Ｐゴシック" pitchFamily="-107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-107" charset="0"/>
        <a:ea typeface="ＭＳ Ｐゴシック" pitchFamily="-107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EE091CC-264C-4474-9E21-4FEB862256CC}" type="slidenum">
              <a:rPr lang="en-GH" smtClean="0"/>
              <a:t>1</a:t>
            </a:fld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25553765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>
            <a:extLst>
              <a:ext uri="{FF2B5EF4-FFF2-40B4-BE49-F238E27FC236}">
                <a16:creationId xmlns:a16="http://schemas.microsoft.com/office/drawing/2014/main" id="{F074E5D6-7F97-9FFB-6ECD-6BFF8395614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Notes Placeholder 2">
            <a:extLst>
              <a:ext uri="{FF2B5EF4-FFF2-40B4-BE49-F238E27FC236}">
                <a16:creationId xmlns:a16="http://schemas.microsoft.com/office/drawing/2014/main" id="{F2590D2D-1C40-FEB7-4512-30587C91BC7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FCCD0CAA-E457-9114-4A58-ABA9CB40062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967EBA2-6CA1-C642-8680-087E3F141601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8B47AA70-664F-8454-A35E-124950A60B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03D63383-13B6-0C56-F46D-8F04D5C994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9B8E99B6-8ED8-6AA7-A1B9-0CD2D200E71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631D1EAA-FDA8-5344-8E49-67A9FBB5F3D3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0DCD2CC4-1F56-1D75-DD6C-767BCAA9D6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27CB1B7-1F34-D34A-AF32-2F4FAD83BC6D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E0E7651B-0EA6-901D-E582-481D2D0DD7B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791F4AA1-50F4-CCF4-ED48-1F7540035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2F61ADD4-5070-317D-AFB6-04D625F5368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707A5F22-56C5-71E6-F1A1-54EBD9A247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36F0A4E4-A9BA-2784-A8DD-712745D6833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A3617DCB-FCD1-364A-8F94-6DA759B6BB66}" type="slidenum">
              <a:rPr lang="en-US" altLang="en-US"/>
              <a:pPr/>
              <a:t>7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>
            <a:extLst>
              <a:ext uri="{FF2B5EF4-FFF2-40B4-BE49-F238E27FC236}">
                <a16:creationId xmlns:a16="http://schemas.microsoft.com/office/drawing/2014/main" id="{9692872B-B4CA-1516-A653-8B1B4061CDE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A79522-0C9C-2049-99DE-24D5F8AFA1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Transport host</a:t>
            </a:r>
            <a:endParaRPr lang="en-US" altLang="en-US" sz="105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US" dirty="0"/>
          </a:p>
        </p:txBody>
      </p:sp>
      <p:sp>
        <p:nvSpPr>
          <p:cNvPr id="24579" name="Slide Number Placeholder 3">
            <a:extLst>
              <a:ext uri="{FF2B5EF4-FFF2-40B4-BE49-F238E27FC236}">
                <a16:creationId xmlns:a16="http://schemas.microsoft.com/office/drawing/2014/main" id="{CE0DFD47-FF3B-78F1-9677-6D814F0C3E7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fld id="{F3191F09-DE5C-8044-913E-9B420B821414}" type="slidenum">
              <a:rPr lang="en-US" altLang="en-US" smtClean="0"/>
              <a:pPr/>
              <a:t>8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7">
            <a:extLst>
              <a:ext uri="{FF2B5EF4-FFF2-40B4-BE49-F238E27FC236}">
                <a16:creationId xmlns:a16="http://schemas.microsoft.com/office/drawing/2014/main" id="{6F445EB4-CD77-DF45-5A6B-E1983CBAC65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31863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31863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FFB58EE-C288-C345-AB05-C9D0E5DD2014}" type="slidenum">
              <a:rPr lang="en-US" altLang="en-US" smtClean="0"/>
              <a:pPr>
                <a:spcBef>
                  <a:spcPct val="0"/>
                </a:spcBef>
              </a:pPr>
              <a:t>15</a:t>
            </a:fld>
            <a:endParaRPr lang="en-US" altLang="en-US"/>
          </a:p>
        </p:txBody>
      </p:sp>
      <p:sp>
        <p:nvSpPr>
          <p:cNvPr id="44034" name="Rectangle 2">
            <a:extLst>
              <a:ext uri="{FF2B5EF4-FFF2-40B4-BE49-F238E27FC236}">
                <a16:creationId xmlns:a16="http://schemas.microsoft.com/office/drawing/2014/main" id="{87149776-CD1E-4D78-823E-B3B7F2F1CF2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536442D3-BA77-43D8-3A67-8BBAE05A23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de-DE" altLang="en-US" dirty="0"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115834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knust.edu.gh/" TargetMode="External"/><Relationship Id="rId7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s://www.facebook.com/knust.Ghana/" TargetMode="External"/><Relationship Id="rId5" Type="http://schemas.openxmlformats.org/officeDocument/2006/relationships/image" Target="../media/image2.jpg"/><Relationship Id="rId4" Type="http://schemas.openxmlformats.org/officeDocument/2006/relationships/hyperlink" Target="https://twitter.com/_knust_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94D56FC-96E3-C272-F21F-E2D0E575592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B7D3DF33-2193-D946-84B5-20EF390EAD8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3D30F58-EA29-E317-FEAB-47B6E762285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BBCA96-9E5B-9046-8A42-3FE767AEAA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23634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5414E460-6544-7475-3B8D-8CECC1C000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EB47DC7-076E-20C5-CEEF-704B2E626C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576FEBA-1C1E-055C-6050-3B17D69F87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8CEFA0D-0A67-7046-B227-4653E5E2962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44943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FE7B386-96F4-1B93-1B37-67C1D2A011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E21C5386-8F39-1B4B-22F2-CEC9FFC164C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DDC4D2E-FFD6-135B-A935-EB1903530FF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7322F5-0C6E-5C4E-8C17-D4C56CA2BCF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452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DBE7D2D-2F5D-CD6A-363F-678C3C486B6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1331697-64EF-C445-42F9-9A04103A19F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D7C3669-F3EA-7B2E-D826-5B674753C93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CE789-2BA9-8A4D-A7EB-7C2FC9EC055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84201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FF6A59FC-B9F0-4974-CAA9-8F6AB2BB2BA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9EC3CAC-753F-CA47-FB0A-46DBD8C8E82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37AC732-F01C-756F-AA8C-B6B42FE39E4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778F34-A452-C544-B48C-ED3EB0817C2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911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D1DC0AE0-6674-038E-4DF3-C062284B029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3DADD7F2-644F-EABD-D07A-7D1DD8D12F8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FDE3627-EEF2-14BB-2120-2FDC909E32A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E56D2C-6916-004A-A808-49029B447A6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13241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D823891D-614D-7074-D70D-8B5C180CBFE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D7FBBE3C-8584-A72B-D3A9-0453C4CEC63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9AB6DE1-45A8-9ED1-78FC-45CE115CEF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99421E-B90E-CF43-8B93-229DC5EBFFE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20221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E4AF529-D656-48DB-6575-E47FF9AC93E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EE08F91-DEBB-CF6B-933A-E1428AAEAEC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067E835-ABA5-2080-DED0-7BEFA1325C4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7DD7E2-09A9-F641-83B0-C4FE1AD139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100840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C66C597-026C-B0D1-51F1-0FE15BA6E3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27FD30-19BA-3112-4C5F-CB25C7C4056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C6FBC6-77DA-B003-3AE9-2541B02B813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841F88-0A41-7940-85BE-9E007059BA7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34098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4439F76-8272-EBBF-3EAA-0AD2865A90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4E1F7575-8D2A-8546-41C5-5BB4EFFC177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09C9A65B-5AEA-E140-27E0-54F063A50A8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728C47-2A6A-3240-A4C6-E69E09BFF16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241263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1A2BCD31-B8D0-5856-60D5-51F978E71A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4EBA939-DCD5-F61D-7174-B51592B7BC4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75569BD-C398-A97F-E89C-90C0A5B855D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925521-C1C7-7049-BC0C-5037AE7F9C6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4595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FEAA034-ED08-C3C9-B5D6-DFC592928B9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A6364897-ADE6-11A9-BF14-D9FA22023C1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69A0375B-6D71-046F-440F-F4A994CF809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89FB-5A7D-8D4F-92EF-7730211C9F6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33721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8AC2C-051D-40EB-89FE-96274E5EE758}" type="datetime1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/>
          <p:nvPr userDrawn="1"/>
        </p:nvGrpSpPr>
        <p:grpSpPr>
          <a:xfrm>
            <a:off x="0" y="5992943"/>
            <a:ext cx="9144000" cy="865057"/>
            <a:chOff x="0" y="5992943"/>
            <a:chExt cx="9144000" cy="865057"/>
          </a:xfrm>
        </p:grpSpPr>
        <p:sp>
          <p:nvSpPr>
            <p:cNvPr id="8" name="Rectangle 7"/>
            <p:cNvSpPr/>
            <p:nvPr/>
          </p:nvSpPr>
          <p:spPr>
            <a:xfrm>
              <a:off x="0" y="6377674"/>
              <a:ext cx="9144000" cy="480326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/>
            <p:cNvSpPr/>
            <p:nvPr/>
          </p:nvSpPr>
          <p:spPr>
            <a:xfrm>
              <a:off x="0" y="5992943"/>
              <a:ext cx="9144000" cy="363407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0" name="Picture 9" descr="KNUST_logo Vector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47208" y="6021427"/>
              <a:ext cx="205238" cy="283189"/>
            </a:xfrm>
            <a:prstGeom prst="rect">
              <a:avLst/>
            </a:prstGeom>
          </p:spPr>
        </p:pic>
        <p:sp>
          <p:nvSpPr>
            <p:cNvPr id="11" name="TextBox 10">
              <a:hlinkClick r:id="rId3"/>
            </p:cNvPr>
            <p:cNvSpPr txBox="1"/>
            <p:nvPr/>
          </p:nvSpPr>
          <p:spPr>
            <a:xfrm>
              <a:off x="7137936" y="6036146"/>
              <a:ext cx="15488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 err="1">
                  <a:solidFill>
                    <a:schemeClr val="bg1"/>
                  </a:solidFill>
                  <a:latin typeface="Helvetica"/>
                  <a:cs typeface="Helvetica"/>
                </a:rPr>
                <a:t>www.knust.edu.gh</a:t>
              </a:r>
              <a:endParaRPr lang="en-US" sz="1200" dirty="0">
                <a:solidFill>
                  <a:schemeClr val="bg1"/>
                </a:solidFill>
                <a:latin typeface="Helvetica"/>
                <a:cs typeface="Helvetica"/>
              </a:endParaRPr>
            </a:p>
          </p:txBody>
        </p:sp>
        <p:pic>
          <p:nvPicPr>
            <p:cNvPr id="12" name="Picture 11">
              <a:hlinkClick r:id="rId4"/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1258" y="6042056"/>
              <a:ext cx="268162" cy="268162"/>
            </a:xfrm>
            <a:prstGeom prst="rect">
              <a:avLst/>
            </a:prstGeom>
          </p:spPr>
        </p:pic>
        <p:pic>
          <p:nvPicPr>
            <p:cNvPr id="13" name="Picture 12">
              <a:hlinkClick r:id="rId6"/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97791" y="6029719"/>
              <a:ext cx="292217" cy="292217"/>
            </a:xfrm>
            <a:prstGeom prst="rect">
              <a:avLst/>
            </a:prstGeom>
          </p:spPr>
        </p:pic>
      </p:grp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dirty="0">
                <a:solidFill>
                  <a:srgbClr val="008000"/>
                </a:solidFill>
                <a:latin typeface="Helvetica"/>
                <a:cs typeface="Helvetica"/>
              </a:rPr>
              <a:t>Introduction</a:t>
            </a:r>
          </a:p>
        </p:txBody>
      </p:sp>
    </p:spTree>
    <p:extLst>
      <p:ext uri="{BB962C8B-B14F-4D97-AF65-F5344CB8AC3E}">
        <p14:creationId xmlns:p14="http://schemas.microsoft.com/office/powerpoint/2010/main" val="2964357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8070CC8F-8F36-757A-B195-F6A74424207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39A3CD84-7D20-D806-1467-82EA3342FE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6C35FE9D-0FBB-CBAC-DAD0-691976BB388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05F5F6D2-1F34-29BE-0BFA-9F06E4EE5C1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pitchFamily="-106" charset="0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10BEB92C-A4AA-1843-E45E-921B7BBD925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FF5DC865-E190-D247-ABAC-AFF156F6495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pitchFamily="-107" charset="-128"/>
          <a:cs typeface="ＭＳ Ｐゴシック" pitchFamily="-107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  <a:ea typeface="ＭＳ Ｐゴシック" pitchFamily="-107" charset="-128"/>
          <a:cs typeface="ＭＳ Ｐゴシック" pitchFamily="-107" charset="-128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-107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ＭＳ Ｐゴシック" pitchFamily="-107" charset="-128"/>
          <a:cs typeface="ＭＳ Ｐゴシック" pitchFamily="-107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ＭＳ Ｐゴシック" pitchFamily="-107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ＭＳ Ｐゴシック" pitchFamily="-107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pitchFamily="-107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pitchFamily="-107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>
            <a:spLocks noGrp="1"/>
          </p:cNvSpPr>
          <p:nvPr>
            <p:ph type="title"/>
          </p:nvPr>
        </p:nvSpPr>
        <p:spPr>
          <a:xfrm>
            <a:off x="448994" y="156821"/>
            <a:ext cx="8229600" cy="5414529"/>
          </a:xfrm>
        </p:spPr>
        <p:txBody>
          <a:bodyPr/>
          <a:lstStyle/>
          <a:p>
            <a:r>
              <a:rPr lang="en-US" sz="4800" b="1" dirty="0">
                <a:latin typeface="Calibri" panose="020F0502020204030204" pitchFamily="34" charset="0"/>
                <a:cs typeface="Calibri" panose="020F0502020204030204" pitchFamily="34" charset="0"/>
              </a:rPr>
              <a:t>CLINICAL MICROBIOLOGY</a:t>
            </a:r>
            <a:b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  <a:t>PARASITIC INFECTIONS</a:t>
            </a:r>
            <a:br>
              <a:rPr lang="en-US" sz="4000" b="1" dirty="0">
                <a:latin typeface="Calibri" panose="020F0502020204030204" pitchFamily="34" charset="0"/>
                <a:cs typeface="Calibri" panose="020F0502020204030204" pitchFamily="34" charset="0"/>
              </a:rPr>
            </a:br>
            <a:br>
              <a:rPr lang="en-US" sz="2800" dirty="0">
                <a:latin typeface="Helvetica"/>
                <a:cs typeface="Helvetica"/>
              </a:rPr>
            </a:br>
            <a:r>
              <a:rPr lang="en-US" sz="2800" dirty="0">
                <a:latin typeface="Helvetica"/>
                <a:cs typeface="Helvetica"/>
              </a:rPr>
              <a:t>by</a:t>
            </a:r>
            <a:br>
              <a:rPr lang="en-US" sz="2800" dirty="0">
                <a:latin typeface="Helvetica"/>
                <a:cs typeface="Helvetica"/>
              </a:rPr>
            </a:br>
            <a:br>
              <a:rPr lang="en-US" sz="2800" dirty="0">
                <a:latin typeface="Helvetica"/>
                <a:cs typeface="Helvetica"/>
              </a:rPr>
            </a:br>
            <a:r>
              <a:rPr lang="en-US" sz="2800" dirty="0">
                <a:latin typeface="Helvetica"/>
                <a:cs typeface="Helvetica"/>
              </a:rPr>
              <a:t>Prof.(Mrs.) Linda B. Debrah</a:t>
            </a:r>
            <a:br>
              <a:rPr lang="en-US" sz="2800" dirty="0">
                <a:latin typeface="Helvetica"/>
                <a:cs typeface="Helvetica"/>
              </a:rPr>
            </a:br>
            <a:r>
              <a:rPr lang="en-US" sz="2400" dirty="0">
                <a:latin typeface="Helvetica"/>
                <a:cs typeface="Helvetica"/>
              </a:rPr>
              <a:t>Dept of Clinical Microbiology </a:t>
            </a:r>
            <a:br>
              <a:rPr lang="en-US" sz="2800" dirty="0">
                <a:latin typeface="Helvetica"/>
                <a:cs typeface="Helvetica"/>
              </a:rPr>
            </a:br>
            <a:r>
              <a:rPr lang="en-US" sz="2000" dirty="0" err="1"/>
              <a:t>orcid.org</a:t>
            </a:r>
            <a:r>
              <a:rPr lang="en-US" sz="2000" dirty="0"/>
              <a:t>/0000-0001-9620-3408</a:t>
            </a:r>
            <a:r>
              <a:rPr lang="en-GH" sz="1200" dirty="0"/>
              <a:t> </a:t>
            </a:r>
            <a:br>
              <a:rPr lang="en-US" sz="1200" dirty="0">
                <a:latin typeface="Helvetica"/>
                <a:cs typeface="Helvetica"/>
              </a:rPr>
            </a:br>
            <a:br>
              <a:rPr lang="en-US" sz="1200" dirty="0">
                <a:latin typeface="Helvetica"/>
                <a:cs typeface="Helvetica"/>
              </a:rPr>
            </a:br>
            <a:br>
              <a:rPr lang="en-US" sz="2800" dirty="0">
                <a:latin typeface="Helvetica"/>
                <a:cs typeface="Helvetica"/>
              </a:rPr>
            </a:br>
            <a:endParaRPr lang="en-US" sz="2800" dirty="0">
              <a:latin typeface="Helvetica"/>
              <a:cs typeface="Helvetica"/>
            </a:endParaRPr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1286649"/>
            <a:ext cx="8229600" cy="42847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endParaRPr lang="en-US" sz="1800" dirty="0">
              <a:latin typeface="+mj-lt"/>
              <a:cs typeface="Helvetic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pitchFamily="2" charset="2"/>
              <a:buChar char="Ø"/>
            </a:pPr>
            <a:endParaRPr lang="en-US" sz="1800" dirty="0">
              <a:latin typeface="+mj-lt"/>
              <a:cs typeface="Helvetica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426E15-A288-453B-993C-43CFFFD76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01FD5-11B4-DE43-ACA2-E85EEB9A6F9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0026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0DFC8BB7-92A5-10DF-C90A-65DC6F38EBD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r>
              <a:rPr lang="en-US" altLang="en-US" sz="4000" b="1">
                <a:ea typeface="ＭＳ Ｐゴシック" panose="020B0600070205080204" pitchFamily="34" charset="-128"/>
              </a:rPr>
              <a:t>Learning</a:t>
            </a:r>
            <a:r>
              <a:rPr lang="en-US" altLang="en-US" b="1">
                <a:ea typeface="ＭＳ Ｐゴシック" panose="020B0600070205080204" pitchFamily="34" charset="-128"/>
              </a:rPr>
              <a:t> Objectives </a:t>
            </a: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FCCC58-3CDE-B7E3-D54A-1A5229F590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2400" y="838200"/>
            <a:ext cx="8839200" cy="5867400"/>
          </a:xfrm>
        </p:spPr>
        <p:txBody>
          <a:bodyPr/>
          <a:lstStyle/>
          <a:p>
            <a:pPr marL="0" indent="0">
              <a:buFontTx/>
              <a:buNone/>
              <a:defRPr/>
            </a:pPr>
            <a:r>
              <a:rPr lang="en-US" sz="2800" dirty="0"/>
              <a:t>By the end of this course, students should be able to:</a:t>
            </a:r>
          </a:p>
          <a:p>
            <a:pPr marL="0" indent="0">
              <a:buFontTx/>
              <a:buNone/>
              <a:defRPr/>
            </a:pPr>
            <a:endParaRPr lang="en-US" sz="2800" dirty="0"/>
          </a:p>
          <a:p>
            <a:pPr>
              <a:spcBef>
                <a:spcPts val="2472"/>
              </a:spcBef>
              <a:defRPr/>
            </a:pPr>
            <a:r>
              <a:rPr lang="en-US" sz="2800" dirty="0"/>
              <a:t>Describe the various associations that exist between living organisms</a:t>
            </a:r>
          </a:p>
          <a:p>
            <a:pPr>
              <a:spcBef>
                <a:spcPts val="2472"/>
              </a:spcBef>
              <a:defRPr/>
            </a:pPr>
            <a:r>
              <a:rPr lang="en-US" sz="2800" dirty="0"/>
              <a:t>Identify and describe the various types of parasites and hosts in the study of parasitology based on their classification</a:t>
            </a:r>
          </a:p>
          <a:p>
            <a:pPr>
              <a:spcBef>
                <a:spcPts val="2472"/>
              </a:spcBef>
              <a:defRPr/>
            </a:pPr>
            <a:r>
              <a:rPr lang="en-US" sz="2800" dirty="0"/>
              <a:t>Understand the general transmission dynamics of parasites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3">
            <a:extLst>
              <a:ext uri="{FF2B5EF4-FFF2-40B4-BE49-F238E27FC236}">
                <a16:creationId xmlns:a16="http://schemas.microsoft.com/office/drawing/2014/main" id="{C656ECA7-71A7-5D33-DC12-43765F82293E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914400" y="2552700"/>
            <a:ext cx="7391400" cy="2324100"/>
          </a:xfrm>
        </p:spPr>
        <p:txBody>
          <a:bodyPr/>
          <a:lstStyle/>
          <a:p>
            <a:pPr eaLnBrk="1" hangingPunct="1"/>
            <a:r>
              <a:rPr lang="en-US" sz="4800" b="1" dirty="0">
                <a:solidFill>
                  <a:srgbClr val="000000"/>
                </a:solidFill>
                <a:effectLst/>
                <a:latin typeface="Calibri" panose="020F0502020204030204" pitchFamily="34" charset="0"/>
                <a:ea typeface="Times New Roman" panose="02020603050405020304" pitchFamily="18" charset="0"/>
              </a:rPr>
              <a:t>Investigations of Parasitic Infections</a:t>
            </a:r>
            <a:r>
              <a:rPr lang="en-GH" sz="4800" b="1" dirty="0">
                <a:effectLst/>
              </a:rPr>
              <a:t> </a:t>
            </a:r>
            <a:endParaRPr lang="en-US" altLang="en-US" sz="4800" b="1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49548276-A3B9-8E86-9B5E-94EF393E375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52400" y="250825"/>
            <a:ext cx="8534400" cy="914400"/>
          </a:xfrm>
        </p:spPr>
        <p:txBody>
          <a:bodyPr/>
          <a:lstStyle/>
          <a:p>
            <a:pPr eaLnBrk="1" hangingPunct="1"/>
            <a:r>
              <a:rPr lang="en-US" altLang="en-US" sz="4000" b="1" dirty="0">
                <a:ea typeface="ＭＳ Ｐゴシック" panose="020B0600070205080204" pitchFamily="34" charset="-128"/>
              </a:rPr>
              <a:t>Relationship between organisms 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52E35AE0-67B5-B441-D62B-291E1886C9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04800" y="1165225"/>
            <a:ext cx="8229600" cy="5235575"/>
          </a:xfrm>
        </p:spPr>
        <p:txBody>
          <a:bodyPr/>
          <a:lstStyle/>
          <a:p>
            <a:pPr eaLnBrk="1" hangingPunct="1">
              <a:lnSpc>
                <a:spcPct val="200000"/>
              </a:lnSpc>
            </a:pPr>
            <a:r>
              <a:rPr lang="en-US" altLang="en-US" sz="2800" b="1" dirty="0">
                <a:ea typeface="ＭＳ Ｐゴシック" panose="020B0600070205080204" pitchFamily="34" charset="-128"/>
              </a:rPr>
              <a:t>Symbiosis:</a:t>
            </a:r>
            <a:endParaRPr lang="en-US" altLang="en-US" sz="28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200000"/>
              </a:lnSpc>
            </a:pPr>
            <a:r>
              <a:rPr lang="en-US" altLang="en-US" sz="2800" b="1" dirty="0">
                <a:ea typeface="ＭＳ Ｐゴシック" panose="020B0600070205080204" pitchFamily="34" charset="-128"/>
              </a:rPr>
              <a:t>Mutualism</a:t>
            </a:r>
            <a:r>
              <a:rPr lang="en-US" altLang="en-US" sz="2800" dirty="0">
                <a:ea typeface="ＭＳ Ｐゴシック" panose="020B0600070205080204" pitchFamily="34" charset="-128"/>
              </a:rPr>
              <a:t>: </a:t>
            </a:r>
          </a:p>
          <a:p>
            <a:pPr eaLnBrk="1" hangingPunct="1">
              <a:lnSpc>
                <a:spcPct val="200000"/>
              </a:lnSpc>
            </a:pPr>
            <a:r>
              <a:rPr lang="en-US" altLang="en-US" sz="2800" b="1" dirty="0">
                <a:ea typeface="ＭＳ Ｐゴシック" panose="020B0600070205080204" pitchFamily="34" charset="-128"/>
              </a:rPr>
              <a:t>Commensalism</a:t>
            </a:r>
            <a:r>
              <a:rPr lang="en-US" altLang="en-US" sz="2800" dirty="0">
                <a:ea typeface="ＭＳ Ｐゴシック" panose="020B0600070205080204" pitchFamily="34" charset="-128"/>
              </a:rPr>
              <a:t>:</a:t>
            </a:r>
            <a:endParaRPr lang="en-US" altLang="en-US" sz="2800" b="1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200000"/>
              </a:lnSpc>
            </a:pPr>
            <a:r>
              <a:rPr lang="en-US" altLang="en-US" sz="2800" b="1" dirty="0">
                <a:ea typeface="ＭＳ Ｐゴシック" panose="020B0600070205080204" pitchFamily="34" charset="-128"/>
              </a:rPr>
              <a:t>Parasitism</a:t>
            </a:r>
            <a:r>
              <a:rPr lang="en-US" altLang="en-US" sz="2800" dirty="0">
                <a:ea typeface="ＭＳ Ｐゴシック" panose="020B0600070205080204" pitchFamily="34" charset="-128"/>
              </a:rPr>
              <a:t>: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DAD1A-46E6-3BD0-A44A-559776C12C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29B9FF-38EE-CCDC-F672-8367350E0E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 dirty="0"/>
          </a:p>
          <a:p>
            <a:endParaRPr lang="en-GH" dirty="0"/>
          </a:p>
          <a:p>
            <a:r>
              <a:rPr lang="en-GH" sz="4000" dirty="0"/>
              <a:t>What is Parasitology?</a:t>
            </a:r>
          </a:p>
          <a:p>
            <a:endParaRPr lang="en-GH" sz="4000" dirty="0"/>
          </a:p>
          <a:p>
            <a:endParaRPr lang="en-GH" sz="4000" dirty="0"/>
          </a:p>
          <a:p>
            <a:r>
              <a:rPr lang="en-GH" sz="4000" dirty="0"/>
              <a:t>What are Parasites?</a:t>
            </a:r>
          </a:p>
        </p:txBody>
      </p:sp>
    </p:spTree>
    <p:extLst>
      <p:ext uri="{BB962C8B-B14F-4D97-AF65-F5344CB8AC3E}">
        <p14:creationId xmlns:p14="http://schemas.microsoft.com/office/powerpoint/2010/main" val="15671139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3">
            <a:extLst>
              <a:ext uri="{FF2B5EF4-FFF2-40B4-BE49-F238E27FC236}">
                <a16:creationId xmlns:a16="http://schemas.microsoft.com/office/drawing/2014/main" id="{0C9037DD-B5C4-77D2-A352-7CB8E41B4E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"/>
            <a:ext cx="7924800" cy="62484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endParaRPr lang="en-US" sz="2800" b="1" dirty="0">
              <a:ea typeface="ＭＳ Ｐゴシック" charset="0"/>
              <a:cs typeface="ＭＳ Ｐゴシック" charset="0"/>
            </a:endParaRPr>
          </a:p>
          <a:p>
            <a:pPr marL="0" indent="0" eaLnBrk="1" hangingPunct="1">
              <a:lnSpc>
                <a:spcPct val="80000"/>
              </a:lnSpc>
              <a:buFontTx/>
              <a:buNone/>
              <a:defRPr/>
            </a:pPr>
            <a:r>
              <a:rPr lang="en-US" b="1" dirty="0">
                <a:ea typeface="ＭＳ Ｐゴシック" charset="0"/>
                <a:cs typeface="ＭＳ Ｐゴシック" charset="0"/>
              </a:rPr>
              <a:t>Parasites can be classified as:</a:t>
            </a: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US" sz="2800" i="1" dirty="0"/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b="1" dirty="0"/>
              <a:t>Endoparasite</a:t>
            </a:r>
            <a:r>
              <a:rPr lang="en-US" sz="2800" dirty="0"/>
              <a:t>: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b="1" dirty="0"/>
              <a:t>Ectoparasite</a:t>
            </a:r>
            <a:r>
              <a:rPr lang="en-US" sz="2800" dirty="0"/>
              <a:t>: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b="1" dirty="0">
                <a:ea typeface="ＭＳ Ｐゴシック" charset="0"/>
                <a:cs typeface="ＭＳ Ｐゴシック" charset="0"/>
              </a:rPr>
              <a:t>Obligate parasite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: 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sz="2800" b="1" dirty="0">
                <a:ea typeface="ＭＳ Ｐゴシック" charset="0"/>
                <a:cs typeface="ＭＳ Ｐゴシック" charset="0"/>
              </a:rPr>
              <a:t>Facultative parasite</a:t>
            </a:r>
            <a:r>
              <a:rPr lang="en-US" sz="2800" dirty="0">
                <a:ea typeface="ＭＳ Ｐゴシック" charset="0"/>
                <a:cs typeface="ＭＳ Ｐゴシック" charset="0"/>
              </a:rPr>
              <a:t>:</a:t>
            </a:r>
            <a:endParaRPr lang="en-US" sz="2800" dirty="0"/>
          </a:p>
          <a:p>
            <a:pPr eaLnBrk="1" hangingPunct="1">
              <a:lnSpc>
                <a:spcPct val="80000"/>
              </a:lnSpc>
              <a:defRPr/>
            </a:pPr>
            <a:endParaRPr lang="en-US" sz="2800" dirty="0">
              <a:ea typeface="ＭＳ Ｐゴシック" charset="0"/>
              <a:cs typeface="ＭＳ Ｐゴシック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A3F410BC-0BE7-2C23-68A6-8EF8E65FFF7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600" b="1">
                <a:ea typeface="ＭＳ Ｐゴシック" panose="020B0600070205080204" pitchFamily="34" charset="-128"/>
              </a:rPr>
              <a:t>Epidemiological classification of parasites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51DE632D-1260-31AB-CEA6-ADC87FE273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sz="2400" b="1" dirty="0">
                <a:ea typeface="ＭＳ Ｐゴシック" panose="020B0600070205080204" pitchFamily="34" charset="-128"/>
              </a:rPr>
              <a:t>Filth-borne parasites</a:t>
            </a:r>
            <a:r>
              <a:rPr lang="en-US" altLang="en-US" sz="2400" dirty="0">
                <a:ea typeface="ＭＳ Ｐゴシック" panose="020B0600070205080204" pitchFamily="34" charset="-128"/>
              </a:rPr>
              <a:t>: </a:t>
            </a:r>
          </a:p>
          <a:p>
            <a:pPr lvl="1" eaLnBrk="1" hangingPunct="1"/>
            <a:endParaRPr lang="en-US" altLang="en-US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400" b="1" dirty="0">
                <a:ea typeface="ＭＳ Ｐゴシック" panose="020B0600070205080204" pitchFamily="34" charset="-128"/>
              </a:rPr>
              <a:t>Those contracted from soil or water</a:t>
            </a:r>
            <a:r>
              <a:rPr lang="en-US" altLang="en-US" sz="2400" dirty="0">
                <a:ea typeface="ＭＳ Ｐゴシック" panose="020B0600070205080204" pitchFamily="34" charset="-128"/>
              </a:rPr>
              <a:t>:</a:t>
            </a:r>
          </a:p>
          <a:p>
            <a:pPr eaLnBrk="1" hangingPunct="1"/>
            <a:endParaRPr lang="en-US" altLang="en-US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400" b="1" dirty="0">
                <a:ea typeface="ＭＳ Ｐゴシック" panose="020B0600070205080204" pitchFamily="34" charset="-128"/>
              </a:rPr>
              <a:t>Food-borne infections</a:t>
            </a:r>
            <a:r>
              <a:rPr lang="en-US" altLang="en-US" sz="2400" dirty="0">
                <a:ea typeface="ＭＳ Ｐゴシック" panose="020B0600070205080204" pitchFamily="34" charset="-128"/>
              </a:rPr>
              <a:t>:  </a:t>
            </a:r>
          </a:p>
          <a:p>
            <a:pPr lvl="1" eaLnBrk="1" hangingPunct="1"/>
            <a:endParaRPr lang="en-US" altLang="en-US" sz="24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2400" b="1" dirty="0">
                <a:ea typeface="ＭＳ Ｐゴシック" panose="020B0600070205080204" pitchFamily="34" charset="-128"/>
              </a:rPr>
              <a:t>Arthropod-borne infections</a:t>
            </a:r>
            <a:r>
              <a:rPr lang="en-US" altLang="en-US" sz="2400" dirty="0">
                <a:ea typeface="ＭＳ Ｐゴシック" panose="020B0600070205080204" pitchFamily="34" charset="-128"/>
              </a:rPr>
              <a:t>: </a:t>
            </a:r>
          </a:p>
          <a:p>
            <a:pPr eaLnBrk="1" hangingPunct="1"/>
            <a:endParaRPr lang="en-US" altLang="en-US" sz="28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Title 1">
            <a:extLst>
              <a:ext uri="{FF2B5EF4-FFF2-40B4-BE49-F238E27FC236}">
                <a16:creationId xmlns:a16="http://schemas.microsoft.com/office/drawing/2014/main" id="{3BF76B13-E487-3D2D-343F-4323522EC8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>
                <a:ea typeface="ＭＳ Ｐゴシック" panose="020B0600070205080204" pitchFamily="34" charset="-128"/>
              </a:rPr>
              <a:t>Classification of Host/ Vectors</a:t>
            </a:r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5EFB816B-7F33-C112-C8CD-4E3A7507CE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133600"/>
            <a:ext cx="8534400" cy="38100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defRPr/>
            </a:pPr>
            <a:r>
              <a:rPr lang="en-US" altLang="en-US" sz="3600" b="1" dirty="0">
                <a:ea typeface="ＭＳ Ｐゴシック" panose="020B0600070205080204" pitchFamily="34" charset="-128"/>
              </a:rPr>
              <a:t>Host:</a:t>
            </a:r>
            <a:endParaRPr lang="en-US" altLang="en-US" sz="2400" b="1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b="1" dirty="0">
                <a:ea typeface="ＭＳ Ｐゴシック" panose="020B0600070205080204" pitchFamily="34" charset="-128"/>
              </a:rPr>
              <a:t>Definitive host</a:t>
            </a:r>
            <a:r>
              <a:rPr lang="en-US" altLang="en-US" sz="2400" dirty="0"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b="1" dirty="0">
                <a:ea typeface="ＭＳ Ｐゴシック" panose="020B0600070205080204" pitchFamily="34" charset="-128"/>
              </a:rPr>
              <a:t>Intermediate host</a:t>
            </a:r>
            <a:r>
              <a:rPr lang="en-US" altLang="en-US" sz="2400" dirty="0">
                <a:ea typeface="ＭＳ Ｐゴシック" panose="020B0600070205080204" pitchFamily="34" charset="-128"/>
              </a:rPr>
              <a:t>:</a:t>
            </a:r>
            <a:endParaRPr lang="en-US" altLang="en-US" sz="18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defRPr/>
            </a:pPr>
            <a:r>
              <a:rPr lang="en-US" altLang="en-US" sz="2400" b="1" dirty="0">
                <a:ea typeface="ＭＳ Ｐゴシック" panose="020B0600070205080204" pitchFamily="34" charset="-128"/>
              </a:rPr>
              <a:t>Reservoir host (carrier):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US" b="1" dirty="0">
                <a:ea typeface="ＭＳ Ｐゴシック" panose="020B0600070205080204" pitchFamily="34" charset="-128"/>
              </a:rPr>
              <a:t>Vectors: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b="1" dirty="0">
                <a:ea typeface="ＭＳ Ｐゴシック" panose="020B0600070205080204" pitchFamily="34" charset="-128"/>
              </a:rPr>
              <a:t>Mechanical vectors</a:t>
            </a:r>
            <a:r>
              <a:rPr lang="en-US" altLang="en-US" sz="2400" dirty="0">
                <a:ea typeface="ＭＳ Ｐゴシック" panose="020B0600070205080204" pitchFamily="34" charset="-128"/>
              </a:rPr>
              <a:t>: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 eaLnBrk="1" hangingPunct="1">
              <a:lnSpc>
                <a:spcPct val="80000"/>
              </a:lnSpc>
            </a:pPr>
            <a:r>
              <a:rPr lang="en-US" altLang="en-US" sz="2400" b="1" dirty="0">
                <a:ea typeface="ＭＳ Ｐゴシック" panose="020B0600070205080204" pitchFamily="34" charset="-128"/>
              </a:rPr>
              <a:t>Biological vectors</a:t>
            </a:r>
            <a:r>
              <a:rPr lang="en-US" altLang="en-US" sz="2400" dirty="0">
                <a:ea typeface="ＭＳ Ｐゴシック" panose="020B0600070205080204" pitchFamily="34" charset="-128"/>
              </a:rPr>
              <a:t>:</a:t>
            </a:r>
          </a:p>
          <a:p>
            <a:pPr eaLnBrk="1" hangingPunct="1">
              <a:lnSpc>
                <a:spcPct val="80000"/>
              </a:lnSpc>
              <a:defRPr/>
            </a:pPr>
            <a:endParaRPr lang="en-US" altLang="en-US" sz="2400" dirty="0">
              <a:ea typeface="ＭＳ Ｐゴシック" panose="020B0600070205080204" pitchFamily="34" charset="-128"/>
            </a:endParaRPr>
          </a:p>
          <a:p>
            <a:pPr>
              <a:defRPr/>
            </a:pPr>
            <a:endParaRPr lang="en-US" altLang="en-US" sz="2400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Rectangle 2">
            <a:extLst>
              <a:ext uri="{FF2B5EF4-FFF2-40B4-BE49-F238E27FC236}">
                <a16:creationId xmlns:a16="http://schemas.microsoft.com/office/drawing/2014/main" id="{68039E3A-7A3C-ED25-4040-9D26160D67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533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Protozoa</a:t>
            </a:r>
            <a:r>
              <a:rPr lang="en-US" altLang="en-US">
                <a:ea typeface="ＭＳ Ｐゴシック" panose="020B0600070205080204" pitchFamily="34" charset="-128"/>
              </a:rPr>
              <a:t> </a:t>
            </a:r>
            <a:br>
              <a:rPr lang="en-US" altLang="en-US">
                <a:ea typeface="ＭＳ Ｐゴシック" panose="020B0600070205080204" pitchFamily="34" charset="-128"/>
              </a:rPr>
            </a:br>
            <a:r>
              <a:rPr lang="en-US" altLang="en-US">
                <a:ea typeface="ＭＳ Ｐゴシック" panose="020B0600070205080204" pitchFamily="34" charset="-128"/>
              </a:rPr>
              <a:t>Kingdom Protista</a:t>
            </a:r>
            <a:br>
              <a:rPr lang="en-US" altLang="en-US">
                <a:ea typeface="ＭＳ Ｐゴシック" panose="020B0600070205080204" pitchFamily="34" charset="-128"/>
              </a:rPr>
            </a:br>
            <a:endParaRPr lang="en-US" altLang="en-US">
              <a:ea typeface="ＭＳ Ｐゴシック" panose="020B0600070205080204" pitchFamily="34" charset="-128"/>
            </a:endParaRP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CF12D8AA-2739-D183-2503-8C3A23AC851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798638"/>
            <a:ext cx="8229600" cy="45259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Protozoans are unicellular organisms 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36,000 known species</a:t>
            </a: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70 parasitize humans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altLang="en-US" dirty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9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Transmission is mainly through </a:t>
            </a:r>
          </a:p>
          <a:p>
            <a:pPr marL="971550" lvl="1" indent="-457200" eaLnBrk="1" hangingPunct="1">
              <a:lnSpc>
                <a:spcPct val="9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Fecal-oral route </a:t>
            </a:r>
          </a:p>
          <a:p>
            <a:pPr marL="971550" lvl="1" indent="-457200" eaLnBrk="1" hangingPunct="1">
              <a:lnSpc>
                <a:spcPct val="90000"/>
              </a:lnSpc>
              <a:defRPr/>
            </a:pPr>
            <a:r>
              <a:rPr lang="en-US" altLang="en-US" sz="2800" dirty="0">
                <a:ea typeface="ＭＳ Ｐゴシック" panose="020B0600070205080204" pitchFamily="34" charset="-128"/>
              </a:rPr>
              <a:t>urogenital tracts</a:t>
            </a:r>
          </a:p>
          <a:p>
            <a:pPr marL="971550" lvl="1" indent="-457200" eaLnBrk="1" hangingPunct="1">
              <a:lnSpc>
                <a:spcPct val="90000"/>
              </a:lnSpc>
              <a:defRPr/>
            </a:pPr>
            <a:r>
              <a:rPr lang="en-US" altLang="en-US" dirty="0">
                <a:ea typeface="ＭＳ Ｐゴシック" panose="020B0600070205080204" pitchFamily="34" charset="-128"/>
              </a:rPr>
              <a:t> vectoral bites </a:t>
            </a:r>
          </a:p>
          <a:p>
            <a:pPr marL="971550" lvl="1" indent="-457200" eaLnBrk="1" hangingPunct="1">
              <a:lnSpc>
                <a:spcPct val="90000"/>
              </a:lnSpc>
              <a:defRPr/>
            </a:pPr>
            <a:r>
              <a:rPr lang="en-US" altLang="en-US" dirty="0" err="1">
                <a:ea typeface="ＭＳ Ｐゴシック" panose="020B0600070205080204" pitchFamily="34" charset="-128"/>
              </a:rPr>
              <a:t>etc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16B1EA-E31E-065C-F859-B8736694F1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Flagellates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0C9E0-9A74-56A6-5E76-6139AF689E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656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Flagellates have one or more flagella that enable them to move and swim</a:t>
            </a:r>
            <a:endParaRPr lang="en-GH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1656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Flagellates are composed of eukaryotic cells, which have a true nucleus and other membrane-bound organelles</a:t>
            </a:r>
            <a:endParaRPr lang="en-GH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1656"/>
              </a:spcBef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Flagellates can be parasitic or free-living, and some species can cause significant diseases in humans and animals</a:t>
            </a:r>
            <a:r>
              <a:rPr lang="en-GH" sz="4400" dirty="0">
                <a:effectLst/>
              </a:rPr>
              <a:t> </a:t>
            </a:r>
            <a:endParaRPr lang="en-GH" sz="4400" dirty="0"/>
          </a:p>
        </p:txBody>
      </p:sp>
    </p:spTree>
    <p:extLst>
      <p:ext uri="{BB962C8B-B14F-4D97-AF65-F5344CB8AC3E}">
        <p14:creationId xmlns:p14="http://schemas.microsoft.com/office/powerpoint/2010/main" val="249325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17FA7-1024-1DD2-CC03-37E2486CAF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Apicomplexa</a:t>
            </a:r>
            <a:endParaRPr lang="en-GH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4D7285-A285-37AA-D322-CD614ECA3A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968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Apicomplexans are obligate intracellular parasites- require a host cell to survive and replicate </a:t>
            </a:r>
            <a:endParaRPr lang="en-GH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1968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Apicomplexans have complex life cycles that often involve multiple hosts</a:t>
            </a:r>
            <a:endParaRPr lang="en-GH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1968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They have specialized invasive stages, such as sporozoites and merozoites, that allow them to infect host cells</a:t>
            </a:r>
            <a:endParaRPr lang="en-GH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H" dirty="0"/>
          </a:p>
        </p:txBody>
      </p:sp>
    </p:spTree>
    <p:extLst>
      <p:ext uri="{BB962C8B-B14F-4D97-AF65-F5344CB8AC3E}">
        <p14:creationId xmlns:p14="http://schemas.microsoft.com/office/powerpoint/2010/main" val="33146621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0CFAE-DB87-3185-3CA3-CCA9CBBCC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H" dirty="0"/>
              <a:t>Examples of Apicomplexa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425972-9984-6FA4-9F21-C4524ECC38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Bef>
                <a:spcPts val="1968"/>
              </a:spcBef>
            </a:pPr>
            <a:r>
              <a:rPr lang="en-GH" dirty="0"/>
              <a:t>Intestinal- </a:t>
            </a:r>
            <a:r>
              <a:rPr lang="en-GH" i="1" dirty="0"/>
              <a:t>Cryptosporidium pavum</a:t>
            </a:r>
          </a:p>
          <a:p>
            <a:pPr>
              <a:spcBef>
                <a:spcPts val="1968"/>
              </a:spcBef>
            </a:pPr>
            <a:r>
              <a:rPr lang="en-GB" dirty="0"/>
              <a:t>T</a:t>
            </a:r>
            <a:r>
              <a:rPr lang="en-GH" dirty="0"/>
              <a:t>issue – </a:t>
            </a:r>
            <a:r>
              <a:rPr lang="en-GH" i="1" dirty="0"/>
              <a:t>Toxoplasma gondii</a:t>
            </a:r>
          </a:p>
          <a:p>
            <a:pPr>
              <a:spcBef>
                <a:spcPts val="1968"/>
              </a:spcBef>
            </a:pPr>
            <a:r>
              <a:rPr lang="en-GB" dirty="0"/>
              <a:t>B</a:t>
            </a:r>
            <a:r>
              <a:rPr lang="en-GH" dirty="0"/>
              <a:t>lood- </a:t>
            </a:r>
            <a:r>
              <a:rPr lang="en-GH" i="1" dirty="0"/>
              <a:t>Plasmodium spp</a:t>
            </a:r>
          </a:p>
          <a:p>
            <a:pPr>
              <a:spcBef>
                <a:spcPts val="1968"/>
              </a:spcBef>
            </a:pPr>
            <a:r>
              <a:rPr lang="en-GH" dirty="0"/>
              <a:t>Lungs-</a:t>
            </a:r>
            <a:r>
              <a:rPr lang="en-GH" i="1" dirty="0"/>
              <a:t>Pneumocystic carini</a:t>
            </a:r>
          </a:p>
        </p:txBody>
      </p:sp>
    </p:spTree>
    <p:extLst>
      <p:ext uri="{BB962C8B-B14F-4D97-AF65-F5344CB8AC3E}">
        <p14:creationId xmlns:p14="http://schemas.microsoft.com/office/powerpoint/2010/main" val="31802260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5ED10-75F6-765C-10F4-E7EF2B493E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76200"/>
            <a:ext cx="8229600" cy="1143000"/>
          </a:xfrm>
        </p:spPr>
        <p:txBody>
          <a:bodyPr/>
          <a:lstStyle/>
          <a:p>
            <a:r>
              <a:rPr lang="en-US" sz="4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Sarcodina- </a:t>
            </a:r>
            <a:r>
              <a:rPr lang="en-US" sz="4400" i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Entamoeba spp.</a:t>
            </a:r>
            <a:endParaRPr lang="en-GH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D2418-AD0E-74F7-E1B9-B8258AAAC6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059363"/>
          </a:xfrm>
        </p:spPr>
        <p:txBody>
          <a:bodyPr/>
          <a:lstStyle/>
          <a:p>
            <a:pPr>
              <a:spcBef>
                <a:spcPts val="1872"/>
              </a:spcBef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group of amoeboid protozoa </a:t>
            </a:r>
          </a:p>
          <a:p>
            <a:pPr lvl="1">
              <a:spcBef>
                <a:spcPts val="1872"/>
              </a:spcBef>
              <a:spcAft>
                <a:spcPts val="800"/>
              </a:spcAft>
            </a:pPr>
            <a:r>
              <a:rPr lang="en-US" sz="24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ability to move and feed using pseudopodia, which are extensions of their cell membrane</a:t>
            </a:r>
            <a:endParaRPr lang="en-GH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spcBef>
                <a:spcPts val="1872"/>
              </a:spcBef>
              <a:spcAft>
                <a:spcPts val="800"/>
              </a:spcAft>
            </a:pPr>
            <a:r>
              <a:rPr lang="en-US" sz="28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</a:t>
            </a: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ound in various environments, including freshwater, soil, and the human body </a:t>
            </a:r>
          </a:p>
          <a:p>
            <a:pPr>
              <a:spcBef>
                <a:spcPts val="1872"/>
              </a:spcBef>
              <a:spcAft>
                <a:spcPts val="800"/>
              </a:spcAft>
            </a:pPr>
            <a:r>
              <a:rPr lang="en-US" sz="28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Some species are free-living, while others are parasitic</a:t>
            </a:r>
          </a:p>
          <a:p>
            <a:pPr>
              <a:spcBef>
                <a:spcPts val="1872"/>
              </a:spcBef>
              <a:spcAft>
                <a:spcPts val="800"/>
              </a:spcAft>
            </a:pPr>
            <a:endParaRPr lang="en-GH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GH" sz="4400" dirty="0"/>
          </a:p>
        </p:txBody>
      </p:sp>
    </p:spTree>
    <p:extLst>
      <p:ext uri="{BB962C8B-B14F-4D97-AF65-F5344CB8AC3E}">
        <p14:creationId xmlns:p14="http://schemas.microsoft.com/office/powerpoint/2010/main" val="14886790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40CF7-BF67-1446-B80C-D5FA6BE0F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spcBef>
                <a:spcPct val="0"/>
              </a:spcBef>
            </a:pPr>
            <a:r>
              <a:rPr lang="en-US" altLang="en-US" sz="4400" b="1" dirty="0" err="1"/>
              <a:t>Ciliophora</a:t>
            </a:r>
            <a:br>
              <a:rPr lang="en-US" altLang="en-US" sz="4400" b="1" dirty="0"/>
            </a:br>
            <a:endParaRPr lang="en-G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375299-9885-8A5E-E984-A6E001626F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H" dirty="0"/>
              <a:t>Ciliates are a group of eukaryotic microorganisms charaterised by the presence of cilia for locomotion, feeding and sensing their environmen</a:t>
            </a:r>
          </a:p>
          <a:p>
            <a:r>
              <a:rPr lang="en-GB" dirty="0"/>
              <a:t>E</a:t>
            </a:r>
            <a:r>
              <a:rPr lang="en-GH" dirty="0"/>
              <a:t>xample: </a:t>
            </a:r>
            <a:r>
              <a:rPr lang="en-GH" i="1" dirty="0"/>
              <a:t>Balantidium coli </a:t>
            </a:r>
          </a:p>
        </p:txBody>
      </p:sp>
    </p:spTree>
    <p:extLst>
      <p:ext uri="{BB962C8B-B14F-4D97-AF65-F5344CB8AC3E}">
        <p14:creationId xmlns:p14="http://schemas.microsoft.com/office/powerpoint/2010/main" val="522592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A6B98C93-E525-BF5A-CBB8-BEEB5ED2B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704850"/>
            <a:ext cx="184150" cy="534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100"/>
          </a:p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B8A9B5D9-CA93-CCBC-5225-D54B450029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52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H" altLang="en-US" sz="1800" noProof="1"/>
          </a:p>
        </p:txBody>
      </p:sp>
      <p:sp>
        <p:nvSpPr>
          <p:cNvPr id="43011" name="Rectangle 4">
            <a:extLst>
              <a:ext uri="{FF2B5EF4-FFF2-40B4-BE49-F238E27FC236}">
                <a16:creationId xmlns:a16="http://schemas.microsoft.com/office/drawing/2014/main" id="{35AD21AD-639D-C6CE-C936-B0E3CC0D52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52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H" altLang="en-US" sz="1800" noProof="1"/>
          </a:p>
        </p:txBody>
      </p:sp>
      <p:sp>
        <p:nvSpPr>
          <p:cNvPr id="43012" name="Rectangle 5">
            <a:extLst>
              <a:ext uri="{FF2B5EF4-FFF2-40B4-BE49-F238E27FC236}">
                <a16:creationId xmlns:a16="http://schemas.microsoft.com/office/drawing/2014/main" id="{2556AA4D-73F2-C7FD-6C97-AFA988650F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0652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GH" altLang="en-US" sz="1800" noProof="1"/>
          </a:p>
        </p:txBody>
      </p:sp>
      <p:sp>
        <p:nvSpPr>
          <p:cNvPr id="43013" name="Text Box 17">
            <a:extLst>
              <a:ext uri="{FF2B5EF4-FFF2-40B4-BE49-F238E27FC236}">
                <a16:creationId xmlns:a16="http://schemas.microsoft.com/office/drawing/2014/main" id="{CE576276-31F4-9B67-E173-6B94C94939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925" y="4684713"/>
            <a:ext cx="18415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sp>
        <p:nvSpPr>
          <p:cNvPr id="43014" name="Text Box 6">
            <a:extLst>
              <a:ext uri="{FF2B5EF4-FFF2-40B4-BE49-F238E27FC236}">
                <a16:creationId xmlns:a16="http://schemas.microsoft.com/office/drawing/2014/main" id="{AFF341F3-8AF3-53A1-387A-AA88098B17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27375" y="144463"/>
            <a:ext cx="3167063" cy="10953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en-US" altLang="en-US" b="1" dirty="0">
              <a:solidFill>
                <a:srgbClr val="000000"/>
              </a:solidFill>
            </a:endParaRPr>
          </a:p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</a:rPr>
              <a:t>Helminths</a:t>
            </a:r>
            <a:r>
              <a:rPr lang="en-US" altLang="en-US" sz="1200" b="1" dirty="0">
                <a:solidFill>
                  <a:srgbClr val="000000"/>
                </a:solidFill>
              </a:rPr>
              <a:t> </a:t>
            </a:r>
            <a:endParaRPr lang="en-US" altLang="en-US" sz="2800" b="1" dirty="0"/>
          </a:p>
        </p:txBody>
      </p:sp>
      <p:sp>
        <p:nvSpPr>
          <p:cNvPr id="43015" name="Text Box 7">
            <a:extLst>
              <a:ext uri="{FF2B5EF4-FFF2-40B4-BE49-F238E27FC236}">
                <a16:creationId xmlns:a16="http://schemas.microsoft.com/office/drawing/2014/main" id="{493C2D9B-5A56-C1D5-B67F-D8A692239F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1400" y="2514600"/>
            <a:ext cx="2065338" cy="811213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buFontTx/>
              <a:buNone/>
            </a:pPr>
            <a:r>
              <a:rPr lang="en-US" altLang="en-US" sz="1600" dirty="0">
                <a:ea typeface="ＭＳ Ｐゴシック" panose="020B0600070205080204" pitchFamily="34" charset="-128"/>
              </a:rPr>
              <a:t>Trematodes (flukes)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600" b="1" dirty="0"/>
          </a:p>
        </p:txBody>
      </p:sp>
      <p:sp>
        <p:nvSpPr>
          <p:cNvPr id="43016" name="Line 8">
            <a:extLst>
              <a:ext uri="{FF2B5EF4-FFF2-40B4-BE49-F238E27FC236}">
                <a16:creationId xmlns:a16="http://schemas.microsoft.com/office/drawing/2014/main" id="{92950D80-E56A-6A23-36B2-2B0718C753E7}"/>
              </a:ext>
            </a:extLst>
          </p:cNvPr>
          <p:cNvSpPr>
            <a:spLocks noChangeShapeType="1"/>
          </p:cNvSpPr>
          <p:nvPr/>
        </p:nvSpPr>
        <p:spPr bwMode="auto">
          <a:xfrm>
            <a:off x="4656138" y="1239838"/>
            <a:ext cx="0" cy="5921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H"/>
          </a:p>
        </p:txBody>
      </p:sp>
      <p:sp>
        <p:nvSpPr>
          <p:cNvPr id="43017" name="Line 11">
            <a:extLst>
              <a:ext uri="{FF2B5EF4-FFF2-40B4-BE49-F238E27FC236}">
                <a16:creationId xmlns:a16="http://schemas.microsoft.com/office/drawing/2014/main" id="{493AB036-0B2A-4856-75C3-C0540B8AB69D}"/>
              </a:ext>
            </a:extLst>
          </p:cNvPr>
          <p:cNvSpPr>
            <a:spLocks noChangeShapeType="1"/>
          </p:cNvSpPr>
          <p:nvPr/>
        </p:nvSpPr>
        <p:spPr bwMode="auto">
          <a:xfrm>
            <a:off x="1295408" y="1849436"/>
            <a:ext cx="6846880" cy="12701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H"/>
          </a:p>
        </p:txBody>
      </p:sp>
      <p:sp>
        <p:nvSpPr>
          <p:cNvPr id="43019" name="Line 16">
            <a:extLst>
              <a:ext uri="{FF2B5EF4-FFF2-40B4-BE49-F238E27FC236}">
                <a16:creationId xmlns:a16="http://schemas.microsoft.com/office/drawing/2014/main" id="{A24DB796-8A45-888B-2814-BEDCF951D8B7}"/>
              </a:ext>
            </a:extLst>
          </p:cNvPr>
          <p:cNvSpPr>
            <a:spLocks noChangeShapeType="1"/>
          </p:cNvSpPr>
          <p:nvPr/>
        </p:nvSpPr>
        <p:spPr bwMode="auto">
          <a:xfrm>
            <a:off x="1281112" y="1865313"/>
            <a:ext cx="14288" cy="638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H"/>
          </a:p>
        </p:txBody>
      </p:sp>
      <p:sp>
        <p:nvSpPr>
          <p:cNvPr id="43020" name="Text Box 7">
            <a:extLst>
              <a:ext uri="{FF2B5EF4-FFF2-40B4-BE49-F238E27FC236}">
                <a16:creationId xmlns:a16="http://schemas.microsoft.com/office/drawing/2014/main" id="{A35C99A5-438A-8D52-C23D-AA8D7BF9E9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2" y="2514600"/>
            <a:ext cx="2133598" cy="815975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buFontTx/>
              <a:buNone/>
            </a:pPr>
            <a:r>
              <a:rPr lang="en-US" altLang="en-US" sz="1800" dirty="0">
                <a:ea typeface="ＭＳ Ｐゴシック" panose="020B0600070205080204" pitchFamily="34" charset="-128"/>
              </a:rPr>
              <a:t>Nematodes (round worm)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b="1" dirty="0">
              <a:solidFill>
                <a:srgbClr val="000000"/>
              </a:solidFill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2000" b="1" dirty="0"/>
          </a:p>
        </p:txBody>
      </p:sp>
      <p:sp>
        <p:nvSpPr>
          <p:cNvPr id="43021" name="Text Box 7">
            <a:extLst>
              <a:ext uri="{FF2B5EF4-FFF2-40B4-BE49-F238E27FC236}">
                <a16:creationId xmlns:a16="http://schemas.microsoft.com/office/drawing/2014/main" id="{872D5E80-AC66-9BF6-781A-8869744FFC4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48400" y="2536825"/>
            <a:ext cx="2325685" cy="795338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>
              <a:buFontTx/>
              <a:buNone/>
            </a:pPr>
            <a:r>
              <a:rPr lang="en-US" altLang="en-US" sz="1600" dirty="0">
                <a:ea typeface="ＭＳ Ｐゴシック" panose="020B0600070205080204" pitchFamily="34" charset="-128"/>
              </a:rPr>
              <a:t>Cestodes (tape worms)</a:t>
            </a:r>
          </a:p>
        </p:txBody>
      </p:sp>
      <p:sp>
        <p:nvSpPr>
          <p:cNvPr id="43022" name="Line 16">
            <a:extLst>
              <a:ext uri="{FF2B5EF4-FFF2-40B4-BE49-F238E27FC236}">
                <a16:creationId xmlns:a16="http://schemas.microsoft.com/office/drawing/2014/main" id="{CC63E5EF-F96C-9DBA-4272-AEAF0F913334}"/>
              </a:ext>
            </a:extLst>
          </p:cNvPr>
          <p:cNvSpPr>
            <a:spLocks noChangeShapeType="1"/>
          </p:cNvSpPr>
          <p:nvPr/>
        </p:nvSpPr>
        <p:spPr bwMode="auto">
          <a:xfrm>
            <a:off x="1605757" y="3397250"/>
            <a:ext cx="14288" cy="6381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H"/>
          </a:p>
        </p:txBody>
      </p:sp>
      <p:sp>
        <p:nvSpPr>
          <p:cNvPr id="43024" name="Line 16">
            <a:extLst>
              <a:ext uri="{FF2B5EF4-FFF2-40B4-BE49-F238E27FC236}">
                <a16:creationId xmlns:a16="http://schemas.microsoft.com/office/drawing/2014/main" id="{E72137E6-49FC-B6C5-0C07-8C720A9AFF28}"/>
              </a:ext>
            </a:extLst>
          </p:cNvPr>
          <p:cNvSpPr>
            <a:spLocks noChangeShapeType="1"/>
          </p:cNvSpPr>
          <p:nvPr/>
        </p:nvSpPr>
        <p:spPr bwMode="auto">
          <a:xfrm>
            <a:off x="4648200" y="1882775"/>
            <a:ext cx="14288" cy="639763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H"/>
          </a:p>
        </p:txBody>
      </p:sp>
      <p:sp>
        <p:nvSpPr>
          <p:cNvPr id="43025" name="Line 16">
            <a:extLst>
              <a:ext uri="{FF2B5EF4-FFF2-40B4-BE49-F238E27FC236}">
                <a16:creationId xmlns:a16="http://schemas.microsoft.com/office/drawing/2014/main" id="{E025AEA9-E2B7-30C5-5938-733036FEEB0C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8000" y="1831975"/>
            <a:ext cx="14288" cy="6826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H"/>
          </a:p>
        </p:txBody>
      </p:sp>
      <p:sp>
        <p:nvSpPr>
          <p:cNvPr id="43027" name="Line 16">
            <a:extLst>
              <a:ext uri="{FF2B5EF4-FFF2-40B4-BE49-F238E27FC236}">
                <a16:creationId xmlns:a16="http://schemas.microsoft.com/office/drawing/2014/main" id="{B5B29A46-A605-ADD6-E302-3AF198213944}"/>
              </a:ext>
            </a:extLst>
          </p:cNvPr>
          <p:cNvSpPr>
            <a:spLocks noChangeShapeType="1"/>
          </p:cNvSpPr>
          <p:nvPr/>
        </p:nvSpPr>
        <p:spPr bwMode="auto">
          <a:xfrm>
            <a:off x="4724400" y="3332163"/>
            <a:ext cx="0" cy="6286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H"/>
          </a:p>
        </p:txBody>
      </p:sp>
      <p:sp>
        <p:nvSpPr>
          <p:cNvPr id="35860" name="Text Box 7">
            <a:extLst>
              <a:ext uri="{FF2B5EF4-FFF2-40B4-BE49-F238E27FC236}">
                <a16:creationId xmlns:a16="http://schemas.microsoft.com/office/drawing/2014/main" id="{5F564B58-3C97-8A41-969A-AD4ABDDD3C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0225" y="4035425"/>
            <a:ext cx="2793999" cy="19050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i="1" dirty="0">
                <a:ea typeface="ＭＳ Ｐゴシック" panose="020B0600070205080204" pitchFamily="34" charset="-128"/>
              </a:rPr>
              <a:t>Ascaris, hookworms, </a:t>
            </a:r>
            <a:r>
              <a:rPr lang="en-US" altLang="en-US" sz="1600" i="1" dirty="0" err="1">
                <a:ea typeface="ＭＳ Ｐゴシック" panose="020B0600070205080204" pitchFamily="34" charset="-128"/>
              </a:rPr>
              <a:t>etc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 sz="1600" i="1" dirty="0" err="1">
                <a:ea typeface="ＭＳ Ｐゴシック" panose="020B0600070205080204" pitchFamily="34" charset="-128"/>
              </a:rPr>
              <a:t>Wuchereria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600" i="1" dirty="0" err="1">
                <a:ea typeface="ＭＳ Ｐゴシック" panose="020B0600070205080204" pitchFamily="34" charset="-128"/>
              </a:rPr>
              <a:t>bancrofti</a:t>
            </a:r>
            <a:endParaRPr lang="en-US" altLang="en-US" sz="1600" i="1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1600" i="1" dirty="0">
                <a:ea typeface="ＭＳ Ｐゴシック" panose="020B0600070205080204" pitchFamily="34" charset="-128"/>
              </a:rPr>
              <a:t>Onchocerca volvulus</a:t>
            </a:r>
          </a:p>
          <a:p>
            <a:pPr eaLnBrk="1" hangingPunct="1"/>
            <a:r>
              <a:rPr lang="en-US" altLang="en-US" sz="1600" i="1" dirty="0">
                <a:ea typeface="ＭＳ Ｐゴシック" panose="020B0600070205080204" pitchFamily="34" charset="-128"/>
              </a:rPr>
              <a:t>Dracunculus medinensis</a:t>
            </a:r>
          </a:p>
          <a:p>
            <a:pPr eaLnBrk="1" hangingPunct="1"/>
            <a:r>
              <a:rPr lang="en-US" altLang="en-US" sz="1600" i="1" dirty="0" err="1">
                <a:ea typeface="ＭＳ Ｐゴシック" panose="020B0600070205080204" pitchFamily="34" charset="-128"/>
              </a:rPr>
              <a:t>etc</a:t>
            </a:r>
            <a:endParaRPr lang="en-US" altLang="en-US" sz="1600" i="1" dirty="0">
              <a:ea typeface="ＭＳ Ｐゴシック" panose="020B0600070205080204" pitchFamily="34" charset="-128"/>
            </a:endParaRPr>
          </a:p>
        </p:txBody>
      </p:sp>
      <p:sp>
        <p:nvSpPr>
          <p:cNvPr id="43029" name="Text Box 7">
            <a:extLst>
              <a:ext uri="{FF2B5EF4-FFF2-40B4-BE49-F238E27FC236}">
                <a16:creationId xmlns:a16="http://schemas.microsoft.com/office/drawing/2014/main" id="{01326127-8467-5CB7-F544-14BD50880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17899" y="3978275"/>
            <a:ext cx="2730500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 marL="342900" indent="-34290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GB" sz="1600" dirty="0"/>
              <a:t>Schistosoma </a:t>
            </a:r>
            <a:r>
              <a:rPr lang="en-GB" sz="1600" dirty="0" err="1"/>
              <a:t>spp</a:t>
            </a:r>
            <a:endParaRPr lang="en-GB" sz="1600" dirty="0"/>
          </a:p>
          <a:p>
            <a:r>
              <a:rPr lang="en-GB" sz="1600" dirty="0"/>
              <a:t>Fasciola hepatica</a:t>
            </a:r>
          </a:p>
          <a:p>
            <a:r>
              <a:rPr lang="en-GB" sz="1600" dirty="0"/>
              <a:t>Clonorchis sinensis</a:t>
            </a:r>
          </a:p>
          <a:p>
            <a:r>
              <a:rPr lang="en-GB" sz="1600" dirty="0" err="1"/>
              <a:t>Paragonimus</a:t>
            </a:r>
            <a:r>
              <a:rPr lang="en-GB" sz="1600" dirty="0"/>
              <a:t> </a:t>
            </a:r>
            <a:r>
              <a:rPr lang="en-GB" sz="1600" dirty="0" err="1"/>
              <a:t>westermani</a:t>
            </a:r>
            <a:endParaRPr lang="en-GB" sz="1600" dirty="0"/>
          </a:p>
        </p:txBody>
      </p:sp>
      <p:sp>
        <p:nvSpPr>
          <p:cNvPr id="43030" name="Text Box 7">
            <a:extLst>
              <a:ext uri="{FF2B5EF4-FFF2-40B4-BE49-F238E27FC236}">
                <a16:creationId xmlns:a16="http://schemas.microsoft.com/office/drawing/2014/main" id="{FB0672D0-66BE-00A4-4EA1-F63CC850D2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2075" y="3984625"/>
            <a:ext cx="2473326" cy="196215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r>
              <a:rPr lang="en-US" altLang="en-US" sz="1600" i="1" dirty="0">
                <a:ea typeface="ＭＳ Ｐゴシック" panose="020B0600070205080204" pitchFamily="34" charset="-128"/>
              </a:rPr>
              <a:t>Taenia spp. </a:t>
            </a:r>
            <a:endParaRPr lang="en-US" altLang="en-US" sz="16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1600" i="1" dirty="0">
                <a:ea typeface="ＭＳ Ｐゴシック" panose="020B0600070205080204" pitchFamily="34" charset="-128"/>
              </a:rPr>
              <a:t>Diphyllobothrium latum</a:t>
            </a:r>
            <a:r>
              <a:rPr lang="en-US" altLang="en-US" sz="1600" dirty="0">
                <a:ea typeface="ＭＳ Ｐゴシック" panose="020B0600070205080204" pitchFamily="34" charset="-128"/>
              </a:rPr>
              <a:t> </a:t>
            </a:r>
          </a:p>
          <a:p>
            <a:pPr eaLnBrk="1" hangingPunct="1"/>
            <a:r>
              <a:rPr lang="en-US" altLang="en-US" sz="1600" i="1" dirty="0" err="1">
                <a:ea typeface="ＭＳ Ｐゴシック" panose="020B0600070205080204" pitchFamily="34" charset="-128"/>
              </a:rPr>
              <a:t>Hymenolepis</a:t>
            </a:r>
            <a:r>
              <a:rPr lang="en-US" altLang="en-US" sz="1600" i="1" dirty="0">
                <a:ea typeface="ＭＳ Ｐゴシック" panose="020B0600070205080204" pitchFamily="34" charset="-128"/>
              </a:rPr>
              <a:t> </a:t>
            </a:r>
            <a:r>
              <a:rPr lang="en-US" altLang="en-US" sz="1600" i="1" dirty="0" err="1">
                <a:ea typeface="ＭＳ Ｐゴシック" panose="020B0600070205080204" pitchFamily="34" charset="-128"/>
              </a:rPr>
              <a:t>spp</a:t>
            </a:r>
            <a:endParaRPr lang="en-US" altLang="en-US" sz="1600" dirty="0">
              <a:ea typeface="ＭＳ Ｐゴシック" panose="020B0600070205080204" pitchFamily="34" charset="-128"/>
            </a:endParaRPr>
          </a:p>
          <a:p>
            <a:pPr eaLnBrk="1" hangingPunct="1"/>
            <a:r>
              <a:rPr lang="en-US" altLang="en-US" sz="1600" i="1" dirty="0">
                <a:ea typeface="ＭＳ Ｐゴシック" panose="020B0600070205080204" pitchFamily="34" charset="-128"/>
              </a:rPr>
              <a:t>Echinococcus </a:t>
            </a:r>
            <a:r>
              <a:rPr lang="en-US" altLang="en-US" sz="1600" i="1" dirty="0" err="1">
                <a:ea typeface="ＭＳ Ｐゴシック" panose="020B0600070205080204" pitchFamily="34" charset="-128"/>
              </a:rPr>
              <a:t>granulosus</a:t>
            </a:r>
            <a:endParaRPr lang="en-US" altLang="en-US" sz="1600" dirty="0">
              <a:ea typeface="ＭＳ Ｐゴシック" panose="020B0600070205080204" pitchFamily="34" charset="-128"/>
            </a:endParaRPr>
          </a:p>
        </p:txBody>
      </p:sp>
      <p:sp>
        <p:nvSpPr>
          <p:cNvPr id="43032" name="Line 16">
            <a:extLst>
              <a:ext uri="{FF2B5EF4-FFF2-40B4-BE49-F238E27FC236}">
                <a16:creationId xmlns:a16="http://schemas.microsoft.com/office/drawing/2014/main" id="{274C2536-6B9C-8512-ABC1-4B265602CB1D}"/>
              </a:ext>
            </a:extLst>
          </p:cNvPr>
          <p:cNvSpPr>
            <a:spLocks noChangeShapeType="1"/>
          </p:cNvSpPr>
          <p:nvPr/>
        </p:nvSpPr>
        <p:spPr bwMode="auto">
          <a:xfrm>
            <a:off x="8128000" y="3351213"/>
            <a:ext cx="0" cy="627062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14066320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Rectangle 2">
            <a:extLst>
              <a:ext uri="{FF2B5EF4-FFF2-40B4-BE49-F238E27FC236}">
                <a16:creationId xmlns:a16="http://schemas.microsoft.com/office/drawing/2014/main" id="{758A0092-529C-2525-76DB-9ECE0DAB2C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762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US" b="1" dirty="0">
                <a:ea typeface="ＭＳ Ｐゴシック" panose="020B0600070205080204" pitchFamily="34" charset="-128"/>
              </a:rPr>
              <a:t>Nematodes (round worm)</a:t>
            </a:r>
          </a:p>
        </p:txBody>
      </p:sp>
      <p:sp>
        <p:nvSpPr>
          <p:cNvPr id="43010" name="Rectangle 3">
            <a:extLst>
              <a:ext uri="{FF2B5EF4-FFF2-40B4-BE49-F238E27FC236}">
                <a16:creationId xmlns:a16="http://schemas.microsoft.com/office/drawing/2014/main" id="{F3B31AA8-9F6D-D2AB-A52B-0650699E9E7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8610600" cy="5410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Unsegmented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Possess mouth, </a:t>
            </a:r>
            <a:r>
              <a:rPr lang="en-US" altLang="en-US" dirty="0" err="1">
                <a:ea typeface="ＭＳ Ｐゴシック" panose="020B0600070205080204" pitchFamily="34" charset="-128"/>
              </a:rPr>
              <a:t>oesophagus</a:t>
            </a:r>
            <a:r>
              <a:rPr lang="en-US" altLang="en-US" dirty="0">
                <a:ea typeface="ＭＳ Ｐゴシック" panose="020B0600070205080204" pitchFamily="34" charset="-128"/>
              </a:rPr>
              <a:t> and anus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In general, sexes are separate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Reproduction is by oviparous and viviparous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Infection is by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ingestion of eggs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penetration of larvae through the surface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arthropod vector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ingestion of encysted larvae 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75825E49-4B11-AEE4-FB76-B709E62F54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-152400"/>
            <a:ext cx="8229600" cy="1143000"/>
          </a:xfrm>
        </p:spPr>
        <p:txBody>
          <a:bodyPr/>
          <a:lstStyle/>
          <a:p>
            <a:pPr eaLnBrk="1" hangingPunct="1"/>
            <a:r>
              <a:rPr lang="en-US" altLang="en-GH" sz="3600" b="1">
                <a:ea typeface="ＭＳ Ｐゴシック" panose="020B0600070205080204" pitchFamily="34" charset="-128"/>
              </a:rPr>
              <a:t>Trematodes (flukes)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151F3454-835A-3434-1AD5-A3E512FB6B5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52400" y="914400"/>
            <a:ext cx="8763000" cy="5943600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altLang="en-GH" sz="2800">
                <a:ea typeface="ＭＳ Ｐゴシック" panose="020B0600070205080204" pitchFamily="34" charset="-128"/>
              </a:rPr>
              <a:t>Flatworms with suckers (ventral and oral)- organs for attachment</a:t>
            </a:r>
          </a:p>
          <a:p>
            <a:pPr eaLnBrk="1" hangingPunct="1">
              <a:lnSpc>
                <a:spcPct val="80000"/>
              </a:lnSpc>
            </a:pPr>
            <a:endParaRPr lang="en-US" altLang="en-GH" sz="2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GH" sz="2800">
                <a:ea typeface="ＭＳ Ｐゴシック" panose="020B0600070205080204" pitchFamily="34" charset="-128"/>
              </a:rPr>
              <a:t>Unsegmented </a:t>
            </a:r>
          </a:p>
          <a:p>
            <a:pPr eaLnBrk="1" hangingPunct="1">
              <a:lnSpc>
                <a:spcPct val="80000"/>
              </a:lnSpc>
            </a:pPr>
            <a:endParaRPr lang="en-US" altLang="en-GH" sz="2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GH" sz="2800">
                <a:ea typeface="ＭＳ Ｐゴシック" panose="020B0600070205080204" pitchFamily="34" charset="-128"/>
              </a:rPr>
              <a:t>Leaf-like or cylindrical in shape </a:t>
            </a:r>
          </a:p>
          <a:p>
            <a:pPr eaLnBrk="1" hangingPunct="1">
              <a:lnSpc>
                <a:spcPct val="80000"/>
              </a:lnSpc>
            </a:pPr>
            <a:endParaRPr lang="en-US" altLang="en-GH" sz="28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GH" sz="2800">
                <a:ea typeface="ＭＳ Ｐゴシック" panose="020B0600070205080204" pitchFamily="34" charset="-128"/>
              </a:rPr>
              <a:t>They can be divided into two groups</a:t>
            </a:r>
          </a:p>
          <a:p>
            <a:pPr marL="914400" lvl="1" indent="-51435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GH" sz="2400">
                <a:ea typeface="ＭＳ Ｐゴシック" panose="020B0600070205080204" pitchFamily="34" charset="-128"/>
              </a:rPr>
              <a:t>Hermaphroditic flukes that infects organs-food borne</a:t>
            </a:r>
          </a:p>
          <a:p>
            <a:pPr marL="914400" lvl="1" indent="-514350" eaLnBrk="1" hangingPunct="1">
              <a:lnSpc>
                <a:spcPct val="80000"/>
              </a:lnSpc>
              <a:buFontTx/>
              <a:buAutoNum type="arabicPeriod"/>
            </a:pPr>
            <a:r>
              <a:rPr lang="en-US" altLang="en-GH" sz="2400">
                <a:ea typeface="ＭＳ Ｐゴシック" panose="020B0600070205080204" pitchFamily="34" charset="-128"/>
              </a:rPr>
              <a:t>Diecious blood flukes infects by direct penetration</a:t>
            </a:r>
          </a:p>
          <a:p>
            <a:pPr marL="914400" lvl="1" indent="-514350" eaLnBrk="1" hangingPunct="1">
              <a:lnSpc>
                <a:spcPct val="80000"/>
              </a:lnSpc>
              <a:buFontTx/>
              <a:buAutoNum type="arabicPeriod"/>
            </a:pPr>
            <a:endParaRPr lang="en-US" altLang="en-GH" sz="240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r>
              <a:rPr lang="en-US" altLang="en-GH" sz="2800">
                <a:ea typeface="ＭＳ Ｐゴシック" panose="020B0600070205080204" pitchFamily="34" charset="-128"/>
              </a:rPr>
              <a:t>They have complex life cycle requiring one or more intermediate hosts</a:t>
            </a:r>
          </a:p>
          <a:p>
            <a:pPr marL="914400" lvl="1" indent="-514350" eaLnBrk="1" hangingPunct="1">
              <a:lnSpc>
                <a:spcPct val="80000"/>
              </a:lnSpc>
            </a:pPr>
            <a:r>
              <a:rPr lang="en-US" altLang="en-GH" sz="2400">
                <a:ea typeface="ＭＳ Ｐゴシック" panose="020B0600070205080204" pitchFamily="34" charset="-128"/>
              </a:rPr>
              <a:t>Oviparous (mostly operculated except Schistosoma) 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3" name="Title 1">
            <a:extLst>
              <a:ext uri="{FF2B5EF4-FFF2-40B4-BE49-F238E27FC236}">
                <a16:creationId xmlns:a16="http://schemas.microsoft.com/office/drawing/2014/main" id="{F3A34F3D-8CA8-2666-2C10-0E0A60F0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GH">
                <a:ea typeface="ＭＳ Ｐゴシック" panose="020B0600070205080204" pitchFamily="34" charset="-128"/>
              </a:rPr>
              <a:t>Classification of trematodes by habitat</a:t>
            </a:r>
          </a:p>
        </p:txBody>
      </p:sp>
      <p:sp>
        <p:nvSpPr>
          <p:cNvPr id="156674" name="Content Placeholder 2">
            <a:extLst>
              <a:ext uri="{FF2B5EF4-FFF2-40B4-BE49-F238E27FC236}">
                <a16:creationId xmlns:a16="http://schemas.microsoft.com/office/drawing/2014/main" id="{C25345D6-F82E-B07B-C4AC-85F40BA5C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4800" y="1600200"/>
            <a:ext cx="8382000" cy="4876800"/>
          </a:xfrm>
        </p:spPr>
        <p:txBody>
          <a:bodyPr/>
          <a:lstStyle/>
          <a:p>
            <a:pPr marL="514350" indent="-514350">
              <a:buFontTx/>
              <a:buAutoNum type="arabicPeriod"/>
            </a:pPr>
            <a:r>
              <a:rPr lang="en-US" altLang="en-GH" sz="2800">
                <a:ea typeface="ＭＳ Ｐゴシック" panose="020B0600070205080204" pitchFamily="34" charset="-128"/>
              </a:rPr>
              <a:t>Organ-dwelling</a:t>
            </a:r>
          </a:p>
          <a:p>
            <a:pPr lvl="1"/>
            <a:r>
              <a:rPr lang="en-US" altLang="en-GH" sz="2400">
                <a:ea typeface="ＭＳ Ｐゴシック" panose="020B0600070205080204" pitchFamily="34" charset="-128"/>
              </a:rPr>
              <a:t>Intestinal trematode- </a:t>
            </a:r>
            <a:r>
              <a:rPr lang="en-US" altLang="en-GH" sz="2400" i="1">
                <a:ea typeface="ＭＳ Ｐゴシック" panose="020B0600070205080204" pitchFamily="34" charset="-128"/>
              </a:rPr>
              <a:t>Faciolopsis buski</a:t>
            </a:r>
          </a:p>
          <a:p>
            <a:pPr lvl="1"/>
            <a:r>
              <a:rPr lang="en-US" altLang="en-GH" sz="2400">
                <a:ea typeface="ＭＳ Ｐゴシック" panose="020B0600070205080204" pitchFamily="34" charset="-128"/>
              </a:rPr>
              <a:t>Hepatic trematode- </a:t>
            </a:r>
            <a:r>
              <a:rPr lang="en-US" altLang="en-GH" sz="2400" i="1">
                <a:ea typeface="ＭＳ Ｐゴシック" panose="020B0600070205080204" pitchFamily="34" charset="-128"/>
              </a:rPr>
              <a:t>Fasciola hepatica</a:t>
            </a:r>
            <a:r>
              <a:rPr lang="en-US" altLang="en-GH" sz="2400">
                <a:ea typeface="ＭＳ Ｐゴシック" panose="020B0600070205080204" pitchFamily="34" charset="-128"/>
              </a:rPr>
              <a:t>, </a:t>
            </a:r>
            <a:r>
              <a:rPr lang="en-US" altLang="en-GH" sz="2400" i="1">
                <a:ea typeface="ＭＳ Ｐゴシック" panose="020B0600070205080204" pitchFamily="34" charset="-128"/>
              </a:rPr>
              <a:t>Clornorchis sinensis</a:t>
            </a:r>
            <a:r>
              <a:rPr lang="en-US" altLang="en-GH" sz="2400">
                <a:ea typeface="ＭＳ Ｐゴシック" panose="020B0600070205080204" pitchFamily="34" charset="-128"/>
              </a:rPr>
              <a:t>, </a:t>
            </a:r>
            <a:r>
              <a:rPr lang="en-US" altLang="en-GH" sz="2400" i="1">
                <a:ea typeface="ＭＳ Ｐゴシック" panose="020B0600070205080204" pitchFamily="34" charset="-128"/>
              </a:rPr>
              <a:t>Opisthorchis felineus</a:t>
            </a:r>
            <a:r>
              <a:rPr lang="en-US" altLang="en-GH" sz="2400">
                <a:ea typeface="ＭＳ Ｐゴシック" panose="020B0600070205080204" pitchFamily="34" charset="-128"/>
              </a:rPr>
              <a:t>)</a:t>
            </a:r>
          </a:p>
          <a:p>
            <a:pPr lvl="1"/>
            <a:r>
              <a:rPr lang="en-US" altLang="en-GH" sz="2400">
                <a:ea typeface="ＭＳ Ｐゴシック" panose="020B0600070205080204" pitchFamily="34" charset="-128"/>
              </a:rPr>
              <a:t>Lung trematode – </a:t>
            </a:r>
            <a:r>
              <a:rPr lang="en-US" altLang="en-GH" sz="2400" i="1">
                <a:ea typeface="ＭＳ Ｐゴシック" panose="020B0600070205080204" pitchFamily="34" charset="-128"/>
              </a:rPr>
              <a:t>Paragonimus westermani</a:t>
            </a:r>
          </a:p>
          <a:p>
            <a:pPr lvl="1"/>
            <a:endParaRPr lang="en-US" altLang="en-GH" sz="2400" i="1">
              <a:ea typeface="ＭＳ Ｐゴシック" panose="020B0600070205080204" pitchFamily="34" charset="-128"/>
            </a:endParaRPr>
          </a:p>
          <a:p>
            <a:pPr marL="514350" indent="-514350">
              <a:buFontTx/>
              <a:buAutoNum type="arabicPeriod"/>
            </a:pPr>
            <a:r>
              <a:rPr lang="en-US" altLang="en-GH" sz="2800">
                <a:ea typeface="ＭＳ Ｐゴシック" panose="020B0600070205080204" pitchFamily="34" charset="-128"/>
              </a:rPr>
              <a:t>Blood-dwelling</a:t>
            </a:r>
          </a:p>
          <a:p>
            <a:pPr lvl="1"/>
            <a:r>
              <a:rPr lang="en-US" altLang="en-GH" sz="2400">
                <a:ea typeface="ＭＳ Ｐゴシック" panose="020B0600070205080204" pitchFamily="34" charset="-128"/>
              </a:rPr>
              <a:t>Visical venous plexus- </a:t>
            </a:r>
            <a:r>
              <a:rPr lang="en-US" altLang="en-GH" sz="2400" i="1">
                <a:ea typeface="ＭＳ Ｐゴシック" panose="020B0600070205080204" pitchFamily="34" charset="-128"/>
              </a:rPr>
              <a:t>Schistosoma haematobium</a:t>
            </a:r>
          </a:p>
          <a:p>
            <a:pPr lvl="1"/>
            <a:r>
              <a:rPr lang="en-US" altLang="en-GH" sz="2400">
                <a:ea typeface="ＭＳ Ｐゴシック" panose="020B0600070205080204" pitchFamily="34" charset="-128"/>
              </a:rPr>
              <a:t>Rectal venous plexus- </a:t>
            </a:r>
            <a:r>
              <a:rPr lang="en-US" altLang="en-GH" sz="2400" i="1">
                <a:ea typeface="ＭＳ Ｐゴシック" panose="020B0600070205080204" pitchFamily="34" charset="-128"/>
              </a:rPr>
              <a:t>S. mansoni</a:t>
            </a:r>
          </a:p>
          <a:p>
            <a:pPr lvl="1"/>
            <a:r>
              <a:rPr lang="en-US" altLang="en-GH" sz="2400">
                <a:ea typeface="ＭＳ Ｐゴシック" panose="020B0600070205080204" pitchFamily="34" charset="-128"/>
              </a:rPr>
              <a:t>Portal venous system- </a:t>
            </a:r>
            <a:r>
              <a:rPr lang="en-US" altLang="en-GH" sz="2400" i="1">
                <a:ea typeface="ＭＳ Ｐゴシック" panose="020B0600070205080204" pitchFamily="34" charset="-128"/>
              </a:rPr>
              <a:t>S. japonicum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3">
            <a:extLst>
              <a:ext uri="{FF2B5EF4-FFF2-40B4-BE49-F238E27FC236}">
                <a16:creationId xmlns:a16="http://schemas.microsoft.com/office/drawing/2014/main" id="{B700A718-C58C-2A3C-C91A-39891C3F851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533400"/>
            <a:ext cx="8229600" cy="5943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H" sz="2800">
                <a:ea typeface="ＭＳ Ｐゴシック" panose="020B0600070205080204" pitchFamily="34" charset="-128"/>
              </a:rPr>
              <a:t>1. Hermaphroditic </a:t>
            </a:r>
            <a:r>
              <a:rPr lang="en-US" altLang="en-GH" sz="2800" b="1">
                <a:ea typeface="ＭＳ Ｐゴシック" panose="020B0600070205080204" pitchFamily="34" charset="-128"/>
              </a:rPr>
              <a:t>liver fluke</a:t>
            </a:r>
            <a:r>
              <a:rPr lang="en-US" altLang="en-GH" sz="2800">
                <a:ea typeface="ＭＳ Ｐゴシック" panose="020B0600070205080204" pitchFamily="34" charset="-128"/>
              </a:rPr>
              <a:t>: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GH" sz="2400">
                <a:ea typeface="ＭＳ Ｐゴシック" panose="020B0600070205080204" pitchFamily="34" charset="-128"/>
              </a:rPr>
              <a:t> reside in the bile duct and infects human on ingestion of watercress (</a:t>
            </a:r>
            <a:r>
              <a:rPr lang="en-US" altLang="en-GH" sz="2400" i="1">
                <a:ea typeface="ＭＳ Ｐゴシック" panose="020B0600070205080204" pitchFamily="34" charset="-128"/>
              </a:rPr>
              <a:t>Fasciola</a:t>
            </a:r>
            <a:r>
              <a:rPr lang="en-US" altLang="en-GH" sz="2400">
                <a:ea typeface="ＭＳ Ｐゴシック" panose="020B0600070205080204" pitchFamily="34" charset="-128"/>
              </a:rPr>
              <a:t>) or raw fish (</a:t>
            </a:r>
            <a:r>
              <a:rPr lang="en-US" altLang="en-GH" sz="2400" i="1">
                <a:ea typeface="ＭＳ Ｐゴシック" panose="020B0600070205080204" pitchFamily="34" charset="-128"/>
              </a:rPr>
              <a:t>Clonorchis</a:t>
            </a:r>
            <a:r>
              <a:rPr lang="en-US" altLang="en-GH" sz="2400">
                <a:ea typeface="ＭＳ Ｐゴシック" panose="020B0600070205080204" pitchFamily="34" charset="-128"/>
              </a:rPr>
              <a:t> and </a:t>
            </a:r>
            <a:r>
              <a:rPr lang="en-US" altLang="en-GH" sz="2400" i="1">
                <a:ea typeface="ＭＳ Ｐゴシック" panose="020B0600070205080204" pitchFamily="34" charset="-128"/>
              </a:rPr>
              <a:t>Opisthorchis</a:t>
            </a:r>
            <a:r>
              <a:rPr lang="en-US" altLang="en-GH" sz="2400">
                <a:ea typeface="ＭＳ Ｐゴシック" panose="020B0600070205080204" pitchFamily="34" charset="-128"/>
              </a:rPr>
              <a:t>)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H" sz="2800">
                <a:ea typeface="ＭＳ Ｐゴシック" panose="020B0600070205080204" pitchFamily="34" charset="-128"/>
              </a:rPr>
              <a:t>2. Hermaphroditic </a:t>
            </a:r>
            <a:r>
              <a:rPr lang="en-US" altLang="en-GH" sz="2800" b="1">
                <a:ea typeface="ＭＳ Ｐゴシック" panose="020B0600070205080204" pitchFamily="34" charset="-128"/>
              </a:rPr>
              <a:t>intestinal flukes </a:t>
            </a:r>
            <a:r>
              <a:rPr lang="en-US" altLang="en-GH" sz="2800">
                <a:ea typeface="ＭＳ Ｐゴシック" panose="020B0600070205080204" pitchFamily="34" charset="-128"/>
              </a:rPr>
              <a:t>(Fasciolopsis)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GH" sz="2400">
                <a:ea typeface="ＭＳ Ｐゴシック" panose="020B0600070205080204" pitchFamily="34" charset="-128"/>
              </a:rPr>
              <a:t>which infects humans on ingestion of water chestnuts.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H" sz="2800">
                <a:ea typeface="ＭＳ Ｐゴシック" panose="020B0600070205080204" pitchFamily="34" charset="-128"/>
              </a:rPr>
              <a:t>3. Hermaphroditic </a:t>
            </a:r>
            <a:r>
              <a:rPr lang="en-US" altLang="en-GH" sz="2800" b="1">
                <a:ea typeface="ＭＳ Ｐゴシック" panose="020B0600070205080204" pitchFamily="34" charset="-128"/>
              </a:rPr>
              <a:t>lung fluke </a:t>
            </a:r>
            <a:r>
              <a:rPr lang="en-US" altLang="en-GH" sz="2800">
                <a:ea typeface="ＭＳ Ｐゴシック" panose="020B0600070205080204" pitchFamily="34" charset="-128"/>
              </a:rPr>
              <a:t>(Paragonimus)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GH" sz="2400">
                <a:ea typeface="ＭＳ Ｐゴシック" panose="020B0600070205080204" pitchFamily="34" charset="-128"/>
              </a:rPr>
              <a:t>which infects humans on ingestion of raw crabs or crayfish.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GH" sz="2800">
                <a:ea typeface="ＭＳ Ｐゴシック" panose="020B0600070205080204" pitchFamily="34" charset="-128"/>
              </a:rPr>
              <a:t>4. Diecious </a:t>
            </a:r>
            <a:r>
              <a:rPr lang="en-US" altLang="en-GH" sz="2800" b="1">
                <a:ea typeface="ＭＳ Ｐゴシック" panose="020B0600070205080204" pitchFamily="34" charset="-128"/>
              </a:rPr>
              <a:t>blood flukes </a:t>
            </a:r>
            <a:r>
              <a:rPr lang="en-US" altLang="en-GH" sz="2800">
                <a:ea typeface="ＭＳ Ｐゴシック" panose="020B0600070205080204" pitchFamily="34" charset="-128"/>
              </a:rPr>
              <a:t>(Schistosomes) </a:t>
            </a:r>
          </a:p>
          <a:p>
            <a:pPr lvl="1" eaLnBrk="1" hangingPunct="1">
              <a:lnSpc>
                <a:spcPct val="90000"/>
              </a:lnSpc>
              <a:buFontTx/>
              <a:buNone/>
            </a:pPr>
            <a:r>
              <a:rPr lang="en-US" altLang="en-GH" sz="2400">
                <a:ea typeface="ＭＳ Ｐゴシック" panose="020B0600070205080204" pitchFamily="34" charset="-128"/>
              </a:rPr>
              <a:t>which live in the intestinal and vesical venules and infect humans by direct penetration through the skin 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689EBA08-2E92-50DF-8BD2-7E226D7FFF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b="1">
                <a:ea typeface="ＭＳ Ｐゴシック" panose="020B0600070205080204" pitchFamily="34" charset="-128"/>
              </a:rPr>
              <a:t>Cestodes (Tape worms)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73E1763A-1C0B-CF59-6638-7BB2E8EE6C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524000"/>
            <a:ext cx="8077200" cy="47244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Segmented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Possess scolex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Neck and proglottids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They are hermaphroditic 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Reproduction is 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by oviparous or sometimes multiplication within the larval form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ea typeface="ＭＳ Ｐゴシック" panose="020B0600070205080204" pitchFamily="34" charset="-128"/>
              </a:rPr>
              <a:t>Infection is generally by ingestion of encysted larvae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3628BEA5-09B7-7996-178F-EC7920870E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GH">
                <a:ea typeface="ＭＳ Ｐゴシック" panose="020B0600070205080204" pitchFamily="34" charset="-128"/>
              </a:rPr>
              <a:t>Cestodes of medical importance </a:t>
            </a:r>
          </a:p>
        </p:txBody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F99847B8-E052-C897-3786-9B97C34780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600200"/>
            <a:ext cx="8458200" cy="4525963"/>
          </a:xfrm>
        </p:spPr>
        <p:txBody>
          <a:bodyPr/>
          <a:lstStyle/>
          <a:p>
            <a:pPr eaLnBrk="1" hangingPunct="1"/>
            <a:r>
              <a:rPr lang="en-US" altLang="en-GH" sz="2800" i="1" dirty="0">
                <a:ea typeface="ＭＳ Ｐゴシック" panose="020B0600070205080204" pitchFamily="34" charset="-128"/>
              </a:rPr>
              <a:t>Taenia </a:t>
            </a:r>
            <a:r>
              <a:rPr lang="en-US" altLang="en-GH" sz="2800" i="1" dirty="0" err="1">
                <a:ea typeface="ＭＳ Ｐゴシック" panose="020B0600070205080204" pitchFamily="34" charset="-128"/>
              </a:rPr>
              <a:t>solium</a:t>
            </a:r>
            <a:r>
              <a:rPr lang="en-US" altLang="en-GH" sz="2800" dirty="0">
                <a:ea typeface="ＭＳ Ｐゴシック" panose="020B0600070205080204" pitchFamily="34" charset="-128"/>
              </a:rPr>
              <a:t> -Pork tapeworm</a:t>
            </a:r>
          </a:p>
          <a:p>
            <a:pPr eaLnBrk="1" hangingPunct="1"/>
            <a:r>
              <a:rPr lang="en-US" altLang="en-GH" sz="2800" i="1" dirty="0">
                <a:ea typeface="ＭＳ Ｐゴシック" panose="020B0600070205080204" pitchFamily="34" charset="-128"/>
              </a:rPr>
              <a:t>Taenia </a:t>
            </a:r>
            <a:r>
              <a:rPr lang="en-US" altLang="en-GH" sz="2800" i="1" dirty="0" err="1">
                <a:ea typeface="ＭＳ Ｐゴシック" panose="020B0600070205080204" pitchFamily="34" charset="-128"/>
              </a:rPr>
              <a:t>solium</a:t>
            </a:r>
            <a:r>
              <a:rPr lang="en-US" altLang="en-GH" sz="2800" dirty="0">
                <a:ea typeface="ＭＳ Ｐゴシック" panose="020B0600070205080204" pitchFamily="34" charset="-128"/>
              </a:rPr>
              <a:t> - Cysticercosis</a:t>
            </a:r>
          </a:p>
          <a:p>
            <a:pPr eaLnBrk="1" hangingPunct="1"/>
            <a:r>
              <a:rPr lang="en-US" altLang="en-GH" sz="2800" i="1" dirty="0">
                <a:ea typeface="ＭＳ Ｐゴシック" panose="020B0600070205080204" pitchFamily="34" charset="-128"/>
              </a:rPr>
              <a:t>Taenia </a:t>
            </a:r>
            <a:r>
              <a:rPr lang="en-US" altLang="en-GH" sz="2800" i="1" dirty="0" err="1">
                <a:ea typeface="ＭＳ Ｐゴシック" panose="020B0600070205080204" pitchFamily="34" charset="-128"/>
              </a:rPr>
              <a:t>saginata</a:t>
            </a:r>
            <a:r>
              <a:rPr lang="en-US" altLang="en-GH" sz="2800" dirty="0">
                <a:ea typeface="ＭＳ Ｐゴシック" panose="020B0600070205080204" pitchFamily="34" charset="-128"/>
              </a:rPr>
              <a:t> - Beef tapeworm</a:t>
            </a:r>
          </a:p>
          <a:p>
            <a:pPr eaLnBrk="1" hangingPunct="1"/>
            <a:r>
              <a:rPr lang="en-US" altLang="en-GH" sz="2800" i="1" dirty="0">
                <a:ea typeface="ＭＳ Ｐゴシック" panose="020B0600070205080204" pitchFamily="34" charset="-128"/>
              </a:rPr>
              <a:t>Diphyllobothrium latum</a:t>
            </a:r>
            <a:r>
              <a:rPr lang="en-US" altLang="en-GH" sz="2800" dirty="0">
                <a:ea typeface="ＭＳ Ｐゴシック" panose="020B0600070205080204" pitchFamily="34" charset="-128"/>
              </a:rPr>
              <a:t> -Fish tapeworm</a:t>
            </a:r>
          </a:p>
          <a:p>
            <a:pPr eaLnBrk="1" hangingPunct="1"/>
            <a:r>
              <a:rPr lang="en-US" altLang="en-GH" sz="2800" i="1" dirty="0" err="1">
                <a:ea typeface="ＭＳ Ｐゴシック" panose="020B0600070205080204" pitchFamily="34" charset="-128"/>
              </a:rPr>
              <a:t>Hymenolepis</a:t>
            </a:r>
            <a:r>
              <a:rPr lang="en-US" altLang="en-GH" sz="2800" i="1" dirty="0">
                <a:ea typeface="ＭＳ Ｐゴシック" panose="020B0600070205080204" pitchFamily="34" charset="-128"/>
              </a:rPr>
              <a:t> nana</a:t>
            </a:r>
            <a:r>
              <a:rPr lang="en-US" altLang="en-GH" sz="2800" dirty="0">
                <a:ea typeface="ＭＳ Ｐゴシック" panose="020B0600070205080204" pitchFamily="34" charset="-128"/>
              </a:rPr>
              <a:t> -Dwarf tapeworm</a:t>
            </a:r>
          </a:p>
          <a:p>
            <a:pPr eaLnBrk="1" hangingPunct="1"/>
            <a:r>
              <a:rPr lang="en-US" altLang="en-GH" sz="2800" i="1" dirty="0" err="1">
                <a:ea typeface="ＭＳ Ｐゴシック" panose="020B0600070205080204" pitchFamily="34" charset="-128"/>
              </a:rPr>
              <a:t>Hymenolepis</a:t>
            </a:r>
            <a:r>
              <a:rPr lang="en-US" altLang="en-GH" sz="2800" i="1" dirty="0">
                <a:ea typeface="ＭＳ Ｐゴシック" panose="020B0600070205080204" pitchFamily="34" charset="-128"/>
              </a:rPr>
              <a:t> </a:t>
            </a:r>
            <a:r>
              <a:rPr lang="en-US" altLang="en-GH" sz="2800" i="1" dirty="0" err="1">
                <a:ea typeface="ＭＳ Ｐゴシック" panose="020B0600070205080204" pitchFamily="34" charset="-128"/>
              </a:rPr>
              <a:t>diminuta</a:t>
            </a:r>
            <a:r>
              <a:rPr lang="en-US" altLang="en-GH" sz="2800" dirty="0">
                <a:ea typeface="ＭＳ Ｐゴシック" panose="020B0600070205080204" pitchFamily="34" charset="-128"/>
              </a:rPr>
              <a:t> -Rat tapeworm</a:t>
            </a:r>
          </a:p>
          <a:p>
            <a:pPr eaLnBrk="1" hangingPunct="1"/>
            <a:r>
              <a:rPr lang="en-US" altLang="en-GH" sz="2800" i="1" dirty="0">
                <a:ea typeface="ＭＳ Ｐゴシック" panose="020B0600070205080204" pitchFamily="34" charset="-128"/>
              </a:rPr>
              <a:t>Echinococcus </a:t>
            </a:r>
            <a:r>
              <a:rPr lang="en-US" altLang="en-GH" sz="2800" i="1" dirty="0" err="1">
                <a:ea typeface="ＭＳ Ｐゴシック" panose="020B0600070205080204" pitchFamily="34" charset="-128"/>
              </a:rPr>
              <a:t>granulosus</a:t>
            </a:r>
            <a:r>
              <a:rPr lang="en-US" altLang="en-GH" sz="2800" dirty="0">
                <a:ea typeface="ＭＳ Ｐゴシック" panose="020B0600070205080204" pitchFamily="34" charset="-128"/>
              </a:rPr>
              <a:t> -Unilocular hydatid cyst</a:t>
            </a:r>
          </a:p>
          <a:p>
            <a:pPr eaLnBrk="1" hangingPunct="1"/>
            <a:r>
              <a:rPr lang="en-US" altLang="en-GH" sz="2800" i="1" dirty="0">
                <a:ea typeface="ＭＳ Ｐゴシック" panose="020B0600070205080204" pitchFamily="34" charset="-128"/>
              </a:rPr>
              <a:t>Echinococcus </a:t>
            </a:r>
            <a:r>
              <a:rPr lang="en-US" altLang="en-GH" sz="2800" i="1" dirty="0" err="1">
                <a:ea typeface="ＭＳ Ｐゴシック" panose="020B0600070205080204" pitchFamily="34" charset="-128"/>
              </a:rPr>
              <a:t>multilocularis</a:t>
            </a:r>
            <a:r>
              <a:rPr lang="en-US" altLang="en-GH" sz="2800" dirty="0">
                <a:ea typeface="ＭＳ Ｐゴシック" panose="020B0600070205080204" pitchFamily="34" charset="-128"/>
              </a:rPr>
              <a:t> –Alveolar hydatid cyst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52622-BC6D-1967-9F9C-F6C5E9657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5BF5E0-C0D7-40C4-D84F-06EFAF8B22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H"/>
          </a:p>
        </p:txBody>
      </p:sp>
    </p:spTree>
    <p:extLst>
      <p:ext uri="{BB962C8B-B14F-4D97-AF65-F5344CB8AC3E}">
        <p14:creationId xmlns:p14="http://schemas.microsoft.com/office/powerpoint/2010/main" val="364345333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44331</TotalTime>
  <Words>745</Words>
  <Application>Microsoft Macintosh PowerPoint</Application>
  <PresentationFormat>On-screen Show (4:3)</PresentationFormat>
  <Paragraphs>159</Paragraphs>
  <Slides>22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Helvetica</vt:lpstr>
      <vt:lpstr>Times New Roman</vt:lpstr>
      <vt:lpstr>Wingdings</vt:lpstr>
      <vt:lpstr>Default Design</vt:lpstr>
      <vt:lpstr>CLINICAL MICROBIOLOGY PARASITIC INFECTIONS  by  Prof.(Mrs.) Linda B. Debrah Dept of Clinical Microbiology  orcid.org/0000-0001-9620-3408    </vt:lpstr>
      <vt:lpstr>Learning Objectives </vt:lpstr>
      <vt:lpstr>PowerPoint Presentation</vt:lpstr>
      <vt:lpstr>Relationship between organisms </vt:lpstr>
      <vt:lpstr>PowerPoint Presentation</vt:lpstr>
      <vt:lpstr>PowerPoint Presentation</vt:lpstr>
      <vt:lpstr>Epidemiological classification of parasites</vt:lpstr>
      <vt:lpstr>Classification of Host/ Vectors</vt:lpstr>
      <vt:lpstr>Protozoa  Kingdom Protista </vt:lpstr>
      <vt:lpstr>Flagellates</vt:lpstr>
      <vt:lpstr>Apicomplexa</vt:lpstr>
      <vt:lpstr>Examples of Apicomplexa</vt:lpstr>
      <vt:lpstr>Sarcodina- Entamoeba spp.</vt:lpstr>
      <vt:lpstr>Ciliophora </vt:lpstr>
      <vt:lpstr>PowerPoint Presentation</vt:lpstr>
      <vt:lpstr>Nematodes (round worm)</vt:lpstr>
      <vt:lpstr>Trematodes (flukes)</vt:lpstr>
      <vt:lpstr>Classification of trematodes by habitat</vt:lpstr>
      <vt:lpstr>PowerPoint Presentation</vt:lpstr>
      <vt:lpstr>Cestodes (Tape worms)</vt:lpstr>
      <vt:lpstr>Cestodes of medical importance </vt:lpstr>
      <vt:lpstr>PowerPoint Presentation</vt:lpstr>
    </vt:vector>
  </TitlesOfParts>
  <Company> 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Parasitology </dc:title>
  <dc:creator>Alex </dc:creator>
  <cp:lastModifiedBy>Prof. Linda Debrah</cp:lastModifiedBy>
  <cp:revision>306</cp:revision>
  <dcterms:created xsi:type="dcterms:W3CDTF">2011-09-14T16:54:39Z</dcterms:created>
  <dcterms:modified xsi:type="dcterms:W3CDTF">2026-05-07T12:34:49Z</dcterms:modified>
</cp:coreProperties>
</file>