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ms-powerpoint.presentation.macroEnabled.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374" r:id="rId3"/>
    <p:sldId id="291" r:id="rId4"/>
    <p:sldId id="292" r:id="rId5"/>
    <p:sldId id="293" r:id="rId6"/>
    <p:sldId id="294" r:id="rId7"/>
    <p:sldId id="290" r:id="rId8"/>
    <p:sldId id="393" r:id="rId9"/>
    <p:sldId id="394" r:id="rId10"/>
    <p:sldId id="395" r:id="rId11"/>
    <p:sldId id="396" r:id="rId12"/>
    <p:sldId id="295" r:id="rId13"/>
    <p:sldId id="392" r:id="rId14"/>
    <p:sldId id="298" r:id="rId15"/>
    <p:sldId id="397" r:id="rId16"/>
    <p:sldId id="398" r:id="rId17"/>
    <p:sldId id="399" r:id="rId18"/>
    <p:sldId id="288" r:id="rId19"/>
    <p:sldId id="325" r:id="rId20"/>
    <p:sldId id="400" r:id="rId21"/>
    <p:sldId id="376" r:id="rId22"/>
    <p:sldId id="262" r:id="rId23"/>
    <p:sldId id="264" r:id="rId24"/>
    <p:sldId id="261" r:id="rId25"/>
    <p:sldId id="265" r:id="rId26"/>
    <p:sldId id="378" r:id="rId27"/>
    <p:sldId id="268" r:id="rId28"/>
    <p:sldId id="269" r:id="rId29"/>
    <p:sldId id="270" r:id="rId30"/>
    <p:sldId id="271" r:id="rId31"/>
    <p:sldId id="273" r:id="rId32"/>
    <p:sldId id="274" r:id="rId33"/>
    <p:sldId id="277" r:id="rId34"/>
    <p:sldId id="383" r:id="rId35"/>
    <p:sldId id="278" r:id="rId36"/>
    <p:sldId id="279" r:id="rId37"/>
    <p:sldId id="283" r:id="rId38"/>
    <p:sldId id="284" r:id="rId39"/>
    <p:sldId id="286" r:id="rId40"/>
    <p:sldId id="287" r:id="rId41"/>
    <p:sldId id="289" r:id="rId42"/>
    <p:sldId id="384" r:id="rId43"/>
    <p:sldId id="310" r:id="rId44"/>
    <p:sldId id="315" r:id="rId45"/>
    <p:sldId id="316" r:id="rId46"/>
    <p:sldId id="386" r:id="rId47"/>
    <p:sldId id="317" r:id="rId48"/>
    <p:sldId id="327" r:id="rId49"/>
    <p:sldId id="318" r:id="rId50"/>
    <p:sldId id="322" r:id="rId51"/>
    <p:sldId id="323" r:id="rId52"/>
    <p:sldId id="390" r:id="rId53"/>
    <p:sldId id="389" r:id="rId54"/>
    <p:sldId id="341" r:id="rId55"/>
    <p:sldId id="342" r:id="rId56"/>
    <p:sldId id="344" r:id="rId57"/>
    <p:sldId id="343" r:id="rId58"/>
    <p:sldId id="345" r:id="rId59"/>
    <p:sldId id="346" r:id="rId60"/>
    <p:sldId id="349" r:id="rId61"/>
    <p:sldId id="348" r:id="rId62"/>
    <p:sldId id="352" r:id="rId63"/>
    <p:sldId id="353" r:id="rId64"/>
    <p:sldId id="354" r:id="rId65"/>
    <p:sldId id="357" r:id="rId66"/>
    <p:sldId id="358" r:id="rId67"/>
    <p:sldId id="360" r:id="rId68"/>
    <p:sldId id="361" r:id="rId69"/>
    <p:sldId id="363" r:id="rId70"/>
    <p:sldId id="362" r:id="rId71"/>
    <p:sldId id="364" r:id="rId72"/>
    <p:sldId id="366" r:id="rId73"/>
    <p:sldId id="367" r:id="rId74"/>
    <p:sldId id="373" r:id="rId75"/>
    <p:sldId id="368" r:id="rId76"/>
    <p:sldId id="372" r:id="rId77"/>
    <p:sldId id="330" r:id="rId78"/>
    <p:sldId id="388" r:id="rId79"/>
    <p:sldId id="331" r:id="rId80"/>
    <p:sldId id="333" r:id="rId81"/>
    <p:sldId id="334" r:id="rId82"/>
    <p:sldId id="335" r:id="rId83"/>
    <p:sldId id="336" r:id="rId84"/>
    <p:sldId id="337" r:id="rId85"/>
    <p:sldId id="338" r:id="rId86"/>
    <p:sldId id="339" r:id="rId87"/>
    <p:sldId id="340" r:id="rId88"/>
    <p:sldId id="303" r:id="rId89"/>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3690" autoAdjust="0"/>
  </p:normalViewPr>
  <p:slideViewPr>
    <p:cSldViewPr snapToGrid="0">
      <p:cViewPr>
        <p:scale>
          <a:sx n="60" d="100"/>
          <a:sy n="60" d="100"/>
        </p:scale>
        <p:origin x="1661" y="6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 Agyapong" userId="51c72c91caf9729c" providerId="LiveId" clId="{0F261C1B-D74F-4B5C-983C-D6901550F55E}"/>
    <pc:docChg chg="undo custSel addSld delSld modSld sldOrd">
      <pc:chgData name="Francis Agyapong" userId="51c72c91caf9729c" providerId="LiveId" clId="{0F261C1B-D74F-4B5C-983C-D6901550F55E}" dt="2026-05-07T06:16:26.738" v="2909" actId="732"/>
      <pc:docMkLst>
        <pc:docMk/>
      </pc:docMkLst>
      <pc:sldChg chg="modSp mod">
        <pc:chgData name="Francis Agyapong" userId="51c72c91caf9729c" providerId="LiveId" clId="{0F261C1B-D74F-4B5C-983C-D6901550F55E}" dt="2026-05-07T05:58:45.416" v="2764" actId="1076"/>
        <pc:sldMkLst>
          <pc:docMk/>
          <pc:sldMk cId="1305987300" sldId="256"/>
        </pc:sldMkLst>
        <pc:spChg chg="mod">
          <ac:chgData name="Francis Agyapong" userId="51c72c91caf9729c" providerId="LiveId" clId="{0F261C1B-D74F-4B5C-983C-D6901550F55E}" dt="2026-05-06T17:28:04.235" v="72" actId="20577"/>
          <ac:spMkLst>
            <pc:docMk/>
            <pc:sldMk cId="1305987300" sldId="256"/>
            <ac:spMk id="2" creationId="{F81AC332-C571-4F9B-9F4B-D39E7959B642}"/>
          </ac:spMkLst>
        </pc:spChg>
        <pc:spChg chg="mod">
          <ac:chgData name="Francis Agyapong" userId="51c72c91caf9729c" providerId="LiveId" clId="{0F261C1B-D74F-4B5C-983C-D6901550F55E}" dt="2026-05-07T05:58:45.416" v="2764" actId="1076"/>
          <ac:spMkLst>
            <pc:docMk/>
            <pc:sldMk cId="1305987300" sldId="256"/>
            <ac:spMk id="3" creationId="{98E26C70-99BA-4390-9CD6-A078FDDCF4C4}"/>
          </ac:spMkLst>
        </pc:spChg>
      </pc:sldChg>
      <pc:sldChg chg="modSp del mod">
        <pc:chgData name="Francis Agyapong" userId="51c72c91caf9729c" providerId="LiveId" clId="{0F261C1B-D74F-4B5C-983C-D6901550F55E}" dt="2026-05-06T18:29:31.343" v="1956" actId="47"/>
        <pc:sldMkLst>
          <pc:docMk/>
          <pc:sldMk cId="3255228074" sldId="258"/>
        </pc:sldMkLst>
        <pc:spChg chg="mod">
          <ac:chgData name="Francis Agyapong" userId="51c72c91caf9729c" providerId="LiveId" clId="{0F261C1B-D74F-4B5C-983C-D6901550F55E}" dt="2026-05-06T18:26:31.273" v="1875" actId="20577"/>
          <ac:spMkLst>
            <pc:docMk/>
            <pc:sldMk cId="3255228074" sldId="258"/>
            <ac:spMk id="2" creationId="{F9DD767C-9ECB-4A3B-9365-3005FC8A5225}"/>
          </ac:spMkLst>
        </pc:spChg>
      </pc:sldChg>
      <pc:sldChg chg="del">
        <pc:chgData name="Francis Agyapong" userId="51c72c91caf9729c" providerId="LiveId" clId="{0F261C1B-D74F-4B5C-983C-D6901550F55E}" dt="2026-05-06T18:29:41.091" v="1957" actId="47"/>
        <pc:sldMkLst>
          <pc:docMk/>
          <pc:sldMk cId="102270780" sldId="259"/>
        </pc:sldMkLst>
      </pc:sldChg>
      <pc:sldChg chg="modSp del mod">
        <pc:chgData name="Francis Agyapong" userId="51c72c91caf9729c" providerId="LiveId" clId="{0F261C1B-D74F-4B5C-983C-D6901550F55E}" dt="2026-05-06T18:38:36.426" v="2144" actId="47"/>
        <pc:sldMkLst>
          <pc:docMk/>
          <pc:sldMk cId="902795896" sldId="260"/>
        </pc:sldMkLst>
        <pc:spChg chg="mod">
          <ac:chgData name="Francis Agyapong" userId="51c72c91caf9729c" providerId="LiveId" clId="{0F261C1B-D74F-4B5C-983C-D6901550F55E}" dt="2026-05-06T18:37:02.475" v="2060" actId="21"/>
          <ac:spMkLst>
            <pc:docMk/>
            <pc:sldMk cId="902795896" sldId="260"/>
            <ac:spMk id="3" creationId="{192FD29E-9BD0-4A82-A46C-5F4131063805}"/>
          </ac:spMkLst>
        </pc:spChg>
      </pc:sldChg>
      <pc:sldChg chg="addSp delSp modSp mod">
        <pc:chgData name="Francis Agyapong" userId="51c72c91caf9729c" providerId="LiveId" clId="{0F261C1B-D74F-4B5C-983C-D6901550F55E}" dt="2026-05-06T18:31:35.963" v="1991" actId="20577"/>
        <pc:sldMkLst>
          <pc:docMk/>
          <pc:sldMk cId="2370404044" sldId="262"/>
        </pc:sldMkLst>
        <pc:spChg chg="mod">
          <ac:chgData name="Francis Agyapong" userId="51c72c91caf9729c" providerId="LiveId" clId="{0F261C1B-D74F-4B5C-983C-D6901550F55E}" dt="2026-05-06T18:31:35.963" v="1991" actId="20577"/>
          <ac:spMkLst>
            <pc:docMk/>
            <pc:sldMk cId="2370404044" sldId="262"/>
            <ac:spMk id="2" creationId="{57C0E06C-3CF9-4A22-B548-9C0C57ECA784}"/>
          </ac:spMkLst>
        </pc:spChg>
        <pc:spChg chg="del">
          <ac:chgData name="Francis Agyapong" userId="51c72c91caf9729c" providerId="LiveId" clId="{0F261C1B-D74F-4B5C-983C-D6901550F55E}" dt="2026-05-06T18:29:51.691" v="1959" actId="478"/>
          <ac:spMkLst>
            <pc:docMk/>
            <pc:sldMk cId="2370404044" sldId="262"/>
            <ac:spMk id="4" creationId="{A3E88B2D-FCB0-401D-A28C-96C7FE473DDA}"/>
          </ac:spMkLst>
        </pc:spChg>
        <pc:spChg chg="add del mod">
          <ac:chgData name="Francis Agyapong" userId="51c72c91caf9729c" providerId="LiveId" clId="{0F261C1B-D74F-4B5C-983C-D6901550F55E}" dt="2026-05-06T18:30:59.812" v="1963" actId="478"/>
          <ac:spMkLst>
            <pc:docMk/>
            <pc:sldMk cId="2370404044" sldId="262"/>
            <ac:spMk id="5" creationId="{9743336C-4648-4A85-9A7B-EF55001E2454}"/>
          </ac:spMkLst>
        </pc:spChg>
        <pc:picChg chg="mod modCrop">
          <ac:chgData name="Francis Agyapong" userId="51c72c91caf9729c" providerId="LiveId" clId="{0F261C1B-D74F-4B5C-983C-D6901550F55E}" dt="2026-05-06T18:31:13.080" v="1967" actId="1076"/>
          <ac:picMkLst>
            <pc:docMk/>
            <pc:sldMk cId="2370404044" sldId="262"/>
            <ac:picMk id="6" creationId="{C3B0AC71-6958-40A2-A314-0DDDBC658708}"/>
          </ac:picMkLst>
        </pc:picChg>
      </pc:sldChg>
      <pc:sldChg chg="del">
        <pc:chgData name="Francis Agyapong" userId="51c72c91caf9729c" providerId="LiveId" clId="{0F261C1B-D74F-4B5C-983C-D6901550F55E}" dt="2026-05-06T18:31:46.021" v="1992" actId="47"/>
        <pc:sldMkLst>
          <pc:docMk/>
          <pc:sldMk cId="2418477872" sldId="263"/>
        </pc:sldMkLst>
      </pc:sldChg>
      <pc:sldChg chg="modSp mod">
        <pc:chgData name="Francis Agyapong" userId="51c72c91caf9729c" providerId="LiveId" clId="{0F261C1B-D74F-4B5C-983C-D6901550F55E}" dt="2026-05-06T18:33:43.092" v="2054" actId="20577"/>
        <pc:sldMkLst>
          <pc:docMk/>
          <pc:sldMk cId="2727637435" sldId="265"/>
        </pc:sldMkLst>
        <pc:spChg chg="mod">
          <ac:chgData name="Francis Agyapong" userId="51c72c91caf9729c" providerId="LiveId" clId="{0F261C1B-D74F-4B5C-983C-D6901550F55E}" dt="2026-05-06T18:33:43.092" v="2054" actId="20577"/>
          <ac:spMkLst>
            <pc:docMk/>
            <pc:sldMk cId="2727637435" sldId="265"/>
            <ac:spMk id="2" creationId="{CB15E249-58BE-4357-A2AE-B548EDB0ED06}"/>
          </ac:spMkLst>
        </pc:spChg>
      </pc:sldChg>
      <pc:sldChg chg="del">
        <pc:chgData name="Francis Agyapong" userId="51c72c91caf9729c" providerId="LiveId" clId="{0F261C1B-D74F-4B5C-983C-D6901550F55E}" dt="2026-05-06T18:34:28.311" v="2056" actId="47"/>
        <pc:sldMkLst>
          <pc:docMk/>
          <pc:sldMk cId="1228997002" sldId="267"/>
        </pc:sldMkLst>
      </pc:sldChg>
      <pc:sldChg chg="modSp mod">
        <pc:chgData name="Francis Agyapong" userId="51c72c91caf9729c" providerId="LiveId" clId="{0F261C1B-D74F-4B5C-983C-D6901550F55E}" dt="2026-05-06T18:35:23.183" v="2059" actId="6549"/>
        <pc:sldMkLst>
          <pc:docMk/>
          <pc:sldMk cId="4077721347" sldId="268"/>
        </pc:sldMkLst>
        <pc:spChg chg="mod">
          <ac:chgData name="Francis Agyapong" userId="51c72c91caf9729c" providerId="LiveId" clId="{0F261C1B-D74F-4B5C-983C-D6901550F55E}" dt="2026-05-06T18:35:23.183" v="2059" actId="6549"/>
          <ac:spMkLst>
            <pc:docMk/>
            <pc:sldMk cId="4077721347" sldId="268"/>
            <ac:spMk id="3" creationId="{11461BFF-7E34-4C6B-851F-638232EDB626}"/>
          </ac:spMkLst>
        </pc:spChg>
      </pc:sldChg>
      <pc:sldChg chg="modSp mod">
        <pc:chgData name="Francis Agyapong" userId="51c72c91caf9729c" providerId="LiveId" clId="{0F261C1B-D74F-4B5C-983C-D6901550F55E}" dt="2026-05-07T06:06:38.425" v="2905" actId="20577"/>
        <pc:sldMkLst>
          <pc:docMk/>
          <pc:sldMk cId="3966071488" sldId="278"/>
        </pc:sldMkLst>
        <pc:spChg chg="mod">
          <ac:chgData name="Francis Agyapong" userId="51c72c91caf9729c" providerId="LiveId" clId="{0F261C1B-D74F-4B5C-983C-D6901550F55E}" dt="2026-05-07T06:06:38.425" v="2905" actId="20577"/>
          <ac:spMkLst>
            <pc:docMk/>
            <pc:sldMk cId="3966071488" sldId="278"/>
            <ac:spMk id="3" creationId="{C27A54D2-98BB-48DE-A876-80EE565B4363}"/>
          </ac:spMkLst>
        </pc:spChg>
      </pc:sldChg>
      <pc:sldChg chg="modSp add mod">
        <pc:chgData name="Francis Agyapong" userId="51c72c91caf9729c" providerId="LiveId" clId="{0F261C1B-D74F-4B5C-983C-D6901550F55E}" dt="2026-05-06T18:12:06.817" v="1376" actId="27636"/>
        <pc:sldMkLst>
          <pc:docMk/>
          <pc:sldMk cId="2420428059" sldId="288"/>
        </pc:sldMkLst>
        <pc:spChg chg="mod">
          <ac:chgData name="Francis Agyapong" userId="51c72c91caf9729c" providerId="LiveId" clId="{0F261C1B-D74F-4B5C-983C-D6901550F55E}" dt="2026-05-06T18:12:06.817" v="1376" actId="27636"/>
          <ac:spMkLst>
            <pc:docMk/>
            <pc:sldMk cId="2420428059" sldId="288"/>
            <ac:spMk id="3" creationId="{00000000-0000-0000-0000-000000000000}"/>
          </ac:spMkLst>
        </pc:spChg>
      </pc:sldChg>
      <pc:sldChg chg="modSp add mod ord">
        <pc:chgData name="Francis Agyapong" userId="51c72c91caf9729c" providerId="LiveId" clId="{0F261C1B-D74F-4B5C-983C-D6901550F55E}" dt="2026-05-06T18:07:18.407" v="1371"/>
        <pc:sldMkLst>
          <pc:docMk/>
          <pc:sldMk cId="1827969204" sldId="290"/>
        </pc:sldMkLst>
        <pc:spChg chg="mod">
          <ac:chgData name="Francis Agyapong" userId="51c72c91caf9729c" providerId="LiveId" clId="{0F261C1B-D74F-4B5C-983C-D6901550F55E}" dt="2026-05-06T17:45:13.874" v="579" actId="14100"/>
          <ac:spMkLst>
            <pc:docMk/>
            <pc:sldMk cId="1827969204" sldId="290"/>
            <ac:spMk id="3" creationId="{1A23D9F5-C117-0786-2303-54B020276CC3}"/>
          </ac:spMkLst>
        </pc:spChg>
      </pc:sldChg>
      <pc:sldChg chg="modSp add mod">
        <pc:chgData name="Francis Agyapong" userId="51c72c91caf9729c" providerId="LiveId" clId="{0F261C1B-D74F-4B5C-983C-D6901550F55E}" dt="2026-05-07T06:00:42.024" v="2871" actId="20577"/>
        <pc:sldMkLst>
          <pc:docMk/>
          <pc:sldMk cId="2665008712" sldId="291"/>
        </pc:sldMkLst>
        <pc:spChg chg="mod">
          <ac:chgData name="Francis Agyapong" userId="51c72c91caf9729c" providerId="LiveId" clId="{0F261C1B-D74F-4B5C-983C-D6901550F55E}" dt="2026-05-07T06:00:42.024" v="2871" actId="20577"/>
          <ac:spMkLst>
            <pc:docMk/>
            <pc:sldMk cId="2665008712" sldId="291"/>
            <ac:spMk id="3" creationId="{40324C01-DDC3-30E6-D12C-B42F54BE18B2}"/>
          </ac:spMkLst>
        </pc:spChg>
      </pc:sldChg>
      <pc:sldChg chg="modSp add mod">
        <pc:chgData name="Francis Agyapong" userId="51c72c91caf9729c" providerId="LiveId" clId="{0F261C1B-D74F-4B5C-983C-D6901550F55E}" dt="2026-05-06T18:12:29.482" v="1379" actId="14100"/>
        <pc:sldMkLst>
          <pc:docMk/>
          <pc:sldMk cId="793772704" sldId="292"/>
        </pc:sldMkLst>
        <pc:spChg chg="mod">
          <ac:chgData name="Francis Agyapong" userId="51c72c91caf9729c" providerId="LiveId" clId="{0F261C1B-D74F-4B5C-983C-D6901550F55E}" dt="2026-05-06T18:12:29.482" v="1379" actId="14100"/>
          <ac:spMkLst>
            <pc:docMk/>
            <pc:sldMk cId="793772704" sldId="292"/>
            <ac:spMk id="3" creationId="{9C2B5A72-CA26-E907-2372-9FA04A9C9667}"/>
          </ac:spMkLst>
        </pc:spChg>
      </pc:sldChg>
      <pc:sldChg chg="modSp add mod">
        <pc:chgData name="Francis Agyapong" userId="51c72c91caf9729c" providerId="LiveId" clId="{0F261C1B-D74F-4B5C-983C-D6901550F55E}" dt="2026-05-07T06:00:58.792" v="2873" actId="5793"/>
        <pc:sldMkLst>
          <pc:docMk/>
          <pc:sldMk cId="3120826816" sldId="293"/>
        </pc:sldMkLst>
        <pc:spChg chg="mod">
          <ac:chgData name="Francis Agyapong" userId="51c72c91caf9729c" providerId="LiveId" clId="{0F261C1B-D74F-4B5C-983C-D6901550F55E}" dt="2026-05-07T06:00:58.792" v="2873" actId="5793"/>
          <ac:spMkLst>
            <pc:docMk/>
            <pc:sldMk cId="3120826816" sldId="293"/>
            <ac:spMk id="3" creationId="{7C4B2A0A-E9D8-6EEC-3194-2C704E96DC96}"/>
          </ac:spMkLst>
        </pc:spChg>
      </pc:sldChg>
      <pc:sldChg chg="add">
        <pc:chgData name="Francis Agyapong" userId="51c72c91caf9729c" providerId="LiveId" clId="{0F261C1B-D74F-4B5C-983C-D6901550F55E}" dt="2026-05-06T17:43:53.231" v="526"/>
        <pc:sldMkLst>
          <pc:docMk/>
          <pc:sldMk cId="4186081243" sldId="294"/>
        </pc:sldMkLst>
      </pc:sldChg>
      <pc:sldChg chg="modSp add mod">
        <pc:chgData name="Francis Agyapong" userId="51c72c91caf9729c" providerId="LiveId" clId="{0F261C1B-D74F-4B5C-983C-D6901550F55E}" dt="2026-05-06T17:43:53.366" v="527" actId="27636"/>
        <pc:sldMkLst>
          <pc:docMk/>
          <pc:sldMk cId="3305572638" sldId="295"/>
        </pc:sldMkLst>
        <pc:spChg chg="mod">
          <ac:chgData name="Francis Agyapong" userId="51c72c91caf9729c" providerId="LiveId" clId="{0F261C1B-D74F-4B5C-983C-D6901550F55E}" dt="2026-05-06T17:43:53.366" v="527" actId="27636"/>
          <ac:spMkLst>
            <pc:docMk/>
            <pc:sldMk cId="3305572638" sldId="295"/>
            <ac:spMk id="3" creationId="{E3BC3968-F27C-BA8B-0342-4F8DEA909BB4}"/>
          </ac:spMkLst>
        </pc:spChg>
      </pc:sldChg>
      <pc:sldChg chg="add">
        <pc:chgData name="Francis Agyapong" userId="51c72c91caf9729c" providerId="LiveId" clId="{0F261C1B-D74F-4B5C-983C-D6901550F55E}" dt="2026-05-06T18:12:06.722" v="1372"/>
        <pc:sldMkLst>
          <pc:docMk/>
          <pc:sldMk cId="3315132800" sldId="298"/>
        </pc:sldMkLst>
      </pc:sldChg>
      <pc:sldChg chg="del">
        <pc:chgData name="Francis Agyapong" userId="51c72c91caf9729c" providerId="LiveId" clId="{0F261C1B-D74F-4B5C-983C-D6901550F55E}" dt="2026-05-06T18:39:32.925" v="2146" actId="47"/>
        <pc:sldMkLst>
          <pc:docMk/>
          <pc:sldMk cId="3870394897" sldId="306"/>
        </pc:sldMkLst>
      </pc:sldChg>
      <pc:sldChg chg="del">
        <pc:chgData name="Francis Agyapong" userId="51c72c91caf9729c" providerId="LiveId" clId="{0F261C1B-D74F-4B5C-983C-D6901550F55E}" dt="2026-05-06T18:41:17.273" v="2152" actId="47"/>
        <pc:sldMkLst>
          <pc:docMk/>
          <pc:sldMk cId="4095288360" sldId="308"/>
        </pc:sldMkLst>
      </pc:sldChg>
      <pc:sldChg chg="del">
        <pc:chgData name="Francis Agyapong" userId="51c72c91caf9729c" providerId="LiveId" clId="{0F261C1B-D74F-4B5C-983C-D6901550F55E}" dt="2026-05-06T18:41:21.245" v="2153" actId="47"/>
        <pc:sldMkLst>
          <pc:docMk/>
          <pc:sldMk cId="2934281013" sldId="309"/>
        </pc:sldMkLst>
      </pc:sldChg>
      <pc:sldChg chg="modSp mod">
        <pc:chgData name="Francis Agyapong" userId="51c72c91caf9729c" providerId="LiveId" clId="{0F261C1B-D74F-4B5C-983C-D6901550F55E}" dt="2026-05-06T18:45:28.155" v="2283" actId="27636"/>
        <pc:sldMkLst>
          <pc:docMk/>
          <pc:sldMk cId="2523097090" sldId="310"/>
        </pc:sldMkLst>
        <pc:spChg chg="mod">
          <ac:chgData name="Francis Agyapong" userId="51c72c91caf9729c" providerId="LiveId" clId="{0F261C1B-D74F-4B5C-983C-D6901550F55E}" dt="2026-05-06T18:44:14.382" v="2243"/>
          <ac:spMkLst>
            <pc:docMk/>
            <pc:sldMk cId="2523097090" sldId="310"/>
            <ac:spMk id="2" creationId="{3EAD44E0-5060-4D27-A36B-1F0C42435758}"/>
          </ac:spMkLst>
        </pc:spChg>
        <pc:spChg chg="mod">
          <ac:chgData name="Francis Agyapong" userId="51c72c91caf9729c" providerId="LiveId" clId="{0F261C1B-D74F-4B5C-983C-D6901550F55E}" dt="2026-05-06T18:45:28.155" v="2283" actId="27636"/>
          <ac:spMkLst>
            <pc:docMk/>
            <pc:sldMk cId="2523097090" sldId="310"/>
            <ac:spMk id="3" creationId="{05A74019-0A45-44A3-BFAC-876AEBEEE25B}"/>
          </ac:spMkLst>
        </pc:spChg>
      </pc:sldChg>
      <pc:sldChg chg="del">
        <pc:chgData name="Francis Agyapong" userId="51c72c91caf9729c" providerId="LiveId" clId="{0F261C1B-D74F-4B5C-983C-D6901550F55E}" dt="2026-05-06T18:46:28.578" v="2284" actId="47"/>
        <pc:sldMkLst>
          <pc:docMk/>
          <pc:sldMk cId="2450850879" sldId="311"/>
        </pc:sldMkLst>
      </pc:sldChg>
      <pc:sldChg chg="del">
        <pc:chgData name="Francis Agyapong" userId="51c72c91caf9729c" providerId="LiveId" clId="{0F261C1B-D74F-4B5C-983C-D6901550F55E}" dt="2026-05-06T18:46:33.841" v="2285" actId="47"/>
        <pc:sldMkLst>
          <pc:docMk/>
          <pc:sldMk cId="3920617171" sldId="312"/>
        </pc:sldMkLst>
      </pc:sldChg>
      <pc:sldChg chg="del">
        <pc:chgData name="Francis Agyapong" userId="51c72c91caf9729c" providerId="LiveId" clId="{0F261C1B-D74F-4B5C-983C-D6901550F55E}" dt="2026-05-06T18:46:36.762" v="2286" actId="47"/>
        <pc:sldMkLst>
          <pc:docMk/>
          <pc:sldMk cId="1758111320" sldId="313"/>
        </pc:sldMkLst>
      </pc:sldChg>
      <pc:sldChg chg="modSp add del mod">
        <pc:chgData name="Francis Agyapong" userId="51c72c91caf9729c" providerId="LiveId" clId="{0F261C1B-D74F-4B5C-983C-D6901550F55E}" dt="2026-05-06T18:13:11.389" v="1380" actId="47"/>
        <pc:sldMkLst>
          <pc:docMk/>
          <pc:sldMk cId="2309568669" sldId="314"/>
        </pc:sldMkLst>
        <pc:spChg chg="mod">
          <ac:chgData name="Francis Agyapong" userId="51c72c91caf9729c" providerId="LiveId" clId="{0F261C1B-D74F-4B5C-983C-D6901550F55E}" dt="2026-05-06T18:12:06.817" v="1377" actId="27636"/>
          <ac:spMkLst>
            <pc:docMk/>
            <pc:sldMk cId="2309568669" sldId="314"/>
            <ac:spMk id="2" creationId="{4600E0FE-85DB-4CE0-B30B-7FA1D47A3BC0}"/>
          </ac:spMkLst>
        </pc:spChg>
      </pc:sldChg>
      <pc:sldChg chg="modSp">
        <pc:chgData name="Francis Agyapong" userId="51c72c91caf9729c" providerId="LiveId" clId="{0F261C1B-D74F-4B5C-983C-D6901550F55E}" dt="2026-05-06T18:46:51.761" v="2287"/>
        <pc:sldMkLst>
          <pc:docMk/>
          <pc:sldMk cId="2934613415" sldId="315"/>
        </pc:sldMkLst>
        <pc:spChg chg="mod">
          <ac:chgData name="Francis Agyapong" userId="51c72c91caf9729c" providerId="LiveId" clId="{0F261C1B-D74F-4B5C-983C-D6901550F55E}" dt="2026-05-06T18:46:51.761" v="2287"/>
          <ac:spMkLst>
            <pc:docMk/>
            <pc:sldMk cId="2934613415" sldId="315"/>
            <ac:spMk id="2" creationId="{0D938E7B-6EAE-4F5C-8CDD-D6C1F2BA1FF1}"/>
          </ac:spMkLst>
        </pc:spChg>
      </pc:sldChg>
      <pc:sldChg chg="modSp">
        <pc:chgData name="Francis Agyapong" userId="51c72c91caf9729c" providerId="LiveId" clId="{0F261C1B-D74F-4B5C-983C-D6901550F55E}" dt="2026-05-06T18:47:09.625" v="2288"/>
        <pc:sldMkLst>
          <pc:docMk/>
          <pc:sldMk cId="1994506123" sldId="316"/>
        </pc:sldMkLst>
        <pc:spChg chg="mod">
          <ac:chgData name="Francis Agyapong" userId="51c72c91caf9729c" providerId="LiveId" clId="{0F261C1B-D74F-4B5C-983C-D6901550F55E}" dt="2026-05-06T18:47:09.625" v="2288"/>
          <ac:spMkLst>
            <pc:docMk/>
            <pc:sldMk cId="1994506123" sldId="316"/>
            <ac:spMk id="2" creationId="{2D55F756-FF96-44EB-BB8B-87FB44CFE299}"/>
          </ac:spMkLst>
        </pc:spChg>
      </pc:sldChg>
      <pc:sldChg chg="modSp">
        <pc:chgData name="Francis Agyapong" userId="51c72c91caf9729c" providerId="LiveId" clId="{0F261C1B-D74F-4B5C-983C-D6901550F55E}" dt="2026-05-06T18:50:19.418" v="2292"/>
        <pc:sldMkLst>
          <pc:docMk/>
          <pc:sldMk cId="3140697616" sldId="318"/>
        </pc:sldMkLst>
        <pc:spChg chg="mod">
          <ac:chgData name="Francis Agyapong" userId="51c72c91caf9729c" providerId="LiveId" clId="{0F261C1B-D74F-4B5C-983C-D6901550F55E}" dt="2026-05-06T18:50:19.418" v="2292"/>
          <ac:spMkLst>
            <pc:docMk/>
            <pc:sldMk cId="3140697616" sldId="318"/>
            <ac:spMk id="2" creationId="{BFA826F6-69D0-4BD7-BA74-94C9530FAADD}"/>
          </ac:spMkLst>
        </pc:spChg>
      </pc:sldChg>
      <pc:sldChg chg="del">
        <pc:chgData name="Francis Agyapong" userId="51c72c91caf9729c" providerId="LiveId" clId="{0F261C1B-D74F-4B5C-983C-D6901550F55E}" dt="2026-05-06T18:49:41.454" v="2291" actId="47"/>
        <pc:sldMkLst>
          <pc:docMk/>
          <pc:sldMk cId="3505579184" sldId="319"/>
        </pc:sldMkLst>
      </pc:sldChg>
      <pc:sldChg chg="del">
        <pc:chgData name="Francis Agyapong" userId="51c72c91caf9729c" providerId="LiveId" clId="{0F261C1B-D74F-4B5C-983C-D6901550F55E}" dt="2026-05-06T18:48:41.634" v="2290" actId="47"/>
        <pc:sldMkLst>
          <pc:docMk/>
          <pc:sldMk cId="4217070821" sldId="320"/>
        </pc:sldMkLst>
      </pc:sldChg>
      <pc:sldChg chg="del">
        <pc:chgData name="Francis Agyapong" userId="51c72c91caf9729c" providerId="LiveId" clId="{0F261C1B-D74F-4B5C-983C-D6901550F55E}" dt="2026-05-06T18:48:24.877" v="2289" actId="47"/>
        <pc:sldMkLst>
          <pc:docMk/>
          <pc:sldMk cId="4104438382" sldId="321"/>
        </pc:sldMkLst>
      </pc:sldChg>
      <pc:sldChg chg="add">
        <pc:chgData name="Francis Agyapong" userId="51c72c91caf9729c" providerId="LiveId" clId="{0F261C1B-D74F-4B5C-983C-D6901550F55E}" dt="2026-05-06T18:12:06.722" v="1372"/>
        <pc:sldMkLst>
          <pc:docMk/>
          <pc:sldMk cId="3057531969" sldId="325"/>
        </pc:sldMkLst>
      </pc:sldChg>
      <pc:sldChg chg="modSp mod">
        <pc:chgData name="Francis Agyapong" userId="51c72c91caf9729c" providerId="LiveId" clId="{0F261C1B-D74F-4B5C-983C-D6901550F55E}" dt="2026-05-07T06:10:11.062" v="2907" actId="1076"/>
        <pc:sldMkLst>
          <pc:docMk/>
          <pc:sldMk cId="3575883074" sldId="327"/>
        </pc:sldMkLst>
        <pc:spChg chg="mod">
          <ac:chgData name="Francis Agyapong" userId="51c72c91caf9729c" providerId="LiveId" clId="{0F261C1B-D74F-4B5C-983C-D6901550F55E}" dt="2026-05-07T06:10:02.710" v="2906" actId="6549"/>
          <ac:spMkLst>
            <pc:docMk/>
            <pc:sldMk cId="3575883074" sldId="327"/>
            <ac:spMk id="2" creationId="{8CE95331-C560-4EE2-A22D-1A0EFD7B837B}"/>
          </ac:spMkLst>
        </pc:spChg>
        <pc:spChg chg="mod">
          <ac:chgData name="Francis Agyapong" userId="51c72c91caf9729c" providerId="LiveId" clId="{0F261C1B-D74F-4B5C-983C-D6901550F55E}" dt="2026-05-07T06:10:11.062" v="2907" actId="1076"/>
          <ac:spMkLst>
            <pc:docMk/>
            <pc:sldMk cId="3575883074" sldId="327"/>
            <ac:spMk id="3" creationId="{C5B623E7-4747-4D80-BA62-E063D48772BF}"/>
          </ac:spMkLst>
        </pc:spChg>
      </pc:sldChg>
      <pc:sldChg chg="del">
        <pc:chgData name="Francis Agyapong" userId="51c72c91caf9729c" providerId="LiveId" clId="{0F261C1B-D74F-4B5C-983C-D6901550F55E}" dt="2026-05-06T18:50:36.962" v="2293" actId="47"/>
        <pc:sldMkLst>
          <pc:docMk/>
          <pc:sldMk cId="403396399" sldId="328"/>
        </pc:sldMkLst>
      </pc:sldChg>
      <pc:sldChg chg="del">
        <pc:chgData name="Francis Agyapong" userId="51c72c91caf9729c" providerId="LiveId" clId="{0F261C1B-D74F-4B5C-983C-D6901550F55E}" dt="2026-05-06T18:50:45.649" v="2295" actId="47"/>
        <pc:sldMkLst>
          <pc:docMk/>
          <pc:sldMk cId="822243357" sldId="329"/>
        </pc:sldMkLst>
      </pc:sldChg>
      <pc:sldChg chg="modSp mod">
        <pc:chgData name="Francis Agyapong" userId="51c72c91caf9729c" providerId="LiveId" clId="{0F261C1B-D74F-4B5C-983C-D6901550F55E}" dt="2026-05-06T19:03:14.960" v="2751" actId="6549"/>
        <pc:sldMkLst>
          <pc:docMk/>
          <pc:sldMk cId="1853808064" sldId="330"/>
        </pc:sldMkLst>
        <pc:spChg chg="mod">
          <ac:chgData name="Francis Agyapong" userId="51c72c91caf9729c" providerId="LiveId" clId="{0F261C1B-D74F-4B5C-983C-D6901550F55E}" dt="2026-05-06T19:03:14.960" v="2751" actId="6549"/>
          <ac:spMkLst>
            <pc:docMk/>
            <pc:sldMk cId="1853808064" sldId="330"/>
            <ac:spMk id="3" creationId="{00164A83-F5AD-4C93-92E3-1F8E6C389200}"/>
          </ac:spMkLst>
        </pc:spChg>
      </pc:sldChg>
      <pc:sldChg chg="modSp mod">
        <pc:chgData name="Francis Agyapong" userId="51c72c91caf9729c" providerId="LiveId" clId="{0F261C1B-D74F-4B5C-983C-D6901550F55E}" dt="2026-05-06T19:04:01.270" v="2753" actId="27636"/>
        <pc:sldMkLst>
          <pc:docMk/>
          <pc:sldMk cId="218997137" sldId="335"/>
        </pc:sldMkLst>
        <pc:spChg chg="mod">
          <ac:chgData name="Francis Agyapong" userId="51c72c91caf9729c" providerId="LiveId" clId="{0F261C1B-D74F-4B5C-983C-D6901550F55E}" dt="2026-05-06T19:04:01.270" v="2753" actId="27636"/>
          <ac:spMkLst>
            <pc:docMk/>
            <pc:sldMk cId="218997137" sldId="335"/>
            <ac:spMk id="3" creationId="{E45B0E23-BB0A-4DE1-ADD1-0591D944680E}"/>
          </ac:spMkLst>
        </pc:spChg>
      </pc:sldChg>
      <pc:sldChg chg="modSp mod">
        <pc:chgData name="Francis Agyapong" userId="51c72c91caf9729c" providerId="LiveId" clId="{0F261C1B-D74F-4B5C-983C-D6901550F55E}" dt="2026-05-06T19:04:57.831" v="2757" actId="20577"/>
        <pc:sldMkLst>
          <pc:docMk/>
          <pc:sldMk cId="806997196" sldId="338"/>
        </pc:sldMkLst>
        <pc:spChg chg="mod">
          <ac:chgData name="Francis Agyapong" userId="51c72c91caf9729c" providerId="LiveId" clId="{0F261C1B-D74F-4B5C-983C-D6901550F55E}" dt="2026-05-06T19:04:57.831" v="2757" actId="20577"/>
          <ac:spMkLst>
            <pc:docMk/>
            <pc:sldMk cId="806997196" sldId="338"/>
            <ac:spMk id="3" creationId="{E2F98539-5FF6-4657-B61E-90DD06338F21}"/>
          </ac:spMkLst>
        </pc:spChg>
      </pc:sldChg>
      <pc:sldChg chg="modSp mod">
        <pc:chgData name="Francis Agyapong" userId="51c72c91caf9729c" providerId="LiveId" clId="{0F261C1B-D74F-4B5C-983C-D6901550F55E}" dt="2026-05-06T18:52:58.907" v="2619"/>
        <pc:sldMkLst>
          <pc:docMk/>
          <pc:sldMk cId="1416901184" sldId="341"/>
        </pc:sldMkLst>
        <pc:spChg chg="mod">
          <ac:chgData name="Francis Agyapong" userId="51c72c91caf9729c" providerId="LiveId" clId="{0F261C1B-D74F-4B5C-983C-D6901550F55E}" dt="2026-05-06T18:52:58.907" v="2619"/>
          <ac:spMkLst>
            <pc:docMk/>
            <pc:sldMk cId="1416901184" sldId="341"/>
            <ac:spMk id="2" creationId="{AF126E8D-DB62-49C3-91E4-B8B6A347AF92}"/>
          </ac:spMkLst>
        </pc:spChg>
        <pc:spChg chg="mod">
          <ac:chgData name="Francis Agyapong" userId="51c72c91caf9729c" providerId="LiveId" clId="{0F261C1B-D74F-4B5C-983C-D6901550F55E}" dt="2026-05-06T18:52:18.023" v="2617" actId="5793"/>
          <ac:spMkLst>
            <pc:docMk/>
            <pc:sldMk cId="1416901184" sldId="341"/>
            <ac:spMk id="3" creationId="{33D14D42-3CF5-45B3-B787-380B716B183C}"/>
          </ac:spMkLst>
        </pc:spChg>
      </pc:sldChg>
      <pc:sldChg chg="modSp">
        <pc:chgData name="Francis Agyapong" userId="51c72c91caf9729c" providerId="LiveId" clId="{0F261C1B-D74F-4B5C-983C-D6901550F55E}" dt="2026-05-06T18:52:51.483" v="2618"/>
        <pc:sldMkLst>
          <pc:docMk/>
          <pc:sldMk cId="2104567900" sldId="342"/>
        </pc:sldMkLst>
        <pc:spChg chg="mod">
          <ac:chgData name="Francis Agyapong" userId="51c72c91caf9729c" providerId="LiveId" clId="{0F261C1B-D74F-4B5C-983C-D6901550F55E}" dt="2026-05-06T18:52:51.483" v="2618"/>
          <ac:spMkLst>
            <pc:docMk/>
            <pc:sldMk cId="2104567900" sldId="342"/>
            <ac:spMk id="2" creationId="{AFB2CBDB-9023-47AB-AFF4-125575892746}"/>
          </ac:spMkLst>
        </pc:spChg>
      </pc:sldChg>
      <pc:sldChg chg="modSp">
        <pc:chgData name="Francis Agyapong" userId="51c72c91caf9729c" providerId="LiveId" clId="{0F261C1B-D74F-4B5C-983C-D6901550F55E}" dt="2026-05-06T18:53:52.448" v="2621"/>
        <pc:sldMkLst>
          <pc:docMk/>
          <pc:sldMk cId="273202968" sldId="343"/>
        </pc:sldMkLst>
        <pc:spChg chg="mod">
          <ac:chgData name="Francis Agyapong" userId="51c72c91caf9729c" providerId="LiveId" clId="{0F261C1B-D74F-4B5C-983C-D6901550F55E}" dt="2026-05-06T18:53:52.448" v="2621"/>
          <ac:spMkLst>
            <pc:docMk/>
            <pc:sldMk cId="273202968" sldId="343"/>
            <ac:spMk id="2" creationId="{F3C5CDF5-FE10-4F43-B91F-9E5E72367DCA}"/>
          </ac:spMkLst>
        </pc:spChg>
      </pc:sldChg>
      <pc:sldChg chg="modSp">
        <pc:chgData name="Francis Agyapong" userId="51c72c91caf9729c" providerId="LiveId" clId="{0F261C1B-D74F-4B5C-983C-D6901550F55E}" dt="2026-05-06T18:54:20.614" v="2625"/>
        <pc:sldMkLst>
          <pc:docMk/>
          <pc:sldMk cId="1625159716" sldId="344"/>
        </pc:sldMkLst>
        <pc:spChg chg="mod">
          <ac:chgData name="Francis Agyapong" userId="51c72c91caf9729c" providerId="LiveId" clId="{0F261C1B-D74F-4B5C-983C-D6901550F55E}" dt="2026-05-06T18:54:20.614" v="2625"/>
          <ac:spMkLst>
            <pc:docMk/>
            <pc:sldMk cId="1625159716" sldId="344"/>
            <ac:spMk id="2" creationId="{A1499D00-9F61-40D6-8F2C-AF6FA070174F}"/>
          </ac:spMkLst>
        </pc:spChg>
      </pc:sldChg>
      <pc:sldChg chg="modSp del mod">
        <pc:chgData name="Francis Agyapong" userId="51c72c91caf9729c" providerId="LiveId" clId="{0F261C1B-D74F-4B5C-983C-D6901550F55E}" dt="2026-05-06T18:57:20.605" v="2652" actId="47"/>
        <pc:sldMkLst>
          <pc:docMk/>
          <pc:sldMk cId="2329421676" sldId="347"/>
        </pc:sldMkLst>
        <pc:spChg chg="mod">
          <ac:chgData name="Francis Agyapong" userId="51c72c91caf9729c" providerId="LiveId" clId="{0F261C1B-D74F-4B5C-983C-D6901550F55E}" dt="2026-05-06T18:55:33.873" v="2627" actId="20577"/>
          <ac:spMkLst>
            <pc:docMk/>
            <pc:sldMk cId="2329421676" sldId="347"/>
            <ac:spMk id="3" creationId="{42F601C9-F0B2-40D8-8461-C7B4AFE218AE}"/>
          </ac:spMkLst>
        </pc:spChg>
      </pc:sldChg>
      <pc:sldChg chg="modSp mod">
        <pc:chgData name="Francis Agyapong" userId="51c72c91caf9729c" providerId="LiveId" clId="{0F261C1B-D74F-4B5C-983C-D6901550F55E}" dt="2026-05-06T18:57:03.257" v="2651"/>
        <pc:sldMkLst>
          <pc:docMk/>
          <pc:sldMk cId="1027172114" sldId="348"/>
        </pc:sldMkLst>
        <pc:spChg chg="mod">
          <ac:chgData name="Francis Agyapong" userId="51c72c91caf9729c" providerId="LiveId" clId="{0F261C1B-D74F-4B5C-983C-D6901550F55E}" dt="2026-05-06T18:57:03.257" v="2651"/>
          <ac:spMkLst>
            <pc:docMk/>
            <pc:sldMk cId="1027172114" sldId="348"/>
            <ac:spMk id="2" creationId="{DA49566D-4E3B-42A4-A39E-E5C767AACB9E}"/>
          </ac:spMkLst>
        </pc:spChg>
        <pc:spChg chg="mod">
          <ac:chgData name="Francis Agyapong" userId="51c72c91caf9729c" providerId="LiveId" clId="{0F261C1B-D74F-4B5C-983C-D6901550F55E}" dt="2026-05-06T18:56:48.922" v="2650" actId="20577"/>
          <ac:spMkLst>
            <pc:docMk/>
            <pc:sldMk cId="1027172114" sldId="348"/>
            <ac:spMk id="3" creationId="{8F44376A-BFD7-4EFE-9924-45455CE1871F}"/>
          </ac:spMkLst>
        </pc:spChg>
      </pc:sldChg>
      <pc:sldChg chg="del">
        <pc:chgData name="Francis Agyapong" userId="51c72c91caf9729c" providerId="LiveId" clId="{0F261C1B-D74F-4B5C-983C-D6901550F55E}" dt="2026-05-06T18:57:32.523" v="2653" actId="47"/>
        <pc:sldMkLst>
          <pc:docMk/>
          <pc:sldMk cId="3935095202" sldId="350"/>
        </pc:sldMkLst>
      </pc:sldChg>
      <pc:sldChg chg="modSp mod modShow">
        <pc:chgData name="Francis Agyapong" userId="51c72c91caf9729c" providerId="LiveId" clId="{0F261C1B-D74F-4B5C-983C-D6901550F55E}" dt="2026-05-07T06:13:38.677" v="2908" actId="729"/>
        <pc:sldMkLst>
          <pc:docMk/>
          <pc:sldMk cId="3318596955" sldId="353"/>
        </pc:sldMkLst>
        <pc:picChg chg="mod">
          <ac:chgData name="Francis Agyapong" userId="51c72c91caf9729c" providerId="LiveId" clId="{0F261C1B-D74F-4B5C-983C-D6901550F55E}" dt="2026-05-06T18:58:31.144" v="2660" actId="1076"/>
          <ac:picMkLst>
            <pc:docMk/>
            <pc:sldMk cId="3318596955" sldId="353"/>
            <ac:picMk id="5" creationId="{EE14254B-6058-4BD8-9E9E-0784E3A9CAFE}"/>
          </ac:picMkLst>
        </pc:picChg>
      </pc:sldChg>
      <pc:sldChg chg="modSp mod">
        <pc:chgData name="Francis Agyapong" userId="51c72c91caf9729c" providerId="LiveId" clId="{0F261C1B-D74F-4B5C-983C-D6901550F55E}" dt="2026-05-06T18:59:04.902" v="2666" actId="27636"/>
        <pc:sldMkLst>
          <pc:docMk/>
          <pc:sldMk cId="3854946952" sldId="354"/>
        </pc:sldMkLst>
        <pc:spChg chg="mod">
          <ac:chgData name="Francis Agyapong" userId="51c72c91caf9729c" providerId="LiveId" clId="{0F261C1B-D74F-4B5C-983C-D6901550F55E}" dt="2026-05-06T18:59:04.902" v="2666" actId="27636"/>
          <ac:spMkLst>
            <pc:docMk/>
            <pc:sldMk cId="3854946952" sldId="354"/>
            <ac:spMk id="3" creationId="{C035ACFB-1F95-4E54-924C-5FCD285C0D28}"/>
          </ac:spMkLst>
        </pc:spChg>
      </pc:sldChg>
      <pc:sldChg chg="del">
        <pc:chgData name="Francis Agyapong" userId="51c72c91caf9729c" providerId="LiveId" clId="{0F261C1B-D74F-4B5C-983C-D6901550F55E}" dt="2026-05-06T18:59:29.303" v="2668" actId="47"/>
        <pc:sldMkLst>
          <pc:docMk/>
          <pc:sldMk cId="4234608254" sldId="356"/>
        </pc:sldMkLst>
      </pc:sldChg>
      <pc:sldChg chg="modSp">
        <pc:chgData name="Francis Agyapong" userId="51c72c91caf9729c" providerId="LiveId" clId="{0F261C1B-D74F-4B5C-983C-D6901550F55E}" dt="2026-05-06T18:59:23.415" v="2667"/>
        <pc:sldMkLst>
          <pc:docMk/>
          <pc:sldMk cId="2152559986" sldId="357"/>
        </pc:sldMkLst>
        <pc:spChg chg="mod">
          <ac:chgData name="Francis Agyapong" userId="51c72c91caf9729c" providerId="LiveId" clId="{0F261C1B-D74F-4B5C-983C-D6901550F55E}" dt="2026-05-06T18:59:23.415" v="2667"/>
          <ac:spMkLst>
            <pc:docMk/>
            <pc:sldMk cId="2152559986" sldId="357"/>
            <ac:spMk id="2" creationId="{012474A2-FA14-4F5F-837E-369DB03077F2}"/>
          </ac:spMkLst>
        </pc:spChg>
      </pc:sldChg>
      <pc:sldChg chg="modSp">
        <pc:chgData name="Francis Agyapong" userId="51c72c91caf9729c" providerId="LiveId" clId="{0F261C1B-D74F-4B5C-983C-D6901550F55E}" dt="2026-05-06T19:01:08.879" v="2684"/>
        <pc:sldMkLst>
          <pc:docMk/>
          <pc:sldMk cId="2079133634" sldId="358"/>
        </pc:sldMkLst>
        <pc:spChg chg="mod">
          <ac:chgData name="Francis Agyapong" userId="51c72c91caf9729c" providerId="LiveId" clId="{0F261C1B-D74F-4B5C-983C-D6901550F55E}" dt="2026-05-06T19:01:08.879" v="2684"/>
          <ac:spMkLst>
            <pc:docMk/>
            <pc:sldMk cId="2079133634" sldId="358"/>
            <ac:spMk id="2" creationId="{59D28A97-579A-4B2F-91F3-9D0CEDFA7CAF}"/>
          </ac:spMkLst>
        </pc:spChg>
      </pc:sldChg>
      <pc:sldChg chg="modSp">
        <pc:chgData name="Francis Agyapong" userId="51c72c91caf9729c" providerId="LiveId" clId="{0F261C1B-D74F-4B5C-983C-D6901550F55E}" dt="2026-05-06T19:01:01.672" v="2683"/>
        <pc:sldMkLst>
          <pc:docMk/>
          <pc:sldMk cId="3032377257" sldId="360"/>
        </pc:sldMkLst>
        <pc:spChg chg="mod">
          <ac:chgData name="Francis Agyapong" userId="51c72c91caf9729c" providerId="LiveId" clId="{0F261C1B-D74F-4B5C-983C-D6901550F55E}" dt="2026-05-06T19:01:01.672" v="2683"/>
          <ac:spMkLst>
            <pc:docMk/>
            <pc:sldMk cId="3032377257" sldId="360"/>
            <ac:spMk id="2" creationId="{02FC80D0-C380-414A-B593-9F9191C4CDE6}"/>
          </ac:spMkLst>
        </pc:spChg>
      </pc:sldChg>
      <pc:sldChg chg="modSp">
        <pc:chgData name="Francis Agyapong" userId="51c72c91caf9729c" providerId="LiveId" clId="{0F261C1B-D74F-4B5C-983C-D6901550F55E}" dt="2026-05-06T19:00:54.283" v="2682"/>
        <pc:sldMkLst>
          <pc:docMk/>
          <pc:sldMk cId="3918742180" sldId="361"/>
        </pc:sldMkLst>
        <pc:spChg chg="mod">
          <ac:chgData name="Francis Agyapong" userId="51c72c91caf9729c" providerId="LiveId" clId="{0F261C1B-D74F-4B5C-983C-D6901550F55E}" dt="2026-05-06T19:00:54.283" v="2682"/>
          <ac:spMkLst>
            <pc:docMk/>
            <pc:sldMk cId="3918742180" sldId="361"/>
            <ac:spMk id="2" creationId="{50D9F867-CF34-4514-ADFF-A9245D97997F}"/>
          </ac:spMkLst>
        </pc:spChg>
      </pc:sldChg>
      <pc:sldChg chg="modSp">
        <pc:chgData name="Francis Agyapong" userId="51c72c91caf9729c" providerId="LiveId" clId="{0F261C1B-D74F-4B5C-983C-D6901550F55E}" dt="2026-05-06T19:00:36.381" v="2680"/>
        <pc:sldMkLst>
          <pc:docMk/>
          <pc:sldMk cId="3101952579" sldId="362"/>
        </pc:sldMkLst>
        <pc:spChg chg="mod">
          <ac:chgData name="Francis Agyapong" userId="51c72c91caf9729c" providerId="LiveId" clId="{0F261C1B-D74F-4B5C-983C-D6901550F55E}" dt="2026-05-06T19:00:36.381" v="2680"/>
          <ac:spMkLst>
            <pc:docMk/>
            <pc:sldMk cId="3101952579" sldId="362"/>
            <ac:spMk id="2" creationId="{0B98AB97-6CCF-458B-B323-5EBA82C3CFB7}"/>
          </ac:spMkLst>
        </pc:spChg>
      </pc:sldChg>
      <pc:sldChg chg="modSp">
        <pc:chgData name="Francis Agyapong" userId="51c72c91caf9729c" providerId="LiveId" clId="{0F261C1B-D74F-4B5C-983C-D6901550F55E}" dt="2026-05-06T19:00:45.497" v="2681"/>
        <pc:sldMkLst>
          <pc:docMk/>
          <pc:sldMk cId="712462263" sldId="363"/>
        </pc:sldMkLst>
        <pc:spChg chg="mod">
          <ac:chgData name="Francis Agyapong" userId="51c72c91caf9729c" providerId="LiveId" clId="{0F261C1B-D74F-4B5C-983C-D6901550F55E}" dt="2026-05-06T19:00:45.497" v="2681"/>
          <ac:spMkLst>
            <pc:docMk/>
            <pc:sldMk cId="712462263" sldId="363"/>
            <ac:spMk id="2" creationId="{48390368-A24C-44B7-9BA0-2CFD4AB00D3A}"/>
          </ac:spMkLst>
        </pc:spChg>
      </pc:sldChg>
      <pc:sldChg chg="modSp mod">
        <pc:chgData name="Francis Agyapong" userId="51c72c91caf9729c" providerId="LiveId" clId="{0F261C1B-D74F-4B5C-983C-D6901550F55E}" dt="2026-05-06T19:00:22.975" v="2679" actId="20577"/>
        <pc:sldMkLst>
          <pc:docMk/>
          <pc:sldMk cId="163650739" sldId="364"/>
        </pc:sldMkLst>
        <pc:spChg chg="mod">
          <ac:chgData name="Francis Agyapong" userId="51c72c91caf9729c" providerId="LiveId" clId="{0F261C1B-D74F-4B5C-983C-D6901550F55E}" dt="2026-05-06T19:00:22.975" v="2679" actId="20577"/>
          <ac:spMkLst>
            <pc:docMk/>
            <pc:sldMk cId="163650739" sldId="364"/>
            <ac:spMk id="2" creationId="{F37B6BA2-C0B7-4A30-B40F-ED4CDB31FF76}"/>
          </ac:spMkLst>
        </pc:spChg>
        <pc:spChg chg="mod">
          <ac:chgData name="Francis Agyapong" userId="51c72c91caf9729c" providerId="LiveId" clId="{0F261C1B-D74F-4B5C-983C-D6901550F55E}" dt="2026-05-06T19:00:09.763" v="2675" actId="20577"/>
          <ac:spMkLst>
            <pc:docMk/>
            <pc:sldMk cId="163650739" sldId="364"/>
            <ac:spMk id="4" creationId="{77406F4C-D016-4BB7-96BA-D3889F002166}"/>
          </ac:spMkLst>
        </pc:spChg>
      </pc:sldChg>
      <pc:sldChg chg="modSp mod">
        <pc:chgData name="Francis Agyapong" userId="51c72c91caf9729c" providerId="LiveId" clId="{0F261C1B-D74F-4B5C-983C-D6901550F55E}" dt="2026-05-06T19:01:31.713" v="2685" actId="6549"/>
        <pc:sldMkLst>
          <pc:docMk/>
          <pc:sldMk cId="3057733470" sldId="367"/>
        </pc:sldMkLst>
        <pc:spChg chg="mod">
          <ac:chgData name="Francis Agyapong" userId="51c72c91caf9729c" providerId="LiveId" clId="{0F261C1B-D74F-4B5C-983C-D6901550F55E}" dt="2026-05-06T19:01:31.713" v="2685" actId="6549"/>
          <ac:spMkLst>
            <pc:docMk/>
            <pc:sldMk cId="3057733470" sldId="367"/>
            <ac:spMk id="3" creationId="{99542BF2-6566-4D99-A49D-7E48F4191309}"/>
          </ac:spMkLst>
        </pc:spChg>
      </pc:sldChg>
      <pc:sldChg chg="modSp mod">
        <pc:chgData name="Francis Agyapong" userId="51c72c91caf9729c" providerId="LiveId" clId="{0F261C1B-D74F-4B5C-983C-D6901550F55E}" dt="2026-05-06T19:02:37.410" v="2749" actId="20577"/>
        <pc:sldMkLst>
          <pc:docMk/>
          <pc:sldMk cId="3928334413" sldId="368"/>
        </pc:sldMkLst>
        <pc:spChg chg="mod">
          <ac:chgData name="Francis Agyapong" userId="51c72c91caf9729c" providerId="LiveId" clId="{0F261C1B-D74F-4B5C-983C-D6901550F55E}" dt="2026-05-06T19:02:37.410" v="2749" actId="20577"/>
          <ac:spMkLst>
            <pc:docMk/>
            <pc:sldMk cId="3928334413" sldId="368"/>
            <ac:spMk id="3" creationId="{7C8855E1-257B-4626-AE02-71431A07D40F}"/>
          </ac:spMkLst>
        </pc:spChg>
      </pc:sldChg>
      <pc:sldChg chg="modSp del mod">
        <pc:chgData name="Francis Agyapong" userId="51c72c91caf9729c" providerId="LiveId" clId="{0F261C1B-D74F-4B5C-983C-D6901550F55E}" dt="2026-05-06T19:02:43.569" v="2750" actId="47"/>
        <pc:sldMkLst>
          <pc:docMk/>
          <pc:sldMk cId="4204547214" sldId="370"/>
        </pc:sldMkLst>
        <pc:spChg chg="mod">
          <ac:chgData name="Francis Agyapong" userId="51c72c91caf9729c" providerId="LiveId" clId="{0F261C1B-D74F-4B5C-983C-D6901550F55E}" dt="2026-05-06T19:02:29.779" v="2746" actId="21"/>
          <ac:spMkLst>
            <pc:docMk/>
            <pc:sldMk cId="4204547214" sldId="370"/>
            <ac:spMk id="3" creationId="{DF18301B-2A6A-417B-B9D0-E7EA6EA2E963}"/>
          </ac:spMkLst>
        </pc:spChg>
      </pc:sldChg>
      <pc:sldChg chg="modSp mod">
        <pc:chgData name="Francis Agyapong" userId="51c72c91caf9729c" providerId="LiveId" clId="{0F261C1B-D74F-4B5C-983C-D6901550F55E}" dt="2026-05-06T18:14:25.508" v="1447" actId="20577"/>
        <pc:sldMkLst>
          <pc:docMk/>
          <pc:sldMk cId="2565176417" sldId="374"/>
        </pc:sldMkLst>
        <pc:spChg chg="mod">
          <ac:chgData name="Francis Agyapong" userId="51c72c91caf9729c" providerId="LiveId" clId="{0F261C1B-D74F-4B5C-983C-D6901550F55E}" dt="2026-05-06T17:29:23.298" v="100" actId="20577"/>
          <ac:spMkLst>
            <pc:docMk/>
            <pc:sldMk cId="2565176417" sldId="374"/>
            <ac:spMk id="2" creationId="{65113E89-A4D7-7DA6-B47F-90FFD81EEA0A}"/>
          </ac:spMkLst>
        </pc:spChg>
        <pc:spChg chg="mod">
          <ac:chgData name="Francis Agyapong" userId="51c72c91caf9729c" providerId="LiveId" clId="{0F261C1B-D74F-4B5C-983C-D6901550F55E}" dt="2026-05-06T18:14:25.508" v="1447" actId="20577"/>
          <ac:spMkLst>
            <pc:docMk/>
            <pc:sldMk cId="2565176417" sldId="374"/>
            <ac:spMk id="3" creationId="{996CF939-8B98-C9D5-626D-7447C95EBFB6}"/>
          </ac:spMkLst>
        </pc:spChg>
      </pc:sldChg>
      <pc:sldChg chg="del">
        <pc:chgData name="Francis Agyapong" userId="51c72c91caf9729c" providerId="LiveId" clId="{0F261C1B-D74F-4B5C-983C-D6901550F55E}" dt="2026-05-06T18:38:41.977" v="2145" actId="47"/>
        <pc:sldMkLst>
          <pc:docMk/>
          <pc:sldMk cId="507542931" sldId="375"/>
        </pc:sldMkLst>
      </pc:sldChg>
      <pc:sldChg chg="addSp delSp modSp mod">
        <pc:chgData name="Francis Agyapong" userId="51c72c91caf9729c" providerId="LiveId" clId="{0F261C1B-D74F-4B5C-983C-D6901550F55E}" dt="2026-05-06T18:30:28.128" v="1962" actId="14100"/>
        <pc:sldMkLst>
          <pc:docMk/>
          <pc:sldMk cId="3142765244" sldId="376"/>
        </pc:sldMkLst>
        <pc:spChg chg="mod">
          <ac:chgData name="Francis Agyapong" userId="51c72c91caf9729c" providerId="LiveId" clId="{0F261C1B-D74F-4B5C-983C-D6901550F55E}" dt="2026-05-06T18:29:06.295" v="1955" actId="5793"/>
          <ac:spMkLst>
            <pc:docMk/>
            <pc:sldMk cId="3142765244" sldId="376"/>
            <ac:spMk id="2" creationId="{05DB186C-13BB-A86D-A0A4-1FC1A1AC1CF0}"/>
          </ac:spMkLst>
        </pc:spChg>
        <pc:spChg chg="del mod">
          <ac:chgData name="Francis Agyapong" userId="51c72c91caf9729c" providerId="LiveId" clId="{0F261C1B-D74F-4B5C-983C-D6901550F55E}" dt="2026-05-06T18:28:33.423" v="1931"/>
          <ac:spMkLst>
            <pc:docMk/>
            <pc:sldMk cId="3142765244" sldId="376"/>
            <ac:spMk id="3" creationId="{61D15051-C9F6-D999-AB08-80388A692E06}"/>
          </ac:spMkLst>
        </pc:spChg>
        <pc:picChg chg="add mod">
          <ac:chgData name="Francis Agyapong" userId="51c72c91caf9729c" providerId="LiveId" clId="{0F261C1B-D74F-4B5C-983C-D6901550F55E}" dt="2026-05-06T18:28:50.883" v="1936" actId="14100"/>
          <ac:picMkLst>
            <pc:docMk/>
            <pc:sldMk cId="3142765244" sldId="376"/>
            <ac:picMk id="4" creationId="{1362E631-D2FC-A4EA-10DB-3EEFF4119819}"/>
          </ac:picMkLst>
        </pc:picChg>
        <pc:picChg chg="mod">
          <ac:chgData name="Francis Agyapong" userId="51c72c91caf9729c" providerId="LiveId" clId="{0F261C1B-D74F-4B5C-983C-D6901550F55E}" dt="2026-05-06T18:30:28.128" v="1962" actId="14100"/>
          <ac:picMkLst>
            <pc:docMk/>
            <pc:sldMk cId="3142765244" sldId="376"/>
            <ac:picMk id="1026" creationId="{B422E8B1-F55F-9C3C-6EFE-8AEE4153E3A3}"/>
          </ac:picMkLst>
        </pc:picChg>
      </pc:sldChg>
      <pc:sldChg chg="del">
        <pc:chgData name="Francis Agyapong" userId="51c72c91caf9729c" providerId="LiveId" clId="{0F261C1B-D74F-4B5C-983C-D6901550F55E}" dt="2026-05-06T18:29:44.654" v="1958" actId="47"/>
        <pc:sldMkLst>
          <pc:docMk/>
          <pc:sldMk cId="1164033843" sldId="377"/>
        </pc:sldMkLst>
      </pc:sldChg>
      <pc:sldChg chg="addSp modSp">
        <pc:chgData name="Francis Agyapong" userId="51c72c91caf9729c" providerId="LiveId" clId="{0F261C1B-D74F-4B5C-983C-D6901550F55E}" dt="2026-05-06T18:34:54.090" v="2058" actId="1076"/>
        <pc:sldMkLst>
          <pc:docMk/>
          <pc:sldMk cId="292302381" sldId="378"/>
        </pc:sldMkLst>
        <pc:picChg chg="add mod">
          <ac:chgData name="Francis Agyapong" userId="51c72c91caf9729c" providerId="LiveId" clId="{0F261C1B-D74F-4B5C-983C-D6901550F55E}" dt="2026-05-06T18:34:54.090" v="2058" actId="1076"/>
          <ac:picMkLst>
            <pc:docMk/>
            <pc:sldMk cId="292302381" sldId="378"/>
            <ac:picMk id="3" creationId="{7D1448AF-036D-C00D-F972-8248D2E50631}"/>
          </ac:picMkLst>
        </pc:picChg>
      </pc:sldChg>
      <pc:sldChg chg="del">
        <pc:chgData name="Francis Agyapong" userId="51c72c91caf9729c" providerId="LiveId" clId="{0F261C1B-D74F-4B5C-983C-D6901550F55E}" dt="2026-05-06T18:34:20.673" v="2055" actId="47"/>
        <pc:sldMkLst>
          <pc:docMk/>
          <pc:sldMk cId="3214206133" sldId="379"/>
        </pc:sldMkLst>
      </pc:sldChg>
      <pc:sldChg chg="modSp mod">
        <pc:chgData name="Francis Agyapong" userId="51c72c91caf9729c" providerId="LiveId" clId="{0F261C1B-D74F-4B5C-983C-D6901550F55E}" dt="2026-05-06T18:38:26.556" v="2143" actId="20577"/>
        <pc:sldMkLst>
          <pc:docMk/>
          <pc:sldMk cId="1128645316" sldId="383"/>
        </pc:sldMkLst>
        <pc:spChg chg="mod">
          <ac:chgData name="Francis Agyapong" userId="51c72c91caf9729c" providerId="LiveId" clId="{0F261C1B-D74F-4B5C-983C-D6901550F55E}" dt="2026-05-06T18:38:26.556" v="2143" actId="20577"/>
          <ac:spMkLst>
            <pc:docMk/>
            <pc:sldMk cId="1128645316" sldId="383"/>
            <ac:spMk id="2" creationId="{ABDBED55-F32D-0883-5328-68F450DEBA0E}"/>
          </ac:spMkLst>
        </pc:spChg>
        <pc:spChg chg="mod">
          <ac:chgData name="Francis Agyapong" userId="51c72c91caf9729c" providerId="LiveId" clId="{0F261C1B-D74F-4B5C-983C-D6901550F55E}" dt="2026-05-06T18:37:33.632" v="2076" actId="20577"/>
          <ac:spMkLst>
            <pc:docMk/>
            <pc:sldMk cId="1128645316" sldId="383"/>
            <ac:spMk id="3" creationId="{93BAD787-02BC-8065-C491-FA4D8D676C3E}"/>
          </ac:spMkLst>
        </pc:spChg>
      </pc:sldChg>
      <pc:sldChg chg="modSp mod">
        <pc:chgData name="Francis Agyapong" userId="51c72c91caf9729c" providerId="LiveId" clId="{0F261C1B-D74F-4B5C-983C-D6901550F55E}" dt="2026-05-06T18:41:53.483" v="2158" actId="20577"/>
        <pc:sldMkLst>
          <pc:docMk/>
          <pc:sldMk cId="179895502" sldId="384"/>
        </pc:sldMkLst>
        <pc:spChg chg="mod">
          <ac:chgData name="Francis Agyapong" userId="51c72c91caf9729c" providerId="LiveId" clId="{0F261C1B-D74F-4B5C-983C-D6901550F55E}" dt="2026-05-06T18:40:31.392" v="2147"/>
          <ac:spMkLst>
            <pc:docMk/>
            <pc:sldMk cId="179895502" sldId="384"/>
            <ac:spMk id="2" creationId="{A7FE3757-99D9-13F6-72C3-89635ABD6904}"/>
          </ac:spMkLst>
        </pc:spChg>
        <pc:spChg chg="mod">
          <ac:chgData name="Francis Agyapong" userId="51c72c91caf9729c" providerId="LiveId" clId="{0F261C1B-D74F-4B5C-983C-D6901550F55E}" dt="2026-05-06T18:41:53.483" v="2158" actId="20577"/>
          <ac:spMkLst>
            <pc:docMk/>
            <pc:sldMk cId="179895502" sldId="384"/>
            <ac:spMk id="3" creationId="{3BE91EA2-1203-6290-2238-74923251C286}"/>
          </ac:spMkLst>
        </pc:spChg>
      </pc:sldChg>
      <pc:sldChg chg="del">
        <pc:chgData name="Francis Agyapong" userId="51c72c91caf9729c" providerId="LiveId" clId="{0F261C1B-D74F-4B5C-983C-D6901550F55E}" dt="2026-05-06T18:50:41.964" v="2294" actId="47"/>
        <pc:sldMkLst>
          <pc:docMk/>
          <pc:sldMk cId="1095103545" sldId="387"/>
        </pc:sldMkLst>
      </pc:sldChg>
      <pc:sldChg chg="modSp">
        <pc:chgData name="Francis Agyapong" userId="51c72c91caf9729c" providerId="LiveId" clId="{0F261C1B-D74F-4B5C-983C-D6901550F55E}" dt="2026-05-07T06:16:26.738" v="2909" actId="732"/>
        <pc:sldMkLst>
          <pc:docMk/>
          <pc:sldMk cId="2338716509" sldId="388"/>
        </pc:sldMkLst>
        <pc:picChg chg="mod">
          <ac:chgData name="Francis Agyapong" userId="51c72c91caf9729c" providerId="LiveId" clId="{0F261C1B-D74F-4B5C-983C-D6901550F55E}" dt="2026-05-07T06:16:26.738" v="2909" actId="732"/>
          <ac:picMkLst>
            <pc:docMk/>
            <pc:sldMk cId="2338716509" sldId="388"/>
            <ac:picMk id="6150" creationId="{E8FA8C42-AC20-71BF-2880-1E82D68E6244}"/>
          </ac:picMkLst>
        </pc:picChg>
      </pc:sldChg>
      <pc:sldChg chg="modSp">
        <pc:chgData name="Francis Agyapong" userId="51c72c91caf9729c" providerId="LiveId" clId="{0F261C1B-D74F-4B5C-983C-D6901550F55E}" dt="2026-05-06T18:53:06.667" v="2620"/>
        <pc:sldMkLst>
          <pc:docMk/>
          <pc:sldMk cId="1622502552" sldId="389"/>
        </pc:sldMkLst>
        <pc:spChg chg="mod">
          <ac:chgData name="Francis Agyapong" userId="51c72c91caf9729c" providerId="LiveId" clId="{0F261C1B-D74F-4B5C-983C-D6901550F55E}" dt="2026-05-06T18:53:06.667" v="2620"/>
          <ac:spMkLst>
            <pc:docMk/>
            <pc:sldMk cId="1622502552" sldId="389"/>
            <ac:spMk id="2" creationId="{A192A9B1-20B2-942F-F1F9-A8A0E0B41B22}"/>
          </ac:spMkLst>
        </pc:spChg>
      </pc:sldChg>
      <pc:sldChg chg="modSp mod">
        <pc:chgData name="Francis Agyapong" userId="51c72c91caf9729c" providerId="LiveId" clId="{0F261C1B-D74F-4B5C-983C-D6901550F55E}" dt="2026-05-06T18:51:34.663" v="2366" actId="20577"/>
        <pc:sldMkLst>
          <pc:docMk/>
          <pc:sldMk cId="139356527" sldId="390"/>
        </pc:sldMkLst>
        <pc:spChg chg="mod">
          <ac:chgData name="Francis Agyapong" userId="51c72c91caf9729c" providerId="LiveId" clId="{0F261C1B-D74F-4B5C-983C-D6901550F55E}" dt="2026-05-06T18:51:34.663" v="2366" actId="20577"/>
          <ac:spMkLst>
            <pc:docMk/>
            <pc:sldMk cId="139356527" sldId="390"/>
            <ac:spMk id="3" creationId="{3FC8A514-C865-A5CF-7CDC-5D2123F3771E}"/>
          </ac:spMkLst>
        </pc:spChg>
      </pc:sldChg>
      <pc:sldChg chg="modSp add del mod">
        <pc:chgData name="Francis Agyapong" userId="51c72c91caf9729c" providerId="LiveId" clId="{0F261C1B-D74F-4B5C-983C-D6901550F55E}" dt="2026-05-06T19:06:00.060" v="2760" actId="47"/>
        <pc:sldMkLst>
          <pc:docMk/>
          <pc:sldMk cId="2742127304" sldId="391"/>
        </pc:sldMkLst>
        <pc:spChg chg="mod">
          <ac:chgData name="Francis Agyapong" userId="51c72c91caf9729c" providerId="LiveId" clId="{0F261C1B-D74F-4B5C-983C-D6901550F55E}" dt="2026-05-06T17:34:03.298" v="503" actId="20577"/>
          <ac:spMkLst>
            <pc:docMk/>
            <pc:sldMk cId="2742127304" sldId="391"/>
            <ac:spMk id="2" creationId="{00000000-0000-0000-0000-000000000000}"/>
          </ac:spMkLst>
        </pc:spChg>
        <pc:spChg chg="mod">
          <ac:chgData name="Francis Agyapong" userId="51c72c91caf9729c" providerId="LiveId" clId="{0F261C1B-D74F-4B5C-983C-D6901550F55E}" dt="2026-05-06T17:35:28.063" v="513" actId="5793"/>
          <ac:spMkLst>
            <pc:docMk/>
            <pc:sldMk cId="2742127304" sldId="391"/>
            <ac:spMk id="3" creationId="{00000000-0000-0000-0000-000000000000}"/>
          </ac:spMkLst>
        </pc:spChg>
      </pc:sldChg>
      <pc:sldChg chg="modSp add mod">
        <pc:chgData name="Francis Agyapong" userId="51c72c91caf9729c" providerId="LiveId" clId="{0F261C1B-D74F-4B5C-983C-D6901550F55E}" dt="2026-05-06T17:43:53.373" v="528" actId="27636"/>
        <pc:sldMkLst>
          <pc:docMk/>
          <pc:sldMk cId="1439162453" sldId="392"/>
        </pc:sldMkLst>
        <pc:spChg chg="mod">
          <ac:chgData name="Francis Agyapong" userId="51c72c91caf9729c" providerId="LiveId" clId="{0F261C1B-D74F-4B5C-983C-D6901550F55E}" dt="2026-05-06T17:43:53.373" v="528" actId="27636"/>
          <ac:spMkLst>
            <pc:docMk/>
            <pc:sldMk cId="1439162453" sldId="392"/>
            <ac:spMk id="3" creationId="{00000000-0000-0000-0000-000000000000}"/>
          </ac:spMkLst>
        </pc:spChg>
      </pc:sldChg>
      <pc:sldChg chg="modSp new mod">
        <pc:chgData name="Francis Agyapong" userId="51c72c91caf9729c" providerId="LiveId" clId="{0F261C1B-D74F-4B5C-983C-D6901550F55E}" dt="2026-05-06T17:59:32.978" v="1286" actId="114"/>
        <pc:sldMkLst>
          <pc:docMk/>
          <pc:sldMk cId="1388968532" sldId="393"/>
        </pc:sldMkLst>
        <pc:spChg chg="mod">
          <ac:chgData name="Francis Agyapong" userId="51c72c91caf9729c" providerId="LiveId" clId="{0F261C1B-D74F-4B5C-983C-D6901550F55E}" dt="2026-05-06T17:48:49.553" v="620" actId="20577"/>
          <ac:spMkLst>
            <pc:docMk/>
            <pc:sldMk cId="1388968532" sldId="393"/>
            <ac:spMk id="2" creationId="{64803E0B-373E-7D46-C5A5-765C6BAAA11B}"/>
          </ac:spMkLst>
        </pc:spChg>
        <pc:spChg chg="mod">
          <ac:chgData name="Francis Agyapong" userId="51c72c91caf9729c" providerId="LiveId" clId="{0F261C1B-D74F-4B5C-983C-D6901550F55E}" dt="2026-05-06T17:59:32.978" v="1286" actId="114"/>
          <ac:spMkLst>
            <pc:docMk/>
            <pc:sldMk cId="1388968532" sldId="393"/>
            <ac:spMk id="3" creationId="{FB1BDC08-EA81-DBE0-9B68-5F8A22F6B8E6}"/>
          </ac:spMkLst>
        </pc:spChg>
      </pc:sldChg>
      <pc:sldChg chg="addSp delSp modSp new mod">
        <pc:chgData name="Francis Agyapong" userId="51c72c91caf9729c" providerId="LiveId" clId="{0F261C1B-D74F-4B5C-983C-D6901550F55E}" dt="2026-05-06T18:05:08.960" v="1354" actId="20577"/>
        <pc:sldMkLst>
          <pc:docMk/>
          <pc:sldMk cId="2555583704" sldId="394"/>
        </pc:sldMkLst>
        <pc:spChg chg="mod">
          <ac:chgData name="Francis Agyapong" userId="51c72c91caf9729c" providerId="LiveId" clId="{0F261C1B-D74F-4B5C-983C-D6901550F55E}" dt="2026-05-06T18:05:08.960" v="1354" actId="20577"/>
          <ac:spMkLst>
            <pc:docMk/>
            <pc:sldMk cId="2555583704" sldId="394"/>
            <ac:spMk id="2" creationId="{97CC7706-38C4-2DF3-D230-413638346A58}"/>
          </ac:spMkLst>
        </pc:spChg>
        <pc:spChg chg="del mod">
          <ac:chgData name="Francis Agyapong" userId="51c72c91caf9729c" providerId="LiveId" clId="{0F261C1B-D74F-4B5C-983C-D6901550F55E}" dt="2026-05-06T18:04:31.917" v="1332"/>
          <ac:spMkLst>
            <pc:docMk/>
            <pc:sldMk cId="2555583704" sldId="394"/>
            <ac:spMk id="3" creationId="{ECDC356A-8A97-204B-053C-043DE85EB72A}"/>
          </ac:spMkLst>
        </pc:spChg>
        <pc:picChg chg="add mod">
          <ac:chgData name="Francis Agyapong" userId="51c72c91caf9729c" providerId="LiveId" clId="{0F261C1B-D74F-4B5C-983C-D6901550F55E}" dt="2026-05-06T18:04:48.525" v="1338" actId="14100"/>
          <ac:picMkLst>
            <pc:docMk/>
            <pc:sldMk cId="2555583704" sldId="394"/>
            <ac:picMk id="4" creationId="{F7C11B3E-606F-2422-F867-EA7B0D22E3E6}"/>
          </ac:picMkLst>
        </pc:picChg>
      </pc:sldChg>
      <pc:sldChg chg="addSp delSp modSp new mod">
        <pc:chgData name="Francis Agyapong" userId="51c72c91caf9729c" providerId="LiveId" clId="{0F261C1B-D74F-4B5C-983C-D6901550F55E}" dt="2026-05-07T06:02:03.388" v="2886" actId="14100"/>
        <pc:sldMkLst>
          <pc:docMk/>
          <pc:sldMk cId="2373902084" sldId="395"/>
        </pc:sldMkLst>
        <pc:spChg chg="mod">
          <ac:chgData name="Francis Agyapong" userId="51c72c91caf9729c" providerId="LiveId" clId="{0F261C1B-D74F-4B5C-983C-D6901550F55E}" dt="2026-05-07T06:02:03.388" v="2886" actId="14100"/>
          <ac:spMkLst>
            <pc:docMk/>
            <pc:sldMk cId="2373902084" sldId="395"/>
            <ac:spMk id="2" creationId="{F4520AE4-938F-7198-8217-37BFDBF4B7E9}"/>
          </ac:spMkLst>
        </pc:spChg>
        <pc:spChg chg="del mod">
          <ac:chgData name="Francis Agyapong" userId="51c72c91caf9729c" providerId="LiveId" clId="{0F261C1B-D74F-4B5C-983C-D6901550F55E}" dt="2026-05-06T18:05:41.378" v="1357"/>
          <ac:spMkLst>
            <pc:docMk/>
            <pc:sldMk cId="2373902084" sldId="395"/>
            <ac:spMk id="3" creationId="{A349B76E-D72A-BCFB-EC8A-C7936B2074F7}"/>
          </ac:spMkLst>
        </pc:spChg>
        <pc:picChg chg="add mod">
          <ac:chgData name="Francis Agyapong" userId="51c72c91caf9729c" providerId="LiveId" clId="{0F261C1B-D74F-4B5C-983C-D6901550F55E}" dt="2026-05-06T18:05:52.051" v="1360" actId="14100"/>
          <ac:picMkLst>
            <pc:docMk/>
            <pc:sldMk cId="2373902084" sldId="395"/>
            <ac:picMk id="4" creationId="{63E1C87F-42B2-1FA8-2CE2-11AFC2918882}"/>
          </ac:picMkLst>
        </pc:picChg>
      </pc:sldChg>
      <pc:sldChg chg="addSp delSp modSp new mod">
        <pc:chgData name="Francis Agyapong" userId="51c72c91caf9729c" providerId="LiveId" clId="{0F261C1B-D74F-4B5C-983C-D6901550F55E}" dt="2026-05-06T18:07:02.420" v="1369" actId="14100"/>
        <pc:sldMkLst>
          <pc:docMk/>
          <pc:sldMk cId="1363639607" sldId="396"/>
        </pc:sldMkLst>
        <pc:spChg chg="mod">
          <ac:chgData name="Francis Agyapong" userId="51c72c91caf9729c" providerId="LiveId" clId="{0F261C1B-D74F-4B5C-983C-D6901550F55E}" dt="2026-05-06T18:06:13.272" v="1363"/>
          <ac:spMkLst>
            <pc:docMk/>
            <pc:sldMk cId="1363639607" sldId="396"/>
            <ac:spMk id="2" creationId="{EF5B7EF8-334F-701D-435E-AAD644D370AF}"/>
          </ac:spMkLst>
        </pc:spChg>
        <pc:spChg chg="del mod">
          <ac:chgData name="Francis Agyapong" userId="51c72c91caf9729c" providerId="LiveId" clId="{0F261C1B-D74F-4B5C-983C-D6901550F55E}" dt="2026-05-06T18:06:46.877" v="1365" actId="22"/>
          <ac:spMkLst>
            <pc:docMk/>
            <pc:sldMk cId="1363639607" sldId="396"/>
            <ac:spMk id="3" creationId="{A98B3179-1BC9-80D9-C060-83D538FD73DB}"/>
          </ac:spMkLst>
        </pc:spChg>
        <pc:picChg chg="add mod ord">
          <ac:chgData name="Francis Agyapong" userId="51c72c91caf9729c" providerId="LiveId" clId="{0F261C1B-D74F-4B5C-983C-D6901550F55E}" dt="2026-05-06T18:07:02.420" v="1369" actId="14100"/>
          <ac:picMkLst>
            <pc:docMk/>
            <pc:sldMk cId="1363639607" sldId="396"/>
            <ac:picMk id="5" creationId="{B2E60EC4-B8CA-9D95-9A19-C5F3EF02967E}"/>
          </ac:picMkLst>
        </pc:picChg>
      </pc:sldChg>
      <pc:sldChg chg="modSp add mod">
        <pc:chgData name="Francis Agyapong" userId="51c72c91caf9729c" providerId="LiveId" clId="{0F261C1B-D74F-4B5C-983C-D6901550F55E}" dt="2026-05-06T18:12:06.803" v="1373" actId="27636"/>
        <pc:sldMkLst>
          <pc:docMk/>
          <pc:sldMk cId="2901731543" sldId="397"/>
        </pc:sldMkLst>
        <pc:spChg chg="mod">
          <ac:chgData name="Francis Agyapong" userId="51c72c91caf9729c" providerId="LiveId" clId="{0F261C1B-D74F-4B5C-983C-D6901550F55E}" dt="2026-05-06T18:12:06.803" v="1373" actId="27636"/>
          <ac:spMkLst>
            <pc:docMk/>
            <pc:sldMk cId="2901731543" sldId="397"/>
            <ac:spMk id="2" creationId="{A58E5C91-DF32-66BA-0B5D-438DCEC4A105}"/>
          </ac:spMkLst>
        </pc:spChg>
      </pc:sldChg>
      <pc:sldChg chg="modSp add mod">
        <pc:chgData name="Francis Agyapong" userId="51c72c91caf9729c" providerId="LiveId" clId="{0F261C1B-D74F-4B5C-983C-D6901550F55E}" dt="2026-05-06T18:12:06.803" v="1374" actId="27636"/>
        <pc:sldMkLst>
          <pc:docMk/>
          <pc:sldMk cId="1059701082" sldId="398"/>
        </pc:sldMkLst>
        <pc:spChg chg="mod">
          <ac:chgData name="Francis Agyapong" userId="51c72c91caf9729c" providerId="LiveId" clId="{0F261C1B-D74F-4B5C-983C-D6901550F55E}" dt="2026-05-06T18:12:06.803" v="1374" actId="27636"/>
          <ac:spMkLst>
            <pc:docMk/>
            <pc:sldMk cId="1059701082" sldId="398"/>
            <ac:spMk id="11" creationId="{FA310135-6B6D-2640-7D14-5CC2F8256613}"/>
          </ac:spMkLst>
        </pc:spChg>
      </pc:sldChg>
      <pc:sldChg chg="modSp add mod">
        <pc:chgData name="Francis Agyapong" userId="51c72c91caf9729c" providerId="LiveId" clId="{0F261C1B-D74F-4B5C-983C-D6901550F55E}" dt="2026-05-06T18:12:06.803" v="1375" actId="27636"/>
        <pc:sldMkLst>
          <pc:docMk/>
          <pc:sldMk cId="2979540267" sldId="399"/>
        </pc:sldMkLst>
        <pc:spChg chg="mod">
          <ac:chgData name="Francis Agyapong" userId="51c72c91caf9729c" providerId="LiveId" clId="{0F261C1B-D74F-4B5C-983C-D6901550F55E}" dt="2026-05-06T18:12:06.803" v="1375" actId="27636"/>
          <ac:spMkLst>
            <pc:docMk/>
            <pc:sldMk cId="2979540267" sldId="399"/>
            <ac:spMk id="2" creationId="{D92A4FAE-7C38-4DE0-FC91-45A15BD0C70B}"/>
          </ac:spMkLst>
        </pc:spChg>
      </pc:sldChg>
      <pc:sldChg chg="modSp new mod">
        <pc:chgData name="Francis Agyapong" userId="51c72c91caf9729c" providerId="LiveId" clId="{0F261C1B-D74F-4B5C-983C-D6901550F55E}" dt="2026-05-06T19:06:50.394" v="2762" actId="113"/>
        <pc:sldMkLst>
          <pc:docMk/>
          <pc:sldMk cId="1976900446" sldId="400"/>
        </pc:sldMkLst>
        <pc:spChg chg="mod">
          <ac:chgData name="Francis Agyapong" userId="51c72c91caf9729c" providerId="LiveId" clId="{0F261C1B-D74F-4B5C-983C-D6901550F55E}" dt="2026-05-06T18:15:52.095" v="1572" actId="20577"/>
          <ac:spMkLst>
            <pc:docMk/>
            <pc:sldMk cId="1976900446" sldId="400"/>
            <ac:spMk id="2" creationId="{64682964-CA63-09D8-31F7-763B59C93F77}"/>
          </ac:spMkLst>
        </pc:spChg>
        <pc:spChg chg="mod">
          <ac:chgData name="Francis Agyapong" userId="51c72c91caf9729c" providerId="LiveId" clId="{0F261C1B-D74F-4B5C-983C-D6901550F55E}" dt="2026-05-06T19:06:50.394" v="2762" actId="113"/>
          <ac:spMkLst>
            <pc:docMk/>
            <pc:sldMk cId="1976900446" sldId="400"/>
            <ac:spMk id="3" creationId="{C8E6862E-9921-E5D6-0E81-5E2FF96D34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B850-38E7-467F-8E75-DFB591F33026}"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EF9477-527B-4879-A7EF-DF39ECA20A27}" type="slidenum">
              <a:rPr lang="en-US" smtClean="0"/>
              <a:t>‹#›</a:t>
            </a:fld>
            <a:endParaRPr lang="en-US"/>
          </a:p>
        </p:txBody>
      </p:sp>
    </p:spTree>
    <p:extLst>
      <p:ext uri="{BB962C8B-B14F-4D97-AF65-F5344CB8AC3E}">
        <p14:creationId xmlns:p14="http://schemas.microsoft.com/office/powerpoint/2010/main" val="158503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 trachomatis serovars D–K </a:t>
            </a:r>
            <a:endParaRPr lang="en-US" dirty="0"/>
          </a:p>
        </p:txBody>
      </p:sp>
      <p:sp>
        <p:nvSpPr>
          <p:cNvPr id="4" name="Slide Number Placeholder 3"/>
          <p:cNvSpPr>
            <a:spLocks noGrp="1"/>
          </p:cNvSpPr>
          <p:nvPr>
            <p:ph type="sldNum" sz="quarter" idx="5"/>
          </p:nvPr>
        </p:nvSpPr>
        <p:spPr/>
        <p:txBody>
          <a:bodyPr/>
          <a:lstStyle/>
          <a:p>
            <a:fld id="{E8EF9477-527B-4879-A7EF-DF39ECA20A27}" type="slidenum">
              <a:rPr lang="en-US" smtClean="0"/>
              <a:t>84</a:t>
            </a:fld>
            <a:endParaRPr lang="en-US"/>
          </a:p>
        </p:txBody>
      </p:sp>
    </p:spTree>
    <p:extLst>
      <p:ext uri="{BB962C8B-B14F-4D97-AF65-F5344CB8AC3E}">
        <p14:creationId xmlns:p14="http://schemas.microsoft.com/office/powerpoint/2010/main" val="2977094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non-infectious cause is Reiter’s syndrome, an autoimmune disease that includes urethritis, uveitis, and reactive arthritis</a:t>
            </a:r>
          </a:p>
          <a:p>
            <a:endParaRPr lang="en-US" dirty="0"/>
          </a:p>
        </p:txBody>
      </p:sp>
      <p:sp>
        <p:nvSpPr>
          <p:cNvPr id="4" name="Slide Number Placeholder 3"/>
          <p:cNvSpPr>
            <a:spLocks noGrp="1"/>
          </p:cNvSpPr>
          <p:nvPr>
            <p:ph type="sldNum" sz="quarter" idx="5"/>
          </p:nvPr>
        </p:nvSpPr>
        <p:spPr/>
        <p:txBody>
          <a:bodyPr/>
          <a:lstStyle/>
          <a:p>
            <a:fld id="{E8EF9477-527B-4879-A7EF-DF39ECA20A27}" type="slidenum">
              <a:rPr lang="en-US" smtClean="0"/>
              <a:t>86</a:t>
            </a:fld>
            <a:endParaRPr lang="en-US"/>
          </a:p>
        </p:txBody>
      </p:sp>
    </p:spTree>
    <p:extLst>
      <p:ext uri="{BB962C8B-B14F-4D97-AF65-F5344CB8AC3E}">
        <p14:creationId xmlns:p14="http://schemas.microsoft.com/office/powerpoint/2010/main" val="2067594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B81E0-CECD-4706-AB53-CB1D4A0311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C17C1E01-2250-4826-88D7-F74C5CBDB2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6898051E-62CC-4796-B252-3B686435C0AF}"/>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8A367975-8BC4-44AE-B0BF-AD8EDE505222}"/>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D122FAB6-B12A-4F8F-AC04-CA3E25CF9EEC}"/>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500845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14D8B-59E9-46D8-AA76-2733AE1CAEE6}"/>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CD43200C-01A5-4A2C-B906-7927C61023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3A55A184-8CB1-41EB-92C6-CA0F69BE08C9}"/>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74AAFF85-1A7F-422B-A800-400760A983B3}"/>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904F6C4-6156-405D-A9C4-223DDEADC372}"/>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3908735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223D9-01CE-4A97-B1ED-241B8EFAD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0C33688F-401A-4990-B620-BAEFDF2D6A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F0E14-A3C5-4604-B27B-513CB76918EE}"/>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F035A9E2-C435-4B2C-BE63-0268C1644F4C}"/>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05477DC1-B93A-4829-B9D9-4902F162F0D0}"/>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285816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5911C-2B89-41E3-92CB-917ABE7BBD6F}"/>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61FCB4B-712B-4B44-8BA3-8A67183261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985C90DF-EBBE-43A7-AA96-AE2B6C4E71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4C95F66C-3A3A-435C-93CF-48C3578A0797}"/>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6" name="Footer Placeholder 5">
            <a:extLst>
              <a:ext uri="{FF2B5EF4-FFF2-40B4-BE49-F238E27FC236}">
                <a16:creationId xmlns:a16="http://schemas.microsoft.com/office/drawing/2014/main" id="{AFCDDD48-9A9A-4DB0-90DE-3BF338BCB4B1}"/>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8ABF386C-BD5C-4734-93E2-3B3C2A3DAC66}"/>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40701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4788-B7C6-4D8A-9207-315F8BE69CBD}"/>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B7651F10-5A93-4E5A-923F-72E4572ED5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FCC7ED-29F7-4D70-B02A-FD17D1BA61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A7E44E89-CE52-419B-A561-CB9F18B75B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CFDFC1-186E-4366-BB6D-718E0A74B4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B9A7F960-11EA-412B-A339-A4DBC99F81E8}"/>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8" name="Footer Placeholder 7">
            <a:extLst>
              <a:ext uri="{FF2B5EF4-FFF2-40B4-BE49-F238E27FC236}">
                <a16:creationId xmlns:a16="http://schemas.microsoft.com/office/drawing/2014/main" id="{C7A09AE6-C51C-4826-BAF2-7E95A3E1C1D1}"/>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4C5DECFE-85C8-4D4C-A126-9F2B9DBED17E}"/>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1939714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53525-96B9-43DE-8E79-57F9E870EF63}"/>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EDF94A56-76C5-4711-9B99-E2A81F21EF6C}"/>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4" name="Footer Placeholder 3">
            <a:extLst>
              <a:ext uri="{FF2B5EF4-FFF2-40B4-BE49-F238E27FC236}">
                <a16:creationId xmlns:a16="http://schemas.microsoft.com/office/drawing/2014/main" id="{77F606D8-BE38-4DE0-960B-6CFC6B1FCE14}"/>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6CAE110D-2479-44CB-9AFF-AB9D843E32DD}"/>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323218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AAA72F-A1CF-49BA-8535-8EB413E45256}"/>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3" name="Footer Placeholder 2">
            <a:extLst>
              <a:ext uri="{FF2B5EF4-FFF2-40B4-BE49-F238E27FC236}">
                <a16:creationId xmlns:a16="http://schemas.microsoft.com/office/drawing/2014/main" id="{1FB06FDE-10F8-4D21-923A-842A52D208DC}"/>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36A97FB0-9AA8-46DD-B30C-C1A3690C2160}"/>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365965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5A1F5-A1D4-41C8-8B53-EC4B246E1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56655840-AAA7-4966-AF59-B68EC0D9D1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FE791328-1CEE-4DFF-A397-9DA78B805B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4D731B-192C-4237-BAB0-53F043F9B0B4}"/>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6" name="Footer Placeholder 5">
            <a:extLst>
              <a:ext uri="{FF2B5EF4-FFF2-40B4-BE49-F238E27FC236}">
                <a16:creationId xmlns:a16="http://schemas.microsoft.com/office/drawing/2014/main" id="{051FD0A3-E6AB-44D1-A994-8D8041271A9B}"/>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71EE4AA6-8BD9-48D0-8900-7D9F9762EE5B}"/>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92893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D930-8307-49B8-9631-E269E6185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0E49559B-98F7-401B-9B4A-A0D07EB71E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BD27E0C8-DABF-42DE-A3FF-B4FE79FF0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037FC-DECD-437C-82AA-EBF8D8E3B550}"/>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6" name="Footer Placeholder 5">
            <a:extLst>
              <a:ext uri="{FF2B5EF4-FFF2-40B4-BE49-F238E27FC236}">
                <a16:creationId xmlns:a16="http://schemas.microsoft.com/office/drawing/2014/main" id="{6BCBE37D-7D51-4900-A464-51195B7658A7}"/>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384E1D6B-10A3-4AD7-89C1-26DECE287D89}"/>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333355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15EA-C8A1-4861-A451-D6A77368A9CA}"/>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8E7376FB-7E72-455B-8638-C0AB7C0E1B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C7F126E6-0754-4C76-A547-54FD04260261}"/>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9191F054-7A4A-4BFD-9322-4F406959D69C}"/>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14AC0A6-B010-4173-B9D6-E06DE1E9D74F}"/>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2549423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A5B0A-6966-4916-8830-F10AFE5052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8807128A-2BB5-4981-9504-4826CE2E15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2ACF071C-5002-4442-BE21-C9DB3A344703}"/>
              </a:ext>
            </a:extLst>
          </p:cNvPr>
          <p:cNvSpPr>
            <a:spLocks noGrp="1"/>
          </p:cNvSpPr>
          <p:nvPr>
            <p:ph type="dt" sz="half" idx="10"/>
          </p:nvPr>
        </p:nvSpPr>
        <p:spPr/>
        <p:txBody>
          <a:body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E3F1925B-D826-4778-B707-F4667957422C}"/>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353475B5-EFB1-4898-9892-DFDF3711AB67}"/>
              </a:ext>
            </a:extLst>
          </p:cNvPr>
          <p:cNvSpPr>
            <a:spLocks noGrp="1"/>
          </p:cNvSpPr>
          <p:nvPr>
            <p:ph type="sldNum" sz="quarter" idx="12"/>
          </p:nvPr>
        </p:nvSpPr>
        <p:spPr/>
        <p:txBody>
          <a:bodyPr/>
          <a:lstStyle/>
          <a:p>
            <a:fld id="{9A2E5E94-FD41-405B-9E35-64B1397E023A}" type="slidenum">
              <a:rPr lang="en-GH" smtClean="0"/>
              <a:t>‹#›</a:t>
            </a:fld>
            <a:endParaRPr lang="en-GH"/>
          </a:p>
        </p:txBody>
      </p:sp>
    </p:spTree>
    <p:extLst>
      <p:ext uri="{BB962C8B-B14F-4D97-AF65-F5344CB8AC3E}">
        <p14:creationId xmlns:p14="http://schemas.microsoft.com/office/powerpoint/2010/main" val="687330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51C078-844E-47EC-A881-E2457C7C1C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5642179F-52DF-4021-87A4-7F332DA01C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CF9F2D8F-EDB6-4F18-A62B-7F6679F635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CE7F4-26E0-418E-AFA6-FD26F2DC100A}" type="datetimeFigureOut">
              <a:rPr lang="en-GH" smtClean="0"/>
              <a:t>05/06/2026</a:t>
            </a:fld>
            <a:endParaRPr lang="en-GH"/>
          </a:p>
        </p:txBody>
      </p:sp>
      <p:sp>
        <p:nvSpPr>
          <p:cNvPr id="5" name="Footer Placeholder 4">
            <a:extLst>
              <a:ext uri="{FF2B5EF4-FFF2-40B4-BE49-F238E27FC236}">
                <a16:creationId xmlns:a16="http://schemas.microsoft.com/office/drawing/2014/main" id="{61B63163-EBEA-4F2E-9804-1A5B5930C1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38240078-4178-492A-BCE8-6BA674D7C2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2E5E94-FD41-405B-9E35-64B1397E023A}" type="slidenum">
              <a:rPr lang="en-GH" smtClean="0"/>
              <a:t>‹#›</a:t>
            </a:fld>
            <a:endParaRPr lang="en-GH"/>
          </a:p>
        </p:txBody>
      </p:sp>
    </p:spTree>
    <p:extLst>
      <p:ext uri="{BB962C8B-B14F-4D97-AF65-F5344CB8AC3E}">
        <p14:creationId xmlns:p14="http://schemas.microsoft.com/office/powerpoint/2010/main" val="429291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4.xml"/><Relationship Id="rId4" Type="http://schemas.openxmlformats.org/officeDocument/2006/relationships/image" Target="../media/image52.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C332-C571-4F9B-9F4B-D39E7959B642}"/>
              </a:ext>
            </a:extLst>
          </p:cNvPr>
          <p:cNvSpPr>
            <a:spLocks noGrp="1"/>
          </p:cNvSpPr>
          <p:nvPr>
            <p:ph type="ctrTitle"/>
          </p:nvPr>
        </p:nvSpPr>
        <p:spPr/>
        <p:txBody>
          <a:bodyPr/>
          <a:lstStyle/>
          <a:p>
            <a:r>
              <a:rPr lang="en-US" dirty="0"/>
              <a:t>Pathogenic Bacteria and Key Diseases</a:t>
            </a:r>
            <a:endParaRPr lang="en-GH" dirty="0"/>
          </a:p>
        </p:txBody>
      </p:sp>
      <p:sp>
        <p:nvSpPr>
          <p:cNvPr id="3" name="Subtitle 2">
            <a:extLst>
              <a:ext uri="{FF2B5EF4-FFF2-40B4-BE49-F238E27FC236}">
                <a16:creationId xmlns:a16="http://schemas.microsoft.com/office/drawing/2014/main" id="{98E26C70-99BA-4390-9CD6-A078FDDCF4C4}"/>
              </a:ext>
            </a:extLst>
          </p:cNvPr>
          <p:cNvSpPr>
            <a:spLocks noGrp="1"/>
          </p:cNvSpPr>
          <p:nvPr>
            <p:ph type="subTitle" idx="1"/>
          </p:nvPr>
        </p:nvSpPr>
        <p:spPr>
          <a:xfrm>
            <a:off x="1371600" y="4567238"/>
            <a:ext cx="9144000" cy="1655762"/>
          </a:xfrm>
        </p:spPr>
        <p:txBody>
          <a:bodyPr>
            <a:normAutofit/>
          </a:bodyPr>
          <a:lstStyle/>
          <a:p>
            <a:r>
              <a:rPr lang="en-US" sz="4800" dirty="0"/>
              <a:t>DR FRANCIS O. AGYAPONG</a:t>
            </a:r>
            <a:endParaRPr lang="en-GH" sz="4800" dirty="0"/>
          </a:p>
        </p:txBody>
      </p:sp>
    </p:spTree>
    <p:extLst>
      <p:ext uri="{BB962C8B-B14F-4D97-AF65-F5344CB8AC3E}">
        <p14:creationId xmlns:p14="http://schemas.microsoft.com/office/powerpoint/2010/main" val="1305987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3E89-A4D7-7DA6-B47F-90FFD81EEA0A}"/>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996CF939-8B98-C9D5-626D-7447C95EBFB6}"/>
              </a:ext>
            </a:extLst>
          </p:cNvPr>
          <p:cNvSpPr>
            <a:spLocks noGrp="1"/>
          </p:cNvSpPr>
          <p:nvPr>
            <p:ph idx="1"/>
          </p:nvPr>
        </p:nvSpPr>
        <p:spPr/>
        <p:txBody>
          <a:bodyPr>
            <a:normAutofit/>
          </a:bodyPr>
          <a:lstStyle/>
          <a:p>
            <a:pPr>
              <a:buFont typeface="Wingdings" panose="05000000000000000000" pitchFamily="2" charset="2"/>
              <a:buChar char="q"/>
            </a:pPr>
            <a:r>
              <a:rPr lang="en-US" dirty="0"/>
              <a:t>Appreciate the concept of Normal Flora of the human body</a:t>
            </a:r>
          </a:p>
          <a:p>
            <a:pPr>
              <a:buFont typeface="Wingdings" panose="05000000000000000000" pitchFamily="2" charset="2"/>
              <a:buChar char="q"/>
            </a:pPr>
            <a:endParaRPr lang="en-US" dirty="0"/>
          </a:p>
          <a:p>
            <a:pPr>
              <a:buFont typeface="Wingdings" panose="05000000000000000000" pitchFamily="2" charset="2"/>
              <a:buChar char="q"/>
            </a:pPr>
            <a:r>
              <a:rPr lang="en-US" dirty="0"/>
              <a:t>Explain Key mechanisms of disease</a:t>
            </a:r>
          </a:p>
          <a:p>
            <a:pPr>
              <a:buFont typeface="Wingdings" panose="05000000000000000000" pitchFamily="2" charset="2"/>
              <a:buChar char="q"/>
            </a:pPr>
            <a:endParaRPr lang="en-US" dirty="0"/>
          </a:p>
          <a:p>
            <a:pPr>
              <a:buFont typeface="Wingdings" panose="05000000000000000000" pitchFamily="2" charset="2"/>
              <a:buChar char="q"/>
            </a:pPr>
            <a:r>
              <a:rPr lang="en-US" dirty="0"/>
              <a:t>Link organisms to common clinical syndromes</a:t>
            </a:r>
          </a:p>
          <a:p>
            <a:pPr>
              <a:buFont typeface="Wingdings" panose="05000000000000000000" pitchFamily="2" charset="2"/>
              <a:buChar char="q"/>
            </a:pPr>
            <a:endParaRPr lang="en-US" dirty="0"/>
          </a:p>
          <a:p>
            <a:pPr>
              <a:buFont typeface="Wingdings" panose="05000000000000000000" pitchFamily="2" charset="2"/>
              <a:buChar char="q"/>
            </a:pPr>
            <a:r>
              <a:rPr lang="en-US" dirty="0"/>
              <a:t>Outline basic diagnostic and treatment principles</a:t>
            </a:r>
          </a:p>
        </p:txBody>
      </p:sp>
    </p:spTree>
    <p:extLst>
      <p:ext uri="{BB962C8B-B14F-4D97-AF65-F5344CB8AC3E}">
        <p14:creationId xmlns:p14="http://schemas.microsoft.com/office/powerpoint/2010/main" val="256517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265B-3291-F91F-314D-16CCE97ECE26}"/>
              </a:ext>
            </a:extLst>
          </p:cNvPr>
          <p:cNvSpPr>
            <a:spLocks noGrp="1"/>
          </p:cNvSpPr>
          <p:nvPr>
            <p:ph type="title"/>
          </p:nvPr>
        </p:nvSpPr>
        <p:spPr/>
        <p:txBody>
          <a:bodyPr/>
          <a:lstStyle/>
          <a:p>
            <a:r>
              <a:rPr lang="en-US" dirty="0"/>
              <a:t>Normal Flora</a:t>
            </a:r>
          </a:p>
        </p:txBody>
      </p:sp>
      <p:sp>
        <p:nvSpPr>
          <p:cNvPr id="3" name="Content Placeholder 2">
            <a:extLst>
              <a:ext uri="{FF2B5EF4-FFF2-40B4-BE49-F238E27FC236}">
                <a16:creationId xmlns:a16="http://schemas.microsoft.com/office/drawing/2014/main" id="{40324C01-DDC3-30E6-D12C-B42F54BE18B2}"/>
              </a:ext>
            </a:extLst>
          </p:cNvPr>
          <p:cNvSpPr>
            <a:spLocks noGrp="1"/>
          </p:cNvSpPr>
          <p:nvPr>
            <p:ph idx="1"/>
          </p:nvPr>
        </p:nvSpPr>
        <p:spPr>
          <a:xfrm>
            <a:off x="520700" y="1412900"/>
            <a:ext cx="10833100" cy="5216499"/>
          </a:xfrm>
        </p:spPr>
        <p:txBody>
          <a:bodyPr>
            <a:noAutofit/>
          </a:bodyPr>
          <a:lstStyle/>
          <a:p>
            <a:pPr algn="just"/>
            <a:r>
              <a:rPr lang="en-US" b="1" i="0" u="none" strike="noStrike" baseline="0" dirty="0">
                <a:latin typeface="MyriadPro-Regular"/>
              </a:rPr>
              <a:t>Normal flora </a:t>
            </a:r>
            <a:r>
              <a:rPr lang="en-US" b="0" i="0" u="none" strike="noStrike" baseline="0" dirty="0">
                <a:latin typeface="MyriadPro-Regular"/>
              </a:rPr>
              <a:t>organisms that inhabit the body surfaces exposed to the environment, such as the </a:t>
            </a:r>
            <a:r>
              <a:rPr lang="en-US" i="0" u="none" strike="noStrike" baseline="0" dirty="0">
                <a:latin typeface="MyriadPro-Bold"/>
              </a:rPr>
              <a:t>skin, oropharynx, intestinal tract, and vagina. </a:t>
            </a:r>
          </a:p>
          <a:p>
            <a:pPr marL="0" indent="0" algn="just">
              <a:buNone/>
            </a:pPr>
            <a:endParaRPr lang="en-US" i="0" u="none" strike="noStrike" baseline="0" dirty="0">
              <a:latin typeface="MyriadPro-Bold"/>
            </a:endParaRPr>
          </a:p>
          <a:p>
            <a:pPr algn="just"/>
            <a:r>
              <a:rPr lang="en-US" b="0" i="0" u="none" strike="noStrike" baseline="0" dirty="0">
                <a:latin typeface="MyriadPro-Regular"/>
              </a:rPr>
              <a:t>Members of the normal flora differ in number and kind at various anatomic sites</a:t>
            </a:r>
          </a:p>
          <a:p>
            <a:pPr marL="0" indent="0" algn="just">
              <a:buNone/>
            </a:pPr>
            <a:endParaRPr lang="en-US" b="0" i="0" u="none" strike="noStrike" baseline="0" dirty="0">
              <a:latin typeface="MyriadPro-Regular"/>
            </a:endParaRPr>
          </a:p>
          <a:p>
            <a:pPr algn="just"/>
            <a:r>
              <a:rPr lang="en-US" b="0" i="0" u="none" strike="noStrike" baseline="0" dirty="0">
                <a:latin typeface="MyriadPro-Regular"/>
              </a:rPr>
              <a:t>Members of the normal flora are </a:t>
            </a:r>
            <a:r>
              <a:rPr lang="en-US" b="1" i="0" u="none" strike="noStrike" baseline="0" dirty="0">
                <a:latin typeface="MyriadPro-Bold"/>
              </a:rPr>
              <a:t>low-virulence </a:t>
            </a:r>
            <a:r>
              <a:rPr lang="en-US" b="0" i="0" u="none" strike="noStrike" baseline="0" dirty="0">
                <a:latin typeface="MyriadPro-Regular"/>
              </a:rPr>
              <a:t>organisms. </a:t>
            </a:r>
          </a:p>
          <a:p>
            <a:pPr algn="just"/>
            <a:r>
              <a:rPr lang="en-US" dirty="0">
                <a:latin typeface="MyriadPro-Regular"/>
              </a:rPr>
              <a:t>T</a:t>
            </a:r>
            <a:r>
              <a:rPr lang="en-US" b="0" i="0" u="none" strike="noStrike" baseline="0" dirty="0">
                <a:latin typeface="MyriadPro-Regular"/>
              </a:rPr>
              <a:t>hey are nonpathogenic in their usual anatomic sites </a:t>
            </a:r>
          </a:p>
          <a:p>
            <a:pPr algn="just"/>
            <a:r>
              <a:rPr lang="en-US" dirty="0">
                <a:latin typeface="MyriadPro-Regular"/>
              </a:rPr>
              <a:t>Generally, viruses and parasites are not recognized as part of normal flora of the human body</a:t>
            </a:r>
            <a:endParaRPr lang="en-US" b="0" i="0" u="none" strike="noStrike" baseline="0" dirty="0">
              <a:latin typeface="MyriadPro-Regular"/>
            </a:endParaRPr>
          </a:p>
        </p:txBody>
      </p:sp>
    </p:spTree>
    <p:extLst>
      <p:ext uri="{BB962C8B-B14F-4D97-AF65-F5344CB8AC3E}">
        <p14:creationId xmlns:p14="http://schemas.microsoft.com/office/powerpoint/2010/main" val="2665008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C294A-B656-04AB-60AC-82B14E1CC09A}"/>
              </a:ext>
            </a:extLst>
          </p:cNvPr>
          <p:cNvSpPr>
            <a:spLocks noGrp="1"/>
          </p:cNvSpPr>
          <p:nvPr>
            <p:ph type="title"/>
          </p:nvPr>
        </p:nvSpPr>
        <p:spPr/>
        <p:txBody>
          <a:bodyPr>
            <a:normAutofit/>
          </a:bodyPr>
          <a:lstStyle/>
          <a:p>
            <a:r>
              <a:rPr lang="en-US" dirty="0"/>
              <a:t>Members of Human Normal Flora</a:t>
            </a:r>
          </a:p>
        </p:txBody>
      </p:sp>
      <p:sp>
        <p:nvSpPr>
          <p:cNvPr id="3" name="Content Placeholder 2">
            <a:extLst>
              <a:ext uri="{FF2B5EF4-FFF2-40B4-BE49-F238E27FC236}">
                <a16:creationId xmlns:a16="http://schemas.microsoft.com/office/drawing/2014/main" id="{9C2B5A72-CA26-E907-2372-9FA04A9C9667}"/>
              </a:ext>
            </a:extLst>
          </p:cNvPr>
          <p:cNvSpPr>
            <a:spLocks noGrp="1"/>
          </p:cNvSpPr>
          <p:nvPr>
            <p:ph idx="1"/>
          </p:nvPr>
        </p:nvSpPr>
        <p:spPr>
          <a:xfrm>
            <a:off x="596900" y="1398320"/>
            <a:ext cx="10756900" cy="4525963"/>
          </a:xfrm>
        </p:spPr>
        <p:txBody>
          <a:bodyPr>
            <a:noAutofit/>
          </a:bodyPr>
          <a:lstStyle/>
          <a:p>
            <a:pPr algn="just"/>
            <a:r>
              <a:rPr lang="en-US" b="1" dirty="0">
                <a:latin typeface="MyriadPro-Bold"/>
              </a:rPr>
              <a:t>Skin-</a:t>
            </a:r>
            <a:r>
              <a:rPr lang="en-US" dirty="0">
                <a:latin typeface="MyriadPro-Regular"/>
              </a:rPr>
              <a:t>the predominant member of the normal flora of the skin is </a:t>
            </a:r>
            <a:r>
              <a:rPr lang="en-US" i="1" dirty="0">
                <a:latin typeface="MyriadPro-It"/>
              </a:rPr>
              <a:t>Staphylococcus epidermidis. </a:t>
            </a:r>
            <a:r>
              <a:rPr lang="en-US" dirty="0">
                <a:latin typeface="MyriadPro-Regular"/>
              </a:rPr>
              <a:t>It is an important cause of infections of prosthetic heart valves and prosthetic joints. </a:t>
            </a:r>
          </a:p>
          <a:p>
            <a:pPr lvl="1" algn="just">
              <a:buFont typeface="Wingdings" panose="05000000000000000000" pitchFamily="2" charset="2"/>
              <a:buChar char="ü"/>
            </a:pPr>
            <a:r>
              <a:rPr lang="en-US" b="0" i="1" u="none" strike="noStrike" baseline="0" dirty="0">
                <a:latin typeface="MyriadPro-It"/>
              </a:rPr>
              <a:t>Staphylococcus aureus </a:t>
            </a:r>
            <a:r>
              <a:rPr lang="en-US" b="0" i="0" u="none" strike="noStrike" baseline="0" dirty="0">
                <a:latin typeface="MyriadPro-Regular"/>
              </a:rPr>
              <a:t>is also present on the skin, but the </a:t>
            </a:r>
            <a:r>
              <a:rPr lang="en-US" b="1" i="0" u="none" strike="noStrike" baseline="0" dirty="0">
                <a:latin typeface="MyriadPro-Regular"/>
              </a:rPr>
              <a:t>nose</a:t>
            </a:r>
            <a:r>
              <a:rPr lang="en-US" b="0" i="0" u="none" strike="noStrike" baseline="0" dirty="0">
                <a:latin typeface="MyriadPro-Regular"/>
              </a:rPr>
              <a:t> is its site</a:t>
            </a:r>
            <a:r>
              <a:rPr lang="en-US" b="1" i="0" u="none" strike="noStrike" baseline="0" dirty="0">
                <a:latin typeface="MyriadPro-Bold"/>
              </a:rPr>
              <a:t>. </a:t>
            </a:r>
            <a:r>
              <a:rPr lang="en-US" b="0" i="0" u="none" strike="noStrike" baseline="0" dirty="0">
                <a:latin typeface="MyriadPro-Regular"/>
              </a:rPr>
              <a:t>It causes abscesses in the skin and in many other organs</a:t>
            </a:r>
          </a:p>
          <a:p>
            <a:pPr algn="just"/>
            <a:r>
              <a:rPr lang="en-US" b="1" dirty="0">
                <a:latin typeface="MyriadPro-Bold"/>
              </a:rPr>
              <a:t>Oropharynx. </a:t>
            </a:r>
            <a:r>
              <a:rPr lang="en-US" dirty="0">
                <a:latin typeface="MyriadPro-Regular"/>
              </a:rPr>
              <a:t>The main members of the normal flora of the mouth and throat are the </a:t>
            </a:r>
            <a:r>
              <a:rPr lang="en-US" dirty="0" err="1">
                <a:latin typeface="MyriadPro-Bold"/>
              </a:rPr>
              <a:t>viridans</a:t>
            </a:r>
            <a:r>
              <a:rPr lang="en-US" b="1" dirty="0">
                <a:latin typeface="MyriadPro-Bold"/>
              </a:rPr>
              <a:t> </a:t>
            </a:r>
            <a:r>
              <a:rPr lang="en-US" dirty="0">
                <a:latin typeface="MyriadPro-Bold"/>
              </a:rPr>
              <a:t>streptococci</a:t>
            </a:r>
            <a:r>
              <a:rPr lang="en-US" dirty="0">
                <a:latin typeface="MyriadPro-Regular"/>
              </a:rPr>
              <a:t>. </a:t>
            </a:r>
          </a:p>
          <a:p>
            <a:pPr lvl="1" algn="just">
              <a:buFont typeface="Wingdings" panose="05000000000000000000" pitchFamily="2" charset="2"/>
              <a:buChar char="ü"/>
            </a:pPr>
            <a:r>
              <a:rPr lang="en-US" b="0" i="0" u="none" strike="noStrike" baseline="0" dirty="0" err="1">
                <a:latin typeface="MyriadPro-Regular"/>
              </a:rPr>
              <a:t>Viridans</a:t>
            </a:r>
            <a:r>
              <a:rPr lang="en-US" b="0" i="0" u="none" strike="noStrike" baseline="0" dirty="0">
                <a:latin typeface="MyriadPro-Regular"/>
              </a:rPr>
              <a:t> streptococci are the most common cause of subacute endocarditis</a:t>
            </a:r>
            <a:r>
              <a:rPr lang="en-US" sz="2000" dirty="0">
                <a:latin typeface="MyriadPro-Regular"/>
              </a:rPr>
              <a:t>.</a:t>
            </a:r>
          </a:p>
        </p:txBody>
      </p:sp>
    </p:spTree>
    <p:extLst>
      <p:ext uri="{BB962C8B-B14F-4D97-AF65-F5344CB8AC3E}">
        <p14:creationId xmlns:p14="http://schemas.microsoft.com/office/powerpoint/2010/main" val="793772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525A-F643-B77B-6B47-0189B5561A42}"/>
              </a:ext>
            </a:extLst>
          </p:cNvPr>
          <p:cNvSpPr>
            <a:spLocks noGrp="1"/>
          </p:cNvSpPr>
          <p:nvPr>
            <p:ph type="title"/>
          </p:nvPr>
        </p:nvSpPr>
        <p:spPr/>
        <p:txBody>
          <a:bodyPr/>
          <a:lstStyle/>
          <a:p>
            <a:r>
              <a:rPr lang="en-US" dirty="0"/>
              <a:t>Members of Human Normal Flora</a:t>
            </a:r>
          </a:p>
        </p:txBody>
      </p:sp>
      <p:sp>
        <p:nvSpPr>
          <p:cNvPr id="3" name="Content Placeholder 2">
            <a:extLst>
              <a:ext uri="{FF2B5EF4-FFF2-40B4-BE49-F238E27FC236}">
                <a16:creationId xmlns:a16="http://schemas.microsoft.com/office/drawing/2014/main" id="{7C4B2A0A-E9D8-6EEC-3194-2C704E96DC96}"/>
              </a:ext>
            </a:extLst>
          </p:cNvPr>
          <p:cNvSpPr>
            <a:spLocks noGrp="1"/>
          </p:cNvSpPr>
          <p:nvPr>
            <p:ph idx="1"/>
          </p:nvPr>
        </p:nvSpPr>
        <p:spPr/>
        <p:txBody>
          <a:bodyPr>
            <a:normAutofit/>
          </a:bodyPr>
          <a:lstStyle/>
          <a:p>
            <a:pPr algn="just"/>
            <a:r>
              <a:rPr lang="en-US" sz="3200" b="1" dirty="0">
                <a:latin typeface="MyriadPro-Regular"/>
              </a:rPr>
              <a:t>Gastro-intestinal</a:t>
            </a:r>
            <a:r>
              <a:rPr lang="en-US" sz="3200" dirty="0">
                <a:latin typeface="MyriadPro-Regular"/>
              </a:rPr>
              <a:t> </a:t>
            </a:r>
            <a:r>
              <a:rPr lang="en-US" sz="3200" b="1" dirty="0">
                <a:latin typeface="MyriadPro-Regular"/>
              </a:rPr>
              <a:t>tract</a:t>
            </a:r>
            <a:r>
              <a:rPr lang="en-US" sz="3200" dirty="0">
                <a:latin typeface="MyriadPro-Regular"/>
              </a:rPr>
              <a:t> - The two most important members of the colonic flora that cause disease are the anaerobe </a:t>
            </a:r>
            <a:r>
              <a:rPr lang="en-US" sz="3200" i="1" dirty="0">
                <a:latin typeface="MyriadPro-It"/>
              </a:rPr>
              <a:t>Bacteroides fragilis </a:t>
            </a:r>
            <a:r>
              <a:rPr lang="en-US" sz="3200" dirty="0">
                <a:latin typeface="MyriadPro-Regular"/>
              </a:rPr>
              <a:t>and the facultative </a:t>
            </a:r>
            <a:r>
              <a:rPr lang="en-US" sz="3200" i="1" dirty="0">
                <a:latin typeface="MyriadPro-It"/>
              </a:rPr>
              <a:t>Escherichia coli. </a:t>
            </a:r>
          </a:p>
          <a:p>
            <a:pPr marL="0" indent="0" algn="just">
              <a:buNone/>
            </a:pPr>
            <a:endParaRPr lang="en-US" sz="3200" i="1" dirty="0">
              <a:latin typeface="MyriadPro-It"/>
            </a:endParaRPr>
          </a:p>
          <a:p>
            <a:pPr algn="just"/>
            <a:r>
              <a:rPr lang="en-US" sz="3200" b="1" dirty="0">
                <a:latin typeface="MyriadPro-Bold"/>
              </a:rPr>
              <a:t>Vagina - </a:t>
            </a:r>
            <a:r>
              <a:rPr lang="en-US" sz="3200" dirty="0">
                <a:latin typeface="MyriadPro-Bold"/>
              </a:rPr>
              <a:t>Lactobacilli</a:t>
            </a:r>
            <a:r>
              <a:rPr lang="en-US" sz="3200" b="1" dirty="0">
                <a:latin typeface="MyriadPro-Bold"/>
              </a:rPr>
              <a:t> </a:t>
            </a:r>
            <a:r>
              <a:rPr lang="en-US" sz="3200" dirty="0">
                <a:latin typeface="MyriadPro-Regular"/>
              </a:rPr>
              <a:t>are the predominant normal flora organisms in the vagina. </a:t>
            </a:r>
          </a:p>
          <a:p>
            <a:pPr lvl="1" algn="just">
              <a:buFont typeface="Wingdings" panose="05000000000000000000" pitchFamily="2" charset="2"/>
              <a:buChar char="ü"/>
            </a:pPr>
            <a:r>
              <a:rPr lang="en-US" b="0" i="0" u="none" strike="noStrike" baseline="0" dirty="0">
                <a:latin typeface="MyriadPro-Regular"/>
              </a:rPr>
              <a:t>They keep the pH of the vagina low, which inhibits the growth of organisms such as </a:t>
            </a:r>
            <a:r>
              <a:rPr lang="en-US" b="0" i="1" u="none" strike="noStrike" baseline="0" dirty="0">
                <a:latin typeface="MyriadPro-It"/>
              </a:rPr>
              <a:t>Candida albicans</a:t>
            </a:r>
            <a:r>
              <a:rPr lang="en-US" b="0" i="0" u="none" strike="noStrike" baseline="0" dirty="0">
                <a:latin typeface="MyriadPro-Regular"/>
              </a:rPr>
              <a:t>, an important cause of vaginitis</a:t>
            </a:r>
          </a:p>
          <a:p>
            <a:pPr algn="just"/>
            <a:endParaRPr lang="en-US" sz="3200" i="1" dirty="0">
              <a:latin typeface="MyriadPro-It"/>
            </a:endParaRPr>
          </a:p>
          <a:p>
            <a:pPr algn="just"/>
            <a:endParaRPr lang="en-US" sz="3200" b="1" dirty="0">
              <a:latin typeface="MyriadPro-Bold"/>
            </a:endParaRPr>
          </a:p>
          <a:p>
            <a:pPr algn="just"/>
            <a:endParaRPr lang="en-US" dirty="0"/>
          </a:p>
        </p:txBody>
      </p:sp>
    </p:spTree>
    <p:extLst>
      <p:ext uri="{BB962C8B-B14F-4D97-AF65-F5344CB8AC3E}">
        <p14:creationId xmlns:p14="http://schemas.microsoft.com/office/powerpoint/2010/main" val="3120826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4E5F8-D8B7-C696-3214-D3D507C89B8E}"/>
              </a:ext>
            </a:extLst>
          </p:cNvPr>
          <p:cNvSpPr>
            <a:spLocks noGrp="1"/>
          </p:cNvSpPr>
          <p:nvPr>
            <p:ph type="title"/>
          </p:nvPr>
        </p:nvSpPr>
        <p:spPr/>
        <p:txBody>
          <a:bodyPr/>
          <a:lstStyle/>
          <a:p>
            <a:r>
              <a:rPr lang="en-US" dirty="0"/>
              <a:t>Members of Human Normal Flora</a:t>
            </a:r>
          </a:p>
        </p:txBody>
      </p:sp>
      <p:sp>
        <p:nvSpPr>
          <p:cNvPr id="3" name="Content Placeholder 2">
            <a:extLst>
              <a:ext uri="{FF2B5EF4-FFF2-40B4-BE49-F238E27FC236}">
                <a16:creationId xmlns:a16="http://schemas.microsoft.com/office/drawing/2014/main" id="{901CA23E-B94B-2B37-5BA1-2DE0F63C1AB8}"/>
              </a:ext>
            </a:extLst>
          </p:cNvPr>
          <p:cNvSpPr>
            <a:spLocks noGrp="1"/>
          </p:cNvSpPr>
          <p:nvPr>
            <p:ph idx="1"/>
          </p:nvPr>
        </p:nvSpPr>
        <p:spPr/>
        <p:txBody>
          <a:bodyPr>
            <a:normAutofit/>
          </a:bodyPr>
          <a:lstStyle/>
          <a:p>
            <a:pPr algn="l"/>
            <a:r>
              <a:rPr lang="en-US" b="1" i="0" u="none" strike="noStrike" baseline="0" dirty="0">
                <a:latin typeface="MyriadPro-Bold"/>
              </a:rPr>
              <a:t>Urethra </a:t>
            </a:r>
            <a:r>
              <a:rPr lang="en-US" i="0" u="none" strike="noStrike" baseline="0" dirty="0">
                <a:latin typeface="MyriadPro-Bold"/>
              </a:rPr>
              <a:t>- t</a:t>
            </a:r>
            <a:r>
              <a:rPr lang="en-US" b="0" i="0" u="none" strike="noStrike" baseline="0" dirty="0">
                <a:latin typeface="MyriadPro-Regular"/>
              </a:rPr>
              <a:t>he outer third of the urethra contains a mixture of bacteria, primarily </a:t>
            </a:r>
            <a:r>
              <a:rPr lang="en-US" b="0" i="1" u="none" strike="noStrike" baseline="0" dirty="0">
                <a:latin typeface="MyriadPro-It"/>
              </a:rPr>
              <a:t>S. epidermidis</a:t>
            </a:r>
            <a:r>
              <a:rPr lang="en-US" b="0" i="0" u="none" strike="noStrike" baseline="0" dirty="0">
                <a:latin typeface="MyriadPro-Regular"/>
              </a:rPr>
              <a:t>. </a:t>
            </a:r>
          </a:p>
          <a:p>
            <a:pPr lvl="1">
              <a:buFont typeface="Wingdings" panose="05000000000000000000" pitchFamily="2" charset="2"/>
              <a:buChar char="ü"/>
            </a:pPr>
            <a:r>
              <a:rPr lang="en-US" b="0" i="0" u="none" strike="noStrike" baseline="0" dirty="0">
                <a:latin typeface="MyriadPro-Regular"/>
              </a:rPr>
              <a:t>The female urethra can become colonized with fecal flora such as </a:t>
            </a:r>
            <a:r>
              <a:rPr lang="en-US" b="0" i="1" u="none" strike="noStrike" baseline="0" dirty="0">
                <a:latin typeface="MyriadPro-It"/>
              </a:rPr>
              <a:t>E. coli</a:t>
            </a:r>
            <a:r>
              <a:rPr lang="en-US" b="0" i="0" u="none" strike="noStrike" baseline="0" dirty="0">
                <a:latin typeface="MyriadPro-Regular"/>
              </a:rPr>
              <a:t>, which predisposes to urinary tract infections.</a:t>
            </a:r>
            <a:endParaRPr lang="en-US" dirty="0"/>
          </a:p>
        </p:txBody>
      </p:sp>
    </p:spTree>
    <p:extLst>
      <p:ext uri="{BB962C8B-B14F-4D97-AF65-F5344CB8AC3E}">
        <p14:creationId xmlns:p14="http://schemas.microsoft.com/office/powerpoint/2010/main" val="418608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2E196-BBB5-F327-2009-0C664DCCE219}"/>
              </a:ext>
            </a:extLst>
          </p:cNvPr>
          <p:cNvSpPr>
            <a:spLocks noGrp="1"/>
          </p:cNvSpPr>
          <p:nvPr>
            <p:ph type="title"/>
          </p:nvPr>
        </p:nvSpPr>
        <p:spPr/>
        <p:txBody>
          <a:bodyPr/>
          <a:lstStyle/>
          <a:p>
            <a:r>
              <a:rPr lang="en-US" dirty="0"/>
              <a:t>Role of the Normal Flora</a:t>
            </a:r>
          </a:p>
        </p:txBody>
      </p:sp>
      <p:sp>
        <p:nvSpPr>
          <p:cNvPr id="3" name="Content Placeholder 2">
            <a:extLst>
              <a:ext uri="{FF2B5EF4-FFF2-40B4-BE49-F238E27FC236}">
                <a16:creationId xmlns:a16="http://schemas.microsoft.com/office/drawing/2014/main" id="{1A23D9F5-C117-0786-2303-54B020276CC3}"/>
              </a:ext>
            </a:extLst>
          </p:cNvPr>
          <p:cNvSpPr>
            <a:spLocks noGrp="1"/>
          </p:cNvSpPr>
          <p:nvPr>
            <p:ph idx="1"/>
          </p:nvPr>
        </p:nvSpPr>
        <p:spPr>
          <a:xfrm>
            <a:off x="482600" y="1396755"/>
            <a:ext cx="10871200" cy="4525963"/>
          </a:xfrm>
        </p:spPr>
        <p:txBody>
          <a:bodyPr>
            <a:noAutofit/>
          </a:bodyPr>
          <a:lstStyle/>
          <a:p>
            <a:pPr algn="just"/>
            <a:r>
              <a:rPr lang="en-US" sz="2400" dirty="0">
                <a:latin typeface="MinionPro-Regular"/>
              </a:rPr>
              <a:t>They can cause disease particularly in immunocompromised and debilitated individuals. </a:t>
            </a:r>
          </a:p>
          <a:p>
            <a:pPr algn="just"/>
            <a:r>
              <a:rPr lang="en-US" sz="2400" dirty="0">
                <a:latin typeface="MinionPro-Regular"/>
              </a:rPr>
              <a:t>They constitute a protective host defense mechanism.</a:t>
            </a:r>
          </a:p>
          <a:p>
            <a:pPr lvl="1" algn="just">
              <a:buFont typeface="Wingdings" panose="05000000000000000000" pitchFamily="2" charset="2"/>
              <a:buChar char="ü"/>
            </a:pPr>
            <a:r>
              <a:rPr lang="en-US" dirty="0">
                <a:latin typeface="MinionPro-Regular"/>
              </a:rPr>
              <a:t>The nonpathogenic resident bacteria occupy attachment sites on the skin and mucosa that can interfere with colonization by pathogenic bacteria. The ability of members of the normal flora to limit the growth of pathogens is called </a:t>
            </a:r>
            <a:r>
              <a:rPr lang="en-US" b="1" dirty="0">
                <a:latin typeface="MinionPro-Bold"/>
              </a:rPr>
              <a:t>colonization resistance. </a:t>
            </a:r>
          </a:p>
          <a:p>
            <a:pPr lvl="1" algn="just">
              <a:buFont typeface="Wingdings" panose="05000000000000000000" pitchFamily="2" charset="2"/>
              <a:buChar char="ü"/>
            </a:pPr>
            <a:r>
              <a:rPr lang="en-US" dirty="0">
                <a:latin typeface="MinionPro-Regular"/>
              </a:rPr>
              <a:t>If the normal flora is suppressed, pathogens may grow and cause disease. </a:t>
            </a:r>
          </a:p>
          <a:p>
            <a:pPr algn="just"/>
            <a:r>
              <a:rPr lang="en-US" sz="2400" dirty="0">
                <a:latin typeface="MinionPro-Regular"/>
              </a:rPr>
              <a:t>They may serve a nutritional function. </a:t>
            </a:r>
          </a:p>
          <a:p>
            <a:pPr lvl="1" algn="just">
              <a:buFont typeface="Wingdings" panose="05000000000000000000" pitchFamily="2" charset="2"/>
              <a:buChar char="ü"/>
            </a:pPr>
            <a:r>
              <a:rPr lang="en-US" dirty="0">
                <a:latin typeface="MinionPro-Regular"/>
              </a:rPr>
              <a:t>The intestinal bacteria produce several B vitamins and vitamin K.</a:t>
            </a:r>
          </a:p>
        </p:txBody>
      </p:sp>
    </p:spTree>
    <p:extLst>
      <p:ext uri="{BB962C8B-B14F-4D97-AF65-F5344CB8AC3E}">
        <p14:creationId xmlns:p14="http://schemas.microsoft.com/office/powerpoint/2010/main" val="1827969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3E0B-373E-7D46-C5A5-765C6BAAA11B}"/>
              </a:ext>
            </a:extLst>
          </p:cNvPr>
          <p:cNvSpPr>
            <a:spLocks noGrp="1"/>
          </p:cNvSpPr>
          <p:nvPr>
            <p:ph type="title"/>
          </p:nvPr>
        </p:nvSpPr>
        <p:spPr/>
        <p:txBody>
          <a:bodyPr/>
          <a:lstStyle/>
          <a:p>
            <a:r>
              <a:rPr lang="en-US" dirty="0"/>
              <a:t>When do normal human flora cause disease</a:t>
            </a:r>
          </a:p>
        </p:txBody>
      </p:sp>
      <p:sp>
        <p:nvSpPr>
          <p:cNvPr id="3" name="Content Placeholder 2">
            <a:extLst>
              <a:ext uri="{FF2B5EF4-FFF2-40B4-BE49-F238E27FC236}">
                <a16:creationId xmlns:a16="http://schemas.microsoft.com/office/drawing/2014/main" id="{FB1BDC08-EA81-DBE0-9B68-5F8A22F6B8E6}"/>
              </a:ext>
            </a:extLst>
          </p:cNvPr>
          <p:cNvSpPr>
            <a:spLocks noGrp="1"/>
          </p:cNvSpPr>
          <p:nvPr>
            <p:ph idx="1"/>
          </p:nvPr>
        </p:nvSpPr>
        <p:spPr/>
        <p:txBody>
          <a:bodyPr>
            <a:normAutofit lnSpcReduction="10000"/>
          </a:bodyPr>
          <a:lstStyle/>
          <a:p>
            <a:pPr algn="just"/>
            <a:r>
              <a:rPr lang="en-US" dirty="0"/>
              <a:t>Barrier breakdown (</a:t>
            </a:r>
            <a:r>
              <a:rPr lang="en-US" i="1" dirty="0"/>
              <a:t>Staph aureus </a:t>
            </a:r>
            <a:r>
              <a:rPr lang="en-US" dirty="0"/>
              <a:t>causing wound infections)</a:t>
            </a:r>
          </a:p>
          <a:p>
            <a:pPr algn="just"/>
            <a:r>
              <a:rPr lang="en-US" dirty="0"/>
              <a:t>Immunosuppression (HIV, chemotherapy, steroids, malnutrition, extremes of age)</a:t>
            </a:r>
          </a:p>
          <a:p>
            <a:pPr algn="just"/>
            <a:r>
              <a:rPr lang="en-US" dirty="0"/>
              <a:t>Disruption of normal flora (broad spectrum antibiotics, overgrowth of resistant or opportunistic organisms </a:t>
            </a:r>
            <a:r>
              <a:rPr lang="en-US" dirty="0" err="1"/>
              <a:t>eg</a:t>
            </a:r>
            <a:r>
              <a:rPr lang="en-US" dirty="0"/>
              <a:t> </a:t>
            </a:r>
            <a:r>
              <a:rPr lang="en-US" i="1" dirty="0" err="1"/>
              <a:t>Clostridiodes</a:t>
            </a:r>
            <a:r>
              <a:rPr lang="en-US" i="1" dirty="0"/>
              <a:t> difficile</a:t>
            </a:r>
            <a:r>
              <a:rPr lang="en-US" dirty="0"/>
              <a:t>)</a:t>
            </a:r>
          </a:p>
          <a:p>
            <a:pPr algn="just"/>
            <a:r>
              <a:rPr lang="en-US" dirty="0"/>
              <a:t>Translocation to abnormal or unusual sites (</a:t>
            </a:r>
            <a:r>
              <a:rPr lang="en-US" dirty="0" err="1"/>
              <a:t>eg</a:t>
            </a:r>
            <a:r>
              <a:rPr lang="en-US" dirty="0"/>
              <a:t> </a:t>
            </a:r>
            <a:r>
              <a:rPr lang="en-US" i="1" dirty="0"/>
              <a:t>E coli </a:t>
            </a:r>
            <a:r>
              <a:rPr lang="en-US" dirty="0"/>
              <a:t>causing UTI)</a:t>
            </a:r>
          </a:p>
          <a:p>
            <a:pPr algn="just"/>
            <a:r>
              <a:rPr lang="en-US" dirty="0"/>
              <a:t>Overgrowth due to </a:t>
            </a:r>
            <a:r>
              <a:rPr lang="en-US" dirty="0" err="1"/>
              <a:t>favourable</a:t>
            </a:r>
            <a:r>
              <a:rPr lang="en-US" dirty="0"/>
              <a:t> conditions (pH changes, hormones, nutrients) </a:t>
            </a:r>
            <a:r>
              <a:rPr lang="en-US" dirty="0" err="1"/>
              <a:t>eg</a:t>
            </a:r>
            <a:r>
              <a:rPr lang="en-US" dirty="0"/>
              <a:t> vaginal candidiasis after antibiotics or pregnancy</a:t>
            </a:r>
          </a:p>
          <a:p>
            <a:pPr algn="just"/>
            <a:r>
              <a:rPr lang="en-US" dirty="0"/>
              <a:t>Foreign bodies encouraging </a:t>
            </a:r>
            <a:r>
              <a:rPr lang="en-US" dirty="0" err="1"/>
              <a:t>bioflm</a:t>
            </a:r>
            <a:r>
              <a:rPr lang="en-US" dirty="0"/>
              <a:t> formations (</a:t>
            </a:r>
            <a:r>
              <a:rPr lang="en-US" i="1" dirty="0"/>
              <a:t>Staph. epidermidis </a:t>
            </a:r>
            <a:r>
              <a:rPr lang="en-US" dirty="0"/>
              <a:t>causing device-related infections)</a:t>
            </a:r>
          </a:p>
        </p:txBody>
      </p:sp>
    </p:spTree>
    <p:extLst>
      <p:ext uri="{BB962C8B-B14F-4D97-AF65-F5344CB8AC3E}">
        <p14:creationId xmlns:p14="http://schemas.microsoft.com/office/powerpoint/2010/main" val="138896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7706-38C4-2DF3-D230-413638346A58}"/>
              </a:ext>
            </a:extLst>
          </p:cNvPr>
          <p:cNvSpPr>
            <a:spLocks noGrp="1"/>
          </p:cNvSpPr>
          <p:nvPr>
            <p:ph type="title"/>
          </p:nvPr>
        </p:nvSpPr>
        <p:spPr/>
        <p:txBody>
          <a:bodyPr/>
          <a:lstStyle/>
          <a:p>
            <a:r>
              <a:rPr lang="en-US" dirty="0"/>
              <a:t>Structure of typical bacterial pathogen</a:t>
            </a:r>
          </a:p>
        </p:txBody>
      </p:sp>
      <p:pic>
        <p:nvPicPr>
          <p:cNvPr id="4" name="Picture 4" descr="Exam 1: (Unit 2)PROKARYOTIC CELL STRUCTURE, MICROBIAL GROWTH, BIOFILMS ...">
            <a:extLst>
              <a:ext uri="{FF2B5EF4-FFF2-40B4-BE49-F238E27FC236}">
                <a16:creationId xmlns:a16="http://schemas.microsoft.com/office/drawing/2014/main" id="{F7C11B3E-606F-2422-F867-EA7B0D22E3E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967706"/>
            <a:ext cx="10668000" cy="4394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58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20AE4-938F-7198-8217-37BFDBF4B7E9}"/>
              </a:ext>
            </a:extLst>
          </p:cNvPr>
          <p:cNvSpPr>
            <a:spLocks noGrp="1"/>
          </p:cNvSpPr>
          <p:nvPr>
            <p:ph type="title"/>
          </p:nvPr>
        </p:nvSpPr>
        <p:spPr>
          <a:xfrm>
            <a:off x="419100" y="365125"/>
            <a:ext cx="10934700" cy="1325563"/>
          </a:xfrm>
        </p:spPr>
        <p:txBody>
          <a:bodyPr/>
          <a:lstStyle/>
          <a:p>
            <a:r>
              <a:rPr lang="en-US" dirty="0"/>
              <a:t>Structure of typical bacterial pathogen cell wall</a:t>
            </a:r>
          </a:p>
        </p:txBody>
      </p:sp>
      <p:pic>
        <p:nvPicPr>
          <p:cNvPr id="4" name="Content Placeholder 3">
            <a:extLst>
              <a:ext uri="{FF2B5EF4-FFF2-40B4-BE49-F238E27FC236}">
                <a16:creationId xmlns:a16="http://schemas.microsoft.com/office/drawing/2014/main" id="{63E1C87F-42B2-1FA8-2CE2-11AFC2918882}"/>
              </a:ext>
            </a:extLst>
          </p:cNvPr>
          <p:cNvPicPr>
            <a:picLocks noGrp="1" noChangeAspect="1"/>
          </p:cNvPicPr>
          <p:nvPr>
            <p:ph idx="1"/>
          </p:nvPr>
        </p:nvPicPr>
        <p:blipFill>
          <a:blip r:embed="rId2"/>
          <a:stretch>
            <a:fillRect/>
          </a:stretch>
        </p:blipFill>
        <p:spPr>
          <a:xfrm>
            <a:off x="1333500" y="1825625"/>
            <a:ext cx="9334500" cy="4667250"/>
          </a:xfrm>
          <a:prstGeom prst="rect">
            <a:avLst/>
          </a:prstGeom>
        </p:spPr>
      </p:pic>
    </p:spTree>
    <p:extLst>
      <p:ext uri="{BB962C8B-B14F-4D97-AF65-F5344CB8AC3E}">
        <p14:creationId xmlns:p14="http://schemas.microsoft.com/office/powerpoint/2010/main" val="2373902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B7EF8-334F-701D-435E-AAD644D370AF}"/>
              </a:ext>
            </a:extLst>
          </p:cNvPr>
          <p:cNvSpPr>
            <a:spLocks noGrp="1"/>
          </p:cNvSpPr>
          <p:nvPr>
            <p:ph type="title"/>
          </p:nvPr>
        </p:nvSpPr>
        <p:spPr/>
        <p:txBody>
          <a:bodyPr/>
          <a:lstStyle/>
          <a:p>
            <a:r>
              <a:rPr lang="en-US" dirty="0"/>
              <a:t>Structure of typical bacterial pathogen</a:t>
            </a:r>
          </a:p>
        </p:txBody>
      </p:sp>
      <p:pic>
        <p:nvPicPr>
          <p:cNvPr id="5" name="Content Placeholder 4">
            <a:extLst>
              <a:ext uri="{FF2B5EF4-FFF2-40B4-BE49-F238E27FC236}">
                <a16:creationId xmlns:a16="http://schemas.microsoft.com/office/drawing/2014/main" id="{B2E60EC4-B8CA-9D95-9A19-C5F3EF02967E}"/>
              </a:ext>
            </a:extLst>
          </p:cNvPr>
          <p:cNvPicPr>
            <a:picLocks noGrp="1" noChangeAspect="1"/>
          </p:cNvPicPr>
          <p:nvPr>
            <p:ph idx="1"/>
          </p:nvPr>
        </p:nvPicPr>
        <p:blipFill>
          <a:blip r:embed="rId2"/>
          <a:stretch>
            <a:fillRect/>
          </a:stretch>
        </p:blipFill>
        <p:spPr>
          <a:xfrm>
            <a:off x="838200" y="1371600"/>
            <a:ext cx="10515600" cy="5295899"/>
          </a:xfrm>
          <a:prstGeom prst="rect">
            <a:avLst/>
          </a:prstGeom>
        </p:spPr>
      </p:pic>
    </p:spTree>
    <p:extLst>
      <p:ext uri="{BB962C8B-B14F-4D97-AF65-F5344CB8AC3E}">
        <p14:creationId xmlns:p14="http://schemas.microsoft.com/office/powerpoint/2010/main" val="1363639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86B4-4812-B77A-69E2-93D4D33DC9DF}"/>
              </a:ext>
            </a:extLst>
          </p:cNvPr>
          <p:cNvSpPr>
            <a:spLocks noGrp="1"/>
          </p:cNvSpPr>
          <p:nvPr>
            <p:ph type="title"/>
          </p:nvPr>
        </p:nvSpPr>
        <p:spPr/>
        <p:txBody>
          <a:bodyPr/>
          <a:lstStyle/>
          <a:p>
            <a:r>
              <a:rPr lang="en-US" dirty="0"/>
              <a:t>Bacterial Disease Pathogenesis</a:t>
            </a:r>
          </a:p>
        </p:txBody>
      </p:sp>
      <p:sp>
        <p:nvSpPr>
          <p:cNvPr id="3" name="Content Placeholder 2">
            <a:extLst>
              <a:ext uri="{FF2B5EF4-FFF2-40B4-BE49-F238E27FC236}">
                <a16:creationId xmlns:a16="http://schemas.microsoft.com/office/drawing/2014/main" id="{E3BC3968-F27C-BA8B-0342-4F8DEA909BB4}"/>
              </a:ext>
            </a:extLst>
          </p:cNvPr>
          <p:cNvSpPr>
            <a:spLocks noGrp="1"/>
          </p:cNvSpPr>
          <p:nvPr>
            <p:ph idx="1"/>
          </p:nvPr>
        </p:nvSpPr>
        <p:spPr/>
        <p:txBody>
          <a:bodyPr>
            <a:normAutofit/>
          </a:bodyPr>
          <a:lstStyle/>
          <a:p>
            <a:pPr algn="just"/>
            <a:r>
              <a:rPr lang="en-GB" dirty="0"/>
              <a:t>Pathogenesis is the process by which a disease or disorder develops</a:t>
            </a:r>
          </a:p>
          <a:p>
            <a:pPr algn="just"/>
            <a:r>
              <a:rPr lang="en-GB" dirty="0"/>
              <a:t>Infectious disease is established when microorganisms over-power the host defences</a:t>
            </a:r>
          </a:p>
          <a:p>
            <a:pPr algn="just"/>
            <a:r>
              <a:rPr lang="en-GB" dirty="0"/>
              <a:t>There is usually a complex inter-play of factors between the host and the infecting microorganism before disease is established</a:t>
            </a:r>
          </a:p>
          <a:p>
            <a:pPr algn="just"/>
            <a:r>
              <a:rPr lang="en-GB" dirty="0"/>
              <a:t>From the Infecting organism’s perspective, the two critical determinants in overpowering the host are </a:t>
            </a:r>
          </a:p>
          <a:p>
            <a:pPr lvl="1" algn="just"/>
            <a:r>
              <a:rPr lang="en-GB" dirty="0"/>
              <a:t>the </a:t>
            </a:r>
            <a:r>
              <a:rPr lang="en-GB" b="1" dirty="0"/>
              <a:t>number of organisms </a:t>
            </a:r>
            <a:r>
              <a:rPr lang="en-GB" dirty="0"/>
              <a:t>to which the host, or person, is exposed and</a:t>
            </a:r>
          </a:p>
          <a:p>
            <a:pPr lvl="1" algn="just"/>
            <a:r>
              <a:rPr lang="en-GB" dirty="0"/>
              <a:t> the </a:t>
            </a:r>
            <a:r>
              <a:rPr lang="en-GB" b="1" dirty="0"/>
              <a:t>virulence </a:t>
            </a:r>
            <a:r>
              <a:rPr lang="en-GB" dirty="0"/>
              <a:t>of </a:t>
            </a:r>
            <a:r>
              <a:rPr lang="en-US" dirty="0"/>
              <a:t>these organisms.</a:t>
            </a:r>
          </a:p>
          <a:p>
            <a:endParaRPr lang="en-US" dirty="0"/>
          </a:p>
        </p:txBody>
      </p:sp>
    </p:spTree>
    <p:extLst>
      <p:ext uri="{BB962C8B-B14F-4D97-AF65-F5344CB8AC3E}">
        <p14:creationId xmlns:p14="http://schemas.microsoft.com/office/powerpoint/2010/main" val="3305572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Stages of Bacterial Pathogenesis</a:t>
            </a:r>
            <a:endParaRPr lang="en-US" dirty="0"/>
          </a:p>
        </p:txBody>
      </p:sp>
      <p:sp>
        <p:nvSpPr>
          <p:cNvPr id="3" name="Content Placeholder 2"/>
          <p:cNvSpPr>
            <a:spLocks noGrp="1"/>
          </p:cNvSpPr>
          <p:nvPr>
            <p:ph idx="1"/>
          </p:nvPr>
        </p:nvSpPr>
        <p:spPr/>
        <p:txBody>
          <a:bodyPr>
            <a:normAutofit lnSpcReduction="10000"/>
          </a:bodyPr>
          <a:lstStyle/>
          <a:p>
            <a:pPr algn="just"/>
            <a:r>
              <a:rPr lang="en-GB" dirty="0"/>
              <a:t>Bacterial infection could be acquired from an external source or from the normal flora of the host</a:t>
            </a:r>
          </a:p>
          <a:p>
            <a:pPr algn="just"/>
            <a:r>
              <a:rPr lang="en-GB" dirty="0"/>
              <a:t>A generalized sequence of the stages of infection is as </a:t>
            </a:r>
            <a:r>
              <a:rPr lang="en-US" dirty="0"/>
              <a:t>follows:</a:t>
            </a:r>
          </a:p>
          <a:p>
            <a:pPr marL="914400" lvl="1" indent="-514350" algn="just">
              <a:buFont typeface="+mj-lt"/>
              <a:buAutoNum type="arabicPeriod"/>
            </a:pPr>
            <a:r>
              <a:rPr lang="en-GB" dirty="0"/>
              <a:t> Transmission into the portal </a:t>
            </a:r>
            <a:r>
              <a:rPr lang="en-US" dirty="0"/>
              <a:t>of entry.</a:t>
            </a:r>
          </a:p>
          <a:p>
            <a:pPr marL="914400" lvl="1" indent="-514350" algn="just">
              <a:buFont typeface="+mj-lt"/>
              <a:buAutoNum type="arabicPeriod"/>
            </a:pPr>
            <a:r>
              <a:rPr lang="en-GB" dirty="0"/>
              <a:t>Adherence to mucous membranes</a:t>
            </a:r>
            <a:r>
              <a:rPr lang="en-US" dirty="0"/>
              <a:t>.</a:t>
            </a:r>
          </a:p>
          <a:p>
            <a:pPr marL="914400" lvl="1" indent="-514350" algn="just">
              <a:buFont typeface="+mj-lt"/>
              <a:buAutoNum type="arabicPeriod"/>
            </a:pPr>
            <a:r>
              <a:rPr lang="en-GB" dirty="0"/>
              <a:t>Evasion of primary host defences such as skin or </a:t>
            </a:r>
            <a:r>
              <a:rPr lang="en-US" dirty="0"/>
              <a:t>stomach acid.</a:t>
            </a:r>
          </a:p>
          <a:p>
            <a:pPr marL="914400" lvl="1" indent="-514350" algn="just">
              <a:buFont typeface="+mj-lt"/>
              <a:buAutoNum type="arabicPeriod"/>
            </a:pPr>
            <a:r>
              <a:rPr lang="en-GB" dirty="0"/>
              <a:t>Colonization – growth of the bacteria at the site of </a:t>
            </a:r>
            <a:r>
              <a:rPr lang="en-US" dirty="0"/>
              <a:t>adherence.</a:t>
            </a:r>
          </a:p>
          <a:p>
            <a:pPr marL="914400" lvl="1" indent="-514350" algn="just">
              <a:buFont typeface="+mj-lt"/>
              <a:buAutoNum type="arabicPeriod"/>
            </a:pPr>
            <a:r>
              <a:rPr lang="en-GB" dirty="0"/>
              <a:t>Disease symptoms caused by toxin production or </a:t>
            </a:r>
            <a:r>
              <a:rPr lang="en-US" dirty="0"/>
              <a:t>invasion or immunopathogenesis accompanied by inflammation.</a:t>
            </a:r>
          </a:p>
          <a:p>
            <a:pPr marL="914400" lvl="1" indent="-514350" algn="just">
              <a:buFont typeface="+mj-lt"/>
              <a:buAutoNum type="arabicPeriod"/>
            </a:pPr>
            <a:r>
              <a:rPr lang="en-GB" dirty="0"/>
              <a:t>Host responses, both nonspecific and specific immunity</a:t>
            </a:r>
          </a:p>
          <a:p>
            <a:pPr marL="914400" lvl="1" indent="-514350" algn="just">
              <a:buFont typeface="+mj-lt"/>
              <a:buAutoNum type="arabicPeriod"/>
            </a:pPr>
            <a:r>
              <a:rPr lang="en-GB" dirty="0"/>
              <a:t>Progression or resolution of the disease</a:t>
            </a:r>
            <a:endParaRPr lang="en-US" dirty="0"/>
          </a:p>
        </p:txBody>
      </p:sp>
    </p:spTree>
    <p:extLst>
      <p:ext uri="{BB962C8B-B14F-4D97-AF65-F5344CB8AC3E}">
        <p14:creationId xmlns:p14="http://schemas.microsoft.com/office/powerpoint/2010/main" val="1439162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EF4E0-C5F8-44A5-A6C1-38BD8E2A11C2}"/>
              </a:ext>
            </a:extLst>
          </p:cNvPr>
          <p:cNvSpPr>
            <a:spLocks noGrp="1"/>
          </p:cNvSpPr>
          <p:nvPr>
            <p:ph type="title"/>
          </p:nvPr>
        </p:nvSpPr>
        <p:spPr/>
        <p:txBody>
          <a:bodyPr/>
          <a:lstStyle/>
          <a:p>
            <a:r>
              <a:rPr lang="en-US" dirty="0"/>
              <a:t>Bacterial Disease Pathogenesis</a:t>
            </a:r>
          </a:p>
        </p:txBody>
      </p:sp>
      <p:pic>
        <p:nvPicPr>
          <p:cNvPr id="5" name="Content Placeholder 4">
            <a:extLst>
              <a:ext uri="{FF2B5EF4-FFF2-40B4-BE49-F238E27FC236}">
                <a16:creationId xmlns:a16="http://schemas.microsoft.com/office/drawing/2014/main" id="{D8DFB133-817B-BA1A-5A62-31E9F4306A94}"/>
              </a:ext>
            </a:extLst>
          </p:cNvPr>
          <p:cNvPicPr>
            <a:picLocks noGrp="1" noChangeAspect="1"/>
          </p:cNvPicPr>
          <p:nvPr>
            <p:ph idx="1"/>
          </p:nvPr>
        </p:nvPicPr>
        <p:blipFill>
          <a:blip r:embed="rId2"/>
          <a:stretch>
            <a:fillRect/>
          </a:stretch>
        </p:blipFill>
        <p:spPr>
          <a:xfrm>
            <a:off x="1981200" y="1600201"/>
            <a:ext cx="8229600" cy="5126421"/>
          </a:xfrm>
        </p:spPr>
      </p:pic>
    </p:spTree>
    <p:extLst>
      <p:ext uri="{BB962C8B-B14F-4D97-AF65-F5344CB8AC3E}">
        <p14:creationId xmlns:p14="http://schemas.microsoft.com/office/powerpoint/2010/main" val="3315132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5C91-DF32-66BA-0B5D-438DCEC4A105}"/>
              </a:ext>
            </a:extLst>
          </p:cNvPr>
          <p:cNvSpPr>
            <a:spLocks noGrp="1"/>
          </p:cNvSpPr>
          <p:nvPr>
            <p:ph type="title"/>
          </p:nvPr>
        </p:nvSpPr>
        <p:spPr/>
        <p:txBody>
          <a:bodyPr>
            <a:normAutofit/>
          </a:bodyPr>
          <a:lstStyle/>
          <a:p>
            <a:r>
              <a:rPr lang="en-US" dirty="0"/>
              <a:t>Stages of Bacterial pathogenesis – Exposure </a:t>
            </a:r>
          </a:p>
        </p:txBody>
      </p:sp>
      <p:pic>
        <p:nvPicPr>
          <p:cNvPr id="5" name="Content Placeholder 4">
            <a:extLst>
              <a:ext uri="{FF2B5EF4-FFF2-40B4-BE49-F238E27FC236}">
                <a16:creationId xmlns:a16="http://schemas.microsoft.com/office/drawing/2014/main" id="{F42FF035-8CD5-8E49-78DF-797968C5D2AC}"/>
              </a:ext>
            </a:extLst>
          </p:cNvPr>
          <p:cNvPicPr>
            <a:picLocks noGrp="1" noChangeAspect="1"/>
          </p:cNvPicPr>
          <p:nvPr>
            <p:ph idx="1"/>
          </p:nvPr>
        </p:nvPicPr>
        <p:blipFill>
          <a:blip r:embed="rId2"/>
          <a:stretch>
            <a:fillRect/>
          </a:stretch>
        </p:blipFill>
        <p:spPr>
          <a:xfrm>
            <a:off x="1981200" y="1848708"/>
            <a:ext cx="8229600" cy="4028946"/>
          </a:xfrm>
          <a:prstGeom prst="rect">
            <a:avLst/>
          </a:prstGeom>
        </p:spPr>
      </p:pic>
    </p:spTree>
    <p:extLst>
      <p:ext uri="{BB962C8B-B14F-4D97-AF65-F5344CB8AC3E}">
        <p14:creationId xmlns:p14="http://schemas.microsoft.com/office/powerpoint/2010/main" val="2901731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B993-07E2-B68E-78FF-989018D3DCFB}"/>
              </a:ext>
            </a:extLst>
          </p:cNvPr>
          <p:cNvSpPr>
            <a:spLocks noGrp="1"/>
          </p:cNvSpPr>
          <p:nvPr>
            <p:ph type="title"/>
          </p:nvPr>
        </p:nvSpPr>
        <p:spPr>
          <a:xfrm>
            <a:off x="1981200" y="274638"/>
            <a:ext cx="8229600" cy="1143000"/>
          </a:xfrm>
        </p:spPr>
        <p:txBody>
          <a:bodyPr>
            <a:normAutofit fontScale="90000"/>
          </a:bodyPr>
          <a:lstStyle/>
          <a:p>
            <a:r>
              <a:rPr lang="en-US" dirty="0"/>
              <a:t>Stages of Bacterial pathogenesis – Adherence</a:t>
            </a:r>
          </a:p>
        </p:txBody>
      </p:sp>
      <p:sp>
        <p:nvSpPr>
          <p:cNvPr id="11" name="Content Placeholder 10">
            <a:extLst>
              <a:ext uri="{FF2B5EF4-FFF2-40B4-BE49-F238E27FC236}">
                <a16:creationId xmlns:a16="http://schemas.microsoft.com/office/drawing/2014/main" id="{FA310135-6B6D-2640-7D14-5CC2F8256613}"/>
              </a:ext>
            </a:extLst>
          </p:cNvPr>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These structures are collectively called adhesins</a:t>
            </a:r>
          </a:p>
        </p:txBody>
      </p:sp>
      <p:pic>
        <p:nvPicPr>
          <p:cNvPr id="12" name="Picture 11">
            <a:extLst>
              <a:ext uri="{FF2B5EF4-FFF2-40B4-BE49-F238E27FC236}">
                <a16:creationId xmlns:a16="http://schemas.microsoft.com/office/drawing/2014/main" id="{AD204343-0139-16C0-799C-CB95D40C60D6}"/>
              </a:ext>
            </a:extLst>
          </p:cNvPr>
          <p:cNvPicPr>
            <a:picLocks noChangeAspect="1"/>
          </p:cNvPicPr>
          <p:nvPr/>
        </p:nvPicPr>
        <p:blipFill>
          <a:blip r:embed="rId2"/>
          <a:stretch>
            <a:fillRect/>
          </a:stretch>
        </p:blipFill>
        <p:spPr>
          <a:xfrm>
            <a:off x="1980844" y="1532980"/>
            <a:ext cx="8230313" cy="3792041"/>
          </a:xfrm>
          <a:prstGeom prst="rect">
            <a:avLst/>
          </a:prstGeom>
        </p:spPr>
      </p:pic>
    </p:spTree>
    <p:extLst>
      <p:ext uri="{BB962C8B-B14F-4D97-AF65-F5344CB8AC3E}">
        <p14:creationId xmlns:p14="http://schemas.microsoft.com/office/powerpoint/2010/main" val="1059701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A4FAE-7C38-4DE0-FC91-45A15BD0C70B}"/>
              </a:ext>
            </a:extLst>
          </p:cNvPr>
          <p:cNvSpPr>
            <a:spLocks noGrp="1"/>
          </p:cNvSpPr>
          <p:nvPr>
            <p:ph type="title"/>
          </p:nvPr>
        </p:nvSpPr>
        <p:spPr/>
        <p:txBody>
          <a:bodyPr>
            <a:normAutofit/>
          </a:bodyPr>
          <a:lstStyle/>
          <a:p>
            <a:r>
              <a:rPr lang="en-US" dirty="0"/>
              <a:t>Stages of Bacterial pathogenesis – Invasion and Toxicity</a:t>
            </a:r>
          </a:p>
        </p:txBody>
      </p:sp>
      <p:pic>
        <p:nvPicPr>
          <p:cNvPr id="5" name="Content Placeholder 4">
            <a:extLst>
              <a:ext uri="{FF2B5EF4-FFF2-40B4-BE49-F238E27FC236}">
                <a16:creationId xmlns:a16="http://schemas.microsoft.com/office/drawing/2014/main" id="{44D1FDA1-8E09-9041-5655-6F51000F326F}"/>
              </a:ext>
            </a:extLst>
          </p:cNvPr>
          <p:cNvPicPr>
            <a:picLocks noGrp="1" noChangeAspect="1"/>
          </p:cNvPicPr>
          <p:nvPr>
            <p:ph idx="1"/>
          </p:nvPr>
        </p:nvPicPr>
        <p:blipFill>
          <a:blip r:embed="rId2"/>
          <a:stretch>
            <a:fillRect/>
          </a:stretch>
        </p:blipFill>
        <p:spPr>
          <a:xfrm>
            <a:off x="2063552" y="1600201"/>
            <a:ext cx="8192488" cy="4525963"/>
          </a:xfrm>
          <a:prstGeom prst="rect">
            <a:avLst/>
          </a:prstGeom>
        </p:spPr>
      </p:pic>
    </p:spTree>
    <p:extLst>
      <p:ext uri="{BB962C8B-B14F-4D97-AF65-F5344CB8AC3E}">
        <p14:creationId xmlns:p14="http://schemas.microsoft.com/office/powerpoint/2010/main" val="2979540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GB" sz="2800" b="1" dirty="0"/>
              <a:t>Bacterial Pathogenesis - Immunopathogenesis</a:t>
            </a:r>
            <a:endParaRPr lang="en-US" sz="2800" b="1" dirty="0"/>
          </a:p>
        </p:txBody>
      </p:sp>
      <p:sp>
        <p:nvSpPr>
          <p:cNvPr id="3" name="Content Placeholder 2"/>
          <p:cNvSpPr>
            <a:spLocks noGrp="1"/>
          </p:cNvSpPr>
          <p:nvPr>
            <p:ph idx="1"/>
          </p:nvPr>
        </p:nvSpPr>
        <p:spPr/>
        <p:txBody>
          <a:bodyPr>
            <a:normAutofit/>
          </a:bodyPr>
          <a:lstStyle/>
          <a:p>
            <a:pPr algn="just"/>
            <a:r>
              <a:rPr lang="en-GB" dirty="0"/>
              <a:t>In certain diseases, such as rheumatic fever and acute glomerulonephritis, it is not the organism itself that causes the symptoms of disease but the immune response to the presence of the organism. </a:t>
            </a:r>
          </a:p>
          <a:p>
            <a:pPr lvl="1" algn="just">
              <a:buFont typeface="Wingdings" panose="05000000000000000000" pitchFamily="2" charset="2"/>
              <a:buChar char="ü"/>
            </a:pPr>
            <a:r>
              <a:rPr lang="en-GB" dirty="0"/>
              <a:t>In rheumatic fever, antibodies are formed against the M protein of </a:t>
            </a:r>
            <a:r>
              <a:rPr lang="en-GB" i="1" dirty="0"/>
              <a:t>S. pyogenes, </a:t>
            </a:r>
            <a:r>
              <a:rPr lang="en-GB" dirty="0"/>
              <a:t>which cross-react with joint, heart, and brain tissue.</a:t>
            </a:r>
          </a:p>
          <a:p>
            <a:pPr lvl="1" algn="just">
              <a:buFont typeface="Wingdings" panose="05000000000000000000" pitchFamily="2" charset="2"/>
              <a:buChar char="ü"/>
            </a:pPr>
            <a:r>
              <a:rPr lang="en-GB" dirty="0"/>
              <a:t>Inflammation occurs, resulting in the arthritis, carditis, and chorea that are the characteristic findings in this disease</a:t>
            </a:r>
          </a:p>
          <a:p>
            <a:pPr algn="just"/>
            <a:r>
              <a:rPr lang="en-US" dirty="0"/>
              <a:t>Some bacterial infections </a:t>
            </a:r>
            <a:r>
              <a:rPr lang="en-GB" dirty="0"/>
              <a:t>are associated with cancers</a:t>
            </a:r>
          </a:p>
          <a:p>
            <a:pPr algn="just"/>
            <a:r>
              <a:rPr lang="en-GB" dirty="0"/>
              <a:t>Cytokine Storm mechanisms</a:t>
            </a:r>
          </a:p>
        </p:txBody>
      </p:sp>
    </p:spTree>
    <p:extLst>
      <p:ext uri="{BB962C8B-B14F-4D97-AF65-F5344CB8AC3E}">
        <p14:creationId xmlns:p14="http://schemas.microsoft.com/office/powerpoint/2010/main" val="2420428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F66F-73CE-C3ED-2F58-8C42E357008B}"/>
              </a:ext>
            </a:extLst>
          </p:cNvPr>
          <p:cNvSpPr>
            <a:spLocks noGrp="1"/>
          </p:cNvSpPr>
          <p:nvPr>
            <p:ph type="title"/>
          </p:nvPr>
        </p:nvSpPr>
        <p:spPr/>
        <p:txBody>
          <a:bodyPr/>
          <a:lstStyle/>
          <a:p>
            <a:r>
              <a:rPr lang="en-US" b="1" dirty="0"/>
              <a:t>Typical Infectious Disease Stages</a:t>
            </a:r>
          </a:p>
        </p:txBody>
      </p:sp>
      <p:pic>
        <p:nvPicPr>
          <p:cNvPr id="5" name="Content Placeholder 4">
            <a:extLst>
              <a:ext uri="{FF2B5EF4-FFF2-40B4-BE49-F238E27FC236}">
                <a16:creationId xmlns:a16="http://schemas.microsoft.com/office/drawing/2014/main" id="{CC7D42F1-2EB4-649C-0DEF-E25BD28D6CBB}"/>
              </a:ext>
            </a:extLst>
          </p:cNvPr>
          <p:cNvPicPr>
            <a:picLocks noGrp="1" noChangeAspect="1"/>
          </p:cNvPicPr>
          <p:nvPr>
            <p:ph idx="1"/>
          </p:nvPr>
        </p:nvPicPr>
        <p:blipFill>
          <a:blip r:embed="rId2"/>
          <a:stretch>
            <a:fillRect/>
          </a:stretch>
        </p:blipFill>
        <p:spPr>
          <a:xfrm>
            <a:off x="1981200" y="1644716"/>
            <a:ext cx="8229600" cy="4436933"/>
          </a:xfrm>
          <a:prstGeom prst="rect">
            <a:avLst/>
          </a:prstGeom>
        </p:spPr>
      </p:pic>
    </p:spTree>
    <p:extLst>
      <p:ext uri="{BB962C8B-B14F-4D97-AF65-F5344CB8AC3E}">
        <p14:creationId xmlns:p14="http://schemas.microsoft.com/office/powerpoint/2010/main" val="3057531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82964-CA63-09D8-31F7-763B59C93F77}"/>
              </a:ext>
            </a:extLst>
          </p:cNvPr>
          <p:cNvSpPr>
            <a:spLocks noGrp="1"/>
          </p:cNvSpPr>
          <p:nvPr>
            <p:ph type="title"/>
          </p:nvPr>
        </p:nvSpPr>
        <p:spPr/>
        <p:txBody>
          <a:bodyPr/>
          <a:lstStyle/>
          <a:p>
            <a:r>
              <a:rPr lang="en-US" dirty="0"/>
              <a:t>System-based Bacterial Pathogens</a:t>
            </a:r>
          </a:p>
        </p:txBody>
      </p:sp>
      <p:sp>
        <p:nvSpPr>
          <p:cNvPr id="3" name="Content Placeholder 2">
            <a:extLst>
              <a:ext uri="{FF2B5EF4-FFF2-40B4-BE49-F238E27FC236}">
                <a16:creationId xmlns:a16="http://schemas.microsoft.com/office/drawing/2014/main" id="{C8E6862E-9921-E5D6-0E81-5E2FF96D34A7}"/>
              </a:ext>
            </a:extLst>
          </p:cNvPr>
          <p:cNvSpPr>
            <a:spLocks noGrp="1"/>
          </p:cNvSpPr>
          <p:nvPr>
            <p:ph idx="1"/>
          </p:nvPr>
        </p:nvSpPr>
        <p:spPr/>
        <p:txBody>
          <a:bodyPr>
            <a:normAutofit fontScale="92500" lnSpcReduction="10000"/>
          </a:bodyPr>
          <a:lstStyle/>
          <a:p>
            <a:r>
              <a:rPr lang="en-US" dirty="0"/>
              <a:t>Bacterial infections are best approached by site of infection (clinical syndrome) rather than memorizing organisms</a:t>
            </a:r>
          </a:p>
          <a:p>
            <a:pPr marL="0" indent="0">
              <a:buNone/>
            </a:pPr>
            <a:endParaRPr lang="en-US" dirty="0"/>
          </a:p>
          <a:p>
            <a:r>
              <a:rPr lang="en-US" dirty="0"/>
              <a:t>Where is the site, common organisms at this site, how is it transmitted and who is at risk</a:t>
            </a:r>
          </a:p>
          <a:p>
            <a:pPr marL="0" indent="0">
              <a:buNone/>
            </a:pPr>
            <a:endParaRPr lang="en-US" dirty="0"/>
          </a:p>
          <a:p>
            <a:r>
              <a:rPr lang="en-US" dirty="0"/>
              <a:t>Determinants of the likely pathogen, age and immune status of the host, community </a:t>
            </a:r>
            <a:r>
              <a:rPr lang="en-US" dirty="0" err="1"/>
              <a:t>vrs</a:t>
            </a:r>
            <a:r>
              <a:rPr lang="en-US" dirty="0"/>
              <a:t> hospital acquired</a:t>
            </a:r>
          </a:p>
          <a:p>
            <a:endParaRPr lang="en-US" dirty="0"/>
          </a:p>
          <a:p>
            <a:r>
              <a:rPr lang="en-US" dirty="0"/>
              <a:t>We will now examine key bacterial pathogens based on each organ system and the diseases they cause</a:t>
            </a:r>
          </a:p>
        </p:txBody>
      </p:sp>
    </p:spTree>
    <p:extLst>
      <p:ext uri="{BB962C8B-B14F-4D97-AF65-F5344CB8AC3E}">
        <p14:creationId xmlns:p14="http://schemas.microsoft.com/office/powerpoint/2010/main" val="1976900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86C-13BB-A86D-A0A4-1FC1A1AC1CF0}"/>
              </a:ext>
            </a:extLst>
          </p:cNvPr>
          <p:cNvSpPr>
            <a:spLocks noGrp="1"/>
          </p:cNvSpPr>
          <p:nvPr>
            <p:ph type="title"/>
          </p:nvPr>
        </p:nvSpPr>
        <p:spPr/>
        <p:txBody>
          <a:bodyPr/>
          <a:lstStyle/>
          <a:p>
            <a:r>
              <a:rPr lang="en-US" dirty="0"/>
              <a:t>Cardiac bacterial disease – Endocarditis </a:t>
            </a:r>
          </a:p>
        </p:txBody>
      </p:sp>
      <p:pic>
        <p:nvPicPr>
          <p:cNvPr id="1026" name="Picture 2" descr="What is the Inner Most Layer of The Heart Wall Called?">
            <a:extLst>
              <a:ext uri="{FF2B5EF4-FFF2-40B4-BE49-F238E27FC236}">
                <a16:creationId xmlns:a16="http://schemas.microsoft.com/office/drawing/2014/main" id="{B422E8B1-F55F-9C3C-6EFE-8AEE4153E3A3}"/>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b="14119"/>
          <a:stretch>
            <a:fillRect/>
          </a:stretch>
        </p:blipFill>
        <p:spPr bwMode="auto">
          <a:xfrm>
            <a:off x="6096000" y="1825625"/>
            <a:ext cx="5181600" cy="40036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nfective Endocarditis - Causes, Signs, Symptoms, Diagnosis &amp; Treatment">
            <a:extLst>
              <a:ext uri="{FF2B5EF4-FFF2-40B4-BE49-F238E27FC236}">
                <a16:creationId xmlns:a16="http://schemas.microsoft.com/office/drawing/2014/main" id="{1362E631-D2FC-A4EA-10DB-3EEFF411981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482600" y="1825625"/>
            <a:ext cx="5537200" cy="419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765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0E06C-3CF9-4A22-B548-9C0C57ECA784}"/>
              </a:ext>
            </a:extLst>
          </p:cNvPr>
          <p:cNvSpPr>
            <a:spLocks noGrp="1"/>
          </p:cNvSpPr>
          <p:nvPr>
            <p:ph type="title"/>
          </p:nvPr>
        </p:nvSpPr>
        <p:spPr>
          <a:xfrm>
            <a:off x="2024812" y="457200"/>
            <a:ext cx="9163888" cy="655608"/>
          </a:xfrm>
        </p:spPr>
        <p:txBody>
          <a:bodyPr>
            <a:normAutofit/>
          </a:bodyPr>
          <a:lstStyle/>
          <a:p>
            <a:r>
              <a:rPr lang="en-US" dirty="0"/>
              <a:t>Endocarditis –  Pathogens</a:t>
            </a:r>
            <a:endParaRPr lang="en-GH" dirty="0"/>
          </a:p>
        </p:txBody>
      </p:sp>
      <p:pic>
        <p:nvPicPr>
          <p:cNvPr id="6" name="Content Placeholder 5">
            <a:extLst>
              <a:ext uri="{FF2B5EF4-FFF2-40B4-BE49-F238E27FC236}">
                <a16:creationId xmlns:a16="http://schemas.microsoft.com/office/drawing/2014/main" id="{C3B0AC71-6958-40A2-A314-0DDDBC658708}"/>
              </a:ext>
            </a:extLst>
          </p:cNvPr>
          <p:cNvPicPr>
            <a:picLocks noGrp="1" noChangeAspect="1"/>
          </p:cNvPicPr>
          <p:nvPr>
            <p:ph idx="1"/>
          </p:nvPr>
        </p:nvPicPr>
        <p:blipFill>
          <a:blip r:embed="rId2"/>
          <a:srcRect t="8917"/>
          <a:stretch>
            <a:fillRect/>
          </a:stretch>
        </p:blipFill>
        <p:spPr>
          <a:xfrm>
            <a:off x="1574800" y="1471612"/>
            <a:ext cx="8343899" cy="4929188"/>
          </a:xfrm>
        </p:spPr>
      </p:pic>
    </p:spTree>
    <p:extLst>
      <p:ext uri="{BB962C8B-B14F-4D97-AF65-F5344CB8AC3E}">
        <p14:creationId xmlns:p14="http://schemas.microsoft.com/office/powerpoint/2010/main" val="2370404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D42DF-6193-47F1-8B9A-B0EC788003E0}"/>
              </a:ext>
            </a:extLst>
          </p:cNvPr>
          <p:cNvSpPr>
            <a:spLocks noGrp="1"/>
          </p:cNvSpPr>
          <p:nvPr>
            <p:ph type="title"/>
          </p:nvPr>
        </p:nvSpPr>
        <p:spPr/>
        <p:txBody>
          <a:bodyPr/>
          <a:lstStyle/>
          <a:p>
            <a:r>
              <a:rPr lang="en-GB" dirty="0"/>
              <a:t>Endocarditis</a:t>
            </a:r>
            <a:endParaRPr lang="en-GH" dirty="0"/>
          </a:p>
        </p:txBody>
      </p:sp>
      <p:sp>
        <p:nvSpPr>
          <p:cNvPr id="3" name="Content Placeholder 2">
            <a:extLst>
              <a:ext uri="{FF2B5EF4-FFF2-40B4-BE49-F238E27FC236}">
                <a16:creationId xmlns:a16="http://schemas.microsoft.com/office/drawing/2014/main" id="{14D2768B-5E70-4A68-A565-E549E547B2FC}"/>
              </a:ext>
            </a:extLst>
          </p:cNvPr>
          <p:cNvSpPr>
            <a:spLocks noGrp="1"/>
          </p:cNvSpPr>
          <p:nvPr>
            <p:ph idx="1"/>
          </p:nvPr>
        </p:nvSpPr>
        <p:spPr/>
        <p:txBody>
          <a:bodyPr>
            <a:normAutofit/>
          </a:bodyPr>
          <a:lstStyle/>
          <a:p>
            <a:pPr algn="just"/>
            <a:r>
              <a:rPr lang="en-US" dirty="0"/>
              <a:t>Diagnosis is made by </a:t>
            </a:r>
          </a:p>
          <a:p>
            <a:pPr lvl="1" algn="just">
              <a:buFont typeface="Wingdings" panose="05000000000000000000" pitchFamily="2" charset="2"/>
              <a:buChar char="ü"/>
            </a:pPr>
            <a:r>
              <a:rPr lang="en-US" dirty="0"/>
              <a:t>History and examination findings</a:t>
            </a:r>
          </a:p>
          <a:p>
            <a:pPr lvl="1" algn="just">
              <a:buFont typeface="Wingdings" panose="05000000000000000000" pitchFamily="2" charset="2"/>
              <a:buChar char="ü"/>
            </a:pPr>
            <a:r>
              <a:rPr lang="en-US" dirty="0"/>
              <a:t>Microbiological investigations – blood culture – at least 2 samples taken 12 hours apart</a:t>
            </a:r>
          </a:p>
          <a:p>
            <a:pPr lvl="1" algn="just">
              <a:buFont typeface="Wingdings" panose="05000000000000000000" pitchFamily="2" charset="2"/>
              <a:buChar char="ü"/>
            </a:pPr>
            <a:r>
              <a:rPr lang="en-US" dirty="0"/>
              <a:t>Radiological findings - Echocardiography</a:t>
            </a:r>
          </a:p>
          <a:p>
            <a:pPr algn="just"/>
            <a:r>
              <a:rPr lang="en-US" dirty="0"/>
              <a:t>Treatment is mainly medical usually with weeks of intravenous anti-biotics, occasionally,  surgery may be required.</a:t>
            </a:r>
          </a:p>
        </p:txBody>
      </p:sp>
    </p:spTree>
    <p:extLst>
      <p:ext uri="{BB962C8B-B14F-4D97-AF65-F5344CB8AC3E}">
        <p14:creationId xmlns:p14="http://schemas.microsoft.com/office/powerpoint/2010/main" val="2324857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33BB4-810E-4F2B-987B-9BE7EE05D33F}"/>
              </a:ext>
            </a:extLst>
          </p:cNvPr>
          <p:cNvSpPr>
            <a:spLocks noGrp="1"/>
          </p:cNvSpPr>
          <p:nvPr>
            <p:ph type="title"/>
          </p:nvPr>
        </p:nvSpPr>
        <p:spPr/>
        <p:txBody>
          <a:bodyPr/>
          <a:lstStyle/>
          <a:p>
            <a:r>
              <a:rPr lang="en-GB" dirty="0"/>
              <a:t>OTHER CARDIAC INFECTIONS</a:t>
            </a:r>
            <a:endParaRPr lang="en-GH" dirty="0"/>
          </a:p>
        </p:txBody>
      </p:sp>
      <p:sp>
        <p:nvSpPr>
          <p:cNvPr id="7" name="Content Placeholder 6">
            <a:extLst>
              <a:ext uri="{FF2B5EF4-FFF2-40B4-BE49-F238E27FC236}">
                <a16:creationId xmlns:a16="http://schemas.microsoft.com/office/drawing/2014/main" id="{67C03E1E-4031-467E-A543-A513F9D25C90}"/>
              </a:ext>
            </a:extLst>
          </p:cNvPr>
          <p:cNvSpPr>
            <a:spLocks noGrp="1"/>
          </p:cNvSpPr>
          <p:nvPr>
            <p:ph idx="1"/>
          </p:nvPr>
        </p:nvSpPr>
        <p:spPr/>
        <p:txBody>
          <a:bodyPr>
            <a:normAutofit/>
          </a:bodyPr>
          <a:lstStyle/>
          <a:p>
            <a:pPr algn="just"/>
            <a:r>
              <a:rPr lang="en-GB" dirty="0"/>
              <a:t>Other  cardiac infections include Pericarditis and Myocarditis</a:t>
            </a:r>
          </a:p>
          <a:p>
            <a:pPr algn="just"/>
            <a:r>
              <a:rPr lang="en-GB" dirty="0"/>
              <a:t>Myocarditis</a:t>
            </a:r>
          </a:p>
          <a:p>
            <a:pPr lvl="1" algn="just"/>
            <a:r>
              <a:rPr lang="en-GB" dirty="0"/>
              <a:t>Viral pathogens are thought to be the predominant cause of infectious myocarditis, although many cases are idiopathic.</a:t>
            </a:r>
          </a:p>
          <a:p>
            <a:pPr lvl="1" algn="just"/>
            <a:r>
              <a:rPr lang="en-GB" dirty="0"/>
              <a:t>Coxsackie viruses are the most common cause, although cytomegalovirus, Epstein–Barr virus, parvovirus B19, and influenza virus have been implicated. </a:t>
            </a:r>
          </a:p>
          <a:p>
            <a:pPr lvl="1" algn="just"/>
            <a:r>
              <a:rPr lang="en-GB" dirty="0"/>
              <a:t>Other pathogens include Trypanosoma </a:t>
            </a:r>
            <a:r>
              <a:rPr lang="en-GB" dirty="0" err="1"/>
              <a:t>cruzi</a:t>
            </a:r>
            <a:r>
              <a:rPr lang="en-GB" dirty="0"/>
              <a:t>, the agent of Chagas’ disease, and Trichinella spiralis</a:t>
            </a:r>
          </a:p>
          <a:p>
            <a:pPr algn="just"/>
            <a:r>
              <a:rPr lang="en-GB" dirty="0"/>
              <a:t>Pericarditis refers to inflammation of the pericardium</a:t>
            </a:r>
          </a:p>
        </p:txBody>
      </p:sp>
    </p:spTree>
    <p:extLst>
      <p:ext uri="{BB962C8B-B14F-4D97-AF65-F5344CB8AC3E}">
        <p14:creationId xmlns:p14="http://schemas.microsoft.com/office/powerpoint/2010/main" val="2403947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5E249-58BE-4357-A2AE-B548EDB0ED06}"/>
              </a:ext>
            </a:extLst>
          </p:cNvPr>
          <p:cNvSpPr>
            <a:spLocks noGrp="1"/>
          </p:cNvSpPr>
          <p:nvPr>
            <p:ph type="title"/>
          </p:nvPr>
        </p:nvSpPr>
        <p:spPr/>
        <p:txBody>
          <a:bodyPr/>
          <a:lstStyle/>
          <a:p>
            <a:r>
              <a:rPr lang="en-GB" dirty="0"/>
              <a:t>Other Cardiac infections- Pericarditis</a:t>
            </a:r>
            <a:endParaRPr lang="en-GH" dirty="0"/>
          </a:p>
        </p:txBody>
      </p:sp>
      <p:sp>
        <p:nvSpPr>
          <p:cNvPr id="3" name="Content Placeholder 2">
            <a:extLst>
              <a:ext uri="{FF2B5EF4-FFF2-40B4-BE49-F238E27FC236}">
                <a16:creationId xmlns:a16="http://schemas.microsoft.com/office/drawing/2014/main" id="{51583C25-E32B-45B3-8431-37E6CB35FEA2}"/>
              </a:ext>
            </a:extLst>
          </p:cNvPr>
          <p:cNvSpPr>
            <a:spLocks noGrp="1"/>
          </p:cNvSpPr>
          <p:nvPr>
            <p:ph idx="1"/>
          </p:nvPr>
        </p:nvSpPr>
        <p:spPr/>
        <p:txBody>
          <a:bodyPr>
            <a:normAutofit/>
          </a:bodyPr>
          <a:lstStyle/>
          <a:p>
            <a:pPr algn="just"/>
            <a:r>
              <a:rPr lang="en-GB" i="1" dirty="0"/>
              <a:t>Mycobacterium tuberculosis </a:t>
            </a:r>
            <a:r>
              <a:rPr lang="en-GB" dirty="0"/>
              <a:t>is one of the most common infectious causes of pericarditis worldwide.</a:t>
            </a:r>
          </a:p>
          <a:p>
            <a:pPr marL="0" indent="0" algn="just">
              <a:buNone/>
            </a:pPr>
            <a:endParaRPr lang="en-GB" dirty="0"/>
          </a:p>
          <a:p>
            <a:pPr algn="just"/>
            <a:r>
              <a:rPr lang="en-GB" dirty="0"/>
              <a:t>Other infectious causes of pericarditis include fungi and viruses</a:t>
            </a:r>
          </a:p>
          <a:p>
            <a:pPr marL="0" indent="0" algn="just">
              <a:buNone/>
            </a:pPr>
            <a:endParaRPr lang="en-GB" dirty="0"/>
          </a:p>
          <a:p>
            <a:pPr algn="just"/>
            <a:r>
              <a:rPr lang="en-GB" dirty="0"/>
              <a:t>Among viral infections, Coxsackie virus and echovirus are most common, although human immunodeficiency virus and cytomegalovirus can cause pericarditis as well.</a:t>
            </a:r>
            <a:endParaRPr lang="en-GH" dirty="0"/>
          </a:p>
        </p:txBody>
      </p:sp>
    </p:spTree>
    <p:extLst>
      <p:ext uri="{BB962C8B-B14F-4D97-AF65-F5344CB8AC3E}">
        <p14:creationId xmlns:p14="http://schemas.microsoft.com/office/powerpoint/2010/main" val="2727637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3BBB7-B12B-8472-4675-F731B28F6B1C}"/>
              </a:ext>
            </a:extLst>
          </p:cNvPr>
          <p:cNvSpPr>
            <a:spLocks noGrp="1"/>
          </p:cNvSpPr>
          <p:nvPr>
            <p:ph type="title"/>
          </p:nvPr>
        </p:nvSpPr>
        <p:spPr/>
        <p:txBody>
          <a:bodyPr/>
          <a:lstStyle/>
          <a:p>
            <a:r>
              <a:rPr lang="en-GB" dirty="0"/>
              <a:t>BONE AND JOINT DISEASES</a:t>
            </a:r>
            <a:endParaRPr lang="en-US" dirty="0"/>
          </a:p>
        </p:txBody>
      </p:sp>
      <p:pic>
        <p:nvPicPr>
          <p:cNvPr id="3074" name="Picture 2" descr="Pediatric bone and joint infections: Clinical practice - Osmosis">
            <a:extLst>
              <a:ext uri="{FF2B5EF4-FFF2-40B4-BE49-F238E27FC236}">
                <a16:creationId xmlns:a16="http://schemas.microsoft.com/office/drawing/2014/main" id="{9274DDB4-1B4C-8074-7CD7-EB47BDA2CA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5657" y="1825625"/>
            <a:ext cx="8788199" cy="435133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6CA335BB-CE1F-8017-B5E9-DF5F35C7C9F3}"/>
              </a:ext>
            </a:extLst>
          </p:cNvPr>
          <p:cNvCxnSpPr/>
          <p:nvPr/>
        </p:nvCxnSpPr>
        <p:spPr>
          <a:xfrm flipH="1">
            <a:off x="2351314" y="2645229"/>
            <a:ext cx="881743" cy="337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1361F40-8E9F-7059-722F-8A6393541793}"/>
              </a:ext>
            </a:extLst>
          </p:cNvPr>
          <p:cNvCxnSpPr>
            <a:cxnSpLocks/>
          </p:cNvCxnSpPr>
          <p:nvPr/>
        </p:nvCxnSpPr>
        <p:spPr>
          <a:xfrm flipH="1">
            <a:off x="2351314" y="2645229"/>
            <a:ext cx="979715" cy="1480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377B87A-6C23-2AF3-ED24-4B0CB7708471}"/>
              </a:ext>
            </a:extLst>
          </p:cNvPr>
          <p:cNvCxnSpPr/>
          <p:nvPr/>
        </p:nvCxnSpPr>
        <p:spPr>
          <a:xfrm flipH="1">
            <a:off x="2351314" y="3156857"/>
            <a:ext cx="1219200" cy="1719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Picture 2" descr="Skeletal System/Bones all Diagram | Quizlet">
            <a:extLst>
              <a:ext uri="{FF2B5EF4-FFF2-40B4-BE49-F238E27FC236}">
                <a16:creationId xmlns:a16="http://schemas.microsoft.com/office/drawing/2014/main" id="{7D1448AF-036D-C00D-F972-8248D2E506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0973" y="161925"/>
            <a:ext cx="325482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02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80B9-C49D-441E-9BA0-4031A01ED170}"/>
              </a:ext>
            </a:extLst>
          </p:cNvPr>
          <p:cNvSpPr>
            <a:spLocks noGrp="1"/>
          </p:cNvSpPr>
          <p:nvPr>
            <p:ph type="title"/>
          </p:nvPr>
        </p:nvSpPr>
        <p:spPr>
          <a:xfrm>
            <a:off x="1227220" y="365125"/>
            <a:ext cx="10126579" cy="1325563"/>
          </a:xfrm>
        </p:spPr>
        <p:txBody>
          <a:bodyPr/>
          <a:lstStyle/>
          <a:p>
            <a:r>
              <a:rPr lang="en-GB" dirty="0"/>
              <a:t>Bone and Joint Diseases – Osteomyelitis </a:t>
            </a:r>
            <a:endParaRPr lang="en-GH" dirty="0"/>
          </a:p>
        </p:txBody>
      </p:sp>
      <p:sp>
        <p:nvSpPr>
          <p:cNvPr id="3" name="Content Placeholder 2">
            <a:extLst>
              <a:ext uri="{FF2B5EF4-FFF2-40B4-BE49-F238E27FC236}">
                <a16:creationId xmlns:a16="http://schemas.microsoft.com/office/drawing/2014/main" id="{11461BFF-7E34-4C6B-851F-638232EDB626}"/>
              </a:ext>
            </a:extLst>
          </p:cNvPr>
          <p:cNvSpPr>
            <a:spLocks noGrp="1"/>
          </p:cNvSpPr>
          <p:nvPr>
            <p:ph idx="1"/>
          </p:nvPr>
        </p:nvSpPr>
        <p:spPr/>
        <p:txBody>
          <a:bodyPr>
            <a:normAutofit/>
          </a:bodyPr>
          <a:lstStyle/>
          <a:p>
            <a:r>
              <a:rPr lang="en-GB" dirty="0"/>
              <a:t>Clinical manifestation</a:t>
            </a:r>
          </a:p>
          <a:p>
            <a:pPr lvl="1">
              <a:buFont typeface="Wingdings" panose="05000000000000000000" pitchFamily="2" charset="2"/>
              <a:buChar char="ü"/>
            </a:pPr>
            <a:r>
              <a:rPr lang="en-GB" dirty="0"/>
              <a:t>The most characteristic clinical manifestations are bone pain and localized tenderness at the site of infection.</a:t>
            </a:r>
          </a:p>
          <a:p>
            <a:pPr lvl="1">
              <a:buFont typeface="Wingdings" panose="05000000000000000000" pitchFamily="2" charset="2"/>
              <a:buChar char="ü"/>
            </a:pPr>
            <a:r>
              <a:rPr lang="en-GB" dirty="0"/>
              <a:t>Most patients also have constitutional symptoms such as fever, night sweats, and fatigue</a:t>
            </a:r>
          </a:p>
          <a:p>
            <a:pPr lvl="1">
              <a:buFont typeface="Wingdings" panose="05000000000000000000" pitchFamily="2" charset="2"/>
              <a:buChar char="ü"/>
            </a:pPr>
            <a:r>
              <a:rPr lang="en-GB" dirty="0"/>
              <a:t>In acute osteomyelitis, the symptoms occur abruptly and progress rapidly, whereas in chronic osteomyelitis, the course is more indolent.</a:t>
            </a:r>
          </a:p>
          <a:p>
            <a:pPr lvl="1">
              <a:buFont typeface="Wingdings" panose="05000000000000000000" pitchFamily="2" charset="2"/>
              <a:buChar char="ü"/>
            </a:pPr>
            <a:r>
              <a:rPr lang="en-GB" dirty="0"/>
              <a:t>In chronic osteomyelitis, necrosis of the bone occurs.</a:t>
            </a:r>
          </a:p>
        </p:txBody>
      </p:sp>
    </p:spTree>
    <p:extLst>
      <p:ext uri="{BB962C8B-B14F-4D97-AF65-F5344CB8AC3E}">
        <p14:creationId xmlns:p14="http://schemas.microsoft.com/office/powerpoint/2010/main" val="4077721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193B-98EB-4924-BA64-AA2D748DF66C}"/>
              </a:ext>
            </a:extLst>
          </p:cNvPr>
          <p:cNvSpPr>
            <a:spLocks noGrp="1"/>
          </p:cNvSpPr>
          <p:nvPr>
            <p:ph type="title"/>
          </p:nvPr>
        </p:nvSpPr>
        <p:spPr/>
        <p:txBody>
          <a:bodyPr/>
          <a:lstStyle/>
          <a:p>
            <a:r>
              <a:rPr lang="en-GB" dirty="0"/>
              <a:t>Bone and Joint Diseases – Osteomyelitis </a:t>
            </a:r>
            <a:endParaRPr lang="en-GH" dirty="0"/>
          </a:p>
        </p:txBody>
      </p:sp>
      <p:sp>
        <p:nvSpPr>
          <p:cNvPr id="3" name="Content Placeholder 2">
            <a:extLst>
              <a:ext uri="{FF2B5EF4-FFF2-40B4-BE49-F238E27FC236}">
                <a16:creationId xmlns:a16="http://schemas.microsoft.com/office/drawing/2014/main" id="{43E06630-E75D-4E8F-B765-D327AE35BE90}"/>
              </a:ext>
            </a:extLst>
          </p:cNvPr>
          <p:cNvSpPr>
            <a:spLocks noGrp="1"/>
          </p:cNvSpPr>
          <p:nvPr>
            <p:ph idx="1"/>
          </p:nvPr>
        </p:nvSpPr>
        <p:spPr/>
        <p:txBody>
          <a:bodyPr/>
          <a:lstStyle/>
          <a:p>
            <a:pPr marL="0" indent="0">
              <a:buNone/>
            </a:pPr>
            <a:r>
              <a:rPr lang="en-GB" b="1" dirty="0"/>
              <a:t>Organisms Causing Osteomyelitis with Various Predisposing Factors</a:t>
            </a:r>
          </a:p>
          <a:p>
            <a:pPr marL="0" indent="0">
              <a:buNone/>
            </a:pPr>
            <a:endParaRPr lang="en-GH" b="1" dirty="0"/>
          </a:p>
        </p:txBody>
      </p:sp>
      <p:pic>
        <p:nvPicPr>
          <p:cNvPr id="5" name="Picture 4">
            <a:extLst>
              <a:ext uri="{FF2B5EF4-FFF2-40B4-BE49-F238E27FC236}">
                <a16:creationId xmlns:a16="http://schemas.microsoft.com/office/drawing/2014/main" id="{2F20E5D3-E6E0-4203-A79A-9A66631B1BF4}"/>
              </a:ext>
            </a:extLst>
          </p:cNvPr>
          <p:cNvPicPr>
            <a:picLocks noChangeAspect="1"/>
          </p:cNvPicPr>
          <p:nvPr/>
        </p:nvPicPr>
        <p:blipFill>
          <a:blip r:embed="rId2"/>
          <a:stretch>
            <a:fillRect/>
          </a:stretch>
        </p:blipFill>
        <p:spPr>
          <a:xfrm>
            <a:off x="998807" y="2475914"/>
            <a:ext cx="9833316" cy="3842336"/>
          </a:xfrm>
          <a:prstGeom prst="rect">
            <a:avLst/>
          </a:prstGeom>
        </p:spPr>
      </p:pic>
    </p:spTree>
    <p:extLst>
      <p:ext uri="{BB962C8B-B14F-4D97-AF65-F5344CB8AC3E}">
        <p14:creationId xmlns:p14="http://schemas.microsoft.com/office/powerpoint/2010/main" val="4210703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B6DC-B3CF-4E60-9987-3793A430A2B0}"/>
              </a:ext>
            </a:extLst>
          </p:cNvPr>
          <p:cNvSpPr>
            <a:spLocks noGrp="1"/>
          </p:cNvSpPr>
          <p:nvPr>
            <p:ph type="title"/>
          </p:nvPr>
        </p:nvSpPr>
        <p:spPr/>
        <p:txBody>
          <a:bodyPr/>
          <a:lstStyle/>
          <a:p>
            <a:r>
              <a:rPr lang="en-GB" dirty="0"/>
              <a:t>Bone and Joint Diseases – Osteomyelitis </a:t>
            </a:r>
            <a:endParaRPr lang="en-GH" dirty="0"/>
          </a:p>
        </p:txBody>
      </p:sp>
      <p:sp>
        <p:nvSpPr>
          <p:cNvPr id="3" name="Content Placeholder 2">
            <a:extLst>
              <a:ext uri="{FF2B5EF4-FFF2-40B4-BE49-F238E27FC236}">
                <a16:creationId xmlns:a16="http://schemas.microsoft.com/office/drawing/2014/main" id="{D18FBA52-79CF-4568-B78B-15D4F97D00DF}"/>
              </a:ext>
            </a:extLst>
          </p:cNvPr>
          <p:cNvSpPr>
            <a:spLocks noGrp="1"/>
          </p:cNvSpPr>
          <p:nvPr>
            <p:ph idx="1"/>
          </p:nvPr>
        </p:nvSpPr>
        <p:spPr/>
        <p:txBody>
          <a:bodyPr>
            <a:normAutofit/>
          </a:bodyPr>
          <a:lstStyle/>
          <a:p>
            <a:pPr algn="just"/>
            <a:r>
              <a:rPr lang="en-GB" dirty="0"/>
              <a:t>A microbiologic diagnosis of acute osteomyelitis is most consistently made by culture of a specimen (aspirate, biopsied tissue) of the bone lesion. </a:t>
            </a:r>
          </a:p>
          <a:p>
            <a:pPr algn="just"/>
            <a:r>
              <a:rPr lang="en-GB" dirty="0"/>
              <a:t>Supportive blood cultures are positive in approximately half of cases.</a:t>
            </a:r>
          </a:p>
          <a:p>
            <a:pPr algn="just"/>
            <a:r>
              <a:rPr lang="en-GB" dirty="0"/>
              <a:t>Radiologic imaging is mostly employed in diagnosing chronic osteomyelitis</a:t>
            </a:r>
          </a:p>
          <a:p>
            <a:pPr algn="just"/>
            <a:r>
              <a:rPr lang="en-GB" b="1" dirty="0"/>
              <a:t>Treatment</a:t>
            </a:r>
          </a:p>
          <a:p>
            <a:pPr lvl="1" algn="just">
              <a:buFont typeface="Wingdings" panose="05000000000000000000" pitchFamily="2" charset="2"/>
              <a:buChar char="ü"/>
            </a:pPr>
            <a:r>
              <a:rPr lang="en-GB" dirty="0"/>
              <a:t>involves use of bactericidal anti-biotics that penetrate soft tissue and bone for weeks to months </a:t>
            </a:r>
            <a:r>
              <a:rPr lang="en-GB" dirty="0" err="1"/>
              <a:t>eg</a:t>
            </a:r>
            <a:r>
              <a:rPr lang="en-GB" dirty="0"/>
              <a:t> Clindamycin</a:t>
            </a:r>
          </a:p>
          <a:p>
            <a:pPr lvl="1" algn="just">
              <a:buFont typeface="Wingdings" panose="05000000000000000000" pitchFamily="2" charset="2"/>
              <a:buChar char="ü"/>
            </a:pPr>
            <a:r>
              <a:rPr lang="en-GB" dirty="0"/>
              <a:t>Surgical debridement is often necessary in chronic osteomyelitis</a:t>
            </a:r>
            <a:endParaRPr lang="en-GH" dirty="0"/>
          </a:p>
        </p:txBody>
      </p:sp>
    </p:spTree>
    <p:extLst>
      <p:ext uri="{BB962C8B-B14F-4D97-AF65-F5344CB8AC3E}">
        <p14:creationId xmlns:p14="http://schemas.microsoft.com/office/powerpoint/2010/main" val="3685523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1F92-52D1-46E5-9852-683CC17F5110}"/>
              </a:ext>
            </a:extLst>
          </p:cNvPr>
          <p:cNvSpPr>
            <a:spLocks noGrp="1"/>
          </p:cNvSpPr>
          <p:nvPr>
            <p:ph type="title"/>
          </p:nvPr>
        </p:nvSpPr>
        <p:spPr/>
        <p:txBody>
          <a:bodyPr/>
          <a:lstStyle/>
          <a:p>
            <a:r>
              <a:rPr lang="en-GB" dirty="0"/>
              <a:t>Bone and Joint Diseases – Septic Arthritis</a:t>
            </a:r>
            <a:endParaRPr lang="en-GH" dirty="0"/>
          </a:p>
        </p:txBody>
      </p:sp>
      <p:sp>
        <p:nvSpPr>
          <p:cNvPr id="3" name="Content Placeholder 2">
            <a:extLst>
              <a:ext uri="{FF2B5EF4-FFF2-40B4-BE49-F238E27FC236}">
                <a16:creationId xmlns:a16="http://schemas.microsoft.com/office/drawing/2014/main" id="{9F86DA7C-95D6-4087-A961-F27C526EE0F4}"/>
              </a:ext>
            </a:extLst>
          </p:cNvPr>
          <p:cNvSpPr>
            <a:spLocks noGrp="1"/>
          </p:cNvSpPr>
          <p:nvPr>
            <p:ph idx="1"/>
          </p:nvPr>
        </p:nvSpPr>
        <p:spPr/>
        <p:txBody>
          <a:bodyPr>
            <a:normAutofit lnSpcReduction="10000"/>
          </a:bodyPr>
          <a:lstStyle/>
          <a:p>
            <a:pPr algn="just"/>
            <a:r>
              <a:rPr lang="en-GB" dirty="0"/>
              <a:t>Infectious (septic) arthritis is an infection of the joints. The terms infectious or septic are used to distinguish these infections from immune-mediated arthritis, such as rheumatoid arthritis.</a:t>
            </a:r>
          </a:p>
          <a:p>
            <a:pPr algn="just"/>
            <a:r>
              <a:rPr lang="en-GB" dirty="0"/>
              <a:t>Organisms typically reach the joint via the bloodstream from a skin site.</a:t>
            </a:r>
          </a:p>
          <a:p>
            <a:pPr algn="just"/>
            <a:r>
              <a:rPr lang="en-GB" dirty="0"/>
              <a:t>Clinical manifestation</a:t>
            </a:r>
          </a:p>
          <a:p>
            <a:pPr lvl="1" algn="just">
              <a:buFont typeface="Wingdings" panose="05000000000000000000" pitchFamily="2" charset="2"/>
              <a:buChar char="ü"/>
            </a:pPr>
            <a:r>
              <a:rPr lang="en-GB" dirty="0"/>
              <a:t>The acute onset of an inflamed joint. Fever is often present.</a:t>
            </a:r>
          </a:p>
          <a:p>
            <a:pPr lvl="1" algn="just">
              <a:buFont typeface="Wingdings" panose="05000000000000000000" pitchFamily="2" charset="2"/>
              <a:buChar char="ü"/>
            </a:pPr>
            <a:r>
              <a:rPr lang="en-GB" dirty="0"/>
              <a:t> On physical examination, the affected joint is red, warm, and swollen, and a joint effusion (fluid in the joint) is typically present. </a:t>
            </a:r>
          </a:p>
          <a:p>
            <a:pPr lvl="1" algn="just">
              <a:buFont typeface="Wingdings" panose="05000000000000000000" pitchFamily="2" charset="2"/>
              <a:buChar char="ü"/>
            </a:pPr>
            <a:r>
              <a:rPr lang="en-GB" dirty="0"/>
              <a:t>Reluctance to use a joint, especially in a child, may be a sign of infectious arthritis.</a:t>
            </a:r>
            <a:endParaRPr lang="en-GH" dirty="0"/>
          </a:p>
        </p:txBody>
      </p:sp>
    </p:spTree>
    <p:extLst>
      <p:ext uri="{BB962C8B-B14F-4D97-AF65-F5344CB8AC3E}">
        <p14:creationId xmlns:p14="http://schemas.microsoft.com/office/powerpoint/2010/main" val="3714151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4904F-6B77-473A-97AC-33F43016B6AD}"/>
              </a:ext>
            </a:extLst>
          </p:cNvPr>
          <p:cNvSpPr>
            <a:spLocks noGrp="1"/>
          </p:cNvSpPr>
          <p:nvPr>
            <p:ph type="title"/>
          </p:nvPr>
        </p:nvSpPr>
        <p:spPr/>
        <p:txBody>
          <a:bodyPr/>
          <a:lstStyle/>
          <a:p>
            <a:r>
              <a:rPr lang="en-GB" dirty="0"/>
              <a:t>Bone and Joint Diseases – Septic Arthritis</a:t>
            </a:r>
            <a:endParaRPr lang="en-GH" dirty="0"/>
          </a:p>
        </p:txBody>
      </p:sp>
      <p:sp>
        <p:nvSpPr>
          <p:cNvPr id="3" name="Content Placeholder 2">
            <a:extLst>
              <a:ext uri="{FF2B5EF4-FFF2-40B4-BE49-F238E27FC236}">
                <a16:creationId xmlns:a16="http://schemas.microsoft.com/office/drawing/2014/main" id="{C51C9A11-B78B-4279-8194-12A93CD7A691}"/>
              </a:ext>
            </a:extLst>
          </p:cNvPr>
          <p:cNvSpPr>
            <a:spLocks noGrp="1"/>
          </p:cNvSpPr>
          <p:nvPr>
            <p:ph sz="half" idx="1"/>
          </p:nvPr>
        </p:nvSpPr>
        <p:spPr/>
        <p:txBody>
          <a:bodyPr/>
          <a:lstStyle/>
          <a:p>
            <a:pPr marL="0" indent="0">
              <a:buNone/>
            </a:pPr>
            <a:r>
              <a:rPr lang="en-GB" dirty="0"/>
              <a:t>Organisms Causing Infectious Arthritis with Various Predisposing Factors</a:t>
            </a:r>
          </a:p>
          <a:p>
            <a:endParaRPr lang="en-GH" dirty="0"/>
          </a:p>
        </p:txBody>
      </p:sp>
      <p:sp>
        <p:nvSpPr>
          <p:cNvPr id="4" name="Content Placeholder 3">
            <a:extLst>
              <a:ext uri="{FF2B5EF4-FFF2-40B4-BE49-F238E27FC236}">
                <a16:creationId xmlns:a16="http://schemas.microsoft.com/office/drawing/2014/main" id="{3A96C0F0-C9D2-40C3-AC6F-8DE0AF19B26F}"/>
              </a:ext>
            </a:extLst>
          </p:cNvPr>
          <p:cNvSpPr>
            <a:spLocks noGrp="1"/>
          </p:cNvSpPr>
          <p:nvPr>
            <p:ph sz="half" idx="2"/>
          </p:nvPr>
        </p:nvSpPr>
        <p:spPr/>
        <p:txBody>
          <a:bodyPr/>
          <a:lstStyle/>
          <a:p>
            <a:pPr marL="0" indent="0">
              <a:buNone/>
            </a:pPr>
            <a:r>
              <a:rPr lang="en-GB" dirty="0"/>
              <a:t>        Septic arthritis of knee</a:t>
            </a:r>
          </a:p>
          <a:p>
            <a:endParaRPr lang="en-GH" dirty="0"/>
          </a:p>
        </p:txBody>
      </p:sp>
      <p:pic>
        <p:nvPicPr>
          <p:cNvPr id="6" name="Picture 5">
            <a:extLst>
              <a:ext uri="{FF2B5EF4-FFF2-40B4-BE49-F238E27FC236}">
                <a16:creationId xmlns:a16="http://schemas.microsoft.com/office/drawing/2014/main" id="{EE34927F-5050-4C56-A16B-63C2432D5234}"/>
              </a:ext>
            </a:extLst>
          </p:cNvPr>
          <p:cNvPicPr>
            <a:picLocks noChangeAspect="1"/>
          </p:cNvPicPr>
          <p:nvPr/>
        </p:nvPicPr>
        <p:blipFill>
          <a:blip r:embed="rId2"/>
          <a:stretch>
            <a:fillRect/>
          </a:stretch>
        </p:blipFill>
        <p:spPr>
          <a:xfrm>
            <a:off x="1083213" y="3065461"/>
            <a:ext cx="4754879" cy="3246439"/>
          </a:xfrm>
          <a:prstGeom prst="rect">
            <a:avLst/>
          </a:prstGeom>
        </p:spPr>
      </p:pic>
      <p:pic>
        <p:nvPicPr>
          <p:cNvPr id="8" name="Picture 7">
            <a:extLst>
              <a:ext uri="{FF2B5EF4-FFF2-40B4-BE49-F238E27FC236}">
                <a16:creationId xmlns:a16="http://schemas.microsoft.com/office/drawing/2014/main" id="{41F7CDEC-3CBE-4AC8-BC40-F42D864AD2BD}"/>
              </a:ext>
            </a:extLst>
          </p:cNvPr>
          <p:cNvPicPr>
            <a:picLocks noChangeAspect="1"/>
          </p:cNvPicPr>
          <p:nvPr/>
        </p:nvPicPr>
        <p:blipFill>
          <a:blip r:embed="rId3"/>
          <a:stretch>
            <a:fillRect/>
          </a:stretch>
        </p:blipFill>
        <p:spPr>
          <a:xfrm>
            <a:off x="6264813" y="2278966"/>
            <a:ext cx="5088986" cy="3897997"/>
          </a:xfrm>
          <a:prstGeom prst="rect">
            <a:avLst/>
          </a:prstGeom>
        </p:spPr>
      </p:pic>
    </p:spTree>
    <p:extLst>
      <p:ext uri="{BB962C8B-B14F-4D97-AF65-F5344CB8AC3E}">
        <p14:creationId xmlns:p14="http://schemas.microsoft.com/office/powerpoint/2010/main" val="395185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ACA69-B3F9-44AA-BE13-076FFFEA406C}"/>
              </a:ext>
            </a:extLst>
          </p:cNvPr>
          <p:cNvSpPr>
            <a:spLocks noGrp="1"/>
          </p:cNvSpPr>
          <p:nvPr>
            <p:ph type="title"/>
          </p:nvPr>
        </p:nvSpPr>
        <p:spPr/>
        <p:txBody>
          <a:bodyPr/>
          <a:lstStyle/>
          <a:p>
            <a:r>
              <a:rPr lang="en-GB" dirty="0"/>
              <a:t>Bone and Joint Diseases – Septic Arthritis</a:t>
            </a:r>
            <a:endParaRPr lang="en-GH" dirty="0"/>
          </a:p>
        </p:txBody>
      </p:sp>
      <p:sp>
        <p:nvSpPr>
          <p:cNvPr id="3" name="Content Placeholder 2">
            <a:extLst>
              <a:ext uri="{FF2B5EF4-FFF2-40B4-BE49-F238E27FC236}">
                <a16:creationId xmlns:a16="http://schemas.microsoft.com/office/drawing/2014/main" id="{75A5736C-A4C4-42E5-A7B0-E04A1B10EF87}"/>
              </a:ext>
            </a:extLst>
          </p:cNvPr>
          <p:cNvSpPr>
            <a:spLocks noGrp="1"/>
          </p:cNvSpPr>
          <p:nvPr>
            <p:ph idx="1"/>
          </p:nvPr>
        </p:nvSpPr>
        <p:spPr/>
        <p:txBody>
          <a:bodyPr>
            <a:normAutofit/>
          </a:bodyPr>
          <a:lstStyle/>
          <a:p>
            <a:r>
              <a:rPr lang="en-GB" dirty="0"/>
              <a:t>Diagnosis</a:t>
            </a:r>
          </a:p>
          <a:p>
            <a:pPr lvl="1">
              <a:buFont typeface="Wingdings" panose="05000000000000000000" pitchFamily="2" charset="2"/>
              <a:buChar char="ü"/>
            </a:pPr>
            <a:r>
              <a:rPr lang="en-GB" dirty="0"/>
              <a:t>Visualization of the organisms in the Gram stain of joint fluid is used to guide empiric therapy. </a:t>
            </a:r>
          </a:p>
          <a:p>
            <a:pPr lvl="1">
              <a:buFont typeface="Wingdings" panose="05000000000000000000" pitchFamily="2" charset="2"/>
              <a:buChar char="ü"/>
            </a:pPr>
            <a:r>
              <a:rPr lang="en-GB" dirty="0"/>
              <a:t>A microbiologic diagnosis of infectious arthritis is typically made by culture of a specimen of the joint fluid. Blood cultures are positive in less than 30% of cases.</a:t>
            </a:r>
          </a:p>
          <a:p>
            <a:r>
              <a:rPr lang="en-GB" dirty="0"/>
              <a:t>Treatment</a:t>
            </a:r>
          </a:p>
          <a:p>
            <a:pPr lvl="1">
              <a:buFont typeface="Wingdings" panose="05000000000000000000" pitchFamily="2" charset="2"/>
              <a:buChar char="ü"/>
            </a:pPr>
            <a:r>
              <a:rPr lang="en-GB" dirty="0"/>
              <a:t>Prompt antibiotic treatment is required for optimal recovery</a:t>
            </a:r>
          </a:p>
          <a:p>
            <a:pPr lvl="1">
              <a:buFont typeface="Wingdings" panose="05000000000000000000" pitchFamily="2" charset="2"/>
              <a:buChar char="ü"/>
            </a:pPr>
            <a:r>
              <a:rPr lang="en-GB" dirty="0"/>
              <a:t>Untreated infectious arthritis can lead to joint destruction and loss of mobility</a:t>
            </a:r>
          </a:p>
          <a:p>
            <a:pPr lvl="1">
              <a:buFont typeface="Wingdings" panose="05000000000000000000" pitchFamily="2" charset="2"/>
              <a:buChar char="ü"/>
            </a:pPr>
            <a:r>
              <a:rPr lang="en-GB" dirty="0"/>
              <a:t>Removal of joint fluid via arthrocentesis and/or surgical drainage is an important adjunct to antibiotics.</a:t>
            </a:r>
          </a:p>
          <a:p>
            <a:pPr lvl="1">
              <a:buFont typeface="Wingdings" panose="05000000000000000000" pitchFamily="2" charset="2"/>
              <a:buChar char="ü"/>
            </a:pPr>
            <a:endParaRPr lang="en-GB" dirty="0"/>
          </a:p>
          <a:p>
            <a:pPr lvl="1">
              <a:buFont typeface="Wingdings" panose="05000000000000000000" pitchFamily="2" charset="2"/>
              <a:buChar char="ü"/>
            </a:pPr>
            <a:endParaRPr lang="en-GH" dirty="0"/>
          </a:p>
        </p:txBody>
      </p:sp>
    </p:spTree>
    <p:extLst>
      <p:ext uri="{BB962C8B-B14F-4D97-AF65-F5344CB8AC3E}">
        <p14:creationId xmlns:p14="http://schemas.microsoft.com/office/powerpoint/2010/main" val="19865527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0B7C-1259-43EE-B0BA-FA1939CA5227}"/>
              </a:ext>
            </a:extLst>
          </p:cNvPr>
          <p:cNvSpPr>
            <a:spLocks noGrp="1"/>
          </p:cNvSpPr>
          <p:nvPr>
            <p:ph type="title"/>
          </p:nvPr>
        </p:nvSpPr>
        <p:spPr/>
        <p:txBody>
          <a:bodyPr/>
          <a:lstStyle/>
          <a:p>
            <a:r>
              <a:rPr lang="en-US" dirty="0"/>
              <a:t>Central Nervous System Infections</a:t>
            </a:r>
            <a:endParaRPr lang="en-GH" dirty="0"/>
          </a:p>
        </p:txBody>
      </p:sp>
      <p:sp>
        <p:nvSpPr>
          <p:cNvPr id="3" name="Content Placeholder 2">
            <a:extLst>
              <a:ext uri="{FF2B5EF4-FFF2-40B4-BE49-F238E27FC236}">
                <a16:creationId xmlns:a16="http://schemas.microsoft.com/office/drawing/2014/main" id="{4BD62590-8537-4292-9571-5AF24D4C40F1}"/>
              </a:ext>
            </a:extLst>
          </p:cNvPr>
          <p:cNvSpPr>
            <a:spLocks noGrp="1"/>
          </p:cNvSpPr>
          <p:nvPr>
            <p:ph idx="1"/>
          </p:nvPr>
        </p:nvSpPr>
        <p:spPr/>
        <p:txBody>
          <a:bodyPr/>
          <a:lstStyle/>
          <a:p>
            <a:pPr algn="just"/>
            <a:r>
              <a:rPr lang="en-GB" dirty="0"/>
              <a:t>Central nervous system (CNS) infections are often life threatening and can have severe sequelae.</a:t>
            </a:r>
          </a:p>
          <a:p>
            <a:pPr algn="just"/>
            <a:r>
              <a:rPr lang="en-GB" dirty="0"/>
              <a:t>These infections cause inflammation and oedema within the unyielding cranium, resulting in damage to brain tissue and loss of function.</a:t>
            </a:r>
          </a:p>
          <a:p>
            <a:pPr algn="just"/>
            <a:r>
              <a:rPr lang="en-GB" dirty="0"/>
              <a:t>Bacteria and viruses are the commonest etiologic agents, but fungi, protozoa, and helminths also cause these infections</a:t>
            </a:r>
          </a:p>
          <a:p>
            <a:pPr algn="just"/>
            <a:endParaRPr lang="en-GH" dirty="0"/>
          </a:p>
        </p:txBody>
      </p:sp>
    </p:spTree>
    <p:extLst>
      <p:ext uri="{BB962C8B-B14F-4D97-AF65-F5344CB8AC3E}">
        <p14:creationId xmlns:p14="http://schemas.microsoft.com/office/powerpoint/2010/main" val="2371426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ED55-F32D-0883-5328-68F450DEBA0E}"/>
              </a:ext>
            </a:extLst>
          </p:cNvPr>
          <p:cNvSpPr>
            <a:spLocks noGrp="1"/>
          </p:cNvSpPr>
          <p:nvPr>
            <p:ph type="title"/>
          </p:nvPr>
        </p:nvSpPr>
        <p:spPr/>
        <p:txBody>
          <a:bodyPr/>
          <a:lstStyle/>
          <a:p>
            <a:r>
              <a:rPr lang="en-GB" dirty="0"/>
              <a:t>Central Nervous System Bacterial  Infections</a:t>
            </a:r>
            <a:endParaRPr lang="en-US" dirty="0"/>
          </a:p>
        </p:txBody>
      </p:sp>
      <p:sp>
        <p:nvSpPr>
          <p:cNvPr id="3" name="Content Placeholder 2">
            <a:extLst>
              <a:ext uri="{FF2B5EF4-FFF2-40B4-BE49-F238E27FC236}">
                <a16:creationId xmlns:a16="http://schemas.microsoft.com/office/drawing/2014/main" id="{93BAD787-02BC-8065-C491-FA4D8D676C3E}"/>
              </a:ext>
            </a:extLst>
          </p:cNvPr>
          <p:cNvSpPr>
            <a:spLocks noGrp="1"/>
          </p:cNvSpPr>
          <p:nvPr>
            <p:ph sz="half" idx="1"/>
          </p:nvPr>
        </p:nvSpPr>
        <p:spPr/>
        <p:txBody>
          <a:bodyPr>
            <a:normAutofit/>
          </a:bodyPr>
          <a:lstStyle/>
          <a:p>
            <a:pPr algn="just"/>
            <a:r>
              <a:rPr lang="en-GB" dirty="0"/>
              <a:t>MENINGITIS </a:t>
            </a:r>
          </a:p>
          <a:p>
            <a:pPr lvl="1" algn="just">
              <a:buFont typeface="Wingdings" panose="05000000000000000000" pitchFamily="2" charset="2"/>
              <a:buChar char="ü"/>
            </a:pPr>
            <a:r>
              <a:rPr lang="en-GB" dirty="0"/>
              <a:t>Inflammation of the meninges – the membranes that cover the brain and spinal cord.</a:t>
            </a:r>
          </a:p>
          <a:p>
            <a:pPr lvl="1" algn="just">
              <a:buFont typeface="Wingdings" panose="05000000000000000000" pitchFamily="2" charset="2"/>
              <a:buChar char="ü"/>
            </a:pPr>
            <a:endParaRPr lang="en-GB" dirty="0"/>
          </a:p>
          <a:p>
            <a:pPr lvl="1" algn="just">
              <a:buFont typeface="Wingdings" panose="05000000000000000000" pitchFamily="2" charset="2"/>
              <a:buChar char="ü"/>
            </a:pPr>
            <a:r>
              <a:rPr lang="en-GB" dirty="0"/>
              <a:t>Typically, bacterial meningitis reflects infection of the arachnoid mater and the CSF in both the Subarachnoid space and the ventricles</a:t>
            </a:r>
          </a:p>
          <a:p>
            <a:pPr marL="0" indent="0">
              <a:buNone/>
            </a:pPr>
            <a:endParaRPr lang="en-US" dirty="0"/>
          </a:p>
        </p:txBody>
      </p:sp>
      <p:pic>
        <p:nvPicPr>
          <p:cNvPr id="8194" name="Picture 2" descr="The Influence of the Nervous System on Human Behavior | Owlcation">
            <a:extLst>
              <a:ext uri="{FF2B5EF4-FFF2-40B4-BE49-F238E27FC236}">
                <a16:creationId xmlns:a16="http://schemas.microsoft.com/office/drawing/2014/main" id="{F5D7F1F5-7B66-AE66-8C0A-7468CC1302B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825626"/>
            <a:ext cx="5181600" cy="249600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rachnoid mater - wikidoc">
            <a:extLst>
              <a:ext uri="{FF2B5EF4-FFF2-40B4-BE49-F238E27FC236}">
                <a16:creationId xmlns:a16="http://schemas.microsoft.com/office/drawing/2014/main" id="{76B5EFB6-10C0-B081-4DFC-A9F6E3DA2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483100"/>
            <a:ext cx="5029200" cy="200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6453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ACF0-7C43-4046-BE94-07DB11987699}"/>
              </a:ext>
            </a:extLst>
          </p:cNvPr>
          <p:cNvSpPr>
            <a:spLocks noGrp="1"/>
          </p:cNvSpPr>
          <p:nvPr>
            <p:ph type="title"/>
          </p:nvPr>
        </p:nvSpPr>
        <p:spPr/>
        <p:txBody>
          <a:bodyPr/>
          <a:lstStyle/>
          <a:p>
            <a:r>
              <a:rPr lang="en-GB" dirty="0"/>
              <a:t>CNS INFECTION - MENINGITIS</a:t>
            </a:r>
            <a:endParaRPr lang="en-GH" dirty="0"/>
          </a:p>
        </p:txBody>
      </p:sp>
      <p:sp>
        <p:nvSpPr>
          <p:cNvPr id="3" name="Content Placeholder 2">
            <a:extLst>
              <a:ext uri="{FF2B5EF4-FFF2-40B4-BE49-F238E27FC236}">
                <a16:creationId xmlns:a16="http://schemas.microsoft.com/office/drawing/2014/main" id="{C27A54D2-98BB-48DE-A876-80EE565B4363}"/>
              </a:ext>
            </a:extLst>
          </p:cNvPr>
          <p:cNvSpPr>
            <a:spLocks noGrp="1"/>
          </p:cNvSpPr>
          <p:nvPr>
            <p:ph idx="1"/>
          </p:nvPr>
        </p:nvSpPr>
        <p:spPr/>
        <p:txBody>
          <a:bodyPr>
            <a:normAutofit fontScale="92500"/>
          </a:bodyPr>
          <a:lstStyle/>
          <a:p>
            <a:pPr algn="just"/>
            <a:r>
              <a:rPr lang="en-GB" dirty="0"/>
              <a:t>Acute Meningitis Pathogens</a:t>
            </a:r>
          </a:p>
          <a:p>
            <a:pPr lvl="1" algn="just">
              <a:buFont typeface="Wingdings" panose="05000000000000000000" pitchFamily="2" charset="2"/>
              <a:buChar char="ü"/>
            </a:pPr>
            <a:r>
              <a:rPr lang="en-GB" dirty="0"/>
              <a:t>The most common bacterial cause of acute meningitis overall is </a:t>
            </a:r>
            <a:r>
              <a:rPr lang="en-GB" i="1" dirty="0"/>
              <a:t>S. pneumoniae</a:t>
            </a:r>
            <a:r>
              <a:rPr lang="en-GB" dirty="0"/>
              <a:t>.</a:t>
            </a:r>
          </a:p>
          <a:p>
            <a:pPr lvl="1" algn="just">
              <a:buFont typeface="Wingdings" panose="05000000000000000000" pitchFamily="2" charset="2"/>
              <a:buChar char="ü"/>
            </a:pPr>
            <a:r>
              <a:rPr lang="en-GB" dirty="0"/>
              <a:t> However, </a:t>
            </a:r>
            <a:r>
              <a:rPr lang="en-GB" i="1" dirty="0"/>
              <a:t>Streptococcus agalactiae </a:t>
            </a:r>
            <a:r>
              <a:rPr lang="en-GB" dirty="0"/>
              <a:t>(group B Streptococcus) predominates in neonates, and</a:t>
            </a:r>
            <a:r>
              <a:rPr lang="en-GB" i="1" dirty="0"/>
              <a:t> N. meningitidis </a:t>
            </a:r>
            <a:r>
              <a:rPr lang="en-GB" dirty="0"/>
              <a:t>is common in teenagers and young adults</a:t>
            </a:r>
          </a:p>
          <a:p>
            <a:pPr lvl="1" algn="just">
              <a:buFont typeface="Wingdings" panose="05000000000000000000" pitchFamily="2" charset="2"/>
              <a:buChar char="ü"/>
            </a:pPr>
            <a:r>
              <a:rPr lang="en-GB" i="1" dirty="0"/>
              <a:t>Haemophilus influenzae t</a:t>
            </a:r>
            <a:r>
              <a:rPr lang="en-GB" dirty="0"/>
              <a:t>ype B used to be an important cause in young children, but the widespread use of the conjugate polysaccharide vaccine has greatly decreased its incidence. </a:t>
            </a:r>
          </a:p>
          <a:p>
            <a:pPr lvl="1" algn="just">
              <a:buFont typeface="Wingdings" panose="05000000000000000000" pitchFamily="2" charset="2"/>
              <a:buChar char="ü"/>
            </a:pPr>
            <a:r>
              <a:rPr lang="en-GB" i="1" dirty="0"/>
              <a:t>Listeria monocytogenes</a:t>
            </a:r>
            <a:r>
              <a:rPr lang="en-GB" dirty="0"/>
              <a:t> is reasonably common in the very young, the very old, and in immunocompromised patients and pregnant women</a:t>
            </a:r>
          </a:p>
          <a:p>
            <a:pPr algn="just"/>
            <a:r>
              <a:rPr lang="en-GB" dirty="0"/>
              <a:t>Subacute or Chronic Meningitis</a:t>
            </a:r>
          </a:p>
          <a:p>
            <a:pPr lvl="1" algn="just">
              <a:buFont typeface="Wingdings" panose="05000000000000000000" pitchFamily="2" charset="2"/>
              <a:buChar char="ü"/>
            </a:pPr>
            <a:r>
              <a:rPr lang="en-GB" dirty="0"/>
              <a:t>Mycobacterium tuberculosis is the leading cause of subacute/chronic bacterial meningitis</a:t>
            </a:r>
          </a:p>
        </p:txBody>
      </p:sp>
    </p:spTree>
    <p:extLst>
      <p:ext uri="{BB962C8B-B14F-4D97-AF65-F5344CB8AC3E}">
        <p14:creationId xmlns:p14="http://schemas.microsoft.com/office/powerpoint/2010/main" val="3966071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B7F0C-A1EF-40C5-841A-E3084CD9BD89}"/>
              </a:ext>
            </a:extLst>
          </p:cNvPr>
          <p:cNvSpPr>
            <a:spLocks noGrp="1"/>
          </p:cNvSpPr>
          <p:nvPr>
            <p:ph type="title"/>
          </p:nvPr>
        </p:nvSpPr>
        <p:spPr/>
        <p:txBody>
          <a:bodyPr/>
          <a:lstStyle/>
          <a:p>
            <a:r>
              <a:rPr lang="en-GB" dirty="0"/>
              <a:t>CNS INFECTION – BACTERIAL MENINGITIS</a:t>
            </a:r>
            <a:endParaRPr lang="en-GH" dirty="0"/>
          </a:p>
        </p:txBody>
      </p:sp>
      <p:sp>
        <p:nvSpPr>
          <p:cNvPr id="3" name="Content Placeholder 2">
            <a:extLst>
              <a:ext uri="{FF2B5EF4-FFF2-40B4-BE49-F238E27FC236}">
                <a16:creationId xmlns:a16="http://schemas.microsoft.com/office/drawing/2014/main" id="{9723E092-6582-4D84-9F78-F7D398E41124}"/>
              </a:ext>
            </a:extLst>
          </p:cNvPr>
          <p:cNvSpPr>
            <a:spLocks noGrp="1"/>
          </p:cNvSpPr>
          <p:nvPr>
            <p:ph idx="1"/>
          </p:nvPr>
        </p:nvSpPr>
        <p:spPr>
          <a:xfrm>
            <a:off x="838200" y="3052689"/>
            <a:ext cx="10515600" cy="3124274"/>
          </a:xfrm>
        </p:spPr>
        <p:txBody>
          <a:bodyPr/>
          <a:lstStyle/>
          <a:p>
            <a:endParaRPr lang="en-GB" dirty="0"/>
          </a:p>
          <a:p>
            <a:endParaRPr lang="en-GH" dirty="0"/>
          </a:p>
        </p:txBody>
      </p:sp>
      <p:pic>
        <p:nvPicPr>
          <p:cNvPr id="5" name="Picture 4">
            <a:extLst>
              <a:ext uri="{FF2B5EF4-FFF2-40B4-BE49-F238E27FC236}">
                <a16:creationId xmlns:a16="http://schemas.microsoft.com/office/drawing/2014/main" id="{9BD40003-0144-4441-BFE6-3222EBB6F5CE}"/>
              </a:ext>
            </a:extLst>
          </p:cNvPr>
          <p:cNvPicPr>
            <a:picLocks noChangeAspect="1"/>
          </p:cNvPicPr>
          <p:nvPr/>
        </p:nvPicPr>
        <p:blipFill>
          <a:blip r:embed="rId2"/>
          <a:stretch>
            <a:fillRect/>
          </a:stretch>
        </p:blipFill>
        <p:spPr>
          <a:xfrm>
            <a:off x="1611085" y="1337679"/>
            <a:ext cx="8240486" cy="4839284"/>
          </a:xfrm>
          <a:prstGeom prst="rect">
            <a:avLst/>
          </a:prstGeom>
        </p:spPr>
      </p:pic>
    </p:spTree>
    <p:extLst>
      <p:ext uri="{BB962C8B-B14F-4D97-AF65-F5344CB8AC3E}">
        <p14:creationId xmlns:p14="http://schemas.microsoft.com/office/powerpoint/2010/main" val="3710017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36598-471F-403D-8C85-95C22987007D}"/>
              </a:ext>
            </a:extLst>
          </p:cNvPr>
          <p:cNvSpPr>
            <a:spLocks noGrp="1"/>
          </p:cNvSpPr>
          <p:nvPr>
            <p:ph type="title"/>
          </p:nvPr>
        </p:nvSpPr>
        <p:spPr/>
        <p:txBody>
          <a:bodyPr/>
          <a:lstStyle/>
          <a:p>
            <a:r>
              <a:rPr lang="en-GB" dirty="0"/>
              <a:t>INVESTIGATORY TOOLS FOR CNS INFECTIONS</a:t>
            </a:r>
            <a:endParaRPr lang="en-GH" dirty="0"/>
          </a:p>
        </p:txBody>
      </p:sp>
      <p:sp>
        <p:nvSpPr>
          <p:cNvPr id="3" name="Content Placeholder 2">
            <a:extLst>
              <a:ext uri="{FF2B5EF4-FFF2-40B4-BE49-F238E27FC236}">
                <a16:creationId xmlns:a16="http://schemas.microsoft.com/office/drawing/2014/main" id="{7759E071-97F3-4216-AFD9-E6D25919FC16}"/>
              </a:ext>
            </a:extLst>
          </p:cNvPr>
          <p:cNvSpPr>
            <a:spLocks noGrp="1"/>
          </p:cNvSpPr>
          <p:nvPr>
            <p:ph idx="1"/>
          </p:nvPr>
        </p:nvSpPr>
        <p:spPr/>
        <p:txBody>
          <a:bodyPr>
            <a:normAutofit lnSpcReduction="10000"/>
          </a:bodyPr>
          <a:lstStyle/>
          <a:p>
            <a:r>
              <a:rPr lang="en-GB" dirty="0"/>
              <a:t>History and examination are the first types available to the clinician in CNS infections investigation</a:t>
            </a:r>
          </a:p>
          <a:p>
            <a:pPr marL="0" indent="0">
              <a:buNone/>
            </a:pPr>
            <a:endParaRPr lang="en-GB" dirty="0"/>
          </a:p>
          <a:p>
            <a:r>
              <a:rPr lang="en-GB" dirty="0"/>
              <a:t>Radiological (mainly Computed Tomography Scan and Magnetic Resonance imaging), Microbiological and to some extent Serology are the mainstay of CNS infections investigations.</a:t>
            </a:r>
          </a:p>
          <a:p>
            <a:pPr marL="0" indent="0">
              <a:buNone/>
            </a:pPr>
            <a:endParaRPr lang="en-GB" dirty="0"/>
          </a:p>
          <a:p>
            <a:r>
              <a:rPr lang="en-GB" dirty="0"/>
              <a:t>The samples mostly utilised in microbiological or serological investigation of CNS infections are </a:t>
            </a:r>
            <a:r>
              <a:rPr lang="en-GB" dirty="0" err="1"/>
              <a:t>Cerebro</a:t>
            </a:r>
            <a:r>
              <a:rPr lang="en-GB" dirty="0"/>
              <a:t>-spinal Fluid (CSF) and blood.  </a:t>
            </a:r>
          </a:p>
        </p:txBody>
      </p:sp>
    </p:spTree>
    <p:extLst>
      <p:ext uri="{BB962C8B-B14F-4D97-AF65-F5344CB8AC3E}">
        <p14:creationId xmlns:p14="http://schemas.microsoft.com/office/powerpoint/2010/main" val="2880319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EE3BC-65D3-4362-8D78-DEC3C60BF434}"/>
              </a:ext>
            </a:extLst>
          </p:cNvPr>
          <p:cNvSpPr>
            <a:spLocks noGrp="1"/>
          </p:cNvSpPr>
          <p:nvPr>
            <p:ph type="title"/>
          </p:nvPr>
        </p:nvSpPr>
        <p:spPr/>
        <p:txBody>
          <a:bodyPr/>
          <a:lstStyle/>
          <a:p>
            <a:r>
              <a:rPr lang="en-GB" dirty="0"/>
              <a:t>CNS INFECTIONS - CSF ANALYSIS</a:t>
            </a:r>
            <a:endParaRPr lang="en-GH" dirty="0"/>
          </a:p>
        </p:txBody>
      </p:sp>
      <p:sp>
        <p:nvSpPr>
          <p:cNvPr id="3" name="Content Placeholder 2">
            <a:extLst>
              <a:ext uri="{FF2B5EF4-FFF2-40B4-BE49-F238E27FC236}">
                <a16:creationId xmlns:a16="http://schemas.microsoft.com/office/drawing/2014/main" id="{FE814F78-5AC1-41CC-8940-47CFC5F4460F}"/>
              </a:ext>
            </a:extLst>
          </p:cNvPr>
          <p:cNvSpPr>
            <a:spLocks noGrp="1"/>
          </p:cNvSpPr>
          <p:nvPr>
            <p:ph idx="1"/>
          </p:nvPr>
        </p:nvSpPr>
        <p:spPr/>
        <p:txBody>
          <a:bodyPr>
            <a:normAutofit fontScale="92500" lnSpcReduction="10000"/>
          </a:bodyPr>
          <a:lstStyle/>
          <a:p>
            <a:endParaRPr lang="en-GB" dirty="0"/>
          </a:p>
          <a:p>
            <a:r>
              <a:rPr lang="en-GB" dirty="0"/>
              <a:t>CSF obtained for analysis;</a:t>
            </a:r>
          </a:p>
          <a:p>
            <a:pPr lvl="1">
              <a:buFont typeface="Wingdings" panose="05000000000000000000" pitchFamily="2" charset="2"/>
              <a:buChar char="ü"/>
            </a:pPr>
            <a:r>
              <a:rPr lang="en-GB" dirty="0"/>
              <a:t>Gram stain </a:t>
            </a:r>
          </a:p>
          <a:p>
            <a:pPr lvl="1">
              <a:buFont typeface="Wingdings" panose="05000000000000000000" pitchFamily="2" charset="2"/>
              <a:buChar char="ü"/>
            </a:pPr>
            <a:r>
              <a:rPr lang="en-GB" dirty="0"/>
              <a:t>Bacterial culture </a:t>
            </a:r>
          </a:p>
          <a:p>
            <a:pPr lvl="1">
              <a:buFont typeface="Wingdings" panose="05000000000000000000" pitchFamily="2" charset="2"/>
              <a:buChar char="ü"/>
            </a:pPr>
            <a:r>
              <a:rPr lang="en-GB" dirty="0"/>
              <a:t>cells ( for both cell type and number; neutrophils or lymphocytes), </a:t>
            </a:r>
          </a:p>
          <a:p>
            <a:pPr lvl="1">
              <a:buFont typeface="Wingdings" panose="05000000000000000000" pitchFamily="2" charset="2"/>
              <a:buChar char="ü"/>
            </a:pPr>
            <a:r>
              <a:rPr lang="en-GB" dirty="0"/>
              <a:t>Protein concentration,</a:t>
            </a:r>
          </a:p>
          <a:p>
            <a:pPr lvl="1">
              <a:buFont typeface="Wingdings" panose="05000000000000000000" pitchFamily="2" charset="2"/>
              <a:buChar char="ü"/>
            </a:pPr>
            <a:r>
              <a:rPr lang="en-GB" dirty="0"/>
              <a:t>Glucose concentration</a:t>
            </a:r>
          </a:p>
          <a:p>
            <a:pPr lvl="1">
              <a:buFont typeface="Wingdings" panose="05000000000000000000" pitchFamily="2" charset="2"/>
              <a:buChar char="ü"/>
            </a:pPr>
            <a:r>
              <a:rPr lang="en-GB" dirty="0"/>
              <a:t>Other appropriate tests ( </a:t>
            </a:r>
            <a:r>
              <a:rPr lang="en-GB" dirty="0" err="1"/>
              <a:t>eg</a:t>
            </a:r>
            <a:r>
              <a:rPr lang="en-GB" dirty="0"/>
              <a:t> Rapid Serologic tests, PCR ) depending upon concern for possible </a:t>
            </a:r>
            <a:r>
              <a:rPr lang="en-GB" dirty="0" err="1"/>
              <a:t>etiologies</a:t>
            </a:r>
            <a:endParaRPr lang="en-GB" dirty="0"/>
          </a:p>
          <a:p>
            <a:endParaRPr lang="en-GB" dirty="0"/>
          </a:p>
          <a:p>
            <a:r>
              <a:rPr lang="en-GB" dirty="0"/>
              <a:t>Analysis of spinal fluid can distinguish between acute bacterial meningitis and viral meningitis.</a:t>
            </a:r>
          </a:p>
          <a:p>
            <a:pPr marL="0" indent="0">
              <a:buNone/>
            </a:pPr>
            <a:endParaRPr lang="en-GB" dirty="0"/>
          </a:p>
          <a:p>
            <a:endParaRPr lang="en-GB" dirty="0"/>
          </a:p>
        </p:txBody>
      </p:sp>
    </p:spTree>
    <p:extLst>
      <p:ext uri="{BB962C8B-B14F-4D97-AF65-F5344CB8AC3E}">
        <p14:creationId xmlns:p14="http://schemas.microsoft.com/office/powerpoint/2010/main" val="23126337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23ECF-2210-4DB9-B25A-C774DF48F02C}"/>
              </a:ext>
            </a:extLst>
          </p:cNvPr>
          <p:cNvSpPr>
            <a:spLocks noGrp="1"/>
          </p:cNvSpPr>
          <p:nvPr>
            <p:ph type="title"/>
          </p:nvPr>
        </p:nvSpPr>
        <p:spPr/>
        <p:txBody>
          <a:bodyPr>
            <a:normAutofit/>
          </a:bodyPr>
          <a:lstStyle/>
          <a:p>
            <a:r>
              <a:rPr lang="en-GB" sz="4000" dirty="0"/>
              <a:t>CSF ANALYSIS - MENINGITIS</a:t>
            </a:r>
            <a:endParaRPr lang="en-GH" sz="4000" dirty="0"/>
          </a:p>
        </p:txBody>
      </p:sp>
      <p:sp>
        <p:nvSpPr>
          <p:cNvPr id="3" name="Content Placeholder 2">
            <a:extLst>
              <a:ext uri="{FF2B5EF4-FFF2-40B4-BE49-F238E27FC236}">
                <a16:creationId xmlns:a16="http://schemas.microsoft.com/office/drawing/2014/main" id="{ECEB63A1-8181-407B-BAB4-9B6AFBB28BAF}"/>
              </a:ext>
            </a:extLst>
          </p:cNvPr>
          <p:cNvSpPr>
            <a:spLocks noGrp="1"/>
          </p:cNvSpPr>
          <p:nvPr>
            <p:ph idx="1"/>
          </p:nvPr>
        </p:nvSpPr>
        <p:spPr/>
        <p:txBody>
          <a:bodyPr>
            <a:normAutofit/>
          </a:bodyPr>
          <a:lstStyle/>
          <a:p>
            <a:pPr marL="0" indent="0">
              <a:buNone/>
            </a:pPr>
            <a:r>
              <a:rPr lang="en-GB" b="1" dirty="0"/>
              <a:t>GRAM STAIN</a:t>
            </a:r>
          </a:p>
          <a:p>
            <a:pPr lvl="1">
              <a:buFont typeface="Wingdings" panose="05000000000000000000" pitchFamily="2" charset="2"/>
              <a:buChar char="ü"/>
            </a:pPr>
            <a:r>
              <a:rPr lang="en-GB" dirty="0"/>
              <a:t>Gram stain should be routinely performed on all CSF samples from patients with suspected Meningitis</a:t>
            </a:r>
          </a:p>
          <a:p>
            <a:pPr lvl="1">
              <a:buFont typeface="Wingdings" panose="05000000000000000000" pitchFamily="2" charset="2"/>
              <a:buChar char="ü"/>
            </a:pPr>
            <a:r>
              <a:rPr lang="en-GB" dirty="0"/>
              <a:t>It has advantage of suggesting bacterial aetiology one day or more before culture results are available.</a:t>
            </a:r>
          </a:p>
          <a:p>
            <a:pPr lvl="2">
              <a:buFont typeface="Wingdings" panose="05000000000000000000" pitchFamily="2" charset="2"/>
              <a:buChar char="Ø"/>
            </a:pPr>
            <a:r>
              <a:rPr lang="en-GB" dirty="0"/>
              <a:t>Gram positive diplococci suggest pneumococcal infection</a:t>
            </a:r>
          </a:p>
          <a:p>
            <a:pPr lvl="2">
              <a:buFont typeface="Wingdings" panose="05000000000000000000" pitchFamily="2" charset="2"/>
              <a:buChar char="Ø"/>
            </a:pPr>
            <a:r>
              <a:rPr lang="en-GB" dirty="0"/>
              <a:t>Gram negative diplococci suggest meningococcal infection </a:t>
            </a:r>
          </a:p>
          <a:p>
            <a:pPr lvl="2">
              <a:buFont typeface="Wingdings" panose="05000000000000000000" pitchFamily="2" charset="2"/>
              <a:buChar char="Ø"/>
            </a:pPr>
            <a:r>
              <a:rPr lang="en-GB" dirty="0"/>
              <a:t>Small pleomorphic Gram negative coccobacilli suggest </a:t>
            </a:r>
            <a:r>
              <a:rPr lang="en-GB" i="1" dirty="0"/>
              <a:t>Haemophilus influenzae </a:t>
            </a:r>
            <a:r>
              <a:rPr lang="en-GB" dirty="0"/>
              <a:t>infection</a:t>
            </a:r>
          </a:p>
          <a:p>
            <a:pPr lvl="2">
              <a:buFont typeface="Wingdings" panose="05000000000000000000" pitchFamily="2" charset="2"/>
              <a:buChar char="Ø"/>
            </a:pPr>
            <a:r>
              <a:rPr lang="en-GB" dirty="0"/>
              <a:t>Gram positive rods and coccobacilli suggest </a:t>
            </a:r>
            <a:r>
              <a:rPr lang="en-GB" dirty="0" err="1"/>
              <a:t>Listerial</a:t>
            </a:r>
            <a:r>
              <a:rPr lang="en-GB" dirty="0"/>
              <a:t> infection</a:t>
            </a:r>
          </a:p>
          <a:p>
            <a:pPr lvl="1">
              <a:buFont typeface="Wingdings" panose="05000000000000000000" pitchFamily="2" charset="2"/>
              <a:buChar char="ü"/>
            </a:pPr>
            <a:r>
              <a:rPr lang="en-GB" dirty="0"/>
              <a:t>Acid Fast Bacillus stain for TB meningitis</a:t>
            </a:r>
            <a:endParaRPr lang="en-GH" dirty="0"/>
          </a:p>
        </p:txBody>
      </p:sp>
    </p:spTree>
    <p:extLst>
      <p:ext uri="{BB962C8B-B14F-4D97-AF65-F5344CB8AC3E}">
        <p14:creationId xmlns:p14="http://schemas.microsoft.com/office/powerpoint/2010/main" val="434008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AF93C-B124-4F14-925C-17DF85C16784}"/>
              </a:ext>
            </a:extLst>
          </p:cNvPr>
          <p:cNvSpPr>
            <a:spLocks noGrp="1"/>
          </p:cNvSpPr>
          <p:nvPr>
            <p:ph type="title"/>
          </p:nvPr>
        </p:nvSpPr>
        <p:spPr/>
        <p:txBody>
          <a:bodyPr/>
          <a:lstStyle/>
          <a:p>
            <a:r>
              <a:rPr lang="en-GB" dirty="0"/>
              <a:t>Gram Stain</a:t>
            </a:r>
            <a:endParaRPr lang="en-GH" dirty="0"/>
          </a:p>
        </p:txBody>
      </p:sp>
      <p:pic>
        <p:nvPicPr>
          <p:cNvPr id="5" name="Content Placeholder 4">
            <a:extLst>
              <a:ext uri="{FF2B5EF4-FFF2-40B4-BE49-F238E27FC236}">
                <a16:creationId xmlns:a16="http://schemas.microsoft.com/office/drawing/2014/main" id="{2CA99EB4-E1EB-407E-A4D6-434964CD414F}"/>
              </a:ext>
            </a:extLst>
          </p:cNvPr>
          <p:cNvPicPr>
            <a:picLocks noGrp="1" noChangeAspect="1"/>
          </p:cNvPicPr>
          <p:nvPr>
            <p:ph idx="1"/>
          </p:nvPr>
        </p:nvPicPr>
        <p:blipFill>
          <a:blip r:embed="rId2"/>
          <a:stretch>
            <a:fillRect/>
          </a:stretch>
        </p:blipFill>
        <p:spPr>
          <a:xfrm>
            <a:off x="539647" y="2177257"/>
            <a:ext cx="3672590" cy="3578966"/>
          </a:xfrm>
        </p:spPr>
      </p:pic>
      <p:pic>
        <p:nvPicPr>
          <p:cNvPr id="7" name="Picture 6">
            <a:extLst>
              <a:ext uri="{FF2B5EF4-FFF2-40B4-BE49-F238E27FC236}">
                <a16:creationId xmlns:a16="http://schemas.microsoft.com/office/drawing/2014/main" id="{D415441C-DD8C-4221-BD47-E30219119C40}"/>
              </a:ext>
            </a:extLst>
          </p:cNvPr>
          <p:cNvPicPr>
            <a:picLocks noChangeAspect="1"/>
          </p:cNvPicPr>
          <p:nvPr/>
        </p:nvPicPr>
        <p:blipFill>
          <a:blip r:embed="rId3"/>
          <a:stretch>
            <a:fillRect/>
          </a:stretch>
        </p:blipFill>
        <p:spPr>
          <a:xfrm>
            <a:off x="3852472" y="2177256"/>
            <a:ext cx="4127293" cy="3578965"/>
          </a:xfrm>
          <a:prstGeom prst="rect">
            <a:avLst/>
          </a:prstGeom>
        </p:spPr>
      </p:pic>
      <p:pic>
        <p:nvPicPr>
          <p:cNvPr id="9" name="Picture 8">
            <a:extLst>
              <a:ext uri="{FF2B5EF4-FFF2-40B4-BE49-F238E27FC236}">
                <a16:creationId xmlns:a16="http://schemas.microsoft.com/office/drawing/2014/main" id="{834B2544-7D28-447F-8BA6-D82EA223E10B}"/>
              </a:ext>
            </a:extLst>
          </p:cNvPr>
          <p:cNvPicPr>
            <a:picLocks noChangeAspect="1"/>
          </p:cNvPicPr>
          <p:nvPr/>
        </p:nvPicPr>
        <p:blipFill>
          <a:blip r:embed="rId4"/>
          <a:stretch>
            <a:fillRect/>
          </a:stretch>
        </p:blipFill>
        <p:spPr>
          <a:xfrm>
            <a:off x="7629993" y="2177253"/>
            <a:ext cx="3897443" cy="3728871"/>
          </a:xfrm>
          <a:prstGeom prst="rect">
            <a:avLst/>
          </a:prstGeom>
        </p:spPr>
      </p:pic>
    </p:spTree>
    <p:extLst>
      <p:ext uri="{BB962C8B-B14F-4D97-AF65-F5344CB8AC3E}">
        <p14:creationId xmlns:p14="http://schemas.microsoft.com/office/powerpoint/2010/main" val="551074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476B-6BFE-4151-82B3-55A8F1D08B1B}"/>
              </a:ext>
            </a:extLst>
          </p:cNvPr>
          <p:cNvSpPr>
            <a:spLocks noGrp="1"/>
          </p:cNvSpPr>
          <p:nvPr>
            <p:ph type="title"/>
          </p:nvPr>
        </p:nvSpPr>
        <p:spPr/>
        <p:txBody>
          <a:bodyPr>
            <a:normAutofit/>
          </a:bodyPr>
          <a:lstStyle/>
          <a:p>
            <a:r>
              <a:rPr lang="en-GB" sz="4000" dirty="0"/>
              <a:t>PRESUMPTIVE DIAGNOSIS BACTERIAL MENINGITIS</a:t>
            </a:r>
            <a:endParaRPr lang="en-GH" sz="4000" dirty="0"/>
          </a:p>
        </p:txBody>
      </p:sp>
      <p:sp>
        <p:nvSpPr>
          <p:cNvPr id="3" name="Content Placeholder 2">
            <a:extLst>
              <a:ext uri="{FF2B5EF4-FFF2-40B4-BE49-F238E27FC236}">
                <a16:creationId xmlns:a16="http://schemas.microsoft.com/office/drawing/2014/main" id="{8214580F-0C5B-491B-A7D3-835E143CA33E}"/>
              </a:ext>
            </a:extLst>
          </p:cNvPr>
          <p:cNvSpPr>
            <a:spLocks noGrp="1"/>
          </p:cNvSpPr>
          <p:nvPr>
            <p:ph idx="1"/>
          </p:nvPr>
        </p:nvSpPr>
        <p:spPr/>
        <p:txBody>
          <a:bodyPr/>
          <a:lstStyle/>
          <a:p>
            <a:pPr marL="0" indent="0">
              <a:buNone/>
            </a:pPr>
            <a:r>
              <a:rPr lang="en-GB" b="1" dirty="0"/>
              <a:t>         Presumptive Diagnosis</a:t>
            </a:r>
            <a:endParaRPr lang="en-GH" b="1" dirty="0"/>
          </a:p>
        </p:txBody>
      </p:sp>
      <p:pic>
        <p:nvPicPr>
          <p:cNvPr id="5" name="Picture 4">
            <a:extLst>
              <a:ext uri="{FF2B5EF4-FFF2-40B4-BE49-F238E27FC236}">
                <a16:creationId xmlns:a16="http://schemas.microsoft.com/office/drawing/2014/main" id="{FD2960B9-252E-483E-9809-2E91C5509B1F}"/>
              </a:ext>
            </a:extLst>
          </p:cNvPr>
          <p:cNvPicPr>
            <a:picLocks noChangeAspect="1"/>
          </p:cNvPicPr>
          <p:nvPr/>
        </p:nvPicPr>
        <p:blipFill>
          <a:blip r:embed="rId2"/>
          <a:stretch>
            <a:fillRect/>
          </a:stretch>
        </p:blipFill>
        <p:spPr>
          <a:xfrm>
            <a:off x="838200" y="2243137"/>
            <a:ext cx="10515600" cy="4068763"/>
          </a:xfrm>
          <a:prstGeom prst="rect">
            <a:avLst/>
          </a:prstGeom>
        </p:spPr>
      </p:pic>
    </p:spTree>
    <p:extLst>
      <p:ext uri="{BB962C8B-B14F-4D97-AF65-F5344CB8AC3E}">
        <p14:creationId xmlns:p14="http://schemas.microsoft.com/office/powerpoint/2010/main" val="9717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3757-99D9-13F6-72C3-89635ABD6904}"/>
              </a:ext>
            </a:extLst>
          </p:cNvPr>
          <p:cNvSpPr>
            <a:spLocks noGrp="1"/>
          </p:cNvSpPr>
          <p:nvPr>
            <p:ph type="title"/>
          </p:nvPr>
        </p:nvSpPr>
        <p:spPr/>
        <p:txBody>
          <a:bodyPr/>
          <a:lstStyle/>
          <a:p>
            <a:r>
              <a:rPr lang="en-GB" dirty="0"/>
              <a:t>Urinary Tract Bacterial Infections</a:t>
            </a:r>
            <a:endParaRPr lang="en-US" dirty="0"/>
          </a:p>
        </p:txBody>
      </p:sp>
      <p:sp>
        <p:nvSpPr>
          <p:cNvPr id="3" name="Content Placeholder 2">
            <a:extLst>
              <a:ext uri="{FF2B5EF4-FFF2-40B4-BE49-F238E27FC236}">
                <a16:creationId xmlns:a16="http://schemas.microsoft.com/office/drawing/2014/main" id="{3BE91EA2-1203-6290-2238-74923251C286}"/>
              </a:ext>
            </a:extLst>
          </p:cNvPr>
          <p:cNvSpPr>
            <a:spLocks noGrp="1"/>
          </p:cNvSpPr>
          <p:nvPr>
            <p:ph sz="half" idx="1"/>
          </p:nvPr>
        </p:nvSpPr>
        <p:spPr>
          <a:xfrm>
            <a:off x="838199" y="1825625"/>
            <a:ext cx="7456715" cy="4351338"/>
          </a:xfrm>
        </p:spPr>
        <p:txBody>
          <a:bodyPr>
            <a:normAutofit lnSpcReduction="10000"/>
          </a:bodyPr>
          <a:lstStyle/>
          <a:p>
            <a:pPr algn="just"/>
            <a:r>
              <a:rPr lang="en-GB" dirty="0"/>
              <a:t>Urinary tract infections are a group of common diseases that occur predominantly by ascension of normal enteric flora through the urethra into the bladder. </a:t>
            </a:r>
          </a:p>
          <a:p>
            <a:pPr algn="just"/>
            <a:r>
              <a:rPr lang="en-GB" dirty="0"/>
              <a:t>These infections more frequently affect women due to anatomic differences including a shorter urethra. </a:t>
            </a:r>
          </a:p>
          <a:p>
            <a:pPr algn="just"/>
            <a:r>
              <a:rPr lang="en-GB" dirty="0"/>
              <a:t>Cystitis is an infection of the bladder</a:t>
            </a:r>
          </a:p>
          <a:p>
            <a:pPr algn="just"/>
            <a:r>
              <a:rPr lang="en-GB" dirty="0"/>
              <a:t>Pyelonephritis is an infection of the kidney(s). “</a:t>
            </a:r>
            <a:r>
              <a:rPr lang="en-GB" dirty="0" err="1"/>
              <a:t>Pyelo</a:t>
            </a:r>
            <a:r>
              <a:rPr lang="en-GB" dirty="0"/>
              <a:t>” refers to the renal pelvis, and “nephritis” means inflammation of the kidney. </a:t>
            </a:r>
          </a:p>
          <a:p>
            <a:pPr algn="just"/>
            <a:endParaRPr lang="en-GB" dirty="0"/>
          </a:p>
          <a:p>
            <a:endParaRPr lang="en-US" dirty="0"/>
          </a:p>
        </p:txBody>
      </p:sp>
      <p:pic>
        <p:nvPicPr>
          <p:cNvPr id="10242" name="Picture 2" descr="Describe the system associated with elimination of urine with the help ...">
            <a:extLst>
              <a:ext uri="{FF2B5EF4-FFF2-40B4-BE49-F238E27FC236}">
                <a16:creationId xmlns:a16="http://schemas.microsoft.com/office/drawing/2014/main" id="{7DF9E853-84C0-AB1A-2403-337BC22F1A8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384721" y="1825625"/>
            <a:ext cx="3600450" cy="4096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95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44E0-5060-4D27-A36B-1F0C42435758}"/>
              </a:ext>
            </a:extLst>
          </p:cNvPr>
          <p:cNvSpPr>
            <a:spLocks noGrp="1"/>
          </p:cNvSpPr>
          <p:nvPr>
            <p:ph type="title"/>
          </p:nvPr>
        </p:nvSpPr>
        <p:spPr/>
        <p:txBody>
          <a:bodyPr/>
          <a:lstStyle/>
          <a:p>
            <a:r>
              <a:rPr lang="en-GB" dirty="0"/>
              <a:t>Urinary Tract Infections</a:t>
            </a:r>
            <a:endParaRPr lang="en-GH" dirty="0"/>
          </a:p>
        </p:txBody>
      </p:sp>
      <p:sp>
        <p:nvSpPr>
          <p:cNvPr id="3" name="Content Placeholder 2">
            <a:extLst>
              <a:ext uri="{FF2B5EF4-FFF2-40B4-BE49-F238E27FC236}">
                <a16:creationId xmlns:a16="http://schemas.microsoft.com/office/drawing/2014/main" id="{05A74019-0A45-44A3-BFAC-876AEBEEE25B}"/>
              </a:ext>
            </a:extLst>
          </p:cNvPr>
          <p:cNvSpPr>
            <a:spLocks noGrp="1"/>
          </p:cNvSpPr>
          <p:nvPr>
            <p:ph idx="1"/>
          </p:nvPr>
        </p:nvSpPr>
        <p:spPr/>
        <p:txBody>
          <a:bodyPr>
            <a:normAutofit fontScale="92500" lnSpcReduction="20000"/>
          </a:bodyPr>
          <a:lstStyle/>
          <a:p>
            <a:pPr algn="just"/>
            <a:r>
              <a:rPr lang="en-GB" dirty="0"/>
              <a:t>Clinical manifestations of cystitis include dysuria (pain with urination); frequent, low volume urination; suprapubic tenderness and gross </a:t>
            </a:r>
            <a:r>
              <a:rPr lang="en-GB" dirty="0" err="1"/>
              <a:t>hematuria</a:t>
            </a:r>
            <a:r>
              <a:rPr lang="en-GB" dirty="0"/>
              <a:t>.</a:t>
            </a:r>
          </a:p>
          <a:p>
            <a:pPr algn="just"/>
            <a:r>
              <a:rPr lang="en-GB" dirty="0"/>
              <a:t>Pyelonephritis typically present with fever, flank pain, nausea, and vomiting. </a:t>
            </a:r>
          </a:p>
          <a:p>
            <a:pPr algn="just"/>
            <a:r>
              <a:rPr lang="en-GB" i="1" dirty="0"/>
              <a:t>Escherichia coli </a:t>
            </a:r>
            <a:r>
              <a:rPr lang="en-GB" dirty="0"/>
              <a:t>is by far the most common cause of urinary tract infections, especially cystitis.</a:t>
            </a:r>
          </a:p>
          <a:p>
            <a:pPr algn="just"/>
            <a:r>
              <a:rPr lang="en-GB" dirty="0"/>
              <a:t> Other enteric gram-negative rods such as </a:t>
            </a:r>
            <a:r>
              <a:rPr lang="en-GB" i="1" dirty="0"/>
              <a:t>Klebsiella</a:t>
            </a:r>
            <a:r>
              <a:rPr lang="en-GB" dirty="0"/>
              <a:t> species and Proteus species are regular culprits. </a:t>
            </a:r>
          </a:p>
          <a:p>
            <a:pPr algn="just"/>
            <a:r>
              <a:rPr lang="en-GB" dirty="0"/>
              <a:t>Gram-positive pathogens include </a:t>
            </a:r>
            <a:r>
              <a:rPr lang="en-GB" i="1" dirty="0"/>
              <a:t>Enterococcus</a:t>
            </a:r>
            <a:r>
              <a:rPr lang="en-GB" dirty="0"/>
              <a:t> species and </a:t>
            </a:r>
            <a:r>
              <a:rPr lang="en-GB" i="1" dirty="0"/>
              <a:t>Staphylococcus</a:t>
            </a:r>
            <a:r>
              <a:rPr lang="en-GB" dirty="0"/>
              <a:t> </a:t>
            </a:r>
            <a:r>
              <a:rPr lang="en-GB" i="1" dirty="0"/>
              <a:t>saprophyticus</a:t>
            </a:r>
            <a:r>
              <a:rPr lang="en-GB" dirty="0"/>
              <a:t>. </a:t>
            </a:r>
            <a:r>
              <a:rPr lang="en-GB" i="1" dirty="0"/>
              <a:t>Staphylococcus saprophyticus </a:t>
            </a:r>
            <a:r>
              <a:rPr lang="en-GB" dirty="0"/>
              <a:t>is common in young women.</a:t>
            </a:r>
          </a:p>
          <a:p>
            <a:pPr algn="just"/>
            <a:r>
              <a:rPr lang="en-GB" dirty="0"/>
              <a:t>Mycobacterium tuberculosis may occasionally cause pyelonephritis</a:t>
            </a:r>
            <a:endParaRPr lang="en-GH" dirty="0"/>
          </a:p>
        </p:txBody>
      </p:sp>
      <p:pic>
        <p:nvPicPr>
          <p:cNvPr id="13314" name="Picture 2" descr="Homoeopathic Medicine for Urinary Problems– Kidney Stone, Cystitis &amp; More">
            <a:extLst>
              <a:ext uri="{FF2B5EF4-FFF2-40B4-BE49-F238E27FC236}">
                <a16:creationId xmlns:a16="http://schemas.microsoft.com/office/drawing/2014/main" id="{A605C868-5AA3-C160-758D-66B3F21EB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0"/>
            <a:ext cx="2857500" cy="182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097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38E7B-6EAE-4F5C-8CDD-D6C1F2BA1FF1}"/>
              </a:ext>
            </a:extLst>
          </p:cNvPr>
          <p:cNvSpPr>
            <a:spLocks noGrp="1"/>
          </p:cNvSpPr>
          <p:nvPr>
            <p:ph type="title"/>
          </p:nvPr>
        </p:nvSpPr>
        <p:spPr/>
        <p:txBody>
          <a:bodyPr/>
          <a:lstStyle/>
          <a:p>
            <a:r>
              <a:rPr lang="en-GB" dirty="0"/>
              <a:t>Urinary Tract Infections</a:t>
            </a:r>
            <a:endParaRPr lang="en-GH" dirty="0"/>
          </a:p>
        </p:txBody>
      </p:sp>
      <p:sp>
        <p:nvSpPr>
          <p:cNvPr id="3" name="Content Placeholder 2">
            <a:extLst>
              <a:ext uri="{FF2B5EF4-FFF2-40B4-BE49-F238E27FC236}">
                <a16:creationId xmlns:a16="http://schemas.microsoft.com/office/drawing/2014/main" id="{B7BD432E-B782-4F99-8A70-BE9D33D8140C}"/>
              </a:ext>
            </a:extLst>
          </p:cNvPr>
          <p:cNvSpPr>
            <a:spLocks noGrp="1"/>
          </p:cNvSpPr>
          <p:nvPr>
            <p:ph idx="1"/>
          </p:nvPr>
        </p:nvSpPr>
        <p:spPr/>
        <p:txBody>
          <a:bodyPr>
            <a:normAutofit fontScale="85000" lnSpcReduction="20000"/>
          </a:bodyPr>
          <a:lstStyle/>
          <a:p>
            <a:r>
              <a:rPr lang="en-GB" b="1" dirty="0"/>
              <a:t>Prostatitis</a:t>
            </a:r>
            <a:r>
              <a:rPr lang="en-GB" dirty="0"/>
              <a:t> is inflammation of the prostate, most often caused by bacterial infection.</a:t>
            </a:r>
          </a:p>
          <a:p>
            <a:r>
              <a:rPr lang="en-GB" dirty="0"/>
              <a:t>Infection most frequently occurs via the urethra then into to the prostatic ducts. However, hematogenous seeding of the prostate can occur as well</a:t>
            </a:r>
          </a:p>
          <a:p>
            <a:r>
              <a:rPr lang="en-GB" dirty="0"/>
              <a:t>Clinical Manifestations</a:t>
            </a:r>
          </a:p>
          <a:p>
            <a:pPr lvl="1">
              <a:buFont typeface="Wingdings" panose="05000000000000000000" pitchFamily="2" charset="2"/>
              <a:buChar char="ü"/>
            </a:pPr>
            <a:r>
              <a:rPr lang="en-GB" dirty="0"/>
              <a:t>Acute prostatitis may present with acute onset of fever, dysuria, urinary frequency, and severe pain with palpation of the prostate. </a:t>
            </a:r>
          </a:p>
          <a:p>
            <a:pPr lvl="1">
              <a:buFont typeface="Wingdings" panose="05000000000000000000" pitchFamily="2" charset="2"/>
              <a:buChar char="ü"/>
            </a:pPr>
            <a:r>
              <a:rPr lang="en-GB" dirty="0"/>
              <a:t>Patients may be very ill and can present with severe sepsis. </a:t>
            </a:r>
          </a:p>
          <a:p>
            <a:pPr lvl="1">
              <a:buFont typeface="Wingdings" panose="05000000000000000000" pitchFamily="2" charset="2"/>
              <a:buChar char="ü"/>
            </a:pPr>
            <a:r>
              <a:rPr lang="en-GB" dirty="0"/>
              <a:t>In contrast, chronic prostatitis presents with more subacute onset of dysuria, frequency, urinary hesitancy, and pelvic discomfort</a:t>
            </a:r>
          </a:p>
          <a:p>
            <a:r>
              <a:rPr lang="en-GB" dirty="0"/>
              <a:t>In younger patients, </a:t>
            </a:r>
            <a:r>
              <a:rPr lang="en-GB" i="1" dirty="0"/>
              <a:t>Neisseria gonorrhoeae</a:t>
            </a:r>
            <a:r>
              <a:rPr lang="en-GB" dirty="0"/>
              <a:t> and </a:t>
            </a:r>
            <a:r>
              <a:rPr lang="en-GB" i="1" dirty="0"/>
              <a:t>Chlamydia trachomatis </a:t>
            </a:r>
            <a:r>
              <a:rPr lang="en-GB" dirty="0"/>
              <a:t>are the most common causes of prostatitis</a:t>
            </a:r>
          </a:p>
          <a:p>
            <a:r>
              <a:rPr lang="en-GB" dirty="0"/>
              <a:t>Enteric bacteria, such as </a:t>
            </a:r>
            <a:r>
              <a:rPr lang="en-GB" i="1" dirty="0"/>
              <a:t>E. coli</a:t>
            </a:r>
            <a:r>
              <a:rPr lang="en-GB" dirty="0"/>
              <a:t>, are the predominant pathogens in older patients. </a:t>
            </a:r>
          </a:p>
          <a:p>
            <a:r>
              <a:rPr lang="en-GB" dirty="0"/>
              <a:t>When hematologic seeding occurs, S. aureus is a common cause</a:t>
            </a:r>
            <a:endParaRPr lang="en-GH" dirty="0"/>
          </a:p>
        </p:txBody>
      </p:sp>
      <p:pic>
        <p:nvPicPr>
          <p:cNvPr id="16386" name="Picture 2" descr="What Are The Four Types of Prostatitis? Causes, Symptoms, and ...">
            <a:extLst>
              <a:ext uri="{FF2B5EF4-FFF2-40B4-BE49-F238E27FC236}">
                <a16:creationId xmlns:a16="http://schemas.microsoft.com/office/drawing/2014/main" id="{E96E22E0-5022-6B78-353A-F85025BED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4371" y="0"/>
            <a:ext cx="2797629" cy="182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613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F756-FF96-44EB-BB8B-87FB44CFE299}"/>
              </a:ext>
            </a:extLst>
          </p:cNvPr>
          <p:cNvSpPr>
            <a:spLocks noGrp="1"/>
          </p:cNvSpPr>
          <p:nvPr>
            <p:ph type="title"/>
          </p:nvPr>
        </p:nvSpPr>
        <p:spPr>
          <a:xfrm>
            <a:off x="838200" y="-222704"/>
            <a:ext cx="10515600" cy="1325563"/>
          </a:xfrm>
        </p:spPr>
        <p:txBody>
          <a:bodyPr/>
          <a:lstStyle/>
          <a:p>
            <a:r>
              <a:rPr lang="en-GB" dirty="0"/>
              <a:t>Urinary Tract Infections - Diagnosis</a:t>
            </a:r>
            <a:endParaRPr lang="en-GH" dirty="0"/>
          </a:p>
        </p:txBody>
      </p:sp>
      <p:sp>
        <p:nvSpPr>
          <p:cNvPr id="3" name="Content Placeholder 2">
            <a:extLst>
              <a:ext uri="{FF2B5EF4-FFF2-40B4-BE49-F238E27FC236}">
                <a16:creationId xmlns:a16="http://schemas.microsoft.com/office/drawing/2014/main" id="{35A5455D-DF3B-4C91-BD92-D376DE8F37A5}"/>
              </a:ext>
            </a:extLst>
          </p:cNvPr>
          <p:cNvSpPr>
            <a:spLocks noGrp="1"/>
          </p:cNvSpPr>
          <p:nvPr>
            <p:ph idx="1"/>
          </p:nvPr>
        </p:nvSpPr>
        <p:spPr>
          <a:xfrm>
            <a:off x="566057" y="774360"/>
            <a:ext cx="10515600" cy="4351338"/>
          </a:xfrm>
        </p:spPr>
        <p:txBody>
          <a:bodyPr>
            <a:noAutofit/>
          </a:bodyPr>
          <a:lstStyle/>
          <a:p>
            <a:pPr algn="just"/>
            <a:r>
              <a:rPr lang="en-GB" sz="2400" b="1" dirty="0"/>
              <a:t>Urine microscopy</a:t>
            </a:r>
            <a:r>
              <a:rPr lang="en-GB" sz="2400" dirty="0"/>
              <a:t> </a:t>
            </a:r>
          </a:p>
          <a:p>
            <a:pPr lvl="1" algn="just"/>
            <a:r>
              <a:rPr lang="en-GB" dirty="0"/>
              <a:t>Microscope to look at urine. </a:t>
            </a:r>
          </a:p>
          <a:p>
            <a:pPr lvl="1" algn="just"/>
            <a:r>
              <a:rPr lang="en-GB" dirty="0"/>
              <a:t>In patients with urinary tract infections, one can often find pyuria (elevated white blood cells [WBCs] in urine) and </a:t>
            </a:r>
            <a:r>
              <a:rPr lang="en-GB" dirty="0" err="1"/>
              <a:t>hematuria</a:t>
            </a:r>
            <a:r>
              <a:rPr lang="en-GB" dirty="0"/>
              <a:t> (red blood cells in urine), and sometimes bacteria can be seen. </a:t>
            </a:r>
          </a:p>
          <a:p>
            <a:pPr lvl="1" algn="just"/>
            <a:r>
              <a:rPr lang="en-GB" dirty="0"/>
              <a:t>The presence of WBC casts indicates pyelonephritis rather than cystitis. </a:t>
            </a:r>
          </a:p>
          <a:p>
            <a:pPr lvl="1" algn="just"/>
            <a:r>
              <a:rPr lang="en-GB" dirty="0"/>
              <a:t>A urine sample that has abundant squamous epithelial cells suggests that it is contaminated, and the results of the culture are not reliable.</a:t>
            </a:r>
          </a:p>
          <a:p>
            <a:pPr algn="just"/>
            <a:r>
              <a:rPr lang="en-GB" sz="2400" b="1" dirty="0"/>
              <a:t>Urine dipsticks </a:t>
            </a:r>
            <a:r>
              <a:rPr lang="en-GB" sz="2400" dirty="0"/>
              <a:t> </a:t>
            </a:r>
          </a:p>
          <a:p>
            <a:pPr lvl="1" algn="just">
              <a:buFont typeface="Wingdings" panose="05000000000000000000" pitchFamily="2" charset="2"/>
              <a:buChar char="ü"/>
            </a:pPr>
            <a:r>
              <a:rPr lang="en-GB" dirty="0"/>
              <a:t>Different chemicals reagents on a strip that is dipped in urine to diagnose urinary tract diseases.</a:t>
            </a:r>
          </a:p>
          <a:p>
            <a:pPr lvl="1" algn="just">
              <a:buFont typeface="Wingdings" panose="05000000000000000000" pitchFamily="2" charset="2"/>
              <a:buChar char="ü"/>
            </a:pPr>
            <a:r>
              <a:rPr lang="en-GB" dirty="0"/>
              <a:t>Certain dipstick test results are suggestive of infection, namely positive leukocyte esterase and positive nitrite</a:t>
            </a:r>
          </a:p>
          <a:p>
            <a:pPr lvl="1" algn="just">
              <a:buFont typeface="Wingdings" panose="05000000000000000000" pitchFamily="2" charset="2"/>
              <a:buChar char="ü"/>
            </a:pPr>
            <a:r>
              <a:rPr lang="en-GB" dirty="0"/>
              <a:t>The positive nitrite occurs from the conversion of nitrate to nitrite by Enterobacteriaceae</a:t>
            </a:r>
          </a:p>
        </p:txBody>
      </p:sp>
    </p:spTree>
    <p:extLst>
      <p:ext uri="{BB962C8B-B14F-4D97-AF65-F5344CB8AC3E}">
        <p14:creationId xmlns:p14="http://schemas.microsoft.com/office/powerpoint/2010/main" val="1994506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3140-3CEC-AF21-79D1-0499E89A7191}"/>
              </a:ext>
            </a:extLst>
          </p:cNvPr>
          <p:cNvSpPr>
            <a:spLocks noGrp="1"/>
          </p:cNvSpPr>
          <p:nvPr>
            <p:ph type="title"/>
          </p:nvPr>
        </p:nvSpPr>
        <p:spPr/>
        <p:txBody>
          <a:bodyPr/>
          <a:lstStyle/>
          <a:p>
            <a:r>
              <a:rPr lang="en-GB" dirty="0"/>
              <a:t>URINARY TRACT INFECTIONS – Diagnosis dipstick</a:t>
            </a:r>
            <a:endParaRPr lang="en-US" dirty="0"/>
          </a:p>
        </p:txBody>
      </p:sp>
      <p:pic>
        <p:nvPicPr>
          <p:cNvPr id="20482" name="Picture 2" descr="Urine test strip | Medical laboratory, Nursing mnemonics, Nursing labs">
            <a:extLst>
              <a:ext uri="{FF2B5EF4-FFF2-40B4-BE49-F238E27FC236}">
                <a16:creationId xmlns:a16="http://schemas.microsoft.com/office/drawing/2014/main" id="{F2198477-EFEC-3BA2-661E-1966B14C67D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2" y="1825625"/>
            <a:ext cx="518159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ipstick Test for Urinary Protein - Health Hearty">
            <a:extLst>
              <a:ext uri="{FF2B5EF4-FFF2-40B4-BE49-F238E27FC236}">
                <a16:creationId xmlns:a16="http://schemas.microsoft.com/office/drawing/2014/main" id="{3CE6C0FA-B44A-02EA-6A58-DF12D11EB65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1825625"/>
            <a:ext cx="518160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57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DD3AE-11A2-4736-B690-FA8940985C82}"/>
              </a:ext>
            </a:extLst>
          </p:cNvPr>
          <p:cNvSpPr>
            <a:spLocks noGrp="1"/>
          </p:cNvSpPr>
          <p:nvPr>
            <p:ph type="title"/>
          </p:nvPr>
        </p:nvSpPr>
        <p:spPr>
          <a:xfrm>
            <a:off x="751115" y="-168275"/>
            <a:ext cx="10515600" cy="1325563"/>
          </a:xfrm>
        </p:spPr>
        <p:txBody>
          <a:bodyPr/>
          <a:lstStyle/>
          <a:p>
            <a:r>
              <a:rPr lang="en-GB" dirty="0"/>
              <a:t>URINARY TRACT INFECTIONS- Diagnosis</a:t>
            </a:r>
            <a:endParaRPr lang="en-GH" dirty="0"/>
          </a:p>
        </p:txBody>
      </p:sp>
      <p:sp>
        <p:nvSpPr>
          <p:cNvPr id="3" name="Content Placeholder 2">
            <a:extLst>
              <a:ext uri="{FF2B5EF4-FFF2-40B4-BE49-F238E27FC236}">
                <a16:creationId xmlns:a16="http://schemas.microsoft.com/office/drawing/2014/main" id="{CFF2693A-5A0F-4EBA-9868-0A1F93777128}"/>
              </a:ext>
            </a:extLst>
          </p:cNvPr>
          <p:cNvSpPr>
            <a:spLocks noGrp="1"/>
          </p:cNvSpPr>
          <p:nvPr>
            <p:ph idx="1"/>
          </p:nvPr>
        </p:nvSpPr>
        <p:spPr>
          <a:xfrm>
            <a:off x="751115" y="1157288"/>
            <a:ext cx="10515600" cy="4351338"/>
          </a:xfrm>
        </p:spPr>
        <p:txBody>
          <a:bodyPr>
            <a:noAutofit/>
          </a:bodyPr>
          <a:lstStyle/>
          <a:p>
            <a:pPr marL="0" indent="0" algn="just">
              <a:buNone/>
            </a:pPr>
            <a:endParaRPr lang="en-GB" dirty="0"/>
          </a:p>
          <a:p>
            <a:pPr algn="just"/>
            <a:r>
              <a:rPr lang="en-GB" b="1" dirty="0"/>
              <a:t>Urine culture </a:t>
            </a:r>
          </a:p>
          <a:p>
            <a:pPr lvl="1" algn="just">
              <a:buFont typeface="Wingdings" panose="05000000000000000000" pitchFamily="2" charset="2"/>
              <a:buChar char="ü"/>
            </a:pPr>
            <a:r>
              <a:rPr lang="en-GB" sz="2800" dirty="0"/>
              <a:t>allows identification of the organism causing infection. </a:t>
            </a:r>
          </a:p>
          <a:p>
            <a:pPr lvl="1" algn="just">
              <a:buFont typeface="Wingdings" panose="05000000000000000000" pitchFamily="2" charset="2"/>
              <a:buChar char="ü"/>
            </a:pPr>
            <a:r>
              <a:rPr lang="en-GB" sz="2800" dirty="0"/>
              <a:t>Urine in the bladder is normally sterile. </a:t>
            </a:r>
          </a:p>
          <a:p>
            <a:pPr lvl="1" algn="just">
              <a:buFont typeface="Wingdings" panose="05000000000000000000" pitchFamily="2" charset="2"/>
              <a:buChar char="ü"/>
            </a:pPr>
            <a:r>
              <a:rPr lang="en-GB" sz="2800" dirty="0"/>
              <a:t>Because contamination of samples can occur as urine passes through the outer third of the urethra, a numeric threshold of colony-forming units (CFUs) per </a:t>
            </a:r>
            <a:r>
              <a:rPr lang="en-GB" sz="2800" dirty="0" err="1"/>
              <a:t>milliliter</a:t>
            </a:r>
            <a:r>
              <a:rPr lang="en-GB" sz="2800" dirty="0"/>
              <a:t> has been established to confirm infection. </a:t>
            </a:r>
          </a:p>
          <a:p>
            <a:pPr lvl="1" algn="just">
              <a:buFont typeface="Wingdings" panose="05000000000000000000" pitchFamily="2" charset="2"/>
              <a:buChar char="ü"/>
            </a:pPr>
            <a:r>
              <a:rPr lang="en-GB" sz="2800" dirty="0"/>
              <a:t>In samples obtained from a midstream void, ≥1 × 105 CFU/mL is consistent with infection</a:t>
            </a:r>
          </a:p>
          <a:p>
            <a:pPr lvl="1" algn="just">
              <a:buFont typeface="Wingdings" panose="05000000000000000000" pitchFamily="2" charset="2"/>
              <a:buChar char="ü"/>
            </a:pPr>
            <a:r>
              <a:rPr lang="en-GB" sz="2800" dirty="0"/>
              <a:t>Either a voided midstream urine specimen or a specimen obtained by bladder catheterization can be used for urine culture</a:t>
            </a:r>
          </a:p>
          <a:p>
            <a:pPr algn="just"/>
            <a:endParaRPr lang="en-GH" dirty="0"/>
          </a:p>
        </p:txBody>
      </p:sp>
    </p:spTree>
    <p:extLst>
      <p:ext uri="{BB962C8B-B14F-4D97-AF65-F5344CB8AC3E}">
        <p14:creationId xmlns:p14="http://schemas.microsoft.com/office/powerpoint/2010/main" val="39975918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95331-C560-4EE2-A22D-1A0EFD7B837B}"/>
              </a:ext>
            </a:extLst>
          </p:cNvPr>
          <p:cNvSpPr>
            <a:spLocks noGrp="1"/>
          </p:cNvSpPr>
          <p:nvPr>
            <p:ph type="title"/>
          </p:nvPr>
        </p:nvSpPr>
        <p:spPr/>
        <p:txBody>
          <a:bodyPr>
            <a:normAutofit/>
          </a:bodyPr>
          <a:lstStyle/>
          <a:p>
            <a:endParaRPr lang="en-GH" sz="5400" dirty="0">
              <a:solidFill>
                <a:srgbClr val="0070C0"/>
              </a:solidFill>
            </a:endParaRPr>
          </a:p>
        </p:txBody>
      </p:sp>
      <p:sp>
        <p:nvSpPr>
          <p:cNvPr id="3" name="Text Placeholder 2">
            <a:extLst>
              <a:ext uri="{FF2B5EF4-FFF2-40B4-BE49-F238E27FC236}">
                <a16:creationId xmlns:a16="http://schemas.microsoft.com/office/drawing/2014/main" id="{C5B623E7-4747-4D80-BA62-E063D48772BF}"/>
              </a:ext>
            </a:extLst>
          </p:cNvPr>
          <p:cNvSpPr>
            <a:spLocks noGrp="1"/>
          </p:cNvSpPr>
          <p:nvPr>
            <p:ph type="body" idx="1"/>
          </p:nvPr>
        </p:nvSpPr>
        <p:spPr>
          <a:xfrm>
            <a:off x="831850" y="2252663"/>
            <a:ext cx="10515600" cy="1500187"/>
          </a:xfrm>
        </p:spPr>
        <p:txBody>
          <a:bodyPr/>
          <a:lstStyle/>
          <a:p>
            <a:r>
              <a:rPr lang="en-GB" dirty="0"/>
              <a:t>                                      </a:t>
            </a:r>
            <a:r>
              <a:rPr lang="en-GB" sz="9600" dirty="0">
                <a:solidFill>
                  <a:srgbClr val="FF0000"/>
                </a:solidFill>
              </a:rPr>
              <a:t>QUESTIONS</a:t>
            </a:r>
            <a:endParaRPr lang="en-GH" sz="9600" dirty="0">
              <a:solidFill>
                <a:srgbClr val="FF0000"/>
              </a:solidFill>
            </a:endParaRPr>
          </a:p>
        </p:txBody>
      </p:sp>
    </p:spTree>
    <p:extLst>
      <p:ext uri="{BB962C8B-B14F-4D97-AF65-F5344CB8AC3E}">
        <p14:creationId xmlns:p14="http://schemas.microsoft.com/office/powerpoint/2010/main" val="3575883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826F6-69D0-4BD7-BA74-94C9530FAADD}"/>
              </a:ext>
            </a:extLst>
          </p:cNvPr>
          <p:cNvSpPr>
            <a:spLocks noGrp="1"/>
          </p:cNvSpPr>
          <p:nvPr>
            <p:ph type="title"/>
          </p:nvPr>
        </p:nvSpPr>
        <p:spPr>
          <a:xfrm>
            <a:off x="54429" y="430439"/>
            <a:ext cx="10515600" cy="1325563"/>
          </a:xfrm>
        </p:spPr>
        <p:txBody>
          <a:bodyPr/>
          <a:lstStyle/>
          <a:p>
            <a:r>
              <a:rPr lang="en-GB" dirty="0"/>
              <a:t>Gastrointestinal Tract Infections</a:t>
            </a:r>
            <a:endParaRPr lang="en-GH" dirty="0"/>
          </a:p>
        </p:txBody>
      </p:sp>
      <p:sp>
        <p:nvSpPr>
          <p:cNvPr id="3" name="Content Placeholder 2">
            <a:extLst>
              <a:ext uri="{FF2B5EF4-FFF2-40B4-BE49-F238E27FC236}">
                <a16:creationId xmlns:a16="http://schemas.microsoft.com/office/drawing/2014/main" id="{907C7E96-3881-4153-A18D-CB600E3F015E}"/>
              </a:ext>
            </a:extLst>
          </p:cNvPr>
          <p:cNvSpPr>
            <a:spLocks noGrp="1"/>
          </p:cNvSpPr>
          <p:nvPr>
            <p:ph idx="1"/>
          </p:nvPr>
        </p:nvSpPr>
        <p:spPr>
          <a:xfrm>
            <a:off x="261257" y="2990396"/>
            <a:ext cx="10515600" cy="4351338"/>
          </a:xfrm>
        </p:spPr>
        <p:txBody>
          <a:bodyPr>
            <a:normAutofit/>
          </a:bodyPr>
          <a:lstStyle/>
          <a:p>
            <a:pPr algn="just"/>
            <a:r>
              <a:rPr lang="en-GB" dirty="0"/>
              <a:t>Infections with a variety of agents can occur in any part of the gastrointestinal (GI) tract from the mouth to the anal canal. </a:t>
            </a:r>
          </a:p>
          <a:p>
            <a:pPr algn="just"/>
            <a:r>
              <a:rPr lang="en-GB" dirty="0"/>
              <a:t>Infections can range in severity from self-limited to life-threatening.</a:t>
            </a:r>
          </a:p>
          <a:p>
            <a:pPr algn="just"/>
            <a:r>
              <a:rPr lang="en-GB" dirty="0"/>
              <a:t>Infections are typically caused by the ingestion of exogenous pathogens in sufficient quantities to evade host defences – disease is caused by multiplication, toxin production, or invasion through the gastrointestinal mucosa to reach the bloodstream and other tissues. </a:t>
            </a:r>
          </a:p>
          <a:p>
            <a:pPr algn="just"/>
            <a:r>
              <a:rPr lang="en-GB" dirty="0"/>
              <a:t>Members of the normal flora of the GI tract can cause disease.</a:t>
            </a:r>
            <a:endParaRPr lang="en-GH" dirty="0"/>
          </a:p>
        </p:txBody>
      </p:sp>
      <p:pic>
        <p:nvPicPr>
          <p:cNvPr id="1026" name="Picture 2" descr="See related image detail. Human digestive system for KS1 and KS2 children | Human digestive ...">
            <a:extLst>
              <a:ext uri="{FF2B5EF4-FFF2-40B4-BE49-F238E27FC236}">
                <a16:creationId xmlns:a16="http://schemas.microsoft.com/office/drawing/2014/main" id="{51FDE411-F973-E067-6F91-E3D2F8181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4129" y="18596"/>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06976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FCCF-C20E-479A-BC8C-76072BF036A5}"/>
              </a:ext>
            </a:extLst>
          </p:cNvPr>
          <p:cNvSpPr>
            <a:spLocks noGrp="1"/>
          </p:cNvSpPr>
          <p:nvPr>
            <p:ph type="title"/>
          </p:nvPr>
        </p:nvSpPr>
        <p:spPr/>
        <p:txBody>
          <a:bodyPr/>
          <a:lstStyle/>
          <a:p>
            <a:r>
              <a:rPr lang="en-GB" dirty="0"/>
              <a:t>GASTROINTESTINAL TRACT INFECTIONS</a:t>
            </a:r>
            <a:endParaRPr lang="en-GH" dirty="0"/>
          </a:p>
        </p:txBody>
      </p:sp>
      <p:sp>
        <p:nvSpPr>
          <p:cNvPr id="3" name="Content Placeholder 2">
            <a:extLst>
              <a:ext uri="{FF2B5EF4-FFF2-40B4-BE49-F238E27FC236}">
                <a16:creationId xmlns:a16="http://schemas.microsoft.com/office/drawing/2014/main" id="{25534118-3204-4070-A4DF-DB75995E828D}"/>
              </a:ext>
            </a:extLst>
          </p:cNvPr>
          <p:cNvSpPr>
            <a:spLocks noGrp="1"/>
          </p:cNvSpPr>
          <p:nvPr>
            <p:ph idx="1"/>
          </p:nvPr>
        </p:nvSpPr>
        <p:spPr/>
        <p:txBody>
          <a:bodyPr/>
          <a:lstStyle/>
          <a:p>
            <a:pPr marL="0" indent="0">
              <a:buNone/>
            </a:pPr>
            <a:r>
              <a:rPr lang="en-GB" dirty="0"/>
              <a:t> </a:t>
            </a:r>
            <a:r>
              <a:rPr lang="en-GB" b="1" dirty="0"/>
              <a:t>Characteristics of Watery Diarrhoea compared with Bloody Diarrhoea</a:t>
            </a:r>
          </a:p>
          <a:p>
            <a:pPr marL="0" indent="0">
              <a:buNone/>
            </a:pPr>
            <a:endParaRPr lang="en-GB" b="1" dirty="0"/>
          </a:p>
          <a:p>
            <a:pPr marL="0" indent="0">
              <a:buNone/>
            </a:pPr>
            <a:endParaRPr lang="en-GH" b="1" dirty="0"/>
          </a:p>
        </p:txBody>
      </p:sp>
      <p:pic>
        <p:nvPicPr>
          <p:cNvPr id="5" name="Picture 4">
            <a:extLst>
              <a:ext uri="{FF2B5EF4-FFF2-40B4-BE49-F238E27FC236}">
                <a16:creationId xmlns:a16="http://schemas.microsoft.com/office/drawing/2014/main" id="{721EECC9-3BC1-46D5-86A4-E8817FEE4547}"/>
              </a:ext>
            </a:extLst>
          </p:cNvPr>
          <p:cNvPicPr>
            <a:picLocks noChangeAspect="1"/>
          </p:cNvPicPr>
          <p:nvPr/>
        </p:nvPicPr>
        <p:blipFill>
          <a:blip r:embed="rId2"/>
          <a:stretch>
            <a:fillRect/>
          </a:stretch>
        </p:blipFill>
        <p:spPr>
          <a:xfrm>
            <a:off x="1153550" y="2219325"/>
            <a:ext cx="9889587" cy="3957638"/>
          </a:xfrm>
          <a:prstGeom prst="rect">
            <a:avLst/>
          </a:prstGeom>
        </p:spPr>
      </p:pic>
    </p:spTree>
    <p:extLst>
      <p:ext uri="{BB962C8B-B14F-4D97-AF65-F5344CB8AC3E}">
        <p14:creationId xmlns:p14="http://schemas.microsoft.com/office/powerpoint/2010/main" val="2487334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7E31-DFE0-484C-BB0C-80310D364DFD}"/>
              </a:ext>
            </a:extLst>
          </p:cNvPr>
          <p:cNvSpPr>
            <a:spLocks noGrp="1"/>
          </p:cNvSpPr>
          <p:nvPr>
            <p:ph type="title"/>
          </p:nvPr>
        </p:nvSpPr>
        <p:spPr/>
        <p:txBody>
          <a:bodyPr/>
          <a:lstStyle/>
          <a:p>
            <a:r>
              <a:rPr lang="en-GB" dirty="0"/>
              <a:t>GASTROINTESTINAL TRACT INFECTIONS</a:t>
            </a:r>
            <a:endParaRPr lang="en-GH" dirty="0"/>
          </a:p>
        </p:txBody>
      </p:sp>
      <p:sp>
        <p:nvSpPr>
          <p:cNvPr id="3" name="Content Placeholder 2">
            <a:extLst>
              <a:ext uri="{FF2B5EF4-FFF2-40B4-BE49-F238E27FC236}">
                <a16:creationId xmlns:a16="http://schemas.microsoft.com/office/drawing/2014/main" id="{3F972E33-D791-485C-A294-B2D1554DD4DA}"/>
              </a:ext>
            </a:extLst>
          </p:cNvPr>
          <p:cNvSpPr>
            <a:spLocks noGrp="1"/>
          </p:cNvSpPr>
          <p:nvPr>
            <p:ph idx="1"/>
          </p:nvPr>
        </p:nvSpPr>
        <p:spPr>
          <a:xfrm>
            <a:off x="852268" y="1825625"/>
            <a:ext cx="10515600" cy="4351338"/>
          </a:xfrm>
        </p:spPr>
        <p:txBody>
          <a:bodyPr>
            <a:normAutofit fontScale="92500" lnSpcReduction="10000"/>
          </a:bodyPr>
          <a:lstStyle/>
          <a:p>
            <a:r>
              <a:rPr lang="en-GB" dirty="0"/>
              <a:t>Important Organisms That Typically Cause Either Watery or Bloody Diarrhoea</a:t>
            </a:r>
          </a:p>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 </a:t>
            </a:r>
            <a:endParaRPr lang="en-GH" dirty="0"/>
          </a:p>
        </p:txBody>
      </p:sp>
      <p:pic>
        <p:nvPicPr>
          <p:cNvPr id="7" name="Picture 6">
            <a:extLst>
              <a:ext uri="{FF2B5EF4-FFF2-40B4-BE49-F238E27FC236}">
                <a16:creationId xmlns:a16="http://schemas.microsoft.com/office/drawing/2014/main" id="{D7038CEB-F024-4A4D-8B4A-AA5C25AFBD50}"/>
              </a:ext>
            </a:extLst>
          </p:cNvPr>
          <p:cNvPicPr>
            <a:picLocks noChangeAspect="1"/>
          </p:cNvPicPr>
          <p:nvPr/>
        </p:nvPicPr>
        <p:blipFill>
          <a:blip r:embed="rId2"/>
          <a:stretch>
            <a:fillRect/>
          </a:stretch>
        </p:blipFill>
        <p:spPr>
          <a:xfrm>
            <a:off x="1603718" y="2564525"/>
            <a:ext cx="8820442" cy="3928350"/>
          </a:xfrm>
          <a:prstGeom prst="rect">
            <a:avLst/>
          </a:prstGeom>
        </p:spPr>
      </p:pic>
    </p:spTree>
    <p:extLst>
      <p:ext uri="{BB962C8B-B14F-4D97-AF65-F5344CB8AC3E}">
        <p14:creationId xmlns:p14="http://schemas.microsoft.com/office/powerpoint/2010/main" val="4161640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2CD3-26C5-FF4B-BC39-2176C94EB5C4}"/>
              </a:ext>
            </a:extLst>
          </p:cNvPr>
          <p:cNvSpPr>
            <a:spLocks noGrp="1"/>
          </p:cNvSpPr>
          <p:nvPr>
            <p:ph type="title"/>
          </p:nvPr>
        </p:nvSpPr>
        <p:spPr/>
        <p:txBody>
          <a:bodyPr/>
          <a:lstStyle/>
          <a:p>
            <a:r>
              <a:rPr lang="en-US" dirty="0"/>
              <a:t>Gastrointestinal Bacterial Diseases</a:t>
            </a:r>
          </a:p>
        </p:txBody>
      </p:sp>
      <p:sp>
        <p:nvSpPr>
          <p:cNvPr id="3" name="Content Placeholder 2">
            <a:extLst>
              <a:ext uri="{FF2B5EF4-FFF2-40B4-BE49-F238E27FC236}">
                <a16:creationId xmlns:a16="http://schemas.microsoft.com/office/drawing/2014/main" id="{3FC8A514-C865-A5CF-7CDC-5D2123F3771E}"/>
              </a:ext>
            </a:extLst>
          </p:cNvPr>
          <p:cNvSpPr>
            <a:spLocks noGrp="1"/>
          </p:cNvSpPr>
          <p:nvPr>
            <p:ph idx="1"/>
          </p:nvPr>
        </p:nvSpPr>
        <p:spPr/>
        <p:txBody>
          <a:bodyPr>
            <a:normAutofit lnSpcReduction="10000"/>
          </a:bodyPr>
          <a:lstStyle/>
          <a:p>
            <a:r>
              <a:rPr lang="en-US" dirty="0"/>
              <a:t>Usually stool specimen is used in Gastrointestinal bacterial disease diagnoses</a:t>
            </a:r>
          </a:p>
          <a:p>
            <a:r>
              <a:rPr lang="en-US" dirty="0"/>
              <a:t>H. pylori stool antigen test in Gastritis/PUD</a:t>
            </a:r>
          </a:p>
          <a:p>
            <a:r>
              <a:rPr lang="en-US" dirty="0"/>
              <a:t>The culture medium is selected to suit the organism of interest </a:t>
            </a:r>
          </a:p>
          <a:p>
            <a:pPr marL="0" indent="0">
              <a:buNone/>
            </a:pPr>
            <a:r>
              <a:rPr lang="en-US" dirty="0"/>
              <a:t>    </a:t>
            </a:r>
            <a:r>
              <a:rPr lang="en-US" dirty="0" err="1"/>
              <a:t>eg</a:t>
            </a:r>
            <a:r>
              <a:rPr lang="en-US" dirty="0"/>
              <a:t> MacConkey for Enterobacteriaceae</a:t>
            </a:r>
          </a:p>
          <a:p>
            <a:pPr marL="0" indent="0">
              <a:buNone/>
            </a:pPr>
            <a:r>
              <a:rPr lang="en-US" dirty="0"/>
              <a:t>          Salmonella and Shigella Agar</a:t>
            </a:r>
          </a:p>
          <a:p>
            <a:pPr marL="0" indent="0">
              <a:buNone/>
            </a:pPr>
            <a:r>
              <a:rPr lang="en-US" dirty="0"/>
              <a:t>         Selenite F Broth for Salmonella enrichment</a:t>
            </a:r>
          </a:p>
          <a:p>
            <a:pPr marL="0" indent="0">
              <a:buNone/>
            </a:pPr>
            <a:r>
              <a:rPr lang="en-US" dirty="0"/>
              <a:t>         TCBS for </a:t>
            </a:r>
            <a:r>
              <a:rPr lang="en-US" i="1" dirty="0"/>
              <a:t>Vibrio</a:t>
            </a:r>
            <a:r>
              <a:rPr lang="en-US" dirty="0"/>
              <a:t> </a:t>
            </a:r>
            <a:r>
              <a:rPr lang="en-US" i="1" dirty="0"/>
              <a:t>Cholerae</a:t>
            </a:r>
          </a:p>
          <a:p>
            <a:pPr marL="0" indent="0">
              <a:buNone/>
            </a:pPr>
            <a:r>
              <a:rPr lang="en-US" i="1" dirty="0"/>
              <a:t>         </a:t>
            </a:r>
            <a:r>
              <a:rPr lang="en-US" dirty="0"/>
              <a:t>Skirrow medium for Campylobacter </a:t>
            </a:r>
          </a:p>
        </p:txBody>
      </p:sp>
    </p:spTree>
    <p:extLst>
      <p:ext uri="{BB962C8B-B14F-4D97-AF65-F5344CB8AC3E}">
        <p14:creationId xmlns:p14="http://schemas.microsoft.com/office/powerpoint/2010/main" val="139356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2A9B1-20B2-942F-F1F9-A8A0E0B41B22}"/>
              </a:ext>
            </a:extLst>
          </p:cNvPr>
          <p:cNvSpPr>
            <a:spLocks noGrp="1"/>
          </p:cNvSpPr>
          <p:nvPr>
            <p:ph type="title"/>
          </p:nvPr>
        </p:nvSpPr>
        <p:spPr/>
        <p:txBody>
          <a:bodyPr/>
          <a:lstStyle/>
          <a:p>
            <a:r>
              <a:rPr lang="en-US" dirty="0"/>
              <a:t>Respiratory Infections</a:t>
            </a:r>
          </a:p>
        </p:txBody>
      </p:sp>
      <p:pic>
        <p:nvPicPr>
          <p:cNvPr id="8194" name="Picture 2" descr="Respiratory system of man |Inspired By Sciences | Respiratory system ...">
            <a:extLst>
              <a:ext uri="{FF2B5EF4-FFF2-40B4-BE49-F238E27FC236}">
                <a16:creationId xmlns:a16="http://schemas.microsoft.com/office/drawing/2014/main" id="{60D0B3DA-925D-D8F1-80EE-EF8DD9A50180}"/>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97673" y="1825625"/>
            <a:ext cx="4752069" cy="435133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ee related image detail. Collection Lungs 3D Models for Download | TurboSquid">
            <a:extLst>
              <a:ext uri="{FF2B5EF4-FFF2-40B4-BE49-F238E27FC236}">
                <a16:creationId xmlns:a16="http://schemas.microsoft.com/office/drawing/2014/main" id="{A2098AFD-2922-73CD-5B5C-418BE8FD0927}"/>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515394"/>
            <a:ext cx="5257800" cy="3352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502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6E8D-DB62-49C3-91E4-B8B6A347AF92}"/>
              </a:ext>
            </a:extLst>
          </p:cNvPr>
          <p:cNvSpPr>
            <a:spLocks noGrp="1"/>
          </p:cNvSpPr>
          <p:nvPr>
            <p:ph type="title"/>
          </p:nvPr>
        </p:nvSpPr>
        <p:spPr>
          <a:xfrm>
            <a:off x="838200" y="138702"/>
            <a:ext cx="10515600" cy="1325563"/>
          </a:xfrm>
        </p:spPr>
        <p:txBody>
          <a:bodyPr/>
          <a:lstStyle/>
          <a:p>
            <a:r>
              <a:rPr lang="en-GB" dirty="0"/>
              <a:t>Upper Respiratory Tract Infection</a:t>
            </a:r>
            <a:endParaRPr lang="en-GH" dirty="0"/>
          </a:p>
        </p:txBody>
      </p:sp>
      <p:sp>
        <p:nvSpPr>
          <p:cNvPr id="3" name="Content Placeholder 2">
            <a:extLst>
              <a:ext uri="{FF2B5EF4-FFF2-40B4-BE49-F238E27FC236}">
                <a16:creationId xmlns:a16="http://schemas.microsoft.com/office/drawing/2014/main" id="{33D14D42-3CF5-45B3-B787-380B716B183C}"/>
              </a:ext>
            </a:extLst>
          </p:cNvPr>
          <p:cNvSpPr>
            <a:spLocks noGrp="1"/>
          </p:cNvSpPr>
          <p:nvPr>
            <p:ph idx="1"/>
          </p:nvPr>
        </p:nvSpPr>
        <p:spPr>
          <a:xfrm>
            <a:off x="383177" y="1323703"/>
            <a:ext cx="11190513" cy="5169172"/>
          </a:xfrm>
        </p:spPr>
        <p:txBody>
          <a:bodyPr>
            <a:normAutofit/>
          </a:bodyPr>
          <a:lstStyle/>
          <a:p>
            <a:pPr marL="0" indent="0">
              <a:buNone/>
            </a:pPr>
            <a:endParaRPr lang="en-GB" dirty="0"/>
          </a:p>
          <a:p>
            <a:r>
              <a:rPr lang="en-GB" dirty="0"/>
              <a:t>Bacterial aetiologies of some of the common upper respiratory tract infections may be primary or superinfections of the original viral processes</a:t>
            </a:r>
          </a:p>
          <a:p>
            <a:r>
              <a:rPr lang="en-GB" dirty="0"/>
              <a:t>Otitis media</a:t>
            </a:r>
          </a:p>
          <a:p>
            <a:pPr lvl="1">
              <a:buFont typeface="Wingdings" panose="05000000000000000000" pitchFamily="2" charset="2"/>
              <a:buChar char="ü"/>
            </a:pPr>
            <a:r>
              <a:rPr lang="en-GB" dirty="0"/>
              <a:t>Otitis media is an infection of the middle ear caused by either viruses or bacteria.</a:t>
            </a:r>
          </a:p>
          <a:p>
            <a:pPr lvl="1">
              <a:buFont typeface="Wingdings" panose="05000000000000000000" pitchFamily="2" charset="2"/>
              <a:buChar char="ü"/>
            </a:pPr>
            <a:r>
              <a:rPr lang="en-GB" dirty="0"/>
              <a:t>Any process that leads to eustachian tube obstruction can result in fluid retention and concomitant infection of the middle ear</a:t>
            </a:r>
          </a:p>
          <a:p>
            <a:pPr lvl="1">
              <a:buFont typeface="Wingdings" panose="05000000000000000000" pitchFamily="2" charset="2"/>
              <a:buChar char="ü"/>
            </a:pPr>
            <a:r>
              <a:rPr lang="en-GB" dirty="0"/>
              <a:t>Patients present with ear pain and pressure, often accompanied by an upper respiratory tract infection. In infants, the ear pain may manifest as ear pulling.</a:t>
            </a:r>
          </a:p>
          <a:p>
            <a:pPr lvl="1">
              <a:buFont typeface="Wingdings" panose="05000000000000000000" pitchFamily="2" charset="2"/>
              <a:buChar char="ü"/>
            </a:pPr>
            <a:r>
              <a:rPr lang="en-GB" dirty="0"/>
              <a:t>Common bacterial aetiologies include </a:t>
            </a:r>
            <a:r>
              <a:rPr lang="en-GB" i="1" dirty="0"/>
              <a:t>Streptococcus pneumoniae and Haemophilus influenzae</a:t>
            </a:r>
            <a:endParaRPr lang="en-GH" i="1" dirty="0"/>
          </a:p>
        </p:txBody>
      </p:sp>
    </p:spTree>
    <p:extLst>
      <p:ext uri="{BB962C8B-B14F-4D97-AF65-F5344CB8AC3E}">
        <p14:creationId xmlns:p14="http://schemas.microsoft.com/office/powerpoint/2010/main" val="14169011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2CBDB-9023-47AB-AFF4-125575892746}"/>
              </a:ext>
            </a:extLst>
          </p:cNvPr>
          <p:cNvSpPr>
            <a:spLocks noGrp="1"/>
          </p:cNvSpPr>
          <p:nvPr>
            <p:ph type="title"/>
          </p:nvPr>
        </p:nvSpPr>
        <p:spPr/>
        <p:txBody>
          <a:bodyPr/>
          <a:lstStyle/>
          <a:p>
            <a:r>
              <a:rPr lang="en-GB" dirty="0"/>
              <a:t>Upper Respiratory Tract Infection - Pharyngitis</a:t>
            </a:r>
            <a:endParaRPr lang="en-GH" dirty="0"/>
          </a:p>
        </p:txBody>
      </p:sp>
      <p:sp>
        <p:nvSpPr>
          <p:cNvPr id="3" name="Content Placeholder 2">
            <a:extLst>
              <a:ext uri="{FF2B5EF4-FFF2-40B4-BE49-F238E27FC236}">
                <a16:creationId xmlns:a16="http://schemas.microsoft.com/office/drawing/2014/main" id="{247A8E0D-2B8E-4C4A-9C04-67308FD5A4FC}"/>
              </a:ext>
            </a:extLst>
          </p:cNvPr>
          <p:cNvSpPr>
            <a:spLocks noGrp="1"/>
          </p:cNvSpPr>
          <p:nvPr>
            <p:ph idx="1"/>
          </p:nvPr>
        </p:nvSpPr>
        <p:spPr/>
        <p:txBody>
          <a:bodyPr>
            <a:noAutofit/>
          </a:bodyPr>
          <a:lstStyle/>
          <a:p>
            <a:pPr lvl="1" algn="just">
              <a:buFont typeface="Wingdings" panose="05000000000000000000" pitchFamily="2" charset="2"/>
              <a:buChar char="ü"/>
            </a:pPr>
            <a:r>
              <a:rPr lang="en-GB" dirty="0"/>
              <a:t>About 10% of cases of pharyngitis are caused by Streptococcus pyogenes (group A Streptococcus [GAS]). </a:t>
            </a:r>
          </a:p>
          <a:p>
            <a:pPr lvl="1" algn="just">
              <a:buFont typeface="Wingdings" panose="05000000000000000000" pitchFamily="2" charset="2"/>
              <a:buChar char="ü"/>
            </a:pPr>
            <a:r>
              <a:rPr lang="en-GB" dirty="0"/>
              <a:t>Streptococcal pharyngitis (strep throat) is important because poststreptococcal immune sequalae, such as rheumatic fever, may occur</a:t>
            </a:r>
          </a:p>
          <a:p>
            <a:pPr lvl="1" algn="just">
              <a:buFont typeface="Wingdings" panose="05000000000000000000" pitchFamily="2" charset="2"/>
              <a:buChar char="ü"/>
            </a:pPr>
            <a:r>
              <a:rPr lang="en-GB" dirty="0"/>
              <a:t>Patients will complain of sore throat that is worse when swallowing. Fever may also be present</a:t>
            </a:r>
          </a:p>
          <a:p>
            <a:pPr lvl="1" algn="just">
              <a:buFont typeface="Wingdings" panose="05000000000000000000" pitchFamily="2" charset="2"/>
              <a:buChar char="ü"/>
            </a:pPr>
            <a:r>
              <a:rPr lang="en-GB" i="1" dirty="0"/>
              <a:t>Streptococcus pyogenes </a:t>
            </a:r>
            <a:r>
              <a:rPr lang="en-GB" dirty="0"/>
              <a:t>(GAS) is the most important bacterial cause</a:t>
            </a:r>
          </a:p>
          <a:p>
            <a:pPr lvl="1" algn="just">
              <a:buFont typeface="Wingdings" panose="05000000000000000000" pitchFamily="2" charset="2"/>
              <a:buChar char="ü"/>
            </a:pPr>
            <a:r>
              <a:rPr lang="en-GB" dirty="0"/>
              <a:t>Pharyngitis caused by </a:t>
            </a:r>
            <a:r>
              <a:rPr lang="en-GB" i="1" dirty="0"/>
              <a:t>Neisseria gonorrhoeae </a:t>
            </a:r>
            <a:r>
              <a:rPr lang="en-GB" dirty="0"/>
              <a:t>is likely to be the result of sexual activity and, if it occurs in children, is considered as a sign of child abuse.</a:t>
            </a:r>
          </a:p>
          <a:p>
            <a:pPr lvl="1" algn="just">
              <a:buFont typeface="Wingdings" panose="05000000000000000000" pitchFamily="2" charset="2"/>
              <a:buChar char="ü"/>
            </a:pPr>
            <a:r>
              <a:rPr lang="en-GB" dirty="0"/>
              <a:t>In certain countries where the diphtheria vaccine is not widely used, </a:t>
            </a:r>
            <a:r>
              <a:rPr lang="en-GB" i="1" dirty="0"/>
              <a:t>Corynebacterium diphtheriae </a:t>
            </a:r>
            <a:r>
              <a:rPr lang="en-GB" dirty="0"/>
              <a:t>is a significant cause of pharyngitis, often accompanied by a pseudo-membrane.</a:t>
            </a:r>
          </a:p>
          <a:p>
            <a:pPr lvl="1" algn="just">
              <a:buFont typeface="Wingdings" panose="05000000000000000000" pitchFamily="2" charset="2"/>
              <a:buChar char="ü"/>
            </a:pPr>
            <a:r>
              <a:rPr lang="en-GB" i="1" dirty="0"/>
              <a:t>S. pneumoniae and H. influenzae </a:t>
            </a:r>
            <a:r>
              <a:rPr lang="en-GB" dirty="0"/>
              <a:t>colonize the oropharynx but they do not cause pharyngitis</a:t>
            </a:r>
          </a:p>
          <a:p>
            <a:pPr lvl="1" algn="just">
              <a:buFont typeface="Wingdings" panose="05000000000000000000" pitchFamily="2" charset="2"/>
              <a:buChar char="ü"/>
            </a:pPr>
            <a:endParaRPr lang="en-GB" dirty="0"/>
          </a:p>
          <a:p>
            <a:pPr marL="0" indent="0" algn="just">
              <a:buNone/>
            </a:pPr>
            <a:endParaRPr lang="en-GB" sz="2400" dirty="0"/>
          </a:p>
        </p:txBody>
      </p:sp>
    </p:spTree>
    <p:extLst>
      <p:ext uri="{BB962C8B-B14F-4D97-AF65-F5344CB8AC3E}">
        <p14:creationId xmlns:p14="http://schemas.microsoft.com/office/powerpoint/2010/main" val="2104567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99D00-9F61-40D6-8F2C-AF6FA070174F}"/>
              </a:ext>
            </a:extLst>
          </p:cNvPr>
          <p:cNvSpPr>
            <a:spLocks noGrp="1"/>
          </p:cNvSpPr>
          <p:nvPr>
            <p:ph type="title"/>
          </p:nvPr>
        </p:nvSpPr>
        <p:spPr/>
        <p:txBody>
          <a:bodyPr/>
          <a:lstStyle/>
          <a:p>
            <a:r>
              <a:rPr lang="en-GB" dirty="0"/>
              <a:t>Upper Respiratory Tract Infection - Pharyngitis</a:t>
            </a:r>
            <a:endParaRPr lang="en-GH" dirty="0"/>
          </a:p>
        </p:txBody>
      </p:sp>
      <p:sp>
        <p:nvSpPr>
          <p:cNvPr id="3" name="Content Placeholder 2">
            <a:extLst>
              <a:ext uri="{FF2B5EF4-FFF2-40B4-BE49-F238E27FC236}">
                <a16:creationId xmlns:a16="http://schemas.microsoft.com/office/drawing/2014/main" id="{549B4833-D78A-4DFC-B9E6-3B2AE6F45B5F}"/>
              </a:ext>
            </a:extLst>
          </p:cNvPr>
          <p:cNvSpPr>
            <a:spLocks noGrp="1"/>
          </p:cNvSpPr>
          <p:nvPr>
            <p:ph idx="1"/>
          </p:nvPr>
        </p:nvSpPr>
        <p:spPr/>
        <p:txBody>
          <a:bodyPr>
            <a:normAutofit fontScale="92500" lnSpcReduction="20000"/>
          </a:bodyPr>
          <a:lstStyle/>
          <a:p>
            <a:endParaRPr lang="en-GB" dirty="0"/>
          </a:p>
          <a:p>
            <a:endParaRPr lang="en-GB" dirty="0"/>
          </a:p>
          <a:p>
            <a:endParaRPr lang="en-GB" dirty="0"/>
          </a:p>
          <a:p>
            <a:endParaRPr lang="en-GB" dirty="0"/>
          </a:p>
          <a:p>
            <a:endParaRPr lang="en-GB" dirty="0"/>
          </a:p>
          <a:p>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Pharyngitis caused by Group A Beta Haemolytic Streptococcus</a:t>
            </a:r>
          </a:p>
          <a:p>
            <a:pPr marL="0" indent="0">
              <a:buNone/>
            </a:pPr>
            <a:r>
              <a:rPr lang="en-GB" sz="1800" dirty="0"/>
              <a:t>(Note inflamed pharynx, tonsils, and palatal petechiae)</a:t>
            </a:r>
            <a:endParaRPr lang="en-GH" sz="1800" dirty="0"/>
          </a:p>
        </p:txBody>
      </p:sp>
      <p:pic>
        <p:nvPicPr>
          <p:cNvPr id="5" name="Picture 4">
            <a:extLst>
              <a:ext uri="{FF2B5EF4-FFF2-40B4-BE49-F238E27FC236}">
                <a16:creationId xmlns:a16="http://schemas.microsoft.com/office/drawing/2014/main" id="{140219D6-E461-4212-AEDA-4AE84BF8B2EA}"/>
              </a:ext>
            </a:extLst>
          </p:cNvPr>
          <p:cNvPicPr>
            <a:picLocks noChangeAspect="1"/>
          </p:cNvPicPr>
          <p:nvPr/>
        </p:nvPicPr>
        <p:blipFill>
          <a:blip r:embed="rId2"/>
          <a:stretch>
            <a:fillRect/>
          </a:stretch>
        </p:blipFill>
        <p:spPr>
          <a:xfrm>
            <a:off x="2546252" y="1825625"/>
            <a:ext cx="4940398" cy="3688909"/>
          </a:xfrm>
          <a:prstGeom prst="rect">
            <a:avLst/>
          </a:prstGeom>
        </p:spPr>
      </p:pic>
    </p:spTree>
    <p:extLst>
      <p:ext uri="{BB962C8B-B14F-4D97-AF65-F5344CB8AC3E}">
        <p14:creationId xmlns:p14="http://schemas.microsoft.com/office/powerpoint/2010/main" val="1625159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CDF5-FE10-4F43-B91F-9E5E72367DCA}"/>
              </a:ext>
            </a:extLst>
          </p:cNvPr>
          <p:cNvSpPr>
            <a:spLocks noGrp="1"/>
          </p:cNvSpPr>
          <p:nvPr>
            <p:ph type="title"/>
          </p:nvPr>
        </p:nvSpPr>
        <p:spPr>
          <a:xfrm>
            <a:off x="21771" y="301739"/>
            <a:ext cx="10515600" cy="1325563"/>
          </a:xfrm>
        </p:spPr>
        <p:txBody>
          <a:bodyPr/>
          <a:lstStyle/>
          <a:p>
            <a:r>
              <a:rPr lang="en-GB" dirty="0"/>
              <a:t>Upper Respiratory Tract Infection</a:t>
            </a:r>
            <a:endParaRPr lang="en-GH" dirty="0"/>
          </a:p>
        </p:txBody>
      </p:sp>
      <p:sp>
        <p:nvSpPr>
          <p:cNvPr id="3" name="Content Placeholder 2">
            <a:extLst>
              <a:ext uri="{FF2B5EF4-FFF2-40B4-BE49-F238E27FC236}">
                <a16:creationId xmlns:a16="http://schemas.microsoft.com/office/drawing/2014/main" id="{E40F46CC-E92A-485D-9383-1FD73964AF79}"/>
              </a:ext>
            </a:extLst>
          </p:cNvPr>
          <p:cNvSpPr>
            <a:spLocks noGrp="1"/>
          </p:cNvSpPr>
          <p:nvPr>
            <p:ph idx="1"/>
          </p:nvPr>
        </p:nvSpPr>
        <p:spPr>
          <a:xfrm>
            <a:off x="555172" y="2234406"/>
            <a:ext cx="10515600" cy="4351338"/>
          </a:xfrm>
        </p:spPr>
        <p:txBody>
          <a:bodyPr>
            <a:normAutofit/>
          </a:bodyPr>
          <a:lstStyle/>
          <a:p>
            <a:r>
              <a:rPr lang="en-GB" dirty="0"/>
              <a:t>Sinusitis</a:t>
            </a:r>
          </a:p>
          <a:p>
            <a:pPr lvl="1">
              <a:buFont typeface="Wingdings" panose="05000000000000000000" pitchFamily="2" charset="2"/>
              <a:buChar char="ü"/>
            </a:pPr>
            <a:r>
              <a:rPr lang="en-GB" dirty="0"/>
              <a:t>Sinusitis is inflammation of the paranasal sinuses. </a:t>
            </a:r>
          </a:p>
          <a:p>
            <a:pPr lvl="1">
              <a:buFont typeface="Wingdings" panose="05000000000000000000" pitchFamily="2" charset="2"/>
              <a:buChar char="ü"/>
            </a:pPr>
            <a:r>
              <a:rPr lang="en-GB" dirty="0"/>
              <a:t>It can be either acute or chronic. Acute infections are considered those with symptoms lasting less than 4 weeks.</a:t>
            </a:r>
          </a:p>
          <a:p>
            <a:pPr lvl="1">
              <a:buFont typeface="Wingdings" panose="05000000000000000000" pitchFamily="2" charset="2"/>
              <a:buChar char="ü"/>
            </a:pPr>
            <a:r>
              <a:rPr lang="en-GB" dirty="0"/>
              <a:t>Impaired mucociliary clearance caused by viral infection or allergic rhinitis can obstruct the orifice of the sinus.</a:t>
            </a:r>
          </a:p>
          <a:p>
            <a:pPr lvl="1">
              <a:buFont typeface="Wingdings" panose="05000000000000000000" pitchFamily="2" charset="2"/>
              <a:buChar char="ü"/>
            </a:pPr>
            <a:r>
              <a:rPr lang="en-GB" dirty="0"/>
              <a:t>Clinical manifestations include purulent nasal discharge, nasal congestion, facial or sinus pain, decreased sense of smell, and fever. Headache and malodorous breath may be present.</a:t>
            </a:r>
            <a:endParaRPr lang="en-GH" dirty="0"/>
          </a:p>
        </p:txBody>
      </p:sp>
      <p:pic>
        <p:nvPicPr>
          <p:cNvPr id="11266" name="Picture 2" descr="See related image detail. MEDICAL SCHOOL: acute sinusitis,what to know? in 2020 | Sinus allergies ...">
            <a:extLst>
              <a:ext uri="{FF2B5EF4-FFF2-40B4-BE49-F238E27FC236}">
                <a16:creationId xmlns:a16="http://schemas.microsoft.com/office/drawing/2014/main" id="{9D2F2DFD-0E97-6BF2-A466-D833AA199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1471" y="103415"/>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2029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3BE8F-9F6A-483D-AC60-6F7BCB6D6AF4}"/>
              </a:ext>
            </a:extLst>
          </p:cNvPr>
          <p:cNvSpPr>
            <a:spLocks noGrp="1"/>
          </p:cNvSpPr>
          <p:nvPr>
            <p:ph type="title"/>
          </p:nvPr>
        </p:nvSpPr>
        <p:spPr/>
        <p:txBody>
          <a:bodyPr/>
          <a:lstStyle/>
          <a:p>
            <a:r>
              <a:rPr lang="en-GB" dirty="0"/>
              <a:t>UPPER RESPIRATORY TRACT INFECTION</a:t>
            </a:r>
            <a:endParaRPr lang="en-GH" dirty="0"/>
          </a:p>
        </p:txBody>
      </p:sp>
      <p:sp>
        <p:nvSpPr>
          <p:cNvPr id="3" name="Content Placeholder 2">
            <a:extLst>
              <a:ext uri="{FF2B5EF4-FFF2-40B4-BE49-F238E27FC236}">
                <a16:creationId xmlns:a16="http://schemas.microsoft.com/office/drawing/2014/main" id="{28F54970-23D2-4431-BB2F-8FC4E9F24C5A}"/>
              </a:ext>
            </a:extLst>
          </p:cNvPr>
          <p:cNvSpPr>
            <a:spLocks noGrp="1"/>
          </p:cNvSpPr>
          <p:nvPr>
            <p:ph idx="1"/>
          </p:nvPr>
        </p:nvSpPr>
        <p:spPr>
          <a:xfrm>
            <a:off x="899160" y="1329237"/>
            <a:ext cx="10515600" cy="5001894"/>
          </a:xfrm>
        </p:spPr>
        <p:txBody>
          <a:bodyPr>
            <a:noAutofit/>
          </a:bodyPr>
          <a:lstStyle/>
          <a:p>
            <a:pPr algn="just"/>
            <a:r>
              <a:rPr lang="en-GB" sz="2400" dirty="0"/>
              <a:t>Epiglottitis </a:t>
            </a:r>
          </a:p>
          <a:p>
            <a:pPr lvl="1" algn="just">
              <a:buFont typeface="Wingdings" panose="05000000000000000000" pitchFamily="2" charset="2"/>
              <a:buChar char="ü"/>
            </a:pPr>
            <a:r>
              <a:rPr lang="en-GB" dirty="0"/>
              <a:t>is an inflammation of the epiglottis.</a:t>
            </a:r>
          </a:p>
          <a:p>
            <a:pPr lvl="1" algn="just">
              <a:buFont typeface="Wingdings" panose="05000000000000000000" pitchFamily="2" charset="2"/>
              <a:buChar char="ü"/>
            </a:pPr>
            <a:r>
              <a:rPr lang="en-GB" dirty="0"/>
              <a:t>Clinical manifestations include rapidly worsening sore throat and odynophagia (pain on swallowing) or dysphagia (difficulty in swallowing). Pain may be out of proportion to physical examination findings. </a:t>
            </a:r>
          </a:p>
          <a:p>
            <a:pPr lvl="1" algn="just">
              <a:buFont typeface="Wingdings" panose="05000000000000000000" pitchFamily="2" charset="2"/>
              <a:buChar char="ü"/>
            </a:pPr>
            <a:r>
              <a:rPr lang="en-GB" dirty="0"/>
              <a:t>Airway obstruction can occur in severe cases. Epiglottitis in young children should be treated as a medical emergency.</a:t>
            </a:r>
          </a:p>
          <a:p>
            <a:pPr lvl="1" algn="just">
              <a:buFont typeface="Wingdings" panose="05000000000000000000" pitchFamily="2" charset="2"/>
              <a:buChar char="ü"/>
            </a:pPr>
            <a:r>
              <a:rPr lang="en-GB" i="1" dirty="0"/>
              <a:t>Haemophilus influenzae</a:t>
            </a:r>
            <a:r>
              <a:rPr lang="en-GB" dirty="0"/>
              <a:t> type B is, by far, the most common cause, although the widespread use of the vaccine against </a:t>
            </a:r>
            <a:r>
              <a:rPr lang="en-GB" i="1" dirty="0"/>
              <a:t>H. influenzae type B</a:t>
            </a:r>
            <a:r>
              <a:rPr lang="en-GB" dirty="0"/>
              <a:t> has greatly reduced the incidence of epiglottitis.</a:t>
            </a:r>
          </a:p>
          <a:p>
            <a:pPr lvl="1" algn="just">
              <a:buFont typeface="Wingdings" panose="05000000000000000000" pitchFamily="2" charset="2"/>
              <a:buChar char="ü"/>
            </a:pPr>
            <a:r>
              <a:rPr lang="en-GB" dirty="0"/>
              <a:t> Less common pathogens include other </a:t>
            </a:r>
            <a:r>
              <a:rPr lang="en-GB" i="1" dirty="0"/>
              <a:t>H. influenzae </a:t>
            </a:r>
            <a:r>
              <a:rPr lang="en-GB" dirty="0"/>
              <a:t>types, </a:t>
            </a:r>
            <a:r>
              <a:rPr lang="en-GB" i="1" dirty="0"/>
              <a:t>S. pneumoniae, S. pyogenes</a:t>
            </a:r>
            <a:endParaRPr lang="en-GB" dirty="0"/>
          </a:p>
          <a:p>
            <a:pPr lvl="1" algn="just">
              <a:buFont typeface="Wingdings" panose="05000000000000000000" pitchFamily="2" charset="2"/>
              <a:buChar char="ü"/>
            </a:pPr>
            <a:r>
              <a:rPr lang="en-GB" dirty="0"/>
              <a:t>Treatment is with anti-biotics; often intravenous </a:t>
            </a:r>
            <a:r>
              <a:rPr lang="en-GB" dirty="0" err="1"/>
              <a:t>Ceftriazone</a:t>
            </a:r>
            <a:endParaRPr lang="en-GB" dirty="0"/>
          </a:p>
        </p:txBody>
      </p:sp>
    </p:spTree>
    <p:extLst>
      <p:ext uri="{BB962C8B-B14F-4D97-AF65-F5344CB8AC3E}">
        <p14:creationId xmlns:p14="http://schemas.microsoft.com/office/powerpoint/2010/main" val="12812546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DFE07-CECC-4895-AB4C-A55950E61D20}"/>
              </a:ext>
            </a:extLst>
          </p:cNvPr>
          <p:cNvSpPr>
            <a:spLocks noGrp="1"/>
          </p:cNvSpPr>
          <p:nvPr>
            <p:ph type="title"/>
          </p:nvPr>
        </p:nvSpPr>
        <p:spPr/>
        <p:txBody>
          <a:bodyPr/>
          <a:lstStyle/>
          <a:p>
            <a:r>
              <a:rPr lang="en-GB" dirty="0"/>
              <a:t>UPPER RESPIRATORY TRACT INFECTION</a:t>
            </a:r>
            <a:endParaRPr lang="en-GH" dirty="0"/>
          </a:p>
        </p:txBody>
      </p:sp>
      <p:sp>
        <p:nvSpPr>
          <p:cNvPr id="3" name="Content Placeholder 2">
            <a:extLst>
              <a:ext uri="{FF2B5EF4-FFF2-40B4-BE49-F238E27FC236}">
                <a16:creationId xmlns:a16="http://schemas.microsoft.com/office/drawing/2014/main" id="{5526F811-3AE1-4A98-9DEC-7E96ADCB38B2}"/>
              </a:ext>
            </a:extLst>
          </p:cNvPr>
          <p:cNvSpPr>
            <a:spLocks noGrp="1"/>
          </p:cNvSpPr>
          <p:nvPr>
            <p:ph idx="1"/>
          </p:nvPr>
        </p:nvSpPr>
        <p:spPr/>
        <p:txBody>
          <a:bodyPr>
            <a:normAutofit fontScale="92500" lnSpcReduction="10000"/>
          </a:bodyPr>
          <a:lstStyle/>
          <a:p>
            <a:pPr algn="just"/>
            <a:r>
              <a:rPr lang="en-GB" dirty="0"/>
              <a:t>Other infections of the upper respiratory tract include </a:t>
            </a:r>
          </a:p>
          <a:p>
            <a:pPr lvl="1" algn="just">
              <a:buFont typeface="Wingdings" panose="05000000000000000000" pitchFamily="2" charset="2"/>
              <a:buChar char="ü"/>
            </a:pPr>
            <a:r>
              <a:rPr lang="en-GB" dirty="0"/>
              <a:t>Common cold </a:t>
            </a:r>
          </a:p>
          <a:p>
            <a:pPr lvl="2" algn="just">
              <a:buFont typeface="Wingdings" panose="05000000000000000000" pitchFamily="2" charset="2"/>
              <a:buChar char="Ø"/>
            </a:pPr>
            <a:r>
              <a:rPr lang="en-GB" dirty="0"/>
              <a:t>Rhinoviruses (more than 100 serotypes) are the most common aetiology (up to 50%). Coronaviruses, adenoviruses, and enteroviruses such as Coxsackie viruses are other causes. Viruses such as parainfluenza virus and respiratory syncytial virus are also possible causes of the common cold, although they primarily cause other diseases (croup and bronchiolitis, respectively</a:t>
            </a:r>
          </a:p>
          <a:p>
            <a:pPr lvl="1" algn="just">
              <a:buFont typeface="Wingdings" panose="05000000000000000000" pitchFamily="2" charset="2"/>
              <a:buChar char="ü"/>
            </a:pPr>
            <a:r>
              <a:rPr lang="en-GB" dirty="0"/>
              <a:t>Croup </a:t>
            </a:r>
          </a:p>
          <a:p>
            <a:pPr lvl="2" algn="just">
              <a:buFont typeface="Wingdings" panose="05000000000000000000" pitchFamily="2" charset="2"/>
              <a:buChar char="Ø"/>
            </a:pPr>
            <a:r>
              <a:rPr lang="en-GB" dirty="0"/>
              <a:t>inflammation of the larynx, trachea, and large bronchi (laryngotracheobronchitis)</a:t>
            </a:r>
          </a:p>
          <a:p>
            <a:pPr lvl="2" algn="just">
              <a:buFont typeface="Wingdings" panose="05000000000000000000" pitchFamily="2" charset="2"/>
              <a:buChar char="Ø"/>
            </a:pPr>
            <a:r>
              <a:rPr lang="en-GB" dirty="0"/>
              <a:t>Parainfluenza viruses, especially type 1, are the most common cause. Respiratory syncytial virus and influenza virus account for 1% to 10% of cases.</a:t>
            </a:r>
          </a:p>
          <a:p>
            <a:pPr lvl="1" algn="just">
              <a:buFont typeface="Wingdings" panose="05000000000000000000" pitchFamily="2" charset="2"/>
              <a:buChar char="ü"/>
            </a:pPr>
            <a:r>
              <a:rPr lang="en-GB" dirty="0"/>
              <a:t>Laryngitis</a:t>
            </a:r>
          </a:p>
          <a:p>
            <a:pPr lvl="2" algn="just">
              <a:buFont typeface="Wingdings" panose="05000000000000000000" pitchFamily="2" charset="2"/>
              <a:buChar char="Ø"/>
            </a:pPr>
            <a:r>
              <a:rPr lang="en-GB" dirty="0"/>
              <a:t>Laryngitis is inflammation of the vocal folds of the larynx</a:t>
            </a:r>
          </a:p>
          <a:p>
            <a:pPr lvl="2" algn="just">
              <a:buFont typeface="Wingdings" panose="05000000000000000000" pitchFamily="2" charset="2"/>
              <a:buChar char="Ø"/>
            </a:pPr>
            <a:r>
              <a:rPr lang="en-GB" dirty="0"/>
              <a:t>Parainfluenza viruses and rhinoviruses are the most common causes of laryngitis</a:t>
            </a:r>
          </a:p>
          <a:p>
            <a:pPr lvl="2" algn="just">
              <a:buFont typeface="Wingdings" panose="05000000000000000000" pitchFamily="2" charset="2"/>
              <a:buChar char="Ø"/>
            </a:pPr>
            <a:r>
              <a:rPr lang="en-GB" dirty="0"/>
              <a:t>Bacteria such as S. pyogenes, M. catarrhalis, and H. influenzae have also been isolated.</a:t>
            </a:r>
            <a:endParaRPr lang="en-GH" dirty="0"/>
          </a:p>
        </p:txBody>
      </p:sp>
    </p:spTree>
    <p:extLst>
      <p:ext uri="{BB962C8B-B14F-4D97-AF65-F5344CB8AC3E}">
        <p14:creationId xmlns:p14="http://schemas.microsoft.com/office/powerpoint/2010/main" val="14247910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E60AD-AC43-4FA9-95FA-121B657B81AB}"/>
              </a:ext>
            </a:extLst>
          </p:cNvPr>
          <p:cNvSpPr>
            <a:spLocks noGrp="1"/>
          </p:cNvSpPr>
          <p:nvPr>
            <p:ph type="title"/>
          </p:nvPr>
        </p:nvSpPr>
        <p:spPr/>
        <p:txBody>
          <a:bodyPr/>
          <a:lstStyle/>
          <a:p>
            <a:r>
              <a:rPr lang="en-GB" dirty="0"/>
              <a:t>UPPER RESPIRATORY TRACT INFECTION</a:t>
            </a:r>
            <a:endParaRPr lang="en-GH" dirty="0"/>
          </a:p>
        </p:txBody>
      </p:sp>
      <p:sp>
        <p:nvSpPr>
          <p:cNvPr id="3" name="Content Placeholder 2">
            <a:extLst>
              <a:ext uri="{FF2B5EF4-FFF2-40B4-BE49-F238E27FC236}">
                <a16:creationId xmlns:a16="http://schemas.microsoft.com/office/drawing/2014/main" id="{FF04DDB5-3F7A-4E6A-969E-078DE845633C}"/>
              </a:ext>
            </a:extLst>
          </p:cNvPr>
          <p:cNvSpPr>
            <a:spLocks noGrp="1"/>
          </p:cNvSpPr>
          <p:nvPr>
            <p:ph idx="1"/>
          </p:nvPr>
        </p:nvSpPr>
        <p:spPr/>
        <p:txBody>
          <a:bodyPr/>
          <a:lstStyle/>
          <a:p>
            <a:pPr marL="0" indent="0">
              <a:buNone/>
            </a:pPr>
            <a:r>
              <a:rPr lang="en-GB" dirty="0"/>
              <a:t>                 Common Infections of the Upper Respiratory Tract</a:t>
            </a:r>
          </a:p>
          <a:p>
            <a:pPr marL="0" indent="0">
              <a:buNone/>
            </a:pPr>
            <a:endParaRPr lang="en-GH" dirty="0"/>
          </a:p>
        </p:txBody>
      </p:sp>
      <p:pic>
        <p:nvPicPr>
          <p:cNvPr id="5" name="Picture 4">
            <a:extLst>
              <a:ext uri="{FF2B5EF4-FFF2-40B4-BE49-F238E27FC236}">
                <a16:creationId xmlns:a16="http://schemas.microsoft.com/office/drawing/2014/main" id="{9997599E-ADFC-4F17-AA45-1F3C9D3E073E}"/>
              </a:ext>
            </a:extLst>
          </p:cNvPr>
          <p:cNvPicPr>
            <a:picLocks noChangeAspect="1"/>
          </p:cNvPicPr>
          <p:nvPr/>
        </p:nvPicPr>
        <p:blipFill>
          <a:blip r:embed="rId2"/>
          <a:stretch>
            <a:fillRect/>
          </a:stretch>
        </p:blipFill>
        <p:spPr>
          <a:xfrm>
            <a:off x="1899138" y="2447777"/>
            <a:ext cx="8159262" cy="4045097"/>
          </a:xfrm>
          <a:prstGeom prst="rect">
            <a:avLst/>
          </a:prstGeom>
        </p:spPr>
      </p:pic>
    </p:spTree>
    <p:extLst>
      <p:ext uri="{BB962C8B-B14F-4D97-AF65-F5344CB8AC3E}">
        <p14:creationId xmlns:p14="http://schemas.microsoft.com/office/powerpoint/2010/main" val="20349649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566D-4E3B-42A4-A39E-E5C767AACB9E}"/>
              </a:ext>
            </a:extLst>
          </p:cNvPr>
          <p:cNvSpPr>
            <a:spLocks noGrp="1"/>
          </p:cNvSpPr>
          <p:nvPr>
            <p:ph type="title"/>
          </p:nvPr>
        </p:nvSpPr>
        <p:spPr/>
        <p:txBody>
          <a:bodyPr/>
          <a:lstStyle/>
          <a:p>
            <a:r>
              <a:rPr lang="en-GB" dirty="0"/>
              <a:t>Infections Of The Lower Respiratory Tract</a:t>
            </a:r>
            <a:endParaRPr lang="en-GH" dirty="0"/>
          </a:p>
        </p:txBody>
      </p:sp>
      <p:sp>
        <p:nvSpPr>
          <p:cNvPr id="3" name="Content Placeholder 2">
            <a:extLst>
              <a:ext uri="{FF2B5EF4-FFF2-40B4-BE49-F238E27FC236}">
                <a16:creationId xmlns:a16="http://schemas.microsoft.com/office/drawing/2014/main" id="{8F44376A-BFD7-4EFE-9924-45455CE1871F}"/>
              </a:ext>
            </a:extLst>
          </p:cNvPr>
          <p:cNvSpPr>
            <a:spLocks noGrp="1"/>
          </p:cNvSpPr>
          <p:nvPr>
            <p:ph idx="1"/>
          </p:nvPr>
        </p:nvSpPr>
        <p:spPr/>
        <p:txBody>
          <a:bodyPr>
            <a:normAutofit fontScale="92500" lnSpcReduction="20000"/>
          </a:bodyPr>
          <a:lstStyle/>
          <a:p>
            <a:pPr algn="just"/>
            <a:r>
              <a:rPr lang="en-GB" dirty="0"/>
              <a:t>Bronchitis</a:t>
            </a:r>
          </a:p>
          <a:p>
            <a:pPr lvl="1" algn="just">
              <a:buFont typeface="Wingdings" panose="05000000000000000000" pitchFamily="2" charset="2"/>
              <a:buChar char="ü"/>
            </a:pPr>
            <a:r>
              <a:rPr lang="en-GB" dirty="0"/>
              <a:t>Bronchitis is a self-limited inflammation of the bronchi. </a:t>
            </a:r>
          </a:p>
          <a:p>
            <a:pPr lvl="1" algn="just">
              <a:buFont typeface="Wingdings" panose="05000000000000000000" pitchFamily="2" charset="2"/>
              <a:buChar char="ü"/>
            </a:pPr>
            <a:r>
              <a:rPr lang="en-GB" dirty="0"/>
              <a:t>Acute bronchitis must be distinguished from chronic bronchitis in which patients have a cough for more than 3 months.</a:t>
            </a:r>
          </a:p>
          <a:p>
            <a:pPr lvl="1" algn="just">
              <a:buFont typeface="Wingdings" panose="05000000000000000000" pitchFamily="2" charset="2"/>
              <a:buChar char="ü"/>
            </a:pPr>
            <a:r>
              <a:rPr lang="en-GB" dirty="0"/>
              <a:t>Respiratory viruses are the most common pathogens </a:t>
            </a:r>
          </a:p>
          <a:p>
            <a:pPr lvl="1" algn="just">
              <a:buFont typeface="Wingdings" panose="05000000000000000000" pitchFamily="2" charset="2"/>
              <a:buChar char="ü"/>
            </a:pPr>
            <a:r>
              <a:rPr lang="en-GB" dirty="0"/>
              <a:t>Bacterial pathogens are not thought to play a significant role in acute bronchitis</a:t>
            </a:r>
          </a:p>
          <a:p>
            <a:pPr algn="just"/>
            <a:r>
              <a:rPr lang="en-GB" dirty="0"/>
              <a:t>Bronchiolitis</a:t>
            </a:r>
          </a:p>
          <a:p>
            <a:pPr lvl="1" algn="just">
              <a:buFont typeface="Wingdings" panose="05000000000000000000" pitchFamily="2" charset="2"/>
              <a:buChar char="ü"/>
            </a:pPr>
            <a:r>
              <a:rPr lang="en-GB" dirty="0"/>
              <a:t>Bronchiolitis is inflammation of the bronchioles—the small airways less than 2 mm in diameter.</a:t>
            </a:r>
          </a:p>
          <a:p>
            <a:pPr lvl="1" algn="just">
              <a:buFont typeface="Wingdings" panose="05000000000000000000" pitchFamily="2" charset="2"/>
              <a:buChar char="ü"/>
            </a:pPr>
            <a:r>
              <a:rPr lang="en-GB" dirty="0"/>
              <a:t>RSV is the most common pathogen. </a:t>
            </a:r>
          </a:p>
          <a:p>
            <a:pPr lvl="1" algn="just">
              <a:buFont typeface="Wingdings" panose="05000000000000000000" pitchFamily="2" charset="2"/>
              <a:buChar char="ü"/>
            </a:pPr>
            <a:r>
              <a:rPr lang="en-GB" dirty="0"/>
              <a:t>Other aetiologies include influenza virus, parainfluenza virus, adenovirus, coronavirus, rhinovirus, and human metapneumovirus.</a:t>
            </a:r>
          </a:p>
          <a:p>
            <a:pPr lvl="1" algn="just">
              <a:buFont typeface="Wingdings" panose="05000000000000000000" pitchFamily="2" charset="2"/>
              <a:buChar char="ü"/>
            </a:pPr>
            <a:r>
              <a:rPr lang="en-GB" dirty="0"/>
              <a:t> Viruses are the main aetiology of bronchiolitis. Bacteria are not thought to be involved.</a:t>
            </a:r>
          </a:p>
        </p:txBody>
      </p:sp>
    </p:spTree>
    <p:extLst>
      <p:ext uri="{BB962C8B-B14F-4D97-AF65-F5344CB8AC3E}">
        <p14:creationId xmlns:p14="http://schemas.microsoft.com/office/powerpoint/2010/main" val="10271721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51B38-5687-496A-97BA-CBD29EF04102}"/>
              </a:ext>
            </a:extLst>
          </p:cNvPr>
          <p:cNvSpPr>
            <a:spLocks noGrp="1"/>
          </p:cNvSpPr>
          <p:nvPr>
            <p:ph type="title"/>
          </p:nvPr>
        </p:nvSpPr>
        <p:spPr/>
        <p:txBody>
          <a:bodyPr/>
          <a:lstStyle/>
          <a:p>
            <a:r>
              <a:rPr lang="en-GB" dirty="0"/>
              <a:t>INFECTIONS OF THE LOWER RESPIRATORY TRACT</a:t>
            </a:r>
            <a:endParaRPr lang="en-GH" dirty="0"/>
          </a:p>
        </p:txBody>
      </p:sp>
      <p:sp>
        <p:nvSpPr>
          <p:cNvPr id="3" name="Content Placeholder 2">
            <a:extLst>
              <a:ext uri="{FF2B5EF4-FFF2-40B4-BE49-F238E27FC236}">
                <a16:creationId xmlns:a16="http://schemas.microsoft.com/office/drawing/2014/main" id="{CC1DE231-070A-4841-9F15-C0F4721864B5}"/>
              </a:ext>
            </a:extLst>
          </p:cNvPr>
          <p:cNvSpPr>
            <a:spLocks noGrp="1"/>
          </p:cNvSpPr>
          <p:nvPr>
            <p:ph idx="1"/>
          </p:nvPr>
        </p:nvSpPr>
        <p:spPr/>
        <p:txBody>
          <a:bodyPr/>
          <a:lstStyle/>
          <a:p>
            <a:r>
              <a:rPr lang="en-GB" dirty="0"/>
              <a:t>Pneumonia – Pathogens </a:t>
            </a:r>
          </a:p>
          <a:p>
            <a:pPr marL="0" indent="0">
              <a:buNone/>
            </a:pPr>
            <a:r>
              <a:rPr lang="en-GB" dirty="0"/>
              <a:t> Bacterial and Viral Causes of Community-Acquired Pneumonia by  Age (Listed in Order of Frequency) </a:t>
            </a:r>
          </a:p>
          <a:p>
            <a:pPr marL="0" indent="0">
              <a:buNone/>
            </a:pPr>
            <a:endParaRPr lang="en-GH" dirty="0"/>
          </a:p>
        </p:txBody>
      </p:sp>
      <p:pic>
        <p:nvPicPr>
          <p:cNvPr id="5" name="Picture 4">
            <a:extLst>
              <a:ext uri="{FF2B5EF4-FFF2-40B4-BE49-F238E27FC236}">
                <a16:creationId xmlns:a16="http://schemas.microsoft.com/office/drawing/2014/main" id="{27AA30E3-45DB-4C48-86F8-A9D67CF70DAA}"/>
              </a:ext>
            </a:extLst>
          </p:cNvPr>
          <p:cNvPicPr>
            <a:picLocks noChangeAspect="1"/>
          </p:cNvPicPr>
          <p:nvPr/>
        </p:nvPicPr>
        <p:blipFill>
          <a:blip r:embed="rId2"/>
          <a:stretch>
            <a:fillRect/>
          </a:stretch>
        </p:blipFill>
        <p:spPr>
          <a:xfrm>
            <a:off x="3407228" y="3291840"/>
            <a:ext cx="5905583" cy="3212146"/>
          </a:xfrm>
          <a:prstGeom prst="rect">
            <a:avLst/>
          </a:prstGeom>
        </p:spPr>
      </p:pic>
    </p:spTree>
    <p:extLst>
      <p:ext uri="{BB962C8B-B14F-4D97-AF65-F5344CB8AC3E}">
        <p14:creationId xmlns:p14="http://schemas.microsoft.com/office/powerpoint/2010/main" val="31761190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CAB13-5BA6-4C23-B2FB-326D49F130B2}"/>
              </a:ext>
            </a:extLst>
          </p:cNvPr>
          <p:cNvSpPr>
            <a:spLocks noGrp="1"/>
          </p:cNvSpPr>
          <p:nvPr>
            <p:ph type="title"/>
          </p:nvPr>
        </p:nvSpPr>
        <p:spPr/>
        <p:txBody>
          <a:bodyPr/>
          <a:lstStyle/>
          <a:p>
            <a:r>
              <a:rPr lang="en-GB" dirty="0"/>
              <a:t>INFECTIONS OF THE LOWER RESPIRATORY TRACT</a:t>
            </a:r>
            <a:endParaRPr lang="en-GH" dirty="0"/>
          </a:p>
        </p:txBody>
      </p:sp>
      <p:sp>
        <p:nvSpPr>
          <p:cNvPr id="3" name="Content Placeholder 2">
            <a:extLst>
              <a:ext uri="{FF2B5EF4-FFF2-40B4-BE49-F238E27FC236}">
                <a16:creationId xmlns:a16="http://schemas.microsoft.com/office/drawing/2014/main" id="{83987B1C-2CCE-4E96-9FB8-9F6DCBAD9B7B}"/>
              </a:ext>
            </a:extLst>
          </p:cNvPr>
          <p:cNvSpPr>
            <a:spLocks noGrp="1"/>
          </p:cNvSpPr>
          <p:nvPr>
            <p:ph idx="1"/>
          </p:nvPr>
        </p:nvSpPr>
        <p:spPr/>
        <p:txBody>
          <a:bodyPr/>
          <a:lstStyle/>
          <a:p>
            <a:pPr marL="0" indent="0">
              <a:buNone/>
            </a:pPr>
            <a:r>
              <a:rPr lang="en-GB" dirty="0"/>
              <a:t>Predisposing Factors Associated With Typical Pathogens Causing Community-Acquired Pneumonia</a:t>
            </a:r>
          </a:p>
          <a:p>
            <a:pPr marL="0" indent="0">
              <a:buNone/>
            </a:pPr>
            <a:endParaRPr lang="en-GH" dirty="0"/>
          </a:p>
        </p:txBody>
      </p:sp>
      <p:pic>
        <p:nvPicPr>
          <p:cNvPr id="5" name="Picture 4">
            <a:extLst>
              <a:ext uri="{FF2B5EF4-FFF2-40B4-BE49-F238E27FC236}">
                <a16:creationId xmlns:a16="http://schemas.microsoft.com/office/drawing/2014/main" id="{EE14254B-6058-4BD8-9E9E-0784E3A9CAFE}"/>
              </a:ext>
            </a:extLst>
          </p:cNvPr>
          <p:cNvPicPr>
            <a:picLocks noChangeAspect="1"/>
          </p:cNvPicPr>
          <p:nvPr/>
        </p:nvPicPr>
        <p:blipFill>
          <a:blip r:embed="rId2"/>
          <a:stretch>
            <a:fillRect/>
          </a:stretch>
        </p:blipFill>
        <p:spPr>
          <a:xfrm>
            <a:off x="1549400" y="2833804"/>
            <a:ext cx="7874000" cy="3782896"/>
          </a:xfrm>
          <a:prstGeom prst="rect">
            <a:avLst/>
          </a:prstGeom>
        </p:spPr>
      </p:pic>
    </p:spTree>
    <p:extLst>
      <p:ext uri="{BB962C8B-B14F-4D97-AF65-F5344CB8AC3E}">
        <p14:creationId xmlns:p14="http://schemas.microsoft.com/office/powerpoint/2010/main" val="33185969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397B-F3CE-4868-AC4A-10E27E564D97}"/>
              </a:ext>
            </a:extLst>
          </p:cNvPr>
          <p:cNvSpPr>
            <a:spLocks noGrp="1"/>
          </p:cNvSpPr>
          <p:nvPr>
            <p:ph type="title"/>
          </p:nvPr>
        </p:nvSpPr>
        <p:spPr/>
        <p:txBody>
          <a:bodyPr/>
          <a:lstStyle/>
          <a:p>
            <a:r>
              <a:rPr lang="en-GB" dirty="0"/>
              <a:t>INFECTIONS OF THE LOWER RESPIRATORY TRACT</a:t>
            </a:r>
            <a:endParaRPr lang="en-GH" dirty="0"/>
          </a:p>
        </p:txBody>
      </p:sp>
      <p:sp>
        <p:nvSpPr>
          <p:cNvPr id="3" name="Content Placeholder 2">
            <a:extLst>
              <a:ext uri="{FF2B5EF4-FFF2-40B4-BE49-F238E27FC236}">
                <a16:creationId xmlns:a16="http://schemas.microsoft.com/office/drawing/2014/main" id="{C035ACFB-1F95-4E54-924C-5FCD285C0D28}"/>
              </a:ext>
            </a:extLst>
          </p:cNvPr>
          <p:cNvSpPr>
            <a:spLocks noGrp="1"/>
          </p:cNvSpPr>
          <p:nvPr>
            <p:ph idx="1"/>
          </p:nvPr>
        </p:nvSpPr>
        <p:spPr/>
        <p:txBody>
          <a:bodyPr>
            <a:normAutofit lnSpcReduction="10000"/>
          </a:bodyPr>
          <a:lstStyle/>
          <a:p>
            <a:pPr algn="just"/>
            <a:r>
              <a:rPr lang="en-GB" dirty="0"/>
              <a:t>Pneumonia – Diagnosis</a:t>
            </a:r>
          </a:p>
          <a:p>
            <a:pPr lvl="1" algn="just">
              <a:buFont typeface="Wingdings" panose="05000000000000000000" pitchFamily="2" charset="2"/>
              <a:buChar char="ü"/>
            </a:pPr>
            <a:r>
              <a:rPr lang="en-GB" dirty="0"/>
              <a:t>The “gold standard” for a diagnosis of pneumonia is an infiltrate on a plain chest radiograph</a:t>
            </a:r>
          </a:p>
          <a:p>
            <a:pPr lvl="1" algn="just">
              <a:buFont typeface="Wingdings" panose="05000000000000000000" pitchFamily="2" charset="2"/>
              <a:buChar char="ü"/>
            </a:pPr>
            <a:r>
              <a:rPr lang="en-GB" dirty="0"/>
              <a:t>Sputum analysis for Gram stain and culture and blood cultures may be helpful in the hospitalized patient</a:t>
            </a:r>
          </a:p>
          <a:p>
            <a:pPr lvl="1" algn="just">
              <a:buFont typeface="Wingdings" panose="05000000000000000000" pitchFamily="2" charset="2"/>
              <a:buChar char="ü"/>
            </a:pPr>
            <a:r>
              <a:rPr lang="en-GB" dirty="0"/>
              <a:t>Pneumonia caused by </a:t>
            </a:r>
            <a:r>
              <a:rPr lang="en-GB" i="1" dirty="0"/>
              <a:t>M. tuberculosis </a:t>
            </a:r>
            <a:r>
              <a:rPr lang="en-GB" dirty="0"/>
              <a:t>is diagnosed by acid-fast stain of sputum and culture on mycobacterial medium. A PCR assay done directly on sputum is available also. </a:t>
            </a:r>
          </a:p>
          <a:p>
            <a:pPr lvl="1" algn="just">
              <a:buFont typeface="Wingdings" panose="05000000000000000000" pitchFamily="2" charset="2"/>
              <a:buChar char="ü"/>
            </a:pPr>
            <a:r>
              <a:rPr lang="en-GB" dirty="0"/>
              <a:t>Pneumonia caused by </a:t>
            </a:r>
            <a:r>
              <a:rPr lang="en-GB" i="1" dirty="0"/>
              <a:t>Legionella pneumophila </a:t>
            </a:r>
            <a:r>
              <a:rPr lang="en-GB" dirty="0"/>
              <a:t>is often diagnosed by urinary antigen. </a:t>
            </a:r>
          </a:p>
          <a:p>
            <a:pPr lvl="1" algn="just">
              <a:buFont typeface="Wingdings" panose="05000000000000000000" pitchFamily="2" charset="2"/>
              <a:buChar char="ü"/>
            </a:pPr>
            <a:r>
              <a:rPr lang="en-GB" dirty="0"/>
              <a:t>PCR tests for various respiratory pathogens such as </a:t>
            </a:r>
            <a:r>
              <a:rPr lang="en-GB" i="1" dirty="0"/>
              <a:t>M. pneumoniae, C. pneumoniae</a:t>
            </a:r>
            <a:r>
              <a:rPr lang="en-GB" dirty="0"/>
              <a:t>, influenza virus, and RSV are useful in special circumstances.</a:t>
            </a:r>
          </a:p>
          <a:p>
            <a:pPr lvl="1" algn="just">
              <a:buFont typeface="Wingdings" panose="05000000000000000000" pitchFamily="2" charset="2"/>
              <a:buChar char="ü"/>
            </a:pPr>
            <a:r>
              <a:rPr lang="en-GB" dirty="0"/>
              <a:t>Treatment is mainly anti-biotics tailored towards the possible organisms</a:t>
            </a:r>
          </a:p>
        </p:txBody>
      </p:sp>
    </p:spTree>
    <p:extLst>
      <p:ext uri="{BB962C8B-B14F-4D97-AF65-F5344CB8AC3E}">
        <p14:creationId xmlns:p14="http://schemas.microsoft.com/office/powerpoint/2010/main" val="38549469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74A2-FA14-4F5F-837E-369DB03077F2}"/>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31CA9BC1-36C6-4222-B83B-2401CFB4010D}"/>
              </a:ext>
            </a:extLst>
          </p:cNvPr>
          <p:cNvSpPr>
            <a:spLocks noGrp="1"/>
          </p:cNvSpPr>
          <p:nvPr>
            <p:ph idx="1"/>
          </p:nvPr>
        </p:nvSpPr>
        <p:spPr/>
        <p:txBody>
          <a:bodyPr>
            <a:normAutofit lnSpcReduction="10000"/>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                      Layers of the skin and subcutaneous tissue</a:t>
            </a:r>
            <a:endParaRPr lang="en-GH" dirty="0"/>
          </a:p>
        </p:txBody>
      </p:sp>
      <p:pic>
        <p:nvPicPr>
          <p:cNvPr id="5" name="Picture 4">
            <a:extLst>
              <a:ext uri="{FF2B5EF4-FFF2-40B4-BE49-F238E27FC236}">
                <a16:creationId xmlns:a16="http://schemas.microsoft.com/office/drawing/2014/main" id="{DD3C64F7-BF47-479F-92F1-69DBD3A1B7C5}"/>
              </a:ext>
            </a:extLst>
          </p:cNvPr>
          <p:cNvPicPr>
            <a:picLocks noChangeAspect="1"/>
          </p:cNvPicPr>
          <p:nvPr/>
        </p:nvPicPr>
        <p:blipFill>
          <a:blip r:embed="rId2"/>
          <a:stretch>
            <a:fillRect/>
          </a:stretch>
        </p:blipFill>
        <p:spPr>
          <a:xfrm>
            <a:off x="1111348" y="1690687"/>
            <a:ext cx="9101797" cy="3978593"/>
          </a:xfrm>
          <a:prstGeom prst="rect">
            <a:avLst/>
          </a:prstGeom>
        </p:spPr>
      </p:pic>
    </p:spTree>
    <p:extLst>
      <p:ext uri="{BB962C8B-B14F-4D97-AF65-F5344CB8AC3E}">
        <p14:creationId xmlns:p14="http://schemas.microsoft.com/office/powerpoint/2010/main" val="21525599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8A97-579A-4B2F-91F3-9D0CEDFA7CAF}"/>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36E7B93D-BF64-44F9-B14D-F57FAEC65C9F}"/>
              </a:ext>
            </a:extLst>
          </p:cNvPr>
          <p:cNvSpPr>
            <a:spLocks noGrp="1"/>
          </p:cNvSpPr>
          <p:nvPr>
            <p:ph idx="1"/>
          </p:nvPr>
        </p:nvSpPr>
        <p:spPr/>
        <p:txBody>
          <a:bodyPr>
            <a:normAutofit/>
          </a:bodyPr>
          <a:lstStyle/>
          <a:p>
            <a:pPr algn="just"/>
            <a:r>
              <a:rPr lang="en-GB" dirty="0"/>
              <a:t>Impetigo</a:t>
            </a:r>
          </a:p>
          <a:p>
            <a:pPr lvl="1" algn="just">
              <a:buFont typeface="Wingdings" panose="05000000000000000000" pitchFamily="2" charset="2"/>
              <a:buChar char="ü"/>
            </a:pPr>
            <a:r>
              <a:rPr lang="en-GB" dirty="0"/>
              <a:t>Impetigo is an infection of the epidermal layer of skin</a:t>
            </a:r>
          </a:p>
          <a:p>
            <a:pPr lvl="1" algn="just">
              <a:buFont typeface="Wingdings" panose="05000000000000000000" pitchFamily="2" charset="2"/>
              <a:buChar char="ü"/>
            </a:pPr>
            <a:r>
              <a:rPr lang="en-GB" dirty="0"/>
              <a:t>There are two modes of acquisition of impetigo, primary infection that occurs in otherwise normal skin or secondary impetigo, which occurs following a break in normal skin integrity. Bacteria invade into the epidermal layer and cause local damage. </a:t>
            </a:r>
          </a:p>
          <a:p>
            <a:pPr lvl="1" algn="just">
              <a:buFont typeface="Wingdings" panose="05000000000000000000" pitchFamily="2" charset="2"/>
              <a:buChar char="ü"/>
            </a:pPr>
            <a:r>
              <a:rPr lang="en-GB" i="1" dirty="0"/>
              <a:t>Staphylococcus aureus </a:t>
            </a:r>
            <a:r>
              <a:rPr lang="en-GB" dirty="0"/>
              <a:t>and </a:t>
            </a:r>
            <a:r>
              <a:rPr lang="en-GB" i="1" dirty="0"/>
              <a:t>S. pyogenes </a:t>
            </a:r>
            <a:r>
              <a:rPr lang="en-GB" dirty="0"/>
              <a:t>are the two main pathogens that cause impetigo. </a:t>
            </a:r>
          </a:p>
          <a:p>
            <a:pPr lvl="1" algn="just">
              <a:buFont typeface="Wingdings" panose="05000000000000000000" pitchFamily="2" charset="2"/>
              <a:buChar char="ü"/>
            </a:pPr>
            <a:r>
              <a:rPr lang="en-GB" dirty="0"/>
              <a:t>In neutropenic patients, a clinical syndrome termed ecthyma gangrenosum which may be confused with impetigo is due to disseminated </a:t>
            </a:r>
            <a:r>
              <a:rPr lang="en-GB" i="1" dirty="0"/>
              <a:t>Pseudomonas aeruginosa </a:t>
            </a:r>
            <a:r>
              <a:rPr lang="en-GB" dirty="0"/>
              <a:t>infection. </a:t>
            </a:r>
          </a:p>
          <a:p>
            <a:pPr marL="457200" lvl="1" indent="0" algn="just">
              <a:buNone/>
            </a:pPr>
            <a:endParaRPr lang="en-GH" dirty="0"/>
          </a:p>
        </p:txBody>
      </p:sp>
    </p:spTree>
    <p:extLst>
      <p:ext uri="{BB962C8B-B14F-4D97-AF65-F5344CB8AC3E}">
        <p14:creationId xmlns:p14="http://schemas.microsoft.com/office/powerpoint/2010/main" val="20791336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80D0-C380-414A-B593-9F9191C4CDE6}"/>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899FE4C2-CA59-4445-BCA1-37AA289811E0}"/>
              </a:ext>
            </a:extLst>
          </p:cNvPr>
          <p:cNvSpPr>
            <a:spLocks noGrp="1"/>
          </p:cNvSpPr>
          <p:nvPr>
            <p:ph idx="1"/>
          </p:nvPr>
        </p:nvSpPr>
        <p:spPr/>
        <p:txBody>
          <a:bodyPr>
            <a:normAutofit fontScale="77500" lnSpcReduction="20000"/>
          </a:bodyPr>
          <a:lstStyle/>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Non – bullous impetigo                   Bullous impetigo                                    Ecthyma</a:t>
            </a:r>
            <a:endParaRPr lang="en-GH" dirty="0"/>
          </a:p>
        </p:txBody>
      </p:sp>
      <p:pic>
        <p:nvPicPr>
          <p:cNvPr id="4" name="Picture 3">
            <a:extLst>
              <a:ext uri="{FF2B5EF4-FFF2-40B4-BE49-F238E27FC236}">
                <a16:creationId xmlns:a16="http://schemas.microsoft.com/office/drawing/2014/main" id="{D72BA6CD-7C92-4C58-AF8A-ABBE006E839D}"/>
              </a:ext>
            </a:extLst>
          </p:cNvPr>
          <p:cNvPicPr>
            <a:picLocks noChangeAspect="1"/>
          </p:cNvPicPr>
          <p:nvPr/>
        </p:nvPicPr>
        <p:blipFill>
          <a:blip r:embed="rId2"/>
          <a:stretch>
            <a:fillRect/>
          </a:stretch>
        </p:blipFill>
        <p:spPr>
          <a:xfrm>
            <a:off x="689318" y="1853047"/>
            <a:ext cx="3910818" cy="3886571"/>
          </a:xfrm>
          <a:prstGeom prst="rect">
            <a:avLst/>
          </a:prstGeom>
        </p:spPr>
      </p:pic>
      <p:pic>
        <p:nvPicPr>
          <p:cNvPr id="5" name="Picture 4">
            <a:extLst>
              <a:ext uri="{FF2B5EF4-FFF2-40B4-BE49-F238E27FC236}">
                <a16:creationId xmlns:a16="http://schemas.microsoft.com/office/drawing/2014/main" id="{1776CBE7-D74A-40A6-8D47-602143281D99}"/>
              </a:ext>
            </a:extLst>
          </p:cNvPr>
          <p:cNvPicPr>
            <a:picLocks noChangeAspect="1"/>
          </p:cNvPicPr>
          <p:nvPr/>
        </p:nvPicPr>
        <p:blipFill>
          <a:blip r:embed="rId3"/>
          <a:stretch>
            <a:fillRect/>
          </a:stretch>
        </p:blipFill>
        <p:spPr>
          <a:xfrm>
            <a:off x="4445392" y="1938399"/>
            <a:ext cx="3742006" cy="3688678"/>
          </a:xfrm>
          <a:prstGeom prst="rect">
            <a:avLst/>
          </a:prstGeom>
        </p:spPr>
      </p:pic>
      <p:pic>
        <p:nvPicPr>
          <p:cNvPr id="7" name="Picture 6">
            <a:extLst>
              <a:ext uri="{FF2B5EF4-FFF2-40B4-BE49-F238E27FC236}">
                <a16:creationId xmlns:a16="http://schemas.microsoft.com/office/drawing/2014/main" id="{425E4F7D-D9B5-4544-8126-969928AFAA22}"/>
              </a:ext>
            </a:extLst>
          </p:cNvPr>
          <p:cNvPicPr>
            <a:picLocks noChangeAspect="1"/>
          </p:cNvPicPr>
          <p:nvPr/>
        </p:nvPicPr>
        <p:blipFill>
          <a:blip r:embed="rId4"/>
          <a:stretch>
            <a:fillRect/>
          </a:stretch>
        </p:blipFill>
        <p:spPr>
          <a:xfrm>
            <a:off x="8207328" y="2039815"/>
            <a:ext cx="3295354" cy="3587261"/>
          </a:xfrm>
          <a:prstGeom prst="rect">
            <a:avLst/>
          </a:prstGeom>
        </p:spPr>
      </p:pic>
    </p:spTree>
    <p:extLst>
      <p:ext uri="{BB962C8B-B14F-4D97-AF65-F5344CB8AC3E}">
        <p14:creationId xmlns:p14="http://schemas.microsoft.com/office/powerpoint/2010/main" val="30323772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9F867-CF34-4514-ADFF-A9245D97997F}"/>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5AF8BDE4-21EB-4763-A218-CA83D2B52AC3}"/>
              </a:ext>
            </a:extLst>
          </p:cNvPr>
          <p:cNvSpPr>
            <a:spLocks noGrp="1"/>
          </p:cNvSpPr>
          <p:nvPr>
            <p:ph idx="1"/>
          </p:nvPr>
        </p:nvSpPr>
        <p:spPr/>
        <p:txBody>
          <a:bodyPr>
            <a:normAutofit/>
          </a:bodyPr>
          <a:lstStyle/>
          <a:p>
            <a:pPr algn="just"/>
            <a:r>
              <a:rPr lang="en-GB" dirty="0"/>
              <a:t>Cellulitis and Erysipelas</a:t>
            </a:r>
          </a:p>
          <a:p>
            <a:pPr lvl="1" algn="just">
              <a:buFont typeface="Wingdings" panose="05000000000000000000" pitchFamily="2" charset="2"/>
              <a:buChar char="ü"/>
            </a:pPr>
            <a:r>
              <a:rPr lang="en-GB" dirty="0"/>
              <a:t>Cellulitis and erysipelas are infections of the dermis.</a:t>
            </a:r>
          </a:p>
          <a:p>
            <a:pPr lvl="1" algn="just">
              <a:buFont typeface="Wingdings" panose="05000000000000000000" pitchFamily="2" charset="2"/>
              <a:buChar char="ü"/>
            </a:pPr>
            <a:r>
              <a:rPr lang="en-GB" dirty="0"/>
              <a:t>These infections occur following a break in normal skin integrity. </a:t>
            </a:r>
          </a:p>
          <a:p>
            <a:pPr lvl="1" algn="just">
              <a:buFont typeface="Wingdings" panose="05000000000000000000" pitchFamily="2" charset="2"/>
              <a:buChar char="ü"/>
            </a:pPr>
            <a:r>
              <a:rPr lang="en-GB" dirty="0"/>
              <a:t>Cellulitis and erysipelas both involve the dermis, but erysipelas involves the upper dermis and superficial lymphatics and sharply demarcated, whereas cellulitis involves the deeper dermis and subcutaneous fat and lesion is not sharply demarcated</a:t>
            </a:r>
          </a:p>
          <a:p>
            <a:pPr lvl="1" algn="just">
              <a:buFont typeface="Wingdings" panose="05000000000000000000" pitchFamily="2" charset="2"/>
              <a:buChar char="ü"/>
            </a:pPr>
            <a:r>
              <a:rPr lang="en-GB" dirty="0"/>
              <a:t>Beta-</a:t>
            </a:r>
            <a:r>
              <a:rPr lang="en-GB" dirty="0" err="1"/>
              <a:t>hemolytic</a:t>
            </a:r>
            <a:r>
              <a:rPr lang="en-GB" dirty="0"/>
              <a:t> streptococci are the most common pathogens to cause these infections, with </a:t>
            </a:r>
            <a:r>
              <a:rPr lang="en-GB" i="1" dirty="0"/>
              <a:t>S. pyogenes </a:t>
            </a:r>
            <a:r>
              <a:rPr lang="en-GB" dirty="0"/>
              <a:t>and </a:t>
            </a:r>
            <a:r>
              <a:rPr lang="en-GB" i="1" dirty="0"/>
              <a:t>Streptococcus agalactiae</a:t>
            </a:r>
            <a:r>
              <a:rPr lang="en-GB" dirty="0"/>
              <a:t> being some of the most common species.</a:t>
            </a:r>
          </a:p>
          <a:p>
            <a:pPr lvl="1" algn="just">
              <a:buFont typeface="Wingdings" panose="05000000000000000000" pitchFamily="2" charset="2"/>
              <a:buChar char="ü"/>
            </a:pPr>
            <a:r>
              <a:rPr lang="en-GB" dirty="0"/>
              <a:t>Staphylococcus aureus can also cause this type of infection. </a:t>
            </a:r>
          </a:p>
          <a:p>
            <a:pPr lvl="1" algn="just">
              <a:buFont typeface="Wingdings" panose="05000000000000000000" pitchFamily="2" charset="2"/>
              <a:buChar char="ü"/>
            </a:pPr>
            <a:endParaRPr lang="en-GH" dirty="0"/>
          </a:p>
        </p:txBody>
      </p:sp>
    </p:spTree>
    <p:extLst>
      <p:ext uri="{BB962C8B-B14F-4D97-AF65-F5344CB8AC3E}">
        <p14:creationId xmlns:p14="http://schemas.microsoft.com/office/powerpoint/2010/main" val="39187421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90368-A24C-44B7-9BA0-2CFD4AB00D3A}"/>
              </a:ext>
            </a:extLst>
          </p:cNvPr>
          <p:cNvSpPr>
            <a:spLocks noGrp="1"/>
          </p:cNvSpPr>
          <p:nvPr>
            <p:ph type="title"/>
          </p:nvPr>
        </p:nvSpPr>
        <p:spPr/>
        <p:txBody>
          <a:bodyPr/>
          <a:lstStyle/>
          <a:p>
            <a:r>
              <a:rPr lang="en-GB" dirty="0"/>
              <a:t>Skin And Soft Tissue Infections</a:t>
            </a:r>
            <a:endParaRPr lang="en-GH" dirty="0"/>
          </a:p>
        </p:txBody>
      </p:sp>
      <p:sp>
        <p:nvSpPr>
          <p:cNvPr id="3" name="Text Placeholder 2">
            <a:extLst>
              <a:ext uri="{FF2B5EF4-FFF2-40B4-BE49-F238E27FC236}">
                <a16:creationId xmlns:a16="http://schemas.microsoft.com/office/drawing/2014/main" id="{EC503E0A-6514-4AEA-B56E-FD91A3FFDA50}"/>
              </a:ext>
            </a:extLst>
          </p:cNvPr>
          <p:cNvSpPr>
            <a:spLocks noGrp="1"/>
          </p:cNvSpPr>
          <p:nvPr>
            <p:ph type="body" idx="1"/>
          </p:nvPr>
        </p:nvSpPr>
        <p:spPr/>
        <p:txBody>
          <a:bodyPr>
            <a:normAutofit fontScale="55000" lnSpcReduction="20000"/>
          </a:bodyPr>
          <a:lstStyle/>
          <a:p>
            <a:r>
              <a:rPr lang="en-GB" dirty="0"/>
              <a:t>Erysipelas. Note markedly inflamed lesion with</a:t>
            </a:r>
          </a:p>
          <a:p>
            <a:r>
              <a:rPr lang="en-GB" dirty="0"/>
              <a:t>clearly demarcated border on right cheek, across the nose to the left</a:t>
            </a:r>
          </a:p>
          <a:p>
            <a:r>
              <a:rPr lang="en-GB" dirty="0"/>
              <a:t>cheek.</a:t>
            </a:r>
            <a:endParaRPr lang="en-GH" dirty="0"/>
          </a:p>
        </p:txBody>
      </p:sp>
      <p:pic>
        <p:nvPicPr>
          <p:cNvPr id="8" name="Content Placeholder 7">
            <a:extLst>
              <a:ext uri="{FF2B5EF4-FFF2-40B4-BE49-F238E27FC236}">
                <a16:creationId xmlns:a16="http://schemas.microsoft.com/office/drawing/2014/main" id="{A6119F90-A27C-4573-9A3D-6E62476F9229}"/>
              </a:ext>
            </a:extLst>
          </p:cNvPr>
          <p:cNvPicPr>
            <a:picLocks noGrp="1" noChangeAspect="1"/>
          </p:cNvPicPr>
          <p:nvPr>
            <p:ph sz="half" idx="2"/>
          </p:nvPr>
        </p:nvPicPr>
        <p:blipFill>
          <a:blip r:embed="rId2"/>
          <a:stretch>
            <a:fillRect/>
          </a:stretch>
        </p:blipFill>
        <p:spPr>
          <a:xfrm>
            <a:off x="836612" y="2505075"/>
            <a:ext cx="5183189" cy="3684588"/>
          </a:xfrm>
        </p:spPr>
      </p:pic>
      <p:sp>
        <p:nvSpPr>
          <p:cNvPr id="5" name="Text Placeholder 4">
            <a:extLst>
              <a:ext uri="{FF2B5EF4-FFF2-40B4-BE49-F238E27FC236}">
                <a16:creationId xmlns:a16="http://schemas.microsoft.com/office/drawing/2014/main" id="{184BDBC9-9CA4-448C-BB9D-6A943AE7772B}"/>
              </a:ext>
            </a:extLst>
          </p:cNvPr>
          <p:cNvSpPr>
            <a:spLocks noGrp="1"/>
          </p:cNvSpPr>
          <p:nvPr>
            <p:ph type="body" sz="quarter" idx="3"/>
          </p:nvPr>
        </p:nvSpPr>
        <p:spPr/>
        <p:txBody>
          <a:bodyPr>
            <a:normAutofit fontScale="70000" lnSpcReduction="20000"/>
          </a:bodyPr>
          <a:lstStyle/>
          <a:p>
            <a:r>
              <a:rPr lang="en-GB" dirty="0"/>
              <a:t>Cellulitis. Note diffuse inflammation on right leg</a:t>
            </a:r>
          </a:p>
          <a:p>
            <a:r>
              <a:rPr lang="en-GB" dirty="0"/>
              <a:t>including the skin over the ankle and dorsum of the foot. </a:t>
            </a:r>
            <a:endParaRPr lang="en-GH" dirty="0"/>
          </a:p>
        </p:txBody>
      </p:sp>
      <p:pic>
        <p:nvPicPr>
          <p:cNvPr id="10" name="Content Placeholder 9">
            <a:extLst>
              <a:ext uri="{FF2B5EF4-FFF2-40B4-BE49-F238E27FC236}">
                <a16:creationId xmlns:a16="http://schemas.microsoft.com/office/drawing/2014/main" id="{93D54BF6-7D27-4BFF-8BA7-3601F8C2612C}"/>
              </a:ext>
            </a:extLst>
          </p:cNvPr>
          <p:cNvPicPr>
            <a:picLocks noGrp="1" noChangeAspect="1"/>
          </p:cNvPicPr>
          <p:nvPr>
            <p:ph sz="quarter" idx="4"/>
          </p:nvPr>
        </p:nvPicPr>
        <p:blipFill>
          <a:blip r:embed="rId3"/>
          <a:stretch>
            <a:fillRect/>
          </a:stretch>
        </p:blipFill>
        <p:spPr>
          <a:xfrm>
            <a:off x="5997576" y="2505074"/>
            <a:ext cx="5354636" cy="3811319"/>
          </a:xfrm>
        </p:spPr>
      </p:pic>
    </p:spTree>
    <p:extLst>
      <p:ext uri="{BB962C8B-B14F-4D97-AF65-F5344CB8AC3E}">
        <p14:creationId xmlns:p14="http://schemas.microsoft.com/office/powerpoint/2010/main" val="7124622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AB97-6CCF-458B-B323-5EBA82C3CFB7}"/>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C59E7FC1-111C-45CD-9EAB-BAF164FB0B14}"/>
              </a:ext>
            </a:extLst>
          </p:cNvPr>
          <p:cNvSpPr>
            <a:spLocks noGrp="1"/>
          </p:cNvSpPr>
          <p:nvPr>
            <p:ph idx="1"/>
          </p:nvPr>
        </p:nvSpPr>
        <p:spPr/>
        <p:txBody>
          <a:bodyPr>
            <a:normAutofit/>
          </a:bodyPr>
          <a:lstStyle/>
          <a:p>
            <a:r>
              <a:rPr lang="en-GB" dirty="0"/>
              <a:t>Folliculitis</a:t>
            </a:r>
          </a:p>
          <a:p>
            <a:pPr lvl="1">
              <a:buFont typeface="Wingdings" panose="05000000000000000000" pitchFamily="2" charset="2"/>
              <a:buChar char="ü"/>
            </a:pPr>
            <a:r>
              <a:rPr lang="en-GB" dirty="0"/>
              <a:t>Folliculitis is a superficial infection of the hair follicles</a:t>
            </a:r>
          </a:p>
          <a:p>
            <a:pPr lvl="1">
              <a:buFont typeface="Wingdings" panose="05000000000000000000" pitchFamily="2" charset="2"/>
              <a:buChar char="ü"/>
            </a:pPr>
            <a:r>
              <a:rPr lang="en-GB" dirty="0"/>
              <a:t>Bacteria and purulent material accumulate in hair follicles in the epidermal layer of the skin.</a:t>
            </a:r>
          </a:p>
          <a:p>
            <a:pPr lvl="1">
              <a:buFont typeface="Wingdings" panose="05000000000000000000" pitchFamily="2" charset="2"/>
              <a:buChar char="ü"/>
            </a:pPr>
            <a:r>
              <a:rPr lang="en-GB" dirty="0"/>
              <a:t>Folliculitis presents with pinpoint erythema around individual hair follicles. A small amount of purulence may be seen. </a:t>
            </a:r>
          </a:p>
          <a:p>
            <a:pPr lvl="1">
              <a:buFont typeface="Wingdings" panose="05000000000000000000" pitchFamily="2" charset="2"/>
              <a:buChar char="ü"/>
            </a:pPr>
            <a:r>
              <a:rPr lang="en-GB" dirty="0"/>
              <a:t>This can be seen in an isolated body area or throughout the skin</a:t>
            </a:r>
          </a:p>
          <a:p>
            <a:pPr lvl="1">
              <a:buFont typeface="Wingdings" panose="05000000000000000000" pitchFamily="2" charset="2"/>
              <a:buChar char="ü"/>
            </a:pPr>
            <a:r>
              <a:rPr lang="en-GB" i="1" dirty="0"/>
              <a:t>Staphylococcus</a:t>
            </a:r>
            <a:r>
              <a:rPr lang="en-GB" dirty="0"/>
              <a:t> </a:t>
            </a:r>
            <a:r>
              <a:rPr lang="en-GB" i="1" dirty="0"/>
              <a:t>aureus</a:t>
            </a:r>
            <a:r>
              <a:rPr lang="en-GB" dirty="0"/>
              <a:t> is the most common cause of folliculitis.</a:t>
            </a:r>
          </a:p>
          <a:p>
            <a:pPr lvl="1">
              <a:buFont typeface="Wingdings" panose="05000000000000000000" pitchFamily="2" charset="2"/>
              <a:buChar char="ü"/>
            </a:pPr>
            <a:r>
              <a:rPr lang="en-GB" i="1" dirty="0"/>
              <a:t>Pseudomonas</a:t>
            </a:r>
            <a:r>
              <a:rPr lang="en-GB" dirty="0"/>
              <a:t> </a:t>
            </a:r>
            <a:r>
              <a:rPr lang="en-GB" i="1" dirty="0"/>
              <a:t>aeruginosa</a:t>
            </a:r>
            <a:r>
              <a:rPr lang="en-GB" dirty="0"/>
              <a:t> can also cause folliculitis and is associated with the use of unchlorinated hot tubs.</a:t>
            </a:r>
          </a:p>
        </p:txBody>
      </p:sp>
    </p:spTree>
    <p:extLst>
      <p:ext uri="{BB962C8B-B14F-4D97-AF65-F5344CB8AC3E}">
        <p14:creationId xmlns:p14="http://schemas.microsoft.com/office/powerpoint/2010/main" val="3101952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6BA2-C0B7-4A30-B40F-ED4CDB31FF76}"/>
              </a:ext>
            </a:extLst>
          </p:cNvPr>
          <p:cNvSpPr>
            <a:spLocks noGrp="1"/>
          </p:cNvSpPr>
          <p:nvPr>
            <p:ph type="title"/>
          </p:nvPr>
        </p:nvSpPr>
        <p:spPr/>
        <p:txBody>
          <a:bodyPr>
            <a:normAutofit/>
          </a:bodyPr>
          <a:lstStyle/>
          <a:p>
            <a:r>
              <a:rPr lang="en-GB" dirty="0"/>
              <a:t>Folliculitis</a:t>
            </a:r>
            <a:endParaRPr lang="en-GH" dirty="0"/>
          </a:p>
        </p:txBody>
      </p:sp>
      <p:pic>
        <p:nvPicPr>
          <p:cNvPr id="6" name="Picture Placeholder 5">
            <a:extLst>
              <a:ext uri="{FF2B5EF4-FFF2-40B4-BE49-F238E27FC236}">
                <a16:creationId xmlns:a16="http://schemas.microsoft.com/office/drawing/2014/main" id="{28912520-8943-48D5-BA0D-1BFD6ADA64C2}"/>
              </a:ext>
            </a:extLst>
          </p:cNvPr>
          <p:cNvPicPr>
            <a:picLocks noGrp="1" noChangeAspect="1"/>
          </p:cNvPicPr>
          <p:nvPr>
            <p:ph type="pic" idx="1"/>
          </p:nvPr>
        </p:nvPicPr>
        <p:blipFill rotWithShape="1">
          <a:blip r:embed="rId2"/>
          <a:srcRect l="2948" r="2948"/>
          <a:stretch/>
        </p:blipFill>
        <p:spPr>
          <a:xfrm>
            <a:off x="5183188" y="457201"/>
            <a:ext cx="6172200" cy="5535636"/>
          </a:xfrm>
        </p:spPr>
      </p:pic>
      <p:sp>
        <p:nvSpPr>
          <p:cNvPr id="4" name="Text Placeholder 3">
            <a:extLst>
              <a:ext uri="{FF2B5EF4-FFF2-40B4-BE49-F238E27FC236}">
                <a16:creationId xmlns:a16="http://schemas.microsoft.com/office/drawing/2014/main" id="{77406F4C-D016-4BB7-96BA-D3889F002166}"/>
              </a:ext>
            </a:extLst>
          </p:cNvPr>
          <p:cNvSpPr>
            <a:spLocks noGrp="1"/>
          </p:cNvSpPr>
          <p:nvPr>
            <p:ph type="body" sz="half" idx="2"/>
          </p:nvPr>
        </p:nvSpPr>
        <p:spPr/>
        <p:txBody>
          <a:bodyPr>
            <a:normAutofit lnSpcReduction="10000"/>
          </a:bodyPr>
          <a:lstStyle/>
          <a:p>
            <a:endParaRPr lang="en-GB" dirty="0"/>
          </a:p>
          <a:p>
            <a:r>
              <a:rPr lang="en-GB" dirty="0"/>
              <a:t>Diagnosis is made clinically, but if purulent material is present, it can be cultured.</a:t>
            </a:r>
          </a:p>
          <a:p>
            <a:r>
              <a:rPr lang="en-GB" dirty="0"/>
              <a:t>Treatment</a:t>
            </a:r>
          </a:p>
          <a:p>
            <a:r>
              <a:rPr lang="en-GB" dirty="0"/>
              <a:t>Folliculitis often resolves on its own, and treatment is not needed. Warm compresses or topical antibiotics can be considered in selected cases</a:t>
            </a:r>
          </a:p>
          <a:p>
            <a:endParaRPr lang="en-GB" dirty="0"/>
          </a:p>
          <a:p>
            <a:r>
              <a:rPr lang="en-GB" dirty="0"/>
              <a:t>Prevention</a:t>
            </a:r>
          </a:p>
          <a:p>
            <a:r>
              <a:rPr lang="en-GB" dirty="0"/>
              <a:t>Handwashing and covering draining lesions should be used to prevent spread of bacteria.</a:t>
            </a:r>
          </a:p>
          <a:p>
            <a:r>
              <a:rPr lang="en-GB" dirty="0"/>
              <a:t> Avoiding unchlorinated hot tubs is recommended</a:t>
            </a:r>
            <a:endParaRPr lang="en-GH" dirty="0"/>
          </a:p>
        </p:txBody>
      </p:sp>
    </p:spTree>
    <p:extLst>
      <p:ext uri="{BB962C8B-B14F-4D97-AF65-F5344CB8AC3E}">
        <p14:creationId xmlns:p14="http://schemas.microsoft.com/office/powerpoint/2010/main" val="1636507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CCF4-6141-40CE-BF78-269A9C964D78}"/>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3DF4D36C-D5D3-4588-9077-E39784E3A92F}"/>
              </a:ext>
            </a:extLst>
          </p:cNvPr>
          <p:cNvSpPr>
            <a:spLocks noGrp="1"/>
          </p:cNvSpPr>
          <p:nvPr>
            <p:ph idx="1"/>
          </p:nvPr>
        </p:nvSpPr>
        <p:spPr/>
        <p:txBody>
          <a:bodyPr/>
          <a:lstStyle/>
          <a:p>
            <a:pPr algn="just"/>
            <a:r>
              <a:rPr lang="en-GB" dirty="0"/>
              <a:t>Skin Abscess (Furuncle and Carbuncle)</a:t>
            </a:r>
          </a:p>
          <a:p>
            <a:pPr lvl="1" algn="just">
              <a:buFont typeface="Wingdings" panose="05000000000000000000" pitchFamily="2" charset="2"/>
              <a:buChar char="ü"/>
            </a:pPr>
            <a:r>
              <a:rPr lang="en-GB" dirty="0"/>
              <a:t>A skin abscess is an infection of the dermis and deeper layers of skin that contains purulent material</a:t>
            </a:r>
          </a:p>
          <a:p>
            <a:pPr lvl="1" algn="just">
              <a:buFont typeface="Wingdings" panose="05000000000000000000" pitchFamily="2" charset="2"/>
              <a:buChar char="ü"/>
            </a:pPr>
            <a:r>
              <a:rPr lang="en-GB" dirty="0"/>
              <a:t>Abscesses occur when pathogens enter a break in the skin following trauma or when they spread from infected hair follicles. </a:t>
            </a:r>
          </a:p>
          <a:p>
            <a:pPr lvl="1" algn="just">
              <a:buFont typeface="Wingdings" panose="05000000000000000000" pitchFamily="2" charset="2"/>
              <a:buChar char="ü"/>
            </a:pPr>
            <a:r>
              <a:rPr lang="en-GB" dirty="0"/>
              <a:t>When a single follicle is infected and tracks down into the dermis, it is termed a furuncle (“boil”), and when multiple infected hair follicles coalesce, it is termed a carbuncle. </a:t>
            </a:r>
          </a:p>
          <a:p>
            <a:pPr lvl="1" algn="just">
              <a:buFont typeface="Wingdings" panose="05000000000000000000" pitchFamily="2" charset="2"/>
              <a:buChar char="ü"/>
            </a:pPr>
            <a:r>
              <a:rPr lang="en-GB" dirty="0"/>
              <a:t>Occasionally an abscess may develop following hematogenous dissemination of an infection.</a:t>
            </a:r>
            <a:endParaRPr lang="en-GH" dirty="0"/>
          </a:p>
        </p:txBody>
      </p:sp>
    </p:spTree>
    <p:extLst>
      <p:ext uri="{BB962C8B-B14F-4D97-AF65-F5344CB8AC3E}">
        <p14:creationId xmlns:p14="http://schemas.microsoft.com/office/powerpoint/2010/main" val="42829220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6067-DBF3-46F7-9225-4927BA37F2F6}"/>
              </a:ext>
            </a:extLst>
          </p:cNvPr>
          <p:cNvSpPr>
            <a:spLocks noGrp="1"/>
          </p:cNvSpPr>
          <p:nvPr>
            <p:ph type="title"/>
          </p:nvPr>
        </p:nvSpPr>
        <p:spPr/>
        <p:txBody>
          <a:bodyPr/>
          <a:lstStyle/>
          <a:p>
            <a:r>
              <a:rPr lang="en-GB" dirty="0"/>
              <a:t>SKIN AND SOFT TISSUE INFECTIONS</a:t>
            </a:r>
            <a:endParaRPr lang="en-GH" dirty="0"/>
          </a:p>
        </p:txBody>
      </p:sp>
      <p:sp>
        <p:nvSpPr>
          <p:cNvPr id="3" name="Content Placeholder 2">
            <a:extLst>
              <a:ext uri="{FF2B5EF4-FFF2-40B4-BE49-F238E27FC236}">
                <a16:creationId xmlns:a16="http://schemas.microsoft.com/office/drawing/2014/main" id="{99542BF2-6566-4D99-A49D-7E48F4191309}"/>
              </a:ext>
            </a:extLst>
          </p:cNvPr>
          <p:cNvSpPr>
            <a:spLocks noGrp="1"/>
          </p:cNvSpPr>
          <p:nvPr>
            <p:ph idx="1"/>
          </p:nvPr>
        </p:nvSpPr>
        <p:spPr/>
        <p:txBody>
          <a:bodyPr>
            <a:normAutofit/>
          </a:bodyPr>
          <a:lstStyle/>
          <a:p>
            <a:pPr algn="just"/>
            <a:r>
              <a:rPr lang="en-GB" dirty="0"/>
              <a:t>Skin Abscess (furuncle and carbuncle)</a:t>
            </a:r>
          </a:p>
          <a:p>
            <a:pPr lvl="1" algn="just">
              <a:buFont typeface="Wingdings" panose="05000000000000000000" pitchFamily="2" charset="2"/>
              <a:buChar char="ü"/>
            </a:pPr>
            <a:r>
              <a:rPr lang="en-GB" dirty="0"/>
              <a:t>A carbuncle is a larger, more serious lesion than a furuncle. It is composed of several adjacent furuncles that have coalesced into an inflamed, indurated lesion that typically extends deep into subcutaneous tissue. </a:t>
            </a:r>
          </a:p>
          <a:p>
            <a:pPr lvl="1" algn="just">
              <a:buFont typeface="Wingdings" panose="05000000000000000000" pitchFamily="2" charset="2"/>
              <a:buChar char="ü"/>
            </a:pPr>
            <a:r>
              <a:rPr lang="en-GB" i="1" dirty="0"/>
              <a:t>Staphylococcus aureus </a:t>
            </a:r>
            <a:r>
              <a:rPr lang="en-GB" dirty="0"/>
              <a:t>is, by far, the most common cause of skin abscesses (more than 75% of cases). </a:t>
            </a:r>
          </a:p>
          <a:p>
            <a:pPr lvl="1" algn="just">
              <a:buFont typeface="Wingdings" panose="05000000000000000000" pitchFamily="2" charset="2"/>
              <a:buChar char="ü"/>
            </a:pPr>
            <a:r>
              <a:rPr lang="en-GB" dirty="0"/>
              <a:t>Gram stain and culture of purulent material obtained from the abscess allows for diagnosis</a:t>
            </a:r>
          </a:p>
          <a:p>
            <a:pPr lvl="1" algn="just">
              <a:buFont typeface="Wingdings" panose="05000000000000000000" pitchFamily="2" charset="2"/>
              <a:buChar char="ü"/>
            </a:pPr>
            <a:r>
              <a:rPr lang="en-GB" dirty="0"/>
              <a:t>The primary treatment for abscesses is incision and drainage</a:t>
            </a:r>
          </a:p>
          <a:p>
            <a:pPr lvl="1" algn="just">
              <a:buFont typeface="Wingdings" panose="05000000000000000000" pitchFamily="2" charset="2"/>
              <a:buChar char="ü"/>
            </a:pPr>
            <a:endParaRPr lang="en-GB" dirty="0"/>
          </a:p>
          <a:p>
            <a:pPr lvl="1" algn="just">
              <a:buFont typeface="Wingdings" panose="05000000000000000000" pitchFamily="2" charset="2"/>
              <a:buChar char="ü"/>
            </a:pPr>
            <a:endParaRPr lang="en-GB" dirty="0"/>
          </a:p>
          <a:p>
            <a:pPr lvl="1" algn="just">
              <a:buFont typeface="Wingdings" panose="05000000000000000000" pitchFamily="2" charset="2"/>
              <a:buChar char="ü"/>
            </a:pPr>
            <a:endParaRPr lang="en-GH" dirty="0"/>
          </a:p>
        </p:txBody>
      </p:sp>
    </p:spTree>
    <p:extLst>
      <p:ext uri="{BB962C8B-B14F-4D97-AF65-F5344CB8AC3E}">
        <p14:creationId xmlns:p14="http://schemas.microsoft.com/office/powerpoint/2010/main" val="30577334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6D49-408C-4828-B60F-840CF98B8F08}"/>
              </a:ext>
            </a:extLst>
          </p:cNvPr>
          <p:cNvSpPr>
            <a:spLocks noGrp="1"/>
          </p:cNvSpPr>
          <p:nvPr>
            <p:ph type="title"/>
          </p:nvPr>
        </p:nvSpPr>
        <p:spPr/>
        <p:txBody>
          <a:bodyPr/>
          <a:lstStyle/>
          <a:p>
            <a:r>
              <a:rPr lang="en-GB" dirty="0"/>
              <a:t>SKIN AND SOFT TISSUE INFECTIONS</a:t>
            </a:r>
            <a:endParaRPr lang="en-GH" dirty="0"/>
          </a:p>
        </p:txBody>
      </p:sp>
      <p:sp>
        <p:nvSpPr>
          <p:cNvPr id="3" name="Text Placeholder 2">
            <a:extLst>
              <a:ext uri="{FF2B5EF4-FFF2-40B4-BE49-F238E27FC236}">
                <a16:creationId xmlns:a16="http://schemas.microsoft.com/office/drawing/2014/main" id="{34EF66AF-96D1-474F-8F56-9E4C28A548B0}"/>
              </a:ext>
            </a:extLst>
          </p:cNvPr>
          <p:cNvSpPr>
            <a:spLocks noGrp="1"/>
          </p:cNvSpPr>
          <p:nvPr>
            <p:ph type="body" idx="1"/>
          </p:nvPr>
        </p:nvSpPr>
        <p:spPr/>
        <p:txBody>
          <a:bodyPr>
            <a:normAutofit fontScale="55000" lnSpcReduction="20000"/>
          </a:bodyPr>
          <a:lstStyle/>
          <a:p>
            <a:r>
              <a:rPr lang="en-GB" dirty="0"/>
              <a:t>Abscess. Note localized area of inflammation</a:t>
            </a:r>
          </a:p>
          <a:p>
            <a:r>
              <a:rPr lang="en-GB" dirty="0"/>
              <a:t>containing a central core of yellowish pus (arrow) on medial aspect</a:t>
            </a:r>
          </a:p>
          <a:p>
            <a:r>
              <a:rPr lang="en-GB" dirty="0"/>
              <a:t>of foot.</a:t>
            </a:r>
            <a:endParaRPr lang="en-GH" dirty="0"/>
          </a:p>
        </p:txBody>
      </p:sp>
      <p:pic>
        <p:nvPicPr>
          <p:cNvPr id="8" name="Content Placeholder 7">
            <a:extLst>
              <a:ext uri="{FF2B5EF4-FFF2-40B4-BE49-F238E27FC236}">
                <a16:creationId xmlns:a16="http://schemas.microsoft.com/office/drawing/2014/main" id="{1BE153BD-1644-48B7-A960-3F771077FDDD}"/>
              </a:ext>
            </a:extLst>
          </p:cNvPr>
          <p:cNvPicPr>
            <a:picLocks noGrp="1" noChangeAspect="1"/>
          </p:cNvPicPr>
          <p:nvPr>
            <p:ph sz="half" idx="2"/>
          </p:nvPr>
        </p:nvPicPr>
        <p:blipFill>
          <a:blip r:embed="rId2"/>
          <a:stretch>
            <a:fillRect/>
          </a:stretch>
        </p:blipFill>
        <p:spPr>
          <a:xfrm>
            <a:off x="839788" y="2505076"/>
            <a:ext cx="5157787" cy="3783182"/>
          </a:xfrm>
        </p:spPr>
      </p:pic>
      <p:sp>
        <p:nvSpPr>
          <p:cNvPr id="5" name="Text Placeholder 4">
            <a:extLst>
              <a:ext uri="{FF2B5EF4-FFF2-40B4-BE49-F238E27FC236}">
                <a16:creationId xmlns:a16="http://schemas.microsoft.com/office/drawing/2014/main" id="{1915AFAF-C23B-4A22-BB67-A959B31D20CC}"/>
              </a:ext>
            </a:extLst>
          </p:cNvPr>
          <p:cNvSpPr>
            <a:spLocks noGrp="1"/>
          </p:cNvSpPr>
          <p:nvPr>
            <p:ph type="body" sz="quarter" idx="3"/>
          </p:nvPr>
        </p:nvSpPr>
        <p:spPr/>
        <p:txBody>
          <a:bodyPr>
            <a:normAutofit fontScale="70000" lnSpcReduction="20000"/>
          </a:bodyPr>
          <a:lstStyle/>
          <a:p>
            <a:r>
              <a:rPr lang="en-GB" dirty="0"/>
              <a:t>Carbuncle. Note multiple furuncles that</a:t>
            </a:r>
          </a:p>
          <a:p>
            <a:r>
              <a:rPr lang="en-GB" dirty="0"/>
              <a:t>have coalesced to form a large area of inflammatory lesion</a:t>
            </a:r>
            <a:endParaRPr lang="en-GH" dirty="0"/>
          </a:p>
        </p:txBody>
      </p:sp>
      <p:pic>
        <p:nvPicPr>
          <p:cNvPr id="10" name="Content Placeholder 9">
            <a:extLst>
              <a:ext uri="{FF2B5EF4-FFF2-40B4-BE49-F238E27FC236}">
                <a16:creationId xmlns:a16="http://schemas.microsoft.com/office/drawing/2014/main" id="{65096935-1BEA-4FCC-AC8D-03DE5CED826B}"/>
              </a:ext>
            </a:extLst>
          </p:cNvPr>
          <p:cNvPicPr>
            <a:picLocks noGrp="1" noChangeAspect="1"/>
          </p:cNvPicPr>
          <p:nvPr>
            <p:ph sz="quarter" idx="4"/>
          </p:nvPr>
        </p:nvPicPr>
        <p:blipFill>
          <a:blip r:embed="rId3"/>
          <a:stretch>
            <a:fillRect/>
          </a:stretch>
        </p:blipFill>
        <p:spPr>
          <a:xfrm>
            <a:off x="6096000" y="2505075"/>
            <a:ext cx="5256212" cy="3783182"/>
          </a:xfrm>
        </p:spPr>
      </p:pic>
    </p:spTree>
    <p:extLst>
      <p:ext uri="{BB962C8B-B14F-4D97-AF65-F5344CB8AC3E}">
        <p14:creationId xmlns:p14="http://schemas.microsoft.com/office/powerpoint/2010/main" val="9375274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FED4-6D69-4611-948D-6E8BEEF0F6F8}"/>
              </a:ext>
            </a:extLst>
          </p:cNvPr>
          <p:cNvSpPr>
            <a:spLocks noGrp="1"/>
          </p:cNvSpPr>
          <p:nvPr>
            <p:ph type="title"/>
          </p:nvPr>
        </p:nvSpPr>
        <p:spPr/>
        <p:txBody>
          <a:bodyPr/>
          <a:lstStyle/>
          <a:p>
            <a:r>
              <a:rPr lang="en-GB" dirty="0"/>
              <a:t>SKIN AND SOF TISSUE INFECTIONS</a:t>
            </a:r>
            <a:endParaRPr lang="en-GH" dirty="0"/>
          </a:p>
        </p:txBody>
      </p:sp>
      <p:sp>
        <p:nvSpPr>
          <p:cNvPr id="3" name="Content Placeholder 2">
            <a:extLst>
              <a:ext uri="{FF2B5EF4-FFF2-40B4-BE49-F238E27FC236}">
                <a16:creationId xmlns:a16="http://schemas.microsoft.com/office/drawing/2014/main" id="{7C8855E1-257B-4626-AE02-71431A07D40F}"/>
              </a:ext>
            </a:extLst>
          </p:cNvPr>
          <p:cNvSpPr>
            <a:spLocks noGrp="1"/>
          </p:cNvSpPr>
          <p:nvPr>
            <p:ph idx="1"/>
          </p:nvPr>
        </p:nvSpPr>
        <p:spPr/>
        <p:txBody>
          <a:bodyPr>
            <a:normAutofit/>
          </a:bodyPr>
          <a:lstStyle/>
          <a:p>
            <a:r>
              <a:rPr lang="en-GB" dirty="0"/>
              <a:t>Necrotizing Soft Tissue Infections (Necrotizing Fasciitis/Myonecrosis)</a:t>
            </a:r>
          </a:p>
          <a:p>
            <a:pPr lvl="1">
              <a:buFont typeface="Wingdings" panose="05000000000000000000" pitchFamily="2" charset="2"/>
              <a:buChar char="ü"/>
            </a:pPr>
            <a:r>
              <a:rPr lang="en-GB" dirty="0"/>
              <a:t>Necrotizing fasciitis is a necrotizing infection of the deep structures of the skin including the underlying fascia. </a:t>
            </a:r>
          </a:p>
          <a:p>
            <a:pPr lvl="1">
              <a:buFont typeface="Wingdings" panose="05000000000000000000" pitchFamily="2" charset="2"/>
              <a:buChar char="ü"/>
            </a:pPr>
            <a:r>
              <a:rPr lang="en-GB" dirty="0"/>
              <a:t>In myonecrosis, the underlying muscle becomes necrotic</a:t>
            </a:r>
          </a:p>
          <a:p>
            <a:pPr lvl="1">
              <a:buFont typeface="Wingdings" panose="05000000000000000000" pitchFamily="2" charset="2"/>
              <a:buChar char="ü"/>
            </a:pPr>
            <a:r>
              <a:rPr lang="en-GB" dirty="0"/>
              <a:t>Maybe polymicrobial (more common) or monomicrobial. </a:t>
            </a:r>
          </a:p>
          <a:p>
            <a:pPr lvl="1">
              <a:buFont typeface="Wingdings" panose="05000000000000000000" pitchFamily="2" charset="2"/>
              <a:buChar char="ü"/>
            </a:pPr>
            <a:r>
              <a:rPr lang="en-GB" dirty="0"/>
              <a:t>Monomicrobial infection is most often due to </a:t>
            </a:r>
            <a:r>
              <a:rPr lang="en-GB" i="1" dirty="0"/>
              <a:t>S. pyogenes </a:t>
            </a:r>
            <a:r>
              <a:rPr lang="en-GB" dirty="0"/>
              <a:t>but can also be caused by </a:t>
            </a:r>
            <a:r>
              <a:rPr lang="en-GB" i="1" dirty="0"/>
              <a:t>Vibrio vulnificus </a:t>
            </a:r>
            <a:r>
              <a:rPr lang="en-GB" dirty="0"/>
              <a:t>following trauma in brackish water</a:t>
            </a:r>
          </a:p>
          <a:p>
            <a:pPr lvl="1">
              <a:buFont typeface="Wingdings" panose="05000000000000000000" pitchFamily="2" charset="2"/>
              <a:buChar char="ü"/>
            </a:pPr>
            <a:r>
              <a:rPr lang="en-GB" dirty="0"/>
              <a:t>Necrotizing soft tissue infections are a medical emergency, and treatment requires a combination of surgical debridement of infected tissue and antibiotic therapy.</a:t>
            </a:r>
            <a:endParaRPr lang="en-GH" dirty="0"/>
          </a:p>
          <a:p>
            <a:pPr lvl="1">
              <a:buFont typeface="Wingdings" panose="05000000000000000000" pitchFamily="2" charset="2"/>
              <a:buChar char="ü"/>
            </a:pPr>
            <a:endParaRPr lang="en-GB" dirty="0"/>
          </a:p>
        </p:txBody>
      </p:sp>
    </p:spTree>
    <p:extLst>
      <p:ext uri="{BB962C8B-B14F-4D97-AF65-F5344CB8AC3E}">
        <p14:creationId xmlns:p14="http://schemas.microsoft.com/office/powerpoint/2010/main" val="3928334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E1F55-40BE-48ED-BE96-479006373844}"/>
              </a:ext>
            </a:extLst>
          </p:cNvPr>
          <p:cNvSpPr>
            <a:spLocks noGrp="1"/>
          </p:cNvSpPr>
          <p:nvPr>
            <p:ph type="title"/>
          </p:nvPr>
        </p:nvSpPr>
        <p:spPr/>
        <p:txBody>
          <a:bodyPr/>
          <a:lstStyle/>
          <a:p>
            <a:r>
              <a:rPr lang="en-GB" dirty="0"/>
              <a:t>SKIN AND SOFT TISSUE INFECTIONS</a:t>
            </a:r>
            <a:endParaRPr lang="en-GH" dirty="0"/>
          </a:p>
        </p:txBody>
      </p:sp>
      <p:sp>
        <p:nvSpPr>
          <p:cNvPr id="3" name="Text Placeholder 2">
            <a:extLst>
              <a:ext uri="{FF2B5EF4-FFF2-40B4-BE49-F238E27FC236}">
                <a16:creationId xmlns:a16="http://schemas.microsoft.com/office/drawing/2014/main" id="{364D1ED4-8599-4D7C-B330-A3409B14E754}"/>
              </a:ext>
            </a:extLst>
          </p:cNvPr>
          <p:cNvSpPr>
            <a:spLocks noGrp="1"/>
          </p:cNvSpPr>
          <p:nvPr>
            <p:ph type="body" idx="1"/>
          </p:nvPr>
        </p:nvSpPr>
        <p:spPr/>
        <p:txBody>
          <a:bodyPr>
            <a:normAutofit fontScale="77500" lnSpcReduction="20000"/>
          </a:bodyPr>
          <a:lstStyle/>
          <a:p>
            <a:r>
              <a:rPr lang="en-GB" dirty="0"/>
              <a:t>Necrotizing fasciitis. Note two large </a:t>
            </a:r>
            <a:r>
              <a:rPr lang="en-GB" dirty="0" err="1"/>
              <a:t>hemorrhagic</a:t>
            </a:r>
            <a:endParaRPr lang="en-GB" dirty="0"/>
          </a:p>
          <a:p>
            <a:r>
              <a:rPr lang="en-GB" dirty="0"/>
              <a:t>bullae surrounded by dusky red inflamed tissue</a:t>
            </a:r>
            <a:endParaRPr lang="en-GH" dirty="0"/>
          </a:p>
        </p:txBody>
      </p:sp>
      <p:pic>
        <p:nvPicPr>
          <p:cNvPr id="8" name="Content Placeholder 7">
            <a:extLst>
              <a:ext uri="{FF2B5EF4-FFF2-40B4-BE49-F238E27FC236}">
                <a16:creationId xmlns:a16="http://schemas.microsoft.com/office/drawing/2014/main" id="{BC006419-447E-4382-A1F6-A721C4D6331D}"/>
              </a:ext>
            </a:extLst>
          </p:cNvPr>
          <p:cNvPicPr>
            <a:picLocks noGrp="1" noChangeAspect="1"/>
          </p:cNvPicPr>
          <p:nvPr>
            <p:ph sz="half" idx="2"/>
          </p:nvPr>
        </p:nvPicPr>
        <p:blipFill>
          <a:blip r:embed="rId2"/>
          <a:stretch>
            <a:fillRect/>
          </a:stretch>
        </p:blipFill>
        <p:spPr>
          <a:xfrm>
            <a:off x="836613" y="2505075"/>
            <a:ext cx="5259388" cy="3684588"/>
          </a:xfrm>
        </p:spPr>
      </p:pic>
      <p:sp>
        <p:nvSpPr>
          <p:cNvPr id="5" name="Text Placeholder 4">
            <a:extLst>
              <a:ext uri="{FF2B5EF4-FFF2-40B4-BE49-F238E27FC236}">
                <a16:creationId xmlns:a16="http://schemas.microsoft.com/office/drawing/2014/main" id="{F1B6565E-F344-4303-A906-1D5874C29F0C}"/>
              </a:ext>
            </a:extLst>
          </p:cNvPr>
          <p:cNvSpPr>
            <a:spLocks noGrp="1"/>
          </p:cNvSpPr>
          <p:nvPr>
            <p:ph type="body" sz="quarter" idx="3"/>
          </p:nvPr>
        </p:nvSpPr>
        <p:spPr/>
        <p:txBody>
          <a:bodyPr>
            <a:normAutofit fontScale="92500"/>
          </a:bodyPr>
          <a:lstStyle/>
          <a:p>
            <a:r>
              <a:rPr lang="en-GB" dirty="0"/>
              <a:t>Fournier’s gangrene. Note gangrene of the</a:t>
            </a:r>
          </a:p>
          <a:p>
            <a:r>
              <a:rPr lang="en-GB" dirty="0"/>
              <a:t>genitalia and skin of lower abdomen.</a:t>
            </a:r>
            <a:endParaRPr lang="en-GH" dirty="0"/>
          </a:p>
        </p:txBody>
      </p:sp>
      <p:pic>
        <p:nvPicPr>
          <p:cNvPr id="10" name="Content Placeholder 9">
            <a:extLst>
              <a:ext uri="{FF2B5EF4-FFF2-40B4-BE49-F238E27FC236}">
                <a16:creationId xmlns:a16="http://schemas.microsoft.com/office/drawing/2014/main" id="{64F9615C-3DE9-44E4-BC54-3E1FC896A1E1}"/>
              </a:ext>
            </a:extLst>
          </p:cNvPr>
          <p:cNvPicPr>
            <a:picLocks noGrp="1" noChangeAspect="1"/>
          </p:cNvPicPr>
          <p:nvPr>
            <p:ph sz="quarter" idx="4"/>
          </p:nvPr>
        </p:nvPicPr>
        <p:blipFill>
          <a:blip r:embed="rId3"/>
          <a:stretch>
            <a:fillRect/>
          </a:stretch>
        </p:blipFill>
        <p:spPr>
          <a:xfrm>
            <a:off x="6096000" y="2514601"/>
            <a:ext cx="5259387" cy="3675062"/>
          </a:xfrm>
        </p:spPr>
      </p:pic>
    </p:spTree>
    <p:extLst>
      <p:ext uri="{BB962C8B-B14F-4D97-AF65-F5344CB8AC3E}">
        <p14:creationId xmlns:p14="http://schemas.microsoft.com/office/powerpoint/2010/main" val="7111271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C159-9DAE-4708-97CC-963EA66B4998}"/>
              </a:ext>
            </a:extLst>
          </p:cNvPr>
          <p:cNvSpPr>
            <a:spLocks noGrp="1"/>
          </p:cNvSpPr>
          <p:nvPr>
            <p:ph type="title"/>
          </p:nvPr>
        </p:nvSpPr>
        <p:spPr/>
        <p:txBody>
          <a:bodyPr/>
          <a:lstStyle/>
          <a:p>
            <a:r>
              <a:rPr lang="en-GB" dirty="0"/>
              <a:t>PELVIC INFECTIONS</a:t>
            </a:r>
            <a:endParaRPr lang="en-GH" dirty="0"/>
          </a:p>
        </p:txBody>
      </p:sp>
      <p:sp>
        <p:nvSpPr>
          <p:cNvPr id="3" name="Content Placeholder 2">
            <a:extLst>
              <a:ext uri="{FF2B5EF4-FFF2-40B4-BE49-F238E27FC236}">
                <a16:creationId xmlns:a16="http://schemas.microsoft.com/office/drawing/2014/main" id="{00164A83-F5AD-4C93-92E3-1F8E6C389200}"/>
              </a:ext>
            </a:extLst>
          </p:cNvPr>
          <p:cNvSpPr>
            <a:spLocks noGrp="1"/>
          </p:cNvSpPr>
          <p:nvPr>
            <p:ph idx="1"/>
          </p:nvPr>
        </p:nvSpPr>
        <p:spPr/>
        <p:txBody>
          <a:bodyPr>
            <a:normAutofit/>
          </a:bodyPr>
          <a:lstStyle/>
          <a:p>
            <a:pPr algn="just"/>
            <a:r>
              <a:rPr lang="en-GB" dirty="0"/>
              <a:t>Infections in the pelvic organs and surrounding structures comprise a heterogenous group of diseases. </a:t>
            </a:r>
          </a:p>
          <a:p>
            <a:pPr algn="just"/>
            <a:r>
              <a:rPr lang="en-GB" dirty="0"/>
              <a:t>They primarily affect sexually active women and men. </a:t>
            </a:r>
          </a:p>
          <a:p>
            <a:pPr algn="just"/>
            <a:r>
              <a:rPr lang="en-GB" dirty="0"/>
              <a:t>Many of the pathogens implicated are sexually transmitted, so an important aspect of management is partner notification and treatment, as well as patient education regarding safe sexual practices.</a:t>
            </a:r>
          </a:p>
        </p:txBody>
      </p:sp>
    </p:spTree>
    <p:extLst>
      <p:ext uri="{BB962C8B-B14F-4D97-AF65-F5344CB8AC3E}">
        <p14:creationId xmlns:p14="http://schemas.microsoft.com/office/powerpoint/2010/main" val="18538080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86C0-53F7-EDC2-3306-73FBF41FB61A}"/>
              </a:ext>
            </a:extLst>
          </p:cNvPr>
          <p:cNvSpPr>
            <a:spLocks noGrp="1"/>
          </p:cNvSpPr>
          <p:nvPr>
            <p:ph type="title"/>
          </p:nvPr>
        </p:nvSpPr>
        <p:spPr/>
        <p:txBody>
          <a:bodyPr/>
          <a:lstStyle/>
          <a:p>
            <a:r>
              <a:rPr lang="en-GB" dirty="0"/>
              <a:t>PELVIC INFECTIONS</a:t>
            </a:r>
            <a:endParaRPr lang="en-US" dirty="0"/>
          </a:p>
        </p:txBody>
      </p:sp>
      <p:pic>
        <p:nvPicPr>
          <p:cNvPr id="6146" name="Picture 2" descr="Reproductive System – Videos and Resources – Siebert Science">
            <a:extLst>
              <a:ext uri="{FF2B5EF4-FFF2-40B4-BE49-F238E27FC236}">
                <a16:creationId xmlns:a16="http://schemas.microsoft.com/office/drawing/2014/main" id="{4ECB58A3-BB42-1F6E-5696-B36FC48DBEA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 y="2512672"/>
            <a:ext cx="5181600" cy="32385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4D Human Male Reproductive System Anatomy Model | eBay">
            <a:extLst>
              <a:ext uri="{FF2B5EF4-FFF2-40B4-BE49-F238E27FC236}">
                <a16:creationId xmlns:a16="http://schemas.microsoft.com/office/drawing/2014/main" id="{0BEC4846-F940-EC42-D2D5-1BF11A767CC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257800" y="2054224"/>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Male Reproductive System infographic - LifeMap Discovery">
            <a:extLst>
              <a:ext uri="{FF2B5EF4-FFF2-40B4-BE49-F238E27FC236}">
                <a16:creationId xmlns:a16="http://schemas.microsoft.com/office/drawing/2014/main" id="{E8FA8C42-AC20-71BF-2880-1E82D68E62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301"/>
          <a:stretch>
            <a:fillRect/>
          </a:stretch>
        </p:blipFill>
        <p:spPr bwMode="auto">
          <a:xfrm>
            <a:off x="8577942" y="2014650"/>
            <a:ext cx="3614057" cy="4195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7165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8CF44-3D98-4F31-98EF-B77D1F424897}"/>
              </a:ext>
            </a:extLst>
          </p:cNvPr>
          <p:cNvSpPr>
            <a:spLocks noGrp="1"/>
          </p:cNvSpPr>
          <p:nvPr>
            <p:ph type="title"/>
          </p:nvPr>
        </p:nvSpPr>
        <p:spPr/>
        <p:txBody>
          <a:bodyPr/>
          <a:lstStyle/>
          <a:p>
            <a:r>
              <a:rPr lang="en-US" dirty="0"/>
              <a:t>Reproductive Tract Diseases-Genital tract ulcers</a:t>
            </a:r>
            <a:endParaRPr lang="en-GH" dirty="0"/>
          </a:p>
        </p:txBody>
      </p:sp>
      <p:sp>
        <p:nvSpPr>
          <p:cNvPr id="3" name="Content Placeholder 2">
            <a:extLst>
              <a:ext uri="{FF2B5EF4-FFF2-40B4-BE49-F238E27FC236}">
                <a16:creationId xmlns:a16="http://schemas.microsoft.com/office/drawing/2014/main" id="{2D00E1D6-4C3F-441C-8438-0310DE0AACD3}"/>
              </a:ext>
            </a:extLst>
          </p:cNvPr>
          <p:cNvSpPr>
            <a:spLocks noGrp="1"/>
          </p:cNvSpPr>
          <p:nvPr>
            <p:ph idx="1"/>
          </p:nvPr>
        </p:nvSpPr>
        <p:spPr/>
        <p:txBody>
          <a:bodyPr>
            <a:normAutofit/>
          </a:bodyPr>
          <a:lstStyle/>
          <a:p>
            <a:pPr lvl="1" algn="just">
              <a:buFont typeface="Wingdings" panose="05000000000000000000" pitchFamily="2" charset="2"/>
              <a:buChar char="ü"/>
            </a:pPr>
            <a:r>
              <a:rPr lang="en-GB" sz="2800" dirty="0"/>
              <a:t>Genital ulcer disease manifests as a breach in the skin or mucosa of the genitalia, usually caused by a sexually transmitted infection.</a:t>
            </a:r>
          </a:p>
          <a:p>
            <a:pPr marL="457200" lvl="1" indent="0" algn="just">
              <a:buNone/>
            </a:pPr>
            <a:endParaRPr lang="en-GB" sz="2800" dirty="0"/>
          </a:p>
          <a:p>
            <a:pPr lvl="1" algn="just">
              <a:buFont typeface="Wingdings" panose="05000000000000000000" pitchFamily="2" charset="2"/>
              <a:buChar char="ü"/>
            </a:pPr>
            <a:r>
              <a:rPr lang="en-GB" sz="2800" dirty="0"/>
              <a:t>Herpes simplex virus type 2 (HSV-2) is the most common aetiology in most geographic areas, followed by syphilis and chancroid.</a:t>
            </a:r>
          </a:p>
          <a:p>
            <a:pPr lvl="1" algn="just">
              <a:buFont typeface="Wingdings" panose="05000000000000000000" pitchFamily="2" charset="2"/>
              <a:buChar char="ü"/>
            </a:pPr>
            <a:r>
              <a:rPr lang="en-GB" sz="2800" dirty="0"/>
              <a:t>HSV-2 (causes genital herpes), </a:t>
            </a:r>
            <a:r>
              <a:rPr lang="en-GB" sz="2800" i="1" dirty="0"/>
              <a:t>Treponema pallidum</a:t>
            </a:r>
            <a:r>
              <a:rPr lang="en-GB" sz="2800" dirty="0"/>
              <a:t> (causes primary syphilis/chancre), and </a:t>
            </a:r>
            <a:r>
              <a:rPr lang="en-GB" sz="2800" i="1" dirty="0"/>
              <a:t>H. </a:t>
            </a:r>
            <a:r>
              <a:rPr lang="en-GB" sz="2800" i="1" dirty="0" err="1"/>
              <a:t>ducreyi</a:t>
            </a:r>
            <a:r>
              <a:rPr lang="en-GB" sz="2800" i="1" dirty="0"/>
              <a:t> </a:t>
            </a:r>
            <a:r>
              <a:rPr lang="en-GB" sz="2800" dirty="0"/>
              <a:t>(causing chancroid).</a:t>
            </a:r>
          </a:p>
          <a:p>
            <a:pPr lvl="1" algn="just">
              <a:buFont typeface="Wingdings" panose="05000000000000000000" pitchFamily="2" charset="2"/>
              <a:buChar char="ü"/>
            </a:pPr>
            <a:r>
              <a:rPr lang="en-GB" sz="2800" dirty="0"/>
              <a:t>Less common pathogens include </a:t>
            </a:r>
            <a:r>
              <a:rPr lang="en-GB" sz="2800" i="1" dirty="0"/>
              <a:t>Chlamydia trachomatis </a:t>
            </a:r>
            <a:r>
              <a:rPr lang="en-GB" sz="2800" dirty="0"/>
              <a:t>(causing lymphogranuloma venereum) and </a:t>
            </a:r>
            <a:r>
              <a:rPr lang="en-GB" sz="2800" i="1" dirty="0"/>
              <a:t>Klebsiella </a:t>
            </a:r>
            <a:r>
              <a:rPr lang="en-GB" sz="2800" i="1" dirty="0" err="1"/>
              <a:t>granulomatis</a:t>
            </a:r>
            <a:r>
              <a:rPr lang="en-GB" sz="2800" i="1" dirty="0"/>
              <a:t> </a:t>
            </a:r>
            <a:r>
              <a:rPr lang="en-GB" sz="2800" dirty="0"/>
              <a:t>(causing granuloma inguinale, also known as donovanosis).</a:t>
            </a:r>
            <a:endParaRPr lang="en-GH" sz="2800" dirty="0"/>
          </a:p>
        </p:txBody>
      </p:sp>
    </p:spTree>
    <p:extLst>
      <p:ext uri="{BB962C8B-B14F-4D97-AF65-F5344CB8AC3E}">
        <p14:creationId xmlns:p14="http://schemas.microsoft.com/office/powerpoint/2010/main" val="23070933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441DC-C21F-4E4A-AB1D-C78DBE07560D}"/>
              </a:ext>
            </a:extLst>
          </p:cNvPr>
          <p:cNvSpPr>
            <a:spLocks noGrp="1"/>
          </p:cNvSpPr>
          <p:nvPr>
            <p:ph type="title"/>
          </p:nvPr>
        </p:nvSpPr>
        <p:spPr>
          <a:xfrm>
            <a:off x="838200" y="281042"/>
            <a:ext cx="10515600" cy="1325563"/>
          </a:xfrm>
        </p:spPr>
        <p:txBody>
          <a:bodyPr/>
          <a:lstStyle/>
          <a:p>
            <a:r>
              <a:rPr lang="en-US" dirty="0"/>
              <a:t>Reproductive Tract Diseases -Genital Ulcers</a:t>
            </a:r>
            <a:endParaRPr lang="en-GH" dirty="0"/>
          </a:p>
        </p:txBody>
      </p:sp>
      <p:sp>
        <p:nvSpPr>
          <p:cNvPr id="3" name="Content Placeholder 2">
            <a:extLst>
              <a:ext uri="{FF2B5EF4-FFF2-40B4-BE49-F238E27FC236}">
                <a16:creationId xmlns:a16="http://schemas.microsoft.com/office/drawing/2014/main" id="{B2B93E37-D0D7-4F30-AD2B-CFF37ADD3179}"/>
              </a:ext>
            </a:extLst>
          </p:cNvPr>
          <p:cNvSpPr>
            <a:spLocks noGrp="1"/>
          </p:cNvSpPr>
          <p:nvPr>
            <p:ph idx="1"/>
          </p:nvPr>
        </p:nvSpPr>
        <p:spPr>
          <a:xfrm>
            <a:off x="838200" y="1738312"/>
            <a:ext cx="10515600" cy="4438651"/>
          </a:xfrm>
        </p:spPr>
        <p:txBody>
          <a:bodyPr>
            <a:normAutofit/>
          </a:bodyPr>
          <a:lstStyle/>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Genital herpes (HSV2)                          Chancre(Primary Syphilis)</a:t>
            </a:r>
            <a:endParaRPr lang="en-GH" dirty="0"/>
          </a:p>
        </p:txBody>
      </p:sp>
      <p:pic>
        <p:nvPicPr>
          <p:cNvPr id="5" name="Picture 4">
            <a:extLst>
              <a:ext uri="{FF2B5EF4-FFF2-40B4-BE49-F238E27FC236}">
                <a16:creationId xmlns:a16="http://schemas.microsoft.com/office/drawing/2014/main" id="{3C8A3CF6-2FC3-42EF-BEB9-3F4982EBF1C3}"/>
              </a:ext>
            </a:extLst>
          </p:cNvPr>
          <p:cNvPicPr>
            <a:picLocks noChangeAspect="1"/>
          </p:cNvPicPr>
          <p:nvPr/>
        </p:nvPicPr>
        <p:blipFill>
          <a:blip r:embed="rId2"/>
          <a:stretch>
            <a:fillRect/>
          </a:stretch>
        </p:blipFill>
        <p:spPr>
          <a:xfrm>
            <a:off x="647114" y="1738312"/>
            <a:ext cx="5303520" cy="3381375"/>
          </a:xfrm>
          <a:prstGeom prst="rect">
            <a:avLst/>
          </a:prstGeom>
        </p:spPr>
      </p:pic>
      <p:pic>
        <p:nvPicPr>
          <p:cNvPr id="7" name="Picture 6">
            <a:extLst>
              <a:ext uri="{FF2B5EF4-FFF2-40B4-BE49-F238E27FC236}">
                <a16:creationId xmlns:a16="http://schemas.microsoft.com/office/drawing/2014/main" id="{3B78CF4D-CE12-4F28-9B92-1EFE3EBAAEB3}"/>
              </a:ext>
            </a:extLst>
          </p:cNvPr>
          <p:cNvPicPr>
            <a:picLocks noChangeAspect="1"/>
          </p:cNvPicPr>
          <p:nvPr/>
        </p:nvPicPr>
        <p:blipFill>
          <a:blip r:embed="rId3"/>
          <a:stretch>
            <a:fillRect/>
          </a:stretch>
        </p:blipFill>
        <p:spPr>
          <a:xfrm>
            <a:off x="5950634" y="1690688"/>
            <a:ext cx="5403166" cy="3516311"/>
          </a:xfrm>
          <a:prstGeom prst="rect">
            <a:avLst/>
          </a:prstGeom>
        </p:spPr>
      </p:pic>
    </p:spTree>
    <p:extLst>
      <p:ext uri="{BB962C8B-B14F-4D97-AF65-F5344CB8AC3E}">
        <p14:creationId xmlns:p14="http://schemas.microsoft.com/office/powerpoint/2010/main" val="21101405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46513-26B8-4377-8234-6197B36F4603}"/>
              </a:ext>
            </a:extLst>
          </p:cNvPr>
          <p:cNvSpPr>
            <a:spLocks noGrp="1"/>
          </p:cNvSpPr>
          <p:nvPr>
            <p:ph type="title"/>
          </p:nvPr>
        </p:nvSpPr>
        <p:spPr/>
        <p:txBody>
          <a:bodyPr/>
          <a:lstStyle/>
          <a:p>
            <a:endParaRPr lang="en-GH"/>
          </a:p>
        </p:txBody>
      </p:sp>
      <p:sp>
        <p:nvSpPr>
          <p:cNvPr id="3" name="Content Placeholder 2">
            <a:extLst>
              <a:ext uri="{FF2B5EF4-FFF2-40B4-BE49-F238E27FC236}">
                <a16:creationId xmlns:a16="http://schemas.microsoft.com/office/drawing/2014/main" id="{4C0165D9-113F-4CAE-B457-EFBFABA64FBD}"/>
              </a:ext>
            </a:extLst>
          </p:cNvPr>
          <p:cNvSpPr>
            <a:spLocks noGrp="1"/>
          </p:cNvSpPr>
          <p:nvPr>
            <p:ph idx="1"/>
          </p:nvPr>
        </p:nvSpPr>
        <p:spPr/>
        <p:txBody>
          <a:bodyPr/>
          <a:lstStyle/>
          <a:p>
            <a:pPr marL="0" indent="0">
              <a:buNone/>
            </a:pPr>
            <a:r>
              <a:rPr lang="en-GB" b="1" dirty="0"/>
              <a:t>     Genital Ulcers: Clinical Features, Diagnosis, and Treatment</a:t>
            </a:r>
          </a:p>
          <a:p>
            <a:pPr marL="0" indent="0">
              <a:buNone/>
            </a:pPr>
            <a:endParaRPr lang="en-GH" b="1" dirty="0"/>
          </a:p>
        </p:txBody>
      </p:sp>
      <p:pic>
        <p:nvPicPr>
          <p:cNvPr id="5" name="Picture 4">
            <a:extLst>
              <a:ext uri="{FF2B5EF4-FFF2-40B4-BE49-F238E27FC236}">
                <a16:creationId xmlns:a16="http://schemas.microsoft.com/office/drawing/2014/main" id="{4A15F6D0-FEF5-4C05-998A-3ECF7B4FF7F1}"/>
              </a:ext>
            </a:extLst>
          </p:cNvPr>
          <p:cNvPicPr>
            <a:picLocks noChangeAspect="1"/>
          </p:cNvPicPr>
          <p:nvPr/>
        </p:nvPicPr>
        <p:blipFill>
          <a:blip r:embed="rId2"/>
          <a:stretch>
            <a:fillRect/>
          </a:stretch>
        </p:blipFill>
        <p:spPr>
          <a:xfrm>
            <a:off x="393895" y="365125"/>
            <a:ext cx="11605847" cy="6237044"/>
          </a:xfrm>
          <a:prstGeom prst="rect">
            <a:avLst/>
          </a:prstGeom>
        </p:spPr>
      </p:pic>
    </p:spTree>
    <p:extLst>
      <p:ext uri="{BB962C8B-B14F-4D97-AF65-F5344CB8AC3E}">
        <p14:creationId xmlns:p14="http://schemas.microsoft.com/office/powerpoint/2010/main" val="57803548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E84E-2494-4D51-AB45-9F8BDD709E4B}"/>
              </a:ext>
            </a:extLst>
          </p:cNvPr>
          <p:cNvSpPr>
            <a:spLocks noGrp="1"/>
          </p:cNvSpPr>
          <p:nvPr>
            <p:ph type="title"/>
          </p:nvPr>
        </p:nvSpPr>
        <p:spPr/>
        <p:txBody>
          <a:bodyPr/>
          <a:lstStyle/>
          <a:p>
            <a:r>
              <a:rPr lang="en-US" dirty="0"/>
              <a:t>Reproductive Tract Diseases</a:t>
            </a:r>
            <a:endParaRPr lang="en-GH" dirty="0"/>
          </a:p>
        </p:txBody>
      </p:sp>
      <p:sp>
        <p:nvSpPr>
          <p:cNvPr id="3" name="Content Placeholder 2">
            <a:extLst>
              <a:ext uri="{FF2B5EF4-FFF2-40B4-BE49-F238E27FC236}">
                <a16:creationId xmlns:a16="http://schemas.microsoft.com/office/drawing/2014/main" id="{E45B0E23-BB0A-4DE1-ADD1-0591D944680E}"/>
              </a:ext>
            </a:extLst>
          </p:cNvPr>
          <p:cNvSpPr>
            <a:spLocks noGrp="1"/>
          </p:cNvSpPr>
          <p:nvPr>
            <p:ph idx="1"/>
          </p:nvPr>
        </p:nvSpPr>
        <p:spPr/>
        <p:txBody>
          <a:bodyPr>
            <a:normAutofit/>
          </a:bodyPr>
          <a:lstStyle/>
          <a:p>
            <a:pPr algn="just"/>
            <a:r>
              <a:rPr lang="en-GB" dirty="0"/>
              <a:t>Vaginitis</a:t>
            </a:r>
          </a:p>
          <a:p>
            <a:pPr lvl="1" algn="just">
              <a:buFont typeface="Wingdings" panose="05000000000000000000" pitchFamily="2" charset="2"/>
              <a:buChar char="ü"/>
            </a:pPr>
            <a:r>
              <a:rPr lang="en-GB" dirty="0"/>
              <a:t>Vaginitis is inflammation of the vagina that can result in discharge, itching, and pain. </a:t>
            </a:r>
          </a:p>
          <a:p>
            <a:pPr lvl="1" algn="just">
              <a:buFont typeface="Wingdings" panose="05000000000000000000" pitchFamily="2" charset="2"/>
              <a:buChar char="ü"/>
            </a:pPr>
            <a:r>
              <a:rPr lang="en-GB" dirty="0"/>
              <a:t>Common causes of vaginitis are candidiasis, trichomoniasis, and bacterial vaginosis.</a:t>
            </a:r>
          </a:p>
          <a:p>
            <a:pPr lvl="1" algn="just">
              <a:buFont typeface="Wingdings" panose="05000000000000000000" pitchFamily="2" charset="2"/>
              <a:buChar char="ü"/>
            </a:pPr>
            <a:r>
              <a:rPr lang="en-GB" dirty="0"/>
              <a:t>Bacterial vaginosis is a polymicrobial infection, it does not appear to be a sexually transmitted disease. </a:t>
            </a:r>
          </a:p>
          <a:p>
            <a:pPr lvl="1" algn="just">
              <a:buFont typeface="Wingdings" panose="05000000000000000000" pitchFamily="2" charset="2"/>
              <a:buChar char="ü"/>
            </a:pPr>
            <a:r>
              <a:rPr lang="en-GB" dirty="0"/>
              <a:t>Trichomoniasis, on the other hand, is a sexually transmitted disease.</a:t>
            </a:r>
            <a:endParaRPr lang="en-GH" dirty="0"/>
          </a:p>
        </p:txBody>
      </p:sp>
    </p:spTree>
    <p:extLst>
      <p:ext uri="{BB962C8B-B14F-4D97-AF65-F5344CB8AC3E}">
        <p14:creationId xmlns:p14="http://schemas.microsoft.com/office/powerpoint/2010/main" val="2189971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858A-F3E1-4A71-9485-3F2BFA6F022F}"/>
              </a:ext>
            </a:extLst>
          </p:cNvPr>
          <p:cNvSpPr>
            <a:spLocks noGrp="1"/>
          </p:cNvSpPr>
          <p:nvPr>
            <p:ph type="title"/>
          </p:nvPr>
        </p:nvSpPr>
        <p:spPr/>
        <p:txBody>
          <a:bodyPr/>
          <a:lstStyle/>
          <a:p>
            <a:r>
              <a:rPr lang="en-GH" dirty="0"/>
              <a:t>Reproductive Tract Diseases</a:t>
            </a:r>
            <a:r>
              <a:rPr lang="en-US" dirty="0"/>
              <a:t> - Vaginitis</a:t>
            </a:r>
            <a:endParaRPr lang="en-GH" dirty="0"/>
          </a:p>
        </p:txBody>
      </p:sp>
      <p:sp>
        <p:nvSpPr>
          <p:cNvPr id="3" name="Content Placeholder 2">
            <a:extLst>
              <a:ext uri="{FF2B5EF4-FFF2-40B4-BE49-F238E27FC236}">
                <a16:creationId xmlns:a16="http://schemas.microsoft.com/office/drawing/2014/main" id="{725DA4C6-2F6E-4572-A38A-7C04A32F1BB1}"/>
              </a:ext>
            </a:extLst>
          </p:cNvPr>
          <p:cNvSpPr>
            <a:spLocks noGrp="1"/>
          </p:cNvSpPr>
          <p:nvPr>
            <p:ph idx="1"/>
          </p:nvPr>
        </p:nvSpPr>
        <p:spPr/>
        <p:txBody>
          <a:bodyPr>
            <a:normAutofit/>
          </a:bodyPr>
          <a:lstStyle/>
          <a:p>
            <a:pPr marL="0" indent="0">
              <a:buNone/>
            </a:pPr>
            <a:r>
              <a:rPr lang="en-GB" b="1" dirty="0"/>
              <a:t>               Vaginitis: Clinical Features, Diagnosis, and Treatment</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H" dirty="0"/>
          </a:p>
        </p:txBody>
      </p:sp>
      <p:pic>
        <p:nvPicPr>
          <p:cNvPr id="7" name="Picture 6">
            <a:extLst>
              <a:ext uri="{FF2B5EF4-FFF2-40B4-BE49-F238E27FC236}">
                <a16:creationId xmlns:a16="http://schemas.microsoft.com/office/drawing/2014/main" id="{5FCBDB33-2770-43C6-9AF0-BE1BFB4D7047}"/>
              </a:ext>
            </a:extLst>
          </p:cNvPr>
          <p:cNvPicPr>
            <a:picLocks noChangeAspect="1"/>
          </p:cNvPicPr>
          <p:nvPr/>
        </p:nvPicPr>
        <p:blipFill>
          <a:blip r:embed="rId2"/>
          <a:stretch>
            <a:fillRect/>
          </a:stretch>
        </p:blipFill>
        <p:spPr>
          <a:xfrm>
            <a:off x="1041009" y="2363372"/>
            <a:ext cx="10086536" cy="4129503"/>
          </a:xfrm>
          <a:prstGeom prst="rect">
            <a:avLst/>
          </a:prstGeom>
        </p:spPr>
      </p:pic>
    </p:spTree>
    <p:extLst>
      <p:ext uri="{BB962C8B-B14F-4D97-AF65-F5344CB8AC3E}">
        <p14:creationId xmlns:p14="http://schemas.microsoft.com/office/powerpoint/2010/main" val="2880238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CB085-24D6-4301-B1D1-C98231163A09}"/>
              </a:ext>
            </a:extLst>
          </p:cNvPr>
          <p:cNvSpPr>
            <a:spLocks noGrp="1"/>
          </p:cNvSpPr>
          <p:nvPr>
            <p:ph type="title"/>
          </p:nvPr>
        </p:nvSpPr>
        <p:spPr/>
        <p:txBody>
          <a:bodyPr/>
          <a:lstStyle/>
          <a:p>
            <a:r>
              <a:rPr lang="en-GH" dirty="0"/>
              <a:t>Reproductive Tract Diseases</a:t>
            </a:r>
          </a:p>
        </p:txBody>
      </p:sp>
      <p:sp>
        <p:nvSpPr>
          <p:cNvPr id="3" name="Content Placeholder 2">
            <a:extLst>
              <a:ext uri="{FF2B5EF4-FFF2-40B4-BE49-F238E27FC236}">
                <a16:creationId xmlns:a16="http://schemas.microsoft.com/office/drawing/2014/main" id="{84157381-2337-4E81-81A8-9D820F33EFB8}"/>
              </a:ext>
            </a:extLst>
          </p:cNvPr>
          <p:cNvSpPr>
            <a:spLocks noGrp="1"/>
          </p:cNvSpPr>
          <p:nvPr>
            <p:ph idx="1"/>
          </p:nvPr>
        </p:nvSpPr>
        <p:spPr/>
        <p:txBody>
          <a:bodyPr>
            <a:normAutofit lnSpcReduction="10000"/>
          </a:bodyPr>
          <a:lstStyle/>
          <a:p>
            <a:r>
              <a:rPr lang="en-GB" dirty="0"/>
              <a:t>Cervicitis</a:t>
            </a:r>
          </a:p>
          <a:p>
            <a:pPr lvl="1" algn="just">
              <a:buFont typeface="Wingdings" panose="05000000000000000000" pitchFamily="2" charset="2"/>
              <a:buChar char="ü"/>
            </a:pPr>
            <a:r>
              <a:rPr lang="en-GB" dirty="0"/>
              <a:t>Cervicitis is inflammation of the uterine cervix. </a:t>
            </a:r>
          </a:p>
          <a:p>
            <a:pPr lvl="1" algn="just">
              <a:buFont typeface="Wingdings" panose="05000000000000000000" pitchFamily="2" charset="2"/>
              <a:buChar char="ü"/>
            </a:pPr>
            <a:r>
              <a:rPr lang="en-GB" dirty="0"/>
              <a:t>Acute cervicitis is usually due to a sexually transmitted infection caused by either </a:t>
            </a:r>
            <a:r>
              <a:rPr lang="en-GB" i="1" dirty="0"/>
              <a:t>C. trachomatis or Neisseria gonorrhoeae </a:t>
            </a:r>
            <a:r>
              <a:rPr lang="en-GB" dirty="0"/>
              <a:t>or both.</a:t>
            </a:r>
          </a:p>
          <a:p>
            <a:pPr marL="457200" lvl="1" indent="0" algn="just">
              <a:buNone/>
            </a:pPr>
            <a:endParaRPr lang="en-GB" dirty="0"/>
          </a:p>
          <a:p>
            <a:pPr lvl="1" algn="just">
              <a:buFont typeface="Wingdings" panose="05000000000000000000" pitchFamily="2" charset="2"/>
              <a:buChar char="ü"/>
            </a:pPr>
            <a:r>
              <a:rPr lang="en-GB" dirty="0"/>
              <a:t>A large proportion of women with cervicitis are asymptomatic, in many cases, cervicitis is detected on speculum examination following routine screening </a:t>
            </a:r>
          </a:p>
          <a:p>
            <a:pPr marL="457200" lvl="1" indent="0" algn="just">
              <a:buNone/>
            </a:pPr>
            <a:endParaRPr lang="en-GB" dirty="0"/>
          </a:p>
          <a:p>
            <a:pPr lvl="1" algn="just">
              <a:buFont typeface="Wingdings" panose="05000000000000000000" pitchFamily="2" charset="2"/>
              <a:buChar char="ü"/>
            </a:pPr>
            <a:r>
              <a:rPr lang="en-GB" dirty="0"/>
              <a:t>On physical examination, increased friability of the cervical tissue after a swab is inserted may be a clue to the diagnosis.</a:t>
            </a:r>
          </a:p>
          <a:p>
            <a:pPr lvl="1" algn="just">
              <a:buFont typeface="Wingdings" panose="05000000000000000000" pitchFamily="2" charset="2"/>
              <a:buChar char="ü"/>
            </a:pPr>
            <a:r>
              <a:rPr lang="en-GB" dirty="0"/>
              <a:t>The usual pathogens are </a:t>
            </a:r>
            <a:r>
              <a:rPr lang="en-GB" i="1" dirty="0"/>
              <a:t>C. trachomatis or N. gonorrhoeae</a:t>
            </a:r>
            <a:r>
              <a:rPr lang="en-GB" dirty="0"/>
              <a:t>.</a:t>
            </a:r>
          </a:p>
          <a:p>
            <a:pPr lvl="1" algn="just">
              <a:buFont typeface="Wingdings" panose="05000000000000000000" pitchFamily="2" charset="2"/>
              <a:buChar char="ü"/>
            </a:pPr>
            <a:r>
              <a:rPr lang="en-GB" dirty="0"/>
              <a:t>Other less common aetiologies include HSV and T. vaginalis.</a:t>
            </a:r>
          </a:p>
          <a:p>
            <a:pPr lvl="1" algn="just">
              <a:buFont typeface="Wingdings" panose="05000000000000000000" pitchFamily="2" charset="2"/>
              <a:buChar char="ü"/>
            </a:pPr>
            <a:endParaRPr lang="en-GH" dirty="0"/>
          </a:p>
        </p:txBody>
      </p:sp>
      <p:pic>
        <p:nvPicPr>
          <p:cNvPr id="7170" name="Picture 2" descr="Cervix - Doctablet®">
            <a:extLst>
              <a:ext uri="{FF2B5EF4-FFF2-40B4-BE49-F238E27FC236}">
                <a16:creationId xmlns:a16="http://schemas.microsoft.com/office/drawing/2014/main" id="{9464AB45-0A03-C4C1-B5E9-A38D7F9376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3914" y="129834"/>
            <a:ext cx="4159704" cy="239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4375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04486-FEE4-411C-9755-99D537683C5E}"/>
              </a:ext>
            </a:extLst>
          </p:cNvPr>
          <p:cNvSpPr>
            <a:spLocks noGrp="1"/>
          </p:cNvSpPr>
          <p:nvPr>
            <p:ph type="title"/>
          </p:nvPr>
        </p:nvSpPr>
        <p:spPr/>
        <p:txBody>
          <a:bodyPr/>
          <a:lstStyle/>
          <a:p>
            <a:r>
              <a:rPr lang="en-GH" dirty="0"/>
              <a:t>Reproductive Tract Diseases</a:t>
            </a:r>
          </a:p>
        </p:txBody>
      </p:sp>
      <p:sp>
        <p:nvSpPr>
          <p:cNvPr id="3" name="Content Placeholder 2">
            <a:extLst>
              <a:ext uri="{FF2B5EF4-FFF2-40B4-BE49-F238E27FC236}">
                <a16:creationId xmlns:a16="http://schemas.microsoft.com/office/drawing/2014/main" id="{E2F98539-5FF6-4657-B61E-90DD06338F21}"/>
              </a:ext>
            </a:extLst>
          </p:cNvPr>
          <p:cNvSpPr>
            <a:spLocks noGrp="1"/>
          </p:cNvSpPr>
          <p:nvPr>
            <p:ph idx="1"/>
          </p:nvPr>
        </p:nvSpPr>
        <p:spPr/>
        <p:txBody>
          <a:bodyPr>
            <a:normAutofit lnSpcReduction="10000"/>
          </a:bodyPr>
          <a:lstStyle/>
          <a:p>
            <a:r>
              <a:rPr lang="en-GB" dirty="0"/>
              <a:t>Pelvic Inflammatory Disease</a:t>
            </a:r>
          </a:p>
          <a:p>
            <a:pPr lvl="1" algn="just">
              <a:buFont typeface="Wingdings" panose="05000000000000000000" pitchFamily="2" charset="2"/>
              <a:buChar char="ü"/>
            </a:pPr>
            <a:r>
              <a:rPr lang="en-GB" dirty="0"/>
              <a:t>Pelvic inflammatory disease (PID) is a polymicrobial infection of upper genital tract structures, namely the uterus, fallopian tubes, and ovaries.</a:t>
            </a:r>
          </a:p>
          <a:p>
            <a:pPr lvl="1" algn="just">
              <a:buFont typeface="Wingdings" panose="05000000000000000000" pitchFamily="2" charset="2"/>
              <a:buChar char="ü"/>
            </a:pPr>
            <a:r>
              <a:rPr lang="en-GB" dirty="0"/>
              <a:t>When the endocervical canal barrier is compromised, vaginal bacteria can ascend into the normally sterile space of the upper genital tract (uterus, fallopian tubes, and ovaries).</a:t>
            </a:r>
          </a:p>
          <a:p>
            <a:pPr lvl="1" algn="just">
              <a:buFont typeface="Wingdings" panose="05000000000000000000" pitchFamily="2" charset="2"/>
              <a:buChar char="ü"/>
            </a:pPr>
            <a:r>
              <a:rPr lang="en-GB" dirty="0"/>
              <a:t>A sexually transmitted infection affecting the cervix can initiate the processes leading to PID</a:t>
            </a:r>
          </a:p>
          <a:p>
            <a:pPr lvl="1" algn="just">
              <a:buFont typeface="Wingdings" panose="05000000000000000000" pitchFamily="2" charset="2"/>
              <a:buChar char="ü"/>
            </a:pPr>
            <a:r>
              <a:rPr lang="en-GB" dirty="0"/>
              <a:t>PID is primarily associated with N. gonorrhoeae and C. trachomatis, together with enteric gram-negative rods and anaerobes.</a:t>
            </a:r>
          </a:p>
          <a:p>
            <a:pPr lvl="1" algn="just">
              <a:buFont typeface="Wingdings" panose="05000000000000000000" pitchFamily="2" charset="2"/>
              <a:buChar char="ü"/>
            </a:pPr>
            <a:r>
              <a:rPr lang="en-GB" dirty="0"/>
              <a:t>Patients can present with a range of symptoms, from lower back pain to fever, chills, lower abdominal pain, and cervical and adnexal tenderness. </a:t>
            </a:r>
          </a:p>
        </p:txBody>
      </p:sp>
    </p:spTree>
    <p:extLst>
      <p:ext uri="{BB962C8B-B14F-4D97-AF65-F5344CB8AC3E}">
        <p14:creationId xmlns:p14="http://schemas.microsoft.com/office/powerpoint/2010/main" val="8069971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88992-A84E-4461-9A54-D8A647F9F23E}"/>
              </a:ext>
            </a:extLst>
          </p:cNvPr>
          <p:cNvSpPr>
            <a:spLocks noGrp="1"/>
          </p:cNvSpPr>
          <p:nvPr>
            <p:ph type="title"/>
          </p:nvPr>
        </p:nvSpPr>
        <p:spPr/>
        <p:txBody>
          <a:bodyPr/>
          <a:lstStyle/>
          <a:p>
            <a:r>
              <a:rPr lang="en-GH" dirty="0"/>
              <a:t>Reproductive Tract Diseases</a:t>
            </a:r>
          </a:p>
        </p:txBody>
      </p:sp>
      <p:sp>
        <p:nvSpPr>
          <p:cNvPr id="3" name="Content Placeholder 2">
            <a:extLst>
              <a:ext uri="{FF2B5EF4-FFF2-40B4-BE49-F238E27FC236}">
                <a16:creationId xmlns:a16="http://schemas.microsoft.com/office/drawing/2014/main" id="{D4202AE3-C0B4-4DC1-8063-BCEE1D78E43D}"/>
              </a:ext>
            </a:extLst>
          </p:cNvPr>
          <p:cNvSpPr>
            <a:spLocks noGrp="1"/>
          </p:cNvSpPr>
          <p:nvPr>
            <p:ph idx="1"/>
          </p:nvPr>
        </p:nvSpPr>
        <p:spPr/>
        <p:txBody>
          <a:bodyPr>
            <a:normAutofit/>
          </a:bodyPr>
          <a:lstStyle/>
          <a:p>
            <a:r>
              <a:rPr lang="en-GB" dirty="0"/>
              <a:t>Urethritis </a:t>
            </a:r>
          </a:p>
          <a:p>
            <a:pPr lvl="1" algn="just">
              <a:buFont typeface="Wingdings" panose="05000000000000000000" pitchFamily="2" charset="2"/>
              <a:buChar char="ü"/>
            </a:pPr>
            <a:r>
              <a:rPr lang="en-GB" dirty="0"/>
              <a:t>Urethritis is inflammation of the urethra. </a:t>
            </a:r>
          </a:p>
          <a:p>
            <a:pPr lvl="1" algn="just">
              <a:buFont typeface="Wingdings" panose="05000000000000000000" pitchFamily="2" charset="2"/>
              <a:buChar char="ü"/>
            </a:pPr>
            <a:r>
              <a:rPr lang="en-GB" dirty="0"/>
              <a:t>It is usually caused by a sexually transmitted infection, particularly in sexually active men. </a:t>
            </a:r>
          </a:p>
          <a:p>
            <a:pPr lvl="1" algn="just">
              <a:buFont typeface="Wingdings" panose="05000000000000000000" pitchFamily="2" charset="2"/>
              <a:buChar char="ü"/>
            </a:pPr>
            <a:r>
              <a:rPr lang="en-GB" dirty="0"/>
              <a:t>Dysuria is a common presenting complaint. Discharge from the urethra, pruritus, and burning are also common complaints.</a:t>
            </a:r>
          </a:p>
          <a:p>
            <a:pPr lvl="1" algn="just">
              <a:buFont typeface="Wingdings" panose="05000000000000000000" pitchFamily="2" charset="2"/>
              <a:buChar char="ü"/>
            </a:pPr>
            <a:r>
              <a:rPr lang="en-GB" i="1" dirty="0"/>
              <a:t>Neisseria gonorrhoeae</a:t>
            </a:r>
            <a:r>
              <a:rPr lang="en-GB" dirty="0"/>
              <a:t> and </a:t>
            </a:r>
            <a:r>
              <a:rPr lang="en-GB" i="1" dirty="0"/>
              <a:t>C. trachomatis </a:t>
            </a:r>
            <a:r>
              <a:rPr lang="en-GB" dirty="0"/>
              <a:t>are the most common organisms implicated. Other organisms include </a:t>
            </a:r>
            <a:r>
              <a:rPr lang="en-GB" i="1" dirty="0"/>
              <a:t>Mycoplasma </a:t>
            </a:r>
            <a:r>
              <a:rPr lang="en-GB" i="1" dirty="0" err="1"/>
              <a:t>genitalium</a:t>
            </a:r>
            <a:r>
              <a:rPr lang="en-GB" i="1" dirty="0"/>
              <a:t> </a:t>
            </a:r>
            <a:r>
              <a:rPr lang="en-GB" dirty="0"/>
              <a:t>and </a:t>
            </a:r>
            <a:r>
              <a:rPr lang="en-GB" i="1" dirty="0"/>
              <a:t>T. vaginalis</a:t>
            </a:r>
            <a:r>
              <a:rPr lang="en-GB" dirty="0"/>
              <a:t>.</a:t>
            </a:r>
          </a:p>
          <a:p>
            <a:pPr lvl="1" algn="just">
              <a:buFont typeface="Wingdings" panose="05000000000000000000" pitchFamily="2" charset="2"/>
              <a:buChar char="ü"/>
            </a:pPr>
            <a:r>
              <a:rPr lang="en-GB" dirty="0"/>
              <a:t>Urethral swab for staining, wet mount, Culture &amp; sensitivity, PCR </a:t>
            </a:r>
          </a:p>
        </p:txBody>
      </p:sp>
    </p:spTree>
    <p:extLst>
      <p:ext uri="{BB962C8B-B14F-4D97-AF65-F5344CB8AC3E}">
        <p14:creationId xmlns:p14="http://schemas.microsoft.com/office/powerpoint/2010/main" val="18005791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3BC6B-CD7A-4965-9032-38661A917A7C}"/>
              </a:ext>
            </a:extLst>
          </p:cNvPr>
          <p:cNvSpPr>
            <a:spLocks noGrp="1"/>
          </p:cNvSpPr>
          <p:nvPr>
            <p:ph type="title"/>
          </p:nvPr>
        </p:nvSpPr>
        <p:spPr/>
        <p:txBody>
          <a:bodyPr/>
          <a:lstStyle/>
          <a:p>
            <a:r>
              <a:rPr lang="en-GH" dirty="0"/>
              <a:t>Reproductive Tract Diseases</a:t>
            </a:r>
            <a:r>
              <a:rPr lang="en-US" dirty="0"/>
              <a:t> Urethritis</a:t>
            </a:r>
            <a:endParaRPr lang="en-GH" dirty="0"/>
          </a:p>
        </p:txBody>
      </p:sp>
      <p:sp>
        <p:nvSpPr>
          <p:cNvPr id="7" name="Content Placeholder 6">
            <a:extLst>
              <a:ext uri="{FF2B5EF4-FFF2-40B4-BE49-F238E27FC236}">
                <a16:creationId xmlns:a16="http://schemas.microsoft.com/office/drawing/2014/main" id="{8801D4A0-5425-46DB-AB62-A77D652DA76E}"/>
              </a:ext>
            </a:extLst>
          </p:cNvPr>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             Thick purulent Urethral Discharge in Gonorrhoea</a:t>
            </a:r>
            <a:endParaRPr lang="en-GH" dirty="0"/>
          </a:p>
        </p:txBody>
      </p:sp>
      <p:pic>
        <p:nvPicPr>
          <p:cNvPr id="8" name="Picture 7">
            <a:extLst>
              <a:ext uri="{FF2B5EF4-FFF2-40B4-BE49-F238E27FC236}">
                <a16:creationId xmlns:a16="http://schemas.microsoft.com/office/drawing/2014/main" id="{ABEDFB28-7E2E-46BB-B115-0F49D4375174}"/>
              </a:ext>
            </a:extLst>
          </p:cNvPr>
          <p:cNvPicPr>
            <a:picLocks noChangeAspect="1"/>
          </p:cNvPicPr>
          <p:nvPr/>
        </p:nvPicPr>
        <p:blipFill>
          <a:blip r:embed="rId2"/>
          <a:stretch>
            <a:fillRect/>
          </a:stretch>
        </p:blipFill>
        <p:spPr>
          <a:xfrm>
            <a:off x="2250832" y="2136535"/>
            <a:ext cx="6079546" cy="3293593"/>
          </a:xfrm>
          <a:prstGeom prst="rect">
            <a:avLst/>
          </a:prstGeom>
        </p:spPr>
      </p:pic>
    </p:spTree>
    <p:extLst>
      <p:ext uri="{BB962C8B-B14F-4D97-AF65-F5344CB8AC3E}">
        <p14:creationId xmlns:p14="http://schemas.microsoft.com/office/powerpoint/2010/main" val="16148183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95331-C560-4EE2-A22D-1A0EFD7B837B}"/>
              </a:ext>
            </a:extLst>
          </p:cNvPr>
          <p:cNvSpPr>
            <a:spLocks noGrp="1"/>
          </p:cNvSpPr>
          <p:nvPr>
            <p:ph type="title"/>
          </p:nvPr>
        </p:nvSpPr>
        <p:spPr/>
        <p:txBody>
          <a:bodyPr>
            <a:normAutofit/>
          </a:bodyPr>
          <a:lstStyle/>
          <a:p>
            <a:r>
              <a:rPr lang="en-GB" sz="5400" dirty="0">
                <a:solidFill>
                  <a:srgbClr val="0070C0"/>
                </a:solidFill>
              </a:rPr>
              <a:t>THANK YOU FOR YOUR ATTENTION</a:t>
            </a:r>
            <a:endParaRPr lang="en-GH" sz="5400" dirty="0">
              <a:solidFill>
                <a:srgbClr val="0070C0"/>
              </a:solidFill>
            </a:endParaRPr>
          </a:p>
        </p:txBody>
      </p:sp>
      <p:sp>
        <p:nvSpPr>
          <p:cNvPr id="3" name="Text Placeholder 2">
            <a:extLst>
              <a:ext uri="{FF2B5EF4-FFF2-40B4-BE49-F238E27FC236}">
                <a16:creationId xmlns:a16="http://schemas.microsoft.com/office/drawing/2014/main" id="{C5B623E7-4747-4D80-BA62-E063D48772BF}"/>
              </a:ext>
            </a:extLst>
          </p:cNvPr>
          <p:cNvSpPr>
            <a:spLocks noGrp="1"/>
          </p:cNvSpPr>
          <p:nvPr>
            <p:ph type="body" idx="1"/>
          </p:nvPr>
        </p:nvSpPr>
        <p:spPr/>
        <p:txBody>
          <a:bodyPr/>
          <a:lstStyle/>
          <a:p>
            <a:r>
              <a:rPr lang="en-GB" dirty="0"/>
              <a:t>                                      </a:t>
            </a:r>
            <a:r>
              <a:rPr lang="en-GB" sz="9600" dirty="0">
                <a:solidFill>
                  <a:srgbClr val="FF0000"/>
                </a:solidFill>
              </a:rPr>
              <a:t>QUESTIONS</a:t>
            </a:r>
            <a:endParaRPr lang="en-GH" sz="9600" dirty="0">
              <a:solidFill>
                <a:srgbClr val="FF0000"/>
              </a:solidFill>
            </a:endParaRPr>
          </a:p>
        </p:txBody>
      </p:sp>
    </p:spTree>
    <p:extLst>
      <p:ext uri="{BB962C8B-B14F-4D97-AF65-F5344CB8AC3E}">
        <p14:creationId xmlns:p14="http://schemas.microsoft.com/office/powerpoint/2010/main" val="2329916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22386</TotalTime>
  <Words>5020</Words>
  <Application>Microsoft Office PowerPoint</Application>
  <PresentationFormat>Widescreen</PresentationFormat>
  <Paragraphs>511</Paragraphs>
  <Slides>88</Slides>
  <Notes>2</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88</vt:i4>
      </vt:variant>
    </vt:vector>
  </HeadingPairs>
  <TitlesOfParts>
    <vt:vector size="98" baseType="lpstr">
      <vt:lpstr>Arial</vt:lpstr>
      <vt:lpstr>Calibri</vt:lpstr>
      <vt:lpstr>Calibri Light</vt:lpstr>
      <vt:lpstr>MinionPro-Bold</vt:lpstr>
      <vt:lpstr>MinionPro-Regular</vt:lpstr>
      <vt:lpstr>MyriadPro-Bold</vt:lpstr>
      <vt:lpstr>MyriadPro-It</vt:lpstr>
      <vt:lpstr>MyriadPro-Regular</vt:lpstr>
      <vt:lpstr>Wingdings</vt:lpstr>
      <vt:lpstr>Office Theme</vt:lpstr>
      <vt:lpstr>Pathogenic Bacteria and Key Diseases</vt:lpstr>
      <vt:lpstr>Learning Objectives</vt:lpstr>
      <vt:lpstr>Normal Flora</vt:lpstr>
      <vt:lpstr>Members of Human Normal Flora</vt:lpstr>
      <vt:lpstr>Members of Human Normal Flora</vt:lpstr>
      <vt:lpstr>Members of Human Normal Flora</vt:lpstr>
      <vt:lpstr>Role of the Normal Flora</vt:lpstr>
      <vt:lpstr>When do normal human flora cause disease</vt:lpstr>
      <vt:lpstr>Structure of typical bacterial pathogen</vt:lpstr>
      <vt:lpstr>Structure of typical bacterial pathogen cell wall</vt:lpstr>
      <vt:lpstr>Structure of typical bacterial pathogen</vt:lpstr>
      <vt:lpstr>Bacterial Disease Pathogenesis</vt:lpstr>
      <vt:lpstr>Stages of Bacterial Pathogenesis</vt:lpstr>
      <vt:lpstr>Bacterial Disease Pathogenesis</vt:lpstr>
      <vt:lpstr>Stages of Bacterial pathogenesis – Exposure </vt:lpstr>
      <vt:lpstr>Stages of Bacterial pathogenesis – Adherence</vt:lpstr>
      <vt:lpstr>Stages of Bacterial pathogenesis – Invasion and Toxicity</vt:lpstr>
      <vt:lpstr>Bacterial Pathogenesis - Immunopathogenesis</vt:lpstr>
      <vt:lpstr>Typical Infectious Disease Stages</vt:lpstr>
      <vt:lpstr>System-based Bacterial Pathogens</vt:lpstr>
      <vt:lpstr>Cardiac bacterial disease – Endocarditis </vt:lpstr>
      <vt:lpstr>Endocarditis –  Pathogens</vt:lpstr>
      <vt:lpstr>Endocarditis</vt:lpstr>
      <vt:lpstr>OTHER CARDIAC INFECTIONS</vt:lpstr>
      <vt:lpstr>Other Cardiac infections- Pericarditis</vt:lpstr>
      <vt:lpstr>BONE AND JOINT DISEASES</vt:lpstr>
      <vt:lpstr>Bone and Joint Diseases – Osteomyelitis </vt:lpstr>
      <vt:lpstr>Bone and Joint Diseases – Osteomyelitis </vt:lpstr>
      <vt:lpstr>Bone and Joint Diseases – Osteomyelitis </vt:lpstr>
      <vt:lpstr>Bone and Joint Diseases – Septic Arthritis</vt:lpstr>
      <vt:lpstr>Bone and Joint Diseases – Septic Arthritis</vt:lpstr>
      <vt:lpstr>Bone and Joint Diseases – Septic Arthritis</vt:lpstr>
      <vt:lpstr>Central Nervous System Infections</vt:lpstr>
      <vt:lpstr>Central Nervous System Bacterial  Infections</vt:lpstr>
      <vt:lpstr>CNS INFECTION - MENINGITIS</vt:lpstr>
      <vt:lpstr>CNS INFECTION – BACTERIAL MENINGITIS</vt:lpstr>
      <vt:lpstr>INVESTIGATORY TOOLS FOR CNS INFECTIONS</vt:lpstr>
      <vt:lpstr>CNS INFECTIONS - CSF ANALYSIS</vt:lpstr>
      <vt:lpstr>CSF ANALYSIS - MENINGITIS</vt:lpstr>
      <vt:lpstr>Gram Stain</vt:lpstr>
      <vt:lpstr>PRESUMPTIVE DIAGNOSIS BACTERIAL MENINGITIS</vt:lpstr>
      <vt:lpstr>Urinary Tract Bacterial Infections</vt:lpstr>
      <vt:lpstr>Urinary Tract Infections</vt:lpstr>
      <vt:lpstr>Urinary Tract Infections</vt:lpstr>
      <vt:lpstr>Urinary Tract Infections - Diagnosis</vt:lpstr>
      <vt:lpstr>URINARY TRACT INFECTIONS – Diagnosis dipstick</vt:lpstr>
      <vt:lpstr>URINARY TRACT INFECTIONS- Diagnosis</vt:lpstr>
      <vt:lpstr>PowerPoint Presentation</vt:lpstr>
      <vt:lpstr>Gastrointestinal Tract Infections</vt:lpstr>
      <vt:lpstr>GASTROINTESTINAL TRACT INFECTIONS</vt:lpstr>
      <vt:lpstr>GASTROINTESTINAL TRACT INFECTIONS</vt:lpstr>
      <vt:lpstr>Gastrointestinal Bacterial Diseases</vt:lpstr>
      <vt:lpstr>Respiratory Infections</vt:lpstr>
      <vt:lpstr>Upper Respiratory Tract Infection</vt:lpstr>
      <vt:lpstr>Upper Respiratory Tract Infection - Pharyngitis</vt:lpstr>
      <vt:lpstr>Upper Respiratory Tract Infection - Pharyngitis</vt:lpstr>
      <vt:lpstr>Upper Respiratory Tract Infection</vt:lpstr>
      <vt:lpstr>UPPER RESPIRATORY TRACT INFECTION</vt:lpstr>
      <vt:lpstr>UPPER RESPIRATORY TRACT INFECTION</vt:lpstr>
      <vt:lpstr>UPPER RESPIRATORY TRACT INFECTION</vt:lpstr>
      <vt:lpstr>Infections Of The Lower Respiratory Tract</vt:lpstr>
      <vt:lpstr>INFECTIONS OF THE LOWER RESPIRATORY TRACT</vt:lpstr>
      <vt:lpstr>INFECTIONS OF THE LOWER RESPIRATORY TRACT</vt:lpstr>
      <vt:lpstr>INFECTIONS OF THE LOWER RESPIRATORY TRACT</vt:lpstr>
      <vt:lpstr>Skin And Soft Tissue Infections</vt:lpstr>
      <vt:lpstr>Skin And Soft Tissue Infections</vt:lpstr>
      <vt:lpstr>Skin And Soft Tissue Infections</vt:lpstr>
      <vt:lpstr>Skin And Soft Tissue Infections</vt:lpstr>
      <vt:lpstr>Skin And Soft Tissue Infections</vt:lpstr>
      <vt:lpstr>Skin And Soft Tissue Infections</vt:lpstr>
      <vt:lpstr>Folliculitis</vt:lpstr>
      <vt:lpstr>SKIN AND SOFT TISSUE INFECTIONS</vt:lpstr>
      <vt:lpstr>SKIN AND SOFT TISSUE INFECTIONS</vt:lpstr>
      <vt:lpstr>SKIN AND SOFT TISSUE INFECTIONS</vt:lpstr>
      <vt:lpstr>SKIN AND SOF TISSUE INFECTIONS</vt:lpstr>
      <vt:lpstr>SKIN AND SOFT TISSUE INFECTIONS</vt:lpstr>
      <vt:lpstr>PELVIC INFECTIONS</vt:lpstr>
      <vt:lpstr>PELVIC INFECTIONS</vt:lpstr>
      <vt:lpstr>Reproductive Tract Diseases-Genital tract ulcers</vt:lpstr>
      <vt:lpstr>Reproductive Tract Diseases -Genital Ulcers</vt:lpstr>
      <vt:lpstr>PowerPoint Presentation</vt:lpstr>
      <vt:lpstr>Reproductive Tract Diseases</vt:lpstr>
      <vt:lpstr>Reproductive Tract Diseases - Vaginitis</vt:lpstr>
      <vt:lpstr>Reproductive Tract Diseases</vt:lpstr>
      <vt:lpstr>Reproductive Tract Diseases</vt:lpstr>
      <vt:lpstr>Reproductive Tract Diseases</vt:lpstr>
      <vt:lpstr>Reproductive Tract Diseases Urethritis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BACTERIAL DISEASES OF THE HUMAN BODY</dc:title>
  <dc:creator>newopoku@yahoo.com</dc:creator>
  <cp:lastModifiedBy>Francis Agyapong</cp:lastModifiedBy>
  <cp:revision>181</cp:revision>
  <dcterms:created xsi:type="dcterms:W3CDTF">2021-06-22T23:52:00Z</dcterms:created>
  <dcterms:modified xsi:type="dcterms:W3CDTF">2026-05-07T06:17:31Z</dcterms:modified>
</cp:coreProperties>
</file>