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7"/>
  </p:notesMasterIdLst>
  <p:sldIdLst>
    <p:sldId id="256" r:id="rId2"/>
    <p:sldId id="257" r:id="rId3"/>
    <p:sldId id="263" r:id="rId4"/>
    <p:sldId id="265" r:id="rId5"/>
    <p:sldId id="262" r:id="rId6"/>
    <p:sldId id="258" r:id="rId7"/>
    <p:sldId id="266" r:id="rId8"/>
    <p:sldId id="267" r:id="rId9"/>
    <p:sldId id="260" r:id="rId10"/>
    <p:sldId id="289" r:id="rId11"/>
    <p:sldId id="274" r:id="rId12"/>
    <p:sldId id="276" r:id="rId13"/>
    <p:sldId id="277" r:id="rId14"/>
    <p:sldId id="278" r:id="rId15"/>
    <p:sldId id="279" r:id="rId16"/>
    <p:sldId id="280" r:id="rId17"/>
    <p:sldId id="261" r:id="rId18"/>
    <p:sldId id="281" r:id="rId19"/>
    <p:sldId id="282" r:id="rId20"/>
    <p:sldId id="283" r:id="rId21"/>
    <p:sldId id="284" r:id="rId22"/>
    <p:sldId id="285" r:id="rId23"/>
    <p:sldId id="288" r:id="rId24"/>
    <p:sldId id="290" r:id="rId25"/>
    <p:sldId id="291" r:id="rId26"/>
    <p:sldId id="292" r:id="rId27"/>
    <p:sldId id="496" r:id="rId28"/>
    <p:sldId id="498" r:id="rId29"/>
    <p:sldId id="294" r:id="rId30"/>
    <p:sldId id="409" r:id="rId31"/>
    <p:sldId id="296" r:id="rId32"/>
    <p:sldId id="311" r:id="rId33"/>
    <p:sldId id="537" r:id="rId34"/>
    <p:sldId id="375" r:id="rId35"/>
    <p:sldId id="376" r:id="rId36"/>
    <p:sldId id="377" r:id="rId37"/>
    <p:sldId id="378" r:id="rId38"/>
    <p:sldId id="315" r:id="rId39"/>
    <p:sldId id="317" r:id="rId40"/>
    <p:sldId id="316" r:id="rId41"/>
    <p:sldId id="541" r:id="rId42"/>
    <p:sldId id="318" r:id="rId43"/>
    <p:sldId id="319" r:id="rId44"/>
    <p:sldId id="320" r:id="rId45"/>
    <p:sldId id="321" r:id="rId46"/>
    <p:sldId id="440" r:id="rId47"/>
    <p:sldId id="441" r:id="rId48"/>
    <p:sldId id="442" r:id="rId49"/>
    <p:sldId id="443" r:id="rId50"/>
    <p:sldId id="444" r:id="rId51"/>
    <p:sldId id="445" r:id="rId52"/>
    <p:sldId id="484" r:id="rId53"/>
    <p:sldId id="446" r:id="rId54"/>
    <p:sldId id="447" r:id="rId55"/>
    <p:sldId id="448" r:id="rId56"/>
    <p:sldId id="451" r:id="rId57"/>
    <p:sldId id="453" r:id="rId58"/>
    <p:sldId id="449" r:id="rId59"/>
    <p:sldId id="450" r:id="rId60"/>
    <p:sldId id="452" r:id="rId61"/>
    <p:sldId id="548" r:id="rId62"/>
    <p:sldId id="454" r:id="rId63"/>
    <p:sldId id="459" r:id="rId64"/>
    <p:sldId id="325" r:id="rId65"/>
    <p:sldId id="326" r:id="rId66"/>
    <p:sldId id="327" r:id="rId67"/>
    <p:sldId id="467" r:id="rId68"/>
    <p:sldId id="542" r:id="rId69"/>
    <p:sldId id="485" r:id="rId70"/>
    <p:sldId id="460" r:id="rId71"/>
    <p:sldId id="462" r:id="rId72"/>
    <p:sldId id="461" r:id="rId73"/>
    <p:sldId id="463" r:id="rId74"/>
    <p:sldId id="464" r:id="rId75"/>
    <p:sldId id="465" r:id="rId76"/>
    <p:sldId id="466" r:id="rId77"/>
    <p:sldId id="468" r:id="rId78"/>
    <p:sldId id="470" r:id="rId79"/>
    <p:sldId id="471" r:id="rId80"/>
    <p:sldId id="472" r:id="rId81"/>
    <p:sldId id="543" r:id="rId82"/>
    <p:sldId id="473" r:id="rId83"/>
    <p:sldId id="469" r:id="rId84"/>
    <p:sldId id="474" r:id="rId85"/>
    <p:sldId id="475" r:id="rId86"/>
    <p:sldId id="476" r:id="rId87"/>
    <p:sldId id="477" r:id="rId88"/>
    <p:sldId id="545" r:id="rId89"/>
    <p:sldId id="486" r:id="rId90"/>
    <p:sldId id="328" r:id="rId91"/>
    <p:sldId id="406" r:id="rId92"/>
    <p:sldId id="329" r:id="rId93"/>
    <p:sldId id="330" r:id="rId94"/>
    <p:sldId id="407" r:id="rId95"/>
    <p:sldId id="331" r:id="rId96"/>
    <p:sldId id="332" r:id="rId97"/>
    <p:sldId id="333" r:id="rId98"/>
    <p:sldId id="351" r:id="rId99"/>
    <p:sldId id="334" r:id="rId100"/>
    <p:sldId id="335" r:id="rId101"/>
    <p:sldId id="336" r:id="rId102"/>
    <p:sldId id="408" r:id="rId103"/>
    <p:sldId id="339" r:id="rId104"/>
    <p:sldId id="399" r:id="rId105"/>
    <p:sldId id="379" r:id="rId106"/>
    <p:sldId id="403" r:id="rId107"/>
    <p:sldId id="401" r:id="rId108"/>
    <p:sldId id="404" r:id="rId109"/>
    <p:sldId id="410" r:id="rId110"/>
    <p:sldId id="402" r:id="rId111"/>
    <p:sldId id="382" r:id="rId112"/>
    <p:sldId id="340" r:id="rId113"/>
    <p:sldId id="341" r:id="rId114"/>
    <p:sldId id="412" r:id="rId115"/>
    <p:sldId id="413" r:id="rId116"/>
    <p:sldId id="414" r:id="rId117"/>
    <p:sldId id="342" r:id="rId118"/>
    <p:sldId id="411" r:id="rId119"/>
    <p:sldId id="405" r:id="rId120"/>
    <p:sldId id="417" r:id="rId121"/>
    <p:sldId id="418" r:id="rId122"/>
    <p:sldId id="419" r:id="rId123"/>
    <p:sldId id="546" r:id="rId124"/>
    <p:sldId id="435" r:id="rId125"/>
    <p:sldId id="436" r:id="rId126"/>
    <p:sldId id="352" r:id="rId127"/>
    <p:sldId id="494" r:id="rId128"/>
    <p:sldId id="495" r:id="rId129"/>
    <p:sldId id="353" r:id="rId130"/>
    <p:sldId id="354" r:id="rId131"/>
    <p:sldId id="355" r:id="rId132"/>
    <p:sldId id="490" r:id="rId133"/>
    <p:sldId id="488" r:id="rId134"/>
    <p:sldId id="489" r:id="rId135"/>
    <p:sldId id="547" r:id="rId1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90273" autoAdjust="0"/>
  </p:normalViewPr>
  <p:slideViewPr>
    <p:cSldViewPr snapToGrid="0" snapToObjects="1">
      <p:cViewPr varScale="1">
        <p:scale>
          <a:sx n="84" d="100"/>
          <a:sy n="84" d="100"/>
        </p:scale>
        <p:origin x="214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9E178-80D0-4DE8-B578-D9A71D93067F}" type="datetimeFigureOut">
              <a:rPr lang="en-US" smtClean="0"/>
              <a:t>4/30/26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BEDFB-B7A2-4A8A-8F83-C1DB50AF176D}" type="slidenum">
              <a:rPr lang="en-US" smtClean="0"/>
              <a:t>‹#›</a:t>
            </a:fld>
            <a:endParaRPr lang="en-US"/>
          </a:p>
        </p:txBody>
      </p:sp>
    </p:spTree>
    <p:extLst>
      <p:ext uri="{BB962C8B-B14F-4D97-AF65-F5344CB8AC3E}">
        <p14:creationId xmlns:p14="http://schemas.microsoft.com/office/powerpoint/2010/main" val="2992514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58.xml"/><Relationship Id="rId1" Type="http://schemas.openxmlformats.org/officeDocument/2006/relationships/notesMaster" Target="../notesMasters/notesMaster1.xml"/><Relationship Id="rId4" Type="http://schemas.openxmlformats.org/officeDocument/2006/relationships/image" Target="../media/image10.png"/></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2</a:t>
            </a:fld>
            <a:endParaRPr lang="en-US"/>
          </a:p>
        </p:txBody>
      </p:sp>
    </p:spTree>
    <p:extLst>
      <p:ext uri="{BB962C8B-B14F-4D97-AF65-F5344CB8AC3E}">
        <p14:creationId xmlns:p14="http://schemas.microsoft.com/office/powerpoint/2010/main" val="2597883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3</a:t>
            </a:fld>
            <a:endParaRPr lang="en-US"/>
          </a:p>
        </p:txBody>
      </p:sp>
    </p:spTree>
    <p:extLst>
      <p:ext uri="{BB962C8B-B14F-4D97-AF65-F5344CB8AC3E}">
        <p14:creationId xmlns:p14="http://schemas.microsoft.com/office/powerpoint/2010/main" val="996943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Illness has been man’s heritage</a:t>
            </a:r>
            <a:r>
              <a:rPr lang="en-US" baseline="0" dirty="0"/>
              <a:t> from the beginning of his existence, and the search for remedies to combat it is perhaps equally old.</a:t>
            </a:r>
          </a:p>
          <a:p>
            <a:pPr algn="just"/>
            <a:r>
              <a:rPr lang="en-US" sz="1200" b="0" i="0" u="none" strike="noStrike" kern="1200" baseline="0" dirty="0">
                <a:solidFill>
                  <a:schemeClr val="tx1"/>
                </a:solidFill>
                <a:latin typeface="+mn-lt"/>
                <a:ea typeface="+mn-ea"/>
                <a:cs typeface="+mn-cs"/>
              </a:rPr>
              <a:t>Pharmacology studies the effects of drugs and how they exert their effects. For example, penicillin cures certain bacterial infections and acetylsalicylic acid (ASA) can reduce inflammation. How do they accomplish these respective effects? Through research we now know that penicillin can disrupt the synthesis of cell walls in susceptible</a:t>
            </a:r>
          </a:p>
          <a:p>
            <a:pPr algn="just"/>
            <a:r>
              <a:rPr lang="en-US" sz="1200" b="0" i="0" u="none" strike="noStrike" kern="1200" baseline="0" dirty="0">
                <a:solidFill>
                  <a:schemeClr val="tx1"/>
                </a:solidFill>
                <a:latin typeface="+mn-lt"/>
                <a:ea typeface="+mn-ea"/>
                <a:cs typeface="+mn-cs"/>
              </a:rPr>
              <a:t>bacterial strains by inhibiting a key enzyme, while ASA can inhibit the action of a human cell membrane enzyme known as cyclooxygenase, which is responsible for the synthesis of a number of inflammatory mediators.</a:t>
            </a:r>
          </a:p>
          <a:p>
            <a:pPr algn="just"/>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Pharmacology should be distinguished from the profession of pharmacy, whose responsibilities include the identification, verification, standardization,</a:t>
            </a:r>
          </a:p>
          <a:p>
            <a:r>
              <a:rPr lang="en-US" sz="1200" b="0" i="0" u="none" strike="noStrike" kern="1200" baseline="0" dirty="0">
                <a:solidFill>
                  <a:schemeClr val="tx1"/>
                </a:solidFill>
                <a:latin typeface="+mn-lt"/>
                <a:ea typeface="+mn-ea"/>
                <a:cs typeface="+mn-cs"/>
              </a:rPr>
              <a:t>compounding, and dispensing of drugs and dosage forms of drugs</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4</a:t>
            </a:fld>
            <a:endParaRPr lang="en-US"/>
          </a:p>
        </p:txBody>
      </p:sp>
    </p:spTree>
    <p:extLst>
      <p:ext uri="{BB962C8B-B14F-4D97-AF65-F5344CB8AC3E}">
        <p14:creationId xmlns:p14="http://schemas.microsoft.com/office/powerpoint/2010/main" val="82970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It attempts to describe the biological responses produced by drugs and to define the underlying mechanisms by which the responses are generated.</a:t>
            </a:r>
          </a:p>
          <a:p>
            <a:r>
              <a:rPr lang="en-US" sz="1200" b="0" i="0" u="none" strike="noStrike" kern="1200" baseline="0" dirty="0">
                <a:solidFill>
                  <a:schemeClr val="tx1"/>
                </a:solidFill>
                <a:latin typeface="+mn-lt"/>
                <a:ea typeface="+mn-ea"/>
                <a:cs typeface="+mn-cs"/>
              </a:rPr>
              <a:t> </a:t>
            </a:r>
            <a:r>
              <a:rPr lang="en-US" dirty="0"/>
              <a:t>Define the following allied aspects of Pharmacology</a:t>
            </a:r>
            <a:r>
              <a:rPr lang="en-US" baseline="0" dirty="0"/>
              <a:t> – </a:t>
            </a:r>
            <a:r>
              <a:rPr lang="en-US" baseline="0" dirty="0" err="1"/>
              <a:t>Pharmacognosy</a:t>
            </a:r>
            <a:r>
              <a:rPr lang="en-US" baseline="0" dirty="0"/>
              <a:t>, </a:t>
            </a:r>
            <a:r>
              <a:rPr lang="en-US" baseline="0" dirty="0" err="1"/>
              <a:t>pharmacoepidemiology</a:t>
            </a:r>
            <a:r>
              <a:rPr lang="en-US" baseline="0" dirty="0"/>
              <a:t>, </a:t>
            </a:r>
            <a:r>
              <a:rPr lang="en-US" baseline="0" dirty="0" err="1"/>
              <a:t>pharmacoeconomics</a:t>
            </a:r>
            <a:r>
              <a:rPr lang="en-US" baseline="0" dirty="0"/>
              <a:t>, pharmacovigilance, pharmacogenetics, pharmacogenomics, toxicology, chemotherapy.</a:t>
            </a:r>
          </a:p>
          <a:p>
            <a:endParaRPr lang="en-US" baseline="0" dirty="0"/>
          </a:p>
        </p:txBody>
      </p:sp>
      <p:sp>
        <p:nvSpPr>
          <p:cNvPr id="4" name="Slide Number Placeholder 3"/>
          <p:cNvSpPr>
            <a:spLocks noGrp="1"/>
          </p:cNvSpPr>
          <p:nvPr>
            <p:ph type="sldNum" sz="quarter" idx="10"/>
          </p:nvPr>
        </p:nvSpPr>
        <p:spPr/>
        <p:txBody>
          <a:bodyPr/>
          <a:lstStyle/>
          <a:p>
            <a:fld id="{7ADBEDFB-B7A2-4A8A-8F83-C1DB50AF176D}" type="slidenum">
              <a:rPr lang="en-US" smtClean="0"/>
              <a:t>5</a:t>
            </a:fld>
            <a:endParaRPr lang="en-US"/>
          </a:p>
        </p:txBody>
      </p:sp>
    </p:spTree>
    <p:extLst>
      <p:ext uri="{BB962C8B-B14F-4D97-AF65-F5344CB8AC3E}">
        <p14:creationId xmlns:p14="http://schemas.microsoft.com/office/powerpoint/2010/main" val="43367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6</a:t>
            </a:fld>
            <a:endParaRPr lang="en-US"/>
          </a:p>
        </p:txBody>
      </p:sp>
    </p:spTree>
    <p:extLst>
      <p:ext uri="{BB962C8B-B14F-4D97-AF65-F5344CB8AC3E}">
        <p14:creationId xmlns:p14="http://schemas.microsoft.com/office/powerpoint/2010/main" val="430364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7</a:t>
            </a:fld>
            <a:endParaRPr lang="en-US"/>
          </a:p>
        </p:txBody>
      </p:sp>
    </p:spTree>
    <p:extLst>
      <p:ext uri="{BB962C8B-B14F-4D97-AF65-F5344CB8AC3E}">
        <p14:creationId xmlns:p14="http://schemas.microsoft.com/office/powerpoint/2010/main" val="376215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sources include Marine sources ( Docosahexaenoic acid (DHA),</a:t>
            </a:r>
            <a:r>
              <a:rPr lang="en-US" baseline="0" dirty="0"/>
              <a:t> developed via fermentation of a microalgae – Major component in the human brain), Animal sources; 1. maggot debridement therapy where maggots are used to treat open wound (Maggot therapy)- Feeds on necrotic tissues whiles leaving healthy tissues.</a:t>
            </a:r>
          </a:p>
          <a:p>
            <a:r>
              <a:rPr lang="en-US" baseline="0" dirty="0"/>
              <a:t>2. A natural anticoagulant, </a:t>
            </a:r>
            <a:r>
              <a:rPr lang="en-US" baseline="0" dirty="0" err="1"/>
              <a:t>hirudin</a:t>
            </a:r>
            <a:r>
              <a:rPr lang="en-US" baseline="0" dirty="0"/>
              <a:t> derived from the saliva of the leech.</a:t>
            </a:r>
          </a:p>
          <a:p>
            <a:r>
              <a:rPr lang="en-US" baseline="0" dirty="0"/>
              <a:t>3. Snake venoms have been found to possess ingredients with important pharmacological properties. </a:t>
            </a:r>
            <a:r>
              <a:rPr lang="en-US" baseline="0" dirty="0" err="1"/>
              <a:t>Eg</a:t>
            </a:r>
            <a:r>
              <a:rPr lang="en-US" baseline="0" dirty="0"/>
              <a:t> Captopril (ACEI) was originally identified in the venom of the pit viper as a bradykinin-potentiating peptides (BPPs) – Captopril is a dipeptide analog BPP.</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8</a:t>
            </a:fld>
            <a:endParaRPr lang="en-US"/>
          </a:p>
        </p:txBody>
      </p:sp>
    </p:spTree>
    <p:extLst>
      <p:ext uri="{BB962C8B-B14F-4D97-AF65-F5344CB8AC3E}">
        <p14:creationId xmlns:p14="http://schemas.microsoft.com/office/powerpoint/2010/main" val="931986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11</a:t>
            </a:fld>
            <a:endParaRPr lang="en-US"/>
          </a:p>
        </p:txBody>
      </p:sp>
    </p:spTree>
    <p:extLst>
      <p:ext uri="{BB962C8B-B14F-4D97-AF65-F5344CB8AC3E}">
        <p14:creationId xmlns:p14="http://schemas.microsoft.com/office/powerpoint/2010/main" val="400746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a:t>
            </a:fld>
            <a:endParaRPr lang="en-US"/>
          </a:p>
        </p:txBody>
      </p:sp>
    </p:spTree>
    <p:extLst>
      <p:ext uri="{BB962C8B-B14F-4D97-AF65-F5344CB8AC3E}">
        <p14:creationId xmlns:p14="http://schemas.microsoft.com/office/powerpoint/2010/main" val="1812763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13</a:t>
            </a:fld>
            <a:endParaRPr lang="en-US"/>
          </a:p>
        </p:txBody>
      </p:sp>
    </p:spTree>
    <p:extLst>
      <p:ext uri="{BB962C8B-B14F-4D97-AF65-F5344CB8AC3E}">
        <p14:creationId xmlns:p14="http://schemas.microsoft.com/office/powerpoint/2010/main" val="3363972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1800"/>
              </a:spcAft>
              <a:buNone/>
            </a:pPr>
            <a:endParaRPr lang="en-US" sz="1200" b="1" dirty="0">
              <a:latin typeface="Helvetica"/>
              <a:cs typeface="Helvetica"/>
            </a:endParaRPr>
          </a:p>
        </p:txBody>
      </p:sp>
      <p:sp>
        <p:nvSpPr>
          <p:cNvPr id="4" name="Slide Number Placeholder 3"/>
          <p:cNvSpPr>
            <a:spLocks noGrp="1"/>
          </p:cNvSpPr>
          <p:nvPr>
            <p:ph type="sldNum" sz="quarter" idx="10"/>
          </p:nvPr>
        </p:nvSpPr>
        <p:spPr/>
        <p:txBody>
          <a:bodyPr/>
          <a:lstStyle/>
          <a:p>
            <a:fld id="{7ADBEDFB-B7A2-4A8A-8F83-C1DB50AF176D}" type="slidenum">
              <a:rPr lang="en-US" smtClean="0"/>
              <a:t>14</a:t>
            </a:fld>
            <a:endParaRPr lang="en-US"/>
          </a:p>
        </p:txBody>
      </p:sp>
    </p:spTree>
    <p:extLst>
      <p:ext uri="{BB962C8B-B14F-4D97-AF65-F5344CB8AC3E}">
        <p14:creationId xmlns:p14="http://schemas.microsoft.com/office/powerpoint/2010/main" val="111773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15</a:t>
            </a:fld>
            <a:endParaRPr lang="en-US"/>
          </a:p>
        </p:txBody>
      </p:sp>
    </p:spTree>
    <p:extLst>
      <p:ext uri="{BB962C8B-B14F-4D97-AF65-F5344CB8AC3E}">
        <p14:creationId xmlns:p14="http://schemas.microsoft.com/office/powerpoint/2010/main" val="1681684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16</a:t>
            </a:fld>
            <a:endParaRPr lang="en-US"/>
          </a:p>
        </p:txBody>
      </p:sp>
    </p:spTree>
    <p:extLst>
      <p:ext uri="{BB962C8B-B14F-4D97-AF65-F5344CB8AC3E}">
        <p14:creationId xmlns:p14="http://schemas.microsoft.com/office/powerpoint/2010/main" val="1093741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also</a:t>
            </a:r>
            <a:r>
              <a:rPr lang="en-US" baseline="0" dirty="0"/>
              <a:t> said ‘What else is the help of medicine than love?”</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23</a:t>
            </a:fld>
            <a:endParaRPr lang="en-US"/>
          </a:p>
        </p:txBody>
      </p:sp>
    </p:spTree>
    <p:extLst>
      <p:ext uri="{BB962C8B-B14F-4D97-AF65-F5344CB8AC3E}">
        <p14:creationId xmlns:p14="http://schemas.microsoft.com/office/powerpoint/2010/main" val="3430759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40</a:t>
            </a:fld>
            <a:endParaRPr lang="en-US"/>
          </a:p>
        </p:txBody>
      </p:sp>
    </p:spTree>
    <p:extLst>
      <p:ext uri="{BB962C8B-B14F-4D97-AF65-F5344CB8AC3E}">
        <p14:creationId xmlns:p14="http://schemas.microsoft.com/office/powerpoint/2010/main" val="2742374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41</a:t>
            </a:fld>
            <a:endParaRPr lang="en-US"/>
          </a:p>
        </p:txBody>
      </p:sp>
    </p:spTree>
    <p:extLst>
      <p:ext uri="{BB962C8B-B14F-4D97-AF65-F5344CB8AC3E}">
        <p14:creationId xmlns:p14="http://schemas.microsoft.com/office/powerpoint/2010/main" val="1968115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45</a:t>
            </a:fld>
            <a:endParaRPr lang="en-US"/>
          </a:p>
        </p:txBody>
      </p:sp>
    </p:spTree>
    <p:extLst>
      <p:ext uri="{BB962C8B-B14F-4D97-AF65-F5344CB8AC3E}">
        <p14:creationId xmlns:p14="http://schemas.microsoft.com/office/powerpoint/2010/main" val="3522760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eaLnBrk="1" hangingPunct="1"/>
            <a:r>
              <a:rPr lang="en-US" altLang="en-US" sz="2800" dirty="0"/>
              <a:t>Bioavailability may be altered:</a:t>
            </a:r>
          </a:p>
          <a:p>
            <a:pPr lvl="2" algn="just" eaLnBrk="1" hangingPunct="1"/>
            <a:r>
              <a:rPr lang="en-US" altLang="en-US" sz="2800" dirty="0"/>
              <a:t>By low lipid solubility of the drug</a:t>
            </a:r>
          </a:p>
          <a:p>
            <a:pPr lvl="2" algn="just" eaLnBrk="1" hangingPunct="1"/>
            <a:r>
              <a:rPr lang="en-US" altLang="en-US" sz="2800" dirty="0"/>
              <a:t>If drug is destroyed by the acid in the stomach (e.g. </a:t>
            </a:r>
            <a:r>
              <a:rPr lang="en-US" altLang="en-US" sz="2800" dirty="0" err="1"/>
              <a:t>X’Pen</a:t>
            </a:r>
            <a:r>
              <a:rPr lang="en-US" altLang="en-US" sz="2800" dirty="0"/>
              <a:t>).</a:t>
            </a:r>
          </a:p>
          <a:p>
            <a:pPr lvl="2" algn="just" eaLnBrk="1" hangingPunct="1"/>
            <a:r>
              <a:rPr lang="en-US" altLang="en-US" sz="2800" dirty="0"/>
              <a:t>By the presence of food in the G.I.T.</a:t>
            </a:r>
          </a:p>
          <a:p>
            <a:pPr lvl="2" algn="just" eaLnBrk="1" hangingPunct="1"/>
            <a:r>
              <a:rPr lang="en-US" altLang="en-US" sz="2800" dirty="0"/>
              <a:t>Co-administration with other drugs. </a:t>
            </a:r>
          </a:p>
          <a:p>
            <a:pPr lvl="4" algn="just" eaLnBrk="1" hangingPunct="1"/>
            <a:r>
              <a:rPr lang="en-US" altLang="en-US" sz="2800" dirty="0"/>
              <a:t>e.g. Heavy metals in antacids can reduce the absorption of quinolones (e.g. Ciprofloxacin) and </a:t>
            </a:r>
            <a:r>
              <a:rPr lang="en-US" altLang="en-US" sz="2800" dirty="0" err="1"/>
              <a:t>tetracyclines</a:t>
            </a:r>
            <a:r>
              <a:rPr lang="en-US" altLang="en-US" sz="2800" dirty="0"/>
              <a:t> by binding them in the gut.</a:t>
            </a:r>
          </a:p>
          <a:p>
            <a:pPr lvl="4" algn="just" eaLnBrk="1" hangingPunct="1"/>
            <a:endParaRPr lang="en-US" altLang="en-US" sz="2800" dirty="0"/>
          </a:p>
          <a:p>
            <a:pPr algn="just" eaLnBrk="1" hangingPunct="1">
              <a:lnSpc>
                <a:spcPct val="80000"/>
              </a:lnSpc>
            </a:pPr>
            <a:r>
              <a:rPr lang="en-US" altLang="en-US" sz="2800" dirty="0"/>
              <a:t>For drugs that are susceptible to extensive first pass metabolism, a substantial portion or almost all the drug could be metabolized in the liver before it reaches the site of action. E.g. GTNT, (low oral bioavailability 0 or&lt;0.5)</a:t>
            </a:r>
          </a:p>
          <a:p>
            <a:pPr algn="just" eaLnBrk="1" hangingPunct="1">
              <a:lnSpc>
                <a:spcPct val="80000"/>
              </a:lnSpc>
            </a:pPr>
            <a:endParaRPr lang="en-US" altLang="en-US" sz="2800" dirty="0"/>
          </a:p>
          <a:p>
            <a:pPr algn="just" eaLnBrk="1" hangingPunct="1">
              <a:lnSpc>
                <a:spcPct val="80000"/>
              </a:lnSpc>
            </a:pPr>
            <a:r>
              <a:rPr lang="en-US" altLang="en-US" sz="2800" dirty="0"/>
              <a:t>Drugs with </a:t>
            </a:r>
            <a:r>
              <a:rPr lang="en-US" altLang="en-US" sz="2800" b="1" dirty="0"/>
              <a:t>very low lipid solubility </a:t>
            </a:r>
            <a:r>
              <a:rPr lang="en-US" altLang="en-US" sz="2800" dirty="0"/>
              <a:t>such as strong acids: </a:t>
            </a:r>
            <a:r>
              <a:rPr lang="en-US" altLang="en-US" sz="2800" dirty="0" err="1"/>
              <a:t>pKa</a:t>
            </a:r>
            <a:r>
              <a:rPr lang="en-US" altLang="en-US" sz="2800" dirty="0"/>
              <a:t> ≤  3 or strong bases  </a:t>
            </a:r>
            <a:r>
              <a:rPr lang="en-US" altLang="en-US" sz="2800" dirty="0" err="1"/>
              <a:t>pKa</a:t>
            </a:r>
            <a:r>
              <a:rPr lang="en-US" altLang="en-US" sz="2800" dirty="0"/>
              <a:t> ≥ 10 (</a:t>
            </a:r>
            <a:r>
              <a:rPr lang="en-US" altLang="en-US" sz="2800" dirty="0" err="1"/>
              <a:t>e.g.suxamethonium</a:t>
            </a:r>
            <a:r>
              <a:rPr lang="en-US" altLang="en-US" sz="2800" dirty="0"/>
              <a:t>); are </a:t>
            </a:r>
            <a:r>
              <a:rPr lang="en-US" altLang="en-US" sz="2800" b="1" dirty="0"/>
              <a:t>fully ionized </a:t>
            </a:r>
            <a:r>
              <a:rPr lang="en-US" altLang="en-US" sz="2800" dirty="0"/>
              <a:t>in the GIT, may not be absorbed when administered orally. </a:t>
            </a:r>
          </a:p>
          <a:p>
            <a:pPr lvl="2" algn="just" eaLnBrk="1" hangingPunct="1">
              <a:lnSpc>
                <a:spcPct val="80000"/>
              </a:lnSpc>
            </a:pPr>
            <a:r>
              <a:rPr lang="en-US" altLang="en-US" sz="2400" dirty="0"/>
              <a:t>[administer parenterally]</a:t>
            </a:r>
          </a:p>
          <a:p>
            <a:pPr marL="314325" marR="0" lvl="0"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Other highly polar molecules such as amino- glycosides and vancomycin are also poorly absorbed from the G.I. (Very low oral bioavailability).  </a:t>
            </a:r>
          </a:p>
          <a:p>
            <a:pPr marL="1209675" marR="0" lvl="2" indent="-276225" algn="just"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These drugs are usually formulated as injections.</a:t>
            </a:r>
          </a:p>
          <a:p>
            <a:pPr marL="314325" marR="0" lvl="0" indent="-314325" algn="just" defTabSz="914400" rtl="0" eaLnBrk="1" fontAlgn="base" latinLnBrk="0" hangingPunct="1">
              <a:lnSpc>
                <a:spcPct val="100000"/>
              </a:lnSpc>
              <a:spcBef>
                <a:spcPct val="20000"/>
              </a:spcBef>
              <a:spcAft>
                <a:spcPct val="0"/>
              </a:spcAft>
              <a:buClrTx/>
              <a:buSzTx/>
              <a:buFontTx/>
              <a:buBlip>
                <a:blip r:embed="rId3"/>
              </a:buBlip>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Drugs such as levodopa and others are exceptions since they are absorbed by carrier mediated mechanisms. </a:t>
            </a:r>
          </a:p>
          <a:p>
            <a:pPr lvl="4" algn="just" eaLnBrk="1" hangingPunct="1"/>
            <a:endParaRPr lang="en-US" altLang="en-US" sz="2800" dirty="0"/>
          </a:p>
          <a:p>
            <a:pPr lvl="4" algn="just" eaLnBrk="1" hangingPunct="1"/>
            <a:endParaRPr lang="en-US" altLang="en-US" sz="2800" dirty="0"/>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58</a:t>
            </a:fld>
            <a:endParaRPr lang="en-US"/>
          </a:p>
        </p:txBody>
      </p:sp>
    </p:spTree>
    <p:extLst>
      <p:ext uri="{BB962C8B-B14F-4D97-AF65-F5344CB8AC3E}">
        <p14:creationId xmlns:p14="http://schemas.microsoft.com/office/powerpoint/2010/main" val="1717509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4" algn="just" eaLnBrk="1" hangingPunct="1"/>
            <a:endParaRPr lang="en-US" altLang="en-US" sz="2800" dirty="0"/>
          </a:p>
        </p:txBody>
      </p:sp>
      <p:sp>
        <p:nvSpPr>
          <p:cNvPr id="4" name="Slide Number Placeholder 3"/>
          <p:cNvSpPr>
            <a:spLocks noGrp="1"/>
          </p:cNvSpPr>
          <p:nvPr>
            <p:ph type="sldNum" sz="quarter" idx="10"/>
          </p:nvPr>
        </p:nvSpPr>
        <p:spPr/>
        <p:txBody>
          <a:bodyPr/>
          <a:lstStyle/>
          <a:p>
            <a:fld id="{7ADBEDFB-B7A2-4A8A-8F83-C1DB50AF176D}" type="slidenum">
              <a:rPr lang="en-US" smtClean="0"/>
              <a:t>59</a:t>
            </a:fld>
            <a:endParaRPr lang="en-US"/>
          </a:p>
        </p:txBody>
      </p:sp>
    </p:spTree>
    <p:extLst>
      <p:ext uri="{BB962C8B-B14F-4D97-AF65-F5344CB8AC3E}">
        <p14:creationId xmlns:p14="http://schemas.microsoft.com/office/powerpoint/2010/main" val="2510593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64</a:t>
            </a:fld>
            <a:endParaRPr lang="en-US"/>
          </a:p>
        </p:txBody>
      </p:sp>
    </p:spTree>
    <p:extLst>
      <p:ext uri="{BB962C8B-B14F-4D97-AF65-F5344CB8AC3E}">
        <p14:creationId xmlns:p14="http://schemas.microsoft.com/office/powerpoint/2010/main" val="3626564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GraphicSabon-Roman"/>
              </a:rPr>
              <a:t>The drug with the higher affinity constant will successfully displace the drug with</a:t>
            </a:r>
          </a:p>
          <a:p>
            <a:r>
              <a:rPr lang="en-US" dirty="0">
                <a:latin typeface="GraphicSabon-Roman"/>
              </a:rPr>
              <a:t>the lower. The result is an increase in the free drug concentration of the latter. For</a:t>
            </a:r>
          </a:p>
          <a:p>
            <a:r>
              <a:rPr lang="en-US" dirty="0">
                <a:latin typeface="GraphicSabon-Roman"/>
              </a:rPr>
              <a:t>example, </a:t>
            </a:r>
            <a:r>
              <a:rPr lang="en-US" dirty="0" err="1">
                <a:latin typeface="GraphicSabon-Roman"/>
              </a:rPr>
              <a:t>tolbutamide</a:t>
            </a:r>
            <a:r>
              <a:rPr lang="en-US" dirty="0">
                <a:latin typeface="GraphicSabon-Roman"/>
              </a:rPr>
              <a:t> (an oral hypoglycemic agent used in maturity-onset </a:t>
            </a:r>
            <a:r>
              <a:rPr lang="en-US" i="1" dirty="0">
                <a:latin typeface="GraphicSabon-Italic"/>
              </a:rPr>
              <a:t>diabetes</a:t>
            </a:r>
          </a:p>
          <a:p>
            <a:r>
              <a:rPr lang="en-US" i="1" dirty="0">
                <a:latin typeface="GraphicSabon-Italic"/>
              </a:rPr>
              <a:t>mellitus</a:t>
            </a:r>
            <a:r>
              <a:rPr lang="en-US" dirty="0">
                <a:latin typeface="GraphicSabon-Roman"/>
              </a:rPr>
              <a:t>) is approximately 95 percent bound and 5 percent free</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74</a:t>
            </a:fld>
            <a:endParaRPr lang="en-US"/>
          </a:p>
        </p:txBody>
      </p:sp>
    </p:spTree>
    <p:extLst>
      <p:ext uri="{BB962C8B-B14F-4D97-AF65-F5344CB8AC3E}">
        <p14:creationId xmlns:p14="http://schemas.microsoft.com/office/powerpoint/2010/main" val="26449956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GraphicSabon-Roman"/>
              </a:rPr>
              <a:t>The drug fraction bound to plasma protein cannot diffuse, cannot be metabolized,</a:t>
            </a:r>
            <a:r>
              <a:rPr lang="en-US" baseline="0" dirty="0">
                <a:latin typeface="GraphicSabon-Roman"/>
              </a:rPr>
              <a:t> </a:t>
            </a:r>
            <a:r>
              <a:rPr lang="en-US" dirty="0">
                <a:latin typeface="GraphicSabon-Roman"/>
              </a:rPr>
              <a:t>and cannot be excreted because the molecular weight of the drug–protein complex</a:t>
            </a:r>
            <a:r>
              <a:rPr lang="en-US" baseline="0" dirty="0">
                <a:latin typeface="GraphicSabon-Roman"/>
              </a:rPr>
              <a:t> </a:t>
            </a:r>
            <a:r>
              <a:rPr lang="en-US" dirty="0">
                <a:latin typeface="GraphicSabon-Roman"/>
              </a:rPr>
              <a:t>exceeds 65,000 </a:t>
            </a:r>
            <a:r>
              <a:rPr lang="en-US" dirty="0" err="1">
                <a:latin typeface="GraphicSabon-Roman"/>
              </a:rPr>
              <a:t>daltons</a:t>
            </a:r>
            <a:r>
              <a:rPr lang="en-US" dirty="0">
                <a:latin typeface="GraphicSabon-Roman"/>
              </a:rPr>
              <a:t>. The bound fraction represents, therefore, a storage form that</a:t>
            </a:r>
            <a:r>
              <a:rPr lang="en-US" baseline="0" dirty="0">
                <a:latin typeface="GraphicSabon-Roman"/>
              </a:rPr>
              <a:t> </a:t>
            </a:r>
            <a:r>
              <a:rPr lang="en-US" dirty="0">
                <a:latin typeface="GraphicSabon-Roman"/>
              </a:rPr>
              <a:t>is released when the concentration of free drug decreases. The normal therapeutic</a:t>
            </a:r>
          </a:p>
          <a:p>
            <a:r>
              <a:rPr lang="en-US" dirty="0">
                <a:latin typeface="GraphicSabon-Roman"/>
              </a:rPr>
              <a:t>dose of a drug is determined taking this into account.</a:t>
            </a:r>
            <a:endParaRPr lang="en-US" dirty="0"/>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77</a:t>
            </a:fld>
            <a:endParaRPr lang="en-US"/>
          </a:p>
        </p:txBody>
      </p:sp>
    </p:spTree>
    <p:extLst>
      <p:ext uri="{BB962C8B-B14F-4D97-AF65-F5344CB8AC3E}">
        <p14:creationId xmlns:p14="http://schemas.microsoft.com/office/powerpoint/2010/main" val="3316224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0000"/>
                </a:solidFill>
                <a:latin typeface="GraphicSabon-Roman"/>
              </a:rPr>
              <a:t>Whether or not a drug interaction of this type is clinically significant depends on</a:t>
            </a:r>
          </a:p>
          <a:p>
            <a:r>
              <a:rPr lang="en-US" dirty="0">
                <a:solidFill>
                  <a:srgbClr val="000000"/>
                </a:solidFill>
                <a:latin typeface="GraphicSabon-Roman"/>
              </a:rPr>
              <a:t>the distribution and elimination properties of the drug affected. Competition between</a:t>
            </a:r>
          </a:p>
          <a:p>
            <a:r>
              <a:rPr lang="en-US" dirty="0">
                <a:solidFill>
                  <a:srgbClr val="000000"/>
                </a:solidFill>
                <a:latin typeface="GraphicSabon-Roman"/>
              </a:rPr>
              <a:t>two drugs for the same plasma protein binding site is fairly common. However, it is</a:t>
            </a:r>
          </a:p>
          <a:p>
            <a:r>
              <a:rPr lang="en-US" dirty="0">
                <a:solidFill>
                  <a:srgbClr val="000000"/>
                </a:solidFill>
                <a:latin typeface="GraphicSabon-Roman"/>
              </a:rPr>
              <a:t>only clinically relevant if the drugs have high protein binding, a low therapeutic</a:t>
            </a:r>
          </a:p>
          <a:p>
            <a:r>
              <a:rPr lang="en-US" dirty="0">
                <a:solidFill>
                  <a:srgbClr val="000000"/>
                </a:solidFill>
                <a:latin typeface="GraphicSabon-Roman"/>
              </a:rPr>
              <a:t>index and a relatively small volume of distribution.</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78</a:t>
            </a:fld>
            <a:endParaRPr lang="en-US"/>
          </a:p>
        </p:txBody>
      </p:sp>
    </p:spTree>
    <p:extLst>
      <p:ext uri="{BB962C8B-B14F-4D97-AF65-F5344CB8AC3E}">
        <p14:creationId xmlns:p14="http://schemas.microsoft.com/office/powerpoint/2010/main" val="21151077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2400" b="0"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Other drugs may enter </a:t>
            </a:r>
            <a:r>
              <a:rPr kumimoji="0" lang="en-US" sz="2400" b="0" i="1"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via</a:t>
            </a:r>
            <a:r>
              <a:rPr kumimoji="0" lang="en-US" sz="2400" b="0"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 </a:t>
            </a:r>
            <a:r>
              <a:rPr kumimoji="0" lang="en-US" sz="2400" b="1"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active transport </a:t>
            </a:r>
            <a:r>
              <a:rPr kumimoji="0" lang="en-US" sz="2400" b="0"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and </a:t>
            </a:r>
            <a:r>
              <a:rPr kumimoji="0" lang="en-US" sz="2400" b="1"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facilitated diffusion, </a:t>
            </a:r>
            <a:r>
              <a:rPr kumimoji="0" lang="en-US" sz="2400" b="0" i="0" u="none" strike="noStrike" kern="0" cap="none" spc="0" normalizeH="0" baseline="0" noProof="0" dirty="0">
                <a:ln>
                  <a:noFill/>
                </a:ln>
                <a:solidFill>
                  <a:srgbClr val="000000"/>
                </a:solidFill>
                <a:effectLst/>
                <a:uLnTx/>
                <a:uFillTx/>
                <a:latin typeface="Garamond" panose="02020404030301010803" pitchFamily="18" charset="0"/>
                <a:cs typeface="Arial"/>
                <a:sym typeface="Arial"/>
              </a:rPr>
              <a:t>Efflux pumps </a:t>
            </a: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83</a:t>
            </a:fld>
            <a:endParaRPr lang="en-US"/>
          </a:p>
        </p:txBody>
      </p:sp>
    </p:spTree>
    <p:extLst>
      <p:ext uri="{BB962C8B-B14F-4D97-AF65-F5344CB8AC3E}">
        <p14:creationId xmlns:p14="http://schemas.microsoft.com/office/powerpoint/2010/main" val="3748035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latin typeface="Garamond" panose="02020404030301010803" pitchFamily="18" charset="0"/>
              </a:rPr>
              <a:t>Drugs &lt; 600-800 Da</a:t>
            </a:r>
            <a:r>
              <a:rPr lang="en-US" sz="1200" dirty="0">
                <a:latin typeface="Garamond" panose="02020404030301010803" pitchFamily="18" charset="0"/>
              </a:rPr>
              <a:t> transferred easily </a:t>
            </a:r>
            <a:r>
              <a:rPr lang="en-US" sz="1200" i="1" dirty="0" err="1">
                <a:latin typeface="Garamond" panose="02020404030301010803" pitchFamily="18" charset="0"/>
              </a:rPr>
              <a:t>eg</a:t>
            </a:r>
            <a:r>
              <a:rPr lang="en-US" sz="1200" i="1" dirty="0">
                <a:latin typeface="Garamond" panose="02020404030301010803" pitchFamily="18" charset="0"/>
              </a:rPr>
              <a:t>. Alcohol, nicotine, caffeine</a:t>
            </a:r>
            <a:endParaRPr lang="en-US" sz="1200" dirty="0">
              <a:latin typeface="Garamond" panose="02020404030301010803" pitchFamily="18" charset="0"/>
            </a:endParaRP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85</a:t>
            </a:fld>
            <a:endParaRPr lang="en-US"/>
          </a:p>
        </p:txBody>
      </p:sp>
    </p:spTree>
    <p:extLst>
      <p:ext uri="{BB962C8B-B14F-4D97-AF65-F5344CB8AC3E}">
        <p14:creationId xmlns:p14="http://schemas.microsoft.com/office/powerpoint/2010/main" val="1914077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88</a:t>
            </a:fld>
            <a:endParaRPr lang="en-US"/>
          </a:p>
        </p:txBody>
      </p:sp>
    </p:spTree>
    <p:extLst>
      <p:ext uri="{BB962C8B-B14F-4D97-AF65-F5344CB8AC3E}">
        <p14:creationId xmlns:p14="http://schemas.microsoft.com/office/powerpoint/2010/main" val="4011052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400" fontAlgn="base">
              <a:lnSpc>
                <a:spcPts val="4500"/>
              </a:lnSpc>
              <a:spcBef>
                <a:spcPct val="30000"/>
              </a:spcBef>
              <a:spcAft>
                <a:spcPct val="0"/>
              </a:spcAft>
              <a:buClr>
                <a:srgbClr val="0000FF"/>
              </a:buClr>
              <a:buFontTx/>
              <a:buChar char="•"/>
            </a:pPr>
            <a:r>
              <a:rPr lang="en-US" altLang="en-US" sz="1200" dirty="0">
                <a:solidFill>
                  <a:srgbClr val="FF0000"/>
                </a:solidFill>
                <a:latin typeface="Verdana" panose="020B0604030504040204" pitchFamily="34" charset="0"/>
                <a:cs typeface="Arial" panose="020B0604020202020204" pitchFamily="34" charset="0"/>
              </a:rPr>
              <a:t>C</a:t>
            </a:r>
            <a:r>
              <a:rPr lang="en-US" altLang="en-US" sz="1200" baseline="-25000" dirty="0">
                <a:solidFill>
                  <a:srgbClr val="FF0000"/>
                </a:solidFill>
                <a:latin typeface="Verdana" panose="020B0604030504040204" pitchFamily="34" charset="0"/>
                <a:cs typeface="Arial" panose="020B0604020202020204" pitchFamily="34" charset="0"/>
              </a:rPr>
              <a:t>max </a:t>
            </a:r>
            <a:r>
              <a:rPr lang="en-US" altLang="en-US" sz="1200" baseline="-25000" dirty="0">
                <a:solidFill>
                  <a:srgbClr val="000000"/>
                </a:solidFill>
                <a:latin typeface="Verdana" panose="020B0604030504040204" pitchFamily="34" charset="0"/>
                <a:cs typeface="Arial" panose="020B0604020202020204" pitchFamily="34" charset="0"/>
              </a:rPr>
              <a:t> </a:t>
            </a:r>
            <a:r>
              <a:rPr lang="en-US" altLang="en-US" sz="1200" dirty="0">
                <a:solidFill>
                  <a:srgbClr val="000000"/>
                </a:solidFill>
                <a:latin typeface="Verdana" panose="020B0604030504040204" pitchFamily="34" charset="0"/>
                <a:cs typeface="Arial" panose="020B0604020202020204" pitchFamily="34" charset="0"/>
              </a:rPr>
              <a:t>- Maximum conc. achieved in the blood</a:t>
            </a:r>
          </a:p>
          <a:p>
            <a:pPr algn="just" defTabSz="914400" fontAlgn="base">
              <a:lnSpc>
                <a:spcPts val="4500"/>
              </a:lnSpc>
              <a:spcBef>
                <a:spcPct val="30000"/>
              </a:spcBef>
              <a:spcAft>
                <a:spcPct val="0"/>
              </a:spcAft>
              <a:buClr>
                <a:srgbClr val="0000FF"/>
              </a:buClr>
              <a:buFontTx/>
              <a:buChar char="•"/>
            </a:pPr>
            <a:r>
              <a:rPr lang="en-US" altLang="en-US" sz="1200" dirty="0" err="1">
                <a:solidFill>
                  <a:srgbClr val="FF0000"/>
                </a:solidFill>
                <a:latin typeface="Verdana" panose="020B0604030504040204" pitchFamily="34" charset="0"/>
                <a:cs typeface="Arial" panose="020B0604020202020204" pitchFamily="34" charset="0"/>
              </a:rPr>
              <a:t>T</a:t>
            </a:r>
            <a:r>
              <a:rPr lang="en-US" altLang="en-US" sz="1200" baseline="-25000" dirty="0" err="1">
                <a:solidFill>
                  <a:srgbClr val="FF0000"/>
                </a:solidFill>
                <a:latin typeface="Verdana" panose="020B0604030504040204" pitchFamily="34" charset="0"/>
                <a:cs typeface="Arial" panose="020B0604020202020204" pitchFamily="34" charset="0"/>
              </a:rPr>
              <a:t>max</a:t>
            </a:r>
            <a:r>
              <a:rPr lang="en-US" altLang="en-US" sz="1200" baseline="-25000" dirty="0">
                <a:solidFill>
                  <a:srgbClr val="FF0000"/>
                </a:solidFill>
                <a:latin typeface="Verdana" panose="020B0604030504040204" pitchFamily="34" charset="0"/>
                <a:cs typeface="Arial" panose="020B0604020202020204" pitchFamily="34" charset="0"/>
              </a:rPr>
              <a:t> </a:t>
            </a:r>
            <a:r>
              <a:rPr lang="en-US" altLang="en-US" sz="1200" baseline="-25000" dirty="0">
                <a:solidFill>
                  <a:srgbClr val="000000"/>
                </a:solidFill>
                <a:latin typeface="Verdana" panose="020B0604030504040204" pitchFamily="34" charset="0"/>
                <a:cs typeface="Arial" panose="020B0604020202020204" pitchFamily="34" charset="0"/>
              </a:rPr>
              <a:t> </a:t>
            </a:r>
            <a:r>
              <a:rPr lang="en-US" altLang="en-US" sz="1200" dirty="0">
                <a:solidFill>
                  <a:srgbClr val="000000"/>
                </a:solidFill>
                <a:latin typeface="Verdana" panose="020B0604030504040204" pitchFamily="34" charset="0"/>
                <a:cs typeface="Arial" panose="020B0604020202020204" pitchFamily="34" charset="0"/>
              </a:rPr>
              <a:t>- Time taken to attain maximum conc.</a:t>
            </a: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89</a:t>
            </a:fld>
            <a:endParaRPr lang="en-US"/>
          </a:p>
        </p:txBody>
      </p:sp>
    </p:spTree>
    <p:extLst>
      <p:ext uri="{BB962C8B-B14F-4D97-AF65-F5344CB8AC3E}">
        <p14:creationId xmlns:p14="http://schemas.microsoft.com/office/powerpoint/2010/main" val="1167639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 metabolism is an important aspect of pharmacology and medicine.</a:t>
            </a:r>
          </a:p>
          <a:p>
            <a:pPr marL="171450" indent="-171450">
              <a:buFontTx/>
              <a:buChar char="-"/>
            </a:pPr>
            <a:r>
              <a:rPr lang="en-US" baseline="0" dirty="0"/>
              <a:t>The rate of drug metabolism determines duration and intensity of a drug’s pharmacological action</a:t>
            </a:r>
          </a:p>
          <a:p>
            <a:pPr marL="171450" indent="-171450">
              <a:buFontTx/>
              <a:buChar char="-"/>
            </a:pPr>
            <a:r>
              <a:rPr lang="en-US" baseline="0" dirty="0"/>
              <a:t>Drug metabolism affects multidrug resistance in infectious disease and in chemotherapy of cancer</a:t>
            </a:r>
          </a:p>
          <a:p>
            <a:pPr marL="171450" indent="-171450">
              <a:buFontTx/>
              <a:buChar char="-"/>
            </a:pPr>
            <a:r>
              <a:rPr lang="en-US" baseline="0" dirty="0"/>
              <a:t>Action of some drugs as substrates or inhibitors of enzymes involved in xenobiotic metabolism are a common reason for hazardous drug interactions. </a:t>
            </a:r>
          </a:p>
        </p:txBody>
      </p:sp>
      <p:sp>
        <p:nvSpPr>
          <p:cNvPr id="4" name="Slide Number Placeholder 3"/>
          <p:cNvSpPr>
            <a:spLocks noGrp="1"/>
          </p:cNvSpPr>
          <p:nvPr>
            <p:ph type="sldNum" sz="quarter" idx="10"/>
          </p:nvPr>
        </p:nvSpPr>
        <p:spPr/>
        <p:txBody>
          <a:bodyPr/>
          <a:lstStyle/>
          <a:p>
            <a:fld id="{7ADBEDFB-B7A2-4A8A-8F83-C1DB50AF176D}" type="slidenum">
              <a:rPr lang="en-US" smtClean="0"/>
              <a:t>92</a:t>
            </a:fld>
            <a:endParaRPr lang="en-US"/>
          </a:p>
        </p:txBody>
      </p:sp>
    </p:spTree>
    <p:extLst>
      <p:ext uri="{BB962C8B-B14F-4D97-AF65-F5344CB8AC3E}">
        <p14:creationId xmlns:p14="http://schemas.microsoft.com/office/powerpoint/2010/main" val="1182322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liver has been called the chemical factory of the body</a:t>
            </a:r>
            <a:r>
              <a:rPr lang="aa-ET"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and indeed it is an organ whose function is to breakdown and synthetize compounds, xenobiotics included. Most drug-metabolizing enzymes are expressed in the liver, and at comparatively high levels. When introducing drug-metabolizing organs of secondary or tertiary importance, it becomes important to consider these two criteria namely a) the variety of enzymes expressed, and b) the levels of expression. To visualize the two criteria, one can just think of a histogram with each enzyme being a bin. In the liver, most bins are occupied, and at relatively high levels. The organs and tissues of secondary importance (bold in the Figure)either express most xenobiotic-metabolizing enzymes at comparatively lower levels (e.g., the brain), or express a limited number of enzymes at relatively high levels (e.g., blood and the kidneys). Tissues and organs of tertiaryimportanceexpressloworverylowlevelsofxenobiotic-metabolizingenzymes. However, their significance should not be underestimated, since they may be involved in the bioactivation or toxification of a few specific substrates. Taken globally, the list in this Figure includes almost all organs, a notable exception being the ossified organs (bones and teeth) whose xenobiotic-metabolizing activity appears all but impossible to investigate. </a:t>
            </a:r>
            <a:endParaRPr lang="en-GB" dirty="0"/>
          </a:p>
          <a:p>
            <a:endParaRPr lang="aa-ET" dirty="0"/>
          </a:p>
        </p:txBody>
      </p:sp>
      <p:sp>
        <p:nvSpPr>
          <p:cNvPr id="4" name="Slide Number Placeholder 3"/>
          <p:cNvSpPr>
            <a:spLocks noGrp="1"/>
          </p:cNvSpPr>
          <p:nvPr>
            <p:ph type="sldNum" sz="quarter" idx="5"/>
          </p:nvPr>
        </p:nvSpPr>
        <p:spPr/>
        <p:txBody>
          <a:bodyPr/>
          <a:lstStyle/>
          <a:p>
            <a:fld id="{7ADBEDFB-B7A2-4A8A-8F83-C1DB50AF176D}" type="slidenum">
              <a:rPr lang="en-US" smtClean="0"/>
              <a:t>94</a:t>
            </a:fld>
            <a:endParaRPr lang="en-US"/>
          </a:p>
        </p:txBody>
      </p:sp>
    </p:spTree>
    <p:extLst>
      <p:ext uri="{BB962C8B-B14F-4D97-AF65-F5344CB8AC3E}">
        <p14:creationId xmlns:p14="http://schemas.microsoft.com/office/powerpoint/2010/main" val="1424907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a-ET" dirty="0"/>
              <a:t>Xenobiotic metabolism is a set of metabolic pathways that modify chemical structure of xenobiotics (Cpds foreign to an organism’s normal biochemistry, such as drug or poison)</a:t>
            </a: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95</a:t>
            </a:fld>
            <a:endParaRPr lang="en-US"/>
          </a:p>
        </p:txBody>
      </p:sp>
    </p:spTree>
    <p:extLst>
      <p:ext uri="{BB962C8B-B14F-4D97-AF65-F5344CB8AC3E}">
        <p14:creationId xmlns:p14="http://schemas.microsoft.com/office/powerpoint/2010/main" val="35502270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101</a:t>
            </a:fld>
            <a:endParaRPr lang="en-US"/>
          </a:p>
        </p:txBody>
      </p:sp>
    </p:spTree>
    <p:extLst>
      <p:ext uri="{BB962C8B-B14F-4D97-AF65-F5344CB8AC3E}">
        <p14:creationId xmlns:p14="http://schemas.microsoft.com/office/powerpoint/2010/main" val="30971510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Garamond" panose="02020404030301010803" pitchFamily="18" charset="0"/>
              </a:rPr>
              <a:t>UDP-glucuronosyltransferases</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115</a:t>
            </a:fld>
            <a:endParaRPr lang="en-US"/>
          </a:p>
        </p:txBody>
      </p:sp>
    </p:spTree>
    <p:extLst>
      <p:ext uri="{BB962C8B-B14F-4D97-AF65-F5344CB8AC3E}">
        <p14:creationId xmlns:p14="http://schemas.microsoft.com/office/powerpoint/2010/main" val="22457139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Propranolol(1),the first beta-blocking drug, is extensively metabolized in humans (&gt;90% of an oral dose) [45]. Its major human metabolites are presented here to illustrate the concept and potential complexity of a metabolic tree. The primary metabolites of propranolol (1) are its O-glucuronide, the primary amine 10 resulting from oxidative O-dealkylation, the aldehyde 11 formed by a reaction of oxidative deamination which also liberates </a:t>
            </a:r>
            <a:r>
              <a:rPr lang="en-GB" sz="1200" kern="1200" dirty="0" err="1">
                <a:solidFill>
                  <a:schemeClr val="tx1"/>
                </a:solidFill>
                <a:effectLst/>
                <a:latin typeface="+mn-lt"/>
                <a:ea typeface="+mn-ea"/>
                <a:cs typeface="+mn-cs"/>
              </a:rPr>
              <a:t>isopropylamine</a:t>
            </a:r>
            <a:r>
              <a:rPr lang="en-GB" sz="1200" kern="1200" dirty="0">
                <a:solidFill>
                  <a:schemeClr val="tx1"/>
                </a:solidFill>
                <a:effectLst/>
                <a:latin typeface="+mn-lt"/>
                <a:ea typeface="+mn-ea"/>
                <a:cs typeface="+mn-cs"/>
              </a:rPr>
              <a:t> (12), and the phenol 4-hydroxypro- </a:t>
            </a:r>
            <a:r>
              <a:rPr lang="en-GB" sz="1200" kern="1200" dirty="0" err="1">
                <a:solidFill>
                  <a:schemeClr val="tx1"/>
                </a:solidFill>
                <a:effectLst/>
                <a:latin typeface="+mn-lt"/>
                <a:ea typeface="+mn-ea"/>
                <a:cs typeface="+mn-cs"/>
              </a:rPr>
              <a:t>pranolol</a:t>
            </a:r>
            <a:r>
              <a:rPr lang="en-GB" sz="1200" kern="1200" dirty="0">
                <a:solidFill>
                  <a:schemeClr val="tx1"/>
                </a:solidFill>
                <a:effectLst/>
                <a:latin typeface="+mn-lt"/>
                <a:ea typeface="+mn-ea"/>
                <a:cs typeface="+mn-cs"/>
              </a:rPr>
              <a:t> (13); minor positional isomers of 13 have also been characterized in humans. Note that the aldehyde 11 is also a secondary metabolite formed from the primary amine 10. All the oxidative reactions so far are </a:t>
            </a:r>
            <a:r>
              <a:rPr lang="en-GB" sz="1200" kern="1200" dirty="0" err="1">
                <a:solidFill>
                  <a:schemeClr val="tx1"/>
                </a:solidFill>
                <a:effectLst/>
                <a:latin typeface="+mn-lt"/>
                <a:ea typeface="+mn-ea"/>
                <a:cs typeface="+mn-cs"/>
              </a:rPr>
              <a:t>catalyzed</a:t>
            </a:r>
            <a:r>
              <a:rPr lang="en-GB" sz="1200" kern="1200" dirty="0">
                <a:solidFill>
                  <a:schemeClr val="tx1"/>
                </a:solidFill>
                <a:effectLst/>
                <a:latin typeface="+mn-lt"/>
                <a:ea typeface="+mn-ea"/>
                <a:cs typeface="+mn-cs"/>
              </a:rPr>
              <a:t> by cytochromes P450 (CYPs, see Part 2). Secondary metabolites are the primary alcohol 21 and the carboxylic acid 22 formed from the aldehyde 11 by alcohol dehydrogenases and aldehyde dehydrogenases, respectively (see Part 2). Other secondary metabolites are the phenol 20 and isomeric phenols 23. Tertiary metabolites include the two phenols 31 and 32, and the minor a-</a:t>
            </a:r>
            <a:r>
              <a:rPr lang="en-GB" sz="1200" kern="1200" dirty="0" err="1">
                <a:solidFill>
                  <a:schemeClr val="tx1"/>
                </a:solidFill>
                <a:effectLst/>
                <a:latin typeface="+mn-lt"/>
                <a:ea typeface="+mn-ea"/>
                <a:cs typeface="+mn-cs"/>
              </a:rPr>
              <a:t>naphthoxy</a:t>
            </a:r>
            <a:r>
              <a:rPr lang="en-GB" sz="1200" kern="1200" dirty="0">
                <a:solidFill>
                  <a:schemeClr val="tx1"/>
                </a:solidFill>
                <a:effectLst/>
                <a:latin typeface="+mn-lt"/>
                <a:ea typeface="+mn-ea"/>
                <a:cs typeface="+mn-cs"/>
              </a:rPr>
              <a:t> acetic acid metabolite formed by oxidative chain-shortening. Many of these metabolites are also excreted as the O-glucuronide and the O-</a:t>
            </a:r>
            <a:r>
              <a:rPr lang="en-GB" sz="1200" kern="1200" dirty="0" err="1">
                <a:solidFill>
                  <a:schemeClr val="tx1"/>
                </a:solidFill>
                <a:effectLst/>
                <a:latin typeface="+mn-lt"/>
                <a:ea typeface="+mn-ea"/>
                <a:cs typeface="+mn-cs"/>
              </a:rPr>
              <a:t>sulfate</a:t>
            </a:r>
            <a:r>
              <a:rPr lang="en-GB" sz="1200" kern="1200" dirty="0">
                <a:solidFill>
                  <a:schemeClr val="tx1"/>
                </a:solidFill>
                <a:effectLst/>
                <a:latin typeface="+mn-lt"/>
                <a:ea typeface="+mn-ea"/>
                <a:cs typeface="+mn-cs"/>
              </a:rPr>
              <a:t> </a:t>
            </a:r>
            <a:endParaRPr lang="en-GB" dirty="0"/>
          </a:p>
          <a:p>
            <a:endParaRPr lang="aa-ET" dirty="0"/>
          </a:p>
        </p:txBody>
      </p:sp>
      <p:sp>
        <p:nvSpPr>
          <p:cNvPr id="4" name="Slide Number Placeholder 3"/>
          <p:cNvSpPr>
            <a:spLocks noGrp="1"/>
          </p:cNvSpPr>
          <p:nvPr>
            <p:ph type="sldNum" sz="quarter" idx="5"/>
          </p:nvPr>
        </p:nvSpPr>
        <p:spPr/>
        <p:txBody>
          <a:bodyPr/>
          <a:lstStyle/>
          <a:p>
            <a:fld id="{7ADBEDFB-B7A2-4A8A-8F83-C1DB50AF176D}" type="slidenum">
              <a:rPr lang="en-US" smtClean="0"/>
              <a:t>118</a:t>
            </a:fld>
            <a:endParaRPr lang="en-US"/>
          </a:p>
        </p:txBody>
      </p:sp>
    </p:spTree>
    <p:extLst>
      <p:ext uri="{BB962C8B-B14F-4D97-AF65-F5344CB8AC3E}">
        <p14:creationId xmlns:p14="http://schemas.microsoft.com/office/powerpoint/2010/main" val="3555307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latin typeface="Garamond" panose="02020404030301010803" pitchFamily="18" charset="0"/>
              </a:rPr>
              <a:t>Chronic alcohol intake</a:t>
            </a:r>
            <a:r>
              <a:rPr lang="en-US" sz="1200" dirty="0">
                <a:latin typeface="Garamond" panose="02020404030301010803" pitchFamily="18" charset="0"/>
              </a:rPr>
              <a:t> induces CYP2E1, enhances the </a:t>
            </a:r>
            <a:r>
              <a:rPr lang="en-US" sz="1200" dirty="0" err="1">
                <a:latin typeface="Garamond" panose="02020404030301010803" pitchFamily="18" charset="0"/>
              </a:rPr>
              <a:t>toxication</a:t>
            </a:r>
            <a:r>
              <a:rPr lang="en-US" sz="1200" dirty="0">
                <a:latin typeface="Garamond" panose="02020404030301010803" pitchFamily="18" charset="0"/>
              </a:rPr>
              <a:t> route (increased NAPQI) and eventually causes liver damage.</a:t>
            </a:r>
          </a:p>
          <a:p>
            <a:r>
              <a:rPr lang="en-US" sz="1200" dirty="0">
                <a:latin typeface="Garamond" panose="02020404030301010803" pitchFamily="18" charset="0"/>
              </a:rPr>
              <a:t>Regular intake of paracetamol during  fasting or chronic ethanol intake </a:t>
            </a:r>
            <a:r>
              <a:rPr lang="en-US" sz="1200" b="1" dirty="0">
                <a:solidFill>
                  <a:srgbClr val="C00000"/>
                </a:solidFill>
                <a:latin typeface="Garamond" panose="02020404030301010803" pitchFamily="18" charset="0"/>
              </a:rPr>
              <a:t>should be avoided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2060"/>
                </a:solidFill>
                <a:latin typeface="Garamond" panose="02020404030301010803" pitchFamily="18" charset="0"/>
              </a:rPr>
              <a:t>N-acetylcysteine (precursor for glutathione) </a:t>
            </a:r>
            <a:r>
              <a:rPr lang="en-US" sz="1200" dirty="0">
                <a:latin typeface="Garamond" panose="02020404030301010803" pitchFamily="18" charset="0"/>
              </a:rPr>
              <a:t>is the antidote for acetaminophen poisoning. It reacts with the electrophile (NAPQI)</a:t>
            </a: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123</a:t>
            </a:fld>
            <a:endParaRPr lang="en-US"/>
          </a:p>
        </p:txBody>
      </p:sp>
    </p:spTree>
    <p:extLst>
      <p:ext uri="{BB962C8B-B14F-4D97-AF65-F5344CB8AC3E}">
        <p14:creationId xmlns:p14="http://schemas.microsoft.com/office/powerpoint/2010/main" val="27017438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GraphicSabon-Roman"/>
              </a:rPr>
              <a:t>In order for a drug or its metabolite(s) to be completely eliminated from the body it must undergo excretion as well as metabolism. </a:t>
            </a:r>
          </a:p>
          <a:p>
            <a:pPr algn="just"/>
            <a:r>
              <a:rPr lang="en-US" sz="1200" dirty="0">
                <a:latin typeface="GraphicSabon-Roman"/>
              </a:rPr>
              <a:t>The renal processes operating to modify the blood level of a drug include </a:t>
            </a:r>
          </a:p>
          <a:p>
            <a:pPr marL="342900" indent="-342900" algn="just">
              <a:buAutoNum type="arabicParenBoth"/>
            </a:pPr>
            <a:r>
              <a:rPr lang="en-US" sz="1200" dirty="0">
                <a:latin typeface="GraphicSabon-Roman"/>
              </a:rPr>
              <a:t>glomerular filtration; (2) tubular secretion; and (3) tubular reabsorption.</a:t>
            </a:r>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125</a:t>
            </a:fld>
            <a:endParaRPr lang="en-US"/>
          </a:p>
        </p:txBody>
      </p:sp>
    </p:spTree>
    <p:extLst>
      <p:ext uri="{BB962C8B-B14F-4D97-AF65-F5344CB8AC3E}">
        <p14:creationId xmlns:p14="http://schemas.microsoft.com/office/powerpoint/2010/main" val="13630588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most drugs</a:t>
            </a:r>
          </a:p>
          <a:p>
            <a:r>
              <a:rPr lang="en-US" sz="1200" b="0" i="0" u="none" strike="noStrike" kern="1200" baseline="0" dirty="0">
                <a:solidFill>
                  <a:schemeClr val="tx1"/>
                </a:solidFill>
                <a:latin typeface="+mn-lt"/>
                <a:ea typeface="+mn-ea"/>
                <a:cs typeface="+mn-cs"/>
              </a:rPr>
              <a:t>reabsorption is a passive process that is influenced by the lipid solubility of the drug,</a:t>
            </a:r>
          </a:p>
          <a:p>
            <a:r>
              <a:rPr lang="en-US" sz="1200" b="0" i="0" u="none" strike="noStrike" kern="1200" baseline="0" dirty="0">
                <a:solidFill>
                  <a:schemeClr val="tx1"/>
                </a:solidFill>
                <a:latin typeface="+mn-lt"/>
                <a:ea typeface="+mn-ea"/>
                <a:cs typeface="+mn-cs"/>
              </a:rPr>
              <a:t>the </a:t>
            </a:r>
            <a:r>
              <a:rPr lang="en-US" sz="1200" b="0" i="0" u="none" strike="noStrike" kern="1200" baseline="0" dirty="0" err="1">
                <a:solidFill>
                  <a:schemeClr val="tx1"/>
                </a:solidFill>
                <a:latin typeface="+mn-lt"/>
                <a:ea typeface="+mn-ea"/>
                <a:cs typeface="+mn-cs"/>
              </a:rPr>
              <a:t>p</a:t>
            </a:r>
            <a:r>
              <a:rPr lang="en-US" sz="1200" b="0" i="1" u="none" strike="noStrike" kern="1200" baseline="0" dirty="0" err="1">
                <a:solidFill>
                  <a:schemeClr val="tx1"/>
                </a:solidFill>
                <a:latin typeface="+mn-lt"/>
                <a:ea typeface="+mn-ea"/>
                <a:cs typeface="+mn-cs"/>
              </a:rPr>
              <a:t>K</a:t>
            </a:r>
            <a:r>
              <a:rPr lang="en-US" sz="1200" b="0" i="0" u="none" strike="noStrike" kern="1200" baseline="0" dirty="0" err="1">
                <a:solidFill>
                  <a:schemeClr val="tx1"/>
                </a:solidFill>
                <a:latin typeface="+mn-lt"/>
                <a:ea typeface="+mn-ea"/>
                <a:cs typeface="+mn-cs"/>
              </a:rPr>
              <a:t>a</a:t>
            </a:r>
            <a:r>
              <a:rPr lang="en-US" sz="1200" b="0" i="0" u="none" strike="noStrike" kern="1200" baseline="0" dirty="0">
                <a:solidFill>
                  <a:schemeClr val="tx1"/>
                </a:solidFill>
                <a:latin typeface="+mn-lt"/>
                <a:ea typeface="+mn-ea"/>
                <a:cs typeface="+mn-cs"/>
              </a:rPr>
              <a:t> of the drug, and the pH of the urine. Lipophilic drugs, which are well</a:t>
            </a:r>
          </a:p>
          <a:p>
            <a:r>
              <a:rPr lang="en-US" sz="1200" b="0" i="0" u="none" strike="noStrike" kern="1200" baseline="0" dirty="0">
                <a:solidFill>
                  <a:schemeClr val="tx1"/>
                </a:solidFill>
                <a:latin typeface="+mn-lt"/>
                <a:ea typeface="+mn-ea"/>
                <a:cs typeface="+mn-cs"/>
              </a:rPr>
              <a:t>absorbed in the GI tract, are also generally reabsorbed across the tubule epithelium.</a:t>
            </a:r>
          </a:p>
          <a:p>
            <a:r>
              <a:rPr lang="en-US" sz="1200" b="0" i="0" u="none" strike="noStrike" kern="1200" baseline="0" dirty="0">
                <a:solidFill>
                  <a:schemeClr val="tx1"/>
                </a:solidFill>
                <a:latin typeface="+mn-lt"/>
                <a:ea typeface="+mn-ea"/>
                <a:cs typeface="+mn-cs"/>
              </a:rPr>
              <a:t>Conversely, hydrophilic drugs, which are poorly absorbed orally, are also reabsorbed</a:t>
            </a:r>
          </a:p>
          <a:p>
            <a:r>
              <a:rPr lang="en-US" sz="1200" b="0" i="0" u="none" strike="noStrike" kern="1200" baseline="0" dirty="0">
                <a:solidFill>
                  <a:schemeClr val="tx1"/>
                </a:solidFill>
                <a:latin typeface="+mn-lt"/>
                <a:ea typeface="+mn-ea"/>
                <a:cs typeface="+mn-cs"/>
              </a:rPr>
              <a:t>poorly and are therefore more readily excreted in the urine. If urine flow increases, the time that a drug is exposed to the </a:t>
            </a:r>
            <a:r>
              <a:rPr lang="en-US" sz="1200" b="0" i="0" u="none" strike="noStrike" kern="1200" baseline="0" dirty="0" err="1">
                <a:solidFill>
                  <a:schemeClr val="tx1"/>
                </a:solidFill>
                <a:latin typeface="+mn-lt"/>
                <a:ea typeface="+mn-ea"/>
                <a:cs typeface="+mn-cs"/>
              </a:rPr>
              <a:t>reabsorptive</a:t>
            </a:r>
            <a:r>
              <a:rPr lang="en-US" sz="1200" b="0" i="0" u="none" strike="noStrike" kern="1200" baseline="0" dirty="0">
                <a:solidFill>
                  <a:schemeClr val="tx1"/>
                </a:solidFill>
                <a:latin typeface="+mn-lt"/>
                <a:ea typeface="+mn-ea"/>
                <a:cs typeface="+mn-cs"/>
              </a:rPr>
              <a:t> surface</a:t>
            </a:r>
          </a:p>
          <a:p>
            <a:r>
              <a:rPr lang="en-US" sz="1200" b="0" i="0" u="none" strike="noStrike" kern="1200" baseline="0" dirty="0">
                <a:solidFill>
                  <a:schemeClr val="tx1"/>
                </a:solidFill>
                <a:latin typeface="+mn-lt"/>
                <a:ea typeface="+mn-ea"/>
                <a:cs typeface="+mn-cs"/>
              </a:rPr>
              <a:t>of the kidney is decreased. This principle forms the basis for the treatment of certain</a:t>
            </a:r>
          </a:p>
          <a:p>
            <a:r>
              <a:rPr lang="en-US" sz="1200" b="0" i="0" u="none" strike="noStrike" kern="1200" baseline="0" dirty="0">
                <a:solidFill>
                  <a:schemeClr val="tx1"/>
                </a:solidFill>
                <a:latin typeface="+mn-lt"/>
                <a:ea typeface="+mn-ea"/>
                <a:cs typeface="+mn-cs"/>
              </a:rPr>
              <a:t>extreme cases of acute drug overdose. In these situations patients undergo forced</a:t>
            </a:r>
          </a:p>
          <a:p>
            <a:r>
              <a:rPr lang="en-US" sz="1200" b="0" i="0" u="none" strike="noStrike" kern="1200" baseline="0" dirty="0">
                <a:solidFill>
                  <a:schemeClr val="tx1"/>
                </a:solidFill>
                <a:latin typeface="+mn-lt"/>
                <a:ea typeface="+mn-ea"/>
                <a:cs typeface="+mn-cs"/>
              </a:rPr>
              <a:t>diuresis with large volumes of fluid in order to accelerate drug clearance (e.g.,</a:t>
            </a:r>
          </a:p>
          <a:p>
            <a:r>
              <a:rPr lang="en-US" sz="1200" b="0" i="0" u="none" strike="noStrike" kern="1200" baseline="0" dirty="0" err="1">
                <a:solidFill>
                  <a:schemeClr val="tx1"/>
                </a:solidFill>
                <a:latin typeface="+mn-lt"/>
                <a:ea typeface="+mn-ea"/>
                <a:cs typeface="+mn-cs"/>
              </a:rPr>
              <a:t>meprobamate</a:t>
            </a:r>
            <a:r>
              <a:rPr lang="en-US" sz="1200" b="0" i="0" u="none" strike="noStrike" kern="1200" baseline="0" dirty="0">
                <a:solidFill>
                  <a:schemeClr val="tx1"/>
                </a:solidFill>
                <a:latin typeface="+mn-lt"/>
                <a:ea typeface="+mn-ea"/>
                <a:cs typeface="+mn-cs"/>
              </a:rPr>
              <a:t> poisoning). The effect of urinary pH on drug ionization also has toxicological implications.</a:t>
            </a:r>
          </a:p>
          <a:p>
            <a:r>
              <a:rPr lang="en-US" sz="1200" b="0" i="0" u="none" strike="noStrike" kern="1200" baseline="0" dirty="0">
                <a:solidFill>
                  <a:schemeClr val="tx1"/>
                </a:solidFill>
                <a:latin typeface="+mn-lt"/>
                <a:ea typeface="+mn-ea"/>
                <a:cs typeface="+mn-cs"/>
              </a:rPr>
              <a:t>For example, in cases of phenobarbital (a weak acid barbiturate) overdose the urine</a:t>
            </a:r>
          </a:p>
          <a:p>
            <a:r>
              <a:rPr lang="en-US" sz="1200" b="0" i="0" u="none" strike="noStrike" kern="1200" baseline="0" dirty="0">
                <a:solidFill>
                  <a:schemeClr val="tx1"/>
                </a:solidFill>
                <a:latin typeface="+mn-lt"/>
                <a:ea typeface="+mn-ea"/>
                <a:cs typeface="+mn-cs"/>
              </a:rPr>
              <a:t>can be alkalinized (the pH elevated) by administering sodium bicarbonate to the</a:t>
            </a:r>
          </a:p>
          <a:p>
            <a:r>
              <a:rPr lang="en-US" sz="1200" b="0" i="0" u="none" strike="noStrike" kern="1200" baseline="0" dirty="0">
                <a:solidFill>
                  <a:schemeClr val="tx1"/>
                </a:solidFill>
                <a:latin typeface="+mn-lt"/>
                <a:ea typeface="+mn-ea"/>
                <a:cs typeface="+mn-cs"/>
              </a:rPr>
              <a:t>patient. The resultant increase in pH shifts the dissociation equilibrium for this weak</a:t>
            </a:r>
          </a:p>
          <a:p>
            <a:r>
              <a:rPr lang="en-US" sz="1200" b="0" i="0" u="none" strike="noStrike" kern="1200" baseline="0" dirty="0">
                <a:solidFill>
                  <a:schemeClr val="tx1"/>
                </a:solidFill>
                <a:latin typeface="+mn-lt"/>
                <a:ea typeface="+mn-ea"/>
                <a:cs typeface="+mn-cs"/>
              </a:rPr>
              <a:t>acid to the right, producing an increase in the proportion of the ionized form, less</a:t>
            </a:r>
          </a:p>
          <a:p>
            <a:r>
              <a:rPr lang="en-US" sz="1200" b="0" i="0" u="none" strike="noStrike" kern="1200" baseline="0" dirty="0">
                <a:solidFill>
                  <a:schemeClr val="tx1"/>
                </a:solidFill>
                <a:latin typeface="+mn-lt"/>
                <a:ea typeface="+mn-ea"/>
                <a:cs typeface="+mn-cs"/>
              </a:rPr>
              <a:t>reabsorption in the kidneys, and more rapid elimination. Conversely, acidifying the</a:t>
            </a:r>
          </a:p>
          <a:p>
            <a:r>
              <a:rPr lang="en-US" sz="1200" b="0" i="0" u="none" strike="noStrike" kern="1200" baseline="0" dirty="0">
                <a:solidFill>
                  <a:schemeClr val="tx1"/>
                </a:solidFill>
                <a:latin typeface="+mn-lt"/>
                <a:ea typeface="+mn-ea"/>
                <a:cs typeface="+mn-cs"/>
              </a:rPr>
              <a:t>urine with ammonium chloride will increase the excretion rate of drugs that are weak</a:t>
            </a:r>
          </a:p>
          <a:p>
            <a:r>
              <a:rPr lang="en-US" sz="1200" b="0" i="0" u="none" strike="noStrike" kern="1200" baseline="0" dirty="0">
                <a:solidFill>
                  <a:schemeClr val="tx1"/>
                </a:solidFill>
                <a:latin typeface="+mn-lt"/>
                <a:ea typeface="+mn-ea"/>
                <a:cs typeface="+mn-cs"/>
              </a:rPr>
              <a:t>bases since they will be more protonated (ionized) and less reabsorbed (more polar,</a:t>
            </a:r>
          </a:p>
          <a:p>
            <a:r>
              <a:rPr lang="en-US" sz="1200" b="0" i="0" u="none" strike="noStrike" kern="1200" baseline="0" dirty="0">
                <a:solidFill>
                  <a:schemeClr val="tx1"/>
                </a:solidFill>
                <a:latin typeface="+mn-lt"/>
                <a:ea typeface="+mn-ea"/>
                <a:cs typeface="+mn-cs"/>
              </a:rPr>
              <a:t>less lipophilic).</a:t>
            </a:r>
            <a:endParaRPr lang="en-US" dirty="0"/>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126</a:t>
            </a:fld>
            <a:endParaRPr lang="en-US"/>
          </a:p>
        </p:txBody>
      </p:sp>
    </p:spTree>
    <p:extLst>
      <p:ext uri="{BB962C8B-B14F-4D97-AF65-F5344CB8AC3E}">
        <p14:creationId xmlns:p14="http://schemas.microsoft.com/office/powerpoint/2010/main" val="2960789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GraphicSabon-Roman"/>
              </a:rPr>
              <a:t>A number of drugs are eliminated partially by transport into milk during lactation.</a:t>
            </a:r>
          </a:p>
          <a:p>
            <a:r>
              <a:rPr lang="en-US" dirty="0">
                <a:latin typeface="GraphicSabon-Roman"/>
              </a:rPr>
              <a:t>For most drugs, their concentration in milk is similar to that in the mother’s circulation.</a:t>
            </a:r>
          </a:p>
          <a:p>
            <a:r>
              <a:rPr lang="en-US" dirty="0">
                <a:latin typeface="GraphicSabon-Roman"/>
              </a:rPr>
              <a:t>The usual maternal dose transferred to the infant is in the range of 0.05 to 2</a:t>
            </a:r>
          </a:p>
          <a:p>
            <a:r>
              <a:rPr lang="en-US" dirty="0">
                <a:latin typeface="GraphicSabon-Roman"/>
              </a:rPr>
              <a:t>percent. In some cases, a significant pharmacological effect can be produced in babies</a:t>
            </a:r>
          </a:p>
          <a:p>
            <a:r>
              <a:rPr lang="en-US" dirty="0">
                <a:latin typeface="GraphicSabon-Roman"/>
              </a:rPr>
              <a:t>who are breast-feeding. Among the drugs that are specifically contraindicated during</a:t>
            </a:r>
          </a:p>
          <a:p>
            <a:r>
              <a:rPr lang="en-US" dirty="0">
                <a:latin typeface="GraphicSabon-Roman"/>
              </a:rPr>
              <a:t>breast-feeding are cocaine, lithium, and methotrexate. In addition, a number of drugs</a:t>
            </a:r>
          </a:p>
          <a:p>
            <a:r>
              <a:rPr lang="en-US" dirty="0">
                <a:latin typeface="GraphicSabon-Roman"/>
              </a:rPr>
              <a:t>should be used with caution, including aspirin and phenobarbital.</a:t>
            </a:r>
            <a:endParaRPr lang="en-US" dirty="0"/>
          </a:p>
          <a:p>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127</a:t>
            </a:fld>
            <a:endParaRPr lang="en-US"/>
          </a:p>
        </p:txBody>
      </p:sp>
    </p:spTree>
    <p:extLst>
      <p:ext uri="{BB962C8B-B14F-4D97-AF65-F5344CB8AC3E}">
        <p14:creationId xmlns:p14="http://schemas.microsoft.com/office/powerpoint/2010/main" val="40405446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00"/>
                </a:solidFill>
                <a:latin typeface="GraphicSabon-Roman"/>
              </a:rPr>
              <a:t>Biliary excretion is truly a route of elimination only to the extent that the excreted drug fails to be reabsorbed. A mechanism facilitating the reabsorption of certain drugs is the hydrolysis of glucuronide conjugates via </a:t>
            </a:r>
            <a:r>
              <a:rPr lang="en-US" sz="1200" dirty="0">
                <a:solidFill>
                  <a:srgbClr val="000000"/>
                </a:solidFill>
                <a:latin typeface="Symbol" panose="05050102010706020507" pitchFamily="18" charset="2"/>
              </a:rPr>
              <a:t>β</a:t>
            </a:r>
            <a:r>
              <a:rPr lang="en-US" sz="1200" dirty="0">
                <a:solidFill>
                  <a:srgbClr val="000000"/>
                </a:solidFill>
                <a:latin typeface="GraphicSabon-Roman"/>
              </a:rPr>
              <a:t>-</a:t>
            </a:r>
            <a:r>
              <a:rPr lang="en-US" sz="1200" dirty="0" err="1">
                <a:solidFill>
                  <a:srgbClr val="000000"/>
                </a:solidFill>
                <a:latin typeface="GraphicSabon-Roman"/>
              </a:rPr>
              <a:t>glucuronidase</a:t>
            </a:r>
            <a:r>
              <a:rPr lang="en-US" sz="1200" dirty="0">
                <a:solidFill>
                  <a:srgbClr val="000000"/>
                </a:solidFill>
                <a:latin typeface="GraphicSabon-Roman"/>
              </a:rPr>
              <a:t> present in intestinal flora.</a:t>
            </a:r>
            <a:endParaRPr lang="en-US" dirty="0"/>
          </a:p>
        </p:txBody>
      </p:sp>
      <p:sp>
        <p:nvSpPr>
          <p:cNvPr id="4" name="Slide Number Placeholder 3"/>
          <p:cNvSpPr>
            <a:spLocks noGrp="1"/>
          </p:cNvSpPr>
          <p:nvPr>
            <p:ph type="sldNum" sz="quarter" idx="10"/>
          </p:nvPr>
        </p:nvSpPr>
        <p:spPr/>
        <p:txBody>
          <a:bodyPr/>
          <a:lstStyle/>
          <a:p>
            <a:fld id="{7ADBEDFB-B7A2-4A8A-8F83-C1DB50AF176D}" type="slidenum">
              <a:rPr lang="en-US" smtClean="0"/>
              <a:t>128</a:t>
            </a:fld>
            <a:endParaRPr lang="en-US"/>
          </a:p>
        </p:txBody>
      </p:sp>
    </p:spTree>
    <p:extLst>
      <p:ext uri="{BB962C8B-B14F-4D97-AF65-F5344CB8AC3E}">
        <p14:creationId xmlns:p14="http://schemas.microsoft.com/office/powerpoint/2010/main" val="2252578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4/30/26</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4/30/26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4/30/26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4/30/26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4/30/26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4/30/26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4/30/26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4/30/26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4/30/26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4/30/26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4/30/26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4/30/26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2.jpeg"/><Relationship Id="rId7"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jpeg"/><Relationship Id="rId11" Type="http://schemas.openxmlformats.org/officeDocument/2006/relationships/image" Target="../media/image29.jpeg"/><Relationship Id="rId5" Type="http://schemas.openxmlformats.org/officeDocument/2006/relationships/hyperlink" Target="http://ninecooks.typepad.com/photos/uncategorized/buttermilk.jpg" TargetMode="External"/><Relationship Id="rId10" Type="http://schemas.openxmlformats.org/officeDocument/2006/relationships/image" Target="../media/image28.jpeg"/><Relationship Id="rId4" Type="http://schemas.openxmlformats.org/officeDocument/2006/relationships/image" Target="../media/image23.png"/><Relationship Id="rId9" Type="http://schemas.openxmlformats.org/officeDocument/2006/relationships/image" Target="../media/image27.jpe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9.png"/><Relationship Id="rId7" Type="http://schemas.openxmlformats.org/officeDocument/2006/relationships/image" Target="../media/image32.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1.png"/><Relationship Id="rId10" Type="http://schemas.openxmlformats.org/officeDocument/2006/relationships/image" Target="../media/image35.jpeg"/><Relationship Id="rId4" Type="http://schemas.openxmlformats.org/officeDocument/2006/relationships/image" Target="../media/image10.png"/><Relationship Id="rId9" Type="http://schemas.openxmlformats.org/officeDocument/2006/relationships/image" Target="../media/image34.png"/></Relationships>
</file>

<file path=ppt/slides/_rels/slide4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11.png"/><Relationship Id="rId10" Type="http://schemas.openxmlformats.org/officeDocument/2006/relationships/image" Target="../media/image40.jpeg"/><Relationship Id="rId4" Type="http://schemas.openxmlformats.org/officeDocument/2006/relationships/image" Target="../media/image10.png"/><Relationship Id="rId9" Type="http://schemas.openxmlformats.org/officeDocument/2006/relationships/image" Target="../media/image39.jpe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5.wmf"/><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11.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0.jpg"/><Relationship Id="rId4" Type="http://schemas.openxmlformats.org/officeDocument/2006/relationships/image" Target="../media/image49.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53.png"/><Relationship Id="rId4" Type="http://schemas.openxmlformats.org/officeDocument/2006/relationships/oleObject" Target="../embeddings/oleObject3.bin"/></Relationships>
</file>

<file path=ppt/slides/_rels/slide9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11.png"/><Relationship Id="rId4" Type="http://schemas.openxmlformats.org/officeDocument/2006/relationships/image" Target="../media/image10.png"/></Relationships>
</file>

<file path=ppt/slides/_rels/slide10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1.png"/><Relationship Id="rId4" Type="http://schemas.openxmlformats.org/officeDocument/2006/relationships/image" Target="../media/image10.png"/></Relationships>
</file>

<file path=ppt/slides/_rels/slide1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0.wmf"/><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1.png"/><Relationship Id="rId4" Type="http://schemas.openxmlformats.org/officeDocument/2006/relationships/image" Target="../media/image10.png"/></Relationships>
</file>

<file path=ppt/slides/_rels/slide13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1.wmf"/><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1.png"/><Relationship Id="rId4" Type="http://schemas.openxmlformats.org/officeDocument/2006/relationships/image" Target="../media/image10.png"/></Relationships>
</file>

<file path=ppt/slides/_rels/slide1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11.png"/><Relationship Id="rId4" Type="http://schemas.openxmlformats.org/officeDocument/2006/relationships/image" Target="../media/image10.png"/></Relationships>
</file>

<file path=ppt/slides/_rels/slide1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91912" y="2088716"/>
            <a:ext cx="8952088" cy="1470025"/>
          </a:xfrm>
        </p:spPr>
        <p:txBody>
          <a:bodyPr>
            <a:normAutofit/>
          </a:bodyPr>
          <a:lstStyle/>
          <a:p>
            <a:r>
              <a:rPr lang="en-US" altLang="en-US" b="1" dirty="0"/>
              <a:t>General Introductory Pharmacology</a:t>
            </a:r>
            <a:br>
              <a:rPr lang="en-US" altLang="en-US" b="1" dirty="0"/>
            </a:br>
            <a:r>
              <a:rPr lang="en-US" altLang="en-US" sz="3600" b="1" dirty="0">
                <a:solidFill>
                  <a:schemeClr val="bg1">
                    <a:lumMod val="75000"/>
                  </a:schemeClr>
                </a:solidFill>
              </a:rPr>
              <a:t>Pharmacokinetics-Basic concepts</a:t>
            </a:r>
            <a:endParaRPr lang="en-US" sz="3600" dirty="0">
              <a:solidFill>
                <a:schemeClr val="bg1">
                  <a:lumMod val="75000"/>
                </a:schemeClr>
              </a:solidFill>
              <a:latin typeface="Helvetica"/>
              <a:cs typeface="Helvetica"/>
            </a:endParaRPr>
          </a:p>
        </p:txBody>
      </p:sp>
      <p:sp>
        <p:nvSpPr>
          <p:cNvPr id="5" name="Subtitle 2"/>
          <p:cNvSpPr>
            <a:spLocks noGrp="1"/>
          </p:cNvSpPr>
          <p:nvPr>
            <p:ph type="subTitle" idx="1"/>
          </p:nvPr>
        </p:nvSpPr>
        <p:spPr>
          <a:xfrm>
            <a:off x="728506" y="4010849"/>
            <a:ext cx="7072116" cy="1599330"/>
          </a:xfrm>
        </p:spPr>
        <p:txBody>
          <a:bodyPr>
            <a:normAutofit/>
          </a:bodyPr>
          <a:lstStyle/>
          <a:p>
            <a:pPr algn="ctr">
              <a:spcBef>
                <a:spcPct val="0"/>
              </a:spcBef>
            </a:pPr>
            <a:r>
              <a:rPr lang="en-US" altLang="en-US" b="1" dirty="0">
                <a:latin typeface="Arial" panose="020B0604020202020204" pitchFamily="34" charset="0"/>
              </a:rPr>
              <a:t>Arnold Forkuo Donkor, PhD </a:t>
            </a:r>
          </a:p>
          <a:p>
            <a:pPr algn="ctr">
              <a:spcBef>
                <a:spcPct val="0"/>
              </a:spcBef>
            </a:pPr>
            <a:r>
              <a:rPr lang="en-US" altLang="en-US" sz="2000" dirty="0">
                <a:latin typeface="Arial" panose="020B0604020202020204" pitchFamily="34" charset="0"/>
              </a:rPr>
              <a:t>College of Health Sciences,</a:t>
            </a:r>
          </a:p>
          <a:p>
            <a:pPr algn="ctr">
              <a:spcBef>
                <a:spcPct val="0"/>
              </a:spcBef>
            </a:pPr>
            <a:r>
              <a:rPr lang="en-US" altLang="en-US" sz="2000" dirty="0">
                <a:latin typeface="Arial" panose="020B0604020202020204" pitchFamily="34" charset="0"/>
              </a:rPr>
              <a:t>Faculty of Pharmacy &amp; Pharm. Sciences, </a:t>
            </a:r>
          </a:p>
          <a:p>
            <a:pPr algn="ctr">
              <a:spcBef>
                <a:spcPct val="0"/>
              </a:spcBef>
            </a:pPr>
            <a:r>
              <a:rPr lang="en-US" altLang="en-US" sz="2000" dirty="0">
                <a:latin typeface="Arial" panose="020B0604020202020204" pitchFamily="34" charset="0"/>
              </a:rPr>
              <a:t>Department of Pharmacology, Rm C115</a:t>
            </a:r>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696206"/>
          </a:xfrm>
        </p:spPr>
        <p:txBody>
          <a:bodyPr/>
          <a:lstStyle/>
          <a:p>
            <a:pPr algn="l"/>
            <a:r>
              <a:rPr lang="en-US" b="1" dirty="0">
                <a:solidFill>
                  <a:srgbClr val="008000"/>
                </a:solidFill>
                <a:latin typeface="Helvetica"/>
                <a:cs typeface="Helvetica"/>
              </a:rPr>
              <a:t>References</a:t>
            </a:r>
          </a:p>
        </p:txBody>
      </p:sp>
      <p:sp>
        <p:nvSpPr>
          <p:cNvPr id="4" name="Content Placeholder 2"/>
          <p:cNvSpPr txBox="1">
            <a:spLocks/>
          </p:cNvSpPr>
          <p:nvPr/>
        </p:nvSpPr>
        <p:spPr>
          <a:xfrm>
            <a:off x="186266" y="1092201"/>
            <a:ext cx="8777112" cy="45070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0"/>
              </a:spcBef>
              <a:spcAft>
                <a:spcPts val="1800"/>
              </a:spcAft>
              <a:buFont typeface="Wingdings" charset="2"/>
              <a:buChar char="u"/>
            </a:pPr>
            <a:r>
              <a:rPr lang="en-US" dirty="0">
                <a:latin typeface="Helvetica"/>
                <a:cs typeface="Helvetica"/>
              </a:rPr>
              <a:t>Rang &amp; Dale</a:t>
            </a:r>
          </a:p>
          <a:p>
            <a:pPr>
              <a:lnSpc>
                <a:spcPct val="120000"/>
              </a:lnSpc>
              <a:spcBef>
                <a:spcPts val="0"/>
              </a:spcBef>
              <a:spcAft>
                <a:spcPts val="1800"/>
              </a:spcAft>
              <a:buFont typeface="Wingdings" charset="2"/>
              <a:buChar char="u"/>
            </a:pPr>
            <a:r>
              <a:rPr lang="en-US" dirty="0" err="1">
                <a:latin typeface="Helvetica"/>
                <a:cs typeface="Helvetica"/>
              </a:rPr>
              <a:t>Katzung</a:t>
            </a:r>
            <a:r>
              <a:rPr lang="en-US" dirty="0">
                <a:latin typeface="Helvetica"/>
                <a:cs typeface="Helvetica"/>
              </a:rPr>
              <a:t>, Basic and Clinical Pharmacology</a:t>
            </a:r>
          </a:p>
          <a:p>
            <a:pPr>
              <a:lnSpc>
                <a:spcPct val="120000"/>
              </a:lnSpc>
              <a:spcBef>
                <a:spcPts val="0"/>
              </a:spcBef>
              <a:spcAft>
                <a:spcPts val="1800"/>
              </a:spcAft>
              <a:buFont typeface="Wingdings" charset="2"/>
              <a:buChar char="u"/>
            </a:pPr>
            <a:r>
              <a:rPr lang="en-US" dirty="0">
                <a:latin typeface="Helvetica"/>
                <a:cs typeface="Helvetica"/>
              </a:rPr>
              <a:t>For those who want to know more: Goodman and Gilman’s “The Pharmacological Basis of Therapeutics”</a:t>
            </a:r>
          </a:p>
          <a:p>
            <a:pPr>
              <a:lnSpc>
                <a:spcPct val="120000"/>
              </a:lnSpc>
              <a:spcBef>
                <a:spcPts val="0"/>
              </a:spcBef>
              <a:spcAft>
                <a:spcPts val="1800"/>
              </a:spcAft>
              <a:buFont typeface="Wingdings" charset="2"/>
              <a:buChar char="u"/>
            </a:pPr>
            <a:r>
              <a:rPr lang="en-US" dirty="0">
                <a:latin typeface="Helvetica"/>
                <a:cs typeface="Helvetica"/>
              </a:rPr>
              <a:t>www…</a:t>
            </a:r>
          </a:p>
        </p:txBody>
      </p:sp>
      <p:sp>
        <p:nvSpPr>
          <p:cNvPr id="2" name="Rectangle 1"/>
          <p:cNvSpPr/>
          <p:nvPr/>
        </p:nvSpPr>
        <p:spPr>
          <a:xfrm>
            <a:off x="457200" y="5409044"/>
            <a:ext cx="7691642" cy="646331"/>
          </a:xfrm>
          <a:prstGeom prst="rect">
            <a:avLst/>
          </a:prstGeom>
        </p:spPr>
        <p:txBody>
          <a:bodyPr wrap="square">
            <a:spAutoFit/>
          </a:bodyPr>
          <a:lstStyle/>
          <a:p>
            <a:r>
              <a:rPr lang="en-US" dirty="0">
                <a:latin typeface="MV Boli" panose="02000500030200090000" pitchFamily="2" charset="0"/>
                <a:cs typeface="MV Boli" panose="02000500030200090000" pitchFamily="2" charset="0"/>
              </a:rPr>
              <a:t>Nothing in life is to be feared, it is only to be understood.</a:t>
            </a:r>
          </a:p>
          <a:p>
            <a:pPr algn="r"/>
            <a:r>
              <a:rPr lang="en-US" dirty="0">
                <a:latin typeface="MV Boli" panose="02000500030200090000" pitchFamily="2" charset="0"/>
                <a:cs typeface="MV Boli" panose="02000500030200090000" pitchFamily="2" charset="0"/>
              </a:rPr>
              <a:t>Marie Curie</a:t>
            </a:r>
          </a:p>
        </p:txBody>
      </p:sp>
    </p:spTree>
    <p:extLst>
      <p:ext uri="{BB962C8B-B14F-4D97-AF65-F5344CB8AC3E}">
        <p14:creationId xmlns:p14="http://schemas.microsoft.com/office/powerpoint/2010/main" val="386050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696206"/>
          </a:xfrm>
        </p:spPr>
        <p:txBody>
          <a:bodyPr/>
          <a:lstStyle/>
          <a:p>
            <a:pPr algn="l"/>
            <a:r>
              <a:rPr lang="en-US" sz="3600" b="1" dirty="0">
                <a:solidFill>
                  <a:srgbClr val="008000"/>
                </a:solidFill>
                <a:latin typeface="Helvetica"/>
                <a:cs typeface="Helvetica"/>
              </a:rPr>
              <a:t>OBJECTIVES:</a:t>
            </a:r>
          </a:p>
        </p:txBody>
      </p:sp>
      <p:sp>
        <p:nvSpPr>
          <p:cNvPr id="4" name="Content Placeholder 2"/>
          <p:cNvSpPr txBox="1">
            <a:spLocks/>
          </p:cNvSpPr>
          <p:nvPr/>
        </p:nvSpPr>
        <p:spPr>
          <a:xfrm>
            <a:off x="183444" y="890201"/>
            <a:ext cx="8960556" cy="5013888"/>
          </a:xfrm>
          <a:prstGeom prst="rect">
            <a:avLst/>
          </a:prstGeom>
        </p:spPr>
        <p:txBody>
          <a:bodyPr>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spcBef>
                <a:spcPts val="0"/>
              </a:spcBef>
              <a:spcAft>
                <a:spcPts val="1800"/>
              </a:spcAft>
              <a:buNone/>
            </a:pPr>
            <a:r>
              <a:rPr lang="en-US" dirty="0">
                <a:latin typeface="Helvetica"/>
                <a:cs typeface="Helvetica"/>
              </a:rPr>
              <a:t>After attending lectures and studying this course you should be able to</a:t>
            </a:r>
          </a:p>
          <a:p>
            <a:pPr>
              <a:lnSpc>
                <a:spcPct val="120000"/>
              </a:lnSpc>
              <a:spcBef>
                <a:spcPts val="0"/>
              </a:spcBef>
              <a:spcAft>
                <a:spcPts val="1800"/>
              </a:spcAft>
              <a:buFont typeface="Wingdings" charset="2"/>
              <a:buChar char="u"/>
            </a:pPr>
            <a:r>
              <a:rPr lang="en-US" dirty="0">
                <a:latin typeface="Helvetica"/>
                <a:cs typeface="Helvetica"/>
              </a:rPr>
              <a:t>Define pharmacology and associated terms.</a:t>
            </a:r>
          </a:p>
          <a:p>
            <a:pPr>
              <a:lnSpc>
                <a:spcPct val="120000"/>
              </a:lnSpc>
              <a:spcBef>
                <a:spcPts val="0"/>
              </a:spcBef>
              <a:spcAft>
                <a:spcPts val="1800"/>
              </a:spcAft>
              <a:buFont typeface="Wingdings" charset="2"/>
              <a:buChar char="u"/>
            </a:pPr>
            <a:r>
              <a:rPr lang="en-US" dirty="0">
                <a:latin typeface="Helvetica"/>
                <a:cs typeface="Helvetica"/>
              </a:rPr>
              <a:t>Know the difference between the </a:t>
            </a:r>
            <a:r>
              <a:rPr lang="en-US" dirty="0">
                <a:solidFill>
                  <a:srgbClr val="FF0000"/>
                </a:solidFill>
                <a:latin typeface="Helvetica"/>
                <a:cs typeface="Helvetica"/>
              </a:rPr>
              <a:t>Generic Name of a drug and its Trade Name.</a:t>
            </a:r>
          </a:p>
          <a:p>
            <a:pPr>
              <a:lnSpc>
                <a:spcPct val="120000"/>
              </a:lnSpc>
              <a:spcBef>
                <a:spcPts val="0"/>
              </a:spcBef>
              <a:spcAft>
                <a:spcPts val="1800"/>
              </a:spcAft>
              <a:buFont typeface="Wingdings" charset="2"/>
              <a:buChar char="u"/>
            </a:pPr>
            <a:r>
              <a:rPr lang="en-US" dirty="0">
                <a:latin typeface="Helvetica"/>
                <a:cs typeface="Helvetica"/>
              </a:rPr>
              <a:t>Know the processes by which a drug travels from the point of delivery to its site of action and out of the body-ADME Processes</a:t>
            </a:r>
          </a:p>
        </p:txBody>
      </p:sp>
    </p:spTree>
    <p:extLst>
      <p:ext uri="{BB962C8B-B14F-4D97-AF65-F5344CB8AC3E}">
        <p14:creationId xmlns:p14="http://schemas.microsoft.com/office/powerpoint/2010/main" val="1631545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83444" y="609599"/>
            <a:ext cx="8960556" cy="5297906"/>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spcBef>
                <a:spcPts val="0"/>
              </a:spcBef>
              <a:spcAft>
                <a:spcPts val="1800"/>
              </a:spcAft>
              <a:buNone/>
            </a:pPr>
            <a:r>
              <a:rPr lang="en-US" b="1" dirty="0">
                <a:solidFill>
                  <a:srgbClr val="FF0000"/>
                </a:solidFill>
                <a:latin typeface="Helvetica"/>
                <a:cs typeface="Helvetica"/>
              </a:rPr>
              <a:t>PHARMACOLOGY</a:t>
            </a:r>
            <a:r>
              <a:rPr lang="en-US" b="1" dirty="0">
                <a:latin typeface="Helvetica"/>
                <a:cs typeface="Helvetica"/>
              </a:rPr>
              <a:t>:</a:t>
            </a:r>
            <a:r>
              <a:rPr lang="en-US" b="1" dirty="0">
                <a:solidFill>
                  <a:srgbClr val="FF0000"/>
                </a:solidFill>
                <a:latin typeface="Helvetica"/>
                <a:cs typeface="Helvetica"/>
              </a:rPr>
              <a:t> </a:t>
            </a:r>
          </a:p>
          <a:p>
            <a:pPr>
              <a:spcBef>
                <a:spcPts val="0"/>
              </a:spcBef>
              <a:spcAft>
                <a:spcPts val="1800"/>
              </a:spcAft>
              <a:buFont typeface="Wingdings" charset="2"/>
              <a:buChar char="u"/>
            </a:pPr>
            <a:r>
              <a:rPr lang="en-US" sz="2700" b="1" dirty="0">
                <a:latin typeface="Helvetica"/>
                <a:cs typeface="Helvetica"/>
              </a:rPr>
              <a:t>Defined as the study of the interaction of substances (drugs), other than foods, with living systems.</a:t>
            </a:r>
          </a:p>
          <a:p>
            <a:pPr marL="0" indent="0">
              <a:spcBef>
                <a:spcPts val="0"/>
              </a:spcBef>
              <a:spcAft>
                <a:spcPts val="1800"/>
              </a:spcAft>
              <a:buNone/>
            </a:pPr>
            <a:endParaRPr lang="en-US" sz="2700" b="1" dirty="0">
              <a:latin typeface="Helvetica"/>
              <a:cs typeface="Helvetica"/>
            </a:endParaRPr>
          </a:p>
          <a:p>
            <a:pPr>
              <a:spcBef>
                <a:spcPts val="0"/>
              </a:spcBef>
              <a:spcAft>
                <a:spcPts val="1800"/>
              </a:spcAft>
              <a:buFont typeface="Wingdings" charset="2"/>
              <a:buChar char="u"/>
            </a:pPr>
            <a:r>
              <a:rPr lang="en-US" sz="2700" b="1" dirty="0">
                <a:latin typeface="Helvetica"/>
                <a:cs typeface="Helvetica"/>
              </a:rPr>
              <a:t>the study of drugs and their actions on biological systems.</a:t>
            </a:r>
          </a:p>
        </p:txBody>
      </p:sp>
    </p:spTree>
    <p:extLst>
      <p:ext uri="{BB962C8B-B14F-4D97-AF65-F5344CB8AC3E}">
        <p14:creationId xmlns:p14="http://schemas.microsoft.com/office/powerpoint/2010/main" val="2182893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97556" y="846666"/>
            <a:ext cx="8686800" cy="493324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spcBef>
                <a:spcPts val="0"/>
              </a:spcBef>
              <a:spcAft>
                <a:spcPts val="1800"/>
              </a:spcAft>
              <a:buFont typeface="Wingdings" charset="2"/>
              <a:buChar char="u"/>
              <a:defRPr/>
            </a:pPr>
            <a:r>
              <a:rPr lang="en-US" sz="2700" dirty="0" err="1">
                <a:latin typeface="Helvetica"/>
                <a:cs typeface="Helvetica"/>
              </a:rPr>
              <a:t>Pharmakon</a:t>
            </a:r>
            <a:r>
              <a:rPr lang="en-US" sz="2700" dirty="0">
                <a:latin typeface="Helvetica"/>
                <a:cs typeface="Helvetica"/>
              </a:rPr>
              <a:t>- Drug or Poison</a:t>
            </a:r>
          </a:p>
          <a:p>
            <a:pPr algn="just">
              <a:spcBef>
                <a:spcPts val="0"/>
              </a:spcBef>
              <a:spcAft>
                <a:spcPts val="1800"/>
              </a:spcAft>
              <a:buFont typeface="Wingdings" charset="2"/>
              <a:buChar char="u"/>
              <a:defRPr/>
            </a:pPr>
            <a:endParaRPr lang="en-US" sz="2700" dirty="0">
              <a:latin typeface="Helvetica"/>
              <a:cs typeface="Helvetica"/>
            </a:endParaRPr>
          </a:p>
          <a:p>
            <a:pPr algn="just">
              <a:spcBef>
                <a:spcPts val="0"/>
              </a:spcBef>
              <a:spcAft>
                <a:spcPts val="1800"/>
              </a:spcAft>
              <a:buFont typeface="Wingdings" charset="2"/>
              <a:buChar char="u"/>
              <a:defRPr/>
            </a:pPr>
            <a:r>
              <a:rPr lang="en-US" sz="2700" b="1" noProof="1">
                <a:latin typeface="Helvetica"/>
                <a:cs typeface="Helvetica"/>
              </a:rPr>
              <a:t> </a:t>
            </a:r>
            <a:r>
              <a:rPr lang="en-US" sz="2700" b="1" noProof="1">
                <a:solidFill>
                  <a:srgbClr val="FF0000"/>
                </a:solidFill>
                <a:latin typeface="Helvetica"/>
                <a:cs typeface="Helvetica"/>
              </a:rPr>
              <a:t>Drug</a:t>
            </a:r>
            <a:r>
              <a:rPr lang="en-US" sz="2700" b="1" noProof="1">
                <a:latin typeface="Helvetica"/>
                <a:cs typeface="Helvetica"/>
              </a:rPr>
              <a:t>: </a:t>
            </a:r>
            <a:r>
              <a:rPr lang="en-US" sz="2700" dirty="0">
                <a:latin typeface="Helvetica"/>
                <a:cs typeface="Helvetica"/>
              </a:rPr>
              <a:t>Any substance or product, used to alter the body's physiological function or pathological states for the benefit of the recipient.</a:t>
            </a:r>
          </a:p>
          <a:p>
            <a:pPr marL="742950" lvl="2" indent="-342900" algn="just">
              <a:spcBef>
                <a:spcPts val="0"/>
              </a:spcBef>
              <a:spcAft>
                <a:spcPts val="1800"/>
              </a:spcAft>
              <a:buFont typeface="Wingdings" charset="2"/>
              <a:buChar char="u"/>
              <a:defRPr/>
            </a:pPr>
            <a:r>
              <a:rPr lang="en-US" sz="2300" dirty="0">
                <a:latin typeface="Helvetica"/>
                <a:cs typeface="Helvetica"/>
              </a:rPr>
              <a:t>Used to cure/treat (therapeutic)</a:t>
            </a:r>
          </a:p>
          <a:p>
            <a:pPr marL="742950" lvl="2" indent="-342900" algn="just">
              <a:spcBef>
                <a:spcPts val="0"/>
              </a:spcBef>
              <a:spcAft>
                <a:spcPts val="1800"/>
              </a:spcAft>
              <a:buFont typeface="Wingdings" charset="2"/>
              <a:buChar char="u"/>
              <a:defRPr/>
            </a:pPr>
            <a:r>
              <a:rPr lang="en-US" sz="2300" dirty="0">
                <a:latin typeface="Helvetica"/>
                <a:cs typeface="Helvetica"/>
              </a:rPr>
              <a:t>Prevent (Prophylaxis) or</a:t>
            </a:r>
          </a:p>
          <a:p>
            <a:pPr marL="742950" lvl="2" indent="-342900" algn="just">
              <a:spcBef>
                <a:spcPts val="0"/>
              </a:spcBef>
              <a:spcAft>
                <a:spcPts val="1800"/>
              </a:spcAft>
              <a:buFont typeface="Wingdings" charset="2"/>
              <a:buChar char="u"/>
              <a:defRPr/>
            </a:pPr>
            <a:r>
              <a:rPr lang="en-US" sz="2300" dirty="0">
                <a:latin typeface="Helvetica"/>
                <a:cs typeface="Helvetica"/>
              </a:rPr>
              <a:t>Diagnosis diseases in man or animals.</a:t>
            </a:r>
          </a:p>
          <a:p>
            <a:pPr>
              <a:defRPr/>
            </a:pPr>
            <a:endParaRPr lang="en-US" dirty="0"/>
          </a:p>
          <a:p>
            <a:pPr>
              <a:defRPr/>
            </a:pPr>
            <a:endParaRPr lang="en-US" dirty="0"/>
          </a:p>
        </p:txBody>
      </p:sp>
      <p:pic>
        <p:nvPicPr>
          <p:cNvPr id="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08914" y="152400"/>
            <a:ext cx="2159353" cy="200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a:spLocks noGrp="1" noChangeArrowheads="1"/>
          </p:cNvSpPr>
          <p:nvPr>
            <p:ph type="title"/>
          </p:nvPr>
        </p:nvSpPr>
        <p:spPr>
          <a:xfrm>
            <a:off x="457200" y="274638"/>
            <a:ext cx="8229600" cy="730073"/>
          </a:xfrm>
        </p:spPr>
        <p:txBody>
          <a:bodyPr/>
          <a:lstStyle/>
          <a:p>
            <a:pPr eaLnBrk="1" hangingPunct="1"/>
            <a:r>
              <a:rPr lang="en-US" altLang="en-US" sz="3600" b="1" dirty="0">
                <a:solidFill>
                  <a:srgbClr val="008000"/>
                </a:solidFill>
                <a:latin typeface="Helvetica"/>
                <a:cs typeface="Helvetica"/>
              </a:rPr>
              <a:t>Terminologies</a:t>
            </a:r>
          </a:p>
        </p:txBody>
      </p:sp>
    </p:spTree>
    <p:extLst>
      <p:ext uri="{BB962C8B-B14F-4D97-AF65-F5344CB8AC3E}">
        <p14:creationId xmlns:p14="http://schemas.microsoft.com/office/powerpoint/2010/main" val="192680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6"/>
          <p:cNvSpPr txBox="1">
            <a:spLocks noGrp="1" noChangeArrowheads="1"/>
          </p:cNvSpPr>
          <p:nvPr>
            <p:ph type="title"/>
          </p:nvPr>
        </p:nvSpPr>
        <p:spPr bwMode="auto">
          <a:xfrm>
            <a:off x="860087" y="274638"/>
            <a:ext cx="74238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2800" b="1" u="sng" dirty="0">
                <a:solidFill>
                  <a:srgbClr val="00B050"/>
                </a:solidFill>
                <a:latin typeface="Verdana" panose="020B0604030504040204" pitchFamily="34" charset="0"/>
                <a:cs typeface="Times New Roman" panose="02020603050405020304" pitchFamily="18" charset="0"/>
              </a:rPr>
              <a:t>NATURE  AND  SOURCES  OF DRUGS</a:t>
            </a:r>
          </a:p>
        </p:txBody>
      </p:sp>
      <p:sp>
        <p:nvSpPr>
          <p:cNvPr id="4" name="Rectangle 5"/>
          <p:cNvSpPr>
            <a:spLocks noChangeArrowheads="1"/>
          </p:cNvSpPr>
          <p:nvPr/>
        </p:nvSpPr>
        <p:spPr bwMode="auto">
          <a:xfrm>
            <a:off x="0" y="1052627"/>
            <a:ext cx="3276600" cy="3962400"/>
          </a:xfrm>
          <a:prstGeom prst="rect">
            <a:avLst/>
          </a:prstGeom>
          <a:solidFill>
            <a:schemeClr val="bg1"/>
          </a:solidFill>
          <a:ln w="28575">
            <a:solidFill>
              <a:srgbClr val="A50021"/>
            </a:solidFill>
            <a:miter lim="800000"/>
            <a:headEnd/>
            <a:tailEnd/>
          </a:ln>
        </p:spPr>
        <p:txBody>
          <a:bodyPr lIns="92075" tIns="46038" rIns="92075" bIns="46038"/>
          <a:lstStyle>
            <a:lvl1pPr marL="287338" indent="-287338" defTabSz="800100">
              <a:defRPr>
                <a:solidFill>
                  <a:schemeClr val="tx1"/>
                </a:solidFill>
                <a:latin typeface="Arial" panose="020B0604020202020204" pitchFamily="34" charset="0"/>
                <a:ea typeface="MS PGothic" panose="020B0600070205080204" pitchFamily="34" charset="-128"/>
              </a:defRPr>
            </a:lvl1pPr>
            <a:lvl2pPr marL="742950" indent="-285750" defTabSz="800100">
              <a:defRPr>
                <a:solidFill>
                  <a:schemeClr val="tx1"/>
                </a:solidFill>
                <a:latin typeface="Arial" panose="020B0604020202020204" pitchFamily="34" charset="0"/>
                <a:ea typeface="MS PGothic" panose="020B0600070205080204" pitchFamily="34" charset="-128"/>
              </a:defRPr>
            </a:lvl2pPr>
            <a:lvl3pPr marL="1143000" indent="-228600" defTabSz="800100">
              <a:defRPr>
                <a:solidFill>
                  <a:schemeClr val="tx1"/>
                </a:solidFill>
                <a:latin typeface="Arial" panose="020B0604020202020204" pitchFamily="34" charset="0"/>
                <a:ea typeface="MS PGothic" panose="020B0600070205080204" pitchFamily="34" charset="-128"/>
              </a:defRPr>
            </a:lvl3pPr>
            <a:lvl4pPr marL="1600200" indent="-228600" defTabSz="800100">
              <a:defRPr>
                <a:solidFill>
                  <a:schemeClr val="tx1"/>
                </a:solidFill>
                <a:latin typeface="Arial" panose="020B0604020202020204" pitchFamily="34" charset="0"/>
                <a:ea typeface="MS PGothic" panose="020B0600070205080204" pitchFamily="34" charset="-128"/>
              </a:defRPr>
            </a:lvl4pPr>
            <a:lvl5pPr marL="2057400" indent="-228600" defTabSz="800100">
              <a:defRPr>
                <a:solidFill>
                  <a:schemeClr val="tx1"/>
                </a:solidFill>
                <a:latin typeface="Arial" panose="020B0604020202020204" pitchFamily="34" charset="0"/>
                <a:ea typeface="MS PGothic" panose="020B0600070205080204" pitchFamily="34" charset="-128"/>
              </a:defRPr>
            </a:lvl5pPr>
            <a:lvl6pPr marL="25146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Mineral</a:t>
            </a:r>
          </a:p>
          <a:p>
            <a:pPr eaLnBrk="1" hangingPunct="1">
              <a:spcBef>
                <a:spcPct val="30000"/>
              </a:spcBef>
              <a:buClr>
                <a:schemeClr val="accent1"/>
              </a:buClr>
              <a:buFontTx/>
              <a:buChar char="•"/>
            </a:pPr>
            <a:endParaRPr lang="en-US" altLang="en-US" sz="2400" dirty="0">
              <a:solidFill>
                <a:srgbClr val="000000"/>
              </a:solidFill>
              <a:latin typeface="Verdana" panose="020B0604030504040204" pitchFamily="34" charset="0"/>
              <a:cs typeface="Arial" panose="020B0604020202020204" pitchFamily="34" charset="0"/>
            </a:endParaRP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Animal</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Plant</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Synthetic</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Micro-organisms</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Drugs produced by genetic  engineering </a:t>
            </a:r>
          </a:p>
        </p:txBody>
      </p:sp>
      <p:sp>
        <p:nvSpPr>
          <p:cNvPr id="5" name="Rectangle 6"/>
          <p:cNvSpPr>
            <a:spLocks noChangeArrowheads="1"/>
          </p:cNvSpPr>
          <p:nvPr/>
        </p:nvSpPr>
        <p:spPr bwMode="auto">
          <a:xfrm>
            <a:off x="3276600" y="1058977"/>
            <a:ext cx="5715000" cy="3949700"/>
          </a:xfrm>
          <a:prstGeom prst="rect">
            <a:avLst/>
          </a:prstGeom>
          <a:solidFill>
            <a:schemeClr val="bg1"/>
          </a:solidFill>
          <a:ln w="28575">
            <a:solidFill>
              <a:srgbClr val="A50021"/>
            </a:solidFill>
            <a:miter lim="800000"/>
            <a:headEnd/>
            <a:tailEnd/>
          </a:ln>
        </p:spPr>
        <p:txBody>
          <a:bodyPr lIns="92075" tIns="46038" rIns="92075" bIns="46038"/>
          <a:lstStyle>
            <a:lvl1pPr marL="287338" indent="-287338" defTabSz="800100">
              <a:defRPr>
                <a:solidFill>
                  <a:schemeClr val="tx1"/>
                </a:solidFill>
                <a:latin typeface="Arial" panose="020B0604020202020204" pitchFamily="34" charset="0"/>
                <a:ea typeface="MS PGothic" panose="020B0600070205080204" pitchFamily="34" charset="-128"/>
              </a:defRPr>
            </a:lvl1pPr>
            <a:lvl2pPr marL="742950" indent="-285750" defTabSz="800100">
              <a:defRPr>
                <a:solidFill>
                  <a:schemeClr val="tx1"/>
                </a:solidFill>
                <a:latin typeface="Arial" panose="020B0604020202020204" pitchFamily="34" charset="0"/>
                <a:ea typeface="MS PGothic" panose="020B0600070205080204" pitchFamily="34" charset="-128"/>
              </a:defRPr>
            </a:lvl2pPr>
            <a:lvl3pPr marL="1143000" indent="-228600" defTabSz="800100">
              <a:defRPr>
                <a:solidFill>
                  <a:schemeClr val="tx1"/>
                </a:solidFill>
                <a:latin typeface="Arial" panose="020B0604020202020204" pitchFamily="34" charset="0"/>
                <a:ea typeface="MS PGothic" panose="020B0600070205080204" pitchFamily="34" charset="-128"/>
              </a:defRPr>
            </a:lvl3pPr>
            <a:lvl4pPr marL="1600200" indent="-228600" defTabSz="800100">
              <a:defRPr>
                <a:solidFill>
                  <a:schemeClr val="tx1"/>
                </a:solidFill>
                <a:latin typeface="Arial" panose="020B0604020202020204" pitchFamily="34" charset="0"/>
                <a:ea typeface="MS PGothic" panose="020B0600070205080204" pitchFamily="34" charset="-128"/>
              </a:defRPr>
            </a:lvl4pPr>
            <a:lvl5pPr marL="2057400" indent="-228600" defTabSz="800100">
              <a:defRPr>
                <a:solidFill>
                  <a:schemeClr val="tx1"/>
                </a:solidFill>
                <a:latin typeface="Arial" panose="020B0604020202020204" pitchFamily="34" charset="0"/>
                <a:ea typeface="MS PGothic" panose="020B0600070205080204" pitchFamily="34" charset="-128"/>
              </a:defRPr>
            </a:lvl5pPr>
            <a:lvl6pPr marL="25146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8001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Liquid paraffin, magnesium sulfate, </a:t>
            </a:r>
            <a:r>
              <a:rPr lang="en-US" altLang="en-US" sz="2400" dirty="0" err="1">
                <a:solidFill>
                  <a:srgbClr val="000000"/>
                </a:solidFill>
                <a:latin typeface="Verdana" panose="020B0604030504040204" pitchFamily="34" charset="0"/>
                <a:cs typeface="Arial" panose="020B0604020202020204" pitchFamily="34" charset="0"/>
              </a:rPr>
              <a:t>etc</a:t>
            </a:r>
            <a:endParaRPr lang="en-US" altLang="en-US" sz="2400" dirty="0">
              <a:solidFill>
                <a:srgbClr val="000000"/>
              </a:solidFill>
              <a:latin typeface="Verdana" panose="020B0604030504040204" pitchFamily="34" charset="0"/>
              <a:cs typeface="Arial" panose="020B0604020202020204" pitchFamily="34" charset="0"/>
            </a:endParaRP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Insulin, Thyroid, etc.</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Morphine, Quinine  </a:t>
            </a:r>
            <a:r>
              <a:rPr lang="en-US" altLang="en-US" sz="2400" dirty="0" err="1">
                <a:solidFill>
                  <a:srgbClr val="000000"/>
                </a:solidFill>
                <a:latin typeface="Verdana" panose="020B0604030504040204" pitchFamily="34" charset="0"/>
                <a:cs typeface="Arial" panose="020B0604020202020204" pitchFamily="34" charset="0"/>
              </a:rPr>
              <a:t>etc</a:t>
            </a:r>
            <a:endParaRPr lang="en-US" altLang="en-US" sz="2400" dirty="0">
              <a:solidFill>
                <a:srgbClr val="000000"/>
              </a:solidFill>
              <a:latin typeface="Verdana" panose="020B0604030504040204" pitchFamily="34" charset="0"/>
              <a:cs typeface="Arial" panose="020B0604020202020204" pitchFamily="34" charset="0"/>
            </a:endParaRP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Aspirin, Sulfonamides, etc.</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Penicillin &amp; other antibiotics.</a:t>
            </a:r>
          </a:p>
          <a:p>
            <a:pPr eaLnBrk="1" hangingPunct="1">
              <a:spcBef>
                <a:spcPct val="30000"/>
              </a:spcBef>
              <a:buClr>
                <a:schemeClr val="accent1"/>
              </a:buClr>
              <a:buFontTx/>
              <a:buChar char="•"/>
            </a:pPr>
            <a:r>
              <a:rPr lang="en-US" altLang="en-US" sz="2400" dirty="0">
                <a:solidFill>
                  <a:srgbClr val="000000"/>
                </a:solidFill>
                <a:latin typeface="Verdana" panose="020B0604030504040204" pitchFamily="34" charset="0"/>
                <a:cs typeface="Arial" panose="020B0604020202020204" pitchFamily="34" charset="0"/>
              </a:rPr>
              <a:t>Human insulin,  human  growth, hormone etc.</a:t>
            </a:r>
          </a:p>
        </p:txBody>
      </p:sp>
    </p:spTree>
    <p:extLst>
      <p:ext uri="{BB962C8B-B14F-4D97-AF65-F5344CB8AC3E}">
        <p14:creationId xmlns:p14="http://schemas.microsoft.com/office/powerpoint/2010/main" val="1526181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8689"/>
            <a:ext cx="8987589" cy="894513"/>
          </a:xfrm>
        </p:spPr>
        <p:txBody>
          <a:bodyPr/>
          <a:lstStyle/>
          <a:p>
            <a:r>
              <a:rPr lang="en-US" altLang="en-US" sz="3000" b="1" u="sng" dirty="0">
                <a:solidFill>
                  <a:srgbClr val="00B050"/>
                </a:solidFill>
                <a:latin typeface="Verdana" panose="020B0604030504040204" pitchFamily="34" charset="0"/>
                <a:cs typeface="Times New Roman" panose="02020603050405020304" pitchFamily="18" charset="0"/>
              </a:rPr>
              <a:t>NATURE  AND  SOURCES  OF DRUGS</a:t>
            </a:r>
            <a:endParaRPr lang="en-US" sz="3000" u="sng" dirty="0"/>
          </a:p>
        </p:txBody>
      </p:sp>
      <p:pic>
        <p:nvPicPr>
          <p:cNvPr id="3" name="Picture 2"/>
          <p:cNvPicPr>
            <a:picLocks noChangeAspect="1"/>
          </p:cNvPicPr>
          <p:nvPr/>
        </p:nvPicPr>
        <p:blipFill>
          <a:blip r:embed="rId3"/>
          <a:stretch>
            <a:fillRect/>
          </a:stretch>
        </p:blipFill>
        <p:spPr>
          <a:xfrm>
            <a:off x="108284" y="984501"/>
            <a:ext cx="8578516" cy="4289258"/>
          </a:xfrm>
          <a:prstGeom prst="rect">
            <a:avLst/>
          </a:prstGeom>
        </p:spPr>
      </p:pic>
    </p:spTree>
    <p:extLst>
      <p:ext uri="{BB962C8B-B14F-4D97-AF65-F5344CB8AC3E}">
        <p14:creationId xmlns:p14="http://schemas.microsoft.com/office/powerpoint/2010/main" val="1320988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173"/>
          </a:xfrm>
        </p:spPr>
        <p:txBody>
          <a:bodyPr/>
          <a:lstStyle/>
          <a:p>
            <a:pPr algn="l"/>
            <a:r>
              <a:rPr lang="en-US" sz="2800" b="1" dirty="0">
                <a:solidFill>
                  <a:srgbClr val="00B050"/>
                </a:solidFill>
                <a:latin typeface="Helvetica"/>
                <a:cs typeface="Helvetica"/>
              </a:rPr>
              <a:t>MICROORGANISMS AS A SOURCE OF DRUGS</a:t>
            </a:r>
            <a:br>
              <a:rPr lang="en-US" dirty="0">
                <a:latin typeface="Helvetica"/>
                <a:cs typeface="Helvetica"/>
              </a:rPr>
            </a:br>
            <a:endParaRPr lang="en-US" sz="2800" dirty="0"/>
          </a:p>
        </p:txBody>
      </p:sp>
      <p:sp>
        <p:nvSpPr>
          <p:cNvPr id="3" name="TextBox 2"/>
          <p:cNvSpPr txBox="1"/>
          <p:nvPr/>
        </p:nvSpPr>
        <p:spPr>
          <a:xfrm>
            <a:off x="60158" y="1104816"/>
            <a:ext cx="9023684" cy="4401205"/>
          </a:xfrm>
          <a:prstGeom prst="rect">
            <a:avLst/>
          </a:prstGeom>
          <a:noFill/>
        </p:spPr>
        <p:txBody>
          <a:bodyPr wrap="square" rtlCol="0">
            <a:spAutoFit/>
          </a:bodyPr>
          <a:lstStyle/>
          <a:p>
            <a:pPr algn="just"/>
            <a:r>
              <a:rPr lang="en-US" sz="2800" dirty="0">
                <a:latin typeface="Helvetica" panose="020B0604020202020204" pitchFamily="34" charset="0"/>
                <a:cs typeface="Helvetica" panose="020B0604020202020204" pitchFamily="34" charset="0"/>
              </a:rPr>
              <a:t>Microorganisms have, of course, been extensively screened for antibiotics since Alexander Fleming’s discovery of the antibacterial activity of </a:t>
            </a:r>
            <a:r>
              <a:rPr lang="en-US" sz="2800" i="1" dirty="0">
                <a:latin typeface="Helvetica" panose="020B0604020202020204" pitchFamily="34" charset="0"/>
                <a:cs typeface="Helvetica" panose="020B0604020202020204" pitchFamily="34" charset="0"/>
              </a:rPr>
              <a:t>Penicillin </a:t>
            </a:r>
            <a:r>
              <a:rPr lang="en-US" sz="2800" i="1" dirty="0" err="1">
                <a:latin typeface="Helvetica" panose="020B0604020202020204" pitchFamily="34" charset="0"/>
                <a:cs typeface="Helvetica" panose="020B0604020202020204" pitchFamily="34" charset="0"/>
              </a:rPr>
              <a:t>notatum</a:t>
            </a:r>
            <a:r>
              <a:rPr lang="en-US" sz="2800" i="1" dirty="0">
                <a:latin typeface="Helvetica" panose="020B0604020202020204" pitchFamily="34" charset="0"/>
                <a:cs typeface="Helvetica" panose="020B0604020202020204" pitchFamily="34" charset="0"/>
              </a:rPr>
              <a:t> </a:t>
            </a:r>
            <a:r>
              <a:rPr lang="en-US" sz="2800" dirty="0">
                <a:latin typeface="Helvetica" panose="020B0604020202020204" pitchFamily="34" charset="0"/>
                <a:cs typeface="Helvetica" panose="020B0604020202020204" pitchFamily="34" charset="0"/>
              </a:rPr>
              <a:t>in the 1920s. </a:t>
            </a:r>
          </a:p>
          <a:p>
            <a:pPr algn="just"/>
            <a:endParaRPr lang="en-US" sz="2800" dirty="0">
              <a:latin typeface="Helvetica" panose="020B0604020202020204" pitchFamily="34" charset="0"/>
              <a:cs typeface="Helvetica" panose="020B0604020202020204" pitchFamily="34" charset="0"/>
            </a:endParaRPr>
          </a:p>
          <a:p>
            <a:pPr algn="just"/>
            <a:r>
              <a:rPr lang="en-US" sz="2800" dirty="0">
                <a:latin typeface="Helvetica" panose="020B0604020202020204" pitchFamily="34" charset="0"/>
                <a:cs typeface="Helvetica" panose="020B0604020202020204" pitchFamily="34" charset="0"/>
              </a:rPr>
              <a:t>Numerous useful antibiotics are also produced by bacteria of the </a:t>
            </a:r>
            <a:r>
              <a:rPr lang="en-US" sz="2800" i="1" dirty="0">
                <a:latin typeface="Helvetica" panose="020B0604020202020204" pitchFamily="34" charset="0"/>
                <a:cs typeface="Helvetica" panose="020B0604020202020204" pitchFamily="34" charset="0"/>
              </a:rPr>
              <a:t>Streptomyces </a:t>
            </a:r>
            <a:r>
              <a:rPr lang="en-US" sz="2800" dirty="0">
                <a:latin typeface="Helvetica" panose="020B0604020202020204" pitchFamily="34" charset="0"/>
                <a:cs typeface="Helvetica" panose="020B0604020202020204" pitchFamily="34" charset="0"/>
              </a:rPr>
              <a:t>genus (including streptomycin, neomycin, tetracycline, and chloramphenicol) as well as by fungi (</a:t>
            </a:r>
            <a:r>
              <a:rPr lang="en-US" sz="2800" dirty="0" err="1">
                <a:latin typeface="Helvetica" panose="020B0604020202020204" pitchFamily="34" charset="0"/>
                <a:cs typeface="Helvetica" panose="020B0604020202020204" pitchFamily="34" charset="0"/>
              </a:rPr>
              <a:t>griseofulvin</a:t>
            </a:r>
            <a:r>
              <a:rPr lang="en-US" sz="2800" dirty="0">
                <a:latin typeface="Helvetica" panose="020B0604020202020204" pitchFamily="34" charset="0"/>
                <a:cs typeface="Helvetica" panose="020B0604020202020204" pitchFamily="34" charset="0"/>
              </a:rPr>
              <a:t> and </a:t>
            </a:r>
            <a:r>
              <a:rPr lang="en-US" sz="2800" dirty="0" err="1">
                <a:latin typeface="Helvetica" panose="020B0604020202020204" pitchFamily="34" charset="0"/>
                <a:cs typeface="Helvetica" panose="020B0604020202020204" pitchFamily="34" charset="0"/>
              </a:rPr>
              <a:t>cyclosporin</a:t>
            </a:r>
            <a:r>
              <a:rPr lang="en-US" sz="2800" dirty="0">
                <a:latin typeface="Helvetica" panose="020B0604020202020204" pitchFamily="34" charset="0"/>
                <a:cs typeface="Helvetica" panose="020B0604020202020204" pitchFamily="34" charset="0"/>
              </a:rPr>
              <a:t> C)</a:t>
            </a:r>
          </a:p>
        </p:txBody>
      </p:sp>
    </p:spTree>
    <p:extLst>
      <p:ext uri="{BB962C8B-B14F-4D97-AF65-F5344CB8AC3E}">
        <p14:creationId xmlns:p14="http://schemas.microsoft.com/office/powerpoint/2010/main" val="387214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950" y="-477494"/>
            <a:ext cx="8616099" cy="646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468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stretch>
            <a:fillRect/>
          </a:stretch>
        </p:blipFill>
        <p:spPr>
          <a:xfrm>
            <a:off x="260781" y="0"/>
            <a:ext cx="8622437" cy="6858000"/>
          </a:xfrm>
          <a:prstGeom prst="rect">
            <a:avLst/>
          </a:prstGeom>
        </p:spPr>
      </p:pic>
    </p:spTree>
    <p:extLst>
      <p:ext uri="{BB962C8B-B14F-4D97-AF65-F5344CB8AC3E}">
        <p14:creationId xmlns:p14="http://schemas.microsoft.com/office/powerpoint/2010/main" val="99186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696206"/>
          </a:xfrm>
        </p:spPr>
        <p:txBody>
          <a:bodyPr/>
          <a:lstStyle/>
          <a:p>
            <a:pPr algn="l"/>
            <a:r>
              <a:rPr lang="en-US" sz="3600" b="1" dirty="0">
                <a:solidFill>
                  <a:srgbClr val="008000"/>
                </a:solidFill>
                <a:latin typeface="Helvetica"/>
                <a:cs typeface="Helvetica"/>
              </a:rPr>
              <a:t>Pharmacology Terminologies </a:t>
            </a:r>
          </a:p>
        </p:txBody>
      </p:sp>
      <p:sp>
        <p:nvSpPr>
          <p:cNvPr id="4" name="Content Placeholder 2"/>
          <p:cNvSpPr txBox="1">
            <a:spLocks/>
          </p:cNvSpPr>
          <p:nvPr/>
        </p:nvSpPr>
        <p:spPr>
          <a:xfrm>
            <a:off x="183444" y="890201"/>
            <a:ext cx="8804145" cy="5013888"/>
          </a:xfrm>
          <a:prstGeom prst="rect">
            <a:avLst/>
          </a:prstGeom>
        </p:spPr>
        <p:txBody>
          <a:bodyPr>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altLang="en-US" sz="3300" b="1" dirty="0">
                <a:latin typeface="Helvetica"/>
                <a:cs typeface="Helvetica"/>
              </a:rPr>
              <a:t>Indications</a:t>
            </a:r>
          </a:p>
          <a:p>
            <a:pPr marL="1050925" lvl="1" indent="-574675"/>
            <a:r>
              <a:rPr lang="en-US" altLang="en-US" sz="3300" dirty="0">
                <a:latin typeface="Helvetica" panose="020B0604020202020204" pitchFamily="34" charset="0"/>
                <a:cs typeface="Helvetica" panose="020B0604020202020204" pitchFamily="34" charset="0"/>
              </a:rPr>
              <a:t>Conditions that enable the appropriate administration of the drug (as approved by the FDA).</a:t>
            </a:r>
          </a:p>
          <a:p>
            <a:pPr marL="574675" indent="-574675"/>
            <a:r>
              <a:rPr lang="en-US" altLang="en-US" sz="3300" b="1" dirty="0">
                <a:latin typeface="Helvetica" panose="020B0604020202020204" pitchFamily="34" charset="0"/>
                <a:cs typeface="Helvetica" panose="020B0604020202020204" pitchFamily="34" charset="0"/>
              </a:rPr>
              <a:t>Contraindications</a:t>
            </a:r>
          </a:p>
          <a:p>
            <a:pPr marL="1050925" lvl="1" indent="-574675"/>
            <a:r>
              <a:rPr lang="en-US" altLang="en-US" sz="3300" dirty="0">
                <a:latin typeface="Helvetica" panose="020B0604020202020204" pitchFamily="34" charset="0"/>
                <a:cs typeface="Helvetica" panose="020B0604020202020204" pitchFamily="34" charset="0"/>
              </a:rPr>
              <a:t>Conditions that make it inappropriate to give the drug</a:t>
            </a:r>
          </a:p>
          <a:p>
            <a:pPr marL="1470025" lvl="2" indent="-574675"/>
            <a:r>
              <a:rPr lang="en-US" altLang="en-US" sz="3300" dirty="0">
                <a:latin typeface="Helvetica" panose="020B0604020202020204" pitchFamily="34" charset="0"/>
                <a:cs typeface="Helvetica" panose="020B0604020202020204" pitchFamily="34" charset="0"/>
              </a:rPr>
              <a:t>…..means a predictable harmful event will occur if the drug is given in this situation</a:t>
            </a:r>
          </a:p>
          <a:p>
            <a:pPr marL="574675" indent="-574675"/>
            <a:r>
              <a:rPr lang="en-US" altLang="en-US" sz="3300" b="1" dirty="0">
                <a:latin typeface="Helvetica" panose="020B0604020202020204" pitchFamily="34" charset="0"/>
                <a:cs typeface="Helvetica" panose="020B0604020202020204" pitchFamily="34" charset="0"/>
              </a:rPr>
              <a:t>Dosage</a:t>
            </a:r>
          </a:p>
          <a:p>
            <a:pPr marL="1050925" lvl="1" indent="-574675"/>
            <a:r>
              <a:rPr lang="en-US" altLang="en-US" sz="3300" dirty="0">
                <a:latin typeface="Helvetica" panose="020B0604020202020204" pitchFamily="34" charset="0"/>
                <a:cs typeface="Helvetica" panose="020B0604020202020204" pitchFamily="34" charset="0"/>
              </a:rPr>
              <a:t>The amount of the drug that should be given</a:t>
            </a:r>
          </a:p>
          <a:p>
            <a:pPr marL="0" indent="0">
              <a:lnSpc>
                <a:spcPct val="120000"/>
              </a:lnSpc>
              <a:spcBef>
                <a:spcPts val="0"/>
              </a:spcBef>
              <a:spcAft>
                <a:spcPts val="1800"/>
              </a:spcAft>
              <a:buNone/>
            </a:pPr>
            <a:endParaRPr lang="en-US" dirty="0">
              <a:latin typeface="Helvetica"/>
              <a:cs typeface="Helvetica"/>
            </a:endParaRPr>
          </a:p>
          <a:p>
            <a:pPr>
              <a:lnSpc>
                <a:spcPct val="120000"/>
              </a:lnSpc>
              <a:spcBef>
                <a:spcPts val="0"/>
              </a:spcBef>
              <a:spcAft>
                <a:spcPts val="1800"/>
              </a:spcAft>
              <a:buFont typeface="Wingdings" charset="2"/>
              <a:buChar char="u"/>
            </a:pPr>
            <a:endParaRPr lang="en-US" dirty="0">
              <a:latin typeface="Helvetica"/>
              <a:cs typeface="Helvetica"/>
            </a:endParaRPr>
          </a:p>
        </p:txBody>
      </p:sp>
    </p:spTree>
    <p:extLst>
      <p:ext uri="{BB962C8B-B14F-4D97-AF65-F5344CB8AC3E}">
        <p14:creationId xmlns:p14="http://schemas.microsoft.com/office/powerpoint/2010/main" val="273948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696206"/>
          </a:xfrm>
        </p:spPr>
        <p:txBody>
          <a:bodyPr/>
          <a:lstStyle/>
          <a:p>
            <a:pPr algn="l"/>
            <a:r>
              <a:rPr lang="en-US" sz="3600" b="1" dirty="0">
                <a:solidFill>
                  <a:srgbClr val="008000"/>
                </a:solidFill>
                <a:latin typeface="Helvetica"/>
                <a:cs typeface="Helvetica"/>
              </a:rPr>
              <a:t>Pharmacology Terminologies </a:t>
            </a:r>
          </a:p>
        </p:txBody>
      </p:sp>
      <p:sp>
        <p:nvSpPr>
          <p:cNvPr id="4" name="Content Placeholder 2"/>
          <p:cNvSpPr txBox="1">
            <a:spLocks/>
          </p:cNvSpPr>
          <p:nvPr/>
        </p:nvSpPr>
        <p:spPr>
          <a:xfrm>
            <a:off x="183444" y="1006803"/>
            <a:ext cx="8804145" cy="50138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74675" indent="-574675">
              <a:defRPr/>
            </a:pPr>
            <a:r>
              <a:rPr lang="en-US" altLang="en-US" sz="2800" b="1" dirty="0">
                <a:latin typeface="Helvetica" panose="020B0604020202020204" pitchFamily="34" charset="0"/>
                <a:cs typeface="Helvetica" panose="020B0604020202020204" pitchFamily="34" charset="0"/>
              </a:rPr>
              <a:t>Routes of Administration</a:t>
            </a:r>
          </a:p>
          <a:p>
            <a:pPr marL="1050925" lvl="1" indent="-574675">
              <a:defRPr/>
            </a:pPr>
            <a:r>
              <a:rPr lang="en-US" altLang="en-US" dirty="0">
                <a:latin typeface="Helvetica" panose="020B0604020202020204" pitchFamily="34" charset="0"/>
                <a:cs typeface="Helvetica" panose="020B0604020202020204" pitchFamily="34" charset="0"/>
              </a:rPr>
              <a:t>How the drug is given.</a:t>
            </a:r>
          </a:p>
          <a:p>
            <a:pPr marL="476250" lvl="1" indent="0">
              <a:buFontTx/>
              <a:buNone/>
              <a:defRPr/>
            </a:pPr>
            <a:endParaRPr lang="en-US" altLang="en-US" dirty="0">
              <a:latin typeface="Helvetica" panose="020B0604020202020204" pitchFamily="34" charset="0"/>
              <a:cs typeface="Helvetica" panose="020B0604020202020204" pitchFamily="34" charset="0"/>
            </a:endParaRPr>
          </a:p>
          <a:p>
            <a:pPr marL="574675" indent="-574675">
              <a:defRPr/>
            </a:pPr>
            <a:r>
              <a:rPr lang="en-US" altLang="en-US" sz="2800" b="1" dirty="0">
                <a:latin typeface="Helvetica" panose="020B0604020202020204" pitchFamily="34" charset="0"/>
                <a:cs typeface="Helvetica" panose="020B0604020202020204" pitchFamily="34" charset="0"/>
              </a:rPr>
              <a:t>Side Effects/Adverse Reactions</a:t>
            </a:r>
          </a:p>
          <a:p>
            <a:pPr marL="1050925" lvl="1" indent="-574675">
              <a:defRPr/>
            </a:pPr>
            <a:r>
              <a:rPr lang="en-US" altLang="en-US" dirty="0">
                <a:latin typeface="Helvetica" panose="020B0604020202020204" pitchFamily="34" charset="0"/>
                <a:cs typeface="Helvetica" panose="020B0604020202020204" pitchFamily="34" charset="0"/>
              </a:rPr>
              <a:t>The drug’s untoward or undesired effect</a:t>
            </a:r>
          </a:p>
          <a:p>
            <a:pPr marL="476250" lvl="1" indent="0">
              <a:buFontTx/>
              <a:buNone/>
              <a:defRPr/>
            </a:pPr>
            <a:endParaRPr lang="en-US" altLang="en-US" dirty="0">
              <a:latin typeface="Helvetica" panose="020B0604020202020204" pitchFamily="34" charset="0"/>
              <a:cs typeface="Helvetica" panose="020B0604020202020204" pitchFamily="34" charset="0"/>
            </a:endParaRPr>
          </a:p>
          <a:p>
            <a:pPr marL="574675" indent="-574675">
              <a:defRPr/>
            </a:pPr>
            <a:r>
              <a:rPr lang="en-US" altLang="en-US" sz="2800" b="1" dirty="0">
                <a:latin typeface="Helvetica" panose="020B0604020202020204" pitchFamily="34" charset="0"/>
                <a:cs typeface="Helvetica" panose="020B0604020202020204" pitchFamily="34" charset="0"/>
              </a:rPr>
              <a:t>Mechanism of Action</a:t>
            </a:r>
            <a:endParaRPr lang="en-US" sz="2800" b="1" dirty="0">
              <a:latin typeface="Helvetica" panose="020B0604020202020204" pitchFamily="34" charset="0"/>
              <a:cs typeface="Helvetica" panose="020B0604020202020204" pitchFamily="34" charset="0"/>
            </a:endParaRPr>
          </a:p>
          <a:p>
            <a:pPr marL="1050925" lvl="1" indent="-574675">
              <a:defRPr/>
            </a:pPr>
            <a:r>
              <a:rPr lang="en-US" altLang="en-US" dirty="0">
                <a:latin typeface="Helvetica" panose="020B0604020202020204" pitchFamily="34" charset="0"/>
                <a:cs typeface="Helvetica" panose="020B0604020202020204" pitchFamily="34" charset="0"/>
              </a:rPr>
              <a:t>The way in which a drug causes its effects; its pharmacodynamics</a:t>
            </a:r>
            <a:endParaRPr lang="en-US" dirty="0">
              <a:latin typeface="Helvetica" panose="020B0604020202020204" pitchFamily="34" charset="0"/>
              <a:cs typeface="Helvetica" panose="020B0604020202020204" pitchFamily="34" charset="0"/>
            </a:endParaRPr>
          </a:p>
          <a:p>
            <a:pPr marL="0" indent="0">
              <a:lnSpc>
                <a:spcPct val="120000"/>
              </a:lnSpc>
              <a:spcBef>
                <a:spcPts val="0"/>
              </a:spcBef>
              <a:spcAft>
                <a:spcPts val="1800"/>
              </a:spcAft>
              <a:buNone/>
            </a:pPr>
            <a:endParaRPr lang="en-US" dirty="0">
              <a:latin typeface="Helvetica"/>
              <a:cs typeface="Helvetica"/>
            </a:endParaRPr>
          </a:p>
          <a:p>
            <a:pPr>
              <a:lnSpc>
                <a:spcPct val="120000"/>
              </a:lnSpc>
              <a:spcBef>
                <a:spcPts val="0"/>
              </a:spcBef>
              <a:spcAft>
                <a:spcPts val="1800"/>
              </a:spcAft>
              <a:buFont typeface="Wingdings" charset="2"/>
              <a:buChar char="u"/>
            </a:pPr>
            <a:endParaRPr lang="en-US" dirty="0">
              <a:latin typeface="Helvetica"/>
              <a:cs typeface="Helvetica"/>
            </a:endParaRPr>
          </a:p>
        </p:txBody>
      </p:sp>
    </p:spTree>
    <p:extLst>
      <p:ext uri="{BB962C8B-B14F-4D97-AF65-F5344CB8AC3E}">
        <p14:creationId xmlns:p14="http://schemas.microsoft.com/office/powerpoint/2010/main" val="2768165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65575"/>
            <a:ext cx="8229600" cy="696206"/>
          </a:xfrm>
        </p:spPr>
        <p:txBody>
          <a:bodyPr/>
          <a:lstStyle/>
          <a:p>
            <a:pPr algn="l"/>
            <a:r>
              <a:rPr lang="en-US" sz="3600" b="1" dirty="0">
                <a:solidFill>
                  <a:srgbClr val="008000"/>
                </a:solidFill>
                <a:latin typeface="Helvetica"/>
                <a:cs typeface="Helvetica"/>
              </a:rPr>
              <a:t>Pharmacology Terminologies </a:t>
            </a:r>
          </a:p>
        </p:txBody>
      </p:sp>
      <p:sp>
        <p:nvSpPr>
          <p:cNvPr id="5" name="Rectangle 3"/>
          <p:cNvSpPr txBox="1">
            <a:spLocks noChangeArrowheads="1"/>
          </p:cNvSpPr>
          <p:nvPr/>
        </p:nvSpPr>
        <p:spPr bwMode="auto">
          <a:xfrm>
            <a:off x="216569" y="803293"/>
            <a:ext cx="8626642" cy="5083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314325" marR="0" lvl="0" indent="-314325" algn="just"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sz="2800" b="1" i="0" u="none" strike="noStrike" kern="0" cap="none" spc="0" normalizeH="0" baseline="0" noProof="1">
                <a:ln>
                  <a:noFill/>
                </a:ln>
                <a:solidFill>
                  <a:srgbClr val="000000"/>
                </a:solidFill>
                <a:effectLst/>
                <a:uLnTx/>
                <a:uFillTx/>
                <a:latin typeface="Arial"/>
                <a:ea typeface="MS PGothic" pitchFamily="34" charset="-128"/>
                <a:cs typeface="+mn-cs"/>
              </a:rPr>
              <a:t>Medical pharmacology is studying processes by</a:t>
            </a:r>
            <a:r>
              <a:rPr kumimoji="0" lang="en-US" sz="2800" b="1" i="0" u="none" strike="noStrike" kern="0" cap="none" spc="0" normalizeH="0" baseline="0" noProof="0" dirty="0">
                <a:ln>
                  <a:noFill/>
                </a:ln>
                <a:solidFill>
                  <a:srgbClr val="000000"/>
                </a:solidFill>
                <a:effectLst/>
                <a:uLnTx/>
                <a:uFillTx/>
                <a:latin typeface="Arial"/>
                <a:ea typeface="MS PGothic" pitchFamily="34" charset="-128"/>
                <a:cs typeface="+mn-cs"/>
              </a:rPr>
              <a:t> </a:t>
            </a:r>
            <a:r>
              <a:rPr kumimoji="0" lang="en-US" sz="2800" b="1" i="0" u="none" strike="noStrike" kern="0" cap="none" spc="0" normalizeH="0" baseline="0" noProof="1">
                <a:ln>
                  <a:noFill/>
                </a:ln>
                <a:solidFill>
                  <a:srgbClr val="000000"/>
                </a:solidFill>
                <a:effectLst/>
                <a:uLnTx/>
                <a:uFillTx/>
                <a:latin typeface="Arial"/>
                <a:ea typeface="MS PGothic" pitchFamily="34" charset="-128"/>
                <a:cs typeface="+mn-cs"/>
              </a:rPr>
              <a:t>which:</a:t>
            </a: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 </a:t>
            </a:r>
          </a:p>
          <a:p>
            <a:pPr marR="0" lvl="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a drug travels from the point of delivery to its site of action </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and out of the body</a:t>
            </a: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 </a:t>
            </a:r>
            <a:r>
              <a:rPr kumimoji="0" lang="en-US" sz="2800" b="1" i="0" u="none" strike="noStrike" kern="0" cap="none" spc="0" normalizeH="0" baseline="0" noProof="0" dirty="0">
                <a:ln>
                  <a:noFill/>
                </a:ln>
                <a:solidFill>
                  <a:srgbClr val="000000"/>
                </a:solidFill>
                <a:effectLst>
                  <a:outerShdw blurRad="38100" dist="38100" dir="2700000" algn="tl">
                    <a:srgbClr val="C0C0C0"/>
                  </a:outerShdw>
                </a:effectLst>
                <a:uLnTx/>
                <a:uFillTx/>
                <a:latin typeface="Arial"/>
                <a:ea typeface="MS PGothic" pitchFamily="34" charset="-128"/>
                <a:cs typeface="+mn-cs"/>
              </a:rPr>
              <a:t>P</a:t>
            </a:r>
            <a:r>
              <a:rPr kumimoji="0" lang="en-US" sz="2800" b="1" i="0" u="none" strike="noStrike" kern="0" cap="none" spc="0" normalizeH="0" baseline="0" noProof="1">
                <a:ln>
                  <a:noFill/>
                </a:ln>
                <a:solidFill>
                  <a:srgbClr val="000000"/>
                </a:solidFill>
                <a:effectLst>
                  <a:outerShdw blurRad="38100" dist="38100" dir="2700000" algn="tl">
                    <a:srgbClr val="C0C0C0"/>
                  </a:outerShdw>
                </a:effectLst>
                <a:uLnTx/>
                <a:uFillTx/>
                <a:latin typeface="Arial"/>
                <a:ea typeface="MS PGothic" pitchFamily="34" charset="-128"/>
                <a:cs typeface="+mn-cs"/>
              </a:rPr>
              <a:t>harmacokinetics</a:t>
            </a:r>
          </a:p>
          <a:p>
            <a:pPr marL="0" marR="0" lvl="0" indent="0" algn="just" defTabSz="914400" rtl="0" eaLnBrk="1" fontAlgn="base" latinLnBrk="0" hangingPunct="1">
              <a:lnSpc>
                <a:spcPct val="100000"/>
              </a:lnSpc>
              <a:spcBef>
                <a:spcPct val="20000"/>
              </a:spcBef>
              <a:spcAft>
                <a:spcPct val="0"/>
              </a:spcAft>
              <a:buClrTx/>
              <a:buSzTx/>
              <a:buFontTx/>
              <a:buNone/>
              <a:tabLst/>
              <a:defRPr/>
            </a:pPr>
            <a:endParaRPr kumimoji="0" lang="en-US" sz="28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R="0" lvl="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 drugs alter body functions- </a:t>
            </a:r>
            <a:endPar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R="0" lvl="1"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2800" b="1" i="0" u="none" strike="noStrike" kern="0" cap="none" spc="0" normalizeH="0" baseline="0" noProof="1">
                <a:ln>
                  <a:noFill/>
                </a:ln>
                <a:solidFill>
                  <a:srgbClr val="000000"/>
                </a:solidFill>
                <a:effectLst>
                  <a:outerShdw blurRad="38100" dist="38100" dir="2700000" algn="tl">
                    <a:srgbClr val="C0C0C0"/>
                  </a:outerShdw>
                </a:effectLst>
                <a:uLnTx/>
                <a:uFillTx/>
                <a:latin typeface="Arial"/>
                <a:ea typeface="MS PGothic" pitchFamily="34" charset="-128"/>
              </a:rPr>
              <a:t>Pharmacodynamics</a:t>
            </a:r>
            <a:endParaRPr kumimoji="0" lang="en-US" sz="2800" b="1" i="0" u="none" strike="noStrike" kern="0" cap="none" spc="0" normalizeH="0" baseline="0" noProof="0" dirty="0">
              <a:ln>
                <a:noFill/>
              </a:ln>
              <a:solidFill>
                <a:srgbClr val="000000"/>
              </a:solidFill>
              <a:effectLst>
                <a:outerShdw blurRad="38100" dist="38100" dir="2700000" algn="tl">
                  <a:srgbClr val="C0C0C0"/>
                </a:outerShdw>
              </a:effectLst>
              <a:uLnTx/>
              <a:uFillTx/>
              <a:latin typeface="Arial"/>
              <a:ea typeface="MS PGothic" pitchFamily="34" charset="-128"/>
            </a:endParaRPr>
          </a:p>
          <a:p>
            <a:pPr marL="314325" marR="0" lvl="0" indent="-314325" algn="just" defTabSz="914400" rtl="0" eaLnBrk="1" fontAlgn="base" latinLnBrk="0" hangingPunct="1">
              <a:lnSpc>
                <a:spcPct val="100000"/>
              </a:lnSpc>
              <a:spcBef>
                <a:spcPct val="20000"/>
              </a:spcBef>
              <a:spcAft>
                <a:spcPct val="0"/>
              </a:spcAft>
              <a:buClrTx/>
              <a:buSzTx/>
              <a:buFontTx/>
              <a:buBlip>
                <a:blip r:embed="rId3"/>
              </a:buBlip>
              <a:tabLst/>
              <a:defRPr/>
            </a:pPr>
            <a:endPar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R="0" lvl="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Pharmacology deals with the </a:t>
            </a:r>
            <a:r>
              <a:rPr kumimoji="0" lang="en-US" sz="2800" b="1" i="1" u="none" strike="noStrike" kern="0" cap="none" spc="0" normalizeH="0" baseline="0" noProof="0" dirty="0">
                <a:ln>
                  <a:noFill/>
                </a:ln>
                <a:solidFill>
                  <a:srgbClr val="000000"/>
                </a:solidFill>
                <a:effectLst/>
                <a:uLnTx/>
                <a:uFillTx/>
                <a:latin typeface="Arial"/>
                <a:ea typeface="MS PGothic" pitchFamily="34" charset="-128"/>
                <a:cs typeface="+mn-cs"/>
              </a:rPr>
              <a:t>fate</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 and </a:t>
            </a:r>
            <a:r>
              <a:rPr kumimoji="0" lang="en-US" sz="2800" b="1" i="1" u="none" strike="noStrike" kern="0" cap="none" spc="0" normalizeH="0" baseline="0" noProof="0" dirty="0">
                <a:ln>
                  <a:noFill/>
                </a:ln>
                <a:solidFill>
                  <a:srgbClr val="000000"/>
                </a:solidFill>
                <a:effectLst/>
                <a:uLnTx/>
                <a:uFillTx/>
                <a:latin typeface="Arial"/>
                <a:ea typeface="MS PGothic" pitchFamily="34" charset="-128"/>
                <a:cs typeface="+mn-cs"/>
              </a:rPr>
              <a:t>actions</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 of drugs in the body</a:t>
            </a:r>
          </a:p>
        </p:txBody>
      </p:sp>
    </p:spTree>
    <p:extLst>
      <p:ext uri="{BB962C8B-B14F-4D97-AF65-F5344CB8AC3E}">
        <p14:creationId xmlns:p14="http://schemas.microsoft.com/office/powerpoint/2010/main" val="35464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44380" y="946047"/>
            <a:ext cx="8686800" cy="5153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0" indent="0" algn="just" eaLnBrk="1" hangingPunct="1">
              <a:lnSpc>
                <a:spcPct val="150000"/>
              </a:lnSpc>
              <a:buNone/>
            </a:pPr>
            <a:r>
              <a:rPr lang="en-US" sz="2800" dirty="0">
                <a:latin typeface="Helvetica"/>
                <a:cs typeface="Helvetica"/>
              </a:rPr>
              <a:t>is an integrative discipline involving fields of study such</a:t>
            </a:r>
            <a:r>
              <a:rPr lang="en-US" altLang="en-US" sz="2800" dirty="0">
                <a:latin typeface="Helvetica" panose="020B0604020202020204" pitchFamily="34" charset="0"/>
                <a:cs typeface="Helvetica" panose="020B0604020202020204" pitchFamily="34" charset="0"/>
              </a:rPr>
              <a:t>:</a:t>
            </a:r>
          </a:p>
          <a:p>
            <a:pPr lvl="1" algn="just" eaLnBrk="1" hangingPunct="1">
              <a:lnSpc>
                <a:spcPct val="15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organic chemistry</a:t>
            </a:r>
          </a:p>
          <a:p>
            <a:pPr lvl="1" algn="just" eaLnBrk="1" hangingPunct="1">
              <a:lnSpc>
                <a:spcPct val="15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biochemistry</a:t>
            </a:r>
          </a:p>
          <a:p>
            <a:pPr lvl="1" algn="just" eaLnBrk="1" hangingPunct="1">
              <a:lnSpc>
                <a:spcPct val="15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physiology</a:t>
            </a:r>
          </a:p>
          <a:p>
            <a:pPr lvl="1" algn="just" eaLnBrk="1" hangingPunct="1">
              <a:lnSpc>
                <a:spcPct val="15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pathology and </a:t>
            </a:r>
          </a:p>
          <a:p>
            <a:pPr lvl="1" algn="just" eaLnBrk="1" hangingPunct="1">
              <a:lnSpc>
                <a:spcPct val="15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microbiology. </a:t>
            </a:r>
          </a:p>
        </p:txBody>
      </p:sp>
      <p:sp>
        <p:nvSpPr>
          <p:cNvPr id="6" name="Title 1"/>
          <p:cNvSpPr>
            <a:spLocks noGrp="1"/>
          </p:cNvSpPr>
          <p:nvPr>
            <p:ph type="title"/>
          </p:nvPr>
        </p:nvSpPr>
        <p:spPr>
          <a:xfrm>
            <a:off x="457200" y="306207"/>
            <a:ext cx="8229600" cy="696206"/>
          </a:xfrm>
        </p:spPr>
        <p:txBody>
          <a:bodyPr/>
          <a:lstStyle/>
          <a:p>
            <a:r>
              <a:rPr lang="en-US" sz="3600" b="1" dirty="0">
                <a:solidFill>
                  <a:srgbClr val="008000"/>
                </a:solidFill>
                <a:latin typeface="Helvetica"/>
                <a:cs typeface="Helvetica"/>
              </a:rPr>
              <a:t>Pharmacology</a:t>
            </a:r>
          </a:p>
        </p:txBody>
      </p:sp>
    </p:spTree>
    <p:extLst>
      <p:ext uri="{BB962C8B-B14F-4D97-AF65-F5344CB8AC3E}">
        <p14:creationId xmlns:p14="http://schemas.microsoft.com/office/powerpoint/2010/main" val="3884557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733927"/>
            <a:ext cx="9143999" cy="561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0" indent="0" algn="just" eaLnBrk="1" hangingPunct="1">
              <a:lnSpc>
                <a:spcPct val="90000"/>
              </a:lnSpc>
              <a:buNone/>
            </a:pPr>
            <a:r>
              <a:rPr lang="en-US" altLang="en-US" sz="2800" dirty="0">
                <a:latin typeface="Helvetica" panose="020B0604020202020204" pitchFamily="34" charset="0"/>
                <a:cs typeface="Helvetica" panose="020B0604020202020204" pitchFamily="34" charset="0"/>
              </a:rPr>
              <a:t>Pharmacokinetics:</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a drug travels from the point of delivery to its site of action and out of the body</a:t>
            </a:r>
          </a:p>
          <a:p>
            <a:pPr algn="just" eaLnBrk="1" hangingPunct="1">
              <a:lnSpc>
                <a:spcPct val="9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Pharmacodynamics</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drugs alter body functions-</a:t>
            </a:r>
          </a:p>
          <a:p>
            <a:pPr algn="just" eaLnBrk="1" hangingPunct="1">
              <a:lnSpc>
                <a:spcPct val="9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Pharmacotherapeutics (Therapeutics): </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The application of pharmacology to the problems of clinical medicine.</a:t>
            </a:r>
          </a:p>
          <a:p>
            <a:pPr algn="just" eaLnBrk="1" hangingPunct="1">
              <a:lnSpc>
                <a:spcPct val="9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Chemotherapy: </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The use of drugs, which ideally have little effect on the host (patient) but destroy or retard the growth of invading cells and organisms.</a:t>
            </a:r>
          </a:p>
        </p:txBody>
      </p:sp>
      <p:sp>
        <p:nvSpPr>
          <p:cNvPr id="3" name="Rectangle 2"/>
          <p:cNvSpPr>
            <a:spLocks noGrp="1" noChangeArrowheads="1"/>
          </p:cNvSpPr>
          <p:nvPr>
            <p:ph type="title"/>
          </p:nvPr>
        </p:nvSpPr>
        <p:spPr>
          <a:xfrm>
            <a:off x="457200" y="242554"/>
            <a:ext cx="7543800" cy="715962"/>
          </a:xfrm>
        </p:spPr>
        <p:txBody>
          <a:bodyPr/>
          <a:lstStyle/>
          <a:p>
            <a:pPr eaLnBrk="1" hangingPunct="1"/>
            <a:r>
              <a:rPr lang="en-US" altLang="en-US" sz="2000" b="1" i="1" dirty="0">
                <a:solidFill>
                  <a:srgbClr val="00B050"/>
                </a:solidFill>
              </a:rPr>
              <a:t>Pharmacology: </a:t>
            </a:r>
            <a:r>
              <a:rPr lang="en-US" altLang="en-US" sz="2000" b="1" dirty="0">
                <a:solidFill>
                  <a:srgbClr val="00B050"/>
                </a:solidFill>
              </a:rPr>
              <a:t>Subdivisions of particular importance include:</a:t>
            </a:r>
          </a:p>
        </p:txBody>
      </p:sp>
    </p:spTree>
    <p:extLst>
      <p:ext uri="{BB962C8B-B14F-4D97-AF65-F5344CB8AC3E}">
        <p14:creationId xmlns:p14="http://schemas.microsoft.com/office/powerpoint/2010/main" val="874234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958516"/>
            <a:ext cx="9143999" cy="561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algn="just" eaLnBrk="1" hangingPunct="1">
              <a:lnSpc>
                <a:spcPct val="90000"/>
              </a:lnSpc>
              <a:buFont typeface="Wingdings" panose="05000000000000000000" pitchFamily="2" charset="2"/>
              <a:buChar char="F"/>
            </a:pPr>
            <a:r>
              <a:rPr lang="en-US" altLang="en-US" sz="2800" dirty="0">
                <a:latin typeface="Helvetica" panose="020B0604020202020204" pitchFamily="34" charset="0"/>
                <a:cs typeface="Helvetica" panose="020B0604020202020204" pitchFamily="34" charset="0"/>
              </a:rPr>
              <a:t>Toxicology: </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The pharmacology of poisons and the harmful effects of any drug.</a:t>
            </a:r>
          </a:p>
          <a:p>
            <a:pPr algn="just" eaLnBrk="1" hangingPunct="1">
              <a:lnSpc>
                <a:spcPct val="90000"/>
              </a:lnSpc>
              <a:buFont typeface="Wingdings" panose="05000000000000000000" pitchFamily="2" charset="2"/>
              <a:buChar char="F"/>
            </a:pPr>
            <a:r>
              <a:rPr lang="en-US" altLang="en-US" sz="2800" dirty="0" err="1">
                <a:latin typeface="Helvetica" panose="020B0604020202020204" pitchFamily="34" charset="0"/>
                <a:cs typeface="Helvetica" panose="020B0604020202020204" pitchFamily="34" charset="0"/>
              </a:rPr>
              <a:t>Pharmacoeconomics</a:t>
            </a:r>
            <a:r>
              <a:rPr lang="en-US" altLang="en-US" sz="2800" dirty="0">
                <a:latin typeface="Helvetica" panose="020B0604020202020204" pitchFamily="34" charset="0"/>
                <a:cs typeface="Helvetica" panose="020B0604020202020204" pitchFamily="34" charset="0"/>
              </a:rPr>
              <a:t>:</a:t>
            </a:r>
          </a:p>
          <a:p>
            <a:pPr lvl="1" algn="just" eaLnBrk="1" hangingPunct="1">
              <a:lnSpc>
                <a:spcPct val="90000"/>
              </a:lnSpc>
              <a:buFont typeface="Wingdings" panose="05000000000000000000" pitchFamily="2" charset="2"/>
              <a:buChar char="F"/>
            </a:pPr>
            <a:r>
              <a:rPr lang="en-US" sz="2600" dirty="0">
                <a:latin typeface="Helvetica" panose="020B0604020202020204" pitchFamily="34" charset="0"/>
                <a:cs typeface="Helvetica" panose="020B0604020202020204" pitchFamily="34" charset="0"/>
              </a:rPr>
              <a:t>is the study of the cost-effectiveness of drug treatments; the cost of medications is of worldwide concern, particularly among certain groups such as the elderly and AIDS patients.</a:t>
            </a:r>
          </a:p>
          <a:p>
            <a:pPr algn="just" eaLnBrk="1" hangingPunct="1">
              <a:lnSpc>
                <a:spcPct val="90000"/>
              </a:lnSpc>
              <a:buFont typeface="Wingdings" panose="05000000000000000000" pitchFamily="2" charset="2"/>
              <a:buChar char="F"/>
            </a:pPr>
            <a:r>
              <a:rPr lang="en-US" altLang="en-US" sz="2800" dirty="0" err="1">
                <a:latin typeface="Helvetica" panose="020B0604020202020204" pitchFamily="34" charset="0"/>
                <a:cs typeface="Helvetica" panose="020B0604020202020204" pitchFamily="34" charset="0"/>
              </a:rPr>
              <a:t>Pharmacoepidemiology</a:t>
            </a:r>
            <a:r>
              <a:rPr lang="en-US" altLang="en-US" sz="2800" dirty="0">
                <a:latin typeface="Helvetica" panose="020B0604020202020204" pitchFamily="34" charset="0"/>
                <a:cs typeface="Helvetica" panose="020B0604020202020204" pitchFamily="34" charset="0"/>
              </a:rPr>
              <a:t>:</a:t>
            </a:r>
          </a:p>
          <a:p>
            <a:pPr lvl="1" algn="just" eaLnBrk="1" hangingPunct="1">
              <a:lnSpc>
                <a:spcPct val="90000"/>
              </a:lnSpc>
              <a:buFont typeface="Wingdings" panose="05000000000000000000" pitchFamily="2" charset="2"/>
              <a:buChar char="F"/>
            </a:pPr>
            <a:r>
              <a:rPr lang="en-US" altLang="en-US" sz="2600" dirty="0">
                <a:latin typeface="Helvetica" panose="020B0604020202020204" pitchFamily="34" charset="0"/>
                <a:cs typeface="Helvetica" panose="020B0604020202020204" pitchFamily="34" charset="0"/>
              </a:rPr>
              <a:t>is the study of the effect of drugs on populations; questions dealing with the influence of genetics are particularly important</a:t>
            </a:r>
          </a:p>
        </p:txBody>
      </p:sp>
      <p:sp>
        <p:nvSpPr>
          <p:cNvPr id="3" name="Rectangle 2"/>
          <p:cNvSpPr>
            <a:spLocks noGrp="1" noChangeArrowheads="1"/>
          </p:cNvSpPr>
          <p:nvPr>
            <p:ph type="title"/>
          </p:nvPr>
        </p:nvSpPr>
        <p:spPr>
          <a:xfrm>
            <a:off x="457200" y="242554"/>
            <a:ext cx="7543800" cy="715962"/>
          </a:xfrm>
        </p:spPr>
        <p:txBody>
          <a:bodyPr/>
          <a:lstStyle/>
          <a:p>
            <a:pPr eaLnBrk="1" hangingPunct="1"/>
            <a:r>
              <a:rPr lang="en-US" altLang="en-US" sz="2000" b="1" i="1" dirty="0">
                <a:solidFill>
                  <a:srgbClr val="00B050"/>
                </a:solidFill>
              </a:rPr>
              <a:t>Pharmacology: </a:t>
            </a:r>
            <a:r>
              <a:rPr lang="en-US" altLang="en-US" sz="2000" b="1" dirty="0">
                <a:solidFill>
                  <a:srgbClr val="00B050"/>
                </a:solidFill>
              </a:rPr>
              <a:t>Subdivisions of particular importance include:</a:t>
            </a:r>
          </a:p>
        </p:txBody>
      </p:sp>
    </p:spTree>
    <p:extLst>
      <p:ext uri="{BB962C8B-B14F-4D97-AF65-F5344CB8AC3E}">
        <p14:creationId xmlns:p14="http://schemas.microsoft.com/office/powerpoint/2010/main" val="1657200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latin typeface="Helvetica" panose="020B0604020202020204" pitchFamily="34" charset="0"/>
                <a:cs typeface="Helvetica" panose="020B0604020202020204" pitchFamily="34" charset="0"/>
              </a:rPr>
              <a:t>Assignment 1</a:t>
            </a:r>
          </a:p>
        </p:txBody>
      </p:sp>
      <p:sp>
        <p:nvSpPr>
          <p:cNvPr id="3" name="TextBox 2"/>
          <p:cNvSpPr txBox="1"/>
          <p:nvPr/>
        </p:nvSpPr>
        <p:spPr>
          <a:xfrm>
            <a:off x="457199" y="858167"/>
            <a:ext cx="8542421" cy="5262979"/>
          </a:xfrm>
          <a:prstGeom prst="rect">
            <a:avLst/>
          </a:prstGeom>
          <a:noFill/>
        </p:spPr>
        <p:txBody>
          <a:bodyPr wrap="square" rtlCol="0">
            <a:spAutoFit/>
          </a:bodyPr>
          <a:lstStyle/>
          <a:p>
            <a:pPr algn="just">
              <a:lnSpc>
                <a:spcPct val="150000"/>
              </a:lnSpc>
            </a:pPr>
            <a:r>
              <a:rPr lang="en-US" sz="2800" dirty="0">
                <a:latin typeface="Helvetica" panose="020B0604020202020204" pitchFamily="34" charset="0"/>
                <a:cs typeface="Helvetica" panose="020B0604020202020204" pitchFamily="34" charset="0"/>
              </a:rPr>
              <a:t>Briefly describe the role of the following scientists in the development of Pharmacology as a Science.</a:t>
            </a: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Friedrich </a:t>
            </a:r>
            <a:r>
              <a:rPr lang="en-US" sz="2800" dirty="0" err="1">
                <a:latin typeface="Helvetica" panose="020B0604020202020204" pitchFamily="34" charset="0"/>
                <a:cs typeface="Helvetica" panose="020B0604020202020204" pitchFamily="34" charset="0"/>
              </a:rPr>
              <a:t>Worler</a:t>
            </a:r>
            <a:endParaRPr lang="en-US" sz="2800" dirty="0">
              <a:latin typeface="Helvetica" panose="020B0604020202020204" pitchFamily="34" charset="0"/>
              <a:cs typeface="Helvetica" panose="020B0604020202020204" pitchFamily="34" charset="0"/>
            </a:endParaRP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Francois </a:t>
            </a:r>
            <a:r>
              <a:rPr lang="en-US" sz="2800" dirty="0" err="1">
                <a:latin typeface="Helvetica" panose="020B0604020202020204" pitchFamily="34" charset="0"/>
                <a:cs typeface="Helvetica" panose="020B0604020202020204" pitchFamily="34" charset="0"/>
              </a:rPr>
              <a:t>Magendie</a:t>
            </a:r>
            <a:endParaRPr lang="en-US" sz="2800" dirty="0">
              <a:latin typeface="Helvetica" panose="020B0604020202020204" pitchFamily="34" charset="0"/>
              <a:cs typeface="Helvetica" panose="020B0604020202020204" pitchFamily="34" charset="0"/>
            </a:endParaRP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Claude Bernard</a:t>
            </a: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Oswald </a:t>
            </a:r>
            <a:r>
              <a:rPr lang="en-US" sz="2800" dirty="0" err="1">
                <a:latin typeface="Helvetica" panose="020B0604020202020204" pitchFamily="34" charset="0"/>
                <a:cs typeface="Helvetica" panose="020B0604020202020204" pitchFamily="34" charset="0"/>
              </a:rPr>
              <a:t>Schmiedeberg</a:t>
            </a:r>
            <a:endParaRPr lang="en-US" sz="2800" dirty="0">
              <a:latin typeface="Helvetica" panose="020B0604020202020204" pitchFamily="34" charset="0"/>
              <a:cs typeface="Helvetica" panose="020B0604020202020204" pitchFamily="34" charset="0"/>
            </a:endParaRP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William Withering</a:t>
            </a:r>
          </a:p>
          <a:p>
            <a:pPr marL="514350" indent="-514350" algn="just">
              <a:lnSpc>
                <a:spcPct val="150000"/>
              </a:lnSpc>
              <a:buAutoNum type="arabicPeriod"/>
            </a:pPr>
            <a:r>
              <a:rPr lang="en-US" sz="2800" dirty="0">
                <a:latin typeface="Helvetica" panose="020B0604020202020204" pitchFamily="34" charset="0"/>
                <a:cs typeface="Helvetica" panose="020B0604020202020204" pitchFamily="34" charset="0"/>
              </a:rPr>
              <a:t>John Jacob Abel</a:t>
            </a:r>
          </a:p>
        </p:txBody>
      </p:sp>
    </p:spTree>
    <p:extLst>
      <p:ext uri="{BB962C8B-B14F-4D97-AF65-F5344CB8AC3E}">
        <p14:creationId xmlns:p14="http://schemas.microsoft.com/office/powerpoint/2010/main" val="643939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a:xfrm>
            <a:off x="492125" y="2514600"/>
            <a:ext cx="8159750" cy="1143000"/>
          </a:xfrm>
          <a:prstGeom prst="rect">
            <a:avLst/>
          </a:prstGeom>
        </p:spPr>
        <p:txBody>
          <a:bodyPr lIns="92075" tIns="46038" rIns="92075" bIns="46038" anchor="ct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sz="5400" b="1" dirty="0">
                <a:solidFill>
                  <a:srgbClr val="00B050"/>
                </a:solidFill>
                <a:latin typeface="Bradley Hand ITC" panose="03070402050302030203" pitchFamily="66" charset="0"/>
              </a:rPr>
              <a:t>DRUG NOMENCLATURE</a:t>
            </a:r>
          </a:p>
        </p:txBody>
      </p:sp>
    </p:spTree>
    <p:extLst>
      <p:ext uri="{BB962C8B-B14F-4D97-AF65-F5344CB8AC3E}">
        <p14:creationId xmlns:p14="http://schemas.microsoft.com/office/powerpoint/2010/main" val="373574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68" decel="100000"/>
                                        <p:tgtEl>
                                          <p:spTgt spid="3"/>
                                        </p:tgtEl>
                                      </p:cBhvr>
                                    </p:animEffect>
                                    <p:animScale>
                                      <p:cBhvr>
                                        <p:cTn id="8" dur="768" decel="100000"/>
                                        <p:tgtEl>
                                          <p:spTgt spid="3"/>
                                        </p:tgtEl>
                                      </p:cBhvr>
                                      <p:from x="10000" y="10000"/>
                                      <p:to x="200000" y="450000"/>
                                    </p:animScale>
                                    <p:animScale>
                                      <p:cBhvr>
                                        <p:cTn id="9" dur="1230" accel="100000" fill="hold">
                                          <p:stCondLst>
                                            <p:cond delay="768"/>
                                          </p:stCondLst>
                                        </p:cTn>
                                        <p:tgtEl>
                                          <p:spTgt spid="3"/>
                                        </p:tgtEl>
                                      </p:cBhvr>
                                      <p:from x="200000" y="450000"/>
                                      <p:to x="100000" y="100000"/>
                                    </p:animScale>
                                    <p:set>
                                      <p:cBhvr>
                                        <p:cTn id="10" dur="768" fill="hold"/>
                                        <p:tgtEl>
                                          <p:spTgt spid="3"/>
                                        </p:tgtEl>
                                        <p:attrNameLst>
                                          <p:attrName>ppt_x</p:attrName>
                                        </p:attrNameLst>
                                      </p:cBhvr>
                                      <p:to>
                                        <p:strVal val="(0.5)"/>
                                      </p:to>
                                    </p:set>
                                    <p:anim from="(0.5)" to="(#ppt_x)" calcmode="lin" valueType="num">
                                      <p:cBhvr>
                                        <p:cTn id="11" dur="1230" accel="100000" fill="hold">
                                          <p:stCondLst>
                                            <p:cond delay="768"/>
                                          </p:stCondLst>
                                        </p:cTn>
                                        <p:tgtEl>
                                          <p:spTgt spid="3"/>
                                        </p:tgtEl>
                                        <p:attrNameLst>
                                          <p:attrName>ppt_x</p:attrName>
                                        </p:attrNameLst>
                                      </p:cBhvr>
                                    </p:anim>
                                    <p:set>
                                      <p:cBhvr>
                                        <p:cTn id="12" dur="768" fill="hold"/>
                                        <p:tgtEl>
                                          <p:spTgt spid="3"/>
                                        </p:tgtEl>
                                        <p:attrNameLst>
                                          <p:attrName>ppt_y</p:attrName>
                                        </p:attrNameLst>
                                      </p:cBhvr>
                                      <p:to>
                                        <p:strVal val="(#ppt_y+0.4)"/>
                                      </p:to>
                                    </p:set>
                                    <p:anim from="(#ppt_y+0.4)" to="(#ppt_y)" calcmode="lin" valueType="num">
                                      <p:cBhvr>
                                        <p:cTn id="13" dur="1230" accel="100000" fill="hold">
                                          <p:stCondLst>
                                            <p:cond delay="768"/>
                                          </p:stCondLst>
                                        </p:cTn>
                                        <p:tgtEl>
                                          <p:spTgt spid="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latin typeface="Helvetica" panose="020B0604020202020204" pitchFamily="34" charset="0"/>
                <a:cs typeface="Helvetica" panose="020B0604020202020204" pitchFamily="34" charset="0"/>
              </a:rPr>
              <a:t>Drug</a:t>
            </a:r>
            <a:r>
              <a:rPr lang="en-US" dirty="0">
                <a:solidFill>
                  <a:srgbClr val="00B050"/>
                </a:solidFill>
                <a:latin typeface="Helvetica" panose="020B0604020202020204" pitchFamily="34" charset="0"/>
                <a:cs typeface="Helvetica" panose="020B0604020202020204" pitchFamily="34" charset="0"/>
              </a:rPr>
              <a:t> </a:t>
            </a:r>
            <a:r>
              <a:rPr lang="en-US" b="1" dirty="0">
                <a:solidFill>
                  <a:srgbClr val="00B050"/>
                </a:solidFill>
                <a:latin typeface="Helvetica" panose="020B0604020202020204" pitchFamily="34" charset="0"/>
                <a:cs typeface="Helvetica" panose="020B0604020202020204" pitchFamily="34" charset="0"/>
              </a:rPr>
              <a:t>Names</a:t>
            </a:r>
          </a:p>
        </p:txBody>
      </p:sp>
      <p:sp>
        <p:nvSpPr>
          <p:cNvPr id="3" name="TextBox 2"/>
          <p:cNvSpPr txBox="1"/>
          <p:nvPr/>
        </p:nvSpPr>
        <p:spPr>
          <a:xfrm>
            <a:off x="150394" y="982408"/>
            <a:ext cx="8843211" cy="5940088"/>
          </a:xfrm>
          <a:prstGeom prst="rect">
            <a:avLst/>
          </a:prstGeom>
          <a:noFill/>
        </p:spPr>
        <p:txBody>
          <a:bodyPr wrap="square" rtlCol="0">
            <a:spAutoFit/>
          </a:bodyPr>
          <a:lstStyle/>
          <a:p>
            <a:pPr algn="just"/>
            <a:r>
              <a:rPr lang="en-US" sz="2800" dirty="0">
                <a:latin typeface="Helvetica" panose="020B0604020202020204" pitchFamily="34" charset="0"/>
                <a:cs typeface="Helvetica" panose="020B0604020202020204" pitchFamily="34" charset="0"/>
              </a:rPr>
              <a:t>Throughout the process of development, drugs may</a:t>
            </a:r>
          </a:p>
          <a:p>
            <a:pPr algn="just"/>
            <a:r>
              <a:rPr lang="en-US" sz="2800" dirty="0">
                <a:latin typeface="Helvetica" panose="020B0604020202020204" pitchFamily="34" charset="0"/>
                <a:cs typeface="Helvetica" panose="020B0604020202020204" pitchFamily="34" charset="0"/>
              </a:rPr>
              <a:t>have several names assigned to them: </a:t>
            </a:r>
            <a:r>
              <a:rPr lang="en-US" sz="2800" dirty="0">
                <a:solidFill>
                  <a:srgbClr val="00B050"/>
                </a:solidFill>
                <a:latin typeface="Helvetica" panose="020B0604020202020204" pitchFamily="34" charset="0"/>
                <a:cs typeface="Helvetica" panose="020B0604020202020204" pitchFamily="34" charset="0"/>
              </a:rPr>
              <a:t>a chemical name</a:t>
            </a:r>
            <a:r>
              <a:rPr lang="en-US" sz="2800" dirty="0">
                <a:latin typeface="Helvetica" panose="020B0604020202020204" pitchFamily="34" charset="0"/>
                <a:cs typeface="Helvetica" panose="020B0604020202020204" pitchFamily="34" charset="0"/>
              </a:rPr>
              <a:t>, </a:t>
            </a:r>
            <a:r>
              <a:rPr lang="en-US" sz="2800" dirty="0">
                <a:solidFill>
                  <a:srgbClr val="00B050"/>
                </a:solidFill>
                <a:latin typeface="Helvetica" panose="020B0604020202020204" pitchFamily="34" charset="0"/>
                <a:cs typeface="Helvetica" panose="020B0604020202020204" pitchFamily="34" charset="0"/>
              </a:rPr>
              <a:t>a generic (nonproprietary) name</a:t>
            </a:r>
            <a:r>
              <a:rPr lang="en-US" sz="2800" dirty="0">
                <a:latin typeface="Helvetica" panose="020B0604020202020204" pitchFamily="34" charset="0"/>
                <a:cs typeface="Helvetica" panose="020B0604020202020204" pitchFamily="34" charset="0"/>
              </a:rPr>
              <a:t>, an </a:t>
            </a:r>
            <a:r>
              <a:rPr lang="en-US" sz="2800" dirty="0">
                <a:solidFill>
                  <a:srgbClr val="00B050"/>
                </a:solidFill>
                <a:latin typeface="Helvetica" panose="020B0604020202020204" pitchFamily="34" charset="0"/>
                <a:cs typeface="Helvetica" panose="020B0604020202020204" pitchFamily="34" charset="0"/>
              </a:rPr>
              <a:t>official name</a:t>
            </a:r>
            <a:r>
              <a:rPr lang="en-US" sz="2800" dirty="0">
                <a:latin typeface="Helvetica" panose="020B0604020202020204" pitchFamily="34" charset="0"/>
                <a:cs typeface="Helvetica" panose="020B0604020202020204" pitchFamily="34" charset="0"/>
              </a:rPr>
              <a:t>, and a </a:t>
            </a:r>
            <a:r>
              <a:rPr lang="en-US" sz="2800" dirty="0">
                <a:solidFill>
                  <a:srgbClr val="00B050"/>
                </a:solidFill>
                <a:latin typeface="Helvetica" panose="020B0604020202020204" pitchFamily="34" charset="0"/>
                <a:cs typeface="Helvetica" panose="020B0604020202020204" pitchFamily="34" charset="0"/>
              </a:rPr>
              <a:t>trade or brand name</a:t>
            </a:r>
            <a:r>
              <a:rPr lang="en-US" sz="2800" dirty="0">
                <a:latin typeface="Helvetica" panose="020B0604020202020204" pitchFamily="34" charset="0"/>
                <a:cs typeface="Helvetica" panose="020B0604020202020204" pitchFamily="34" charset="0"/>
              </a:rPr>
              <a:t>. </a:t>
            </a:r>
          </a:p>
          <a:p>
            <a:pPr algn="just"/>
            <a:endParaRPr lang="en-US" sz="2800" dirty="0">
              <a:latin typeface="Helvetica" panose="020B0604020202020204" pitchFamily="34" charset="0"/>
              <a:cs typeface="Helvetica" panose="020B0604020202020204" pitchFamily="34" charset="0"/>
            </a:endParaRPr>
          </a:p>
          <a:p>
            <a:pPr algn="just">
              <a:buFontTx/>
              <a:buChar char="•"/>
            </a:pPr>
            <a:r>
              <a:rPr lang="en-US" altLang="en-US" sz="3600" dirty="0">
                <a:latin typeface="Helvetica" panose="020B0604020202020204" pitchFamily="34" charset="0"/>
                <a:cs typeface="Helvetica" panose="020B0604020202020204" pitchFamily="34" charset="0"/>
              </a:rPr>
              <a:t>Chemical name: </a:t>
            </a:r>
          </a:p>
          <a:p>
            <a:pPr marL="1219200" lvl="2" indent="-525463" algn="just">
              <a:buFontTx/>
              <a:buChar char="•"/>
            </a:pPr>
            <a:r>
              <a:rPr lang="en-US" altLang="en-US" sz="2400" dirty="0">
                <a:latin typeface="Helvetica" panose="020B0604020202020204" pitchFamily="34" charset="0"/>
                <a:cs typeface="Helvetica" panose="020B0604020202020204" pitchFamily="34" charset="0"/>
              </a:rPr>
              <a:t>A systematized and standardized nomenclature that encodes within the name descriptive information about the </a:t>
            </a:r>
            <a:r>
              <a:rPr lang="en-US" altLang="en-US" sz="2400" dirty="0">
                <a:solidFill>
                  <a:srgbClr val="00B050"/>
                </a:solidFill>
                <a:latin typeface="Helvetica" panose="020B0604020202020204" pitchFamily="34" charset="0"/>
                <a:cs typeface="Helvetica" panose="020B0604020202020204" pitchFamily="34" charset="0"/>
              </a:rPr>
              <a:t>molecular constitution </a:t>
            </a:r>
            <a:r>
              <a:rPr lang="en-US" altLang="en-US" sz="2400" dirty="0">
                <a:latin typeface="Helvetica" panose="020B0604020202020204" pitchFamily="34" charset="0"/>
                <a:cs typeface="Helvetica" panose="020B0604020202020204" pitchFamily="34" charset="0"/>
              </a:rPr>
              <a:t>of the drug (e.g., 2-acetoxybenzoic acid) or simply any typical organic chemical name.</a:t>
            </a:r>
          </a:p>
          <a:p>
            <a:pPr marL="457200" indent="-457200" algn="just">
              <a:lnSpc>
                <a:spcPct val="150000"/>
              </a:lnSpc>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algn="just">
              <a:lnSpc>
                <a:spcPct val="150000"/>
              </a:lnSpc>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30681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0394" y="280398"/>
            <a:ext cx="8843211" cy="5829288"/>
          </a:xfrm>
          <a:prstGeom prst="rect">
            <a:avLst/>
          </a:prstGeom>
          <a:noFill/>
        </p:spPr>
        <p:txBody>
          <a:bodyPr wrap="square" rtlCol="0">
            <a:spAutoFit/>
          </a:bodyPr>
          <a:lstStyle/>
          <a:p>
            <a:pPr marL="457200" lvl="0" indent="-457200" algn="just" defTabSz="914400" fontAlgn="base">
              <a:spcBef>
                <a:spcPct val="20000"/>
              </a:spcBef>
              <a:spcAft>
                <a:spcPct val="0"/>
              </a:spcAft>
              <a:buFont typeface="Arial" panose="020B0604020202020204" pitchFamily="34" charset="0"/>
              <a:buChar char="•"/>
            </a:pPr>
            <a:r>
              <a:rPr lang="en-US" altLang="en-US" sz="3200" b="1" kern="0" dirty="0">
                <a:solidFill>
                  <a:srgbClr val="00B050"/>
                </a:solidFill>
                <a:latin typeface="Helvetica" panose="020B0604020202020204" pitchFamily="34" charset="0"/>
                <a:ea typeface="MS PGothic" pitchFamily="34" charset="-128"/>
                <a:cs typeface="Helvetica" panose="020B0604020202020204" pitchFamily="34" charset="0"/>
              </a:rPr>
              <a:t>Generic name: </a:t>
            </a:r>
          </a:p>
          <a:p>
            <a:pPr marL="1219200" lvl="2" indent="-525463" algn="just" defTabSz="914400" fontAlgn="base">
              <a:spcBef>
                <a:spcPct val="20000"/>
              </a:spcBef>
              <a:spcAft>
                <a:spcPct val="0"/>
              </a:spcAft>
              <a:buFontTx/>
              <a:buChar char="•"/>
            </a:pPr>
            <a:r>
              <a:rPr lang="en-US" altLang="en-US" sz="2700" kern="0" dirty="0">
                <a:solidFill>
                  <a:srgbClr val="000000"/>
                </a:solidFill>
                <a:latin typeface="Helvetica" panose="020B0604020202020204" pitchFamily="34" charset="0"/>
                <a:ea typeface="MS PGothic" pitchFamily="34" charset="-128"/>
                <a:cs typeface="Helvetica" panose="020B0604020202020204" pitchFamily="34" charset="0"/>
              </a:rPr>
              <a:t>The assigned name of a drug, by which it will be known throughout the world no matter how many different companies manufacture it. This name is usually assigned and agreed upon by the WHO, USAN or USP Committees (e.g., Aspirin).</a:t>
            </a:r>
          </a:p>
          <a:p>
            <a:pPr marL="693737" lvl="2" algn="just" defTabSz="914400" fontAlgn="base">
              <a:spcBef>
                <a:spcPct val="20000"/>
              </a:spcBef>
              <a:spcAft>
                <a:spcPct val="0"/>
              </a:spcAft>
            </a:pPr>
            <a:endParaRPr lang="en-US" altLang="en-US" sz="2700" kern="0" dirty="0">
              <a:solidFill>
                <a:srgbClr val="000000"/>
              </a:solidFill>
              <a:latin typeface="Helvetica" panose="020B0604020202020204" pitchFamily="34" charset="0"/>
              <a:ea typeface="MS PGothic" pitchFamily="34" charset="-128"/>
              <a:cs typeface="Helvetica" panose="020B0604020202020204" pitchFamily="34" charset="0"/>
            </a:endParaRPr>
          </a:p>
          <a:p>
            <a:pPr algn="just">
              <a:buFontTx/>
              <a:buChar char="•"/>
            </a:pPr>
            <a:r>
              <a:rPr lang="en-US" altLang="en-US" sz="3200" b="1" dirty="0">
                <a:solidFill>
                  <a:srgbClr val="00B050"/>
                </a:solidFill>
                <a:latin typeface="Helvetica" panose="020B0604020202020204" pitchFamily="34" charset="0"/>
                <a:cs typeface="Helvetica" panose="020B0604020202020204" pitchFamily="34" charset="0"/>
              </a:rPr>
              <a:t>Official name: </a:t>
            </a:r>
          </a:p>
          <a:p>
            <a:pPr marL="1219200" lvl="2" indent="-525463" algn="just">
              <a:buFontTx/>
              <a:buChar char="•"/>
            </a:pPr>
            <a:r>
              <a:rPr lang="en-US" altLang="en-US" sz="2700" dirty="0">
                <a:latin typeface="Helvetica" panose="020B0604020202020204" pitchFamily="34" charset="0"/>
                <a:cs typeface="Helvetica" panose="020B0604020202020204" pitchFamily="34" charset="0"/>
              </a:rPr>
              <a:t>This is the name by which a drug is listed in one of the following official publications: a) U.S. Pharmacopoeia, b) National Formulary </a:t>
            </a:r>
          </a:p>
          <a:p>
            <a:pPr marL="1638300" lvl="3" indent="-649288" algn="just">
              <a:buFontTx/>
              <a:buChar char="•"/>
            </a:pPr>
            <a:r>
              <a:rPr lang="en-US" altLang="en-US" sz="2700" dirty="0">
                <a:latin typeface="Helvetica" panose="020B0604020202020204" pitchFamily="34" charset="0"/>
                <a:cs typeface="Helvetica" panose="020B0604020202020204" pitchFamily="34" charset="0"/>
              </a:rPr>
              <a:t>The official name is often the same as the generic name</a:t>
            </a:r>
            <a:r>
              <a:rPr lang="en-US" altLang="en-US" sz="2800" dirty="0">
                <a:latin typeface="Helvetica" panose="020B0604020202020204" pitchFamily="34" charset="0"/>
                <a:cs typeface="Helvetica" panose="020B0604020202020204" pitchFamily="34" charset="0"/>
              </a:rPr>
              <a:t>. (e.g., acetylsalicylic acid)</a:t>
            </a:r>
          </a:p>
        </p:txBody>
      </p:sp>
    </p:spTree>
    <p:extLst>
      <p:ext uri="{BB962C8B-B14F-4D97-AF65-F5344CB8AC3E}">
        <p14:creationId xmlns:p14="http://schemas.microsoft.com/office/powerpoint/2010/main" val="2388150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0394" y="280398"/>
            <a:ext cx="8843211" cy="4912114"/>
          </a:xfrm>
          <a:prstGeom prst="rect">
            <a:avLst/>
          </a:prstGeom>
          <a:noFill/>
        </p:spPr>
        <p:txBody>
          <a:bodyPr wrap="square" rtlCol="0">
            <a:spAutoFit/>
          </a:bodyPr>
          <a:lstStyle/>
          <a:p>
            <a:pPr algn="just">
              <a:lnSpc>
                <a:spcPct val="90000"/>
              </a:lnSpc>
              <a:buFontTx/>
              <a:buChar char="•"/>
            </a:pPr>
            <a:r>
              <a:rPr lang="en-US" altLang="en-US" sz="3200" b="1" dirty="0">
                <a:solidFill>
                  <a:srgbClr val="00B050"/>
                </a:solidFill>
                <a:latin typeface="Helvetica" panose="020B0604020202020204" pitchFamily="34" charset="0"/>
                <a:cs typeface="Helvetica" panose="020B0604020202020204" pitchFamily="34" charset="0"/>
              </a:rPr>
              <a:t>Trade name: </a:t>
            </a:r>
          </a:p>
          <a:p>
            <a:pPr lvl="1" algn="just">
              <a:lnSpc>
                <a:spcPct val="150000"/>
              </a:lnSpc>
              <a:buFontTx/>
              <a:buChar char="•"/>
            </a:pPr>
            <a:r>
              <a:rPr lang="en-US" altLang="en-US" sz="2800" dirty="0">
                <a:latin typeface="Helvetica" panose="020B0604020202020204" pitchFamily="34" charset="0"/>
                <a:cs typeface="Helvetica" panose="020B0604020202020204" pitchFamily="34" charset="0"/>
              </a:rPr>
              <a:t>The name that is given by a particular company that is manufacturing the drug. </a:t>
            </a:r>
          </a:p>
          <a:p>
            <a:pPr lvl="1" algn="just">
              <a:lnSpc>
                <a:spcPct val="150000"/>
              </a:lnSpc>
              <a:buFontTx/>
              <a:buChar char="•"/>
            </a:pPr>
            <a:r>
              <a:rPr lang="en-US" altLang="en-US" sz="2800" dirty="0">
                <a:latin typeface="Helvetica" panose="020B0604020202020204" pitchFamily="34" charset="0"/>
                <a:cs typeface="Helvetica" panose="020B0604020202020204" pitchFamily="34" charset="0"/>
              </a:rPr>
              <a:t>This name is the property of the registrant. </a:t>
            </a:r>
          </a:p>
          <a:p>
            <a:pPr lvl="1" algn="just">
              <a:lnSpc>
                <a:spcPct val="150000"/>
              </a:lnSpc>
              <a:buFontTx/>
              <a:buChar char="•"/>
            </a:pPr>
            <a:r>
              <a:rPr lang="en-US" altLang="en-US" sz="2800" dirty="0">
                <a:latin typeface="Helvetica" panose="020B0604020202020204" pitchFamily="34" charset="0"/>
                <a:cs typeface="Helvetica" panose="020B0604020202020204" pitchFamily="34" charset="0"/>
              </a:rPr>
              <a:t>Sometimes a single generic drug may be sold under 5 or 10 different trade names. </a:t>
            </a:r>
          </a:p>
          <a:p>
            <a:pPr lvl="1" algn="just">
              <a:lnSpc>
                <a:spcPct val="150000"/>
              </a:lnSpc>
            </a:pPr>
            <a:r>
              <a:rPr lang="en-US" altLang="en-US" sz="2800" dirty="0">
                <a:latin typeface="Helvetica" panose="020B0604020202020204" pitchFamily="34" charset="0"/>
                <a:cs typeface="Helvetica" panose="020B0604020202020204" pitchFamily="34" charset="0"/>
              </a:rPr>
              <a:t>(e.g., </a:t>
            </a:r>
            <a:r>
              <a:rPr lang="en-US" altLang="en-US" sz="2800" dirty="0" err="1">
                <a:latin typeface="Helvetica" panose="020B0604020202020204" pitchFamily="34" charset="0"/>
                <a:cs typeface="Helvetica" panose="020B0604020202020204" pitchFamily="34" charset="0"/>
              </a:rPr>
              <a:t>Empirin</a:t>
            </a:r>
            <a:r>
              <a:rPr lang="en-US" altLang="en-US" sz="2800" baseline="30000" dirty="0" err="1">
                <a:latin typeface="Helvetica" panose="020B0604020202020204" pitchFamily="34" charset="0"/>
                <a:cs typeface="Helvetica" panose="020B0604020202020204" pitchFamily="34" charset="0"/>
              </a:rPr>
              <a:t>TM</a:t>
            </a:r>
            <a:r>
              <a:rPr lang="en-US" altLang="en-US" sz="2800" dirty="0">
                <a:latin typeface="Helvetica" panose="020B0604020202020204" pitchFamily="34" charset="0"/>
                <a:cs typeface="Helvetica" panose="020B0604020202020204" pitchFamily="34" charset="0"/>
              </a:rPr>
              <a:t>).</a:t>
            </a:r>
          </a:p>
          <a:p>
            <a:pPr marL="693737" lvl="2" algn="just" defTabSz="914400" fontAlgn="base">
              <a:spcBef>
                <a:spcPct val="20000"/>
              </a:spcBef>
              <a:spcAft>
                <a:spcPct val="0"/>
              </a:spcAft>
            </a:pPr>
            <a:endParaRPr lang="en-US" altLang="en-US" sz="2700" kern="0" dirty="0">
              <a:solidFill>
                <a:srgbClr val="000000"/>
              </a:solidFill>
              <a:latin typeface="Helvetica" panose="020B0604020202020204" pitchFamily="34" charset="0"/>
              <a:ea typeface="MS PGothic" pitchFamily="34" charset="-128"/>
              <a:cs typeface="Helvetica" panose="020B0604020202020204" pitchFamily="34" charset="0"/>
            </a:endParaRPr>
          </a:p>
        </p:txBody>
      </p:sp>
    </p:spTree>
    <p:extLst>
      <p:ext uri="{BB962C8B-B14F-4D97-AF65-F5344CB8AC3E}">
        <p14:creationId xmlns:p14="http://schemas.microsoft.com/office/powerpoint/2010/main" val="2465210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1"/>
          <p:cNvSpPr>
            <a:spLocks noGrp="1" noChangeArrowheads="1"/>
          </p:cNvSpPr>
          <p:nvPr>
            <p:ph type="title"/>
          </p:nvPr>
        </p:nvSpPr>
        <p:spPr bwMode="auto">
          <a:xfrm>
            <a:off x="1993666" y="274638"/>
            <a:ext cx="5156668" cy="923330"/>
          </a:xfrm>
          <a:prstGeom prst="rect">
            <a:avLst/>
          </a:prstGeom>
          <a:noFill/>
          <a:ln>
            <a:noFill/>
          </a:ln>
          <a:effectLst/>
          <a:extLst>
            <a:ext uri="{909E8E84-426E-40DD-AFC4-6F175D3DCCD1}">
              <a14:hiddenFill xmlns:a14="http://schemas.microsoft.com/office/drawing/2010/main">
                <a:solidFill>
                  <a:srgbClr val="CCCCFF">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5400" b="1" dirty="0">
                <a:solidFill>
                  <a:srgbClr val="00B050"/>
                </a:solidFill>
                <a:latin typeface="Calisto MT" panose="02040603050505030304" pitchFamily="18" charset="0"/>
                <a:cs typeface="Arial" panose="020B0604020202020204" pitchFamily="34" charset="0"/>
              </a:rPr>
              <a:t>Names of Drugs</a:t>
            </a:r>
          </a:p>
        </p:txBody>
      </p:sp>
      <p:graphicFrame>
        <p:nvGraphicFramePr>
          <p:cNvPr id="6" name="Group 69"/>
          <p:cNvGraphicFramePr>
            <a:graphicFrameLocks noGrp="1"/>
          </p:cNvGraphicFramePr>
          <p:nvPr>
            <p:extLst>
              <p:ext uri="{D42A27DB-BD31-4B8C-83A1-F6EECF244321}">
                <p14:modId xmlns:p14="http://schemas.microsoft.com/office/powerpoint/2010/main" val="3274169821"/>
              </p:ext>
            </p:extLst>
          </p:nvPr>
        </p:nvGraphicFramePr>
        <p:xfrm>
          <a:off x="228600" y="1387642"/>
          <a:ext cx="8686800" cy="4129088"/>
        </p:xfrm>
        <a:graphic>
          <a:graphicData uri="http://schemas.openxmlformats.org/drawingml/2006/table">
            <a:tbl>
              <a:tblPr/>
              <a:tblGrid>
                <a:gridCol w="3908425">
                  <a:extLst>
                    <a:ext uri="{9D8B030D-6E8A-4147-A177-3AD203B41FA5}">
                      <a16:colId xmlns:a16="http://schemas.microsoft.com/office/drawing/2014/main" val="20000"/>
                    </a:ext>
                  </a:extLst>
                </a:gridCol>
                <a:gridCol w="4778375">
                  <a:extLst>
                    <a:ext uri="{9D8B030D-6E8A-4147-A177-3AD203B41FA5}">
                      <a16:colId xmlns:a16="http://schemas.microsoft.com/office/drawing/2014/main" val="20001"/>
                    </a:ext>
                  </a:extLst>
                </a:gridCol>
              </a:tblGrid>
              <a:tr h="1070504">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1000" b="0" i="0" u="none" strike="noStrike" cap="none" normalizeH="0" baseline="0" dirty="0">
                        <a:ln>
                          <a:noFill/>
                        </a:ln>
                        <a:solidFill>
                          <a:schemeClr val="tx1"/>
                        </a:solidFill>
                        <a:effectLst/>
                        <a:latin typeface="Arial" pitchFamily="34" charset="0"/>
                      </a:endParaRP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0" i="0" u="none" strike="noStrike" cap="none" normalizeH="0" baseline="0" dirty="0">
                          <a:ln>
                            <a:noFill/>
                          </a:ln>
                          <a:solidFill>
                            <a:schemeClr val="tx1"/>
                          </a:solidFill>
                          <a:effectLst/>
                          <a:latin typeface="Arial" pitchFamily="34" charset="0"/>
                        </a:rPr>
                        <a:t>      Chemical Name</a:t>
                      </a:r>
                      <a:br>
                        <a:rPr kumimoji="0" lang="en-US" altLang="en-US" sz="3200" b="0" i="0" u="none" strike="noStrike" cap="none" normalizeH="0" baseline="0" dirty="0">
                          <a:ln>
                            <a:noFill/>
                          </a:ln>
                          <a:solidFill>
                            <a:schemeClr val="tx1"/>
                          </a:solidFill>
                          <a:effectLst/>
                          <a:latin typeface="Arial" pitchFamily="34" charset="0"/>
                        </a:rPr>
                      </a:br>
                      <a:endParaRPr kumimoji="0" lang="en-US" altLang="en-US" sz="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1" i="0" u="none" strike="noStrike" cap="none" normalizeH="0" baseline="0">
                          <a:ln>
                            <a:noFill/>
                          </a:ln>
                          <a:solidFill>
                            <a:schemeClr val="tx1"/>
                          </a:solidFill>
                          <a:effectLst/>
                          <a:latin typeface="Arial" pitchFamily="34" charset="0"/>
                        </a:rPr>
                        <a:t>7-chloro-1, 3-dihydro-1,  methyl-5-phenyl-2h-1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9528">
                <a:tc>
                  <a:txBody>
                    <a:bodyPr/>
                    <a:lstStyle/>
                    <a:p>
                      <a:pPr marL="0" marR="0" lvl="0" indent="0" algn="ctr"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800" b="0" i="0" u="none" strike="noStrike" cap="none" normalizeH="0" baseline="0" dirty="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0" i="0" u="none" strike="noStrike" cap="none" normalizeH="0" baseline="0" dirty="0">
                          <a:ln>
                            <a:noFill/>
                          </a:ln>
                          <a:solidFill>
                            <a:schemeClr val="tx1"/>
                          </a:solidFill>
                          <a:effectLst/>
                          <a:latin typeface="Arial" pitchFamily="34" charset="0"/>
                        </a:rPr>
                        <a:t>Generic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800" b="1" i="0" u="none" strike="noStrike" cap="none" normalizeH="0" baseline="0" dirty="0">
                        <a:ln>
                          <a:noFill/>
                        </a:ln>
                        <a:solidFill>
                          <a:schemeClr val="tx1"/>
                        </a:solidFill>
                        <a:effectLst/>
                        <a:latin typeface="Arial" pitchFamily="34" charset="0"/>
                      </a:endParaRP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1" i="0" u="none" strike="noStrike" cap="none" normalizeH="0" baseline="0" dirty="0">
                          <a:ln>
                            <a:noFill/>
                          </a:ln>
                          <a:solidFill>
                            <a:schemeClr val="tx1"/>
                          </a:solidFill>
                          <a:effectLst/>
                          <a:latin typeface="Arial" pitchFamily="34" charset="0"/>
                        </a:rPr>
                        <a:t>Diazepam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9528">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800" b="0" i="0" u="none" strike="noStrike" cap="none" normalizeH="0" baseline="0">
                        <a:ln>
                          <a:noFill/>
                        </a:ln>
                        <a:solidFill>
                          <a:schemeClr val="tx1"/>
                        </a:solidFill>
                        <a:effectLst/>
                        <a:latin typeface="Arial" pitchFamily="34" charset="0"/>
                      </a:endParaRP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0" i="0" u="none" strike="noStrike" cap="none" normalizeH="0" baseline="0">
                          <a:ln>
                            <a:noFill/>
                          </a:ln>
                          <a:solidFill>
                            <a:schemeClr val="tx1"/>
                          </a:solidFill>
                          <a:effectLst/>
                          <a:latin typeface="Arial" pitchFamily="34" charset="0"/>
                        </a:rPr>
                        <a:t>      Official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800" b="1" i="0" u="none" strike="noStrike" cap="none" normalizeH="0" baseline="0" dirty="0">
                        <a:ln>
                          <a:noFill/>
                        </a:ln>
                        <a:solidFill>
                          <a:schemeClr val="tx1"/>
                        </a:solidFill>
                        <a:effectLst/>
                        <a:latin typeface="Arial" pitchFamily="34" charset="0"/>
                      </a:endParaRP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1" i="0" u="none" strike="noStrike" cap="none" normalizeH="0" baseline="0" dirty="0">
                          <a:ln>
                            <a:noFill/>
                          </a:ln>
                          <a:solidFill>
                            <a:schemeClr val="tx1"/>
                          </a:solidFill>
                          <a:effectLst/>
                          <a:latin typeface="Arial" pitchFamily="34" charset="0"/>
                        </a:rPr>
                        <a:t>Diazepam, USP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9528">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800" b="0" i="0" u="none" strike="noStrike" cap="none" normalizeH="0" baseline="0">
                          <a:ln>
                            <a:noFill/>
                          </a:ln>
                          <a:solidFill>
                            <a:schemeClr val="tx1"/>
                          </a:solidFill>
                          <a:effectLst/>
                          <a:latin typeface="Arial" pitchFamily="34" charset="0"/>
                        </a:rPr>
                        <a:t> </a:t>
                      </a: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0" i="0" u="none" strike="noStrike" cap="none" normalizeH="0" baseline="0">
                          <a:ln>
                            <a:noFill/>
                          </a:ln>
                          <a:solidFill>
                            <a:schemeClr val="tx1"/>
                          </a:solidFill>
                          <a:effectLst/>
                          <a:latin typeface="Arial" pitchFamily="34" charset="0"/>
                        </a:rPr>
                        <a:t>      Brand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endParaRPr kumimoji="0" lang="en-US" altLang="en-US" sz="1000" b="1" i="0" u="none" strike="noStrike" cap="none" normalizeH="0" baseline="0" dirty="0">
                        <a:ln>
                          <a:noFill/>
                        </a:ln>
                        <a:solidFill>
                          <a:schemeClr val="tx1"/>
                        </a:solidFill>
                        <a:effectLst/>
                        <a:latin typeface="Arial" pitchFamily="34" charset="0"/>
                      </a:endParaRPr>
                    </a:p>
                    <a:p>
                      <a:pPr marL="0" marR="0" lvl="0" indent="0" algn="l" defTabSz="914400" rtl="0" eaLnBrk="1" fontAlgn="base" latinLnBrk="0" hangingPunct="1">
                        <a:lnSpc>
                          <a:spcPct val="100000"/>
                        </a:lnSpc>
                        <a:spcBef>
                          <a:spcPct val="20000"/>
                        </a:spcBef>
                        <a:spcAft>
                          <a:spcPct val="0"/>
                        </a:spcAft>
                        <a:buClr>
                          <a:srgbClr val="993366"/>
                        </a:buClr>
                        <a:buSzTx/>
                        <a:buFont typeface="Wingdings 2" pitchFamily="18" charset="2"/>
                        <a:buNone/>
                        <a:tabLst/>
                      </a:pPr>
                      <a:r>
                        <a:rPr kumimoji="0" lang="en-US" altLang="en-US" sz="3200" b="1" i="0" u="none" strike="noStrike" cap="none" normalizeH="0" baseline="0" dirty="0">
                          <a:ln>
                            <a:noFill/>
                          </a:ln>
                          <a:solidFill>
                            <a:schemeClr val="tx1"/>
                          </a:solidFill>
                          <a:effectLst/>
                          <a:latin typeface="Arial" pitchFamily="34" charset="0"/>
                        </a:rPr>
                        <a:t>Valium</a:t>
                      </a:r>
                      <a:r>
                        <a:rPr kumimoji="0" lang="en-US" altLang="en-US" sz="3200" b="1" i="0" u="none" strike="noStrike" cap="none" normalizeH="0" baseline="0" dirty="0">
                          <a:ln>
                            <a:noFill/>
                          </a:ln>
                          <a:solidFill>
                            <a:schemeClr val="tx1"/>
                          </a:solidFill>
                          <a:effectLst/>
                          <a:latin typeface="Arial" pitchFamily="34" charset="0"/>
                          <a:cs typeface="Times New Roman" pitchFamily="18" charset="0"/>
                        </a:rPr>
                        <a:t>®</a:t>
                      </a:r>
                      <a:endParaRPr kumimoji="0" lang="en-US" altLang="en-US" sz="3200" b="1" i="0" u="none" strike="noStrike" cap="none" normalizeH="0" baseline="0" dirty="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38946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320592" y="485190"/>
            <a:ext cx="7619039" cy="5037304"/>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0325" indent="-60325">
              <a:lnSpc>
                <a:spcPct val="80000"/>
              </a:lnSpc>
              <a:buFont typeface="Wingdings" panose="05000000000000000000" pitchFamily="2" charset="2"/>
              <a:buNone/>
            </a:pPr>
            <a:r>
              <a:rPr lang="en-US" altLang="en-US" sz="6000" dirty="0">
                <a:latin typeface="Curlz MT" panose="04040404050702020202" pitchFamily="82" charset="0"/>
              </a:rPr>
              <a:t>All substances are poisons; there is none that is not a poison. The right dose differentiates a poison from a remedy.</a:t>
            </a:r>
            <a:endParaRPr lang="en-US" altLang="en-US" sz="4800" dirty="0">
              <a:latin typeface="Curlz MT" panose="04040404050702020202" pitchFamily="82" charset="0"/>
            </a:endParaRPr>
          </a:p>
          <a:p>
            <a:pPr marL="3100388" lvl="4" indent="0">
              <a:lnSpc>
                <a:spcPct val="80000"/>
              </a:lnSpc>
              <a:buFontTx/>
              <a:buNone/>
            </a:pPr>
            <a:r>
              <a:rPr lang="en-US" altLang="en-US" sz="4800" dirty="0">
                <a:latin typeface="Blackadder ITC" panose="04020505051007020D02" pitchFamily="82" charset="0"/>
              </a:rPr>
              <a:t>Paracelsus, 1493-1541</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53" y="4461447"/>
            <a:ext cx="1146231" cy="1530278"/>
          </a:xfrm>
          <a:prstGeom prst="rect">
            <a:avLst/>
          </a:prstGeom>
          <a:ln>
            <a:noFill/>
          </a:ln>
          <a:effectLst>
            <a:softEdge rad="112500"/>
          </a:effectLst>
        </p:spPr>
      </p:pic>
      <p:pic>
        <p:nvPicPr>
          <p:cNvPr id="6" name="Picture 13" descr="image?id=62569&amp;rendTypeId=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8385" y="53092"/>
            <a:ext cx="1592894" cy="18960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9368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bwMode="auto">
          <a:xfrm>
            <a:off x="0" y="2438400"/>
            <a:ext cx="8839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algn="ctr" eaLnBrk="1" hangingPunct="1">
              <a:defRPr/>
            </a:pPr>
            <a:r>
              <a:rPr lang="en-US" sz="6000" kern="0" noProof="1">
                <a:solidFill>
                  <a:schemeClr val="tx1"/>
                </a:solidFill>
                <a:effectLst>
                  <a:outerShdw blurRad="38100" dist="38100" dir="2700000" algn="tl">
                    <a:srgbClr val="C0C0C0"/>
                  </a:outerShdw>
                </a:effectLst>
                <a:latin typeface="Bradley Hand ITC" pitchFamily="66" charset="0"/>
              </a:rPr>
              <a:t>PHARMACODYNAMICS</a:t>
            </a:r>
            <a:br>
              <a:rPr lang="en-US" sz="6000" kern="0" noProof="1">
                <a:solidFill>
                  <a:schemeClr val="tx1"/>
                </a:solidFill>
                <a:effectLst>
                  <a:outerShdw blurRad="38100" dist="38100" dir="2700000" algn="tl">
                    <a:srgbClr val="C0C0C0"/>
                  </a:outerShdw>
                </a:effectLst>
                <a:latin typeface="Bradley Hand ITC" pitchFamily="66" charset="0"/>
              </a:rPr>
            </a:br>
            <a:r>
              <a:rPr lang="en-US" altLang="en-US" sz="2800" kern="0" dirty="0">
                <a:solidFill>
                  <a:srgbClr val="000000"/>
                </a:solidFill>
                <a:latin typeface="Bradley Hand ITC" panose="03070402050302030203" pitchFamily="66" charset="0"/>
              </a:rPr>
              <a:t> DRUGS ALTER  BODY FUNCTION</a:t>
            </a:r>
            <a:endParaRPr lang="en-US" sz="6000" kern="0" dirty="0">
              <a:solidFill>
                <a:schemeClr val="tx1"/>
              </a:solidFill>
              <a:effectLst>
                <a:outerShdw blurRad="38100" dist="38100" dir="2700000" algn="tl">
                  <a:srgbClr val="C0C0C0"/>
                </a:outerShdw>
              </a:effectLst>
              <a:latin typeface="Bradley Hand ITC" pitchFamily="66" charset="0"/>
            </a:endParaRPr>
          </a:p>
        </p:txBody>
      </p:sp>
    </p:spTree>
    <p:extLst>
      <p:ext uri="{BB962C8B-B14F-4D97-AF65-F5344CB8AC3E}">
        <p14:creationId xmlns:p14="http://schemas.microsoft.com/office/powerpoint/2010/main" val="542898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0004"/>
          </a:xfrm>
        </p:spPr>
        <p:txBody>
          <a:bodyPr/>
          <a:lstStyle/>
          <a:p>
            <a:r>
              <a:rPr lang="en-US" sz="3200" b="1" dirty="0">
                <a:solidFill>
                  <a:srgbClr val="00B050"/>
                </a:solidFill>
                <a:latin typeface="Verdana" panose="020B0604030504040204" pitchFamily="34" charset="0"/>
                <a:cs typeface="Arial" panose="020B0604020202020204" pitchFamily="34" charset="0"/>
              </a:rPr>
              <a:t>PHARMACODYNAMICS</a:t>
            </a:r>
          </a:p>
        </p:txBody>
      </p:sp>
      <p:sp>
        <p:nvSpPr>
          <p:cNvPr id="6" name="TextBox 5"/>
          <p:cNvSpPr txBox="1"/>
          <p:nvPr/>
        </p:nvSpPr>
        <p:spPr>
          <a:xfrm>
            <a:off x="178807" y="874207"/>
            <a:ext cx="8507993" cy="5139869"/>
          </a:xfrm>
          <a:prstGeom prst="rect">
            <a:avLst/>
          </a:prstGeom>
          <a:noFill/>
        </p:spPr>
        <p:txBody>
          <a:bodyPr wrap="square" rtlCol="0">
            <a:spAutoFit/>
          </a:bodyPr>
          <a:lstStyle/>
          <a:p>
            <a:pPr marL="457200" indent="-457200">
              <a:buFont typeface="Wingdings" panose="05000000000000000000" pitchFamily="2" charset="2"/>
              <a:buChar char="§"/>
            </a:pPr>
            <a:r>
              <a:rPr lang="en-US" sz="2800" dirty="0">
                <a:latin typeface="Helvetica" panose="020B0604020202020204" pitchFamily="34" charset="0"/>
                <a:ea typeface="MS PGothic" pitchFamily="34" charset="-128"/>
                <a:cs typeface="Helvetica" panose="020B0604020202020204" pitchFamily="34" charset="0"/>
              </a:rPr>
              <a:t>Types</a:t>
            </a: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 of drug- receptor interactions</a:t>
            </a:r>
          </a:p>
          <a:p>
            <a:pPr marL="1371600" lvl="2" indent="-457200">
              <a:buFont typeface="Wingdings" panose="05000000000000000000" pitchFamily="2" charset="2"/>
              <a:buChar char="ü"/>
            </a:pPr>
            <a:r>
              <a:rPr lang="en-US" sz="24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Agonist</a:t>
            </a:r>
          </a:p>
          <a:p>
            <a:pPr marL="1371600" lvl="2" indent="-457200">
              <a:buFont typeface="Wingdings" panose="05000000000000000000" pitchFamily="2" charset="2"/>
              <a:buChar char="ü"/>
            </a:pPr>
            <a:r>
              <a:rPr lang="en-US" sz="24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Antagonist</a:t>
            </a:r>
          </a:p>
          <a:p>
            <a:pPr marL="1371600" lvl="2" indent="-457200">
              <a:buFont typeface="Wingdings" panose="05000000000000000000" pitchFamily="2" charset="2"/>
              <a:buChar char="ü"/>
            </a:pPr>
            <a:r>
              <a:rPr lang="en-US" sz="24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Partial Agonist</a:t>
            </a:r>
          </a:p>
          <a:p>
            <a:pPr marL="457200" indent="-457200">
              <a:buFont typeface="Wingdings" panose="05000000000000000000" pitchFamily="2" charset="2"/>
              <a:buChar char="Ø"/>
            </a:pPr>
            <a:endPar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endParaRPr>
          </a:p>
          <a:p>
            <a:pPr marL="457200" indent="-457200">
              <a:buFont typeface="Wingdings" panose="05000000000000000000" pitchFamily="2" charset="2"/>
              <a:buChar char="§"/>
            </a:pPr>
            <a:r>
              <a:rPr lang="en-US" sz="2800" dirty="0">
                <a:latin typeface="Helvetica" panose="020B0604020202020204" pitchFamily="34" charset="0"/>
                <a:ea typeface="MS PGothic" pitchFamily="34" charset="-128"/>
                <a:cs typeface="Helvetica" panose="020B0604020202020204" pitchFamily="34" charset="0"/>
              </a:rPr>
              <a:t>Duration</a:t>
            </a: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 of drug action</a:t>
            </a:r>
          </a:p>
          <a:p>
            <a:pPr marL="1371600" lvl="2" indent="-457200">
              <a:buFont typeface="Wingdings" panose="05000000000000000000" pitchFamily="2" charset="2"/>
              <a:buChar char="ü"/>
            </a:pP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mainly determined by the type of bond between drug and receptor</a:t>
            </a:r>
          </a:p>
          <a:p>
            <a:pPr lvl="2"/>
            <a:endPar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endParaRPr>
          </a:p>
          <a:p>
            <a:pPr marL="457200" indent="-457200">
              <a:buFont typeface="Wingdings" panose="05000000000000000000" pitchFamily="2" charset="2"/>
              <a:buChar char="§"/>
            </a:pP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Receptors And Inert Binding Sites</a:t>
            </a:r>
          </a:p>
          <a:p>
            <a:pPr marL="457200" indent="-457200">
              <a:buFont typeface="Wingdings" panose="05000000000000000000" pitchFamily="2" charset="2"/>
              <a:buChar char="§"/>
            </a:pPr>
            <a:endPar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endParaRPr>
          </a:p>
          <a:p>
            <a:pPr marL="457200" indent="-457200">
              <a:buFont typeface="Wingdings" panose="05000000000000000000" pitchFamily="2" charset="2"/>
              <a:buChar char="§"/>
            </a:pPr>
            <a:r>
              <a:rPr lang="en-US" sz="1600" dirty="0">
                <a:solidFill>
                  <a:srgbClr val="FF0000"/>
                </a:solidFill>
                <a:latin typeface="Helvetica" panose="020B0604020202020204" pitchFamily="34" charset="0"/>
                <a:ea typeface="MS PGothic" panose="020B0600070205080204" pitchFamily="34" charset="-128"/>
                <a:cs typeface="Helvetica" panose="020B0604020202020204" pitchFamily="34" charset="0"/>
              </a:rPr>
              <a:t>Other colleagues with go into details with the </a:t>
            </a:r>
            <a:r>
              <a:rPr lang="en-US" sz="1600" dirty="0" err="1">
                <a:solidFill>
                  <a:srgbClr val="FF0000"/>
                </a:solidFill>
                <a:latin typeface="Helvetica" panose="020B0604020202020204" pitchFamily="34" charset="0"/>
                <a:ea typeface="MS PGothic" panose="020B0600070205080204" pitchFamily="34" charset="-128"/>
                <a:cs typeface="Helvetica" panose="020B0604020202020204" pitchFamily="34" charset="0"/>
              </a:rPr>
              <a:t>Pharmacodynamic</a:t>
            </a:r>
            <a:r>
              <a:rPr lang="en-US" sz="1600" dirty="0">
                <a:solidFill>
                  <a:srgbClr val="FF0000"/>
                </a:solidFill>
                <a:latin typeface="Helvetica" panose="020B0604020202020204" pitchFamily="34" charset="0"/>
                <a:ea typeface="MS PGothic" panose="020B0600070205080204" pitchFamily="34" charset="-128"/>
                <a:cs typeface="Helvetica" panose="020B0604020202020204" pitchFamily="34" charset="0"/>
              </a:rPr>
              <a:t> aspects of Pharmacology.</a:t>
            </a:r>
          </a:p>
        </p:txBody>
      </p:sp>
    </p:spTree>
    <p:extLst>
      <p:ext uri="{BB962C8B-B14F-4D97-AF65-F5344CB8AC3E}">
        <p14:creationId xmlns:p14="http://schemas.microsoft.com/office/powerpoint/2010/main" val="1438493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a:xfrm>
            <a:off x="533400" y="2438400"/>
            <a:ext cx="8305800" cy="1295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a:pPr>
            <a:r>
              <a:rPr lang="en-US" sz="6000" noProof="1">
                <a:effectLst>
                  <a:outerShdw blurRad="38100" dist="38100" dir="2700000" algn="tl">
                    <a:srgbClr val="C0C0C0"/>
                  </a:outerShdw>
                </a:effectLst>
                <a:latin typeface="Bradley Hand ITC" pitchFamily="66" charset="0"/>
              </a:rPr>
              <a:t>PHARMACOKINETICS</a:t>
            </a:r>
            <a:br>
              <a:rPr lang="en-US" sz="6000" noProof="1">
                <a:effectLst>
                  <a:outerShdw blurRad="38100" dist="38100" dir="2700000" algn="tl">
                    <a:srgbClr val="C0C0C0"/>
                  </a:outerShdw>
                </a:effectLst>
                <a:latin typeface="Bradley Hand ITC" pitchFamily="66" charset="0"/>
              </a:rPr>
            </a:br>
            <a:r>
              <a:rPr lang="en-US" altLang="en-US" sz="2800" dirty="0">
                <a:solidFill>
                  <a:srgbClr val="000000"/>
                </a:solidFill>
                <a:latin typeface="Bradley Hand ITC" panose="03070402050302030203" pitchFamily="66" charset="0"/>
              </a:rPr>
              <a:t>FATE OF DRUGS IN THE BODY</a:t>
            </a:r>
            <a:endParaRPr lang="en-US" sz="6000" dirty="0">
              <a:effectLst>
                <a:outerShdw blurRad="38100" dist="38100" dir="2700000" algn="tl">
                  <a:srgbClr val="C0C0C0"/>
                </a:outerShdw>
              </a:effectLst>
              <a:latin typeface="Bradley Hand ITC" pitchFamily="66" charset="0"/>
            </a:endParaRPr>
          </a:p>
        </p:txBody>
      </p:sp>
    </p:spTree>
    <p:extLst>
      <p:ext uri="{BB962C8B-B14F-4D97-AF65-F5344CB8AC3E}">
        <p14:creationId xmlns:p14="http://schemas.microsoft.com/office/powerpoint/2010/main" val="4055243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B050"/>
                </a:solidFill>
                <a:latin typeface="Verdana" panose="020B0604030504040204" pitchFamily="34" charset="0"/>
                <a:cs typeface="Arial" panose="020B0604020202020204" pitchFamily="34" charset="0"/>
              </a:rPr>
              <a:t>INTRODUCTION</a:t>
            </a:r>
          </a:p>
        </p:txBody>
      </p:sp>
      <p:sp>
        <p:nvSpPr>
          <p:cNvPr id="3" name="Rectangle 2"/>
          <p:cNvSpPr/>
          <p:nvPr/>
        </p:nvSpPr>
        <p:spPr>
          <a:xfrm>
            <a:off x="201168" y="1195352"/>
            <a:ext cx="8741664" cy="3970318"/>
          </a:xfrm>
          <a:prstGeom prst="rect">
            <a:avLst/>
          </a:prstGeom>
        </p:spPr>
        <p:txBody>
          <a:bodyPr wrap="square">
            <a:spAutoFit/>
          </a:bodyPr>
          <a:lstStyle/>
          <a:p>
            <a:pPr marL="457200" indent="-457200">
              <a:lnSpc>
                <a:spcPct val="150000"/>
              </a:lnSpc>
              <a:buFont typeface="Wingdings" panose="05000000000000000000" pitchFamily="2" charset="2"/>
              <a:buChar char="v"/>
            </a:pP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Pharmacokinetics is the study of the processes by which  a drug travels from the point of delivery to its site of action</a:t>
            </a:r>
            <a:r>
              <a:rPr lang="en-US" altLang="en-US" sz="2800" dirty="0">
                <a:latin typeface="Helvetica" panose="020B0604020202020204" pitchFamily="34" charset="0"/>
                <a:cs typeface="Helvetica" panose="020B0604020202020204" pitchFamily="34" charset="0"/>
              </a:rPr>
              <a:t> and out of the body</a:t>
            </a: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 </a:t>
            </a:r>
          </a:p>
          <a:p>
            <a:pPr marL="457200" lvl="0" indent="-457200">
              <a:lnSpc>
                <a:spcPct val="150000"/>
              </a:lnSpc>
              <a:buFont typeface="Wingdings" panose="05000000000000000000" pitchFamily="2" charset="2"/>
              <a:buChar char="v"/>
            </a:pPr>
            <a:endPar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endParaRPr>
          </a:p>
          <a:p>
            <a:pPr marL="457200" lvl="0" indent="-457200">
              <a:lnSpc>
                <a:spcPct val="150000"/>
              </a:lnSpc>
              <a:buFont typeface="Wingdings" panose="05000000000000000000" pitchFamily="2" charset="2"/>
              <a:buChar char="v"/>
            </a:pP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Branch of pharmacology that studies the fate of a drug in the body </a:t>
            </a:r>
            <a:r>
              <a:rPr lang="en-US" sz="2800" dirty="0" err="1">
                <a:solidFill>
                  <a:srgbClr val="000000"/>
                </a:solidFill>
                <a:latin typeface="Helvetica" panose="020B0604020202020204" pitchFamily="34" charset="0"/>
                <a:ea typeface="MS PGothic" panose="020B0600070205080204" pitchFamily="34" charset="-128"/>
                <a:cs typeface="Helvetica" panose="020B0604020202020204" pitchFamily="34" charset="0"/>
              </a:rPr>
              <a:t>i.e</a:t>
            </a:r>
            <a:r>
              <a:rPr lang="en-US" sz="2800" dirty="0">
                <a:solidFill>
                  <a:srgbClr val="000000"/>
                </a:solidFill>
                <a:latin typeface="Helvetica" panose="020B0604020202020204" pitchFamily="34" charset="0"/>
                <a:ea typeface="MS PGothic" panose="020B0600070205080204" pitchFamily="34" charset="-128"/>
                <a:cs typeface="Helvetica" panose="020B0604020202020204" pitchFamily="34" charset="0"/>
              </a:rPr>
              <a:t> ‘what the body does to a drug’.</a:t>
            </a:r>
          </a:p>
        </p:txBody>
      </p:sp>
    </p:spTree>
    <p:extLst>
      <p:ext uri="{BB962C8B-B14F-4D97-AF65-F5344CB8AC3E}">
        <p14:creationId xmlns:p14="http://schemas.microsoft.com/office/powerpoint/2010/main" val="1423359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4192"/>
            <a:ext cx="8229600" cy="981381"/>
          </a:xfrm>
        </p:spPr>
        <p:txBody>
          <a:bodyPr/>
          <a:lstStyle/>
          <a:p>
            <a:r>
              <a:rPr lang="en-US" sz="3200" b="1" dirty="0">
                <a:solidFill>
                  <a:srgbClr val="00B050"/>
                </a:solidFill>
                <a:latin typeface="Verdana" panose="020B0604030504040204" pitchFamily="34" charset="0"/>
                <a:cs typeface="Arial" panose="020B0604020202020204" pitchFamily="34" charset="0"/>
              </a:rPr>
              <a:t>4 Arms of pharmacokinetics (ADME)</a:t>
            </a:r>
            <a:br>
              <a:rPr lang="en-US" dirty="0"/>
            </a:br>
            <a:endParaRPr lang="en-US" dirty="0"/>
          </a:p>
        </p:txBody>
      </p:sp>
      <p:sp>
        <p:nvSpPr>
          <p:cNvPr id="8" name="Rounded Rectangle 7"/>
          <p:cNvSpPr/>
          <p:nvPr/>
        </p:nvSpPr>
        <p:spPr>
          <a:xfrm>
            <a:off x="258017" y="1990828"/>
            <a:ext cx="1758355" cy="1037690"/>
          </a:xfrm>
          <a:prstGeom prst="roundRect">
            <a:avLst/>
          </a:prstGeom>
          <a:solidFill>
            <a:schemeClr val="bg2"/>
          </a:solidFill>
          <a:ln>
            <a:solidFill>
              <a:srgbClr val="00B05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ABSORPTION</a:t>
            </a:r>
          </a:p>
        </p:txBody>
      </p:sp>
      <p:sp>
        <p:nvSpPr>
          <p:cNvPr id="9" name="Rounded Rectangle 8"/>
          <p:cNvSpPr/>
          <p:nvPr/>
        </p:nvSpPr>
        <p:spPr>
          <a:xfrm>
            <a:off x="2498657" y="1990828"/>
            <a:ext cx="1758355" cy="1037690"/>
          </a:xfrm>
          <a:prstGeom prst="roundRect">
            <a:avLst/>
          </a:prstGeom>
          <a:solidFill>
            <a:schemeClr val="bg2"/>
          </a:solidFill>
          <a:ln>
            <a:solidFill>
              <a:srgbClr val="00B05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DISTRIBUTION</a:t>
            </a:r>
          </a:p>
        </p:txBody>
      </p:sp>
      <p:sp>
        <p:nvSpPr>
          <p:cNvPr id="10" name="Rounded Rectangle 9"/>
          <p:cNvSpPr/>
          <p:nvPr/>
        </p:nvSpPr>
        <p:spPr>
          <a:xfrm>
            <a:off x="4739297" y="1990828"/>
            <a:ext cx="1758355" cy="1037690"/>
          </a:xfrm>
          <a:prstGeom prst="roundRect">
            <a:avLst/>
          </a:prstGeom>
          <a:solidFill>
            <a:schemeClr val="bg2"/>
          </a:solidFill>
          <a:ln>
            <a:solidFill>
              <a:srgbClr val="00B05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METABOLISM</a:t>
            </a:r>
          </a:p>
        </p:txBody>
      </p:sp>
      <p:sp>
        <p:nvSpPr>
          <p:cNvPr id="11" name="Rounded Rectangle 10"/>
          <p:cNvSpPr/>
          <p:nvPr/>
        </p:nvSpPr>
        <p:spPr>
          <a:xfrm>
            <a:off x="7000856" y="1994267"/>
            <a:ext cx="1758355" cy="1037690"/>
          </a:xfrm>
          <a:prstGeom prst="roundRect">
            <a:avLst/>
          </a:prstGeom>
          <a:solidFill>
            <a:schemeClr val="bg2"/>
          </a:solidFill>
          <a:ln>
            <a:solidFill>
              <a:srgbClr val="00B05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EXCRETION</a:t>
            </a:r>
          </a:p>
        </p:txBody>
      </p:sp>
      <p:sp>
        <p:nvSpPr>
          <p:cNvPr id="12" name="Right Arrow 11"/>
          <p:cNvSpPr/>
          <p:nvPr/>
        </p:nvSpPr>
        <p:spPr>
          <a:xfrm>
            <a:off x="2039735" y="2365792"/>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ight Arrow 12"/>
          <p:cNvSpPr/>
          <p:nvPr/>
        </p:nvSpPr>
        <p:spPr>
          <a:xfrm>
            <a:off x="6534104" y="2365792"/>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p:cNvSpPr/>
          <p:nvPr/>
        </p:nvSpPr>
        <p:spPr>
          <a:xfrm>
            <a:off x="4293464" y="2365792"/>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ight Arrow 14"/>
          <p:cNvSpPr/>
          <p:nvPr/>
        </p:nvSpPr>
        <p:spPr>
          <a:xfrm rot="5400000">
            <a:off x="914276" y="3115214"/>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ight Arrow 15"/>
          <p:cNvSpPr/>
          <p:nvPr/>
        </p:nvSpPr>
        <p:spPr>
          <a:xfrm rot="5400000">
            <a:off x="3154916" y="3117871"/>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ight Arrow 16"/>
          <p:cNvSpPr/>
          <p:nvPr/>
        </p:nvSpPr>
        <p:spPr>
          <a:xfrm rot="5400000">
            <a:off x="7646596" y="3128146"/>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ight Arrow 17"/>
          <p:cNvSpPr/>
          <p:nvPr/>
        </p:nvSpPr>
        <p:spPr>
          <a:xfrm rot="5400000">
            <a:off x="5395555" y="3117872"/>
            <a:ext cx="445832" cy="308225"/>
          </a:xfrm>
          <a:prstGeom prst="rightArrow">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p:cNvSpPr txBox="1"/>
          <p:nvPr/>
        </p:nvSpPr>
        <p:spPr>
          <a:xfrm>
            <a:off x="258016" y="3562209"/>
            <a:ext cx="1915472" cy="338554"/>
          </a:xfrm>
          <a:prstGeom prst="rect">
            <a:avLst/>
          </a:prstGeom>
          <a:solidFill>
            <a:schemeClr val="bg2"/>
          </a:solidFill>
          <a:ln>
            <a:solidFill>
              <a:srgbClr val="00B050"/>
            </a:solidFill>
          </a:ln>
        </p:spPr>
        <p:txBody>
          <a:bodyPr wrap="square" rtlCol="0">
            <a:spAutoFit/>
          </a:bodyPr>
          <a:lstStyle/>
          <a:p>
            <a:r>
              <a:rPr lang="en-US" sz="1600" b="1" dirty="0"/>
              <a:t>How will it get in?</a:t>
            </a:r>
          </a:p>
        </p:txBody>
      </p:sp>
      <p:sp>
        <p:nvSpPr>
          <p:cNvPr id="20" name="TextBox 19"/>
          <p:cNvSpPr txBox="1"/>
          <p:nvPr/>
        </p:nvSpPr>
        <p:spPr>
          <a:xfrm>
            <a:off x="2485568" y="3562209"/>
            <a:ext cx="1807897" cy="338554"/>
          </a:xfrm>
          <a:prstGeom prst="rect">
            <a:avLst/>
          </a:prstGeom>
          <a:solidFill>
            <a:schemeClr val="bg2"/>
          </a:solidFill>
          <a:ln>
            <a:solidFill>
              <a:srgbClr val="00B050"/>
            </a:solidFill>
          </a:ln>
        </p:spPr>
        <p:txBody>
          <a:bodyPr wrap="square" rtlCol="0">
            <a:spAutoFit/>
          </a:bodyPr>
          <a:lstStyle/>
          <a:p>
            <a:r>
              <a:rPr lang="en-US" sz="1600" b="1" dirty="0"/>
              <a:t>Where will it go?</a:t>
            </a:r>
          </a:p>
        </p:txBody>
      </p:sp>
      <p:sp>
        <p:nvSpPr>
          <p:cNvPr id="21" name="TextBox 20"/>
          <p:cNvSpPr txBox="1"/>
          <p:nvPr/>
        </p:nvSpPr>
        <p:spPr>
          <a:xfrm>
            <a:off x="4516380" y="3562209"/>
            <a:ext cx="2352782" cy="338554"/>
          </a:xfrm>
          <a:prstGeom prst="rect">
            <a:avLst/>
          </a:prstGeom>
          <a:solidFill>
            <a:schemeClr val="bg2"/>
          </a:solidFill>
          <a:ln>
            <a:solidFill>
              <a:srgbClr val="00B050"/>
            </a:solidFill>
          </a:ln>
        </p:spPr>
        <p:txBody>
          <a:bodyPr wrap="square" rtlCol="0">
            <a:spAutoFit/>
          </a:bodyPr>
          <a:lstStyle/>
          <a:p>
            <a:r>
              <a:rPr lang="en-US" sz="1600" b="1" dirty="0"/>
              <a:t>How is broken down?</a:t>
            </a:r>
          </a:p>
        </p:txBody>
      </p:sp>
      <p:sp>
        <p:nvSpPr>
          <p:cNvPr id="22" name="TextBox 21"/>
          <p:cNvSpPr txBox="1"/>
          <p:nvPr/>
        </p:nvSpPr>
        <p:spPr>
          <a:xfrm>
            <a:off x="6979937" y="3562209"/>
            <a:ext cx="2030497" cy="338554"/>
          </a:xfrm>
          <a:prstGeom prst="rect">
            <a:avLst/>
          </a:prstGeom>
          <a:solidFill>
            <a:schemeClr val="bg2"/>
          </a:solidFill>
          <a:ln>
            <a:solidFill>
              <a:srgbClr val="00B050"/>
            </a:solidFill>
          </a:ln>
        </p:spPr>
        <p:txBody>
          <a:bodyPr wrap="square" rtlCol="0">
            <a:spAutoFit/>
          </a:bodyPr>
          <a:lstStyle/>
          <a:p>
            <a:r>
              <a:rPr lang="en-US" sz="1600" b="1" dirty="0"/>
              <a:t>How does it leave?</a:t>
            </a:r>
          </a:p>
        </p:txBody>
      </p:sp>
      <p:pic>
        <p:nvPicPr>
          <p:cNvPr id="23" name="Picture 2" descr="What Do Intestines Do for the Body? | UPMC HealthBe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4025934"/>
            <a:ext cx="2103521" cy="1565061"/>
          </a:xfrm>
          <a:prstGeom prst="rect">
            <a:avLst/>
          </a:prstGeom>
          <a:solidFill>
            <a:schemeClr val="bg2"/>
          </a:solidFill>
          <a:ln>
            <a:solidFill>
              <a:srgbClr val="00B050"/>
            </a:solidFill>
          </a:ln>
        </p:spPr>
      </p:pic>
      <p:pic>
        <p:nvPicPr>
          <p:cNvPr id="25" name="Picture 10" descr="15 circulatory system diseases: Symptoms and risk facto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3545" y="3933510"/>
            <a:ext cx="2402836" cy="1476958"/>
          </a:xfrm>
          <a:prstGeom prst="rect">
            <a:avLst/>
          </a:prstGeom>
          <a:solidFill>
            <a:schemeClr val="bg2"/>
          </a:solidFill>
          <a:ln>
            <a:solidFill>
              <a:srgbClr val="00B050"/>
            </a:solidFill>
          </a:ln>
        </p:spPr>
      </p:pic>
      <p:pic>
        <p:nvPicPr>
          <p:cNvPr id="26" name="Picture 12" descr="PCOS And Non-Alcoholic Fatty Liver Disease (NAFLD): Treatment And  Prevention - PCOS Nutrition Cen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355" y="4003652"/>
            <a:ext cx="1944106" cy="1406817"/>
          </a:xfrm>
          <a:prstGeom prst="rect">
            <a:avLst/>
          </a:prstGeom>
          <a:solidFill>
            <a:schemeClr val="bg2"/>
          </a:solidFill>
          <a:ln>
            <a:solidFill>
              <a:srgbClr val="00B050"/>
            </a:solidFill>
          </a:ln>
        </p:spPr>
      </p:pic>
      <p:pic>
        <p:nvPicPr>
          <p:cNvPr id="2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9163" y="3900764"/>
            <a:ext cx="2222129" cy="1690231"/>
          </a:xfrm>
          <a:prstGeom prst="rect">
            <a:avLst/>
          </a:prstGeom>
          <a:solidFill>
            <a:schemeClr val="bg2"/>
          </a:solidFill>
          <a:ln>
            <a:solidFill>
              <a:srgbClr val="00B050"/>
            </a:solidFill>
          </a:ln>
        </p:spPr>
      </p:pic>
    </p:spTree>
    <p:extLst>
      <p:ext uri="{BB962C8B-B14F-4D97-AF65-F5344CB8AC3E}">
        <p14:creationId xmlns:p14="http://schemas.microsoft.com/office/powerpoint/2010/main" val="381303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ppt_x"/>
                                          </p:val>
                                        </p:tav>
                                        <p:tav tm="100000">
                                          <p:val>
                                            <p:strVal val="#ppt_x"/>
                                          </p:val>
                                        </p:tav>
                                      </p:tavLst>
                                    </p:anim>
                                    <p:anim calcmode="lin" valueType="num">
                                      <p:cBhvr additive="base">
                                        <p:cTn id="6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500" fill="hold"/>
                                        <p:tgtEl>
                                          <p:spTgt spid="17"/>
                                        </p:tgtEl>
                                        <p:attrNameLst>
                                          <p:attrName>ppt_x</p:attrName>
                                        </p:attrNameLst>
                                      </p:cBhvr>
                                      <p:tavLst>
                                        <p:tav tm="0">
                                          <p:val>
                                            <p:strVal val="#ppt_x"/>
                                          </p:val>
                                        </p:tav>
                                        <p:tav tm="100000">
                                          <p:val>
                                            <p:strVal val="#ppt_x"/>
                                          </p:val>
                                        </p:tav>
                                      </p:tavLst>
                                    </p:anim>
                                    <p:anim calcmode="lin" valueType="num">
                                      <p:cBhvr additive="base">
                                        <p:cTn id="78" dur="500" fill="hold"/>
                                        <p:tgtEl>
                                          <p:spTgt spid="1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additive="base">
                                        <p:cTn id="81" dur="500" fill="hold"/>
                                        <p:tgtEl>
                                          <p:spTgt spid="22"/>
                                        </p:tgtEl>
                                        <p:attrNameLst>
                                          <p:attrName>ppt_x</p:attrName>
                                        </p:attrNameLst>
                                      </p:cBhvr>
                                      <p:tavLst>
                                        <p:tav tm="0">
                                          <p:val>
                                            <p:strVal val="#ppt_x"/>
                                          </p:val>
                                        </p:tav>
                                        <p:tav tm="100000">
                                          <p:val>
                                            <p:strVal val="#ppt_x"/>
                                          </p:val>
                                        </p:tav>
                                      </p:tavLst>
                                    </p:anim>
                                    <p:anim calcmode="lin" valueType="num">
                                      <p:cBhvr additive="base">
                                        <p:cTn id="82" dur="500" fill="hold"/>
                                        <p:tgtEl>
                                          <p:spTgt spid="22"/>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ppt_x"/>
                                          </p:val>
                                        </p:tav>
                                        <p:tav tm="100000">
                                          <p:val>
                                            <p:strVal val="#ppt_x"/>
                                          </p:val>
                                        </p:tav>
                                      </p:tavLst>
                                    </p:anim>
                                    <p:anim calcmode="lin" valueType="num">
                                      <p:cBhvr additive="base">
                                        <p:cTn id="8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90525" y="333375"/>
            <a:ext cx="69119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kern="0" dirty="0">
                <a:solidFill>
                  <a:srgbClr val="000000"/>
                </a:solidFill>
                <a:latin typeface="Arial"/>
              </a:rPr>
              <a:t>O</a:t>
            </a:r>
            <a:r>
              <a:rPr kumimoji="0" lang="en-US" altLang="en-US" sz="2400" b="1" i="0" u="none" strike="noStrike" kern="0" cap="none" spc="0" normalizeH="0" baseline="0" noProof="0" dirty="0" err="1">
                <a:ln>
                  <a:noFill/>
                </a:ln>
                <a:solidFill>
                  <a:srgbClr val="000000"/>
                </a:solidFill>
                <a:effectLst/>
                <a:uLnTx/>
                <a:uFillTx/>
                <a:latin typeface="Arial"/>
                <a:ea typeface="MS PGothic" pitchFamily="34" charset="-128"/>
                <a:cs typeface="+mj-cs"/>
              </a:rPr>
              <a:t>verview</a:t>
            </a:r>
            <a:endPar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endParaRPr>
          </a:p>
        </p:txBody>
      </p:sp>
      <p:pic>
        <p:nvPicPr>
          <p:cNvPr id="4" name="Picture 5" descr="PK"/>
          <p:cNvPicPr>
            <a:picLocks noChangeAspect="1" noChangeArrowheads="1"/>
          </p:cNvPicPr>
          <p:nvPr/>
        </p:nvPicPr>
        <p:blipFill>
          <a:blip r:embed="rId2">
            <a:extLst>
              <a:ext uri="{28A0092B-C50C-407E-A947-70E740481C1C}">
                <a14:useLocalDpi xmlns:a14="http://schemas.microsoft.com/office/drawing/2010/main" val="0"/>
              </a:ext>
            </a:extLst>
          </a:blip>
          <a:srcRect b="15775"/>
          <a:stretch>
            <a:fillRect/>
          </a:stretch>
        </p:blipFill>
        <p:spPr>
          <a:xfrm>
            <a:off x="304800" y="990600"/>
            <a:ext cx="8458200" cy="4645025"/>
          </a:xfrm>
          <a:prstGeom prst="rect">
            <a:avLst/>
          </a:prstGeom>
        </p:spPr>
      </p:pic>
    </p:spTree>
    <p:extLst>
      <p:ext uri="{BB962C8B-B14F-4D97-AF65-F5344CB8AC3E}">
        <p14:creationId xmlns:p14="http://schemas.microsoft.com/office/powerpoint/2010/main" val="1941777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0202" y="121683"/>
            <a:ext cx="5004328" cy="5726497"/>
          </a:xfrm>
          <a:prstGeom prst="rect">
            <a:avLst/>
          </a:prstGeom>
        </p:spPr>
      </p:pic>
    </p:spTree>
    <p:extLst>
      <p:ext uri="{BB962C8B-B14F-4D97-AF65-F5344CB8AC3E}">
        <p14:creationId xmlns:p14="http://schemas.microsoft.com/office/powerpoint/2010/main" val="1970499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02200" y="984738"/>
            <a:ext cx="8510204" cy="478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The therapeutic effect of a drug is determined by the concentration of drug at the receptor site of action.  </a:t>
            </a:r>
          </a:p>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Even though the concentration of drug that reaches the target receptor is dependent upon the dose of the drug, there are other factors that influence the delivery of the drug to the target site.  </a:t>
            </a:r>
          </a:p>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These include </a:t>
            </a:r>
            <a:r>
              <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cs typeface="+mn-cs"/>
              </a:rPr>
              <a:t>absorption, distribution, metabolism, </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and </a:t>
            </a:r>
            <a:r>
              <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cs typeface="+mn-cs"/>
              </a:rPr>
              <a:t>(elimination) excretion.  </a:t>
            </a:r>
          </a:p>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The study of these variables is called </a:t>
            </a:r>
            <a:r>
              <a:rPr kumimoji="0" lang="en-US" altLang="en-US" sz="2600" b="0" i="1" u="none" strike="noStrike" kern="0" cap="none" spc="0" normalizeH="0" baseline="0" noProof="0" dirty="0">
                <a:ln>
                  <a:noFill/>
                </a:ln>
                <a:solidFill>
                  <a:srgbClr val="000000"/>
                </a:solidFill>
                <a:effectLst/>
                <a:uLnTx/>
                <a:uFillTx/>
                <a:latin typeface="Arial"/>
                <a:ea typeface="MS PGothic" pitchFamily="34" charset="-128"/>
                <a:cs typeface="+mn-cs"/>
              </a:rPr>
              <a:t>pharmacokinetics</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a:t>
            </a:r>
          </a:p>
        </p:txBody>
      </p:sp>
      <p:sp>
        <p:nvSpPr>
          <p:cNvPr id="4" name="Rectangle 2"/>
          <p:cNvSpPr txBox="1">
            <a:spLocks noChangeArrowheads="1"/>
          </p:cNvSpPr>
          <p:nvPr/>
        </p:nvSpPr>
        <p:spPr bwMode="auto">
          <a:xfrm>
            <a:off x="607925" y="60290"/>
            <a:ext cx="7543800" cy="5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sz="2800" kern="0" dirty="0">
                <a:latin typeface="Bradley Hand ITC" panose="03070402050302030203" pitchFamily="66" charset="0"/>
              </a:rPr>
              <a:t>PHARMACOKINETICS- BASIC CONCEPTS</a:t>
            </a:r>
          </a:p>
        </p:txBody>
      </p:sp>
    </p:spTree>
    <p:extLst>
      <p:ext uri="{BB962C8B-B14F-4D97-AF65-F5344CB8AC3E}">
        <p14:creationId xmlns:p14="http://schemas.microsoft.com/office/powerpoint/2010/main" val="537998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0342"/>
          </a:xfrm>
        </p:spPr>
        <p:txBody>
          <a:bodyPr/>
          <a:lstStyle/>
          <a:p>
            <a:r>
              <a:rPr lang="en-US" altLang="en-US" sz="2800" b="1" dirty="0">
                <a:cs typeface="Arial" panose="020B0604020202020204" pitchFamily="34" charset="0"/>
              </a:rPr>
              <a:t>Movement of drug molecules across cellular barriers</a:t>
            </a:r>
            <a:endParaRPr lang="en-US"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191" y="1617935"/>
            <a:ext cx="7645752" cy="3205274"/>
          </a:xfrm>
          <a:prstGeom prst="rect">
            <a:avLst/>
          </a:prstGeom>
        </p:spPr>
      </p:pic>
    </p:spTree>
    <p:extLst>
      <p:ext uri="{BB962C8B-B14F-4D97-AF65-F5344CB8AC3E}">
        <p14:creationId xmlns:p14="http://schemas.microsoft.com/office/powerpoint/2010/main" val="627008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736" y="1034980"/>
            <a:ext cx="7172525" cy="4352197"/>
          </a:xfrm>
          <a:prstGeom prst="rect">
            <a:avLst/>
          </a:prstGeom>
        </p:spPr>
      </p:pic>
      <p:sp>
        <p:nvSpPr>
          <p:cNvPr id="4" name="Title 1"/>
          <p:cNvSpPr txBox="1">
            <a:spLocks/>
          </p:cNvSpPr>
          <p:nvPr/>
        </p:nvSpPr>
        <p:spPr>
          <a:xfrm>
            <a:off x="457200" y="274638"/>
            <a:ext cx="8229600" cy="76034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sz="2800" b="1">
                <a:cs typeface="Arial" panose="020B0604020202020204" pitchFamily="34" charset="0"/>
              </a:rPr>
              <a:t>Movement of drug molecules across cellular barriers</a:t>
            </a:r>
            <a:endParaRPr lang="en-US" sz="2800" dirty="0"/>
          </a:p>
        </p:txBody>
      </p:sp>
    </p:spTree>
    <p:extLst>
      <p:ext uri="{BB962C8B-B14F-4D97-AF65-F5344CB8AC3E}">
        <p14:creationId xmlns:p14="http://schemas.microsoft.com/office/powerpoint/2010/main" val="4152726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304800" y="1295400"/>
            <a:ext cx="8534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630238" marR="0" lvl="0" indent="-630238" algn="l" defTabSz="914400" rtl="0" eaLnBrk="1" fontAlgn="base" latinLnBrk="0" hangingPunct="1">
              <a:lnSpc>
                <a:spcPct val="100000"/>
              </a:lnSpc>
              <a:spcBef>
                <a:spcPct val="0"/>
              </a:spcBef>
              <a:spcAft>
                <a:spcPct val="0"/>
              </a:spcAft>
              <a:buClrTx/>
              <a:buSzTx/>
              <a:buFontTx/>
              <a:buNone/>
              <a:tabLst/>
              <a:defRPr/>
            </a:pPr>
            <a:r>
              <a:rPr kumimoji="0" lang="en-US" altLang="en-US" sz="3500" b="0" i="0" u="none" strike="noStrike" kern="0" cap="none" spc="0" normalizeH="0" baseline="0" noProof="1">
                <a:ln>
                  <a:noFill/>
                </a:ln>
                <a:solidFill>
                  <a:srgbClr val="000000"/>
                </a:solidFill>
                <a:effectLst/>
                <a:uLnTx/>
                <a:uFillTx/>
                <a:latin typeface="Arial"/>
                <a:ea typeface="MS PGothic" pitchFamily="34" charset="-128"/>
                <a:cs typeface="+mj-cs"/>
              </a:rPr>
              <a:t>II. PHARMACOKINETIC PROCESSES</a:t>
            </a:r>
            <a:br>
              <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rPr>
            </a:br>
            <a:r>
              <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rPr>
              <a:t>                   (ADME)</a:t>
            </a:r>
            <a:br>
              <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rPr>
            </a:b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j-cs"/>
              </a:rPr>
              <a:t>A</a:t>
            </a:r>
            <a: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t>bsorption</a:t>
            </a:r>
            <a:b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b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j-cs"/>
              </a:rPr>
              <a:t>D</a:t>
            </a:r>
            <a: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t>istribution</a:t>
            </a:r>
            <a:b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br>
            <a: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t>Metabolism and </a:t>
            </a:r>
            <a:b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br>
            <a: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t>Excretion</a:t>
            </a:r>
            <a:b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br>
            <a:br>
              <a:rPr kumimoji="0" lang="en-US" altLang="en-US" sz="3200" b="0" i="0" u="none" strike="noStrike" kern="0" cap="none" spc="0" normalizeH="0" baseline="0" noProof="1">
                <a:ln>
                  <a:noFill/>
                </a:ln>
                <a:solidFill>
                  <a:srgbClr val="000000"/>
                </a:solidFill>
                <a:effectLst/>
                <a:uLnTx/>
                <a:uFillTx/>
                <a:latin typeface="Arial"/>
                <a:ea typeface="MS PGothic" pitchFamily="34" charset="-128"/>
                <a:cs typeface="+mj-cs"/>
              </a:rPr>
            </a:br>
            <a:r>
              <a:rPr kumimoji="0" lang="en-US" altLang="en-US" sz="3600" b="1" i="1"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j-cs"/>
              </a:rPr>
              <a:t>The Life Cycle of a Drug </a:t>
            </a:r>
            <a:r>
              <a:rPr kumimoji="0" lang="en-US" altLang="en-US" sz="3200" b="1"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j-cs"/>
              </a:rPr>
              <a:t>(pharmacokinetics)</a:t>
            </a:r>
            <a:br>
              <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rPr>
            </a:br>
            <a:endPar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endParaRPr>
          </a:p>
        </p:txBody>
      </p:sp>
      <p:sp>
        <p:nvSpPr>
          <p:cNvPr id="4" name="Right Brace 3"/>
          <p:cNvSpPr/>
          <p:nvPr/>
        </p:nvSpPr>
        <p:spPr>
          <a:xfrm>
            <a:off x="4419600" y="2978150"/>
            <a:ext cx="304800" cy="946150"/>
          </a:xfrm>
          <a:prstGeom prst="rightBrace">
            <a:avLst/>
          </a:prstGeom>
          <a:noFill/>
          <a:ln w="9525" cap="flat" cmpd="sng" algn="ctr">
            <a:solidFill>
              <a:srgbClr val="009682">
                <a:shade val="95000"/>
                <a:satMod val="105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a:ea typeface="+mn-ea"/>
              <a:cs typeface="+mn-cs"/>
            </a:endParaRPr>
          </a:p>
        </p:txBody>
      </p:sp>
      <p:sp>
        <p:nvSpPr>
          <p:cNvPr id="5" name="TextBox 2"/>
          <p:cNvSpPr txBox="1">
            <a:spLocks noChangeArrowheads="1"/>
          </p:cNvSpPr>
          <p:nvPr/>
        </p:nvSpPr>
        <p:spPr bwMode="auto">
          <a:xfrm>
            <a:off x="5105400" y="3189288"/>
            <a:ext cx="1944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r>
              <a:rPr lang="en-US" altLang="en-US" sz="2800" dirty="0">
                <a:solidFill>
                  <a:srgbClr val="000000"/>
                </a:solidFill>
                <a:cs typeface="Arial" panose="020B0604020202020204" pitchFamily="34" charset="0"/>
              </a:rPr>
              <a:t>Elimination</a:t>
            </a:r>
          </a:p>
        </p:txBody>
      </p:sp>
    </p:spTree>
    <p:extLst>
      <p:ext uri="{BB962C8B-B14F-4D97-AF65-F5344CB8AC3E}">
        <p14:creationId xmlns:p14="http://schemas.microsoft.com/office/powerpoint/2010/main" val="2898998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52425" y="685800"/>
            <a:ext cx="8410575"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a:ln>
                  <a:noFill/>
                </a:ln>
                <a:solidFill>
                  <a:srgbClr val="000000"/>
                </a:solidFill>
                <a:effectLst/>
                <a:uLnTx/>
                <a:uFillTx/>
                <a:latin typeface="Arial"/>
                <a:ea typeface="MS PGothic" pitchFamily="34" charset="-128"/>
                <a:cs typeface="+mn-cs"/>
              </a:rPr>
              <a:t>Most drugs :</a:t>
            </a: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a:ln>
                  <a:noFill/>
                </a:ln>
                <a:solidFill>
                  <a:srgbClr val="FF0066"/>
                </a:solidFill>
                <a:effectLst/>
                <a:uLnTx/>
                <a:uFillTx/>
                <a:latin typeface="Arial"/>
                <a:ea typeface="MS PGothic" pitchFamily="34" charset="-128"/>
                <a:cs typeface="+mn-cs"/>
              </a:rPr>
              <a:t>enter the body</a:t>
            </a:r>
            <a:r>
              <a:rPr kumimoji="0" lang="en-US" altLang="en-US" sz="3200" b="0" i="0" u="none" strike="noStrike" kern="0" cap="none" spc="0" normalizeH="0" baseline="0" noProof="0">
                <a:ln>
                  <a:noFill/>
                </a:ln>
                <a:solidFill>
                  <a:srgbClr val="000000"/>
                </a:solidFill>
                <a:effectLst/>
                <a:uLnTx/>
                <a:uFillTx/>
                <a:latin typeface="Arial"/>
                <a:ea typeface="MS PGothic" pitchFamily="34" charset="-128"/>
                <a:cs typeface="+mn-cs"/>
              </a:rPr>
              <a:t> (by mouth or injection or…) - must cross barriers to entry (skin, gut wall, alveolar membrane…..)</a:t>
            </a: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a:ln>
                  <a:noFill/>
                </a:ln>
                <a:solidFill>
                  <a:srgbClr val="FF0066"/>
                </a:solidFill>
                <a:effectLst/>
                <a:uLnTx/>
                <a:uFillTx/>
                <a:latin typeface="Arial"/>
                <a:ea typeface="MS PGothic" pitchFamily="34" charset="-128"/>
                <a:cs typeface="+mn-cs"/>
              </a:rPr>
              <a:t>are distributed by the blood to the site of action</a:t>
            </a:r>
            <a:r>
              <a:rPr kumimoji="0" lang="en-US" altLang="en-US" sz="3200" b="0" i="0" u="none" strike="noStrike" kern="0" cap="none" spc="0" normalizeH="0" baseline="0" noProof="0">
                <a:ln>
                  <a:noFill/>
                </a:ln>
                <a:solidFill>
                  <a:srgbClr val="000000"/>
                </a:solidFill>
                <a:effectLst/>
                <a:uLnTx/>
                <a:uFillTx/>
                <a:latin typeface="Arial"/>
                <a:ea typeface="MS PGothic" pitchFamily="34" charset="-128"/>
                <a:cs typeface="+mn-cs"/>
              </a:rPr>
              <a:t> - intra- or extra- cellular - cross barriers to distribution (capillaries, cell wall….) </a:t>
            </a: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a:ln>
                  <a:noFill/>
                </a:ln>
                <a:solidFill>
                  <a:srgbClr val="000000"/>
                </a:solidFill>
                <a:effectLst/>
                <a:uLnTx/>
                <a:uFillTx/>
                <a:latin typeface="Arial"/>
                <a:ea typeface="MS PGothic" pitchFamily="34" charset="-128"/>
                <a:cs typeface="+mn-cs"/>
              </a:rPr>
              <a:t>- distribution affects concentration at site of action and sites of excretion and biotransformation</a:t>
            </a:r>
            <a:endPar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152400" y="76200"/>
            <a:ext cx="6616700" cy="554038"/>
          </a:xfrm>
          <a:prstGeom prst="rect">
            <a:avLst/>
          </a:prstGeom>
          <a:solidFill>
            <a:srgbClr val="FFFFFF"/>
          </a:solidFill>
          <a:ln w="41275">
            <a:solidFill>
              <a:srgbClr val="FFFFFF"/>
            </a:solidFill>
            <a:miter lim="800000"/>
            <a:headEnd/>
            <a:tailEnd/>
          </a:ln>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Arial Narrow" panose="020B0606020202030204" pitchFamily="34" charset="0"/>
                <a:ea typeface="MS PGothic" pitchFamily="34" charset="-128"/>
                <a:cs typeface="+mj-cs"/>
              </a:rPr>
              <a:t>Introduction</a:t>
            </a:r>
          </a:p>
        </p:txBody>
      </p:sp>
    </p:spTree>
    <p:extLst>
      <p:ext uri="{BB962C8B-B14F-4D97-AF65-F5344CB8AC3E}">
        <p14:creationId xmlns:p14="http://schemas.microsoft.com/office/powerpoint/2010/main" val="906837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42965" y="887604"/>
            <a:ext cx="8288338" cy="5029200"/>
          </a:xfrm>
          <a:prstGeom prst="rect">
            <a:avLst/>
          </a:prstGeom>
          <a:noFill/>
          <a:ln>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dirty="0">
                <a:ln>
                  <a:noFill/>
                </a:ln>
                <a:solidFill>
                  <a:srgbClr val="FF0066"/>
                </a:solidFill>
                <a:effectLst/>
                <a:uLnTx/>
                <a:uFillTx/>
                <a:latin typeface="Arial"/>
                <a:ea typeface="MS PGothic" pitchFamily="34" charset="-128"/>
                <a:cs typeface="+mn-cs"/>
              </a:rPr>
              <a:t>are </a:t>
            </a:r>
            <a:r>
              <a:rPr kumimoji="0" lang="en-US" altLang="en-US" sz="3200" b="0" i="0" u="none" strike="noStrike" kern="0" cap="none" spc="0" normalizeH="0" baseline="0" noProof="0" dirty="0" err="1">
                <a:ln>
                  <a:noFill/>
                </a:ln>
                <a:solidFill>
                  <a:srgbClr val="FF0066"/>
                </a:solidFill>
                <a:effectLst/>
                <a:uLnTx/>
                <a:uFillTx/>
                <a:latin typeface="Arial"/>
                <a:ea typeface="MS PGothic" pitchFamily="34" charset="-128"/>
                <a:cs typeface="+mn-cs"/>
              </a:rPr>
              <a:t>biotransformed</a:t>
            </a:r>
            <a:r>
              <a:rPr kumimoji="0" lang="en-US" altLang="en-US" sz="3200" b="0" i="0" u="none" strike="noStrike" kern="0" cap="none" spc="0" normalizeH="0" baseline="0" noProof="0" dirty="0">
                <a:ln>
                  <a:noFill/>
                </a:ln>
                <a:solidFill>
                  <a:srgbClr val="FF0066"/>
                </a:solidFill>
                <a:effectLst/>
                <a:uLnTx/>
                <a:uFillTx/>
                <a:latin typeface="Arial"/>
                <a:ea typeface="MS PGothic" pitchFamily="34" charset="-128"/>
                <a:cs typeface="+mn-cs"/>
              </a:rPr>
              <a:t> </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perhaps to several different compounds by enzymes evolved to cope with natural materials - this may increase, decrease or change drug actions</a:t>
            </a: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dirty="0">
                <a:ln>
                  <a:noFill/>
                </a:ln>
                <a:solidFill>
                  <a:srgbClr val="FF0066"/>
                </a:solidFill>
                <a:effectLst/>
                <a:uLnTx/>
                <a:uFillTx/>
                <a:latin typeface="Arial"/>
                <a:ea typeface="MS PGothic" pitchFamily="34" charset="-128"/>
                <a:cs typeface="+mn-cs"/>
              </a:rPr>
              <a:t>are excreted (by kidney or …….)</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 which removes them and/or their metabolites from the body</a:t>
            </a: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endPar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   Pharmacokinetics is the </a:t>
            </a:r>
            <a:r>
              <a:rPr kumimoji="0" lang="en-US" altLang="en-US" sz="3200" b="0" i="0" u="none" strike="noStrike" kern="0" cap="none" spc="0" normalizeH="0" baseline="0" noProof="0" dirty="0">
                <a:ln>
                  <a:noFill/>
                </a:ln>
                <a:solidFill>
                  <a:srgbClr val="00B050"/>
                </a:solidFill>
                <a:effectLst/>
                <a:uLnTx/>
                <a:uFillTx/>
                <a:latin typeface="Arial"/>
                <a:ea typeface="MS PGothic" pitchFamily="34" charset="-128"/>
                <a:cs typeface="+mn-cs"/>
              </a:rPr>
              <a:t>quantification</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 of these processes</a:t>
            </a:r>
          </a:p>
        </p:txBody>
      </p:sp>
      <p:sp>
        <p:nvSpPr>
          <p:cNvPr id="4" name="Rectangle 2"/>
          <p:cNvSpPr txBox="1">
            <a:spLocks noChangeArrowheads="1"/>
          </p:cNvSpPr>
          <p:nvPr/>
        </p:nvSpPr>
        <p:spPr bwMode="auto">
          <a:xfrm>
            <a:off x="152400" y="76200"/>
            <a:ext cx="6616700" cy="554038"/>
          </a:xfrm>
          <a:prstGeom prst="rect">
            <a:avLst/>
          </a:prstGeom>
          <a:solidFill>
            <a:srgbClr val="FFFFFF"/>
          </a:solidFill>
          <a:ln w="41275">
            <a:solidFill>
              <a:srgbClr val="FFFFFF"/>
            </a:solidFill>
            <a:miter lim="800000"/>
            <a:headEnd/>
            <a:tailEnd/>
          </a:ln>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Arial Narrow" panose="020B0606020202030204" pitchFamily="34" charset="0"/>
                <a:ea typeface="MS PGothic" pitchFamily="34" charset="-128"/>
                <a:cs typeface="+mj-cs"/>
              </a:rPr>
              <a:t>Introduction</a:t>
            </a:r>
          </a:p>
        </p:txBody>
      </p:sp>
    </p:spTree>
    <p:extLst>
      <p:ext uri="{BB962C8B-B14F-4D97-AF65-F5344CB8AC3E}">
        <p14:creationId xmlns:p14="http://schemas.microsoft.com/office/powerpoint/2010/main" val="3120852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0668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None/>
              <a:tabLst/>
              <a:defRPr/>
            </a:pPr>
            <a:r>
              <a:rPr kumimoji="0" lang="en-US" altLang="en-US" sz="2200" b="1" i="0" u="none" strike="noStrike" kern="0" cap="none" spc="0" normalizeH="0" baseline="0" noProof="0" dirty="0">
                <a:ln>
                  <a:noFill/>
                </a:ln>
                <a:solidFill>
                  <a:srgbClr val="000000"/>
                </a:solidFill>
                <a:effectLst/>
                <a:uLnTx/>
                <a:uFillTx/>
                <a:latin typeface="Arial"/>
                <a:ea typeface="MS PGothic" pitchFamily="34" charset="-128"/>
                <a:cs typeface="+mn-cs"/>
              </a:rPr>
              <a:t>Learning Objectives</a:t>
            </a:r>
            <a:endParaRPr kumimoji="0" lang="en-GB" altLang="en-US" sz="25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GB"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know the main processes determining the ADME drugs in the body;</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GB"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be able to exemplify how these processes can be affected by disease, diet, drugs and other factors;</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GB"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know how alterations in these processes can affect the outcome of drug treatment.</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Appreciate how differences in these processes between patients can affect therapy</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Know how these processes have been exploited to improve therapy</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List the various routes of drug administration with advantages and disadvantages of each</a:t>
            </a:r>
            <a:r>
              <a:rPr kumimoji="0" lang="en-US" altLang="en-US" sz="2900" b="0" i="0" u="none" strike="noStrike" kern="0" cap="none" spc="0" normalizeH="0" baseline="0" noProof="0" dirty="0">
                <a:ln>
                  <a:noFill/>
                </a:ln>
                <a:solidFill>
                  <a:srgbClr val="000000"/>
                </a:solidFill>
                <a:effectLst/>
                <a:uLnTx/>
                <a:uFillTx/>
                <a:latin typeface="Arial"/>
                <a:ea typeface="MS PGothic" pitchFamily="34" charset="-128"/>
                <a:cs typeface="+mn-cs"/>
              </a:rPr>
              <a:t>.</a:t>
            </a:r>
          </a:p>
          <a:p>
            <a:pPr marL="314325" marR="0" lvl="0" indent="-314325" algn="just" defTabSz="914400" rtl="0" eaLnBrk="1" fontAlgn="base" latinLnBrk="0" hangingPunct="1">
              <a:lnSpc>
                <a:spcPct val="80000"/>
              </a:lnSpc>
              <a:spcBef>
                <a:spcPct val="20000"/>
              </a:spcBef>
              <a:spcAft>
                <a:spcPct val="0"/>
              </a:spcAft>
              <a:buClrTx/>
              <a:buSzTx/>
              <a:buFont typeface="Symbol" panose="05050102010706020507" pitchFamily="18" charset="2"/>
              <a:buChar char="·"/>
              <a:tabLst/>
              <a:defRPr/>
            </a:pPr>
            <a:endParaRPr kumimoji="0" lang="en-US" altLang="en-US" sz="29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457200" y="228600"/>
            <a:ext cx="847578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i="0" u="none" strike="noStrike" kern="0" cap="none" spc="0" normalizeH="0" baseline="0" noProof="0" dirty="0">
                <a:ln>
                  <a:noFill/>
                </a:ln>
                <a:solidFill>
                  <a:srgbClr val="00B050"/>
                </a:solidFill>
                <a:effectLst/>
                <a:uLnTx/>
                <a:uFillTx/>
                <a:latin typeface="Arial"/>
                <a:ea typeface="MS PGothic" pitchFamily="34" charset="-128"/>
                <a:cs typeface="Arial" panose="020B0604020202020204" pitchFamily="34" charset="0"/>
              </a:rPr>
              <a:t>Absorption, Distribution, Metabolism &amp; Excretion (</a:t>
            </a:r>
            <a:r>
              <a:rPr kumimoji="0" lang="en-US" altLang="en-US" sz="2800" i="1" u="none" strike="noStrike" kern="0" cap="none" spc="0" normalizeH="0" baseline="0" noProof="0" dirty="0">
                <a:ln>
                  <a:noFill/>
                </a:ln>
                <a:solidFill>
                  <a:srgbClr val="00B050"/>
                </a:solidFill>
                <a:effectLst/>
                <a:uLnTx/>
                <a:uFillTx/>
                <a:latin typeface="Arial"/>
                <a:ea typeface="MS PGothic" pitchFamily="34" charset="-128"/>
                <a:cs typeface="Arial" panose="020B0604020202020204" pitchFamily="34" charset="0"/>
              </a:rPr>
              <a:t>ADME</a:t>
            </a:r>
            <a:r>
              <a:rPr kumimoji="0" lang="en-US" altLang="en-US" sz="2800" i="0" u="none" strike="noStrike" kern="0" cap="none" spc="0" normalizeH="0" baseline="0" noProof="0" dirty="0">
                <a:ln>
                  <a:noFill/>
                </a:ln>
                <a:solidFill>
                  <a:srgbClr val="00B050"/>
                </a:solidFill>
                <a:effectLst/>
                <a:uLnTx/>
                <a:uFillTx/>
                <a:latin typeface="Arial"/>
                <a:ea typeface="MS PGothic" pitchFamily="34" charset="-128"/>
                <a:cs typeface="Arial" panose="020B0604020202020204" pitchFamily="34" charset="0"/>
              </a:rPr>
              <a:t>)</a:t>
            </a:r>
          </a:p>
        </p:txBody>
      </p:sp>
    </p:spTree>
    <p:extLst>
      <p:ext uri="{BB962C8B-B14F-4D97-AF65-F5344CB8AC3E}">
        <p14:creationId xmlns:p14="http://schemas.microsoft.com/office/powerpoint/2010/main" val="4250985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bwMode="auto">
          <a:xfrm>
            <a:off x="665702" y="2301072"/>
            <a:ext cx="7543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algn="ctr" defTabSz="914400" eaLnBrk="1" hangingPunct="1"/>
            <a:r>
              <a:rPr lang="en-US" altLang="en-US" sz="4400" kern="0" dirty="0">
                <a:solidFill>
                  <a:schemeClr val="tx1"/>
                </a:solidFill>
                <a:cs typeface="Arial" panose="020B0604020202020204" pitchFamily="34" charset="0"/>
              </a:rPr>
              <a:t>ABSORPTION</a:t>
            </a:r>
          </a:p>
        </p:txBody>
      </p:sp>
      <p:sp>
        <p:nvSpPr>
          <p:cNvPr id="4" name="Rectangle 3"/>
          <p:cNvSpPr/>
          <p:nvPr/>
        </p:nvSpPr>
        <p:spPr>
          <a:xfrm>
            <a:off x="3802611" y="3258872"/>
            <a:ext cx="2793358" cy="646331"/>
          </a:xfrm>
          <a:prstGeom prst="rect">
            <a:avLst/>
          </a:prstGeom>
        </p:spPr>
        <p:txBody>
          <a:bodyPr wrap="square">
            <a:spAutoFit/>
          </a:bodyPr>
          <a:lstStyle/>
          <a:p>
            <a:pPr lvl="0"/>
            <a:r>
              <a:rPr lang="en-US" sz="3600" b="1" kern="0" dirty="0">
                <a:solidFill>
                  <a:srgbClr val="00B050"/>
                </a:solidFill>
                <a:latin typeface="Agency FB" panose="020B0503020202020204" pitchFamily="34" charset="0"/>
                <a:ea typeface="MS PGothic" pitchFamily="34" charset="-128"/>
                <a:cs typeface="+mj-cs"/>
              </a:rPr>
              <a:t>A</a:t>
            </a:r>
            <a:r>
              <a:rPr lang="en-US" sz="3600" b="1" kern="0" dirty="0">
                <a:latin typeface="Agency FB" panose="020B0503020202020204" pitchFamily="34" charset="0"/>
                <a:ea typeface="MS PGothic" pitchFamily="34" charset="-128"/>
                <a:cs typeface="+mj-cs"/>
              </a:rPr>
              <a:t>DME</a:t>
            </a:r>
          </a:p>
        </p:txBody>
      </p:sp>
    </p:spTree>
    <p:extLst>
      <p:ext uri="{BB962C8B-B14F-4D97-AF65-F5344CB8AC3E}">
        <p14:creationId xmlns:p14="http://schemas.microsoft.com/office/powerpoint/2010/main" val="2574428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579472"/>
          </a:xfrm>
        </p:spPr>
        <p:txBody>
          <a:bodyPr/>
          <a:lstStyle/>
          <a:p>
            <a:pPr algn="l"/>
            <a:r>
              <a:rPr lang="en-US" altLang="en-US" sz="2400" b="1" kern="0" dirty="0">
                <a:solidFill>
                  <a:srgbClr val="000000"/>
                </a:solidFill>
                <a:latin typeface="Arial"/>
                <a:ea typeface="MS PGothic" pitchFamily="34" charset="-128"/>
                <a:cs typeface="Arial" panose="020B0604020202020204" pitchFamily="34" charset="0"/>
              </a:rPr>
              <a:t>Absorption</a:t>
            </a:r>
            <a:endParaRPr lang="en-US" b="1" dirty="0"/>
          </a:p>
        </p:txBody>
      </p:sp>
      <p:sp>
        <p:nvSpPr>
          <p:cNvPr id="3" name="Rectangle 3"/>
          <p:cNvSpPr txBox="1">
            <a:spLocks noChangeArrowheads="1"/>
          </p:cNvSpPr>
          <p:nvPr/>
        </p:nvSpPr>
        <p:spPr bwMode="auto">
          <a:xfrm>
            <a:off x="377423" y="985559"/>
            <a:ext cx="8309377" cy="4862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80000"/>
              </a:lnSpc>
              <a:spcBef>
                <a:spcPct val="20000"/>
              </a:spcBef>
              <a:spcAft>
                <a:spcPct val="0"/>
              </a:spcAft>
              <a:buClrTx/>
              <a:buSzTx/>
              <a:buFontTx/>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Generally defined as the passage of drug from the site of administration into the plasma or the systemic circulation</a:t>
            </a:r>
          </a:p>
          <a:p>
            <a:pPr marL="0" marR="0" lvl="0" indent="0"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l"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Depends on </a:t>
            </a:r>
          </a:p>
          <a:p>
            <a:pPr marL="1657350" marR="0" lvl="3" indent="-276225" algn="l" defTabSz="914400" rtl="0" eaLnBrk="1" fontAlgn="base" latinLnBrk="0" hangingPunct="1">
              <a:lnSpc>
                <a:spcPct val="8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patient compliance</a:t>
            </a:r>
          </a:p>
          <a:p>
            <a:pPr marL="1657350" marR="0" lvl="3" indent="-276225" algn="l" defTabSz="914400" rtl="0" eaLnBrk="1" fontAlgn="base" latinLnBrk="0" hangingPunct="1">
              <a:lnSpc>
                <a:spcPct val="8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rate and extent of transfer from the site of administration to the blood</a:t>
            </a:r>
          </a:p>
          <a:p>
            <a:pPr marL="0" marR="0" lvl="0" indent="0" algn="l" defTabSz="914400" rtl="0" eaLnBrk="1" fontAlgn="base" latinLnBrk="0" hangingPunct="1">
              <a:lnSpc>
                <a:spcPct val="80000"/>
              </a:lnSpc>
              <a:spcBef>
                <a:spcPct val="2000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l"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800" b="1" i="0" u="none" strike="noStrike" kern="0" cap="none" spc="0" normalizeH="0" baseline="0" noProof="0" dirty="0">
                <a:ln>
                  <a:noFill/>
                </a:ln>
                <a:solidFill>
                  <a:srgbClr val="000000"/>
                </a:solidFill>
                <a:effectLst/>
                <a:uLnTx/>
                <a:uFillTx/>
                <a:latin typeface="Arial"/>
                <a:ea typeface="MS PGothic" pitchFamily="34" charset="-128"/>
                <a:cs typeface="+mn-cs"/>
              </a:rPr>
              <a:t>R</a:t>
            </a:r>
            <a:r>
              <a:rPr kumimoji="0" lang="en-US" altLang="en-US" sz="2800" b="1" i="0" u="none" strike="noStrike" kern="0" cap="none" spc="0" normalizeH="0" baseline="0" noProof="1">
                <a:ln>
                  <a:noFill/>
                </a:ln>
                <a:solidFill>
                  <a:srgbClr val="000000"/>
                </a:solidFill>
                <a:effectLst/>
                <a:uLnTx/>
                <a:uFillTx/>
                <a:latin typeface="Arial"/>
                <a:ea typeface="MS PGothic" pitchFamily="34" charset="-128"/>
                <a:cs typeface="+mn-cs"/>
              </a:rPr>
              <a:t>ate and efficiency </a:t>
            </a:r>
            <a:r>
              <a:rPr kumimoji="0" lang="en-US" altLang="en-US" sz="2800" b="1" i="0" u="none" strike="noStrike" kern="0" cap="none" spc="0" normalizeH="0" baseline="0" noProof="0" dirty="0">
                <a:ln>
                  <a:noFill/>
                </a:ln>
                <a:solidFill>
                  <a:srgbClr val="000000"/>
                </a:solidFill>
                <a:effectLst/>
                <a:uLnTx/>
                <a:uFillTx/>
                <a:latin typeface="Arial"/>
                <a:ea typeface="MS PGothic" pitchFamily="34" charset="-128"/>
                <a:cs typeface="+mn-cs"/>
              </a:rPr>
              <a:t>of absorption </a:t>
            </a:r>
            <a:r>
              <a:rPr kumimoji="0" lang="en-US" altLang="en-US" sz="2800" b="1" i="0" u="none" strike="noStrike" kern="0" cap="none" spc="0" normalizeH="0" baseline="0" noProof="1">
                <a:ln>
                  <a:noFill/>
                </a:ln>
                <a:solidFill>
                  <a:srgbClr val="000000"/>
                </a:solidFill>
                <a:effectLst/>
                <a:uLnTx/>
                <a:uFillTx/>
                <a:latin typeface="Arial"/>
                <a:ea typeface="MS PGothic" pitchFamily="34" charset="-128"/>
                <a:cs typeface="+mn-cs"/>
              </a:rPr>
              <a:t>depends on </a:t>
            </a:r>
            <a:r>
              <a:rPr kumimoji="0" lang="en-US" altLang="en-US" sz="2800" b="1" i="0" u="sng" strike="noStrike" kern="0" cap="none" spc="0" normalizeH="0" baseline="0" noProof="1">
                <a:ln>
                  <a:noFill/>
                </a:ln>
                <a:solidFill>
                  <a:srgbClr val="000000"/>
                </a:solidFill>
                <a:effectLst/>
                <a:uLnTx/>
                <a:uFillTx/>
                <a:latin typeface="Arial"/>
                <a:ea typeface="MS PGothic" pitchFamily="34" charset="-128"/>
                <a:cs typeface="+mn-cs"/>
              </a:rPr>
              <a:t>a drug´s route of administration</a:t>
            </a:r>
            <a:endParaRPr kumimoji="0" lang="en-US" altLang="en-US" sz="2800" b="1" i="0" u="sng" strike="noStrike" kern="0" cap="none" spc="0" normalizeH="0" baseline="0" noProof="0" dirty="0">
              <a:ln>
                <a:noFill/>
              </a:ln>
              <a:solidFill>
                <a:srgbClr val="000000"/>
              </a:solidFill>
              <a:effectLst/>
              <a:uLnTx/>
              <a:uFillTx/>
              <a:latin typeface="Arial"/>
              <a:ea typeface="MS PGothic" pitchFamily="34" charset="-128"/>
              <a:cs typeface="+mn-cs"/>
            </a:endParaRPr>
          </a:p>
        </p:txBody>
      </p:sp>
    </p:spTree>
    <p:extLst>
      <p:ext uri="{BB962C8B-B14F-4D97-AF65-F5344CB8AC3E}">
        <p14:creationId xmlns:p14="http://schemas.microsoft.com/office/powerpoint/2010/main" val="2931491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4"/>
          <p:cNvSpPr txBox="1">
            <a:spLocks noChangeArrowheads="1"/>
          </p:cNvSpPr>
          <p:nvPr/>
        </p:nvSpPr>
        <p:spPr bwMode="auto">
          <a:xfrm>
            <a:off x="4071938" y="2486025"/>
            <a:ext cx="1317625"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Tablets</a:t>
            </a:r>
          </a:p>
        </p:txBody>
      </p:sp>
      <p:sp>
        <p:nvSpPr>
          <p:cNvPr id="4" name="Text Box 55"/>
          <p:cNvSpPr txBox="1">
            <a:spLocks noChangeArrowheads="1"/>
          </p:cNvSpPr>
          <p:nvPr/>
        </p:nvSpPr>
        <p:spPr bwMode="auto">
          <a:xfrm>
            <a:off x="5703888" y="2971800"/>
            <a:ext cx="1416050"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Capsule</a:t>
            </a:r>
          </a:p>
        </p:txBody>
      </p:sp>
      <p:sp>
        <p:nvSpPr>
          <p:cNvPr id="5" name="Text Box 56"/>
          <p:cNvSpPr txBox="1">
            <a:spLocks noChangeArrowheads="1"/>
          </p:cNvSpPr>
          <p:nvPr/>
        </p:nvSpPr>
        <p:spPr bwMode="auto">
          <a:xfrm>
            <a:off x="6096000" y="3886200"/>
            <a:ext cx="1563688"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Injection</a:t>
            </a:r>
          </a:p>
        </p:txBody>
      </p:sp>
      <p:sp>
        <p:nvSpPr>
          <p:cNvPr id="6" name="Text Box 57"/>
          <p:cNvSpPr txBox="1">
            <a:spLocks noChangeArrowheads="1"/>
          </p:cNvSpPr>
          <p:nvPr/>
        </p:nvSpPr>
        <p:spPr bwMode="auto">
          <a:xfrm>
            <a:off x="5661025" y="4648200"/>
            <a:ext cx="1458913"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Infusion</a:t>
            </a:r>
          </a:p>
        </p:txBody>
      </p:sp>
      <p:sp>
        <p:nvSpPr>
          <p:cNvPr id="7" name="Text Box 58"/>
          <p:cNvSpPr txBox="1">
            <a:spLocks noChangeArrowheads="1"/>
          </p:cNvSpPr>
          <p:nvPr/>
        </p:nvSpPr>
        <p:spPr bwMode="auto">
          <a:xfrm>
            <a:off x="4051300" y="5257800"/>
            <a:ext cx="1468438"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Solution</a:t>
            </a:r>
          </a:p>
        </p:txBody>
      </p:sp>
      <p:sp>
        <p:nvSpPr>
          <p:cNvPr id="8" name="Text Box 59"/>
          <p:cNvSpPr txBox="1">
            <a:spLocks noChangeArrowheads="1"/>
          </p:cNvSpPr>
          <p:nvPr/>
        </p:nvSpPr>
        <p:spPr bwMode="auto">
          <a:xfrm>
            <a:off x="1633538" y="4010025"/>
            <a:ext cx="1960562"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Suspension</a:t>
            </a:r>
          </a:p>
        </p:txBody>
      </p:sp>
      <p:sp>
        <p:nvSpPr>
          <p:cNvPr id="9" name="Text Box 60"/>
          <p:cNvSpPr txBox="1">
            <a:spLocks noChangeArrowheads="1"/>
          </p:cNvSpPr>
          <p:nvPr/>
        </p:nvSpPr>
        <p:spPr bwMode="auto">
          <a:xfrm>
            <a:off x="2627313" y="4772025"/>
            <a:ext cx="1216025"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Cream</a:t>
            </a:r>
          </a:p>
        </p:txBody>
      </p:sp>
      <p:sp>
        <p:nvSpPr>
          <p:cNvPr id="10" name="Text Box 61"/>
          <p:cNvSpPr txBox="1">
            <a:spLocks noChangeArrowheads="1"/>
          </p:cNvSpPr>
          <p:nvPr/>
        </p:nvSpPr>
        <p:spPr bwMode="auto">
          <a:xfrm>
            <a:off x="2471738" y="3019425"/>
            <a:ext cx="1346200" cy="485775"/>
          </a:xfrm>
          <a:prstGeom prst="rect">
            <a:avLst/>
          </a:prstGeom>
          <a:solidFill>
            <a:srgbClr val="FFFFFF"/>
          </a:solidFill>
          <a:ln w="28575">
            <a:solidFill>
              <a:srgbClr val="FF00FF"/>
            </a:solidFill>
            <a:miter lim="800000"/>
            <a:headEnd/>
            <a:tailEnd/>
          </a:ln>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pPr>
            <a:r>
              <a:rPr lang="en-US" altLang="en-US" sz="2400">
                <a:solidFill>
                  <a:srgbClr val="000000"/>
                </a:solidFill>
                <a:latin typeface="Verdana" panose="020B0604030504040204" pitchFamily="34" charset="0"/>
                <a:cs typeface="Times New Roman" panose="02020603050405020304" pitchFamily="18" charset="0"/>
              </a:rPr>
              <a:t>Aerosol</a:t>
            </a:r>
          </a:p>
        </p:txBody>
      </p:sp>
      <p:pic>
        <p:nvPicPr>
          <p:cNvPr id="11" name="Picture 63" descr="inj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3657600"/>
            <a:ext cx="14478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54850" y="5067300"/>
            <a:ext cx="11747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67" descr="See full size image">
            <a:hlinkClick r:id="rId5"/>
          </p:cNvPr>
          <p:cNvPicPr>
            <a:picLocks noChangeAspect="1" noChangeArrowheads="1"/>
          </p:cNvPicPr>
          <p:nvPr/>
        </p:nvPicPr>
        <p:blipFill>
          <a:blip r:embed="rId6">
            <a:clrChange>
              <a:clrFrom>
                <a:srgbClr val="D1DDD3"/>
              </a:clrFrom>
              <a:clrTo>
                <a:srgbClr val="D1DDD3">
                  <a:alpha val="0"/>
                </a:srgbClr>
              </a:clrTo>
            </a:clrChange>
            <a:extLst>
              <a:ext uri="{28A0092B-C50C-407E-A947-70E740481C1C}">
                <a14:useLocalDpi xmlns:a14="http://schemas.microsoft.com/office/drawing/2010/main" val="0"/>
              </a:ext>
            </a:extLst>
          </a:blip>
          <a:srcRect/>
          <a:stretch>
            <a:fillRect/>
          </a:stretch>
        </p:blipFill>
        <p:spPr bwMode="auto">
          <a:xfrm>
            <a:off x="152400" y="3505200"/>
            <a:ext cx="1447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8" descr="fairlovely"/>
          <p:cNvPicPr>
            <a:picLocks noChangeAspect="1" noChangeArrowheads="1"/>
          </p:cNvPicPr>
          <p:nvPr/>
        </p:nvPicPr>
        <p:blipFill>
          <a:blip r:embed="rId7">
            <a:clrChange>
              <a:clrFrom>
                <a:srgbClr val="D4ACAA"/>
              </a:clrFrom>
              <a:clrTo>
                <a:srgbClr val="D4ACAA">
                  <a:alpha val="0"/>
                </a:srgbClr>
              </a:clrTo>
            </a:clrChange>
            <a:extLst>
              <a:ext uri="{28A0092B-C50C-407E-A947-70E740481C1C}">
                <a14:useLocalDpi xmlns:a14="http://schemas.microsoft.com/office/drawing/2010/main" val="0"/>
              </a:ext>
            </a:extLst>
          </a:blip>
          <a:srcRect/>
          <a:stretch>
            <a:fillRect/>
          </a:stretch>
        </p:blipFill>
        <p:spPr bwMode="auto">
          <a:xfrm>
            <a:off x="1219200" y="5181600"/>
            <a:ext cx="1295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9" descr="water_with_lem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0" y="5791200"/>
            <a:ext cx="1295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70" descr="aerosol"/>
          <p:cNvPicPr>
            <a:picLocks noChangeAspect="1" noChangeArrowheads="1"/>
          </p:cNvPicPr>
          <p:nvPr/>
        </p:nvPicPr>
        <p:blipFill>
          <a:blip r:embed="rId9">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749425" y="1905000"/>
            <a:ext cx="10699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2"/>
          <p:cNvSpPr txBox="1">
            <a:spLocks noChangeArrowheads="1"/>
          </p:cNvSpPr>
          <p:nvPr/>
        </p:nvSpPr>
        <p:spPr bwMode="auto">
          <a:xfrm>
            <a:off x="1996281" y="130970"/>
            <a:ext cx="54689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000">
                <a:solidFill>
                  <a:schemeClr val="bg1"/>
                </a:solidFill>
                <a:latin typeface="Verdana" panose="020B0604030504040204" pitchFamily="34" charset="0"/>
                <a:cs typeface="Times New Roman" panose="02020603050405020304" pitchFamily="18" charset="0"/>
              </a:defRPr>
            </a:lvl1pPr>
            <a:lvl2pPr marL="742950" indent="-285750" algn="ctr">
              <a:defRPr sz="2000">
                <a:solidFill>
                  <a:schemeClr val="bg1"/>
                </a:solidFill>
                <a:latin typeface="Verdana" panose="020B0604030504040204" pitchFamily="34" charset="0"/>
                <a:cs typeface="Times New Roman" panose="02020603050405020304" pitchFamily="18" charset="0"/>
              </a:defRPr>
            </a:lvl2pPr>
            <a:lvl3pPr marL="1143000" indent="-228600" algn="ctr">
              <a:defRPr sz="2000">
                <a:solidFill>
                  <a:schemeClr val="bg1"/>
                </a:solidFill>
                <a:latin typeface="Verdana" panose="020B0604030504040204" pitchFamily="34" charset="0"/>
                <a:cs typeface="Times New Roman" panose="02020603050405020304" pitchFamily="18" charset="0"/>
              </a:defRPr>
            </a:lvl3pPr>
            <a:lvl4pPr marL="1600200" indent="-228600" algn="ctr">
              <a:defRPr sz="2000">
                <a:solidFill>
                  <a:schemeClr val="bg1"/>
                </a:solidFill>
                <a:latin typeface="Verdana" panose="020B0604030504040204" pitchFamily="34" charset="0"/>
                <a:cs typeface="Times New Roman" panose="02020603050405020304" pitchFamily="18" charset="0"/>
              </a:defRPr>
            </a:lvl4pPr>
            <a:lvl5pPr marL="2057400" indent="-228600" algn="ctr">
              <a:defRPr sz="2000">
                <a:solidFill>
                  <a:schemeClr val="bg1"/>
                </a:solidFill>
                <a:latin typeface="Verdana" panose="020B0604030504040204" pitchFamily="34" charset="0"/>
                <a:cs typeface="Times New Roman" panose="02020603050405020304" pitchFamily="18" charset="0"/>
              </a:defRPr>
            </a:lvl5pPr>
            <a:lvl6pPr marL="2514600" indent="-228600" algn="ctr" eaLnBrk="0" fontAlgn="base" hangingPunct="0">
              <a:spcBef>
                <a:spcPct val="0"/>
              </a:spcBef>
              <a:spcAft>
                <a:spcPct val="0"/>
              </a:spcAft>
              <a:defRPr sz="2000">
                <a:solidFill>
                  <a:schemeClr val="bg1"/>
                </a:solidFill>
                <a:latin typeface="Verdana" panose="020B0604030504040204" pitchFamily="34" charset="0"/>
                <a:cs typeface="Times New Roman" panose="02020603050405020304" pitchFamily="18" charset="0"/>
              </a:defRPr>
            </a:lvl6pPr>
            <a:lvl7pPr marL="2971800" indent="-228600" algn="ctr" eaLnBrk="0" fontAlgn="base" hangingPunct="0">
              <a:spcBef>
                <a:spcPct val="0"/>
              </a:spcBef>
              <a:spcAft>
                <a:spcPct val="0"/>
              </a:spcAft>
              <a:defRPr sz="2000">
                <a:solidFill>
                  <a:schemeClr val="bg1"/>
                </a:solidFill>
                <a:latin typeface="Verdana" panose="020B0604030504040204" pitchFamily="34" charset="0"/>
                <a:cs typeface="Times New Roman" panose="02020603050405020304" pitchFamily="18" charset="0"/>
              </a:defRPr>
            </a:lvl7pPr>
            <a:lvl8pPr marL="3429000" indent="-228600" algn="ctr" eaLnBrk="0" fontAlgn="base" hangingPunct="0">
              <a:spcBef>
                <a:spcPct val="0"/>
              </a:spcBef>
              <a:spcAft>
                <a:spcPct val="0"/>
              </a:spcAft>
              <a:defRPr sz="2000">
                <a:solidFill>
                  <a:schemeClr val="bg1"/>
                </a:solidFill>
                <a:latin typeface="Verdana" panose="020B0604030504040204" pitchFamily="34" charset="0"/>
                <a:cs typeface="Times New Roman" panose="02020603050405020304" pitchFamily="18" charset="0"/>
              </a:defRPr>
            </a:lvl8pPr>
            <a:lvl9pPr marL="3886200" indent="-228600" algn="ctr" eaLnBrk="0" fontAlgn="base" hangingPunct="0">
              <a:spcBef>
                <a:spcPct val="0"/>
              </a:spcBef>
              <a:spcAft>
                <a:spcPct val="0"/>
              </a:spcAft>
              <a:defRPr sz="2000">
                <a:solidFill>
                  <a:schemeClr val="bg1"/>
                </a:solidFill>
                <a:latin typeface="Verdana" panose="020B0604030504040204" pitchFamily="34" charset="0"/>
                <a:cs typeface="Times New Roman" panose="02020603050405020304" pitchFamily="18" charset="0"/>
              </a:defRPr>
            </a:lvl9pPr>
          </a:lstStyle>
          <a:p>
            <a:pPr defTabSz="914400" fontAlgn="base">
              <a:spcBef>
                <a:spcPct val="0"/>
              </a:spcBef>
              <a:spcAft>
                <a:spcPct val="0"/>
              </a:spcAft>
              <a:defRPr/>
            </a:pPr>
            <a:r>
              <a:rPr lang="en-US" sz="3600" dirty="0">
                <a:solidFill>
                  <a:srgbClr val="00B050"/>
                </a:solidFill>
                <a:latin typeface="Arial"/>
                <a:ea typeface="MS PGothic" panose="020B0600070205080204" pitchFamily="34" charset="-128"/>
              </a:rPr>
              <a:t>DRUG DOSAGE FORMS</a:t>
            </a:r>
          </a:p>
        </p:txBody>
      </p:sp>
      <p:pic>
        <p:nvPicPr>
          <p:cNvPr id="18" name="Picture 74" descr="titel_non_pareil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96100" y="1447800"/>
            <a:ext cx="140970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76" descr="Paracetamol_Tablet"/>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83000" y="1030288"/>
            <a:ext cx="20955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8090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6619"/>
            <a:ext cx="8229600" cy="679519"/>
          </a:xfrm>
        </p:spPr>
        <p:txBody>
          <a:bodyPr/>
          <a:lstStyle/>
          <a:p>
            <a:r>
              <a:rPr lang="en-US" sz="2800" b="1" kern="0" dirty="0">
                <a:solidFill>
                  <a:srgbClr val="00B050"/>
                </a:solidFill>
                <a:latin typeface="Arial"/>
                <a:ea typeface="MS PGothic" pitchFamily="34" charset="-128"/>
                <a:cs typeface="Arial" panose="020B0604020202020204" pitchFamily="34" charset="0"/>
              </a:rPr>
              <a:t>ROUTE</a:t>
            </a:r>
            <a:r>
              <a:rPr lang="en-US" dirty="0"/>
              <a:t> </a:t>
            </a:r>
            <a:r>
              <a:rPr lang="en-US" sz="2800" b="1" kern="0" dirty="0">
                <a:solidFill>
                  <a:srgbClr val="00B050"/>
                </a:solidFill>
                <a:latin typeface="Arial"/>
                <a:ea typeface="MS PGothic" pitchFamily="34" charset="-128"/>
                <a:cs typeface="Arial" panose="020B0604020202020204" pitchFamily="34" charset="0"/>
              </a:rPr>
              <a:t>OF ADMNISTRATION</a:t>
            </a:r>
          </a:p>
        </p:txBody>
      </p:sp>
      <p:pic>
        <p:nvPicPr>
          <p:cNvPr id="3" name="Picture 2"/>
          <p:cNvPicPr>
            <a:picLocks noChangeAspect="1"/>
          </p:cNvPicPr>
          <p:nvPr/>
        </p:nvPicPr>
        <p:blipFill>
          <a:blip r:embed="rId3"/>
          <a:stretch>
            <a:fillRect/>
          </a:stretch>
        </p:blipFill>
        <p:spPr>
          <a:xfrm>
            <a:off x="612084" y="846138"/>
            <a:ext cx="8154229" cy="5088683"/>
          </a:xfrm>
          <a:prstGeom prst="rect">
            <a:avLst/>
          </a:prstGeom>
        </p:spPr>
      </p:pic>
    </p:spTree>
    <p:extLst>
      <p:ext uri="{BB962C8B-B14F-4D97-AF65-F5344CB8AC3E}">
        <p14:creationId xmlns:p14="http://schemas.microsoft.com/office/powerpoint/2010/main" val="2448341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685800" y="609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a:r>
              <a:rPr lang="en-US" altLang="en-US" sz="3200" i="1" kern="0">
                <a:solidFill>
                  <a:srgbClr val="00B050"/>
                </a:solidFill>
                <a:latin typeface="Calibri" panose="020F0502020204030204" pitchFamily="34" charset="0"/>
              </a:rPr>
              <a:t>Slow Absorption</a:t>
            </a:r>
            <a:endParaRPr lang="en-US" altLang="en-US" sz="3200" kern="0">
              <a:solidFill>
                <a:srgbClr val="00B050"/>
              </a:solidFill>
              <a:latin typeface="Calibri" panose="020F0502020204030204" pitchFamily="34" charset="0"/>
            </a:endParaRPr>
          </a:p>
        </p:txBody>
      </p:sp>
      <p:sp>
        <p:nvSpPr>
          <p:cNvPr id="4" name="Rectangle 3"/>
          <p:cNvSpPr txBox="1">
            <a:spLocks noChangeArrowheads="1"/>
          </p:cNvSpPr>
          <p:nvPr/>
        </p:nvSpPr>
        <p:spPr bwMode="auto">
          <a:xfrm>
            <a:off x="457200" y="1981200"/>
            <a:ext cx="335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defTabSz="914400"/>
            <a:r>
              <a:rPr lang="en-US" altLang="en-US" sz="2800" kern="0">
                <a:latin typeface="Calibri" panose="020F0502020204030204" pitchFamily="34" charset="0"/>
              </a:rPr>
              <a:t>Orally (swallowed)</a:t>
            </a:r>
            <a:endParaRPr lang="en-US" altLang="en-US" kern="0">
              <a:latin typeface="Calibri" panose="020F0502020204030204" pitchFamily="34" charset="0"/>
            </a:endParaRPr>
          </a:p>
        </p:txBody>
      </p:sp>
      <p:pic>
        <p:nvPicPr>
          <p:cNvPr id="5" name="Picture 4" descr="pi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600200"/>
            <a:ext cx="98583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ubli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2895600"/>
            <a:ext cx="1676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snort"/>
          <p:cNvPicPr>
            <a:picLocks noChangeAspect="1" noChangeArrowheads="1"/>
          </p:cNvPicPr>
          <p:nvPr/>
        </p:nvPicPr>
        <p:blipFill>
          <a:blip r:embed="rId8">
            <a:lum bright="30000"/>
            <a:extLst>
              <a:ext uri="{28A0092B-C50C-407E-A947-70E740481C1C}">
                <a14:useLocalDpi xmlns:a14="http://schemas.microsoft.com/office/drawing/2010/main" val="0"/>
              </a:ext>
            </a:extLst>
          </a:blip>
          <a:srcRect/>
          <a:stretch>
            <a:fillRect/>
          </a:stretch>
        </p:blipFill>
        <p:spPr bwMode="auto">
          <a:xfrm>
            <a:off x="7162800" y="2895600"/>
            <a:ext cx="16764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suppositoryadmin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0" y="5327650"/>
            <a:ext cx="3124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457200" y="2895600"/>
            <a:ext cx="45720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Aft>
                <a:spcPct val="0"/>
              </a:spcAft>
              <a:buFontTx/>
              <a:buChar char="•"/>
            </a:pPr>
            <a:r>
              <a:rPr lang="en-US" altLang="en-US" sz="2800" dirty="0">
                <a:solidFill>
                  <a:srgbClr val="000000"/>
                </a:solidFill>
                <a:latin typeface="Calibri" panose="020F0502020204030204" pitchFamily="34" charset="0"/>
                <a:cs typeface="Arial" panose="020B0604020202020204" pitchFamily="34" charset="0"/>
              </a:rPr>
              <a:t>through Mucus Membranes</a:t>
            </a:r>
          </a:p>
          <a:p>
            <a:pPr lvl="1" defTabSz="914400" fontAlgn="base">
              <a:spcAft>
                <a:spcPct val="0"/>
              </a:spcAft>
              <a:buFontTx/>
              <a:buChar char="–"/>
            </a:pPr>
            <a:r>
              <a:rPr lang="en-US" altLang="en-US" sz="2000" dirty="0">
                <a:solidFill>
                  <a:srgbClr val="000000"/>
                </a:solidFill>
                <a:latin typeface="Calibri" panose="020F0502020204030204" pitchFamily="34" charset="0"/>
                <a:cs typeface="Arial" panose="020B0604020202020204" pitchFamily="34" charset="0"/>
              </a:rPr>
              <a:t>Oral Mucosa (e.g. sublingual)</a:t>
            </a:r>
          </a:p>
          <a:p>
            <a:pPr lvl="1" defTabSz="914400" fontAlgn="base">
              <a:spcAft>
                <a:spcPct val="0"/>
              </a:spcAft>
              <a:buFontTx/>
              <a:buChar char="–"/>
            </a:pPr>
            <a:r>
              <a:rPr lang="en-US" altLang="en-US" sz="2000" dirty="0">
                <a:solidFill>
                  <a:srgbClr val="000000"/>
                </a:solidFill>
                <a:latin typeface="Calibri" panose="020F0502020204030204" pitchFamily="34" charset="0"/>
                <a:cs typeface="Arial" panose="020B0604020202020204" pitchFamily="34" charset="0"/>
              </a:rPr>
              <a:t>Nasal Mucosa (e.g. insufflated)</a:t>
            </a:r>
            <a:endParaRPr lang="en-US" altLang="en-US" dirty="0">
              <a:solidFill>
                <a:srgbClr val="000000"/>
              </a:solidFill>
              <a:latin typeface="Calibri" panose="020F0502020204030204" pitchFamily="34" charset="0"/>
              <a:cs typeface="Arial" panose="020B0604020202020204" pitchFamily="34" charset="0"/>
            </a:endParaRPr>
          </a:p>
        </p:txBody>
      </p:sp>
      <p:sp>
        <p:nvSpPr>
          <p:cNvPr id="10" name="Rectangle 9"/>
          <p:cNvSpPr>
            <a:spLocks noChangeArrowheads="1"/>
          </p:cNvSpPr>
          <p:nvPr/>
        </p:nvSpPr>
        <p:spPr bwMode="auto">
          <a:xfrm>
            <a:off x="457200" y="4267200"/>
            <a:ext cx="3886200"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Aft>
                <a:spcPct val="0"/>
              </a:spcAft>
              <a:buFontTx/>
              <a:buChar char="•"/>
            </a:pPr>
            <a:r>
              <a:rPr lang="en-US" altLang="en-US" sz="2800">
                <a:solidFill>
                  <a:srgbClr val="000000"/>
                </a:solidFill>
                <a:latin typeface="Calibri" panose="020F0502020204030204" pitchFamily="34" charset="0"/>
                <a:cs typeface="Arial" panose="020B0604020202020204" pitchFamily="34" charset="0"/>
              </a:rPr>
              <a:t>Topical/Transdermal </a:t>
            </a:r>
            <a:r>
              <a:rPr lang="en-US" altLang="en-US" sz="1800">
                <a:solidFill>
                  <a:srgbClr val="000000"/>
                </a:solidFill>
                <a:latin typeface="Calibri" panose="020F0502020204030204" pitchFamily="34" charset="0"/>
                <a:cs typeface="Arial" panose="020B0604020202020204" pitchFamily="34" charset="0"/>
              </a:rPr>
              <a:t>(through skin)</a:t>
            </a:r>
          </a:p>
          <a:p>
            <a:pPr defTabSz="914400" fontAlgn="base">
              <a:spcAft>
                <a:spcPct val="0"/>
              </a:spcAft>
              <a:buFontTx/>
              <a:buChar char="•"/>
            </a:pPr>
            <a:r>
              <a:rPr lang="en-US" altLang="en-US" sz="2800">
                <a:solidFill>
                  <a:srgbClr val="000000"/>
                </a:solidFill>
                <a:latin typeface="Calibri" panose="020F0502020204030204" pitchFamily="34" charset="0"/>
                <a:cs typeface="Arial" panose="020B0604020202020204" pitchFamily="34" charset="0"/>
              </a:rPr>
              <a:t>Rectally </a:t>
            </a:r>
            <a:r>
              <a:rPr lang="en-US" altLang="en-US" sz="1800">
                <a:solidFill>
                  <a:srgbClr val="000000"/>
                </a:solidFill>
                <a:latin typeface="Calibri" panose="020F0502020204030204" pitchFamily="34" charset="0"/>
                <a:cs typeface="Arial" panose="020B0604020202020204" pitchFamily="34" charset="0"/>
              </a:rPr>
              <a:t>(suppository)</a:t>
            </a:r>
          </a:p>
        </p:txBody>
      </p:sp>
      <p:sp>
        <p:nvSpPr>
          <p:cNvPr id="11" name="Rectangle 9"/>
          <p:cNvSpPr>
            <a:spLocks noChangeArrowheads="1"/>
          </p:cNvSpPr>
          <p:nvPr/>
        </p:nvSpPr>
        <p:spPr bwMode="auto">
          <a:xfrm>
            <a:off x="457200" y="457200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r>
              <a:rPr lang="en-US" altLang="en-US" sz="1800">
                <a:solidFill>
                  <a:srgbClr val="000000"/>
                </a:solidFill>
                <a:latin typeface="Calibri" panose="020F0502020204030204" pitchFamily="34" charset="0"/>
                <a:cs typeface="Arial" panose="020B0604020202020204" pitchFamily="34" charset="0"/>
              </a:rPr>
              <a:t> </a:t>
            </a:r>
            <a:endParaRPr lang="en-US" altLang="en-US" sz="1800">
              <a:solidFill>
                <a:srgbClr val="000000"/>
              </a:solidFill>
              <a:cs typeface="Arial" panose="020B0604020202020204" pitchFamily="34" charset="0"/>
            </a:endParaRPr>
          </a:p>
        </p:txBody>
      </p:sp>
      <p:pic>
        <p:nvPicPr>
          <p:cNvPr id="12" name="Picture 4" descr="patch"/>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4724400"/>
            <a:ext cx="990600"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067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vertical)">
                                      <p:cBhvr>
                                        <p:cTn id="7" dur="500"/>
                                        <p:tgtEl>
                                          <p:spTgt spid="4">
                                            <p:txEl>
                                              <p:pRg st="0" end="0"/>
                                            </p:txEl>
                                          </p:spTgt>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vertical)">
                                      <p:cBhvr>
                                        <p:cTn id="17" dur="500"/>
                                        <p:tgtEl>
                                          <p:spTgt spid="9">
                                            <p:txEl>
                                              <p:pRg st="0" end="0"/>
                                            </p:txEl>
                                          </p:spTgt>
                                        </p:tgtEl>
                                      </p:cBhvr>
                                    </p:animEffect>
                                  </p:childTnLst>
                                </p:cTn>
                              </p:par>
                              <p:par>
                                <p:cTn id="18" presetID="3" presetClass="entr" presetSubtype="5" fill="hold" grpId="0" nodeType="with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blinds(vertical)">
                                      <p:cBhvr>
                                        <p:cTn id="20" dur="500"/>
                                        <p:tgtEl>
                                          <p:spTgt spid="9">
                                            <p:txEl>
                                              <p:pRg st="1" end="1"/>
                                            </p:txEl>
                                          </p:spTgt>
                                        </p:tgtEl>
                                      </p:cBhvr>
                                    </p:animEffect>
                                  </p:childTnLst>
                                </p:cTn>
                              </p:par>
                              <p:par>
                                <p:cTn id="21" presetID="3" presetClass="entr" presetSubtype="5" fill="hold" grpId="0" nodeType="with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Effect transition="in" filter="blinds(vertical)">
                                      <p:cBhvr>
                                        <p:cTn id="23" dur="500"/>
                                        <p:tgtEl>
                                          <p:spTgt spid="9">
                                            <p:txEl>
                                              <p:pRg st="2" end="2"/>
                                            </p:txEl>
                                          </p:spTgt>
                                        </p:tgtEl>
                                      </p:cBhvr>
                                    </p:animEffect>
                                  </p:childTnLst>
                                </p:cTn>
                              </p:par>
                            </p:childTnLst>
                          </p:cTn>
                        </p:par>
                        <p:par>
                          <p:cTn id="24" fill="hold">
                            <p:stCondLst>
                              <p:cond delay="500"/>
                            </p:stCondLst>
                            <p:childTnLst>
                              <p:par>
                                <p:cTn id="25" presetID="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0-#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blinds(vertical)">
                                      <p:cBhvr>
                                        <p:cTn id="38" dur="500"/>
                                        <p:tgtEl>
                                          <p:spTgt spid="1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animEffect transition="in" filter="blinds(vertical)">
                                      <p:cBhvr>
                                        <p:cTn id="43" dur="500"/>
                                        <p:tgtEl>
                                          <p:spTgt spid="10">
                                            <p:txEl>
                                              <p:pRg st="1" end="1"/>
                                            </p:txEl>
                                          </p:spTgt>
                                        </p:tgtEl>
                                      </p:cBhvr>
                                    </p:animEffect>
                                  </p:childTnLst>
                                </p:cTn>
                              </p:par>
                            </p:childTnLst>
                          </p:cTn>
                        </p:par>
                        <p:par>
                          <p:cTn id="44" fill="hold">
                            <p:stCondLst>
                              <p:cond delay="500"/>
                            </p:stCondLst>
                            <p:childTnLst>
                              <p:par>
                                <p:cTn id="45" presetID="2" presetClass="entr" presetSubtype="8" fill="hold" nodeType="after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0-#ppt_w/2"/>
                                          </p:val>
                                        </p:tav>
                                        <p:tav tm="100000">
                                          <p:val>
                                            <p:strVal val="#ppt_x"/>
                                          </p:val>
                                        </p:tav>
                                      </p:tavLst>
                                    </p:anim>
                                    <p:anim calcmode="lin" valueType="num">
                                      <p:cBhvr additive="base">
                                        <p:cTn id="48" dur="500" fill="hold"/>
                                        <p:tgtEl>
                                          <p:spTgt spid="8"/>
                                        </p:tgtEl>
                                        <p:attrNameLst>
                                          <p:attrName>ppt_y</p:attrName>
                                        </p:attrNameLst>
                                      </p:cBhvr>
                                      <p:tavLst>
                                        <p:tav tm="0">
                                          <p:val>
                                            <p:strVal val="#ppt_y"/>
                                          </p:val>
                                        </p:tav>
                                        <p:tav tm="100000">
                                          <p:val>
                                            <p:strVal val="#ppt_y"/>
                                          </p:val>
                                        </p:tav>
                                      </p:tavLst>
                                    </p:anim>
                                  </p:childTnLst>
                                </p:cTn>
                              </p:par>
                            </p:childTnLst>
                          </p:cTn>
                        </p:par>
                        <p:par>
                          <p:cTn id="49" fill="hold">
                            <p:stCondLst>
                              <p:cond delay="1000"/>
                            </p:stCondLst>
                            <p:childTnLst>
                              <p:par>
                                <p:cTn id="50" presetID="2" presetClass="entr" presetSubtype="8" fill="hold" nodeType="after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00" fill="hold"/>
                                        <p:tgtEl>
                                          <p:spTgt spid="12"/>
                                        </p:tgtEl>
                                        <p:attrNameLst>
                                          <p:attrName>ppt_x</p:attrName>
                                        </p:attrNameLst>
                                      </p:cBhvr>
                                      <p:tavLst>
                                        <p:tav tm="0">
                                          <p:val>
                                            <p:strVal val="0-#ppt_w/2"/>
                                          </p:val>
                                        </p:tav>
                                        <p:tav tm="100000">
                                          <p:val>
                                            <p:strVal val="#ppt_x"/>
                                          </p:val>
                                        </p:tav>
                                      </p:tavLst>
                                    </p:anim>
                                    <p:anim calcmode="lin" valueType="num">
                                      <p:cBhvr additive="base">
                                        <p:cTn id="5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9" grpId="0" build="p" autoUpdateAnimBg="0"/>
      <p:bldP spid="10"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533400" y="609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a:r>
              <a:rPr lang="en-US" altLang="en-US" sz="3200" i="1" kern="0" dirty="0">
                <a:solidFill>
                  <a:srgbClr val="00B050"/>
                </a:solidFill>
                <a:latin typeface="Calibri" panose="020F0502020204030204" pitchFamily="34" charset="0"/>
              </a:rPr>
              <a:t>Faster Absorption</a:t>
            </a:r>
            <a:endParaRPr lang="en-US" altLang="en-US" sz="3200" kern="0" dirty="0">
              <a:solidFill>
                <a:srgbClr val="00B050"/>
              </a:solidFill>
              <a:latin typeface="Calibri" panose="020F0502020204030204" pitchFamily="34" charset="0"/>
            </a:endParaRPr>
          </a:p>
        </p:txBody>
      </p:sp>
      <p:sp>
        <p:nvSpPr>
          <p:cNvPr id="4" name="Rectangle 3"/>
          <p:cNvSpPr txBox="1">
            <a:spLocks noChangeArrowheads="1"/>
          </p:cNvSpPr>
          <p:nvPr/>
        </p:nvSpPr>
        <p:spPr bwMode="auto">
          <a:xfrm>
            <a:off x="392113" y="2057400"/>
            <a:ext cx="411480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defTabSz="914400">
              <a:spcAft>
                <a:spcPct val="5000"/>
              </a:spcAft>
            </a:pPr>
            <a:r>
              <a:rPr lang="en-US" altLang="en-US" sz="2800" kern="0" dirty="0">
                <a:latin typeface="Calibri" panose="020F0502020204030204" pitchFamily="34" charset="0"/>
              </a:rPr>
              <a:t>Parenterally (injection)</a:t>
            </a:r>
            <a:endParaRPr lang="en-US" altLang="en-US" sz="1600" kern="0" dirty="0">
              <a:latin typeface="Calibri" panose="020F0502020204030204" pitchFamily="34" charset="0"/>
            </a:endParaRPr>
          </a:p>
          <a:p>
            <a:pPr lvl="1" defTabSz="914400">
              <a:spcAft>
                <a:spcPct val="5000"/>
              </a:spcAft>
            </a:pPr>
            <a:r>
              <a:rPr lang="en-US" altLang="en-US" sz="2400" kern="0" dirty="0">
                <a:latin typeface="Calibri" panose="020F0502020204030204" pitchFamily="34" charset="0"/>
              </a:rPr>
              <a:t>Intravenous (IV)</a:t>
            </a:r>
          </a:p>
          <a:p>
            <a:pPr lvl="1" defTabSz="914400">
              <a:spcAft>
                <a:spcPct val="5000"/>
              </a:spcAft>
            </a:pPr>
            <a:r>
              <a:rPr lang="en-US" altLang="en-US" sz="2400" kern="0" dirty="0">
                <a:latin typeface="Calibri" panose="020F0502020204030204" pitchFamily="34" charset="0"/>
              </a:rPr>
              <a:t>Intramuscular (IM)</a:t>
            </a:r>
          </a:p>
          <a:p>
            <a:pPr lvl="1" defTabSz="914400">
              <a:spcAft>
                <a:spcPct val="5000"/>
              </a:spcAft>
            </a:pPr>
            <a:r>
              <a:rPr lang="en-US" altLang="en-US" sz="2400" kern="0" dirty="0">
                <a:latin typeface="Calibri" panose="020F0502020204030204" pitchFamily="34" charset="0"/>
              </a:rPr>
              <a:t>Subcutaneous (SC)</a:t>
            </a:r>
          </a:p>
          <a:p>
            <a:pPr lvl="1" defTabSz="914400">
              <a:spcAft>
                <a:spcPct val="5000"/>
              </a:spcAft>
            </a:pPr>
            <a:r>
              <a:rPr lang="en-US" altLang="en-US" sz="2400" kern="0" dirty="0">
                <a:latin typeface="Calibri" panose="020F0502020204030204" pitchFamily="34" charset="0"/>
              </a:rPr>
              <a:t>Intraperitoneal (IP)</a:t>
            </a:r>
          </a:p>
        </p:txBody>
      </p:sp>
      <p:pic>
        <p:nvPicPr>
          <p:cNvPr id="5" name="Picture 4" descr="intravenou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6913" y="1741488"/>
            <a:ext cx="1371600"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intramuscula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4713" y="1685925"/>
            <a:ext cx="12890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subcutaneous"/>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26313" y="1609725"/>
            <a:ext cx="1360487"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inhale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2600" y="3502025"/>
            <a:ext cx="14605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intraperitonea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2800" y="3505200"/>
            <a:ext cx="15462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a:spLocks noChangeArrowheads="1"/>
          </p:cNvSpPr>
          <p:nvPr/>
        </p:nvSpPr>
        <p:spPr bwMode="auto">
          <a:xfrm>
            <a:off x="565150" y="4422775"/>
            <a:ext cx="40751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Aft>
                <a:spcPct val="5000"/>
              </a:spcAft>
              <a:buFontTx/>
              <a:buChar char="•"/>
            </a:pPr>
            <a:r>
              <a:rPr lang="en-US" altLang="en-US" sz="2800">
                <a:solidFill>
                  <a:srgbClr val="000000"/>
                </a:solidFill>
                <a:latin typeface="Calibri" panose="020F0502020204030204" pitchFamily="34" charset="0"/>
                <a:cs typeface="Arial" panose="020B0604020202020204" pitchFamily="34" charset="0"/>
              </a:rPr>
              <a:t>Inhaled (through lungs)</a:t>
            </a:r>
          </a:p>
        </p:txBody>
      </p:sp>
    </p:spTree>
    <p:extLst>
      <p:ext uri="{BB962C8B-B14F-4D97-AF65-F5344CB8AC3E}">
        <p14:creationId xmlns:p14="http://schemas.microsoft.com/office/powerpoint/2010/main" val="3202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vertical)">
                                      <p:cBhvr>
                                        <p:cTn id="7" dur="500"/>
                                        <p:tgtEl>
                                          <p:spTgt spid="4">
                                            <p:txEl>
                                              <p:pRg st="0" end="0"/>
                                            </p:txEl>
                                          </p:spTgt>
                                        </p:tgtEl>
                                      </p:cBhvr>
                                    </p:animEffect>
                                  </p:childTnLst>
                                </p:cTn>
                              </p:par>
                              <p:par>
                                <p:cTn id="8" presetID="3" presetClass="entr" presetSubtype="5"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vertical)">
                                      <p:cBhvr>
                                        <p:cTn id="10" dur="500"/>
                                        <p:tgtEl>
                                          <p:spTgt spid="4">
                                            <p:txEl>
                                              <p:pRg st="1" end="1"/>
                                            </p:txEl>
                                          </p:spTgt>
                                        </p:tgtEl>
                                      </p:cBhvr>
                                    </p:animEffect>
                                  </p:childTnLst>
                                </p:cTn>
                              </p:par>
                              <p:par>
                                <p:cTn id="11" presetID="3" presetClass="entr" presetSubtype="5"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vertical)">
                                      <p:cBhvr>
                                        <p:cTn id="13" dur="500"/>
                                        <p:tgtEl>
                                          <p:spTgt spid="4">
                                            <p:txEl>
                                              <p:pRg st="2" end="2"/>
                                            </p:txEl>
                                          </p:spTgt>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linds(vertical)">
                                      <p:cBhvr>
                                        <p:cTn id="16" dur="500"/>
                                        <p:tgtEl>
                                          <p:spTgt spid="4">
                                            <p:txEl>
                                              <p:pRg st="3" end="3"/>
                                            </p:txEl>
                                          </p:spTgt>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linds(vertical)">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0-#ppt_w/2"/>
                                          </p:val>
                                        </p:tav>
                                        <p:tav tm="100000">
                                          <p:val>
                                            <p:strVal val="#ppt_x"/>
                                          </p:val>
                                        </p:tav>
                                      </p:tavLst>
                                    </p:anim>
                                    <p:anim calcmode="lin" valueType="num">
                                      <p:cBhvr additive="base">
                                        <p:cTn id="3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0-#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0-#ppt_w/2"/>
                                          </p:val>
                                        </p:tav>
                                        <p:tav tm="100000">
                                          <p:val>
                                            <p:strVal val="#ppt_x"/>
                                          </p:val>
                                        </p:tav>
                                      </p:tavLst>
                                    </p:anim>
                                    <p:anim calcmode="lin" valueType="num">
                                      <p:cBhvr additive="base">
                                        <p:cTn id="4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10">
                                            <p:txEl>
                                              <p:pRg st="0" end="0"/>
                                            </p:txEl>
                                          </p:spTgt>
                                        </p:tgtEl>
                                        <p:attrNameLst>
                                          <p:attrName>style.visibility</p:attrName>
                                        </p:attrNameLst>
                                      </p:cBhvr>
                                      <p:to>
                                        <p:strVal val="visible"/>
                                      </p:to>
                                    </p:set>
                                    <p:animEffect transition="in" filter="blinds(vertical)">
                                      <p:cBhvr>
                                        <p:cTn id="48" dur="500"/>
                                        <p:tgtEl>
                                          <p:spTgt spid="10">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0-#ppt_w/2"/>
                                          </p:val>
                                        </p:tav>
                                        <p:tav tm="100000">
                                          <p:val>
                                            <p:strVal val="#ppt_x"/>
                                          </p:val>
                                        </p:tav>
                                      </p:tavLst>
                                    </p:anim>
                                    <p:anim calcmode="lin" valueType="num">
                                      <p:cBhvr additive="base">
                                        <p:cTn id="5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0"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Calibri" panose="020F0502020204030204" pitchFamily="34" charset="0"/>
              </a:rPr>
              <a:t>Fastest Absorption</a:t>
            </a:r>
            <a:endParaRPr lang="en-US" dirty="0"/>
          </a:p>
        </p:txBody>
      </p:sp>
      <p:sp>
        <p:nvSpPr>
          <p:cNvPr id="3" name="Rectangle 6"/>
          <p:cNvSpPr>
            <a:spLocks noChangeArrowheads="1"/>
          </p:cNvSpPr>
          <p:nvPr/>
        </p:nvSpPr>
        <p:spPr bwMode="auto">
          <a:xfrm>
            <a:off x="685800" y="1905000"/>
            <a:ext cx="579120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fontAlgn="base">
              <a:spcAft>
                <a:spcPct val="5000"/>
              </a:spcAft>
              <a:buFontTx/>
              <a:buChar char="•"/>
            </a:pPr>
            <a:r>
              <a:rPr lang="en-US" altLang="en-US" sz="2800" dirty="0">
                <a:solidFill>
                  <a:srgbClr val="000000"/>
                </a:solidFill>
                <a:latin typeface="Calibri" panose="020F0502020204030204" pitchFamily="34" charset="0"/>
                <a:cs typeface="Arial" panose="020B0604020202020204" pitchFamily="34" charset="0"/>
              </a:rPr>
              <a:t>Directly into brain</a:t>
            </a:r>
          </a:p>
          <a:p>
            <a:pPr lvl="1" defTabSz="914400" fontAlgn="base">
              <a:spcAft>
                <a:spcPct val="5000"/>
              </a:spcAft>
              <a:buFontTx/>
              <a:buChar char="–"/>
            </a:pPr>
            <a:r>
              <a:rPr lang="en-US" altLang="en-US" dirty="0">
                <a:solidFill>
                  <a:srgbClr val="000000"/>
                </a:solidFill>
                <a:latin typeface="Calibri" panose="020F0502020204030204" pitchFamily="34" charset="0"/>
                <a:cs typeface="Arial" panose="020B0604020202020204" pitchFamily="34" charset="0"/>
              </a:rPr>
              <a:t>Intracerebral (into brain tissue)</a:t>
            </a:r>
          </a:p>
          <a:p>
            <a:pPr lvl="1" defTabSz="914400" fontAlgn="base">
              <a:spcAft>
                <a:spcPct val="5000"/>
              </a:spcAft>
              <a:buFontTx/>
              <a:buChar char="–"/>
            </a:pPr>
            <a:r>
              <a:rPr lang="en-US" altLang="en-US" dirty="0" err="1">
                <a:solidFill>
                  <a:srgbClr val="000000"/>
                </a:solidFill>
                <a:latin typeface="Calibri" panose="020F0502020204030204" pitchFamily="34" charset="0"/>
                <a:cs typeface="Arial" panose="020B0604020202020204" pitchFamily="34" charset="0"/>
              </a:rPr>
              <a:t>Intracerebroventricular</a:t>
            </a:r>
            <a:r>
              <a:rPr lang="en-US" altLang="en-US" dirty="0">
                <a:solidFill>
                  <a:srgbClr val="000000"/>
                </a:solidFill>
                <a:latin typeface="Calibri" panose="020F0502020204030204" pitchFamily="34" charset="0"/>
                <a:cs typeface="Arial" panose="020B0604020202020204" pitchFamily="34" charset="0"/>
              </a:rPr>
              <a:t> (into brain ventricles)</a:t>
            </a:r>
            <a:endParaRPr lang="en-US" altLang="en-US" sz="3200" dirty="0">
              <a:solidFill>
                <a:srgbClr val="000000"/>
              </a:solidFill>
              <a:latin typeface="Calibri" panose="020F0502020204030204" pitchFamily="34" charset="0"/>
              <a:cs typeface="Arial" panose="020B0604020202020204" pitchFamily="34" charset="0"/>
            </a:endParaRPr>
          </a:p>
        </p:txBody>
      </p:sp>
      <p:sp>
        <p:nvSpPr>
          <p:cNvPr id="4" name="Text Box 7"/>
          <p:cNvSpPr txBox="1">
            <a:spLocks noChangeArrowheads="1"/>
          </p:cNvSpPr>
          <p:nvPr/>
        </p:nvSpPr>
        <p:spPr bwMode="auto">
          <a:xfrm>
            <a:off x="360382" y="4383741"/>
            <a:ext cx="82248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400" dirty="0">
                <a:latin typeface="Calibri" panose="020F0502020204030204" pitchFamily="34" charset="0"/>
                <a:cs typeface="Arial" panose="020B0604020202020204" pitchFamily="34" charset="0"/>
              </a:rPr>
              <a:t>General Principle:  </a:t>
            </a:r>
            <a:r>
              <a:rPr lang="en-US" altLang="en-US" sz="2400" dirty="0">
                <a:solidFill>
                  <a:schemeClr val="accent2"/>
                </a:solidFill>
                <a:latin typeface="Calibri" panose="020F0502020204030204" pitchFamily="34" charset="0"/>
                <a:cs typeface="Arial" panose="020B0604020202020204" pitchFamily="34" charset="0"/>
              </a:rPr>
              <a:t>The faster the absorption, the quicker the </a:t>
            </a:r>
          </a:p>
          <a:p>
            <a:pPr eaLnBrk="1" hangingPunct="1">
              <a:spcBef>
                <a:spcPct val="0"/>
              </a:spcBef>
              <a:buFontTx/>
              <a:buNone/>
            </a:pPr>
            <a:r>
              <a:rPr lang="en-US" altLang="en-US" sz="2400" dirty="0">
                <a:solidFill>
                  <a:schemeClr val="accent2"/>
                </a:solidFill>
                <a:latin typeface="Calibri" panose="020F0502020204030204" pitchFamily="34" charset="0"/>
                <a:cs typeface="Arial" panose="020B0604020202020204" pitchFamily="34" charset="0"/>
              </a:rPr>
              <a:t>onset, the higher the addictiveness, but the shorter the duration</a:t>
            </a:r>
          </a:p>
        </p:txBody>
      </p:sp>
    </p:spTree>
    <p:extLst>
      <p:ext uri="{BB962C8B-B14F-4D97-AF65-F5344CB8AC3E}">
        <p14:creationId xmlns:p14="http://schemas.microsoft.com/office/powerpoint/2010/main" val="74582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vertical)">
                                      <p:cBhvr>
                                        <p:cTn id="7" dur="500"/>
                                        <p:tgtEl>
                                          <p:spTgt spid="3">
                                            <p:txEl>
                                              <p:pRg st="0" end="0"/>
                                            </p:txEl>
                                          </p:spTgt>
                                        </p:tgtEl>
                                      </p:cBhvr>
                                    </p:animEffect>
                                  </p:childTnLst>
                                </p:cTn>
                              </p:par>
                              <p:par>
                                <p:cTn id="8" presetID="3" presetClass="entr" presetSubtype="5"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vertical)">
                                      <p:cBhvr>
                                        <p:cTn id="10" dur="500"/>
                                        <p:tgtEl>
                                          <p:spTgt spid="3">
                                            <p:txEl>
                                              <p:pRg st="1" end="1"/>
                                            </p:txEl>
                                          </p:spTgt>
                                        </p:tgtEl>
                                      </p:cBhvr>
                                    </p:animEffect>
                                  </p:childTnLst>
                                </p:cTn>
                              </p:par>
                              <p:par>
                                <p:cTn id="11" presetID="3" presetClass="entr" presetSubtype="5"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vertical)">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685800" y="609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a:r>
              <a:rPr lang="en-US" altLang="en-US" sz="3200" i="1" kern="0" dirty="0">
                <a:solidFill>
                  <a:srgbClr val="00B050"/>
                </a:solidFill>
                <a:latin typeface="Calibri" panose="020F0502020204030204" pitchFamily="34" charset="0"/>
              </a:rPr>
              <a:t>Absorption: Solubility</a:t>
            </a:r>
            <a:endParaRPr lang="en-US" altLang="en-US" sz="3200" kern="0" dirty="0">
              <a:solidFill>
                <a:srgbClr val="00B050"/>
              </a:solidFill>
              <a:latin typeface="Calibri" panose="020F0502020204030204" pitchFamily="34" charset="0"/>
            </a:endParaRPr>
          </a:p>
        </p:txBody>
      </p:sp>
      <p:sp>
        <p:nvSpPr>
          <p:cNvPr id="4" name="Rectangle 3"/>
          <p:cNvSpPr txBox="1">
            <a:spLocks noChangeArrowheads="1"/>
          </p:cNvSpPr>
          <p:nvPr/>
        </p:nvSpPr>
        <p:spPr bwMode="auto">
          <a:xfrm>
            <a:off x="685800" y="13716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defTabSz="914400"/>
            <a:r>
              <a:rPr lang="en-US" altLang="en-US" sz="2400" kern="0" dirty="0">
                <a:latin typeface="Calibri" panose="020F0502020204030204" pitchFamily="34" charset="0"/>
              </a:rPr>
              <a:t>Water-soluble</a:t>
            </a:r>
          </a:p>
          <a:p>
            <a:pPr lvl="1" defTabSz="914400"/>
            <a:r>
              <a:rPr lang="en-US" altLang="en-US" sz="2000" kern="0" dirty="0">
                <a:latin typeface="Calibri" panose="020F0502020204030204" pitchFamily="34" charset="0"/>
              </a:rPr>
              <a:t>Ionized (have electrical charge)</a:t>
            </a:r>
          </a:p>
          <a:p>
            <a:pPr lvl="1" defTabSz="914400"/>
            <a:r>
              <a:rPr lang="en-US" altLang="en-US" sz="2000" kern="0" dirty="0">
                <a:latin typeface="Calibri" panose="020F0502020204030204" pitchFamily="34" charset="0"/>
              </a:rPr>
              <a:t>Crosses through pores in capillaries, but not cell membranes</a:t>
            </a:r>
          </a:p>
          <a:p>
            <a:pPr lvl="1" defTabSz="914400"/>
            <a:endParaRPr lang="en-US" altLang="en-US" sz="2000" kern="0" dirty="0">
              <a:latin typeface="Calibri" panose="020F0502020204030204" pitchFamily="34" charset="0"/>
            </a:endParaRPr>
          </a:p>
          <a:p>
            <a:pPr defTabSz="914400"/>
            <a:r>
              <a:rPr lang="en-US" altLang="en-US" sz="2400" kern="0" dirty="0">
                <a:latin typeface="Calibri" panose="020F0502020204030204" pitchFamily="34" charset="0"/>
              </a:rPr>
              <a:t>Lipid(fat)-soluble</a:t>
            </a:r>
          </a:p>
          <a:p>
            <a:pPr lvl="1" defTabSz="914400"/>
            <a:r>
              <a:rPr lang="en-US" altLang="en-US" sz="2000" kern="0" dirty="0">
                <a:latin typeface="Calibri" panose="020F0502020204030204" pitchFamily="34" charset="0"/>
              </a:rPr>
              <a:t>Non-ionized (no electrical charge)</a:t>
            </a:r>
          </a:p>
          <a:p>
            <a:pPr lvl="1" defTabSz="914400"/>
            <a:r>
              <a:rPr lang="en-US" altLang="en-US" sz="2000" kern="0" dirty="0">
                <a:latin typeface="Calibri" panose="020F0502020204030204" pitchFamily="34" charset="0"/>
              </a:rPr>
              <a:t>Crosses pores, cell membranes, blood-brain-barrier</a:t>
            </a:r>
          </a:p>
        </p:txBody>
      </p:sp>
      <p:sp>
        <p:nvSpPr>
          <p:cNvPr id="5" name="Rectangle 4"/>
          <p:cNvSpPr>
            <a:spLocks noChangeArrowheads="1"/>
          </p:cNvSpPr>
          <p:nvPr/>
        </p:nvSpPr>
        <p:spPr bwMode="auto">
          <a:xfrm>
            <a:off x="342900" y="4473276"/>
            <a:ext cx="81153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r>
              <a:rPr lang="en-US" altLang="en-US" sz="1800" dirty="0">
                <a:solidFill>
                  <a:srgbClr val="000000"/>
                </a:solidFill>
                <a:latin typeface="Calibri" panose="020F0502020204030204" pitchFamily="34" charset="0"/>
                <a:cs typeface="Arial" panose="020B0604020202020204" pitchFamily="34" charset="0"/>
              </a:rPr>
              <a:t>Dissociation constant or </a:t>
            </a:r>
            <a:r>
              <a:rPr lang="en-US" altLang="en-US" sz="1800" dirty="0" err="1">
                <a:solidFill>
                  <a:srgbClr val="000000"/>
                </a:solidFill>
                <a:latin typeface="Calibri" panose="020F0502020204030204" pitchFamily="34" charset="0"/>
                <a:cs typeface="Arial" panose="020B0604020202020204" pitchFamily="34" charset="0"/>
              </a:rPr>
              <a:t>pKa</a:t>
            </a:r>
            <a:r>
              <a:rPr lang="en-US" altLang="en-US" sz="1800" dirty="0">
                <a:solidFill>
                  <a:srgbClr val="000000"/>
                </a:solidFill>
                <a:latin typeface="Calibri" panose="020F0502020204030204" pitchFamily="34" charset="0"/>
                <a:cs typeface="Arial" panose="020B0604020202020204" pitchFamily="34" charset="0"/>
              </a:rPr>
              <a:t> </a:t>
            </a:r>
            <a:r>
              <a:rPr lang="en-US" altLang="en-US" sz="1800" dirty="0">
                <a:solidFill>
                  <a:srgbClr val="000000"/>
                </a:solidFill>
                <a:latin typeface="Calibri" panose="020F0502020204030204" pitchFamily="34" charset="0"/>
                <a:cs typeface="Arial" panose="020B0604020202020204" pitchFamily="34" charset="0"/>
                <a:sym typeface="Wingdings" panose="05000000000000000000" pitchFamily="2" charset="2"/>
              </a:rPr>
              <a:t> indicates the pH where 50% of the drug is ionized (water soluble) and 50% non-ionized (lipid soluble);</a:t>
            </a:r>
          </a:p>
          <a:p>
            <a:pPr defTabSz="914400" fontAlgn="base">
              <a:spcBef>
                <a:spcPct val="0"/>
              </a:spcBef>
              <a:spcAft>
                <a:spcPct val="0"/>
              </a:spcAft>
              <a:buFontTx/>
              <a:buNone/>
            </a:pPr>
            <a:r>
              <a:rPr lang="en-US" altLang="en-US" sz="1800" dirty="0">
                <a:solidFill>
                  <a:srgbClr val="000000"/>
                </a:solidFill>
                <a:latin typeface="Calibri" panose="020F0502020204030204" pitchFamily="34" charset="0"/>
                <a:cs typeface="Arial" panose="020B0604020202020204" pitchFamily="34" charset="0"/>
                <a:sym typeface="Wingdings" panose="05000000000000000000" pitchFamily="2" charset="2"/>
              </a:rPr>
              <a:t>	</a:t>
            </a:r>
            <a:r>
              <a:rPr lang="en-US" altLang="en-US" sz="1800" dirty="0" err="1">
                <a:solidFill>
                  <a:srgbClr val="000000"/>
                </a:solidFill>
                <a:latin typeface="Calibri" panose="020F0502020204030204" pitchFamily="34" charset="0"/>
                <a:cs typeface="Arial" panose="020B0604020202020204" pitchFamily="34" charset="0"/>
                <a:sym typeface="Wingdings" panose="05000000000000000000" pitchFamily="2" charset="2"/>
              </a:rPr>
              <a:t>pKeq</a:t>
            </a:r>
            <a:r>
              <a:rPr lang="en-US" altLang="en-US" sz="1800" dirty="0">
                <a:solidFill>
                  <a:srgbClr val="000000"/>
                </a:solidFill>
                <a:latin typeface="Calibri" panose="020F0502020204030204" pitchFamily="34" charset="0"/>
                <a:cs typeface="Arial" panose="020B0604020202020204" pitchFamily="34" charset="0"/>
                <a:sym typeface="Wingdings" panose="05000000000000000000" pitchFamily="2" charset="2"/>
              </a:rPr>
              <a:t> = pH + log [X]ionized/[X]non-ionized</a:t>
            </a:r>
            <a:endParaRPr lang="en-US" altLang="en-US" sz="1800" dirty="0">
              <a:solidFill>
                <a:srgbClr val="000000"/>
              </a:solidFill>
              <a:latin typeface="Calibri" panose="020F0502020204030204" pitchFamily="34" charset="0"/>
              <a:cs typeface="Arial" panose="020B0604020202020204" pitchFamily="34" charset="0"/>
            </a:endParaRPr>
          </a:p>
          <a:p>
            <a:pPr defTabSz="914400" fontAlgn="base">
              <a:spcBef>
                <a:spcPct val="0"/>
              </a:spcBef>
              <a:spcAft>
                <a:spcPct val="0"/>
              </a:spcAft>
              <a:buFontTx/>
              <a:buNone/>
            </a:pPr>
            <a:endParaRPr lang="en-US" altLang="en-US" sz="1800" dirty="0">
              <a:solidFill>
                <a:srgbClr val="000000"/>
              </a:solidFill>
              <a:latin typeface="Calibri" panose="020F0502020204030204" pitchFamily="34" charset="0"/>
              <a:cs typeface="Arial" panose="020B0604020202020204" pitchFamily="34" charset="0"/>
            </a:endParaRPr>
          </a:p>
          <a:p>
            <a:pPr defTabSz="914400" fontAlgn="base">
              <a:spcBef>
                <a:spcPct val="0"/>
              </a:spcBef>
              <a:spcAft>
                <a:spcPct val="0"/>
              </a:spcAft>
              <a:buFontTx/>
              <a:buNone/>
            </a:pPr>
            <a:r>
              <a:rPr lang="en-US" altLang="en-US" sz="1800" dirty="0">
                <a:solidFill>
                  <a:srgbClr val="000000"/>
                </a:solidFill>
                <a:latin typeface="Calibri" panose="020F0502020204030204" pitchFamily="34" charset="0"/>
                <a:cs typeface="Arial" panose="020B0604020202020204" pitchFamily="34" charset="0"/>
              </a:rPr>
              <a:t> This affects a drug's solubility, permeability, binding, and other characteristics. </a:t>
            </a:r>
            <a:endParaRPr lang="en-US" altLang="en-US" sz="1800" dirty="0">
              <a:solidFill>
                <a:srgbClr val="000000"/>
              </a:solidFill>
              <a:cs typeface="Arial" panose="020B0604020202020204" pitchFamily="34" charset="0"/>
            </a:endParaRPr>
          </a:p>
        </p:txBody>
      </p:sp>
    </p:spTree>
    <p:extLst>
      <p:ext uri="{BB962C8B-B14F-4D97-AF65-F5344CB8AC3E}">
        <p14:creationId xmlns:p14="http://schemas.microsoft.com/office/powerpoint/2010/main" val="38358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 calcmode="lin" valueType="num">
                                      <p:cBhvr additive="base">
                                        <p:cTn id="29"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52825" y="533400"/>
            <a:ext cx="7561263" cy="55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The main routes of administration for drugs can be categorized into four groups:</a:t>
            </a:r>
          </a:p>
          <a:p>
            <a:pPr marL="0" marR="0" lvl="0" indent="0" algn="just" defTabSz="914400" rtl="0" eaLnBrk="1" fontAlgn="base" latinLnBrk="0" hangingPunct="1">
              <a:lnSpc>
                <a:spcPct val="90000"/>
              </a:lnSpc>
              <a:spcBef>
                <a:spcPct val="20000"/>
              </a:spcBef>
              <a:spcAft>
                <a:spcPct val="0"/>
              </a:spcAft>
              <a:buClrTx/>
              <a:buSzPct val="90000"/>
              <a:buFontTx/>
              <a:buNone/>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1. </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Enteral route </a:t>
            </a:r>
            <a:endPar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endParaRPr>
          </a:p>
          <a:p>
            <a:pPr marL="790575" marR="0" lvl="1" indent="-314325" algn="just" defTabSz="914400" rtl="0" eaLnBrk="1" fontAlgn="base" latinLnBrk="0" hangingPunct="1">
              <a:lnSpc>
                <a:spcPct val="90000"/>
              </a:lnSpc>
              <a:spcBef>
                <a:spcPct val="20000"/>
              </a:spcBef>
              <a:spcAft>
                <a:spcPct val="0"/>
              </a:spcAft>
              <a:buClrTx/>
              <a:buSzPct val="90000"/>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oral ingestion, sub-lingual and rectal (into the GIT)</a:t>
            </a:r>
          </a:p>
          <a:p>
            <a:pPr marL="790575" marR="0" lvl="1" indent="-314325" algn="just" defTabSz="914400" rtl="0" eaLnBrk="1" fontAlgn="base" latinLnBrk="0" hangingPunct="1">
              <a:lnSpc>
                <a:spcPct val="90000"/>
              </a:lnSpc>
              <a:spcBef>
                <a:spcPct val="20000"/>
              </a:spcBef>
              <a:spcAft>
                <a:spcPct val="0"/>
              </a:spcAft>
              <a:buClrTx/>
              <a:buSzPct val="90000"/>
              <a:buFontTx/>
              <a:buNone/>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a:p>
            <a:pPr algn="just" defTabSz="914400" eaLnBrk="1" hangingPunct="1">
              <a:lnSpc>
                <a:spcPct val="90000"/>
              </a:lnSpc>
              <a:buSzPct val="90000"/>
              <a:buNone/>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2. </a:t>
            </a:r>
            <a:r>
              <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rPr>
              <a:t>Parenteral route </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(by inj.)</a:t>
            </a:r>
          </a:p>
          <a:p>
            <a:pPr marL="790575" marR="0" lvl="1" indent="-314325" algn="just" defTabSz="914400" rtl="0" eaLnBrk="1" fontAlgn="base" latinLnBrk="0" hangingPunct="1">
              <a:lnSpc>
                <a:spcPct val="90000"/>
              </a:lnSpc>
              <a:spcBef>
                <a:spcPct val="20000"/>
              </a:spcBef>
              <a:spcAft>
                <a:spcPct val="0"/>
              </a:spcAft>
              <a:buClrTx/>
              <a:buSzPct val="90000"/>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Intravenous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i.v.</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intraarterial</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i,a</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subcutaneous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s.c.</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intramuscular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i.m</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intraperitoneal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i.p</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and intrathecal </a:t>
            </a:r>
          </a:p>
          <a:p>
            <a:pPr marL="790575" marR="0" lvl="1" indent="-314325" algn="just" defTabSz="914400" rtl="0" eaLnBrk="1" fontAlgn="base" latinLnBrk="0" hangingPunct="1">
              <a:lnSpc>
                <a:spcPct val="90000"/>
              </a:lnSpc>
              <a:spcBef>
                <a:spcPct val="20000"/>
              </a:spcBef>
              <a:spcAft>
                <a:spcPct val="0"/>
              </a:spcAft>
              <a:buClrTx/>
              <a:buSzPct val="90000"/>
              <a:buFontTx/>
              <a:buNone/>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endParaRPr>
          </a:p>
          <a:p>
            <a:pPr algn="just" defTabSz="914400" eaLnBrk="1" hangingPunct="1">
              <a:lnSpc>
                <a:spcPct val="90000"/>
              </a:lnSpc>
              <a:buSzPct val="90000"/>
              <a:buNone/>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3. </a:t>
            </a:r>
            <a:r>
              <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T</a:t>
            </a:r>
            <a:r>
              <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rPr>
              <a:t>opical route </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(i.e. application to epithelial surfaces or mucous membranes) </a:t>
            </a: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a:t>
            </a: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 skin, cornea (eye), vagina and nasal mucosa etc.),-</a:t>
            </a:r>
            <a:r>
              <a:rPr kumimoji="0" lang="en-US" altLang="en-US" sz="2200" b="0" i="1" u="none" strike="noStrike" kern="0" cap="none" spc="0" normalizeH="0" baseline="0" noProof="0" dirty="0">
                <a:ln>
                  <a:noFill/>
                </a:ln>
                <a:solidFill>
                  <a:srgbClr val="000000"/>
                </a:solidFill>
                <a:effectLst/>
                <a:uLnTx/>
                <a:uFillTx/>
                <a:latin typeface="Arial"/>
                <a:ea typeface="MS PGothic" pitchFamily="34" charset="-128"/>
              </a:rPr>
              <a:t>usually local effects</a:t>
            </a:r>
          </a:p>
          <a:p>
            <a:pPr marL="0" marR="0" lvl="0" indent="0" algn="just" defTabSz="914400" rtl="0" eaLnBrk="1" fontAlgn="base" latinLnBrk="0" hangingPunct="1">
              <a:lnSpc>
                <a:spcPct val="90000"/>
              </a:lnSpc>
              <a:spcBef>
                <a:spcPct val="20000"/>
              </a:spcBef>
              <a:spcAft>
                <a:spcPct val="0"/>
              </a:spcAft>
              <a:buClrTx/>
              <a:buSzPct val="90000"/>
              <a:buFontTx/>
              <a:buNone/>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just" defTabSz="914400" rtl="0" eaLnBrk="1" fontAlgn="base" latinLnBrk="0" hangingPunct="1">
              <a:lnSpc>
                <a:spcPct val="90000"/>
              </a:lnSpc>
              <a:spcBef>
                <a:spcPct val="20000"/>
              </a:spcBef>
              <a:spcAft>
                <a:spcPct val="0"/>
              </a:spcAft>
              <a:buClrTx/>
              <a:buSzPct val="90000"/>
              <a:buFontTx/>
              <a:buNone/>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4. </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Inhalational</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 (lungs)-</a:t>
            </a:r>
          </a:p>
          <a:p>
            <a:pPr marL="790575" marR="0" lvl="1" indent="-314325" algn="just" defTabSz="914400" rtl="0" eaLnBrk="1" fontAlgn="base" latinLnBrk="0" hangingPunct="1">
              <a:lnSpc>
                <a:spcPct val="90000"/>
              </a:lnSpc>
              <a:spcBef>
                <a:spcPct val="20000"/>
              </a:spcBef>
              <a:spcAft>
                <a:spcPct val="0"/>
              </a:spcAft>
              <a:buClrTx/>
              <a:buSzPct val="90000"/>
              <a:buFontTx/>
              <a:buChar char="•"/>
              <a:tabLst/>
              <a:defRPr/>
            </a:pPr>
            <a:r>
              <a:rPr kumimoji="0" lang="en-US" altLang="en-US" sz="2000" b="0" i="1" u="none" strike="noStrike" kern="0" cap="none" spc="0" normalizeH="0" baseline="0" noProof="0" dirty="0">
                <a:ln>
                  <a:noFill/>
                </a:ln>
                <a:solidFill>
                  <a:srgbClr val="000000"/>
                </a:solidFill>
                <a:effectLst/>
                <a:uLnTx/>
                <a:uFillTx/>
                <a:latin typeface="Arial"/>
                <a:ea typeface="MS PGothic" pitchFamily="34" charset="-128"/>
              </a:rPr>
              <a:t>usually local or systemic effects</a:t>
            </a:r>
          </a:p>
        </p:txBody>
      </p:sp>
      <p:sp>
        <p:nvSpPr>
          <p:cNvPr id="4" name="Rectangle 2"/>
          <p:cNvSpPr txBox="1">
            <a:spLocks noChangeArrowheads="1"/>
          </p:cNvSpPr>
          <p:nvPr/>
        </p:nvSpPr>
        <p:spPr bwMode="auto">
          <a:xfrm>
            <a:off x="211138" y="-7620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2690933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862404"/>
            <a:ext cx="770255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80000"/>
              </a:lnSpc>
              <a:spcBef>
                <a:spcPct val="20000"/>
              </a:spcBef>
              <a:spcAft>
                <a:spcPct val="0"/>
              </a:spcAft>
              <a:buClrTx/>
              <a:buSzTx/>
              <a:buFont typeface="Wingdings" pitchFamily="2" charset="2"/>
              <a:buNone/>
              <a:tabLst/>
              <a:defRPr/>
            </a:pPr>
            <a:r>
              <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rPr>
              <a:t>Other classification: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rPr>
              <a:t>Oral:</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Drugs administered by mouth and swallowed.</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rPr>
              <a:t>Transcutaneous:</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Used when local effects on the skin is required e.g. Topical creams, transdermal patches for nicotine withdrawal symptoms, fentanyl for analgesia &amp; GTNT for angina.</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sz="2500" b="0" i="0" u="none" strike="noStrike" kern="0" cap="none" spc="0" normalizeH="0" baseline="0" noProof="0" dirty="0" err="1">
                <a:ln>
                  <a:noFill/>
                </a:ln>
                <a:solidFill>
                  <a:srgbClr val="000000"/>
                </a:solidFill>
                <a:effectLst/>
                <a:uLnTx/>
                <a:uFillTx/>
                <a:latin typeface="Arial"/>
                <a:ea typeface="MS PGothic" pitchFamily="34" charset="-128"/>
                <a:cs typeface="+mn-cs"/>
              </a:rPr>
              <a:t>Transmucosal</a:t>
            </a:r>
            <a:r>
              <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rPr>
              <a:t> e.g. Sublingual,</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absorption directly from the oral cavity [drug must have good taste]</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 rectal (supp.) </a:t>
            </a:r>
            <a:r>
              <a:rPr kumimoji="0" lang="en-US" sz="2000" b="0" i="0" u="none" strike="noStrike" kern="0" cap="none" spc="0" normalizeH="0" baseline="0" noProof="0" dirty="0" err="1">
                <a:ln>
                  <a:noFill/>
                </a:ln>
                <a:solidFill>
                  <a:srgbClr val="000000"/>
                </a:solidFill>
                <a:effectLst/>
                <a:uLnTx/>
                <a:uFillTx/>
                <a:latin typeface="Arial"/>
                <a:ea typeface="MS PGothic" pitchFamily="34" charset="-128"/>
              </a:rPr>
              <a:t>conj</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 vaginal (</a:t>
            </a:r>
            <a:r>
              <a:rPr kumimoji="0" lang="en-US" sz="2000" b="0" i="0" u="none" strike="noStrike" kern="0" cap="none" spc="0" normalizeH="0" baseline="0" noProof="0" dirty="0" err="1">
                <a:ln>
                  <a:noFill/>
                </a:ln>
                <a:solidFill>
                  <a:srgbClr val="000000"/>
                </a:solidFill>
                <a:effectLst/>
                <a:uLnTx/>
                <a:uFillTx/>
                <a:latin typeface="Arial"/>
                <a:ea typeface="MS PGothic" pitchFamily="34" charset="-128"/>
              </a:rPr>
              <a:t>pess</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),nasal </a:t>
            </a:r>
            <a:r>
              <a:rPr kumimoji="0" lang="en-US" sz="2000" b="0" i="0" u="none" strike="noStrike" kern="0" cap="none" spc="0" normalizeH="0" baseline="0" noProof="0" dirty="0" err="1">
                <a:ln>
                  <a:noFill/>
                </a:ln>
                <a:solidFill>
                  <a:srgbClr val="000000"/>
                </a:solidFill>
                <a:effectLst/>
                <a:uLnTx/>
                <a:uFillTx/>
                <a:latin typeface="Arial"/>
                <a:ea typeface="MS PGothic" pitchFamily="34" charset="-128"/>
              </a:rPr>
              <a:t>adm</a:t>
            </a:r>
            <a:r>
              <a:rPr kumimoji="0" lang="en-US" sz="2000" b="0" i="0" u="none" strike="noStrike" kern="0" cap="none" spc="0" normalizeH="0" baseline="0" noProof="0" dirty="0">
                <a:ln>
                  <a:noFill/>
                </a:ln>
                <a:solidFill>
                  <a:srgbClr val="000000"/>
                </a:solidFill>
                <a:effectLst/>
                <a:uLnTx/>
                <a:uFillTx/>
                <a:latin typeface="Arial"/>
                <a:ea typeface="MS PGothic" pitchFamily="34" charset="-128"/>
              </a:rPr>
              <a:t>,</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rPr>
              <a:t>Inhalational</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Drugs administered this way to achieve much higher concentrations in the lungs than elsewhere in the </a:t>
            </a:r>
            <a:r>
              <a:rPr kumimoji="0" lang="en-US" sz="2000" b="0" i="0" u="none" strike="noStrike" kern="0" cap="none" spc="0" normalizeH="0" baseline="0" noProof="0" dirty="0" err="1">
                <a:ln>
                  <a:noFill/>
                </a:ln>
                <a:solidFill>
                  <a:srgbClr val="000000"/>
                </a:solidFill>
                <a:effectLst/>
                <a:uLnTx/>
                <a:uFillTx/>
                <a:latin typeface="Arial"/>
                <a:ea typeface="MS PGothic" pitchFamily="34" charset="-128"/>
                <a:cs typeface="Arial" charset="0"/>
              </a:rPr>
              <a:t>body.e.g</a:t>
            </a: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 Inhalers, Inhalational </a:t>
            </a:r>
            <a:r>
              <a:rPr kumimoji="0" lang="en-US" sz="2000" b="0" i="0" u="none" strike="noStrike" kern="0" cap="none" spc="0" normalizeH="0" baseline="0" noProof="0" dirty="0" err="1">
                <a:ln>
                  <a:noFill/>
                </a:ln>
                <a:solidFill>
                  <a:srgbClr val="000000"/>
                </a:solidFill>
                <a:effectLst/>
                <a:uLnTx/>
                <a:uFillTx/>
                <a:latin typeface="Arial"/>
                <a:ea typeface="MS PGothic" pitchFamily="34" charset="-128"/>
                <a:cs typeface="Arial" charset="0"/>
              </a:rPr>
              <a:t>anaesthethics</a:t>
            </a:r>
            <a:r>
              <a:rPr kumimoji="0" lang="en-US" sz="2000" b="0" i="0" u="none" strike="noStrike" kern="0" cap="none" spc="0" normalizeH="0" baseline="0" noProof="0" dirty="0">
                <a:ln>
                  <a:noFill/>
                </a:ln>
                <a:solidFill>
                  <a:srgbClr val="000000"/>
                </a:solidFill>
                <a:effectLst/>
                <a:uLnTx/>
                <a:uFillTx/>
                <a:latin typeface="Arial"/>
                <a:ea typeface="MS PGothic" pitchFamily="34" charset="-128"/>
                <a:cs typeface="Arial" charset="0"/>
              </a:rPr>
              <a:t> etc.</a:t>
            </a:r>
            <a:endParaRPr kumimoji="0" lang="en-US" sz="2000" b="0" i="0" u="none" strike="noStrike" kern="0" cap="none" spc="0" normalizeH="0" baseline="0" noProof="0" dirty="0">
              <a:ln>
                <a:noFill/>
              </a:ln>
              <a:solidFill>
                <a:srgbClr val="000000"/>
              </a:solidFill>
              <a:effectLst/>
              <a:uLnTx/>
              <a:uFillTx/>
              <a:latin typeface="Arial"/>
              <a:ea typeface="MS PGothic" pitchFamily="34" charset="-128"/>
            </a:endParaRPr>
          </a:p>
          <a:p>
            <a:pPr marL="314325" marR="0" lvl="1"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sz="2500" b="0" i="0" u="none" strike="noStrike" kern="0" cap="none" spc="0" normalizeH="0" baseline="0" noProof="0" dirty="0">
                <a:ln>
                  <a:noFill/>
                </a:ln>
                <a:solidFill>
                  <a:srgbClr val="000000"/>
                </a:solidFill>
                <a:effectLst/>
                <a:uLnTx/>
                <a:uFillTx/>
                <a:latin typeface="Arial"/>
                <a:ea typeface="MS PGothic" pitchFamily="34" charset="-128"/>
              </a:rPr>
              <a:t>Parenteral </a:t>
            </a: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Arial" charset="0"/>
              </a:rPr>
              <a:t>(by inj.)</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endParaRPr kumimoji="0" lang="en-US" sz="25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211138" y="-7620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463990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93034" y="776343"/>
            <a:ext cx="7597775"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Depends on route of administration</a:t>
            </a:r>
          </a:p>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 Oral (per </a:t>
            </a:r>
            <a:r>
              <a:rPr kumimoji="0" lang="en-US" altLang="en-US" sz="2600" b="0" i="0" u="none" strike="noStrike" kern="0" cap="none" spc="0" normalizeH="0" baseline="0" noProof="0" dirty="0" err="1">
                <a:ln>
                  <a:noFill/>
                </a:ln>
                <a:solidFill>
                  <a:srgbClr val="000000"/>
                </a:solidFill>
                <a:effectLst/>
                <a:uLnTx/>
                <a:uFillTx/>
                <a:latin typeface="Arial"/>
                <a:ea typeface="MS PGothic" pitchFamily="34" charset="-128"/>
              </a:rPr>
              <a:t>os</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A</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rPr>
              <a:t>. Site of absorption</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1.  </a:t>
            </a: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rPr>
              <a:t>Oral mucosa</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 – sublingual route</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Direct access to systemic veins - will avoid hepatic first pass effect (</a:t>
            </a:r>
            <a:r>
              <a:rPr kumimoji="0" lang="en-US" altLang="en-US" sz="2000" b="1" i="0" u="none" strike="noStrike" kern="0" cap="none" spc="0" normalizeH="0" baseline="0" noProof="1">
                <a:ln>
                  <a:noFill/>
                </a:ln>
                <a:solidFill>
                  <a:srgbClr val="000000"/>
                </a:solidFill>
                <a:effectLst/>
                <a:uLnTx/>
                <a:uFillTx/>
                <a:latin typeface="Arial"/>
                <a:ea typeface="MS PGothic" pitchFamily="34" charset="-128"/>
              </a:rPr>
              <a:t>direct absorption into systemic venous circulation</a:t>
            </a:r>
            <a:r>
              <a:rPr kumimoji="0" lang="en-US" altLang="en-US" sz="2000" b="1" i="0" u="none" strike="noStrike" kern="0" cap="none" spc="0" normalizeH="0" baseline="0" noProof="0" dirty="0">
                <a:ln>
                  <a:noFill/>
                </a:ln>
                <a:solidFill>
                  <a:srgbClr val="000000"/>
                </a:solidFill>
                <a:effectLst/>
                <a:uLnTx/>
                <a:uFillTx/>
                <a:latin typeface="Arial"/>
                <a:ea typeface="MS PGothic" pitchFamily="34" charset="-128"/>
              </a:rPr>
              <a:t>)</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(Drugs that are extensively metabolized.) </a:t>
            </a:r>
            <a:endPar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endParaRP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Ex:  nitroglycerin</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2.  </a:t>
            </a: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rPr>
              <a:t>Stomach</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Drugs that are weak acids tend to be absorbed here. Ex:  aspirin, ethanol</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3.  </a:t>
            </a: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rPr>
              <a:t>Small intestine</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Drugs that are weak bases tend to be absorbed here</a:t>
            </a:r>
          </a:p>
          <a:p>
            <a:pPr marL="1657350" marR="0" lvl="3" indent="-2762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endParaRPr kumimoji="0" lang="en-US" altLang="en-US" sz="1600" b="0" i="0" u="sng" strike="noStrike" kern="0" cap="none" spc="0" normalizeH="0" baseline="0" noProof="0" dirty="0">
              <a:ln>
                <a:noFill/>
              </a:ln>
              <a:solidFill>
                <a:srgbClr val="000000"/>
              </a:solidFill>
              <a:effectLst/>
              <a:uLnTx/>
              <a:uFillTx/>
              <a:latin typeface="Arial"/>
              <a:ea typeface="MS PGothic" pitchFamily="34" charset="-128"/>
            </a:endParaRPr>
          </a:p>
        </p:txBody>
      </p:sp>
      <p:sp>
        <p:nvSpPr>
          <p:cNvPr id="4" name="Rectangle 2"/>
          <p:cNvSpPr txBox="1">
            <a:spLocks noChangeArrowheads="1"/>
          </p:cNvSpPr>
          <p:nvPr/>
        </p:nvSpPr>
        <p:spPr bwMode="auto">
          <a:xfrm>
            <a:off x="211138" y="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8398713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1138" y="985221"/>
            <a:ext cx="8229600"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222250"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B.  Advantages of oral route</a:t>
            </a:r>
          </a:p>
          <a:p>
            <a:pPr marL="2049463"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Most convenient</a:t>
            </a:r>
          </a:p>
          <a:p>
            <a:pPr marL="2049463"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Least unpleasant method for most drugs</a:t>
            </a:r>
          </a:p>
          <a:p>
            <a:pPr marL="2049463"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No equipment required</a:t>
            </a:r>
          </a:p>
          <a:p>
            <a:pPr marL="2049463"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Safest (drug absorbed more slowly)</a:t>
            </a:r>
          </a:p>
        </p:txBody>
      </p:sp>
      <p:sp>
        <p:nvSpPr>
          <p:cNvPr id="4" name="Rectangle 2"/>
          <p:cNvSpPr txBox="1">
            <a:spLocks noChangeArrowheads="1"/>
          </p:cNvSpPr>
          <p:nvPr/>
        </p:nvSpPr>
        <p:spPr bwMode="auto">
          <a:xfrm>
            <a:off x="211138" y="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4036662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762000"/>
            <a:ext cx="8229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C.  Disadvantages of oral route</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1.  Certain drugs destroyed by pH and/or enzymes</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sng" strike="noStrike" kern="0" cap="none" spc="0" normalizeH="0" baseline="0" noProof="0">
                <a:ln>
                  <a:noFill/>
                </a:ln>
                <a:solidFill>
                  <a:srgbClr val="000000"/>
                </a:solidFill>
                <a:effectLst/>
                <a:uLnTx/>
                <a:uFillTx/>
                <a:latin typeface="Arial"/>
                <a:ea typeface="MS PGothic" pitchFamily="34" charset="-128"/>
              </a:rPr>
              <a:t>Ex</a:t>
            </a: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  Insulin</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Some drugs metabolized in gut wall by Cyp3A4</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Bacterial metabolism in gut can affect bioavailability</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sng" strike="noStrike" kern="0" cap="none" spc="0" normalizeH="0" baseline="0" noProof="0">
                <a:ln>
                  <a:noFill/>
                </a:ln>
                <a:solidFill>
                  <a:srgbClr val="000000"/>
                </a:solidFill>
                <a:effectLst/>
                <a:uLnTx/>
                <a:uFillTx/>
                <a:latin typeface="Arial"/>
                <a:ea typeface="MS PGothic" pitchFamily="34" charset="-128"/>
              </a:rPr>
              <a:t>Ex</a:t>
            </a: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  so digoxin is only 70% bioavailable</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2. Slow onset of action</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3. Cannot give to unconscious patient</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4. Irritating substances cause nausea and vomiting, resulting in drug loss</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5. Drug may have significant 1</a:t>
            </a:r>
            <a:r>
              <a:rPr kumimoji="0" lang="en-US" altLang="en-US" sz="2400" b="0" i="0" u="none" strike="noStrike" kern="0" cap="none" spc="0" normalizeH="0" baseline="30000" noProof="0">
                <a:ln>
                  <a:noFill/>
                </a:ln>
                <a:solidFill>
                  <a:srgbClr val="000000"/>
                </a:solidFill>
                <a:effectLst/>
                <a:uLnTx/>
                <a:uFillTx/>
                <a:latin typeface="Arial"/>
                <a:ea typeface="MS PGothic" pitchFamily="34" charset="-128"/>
              </a:rPr>
              <a:t>st</a:t>
            </a: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 pass effect from stomach or intestine because of direct access to portal veins</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6. Liver can excrete drug into the bile</a:t>
            </a:r>
          </a:p>
          <a:p>
            <a:pPr marL="1209675" marR="0" lvl="2" indent="-2762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r>
              <a:rPr kumimoji="0" lang="en-US" altLang="en-US" sz="2400" b="0" i="0" u="none" strike="noStrike" kern="0" cap="none" spc="0" normalizeH="0" baseline="0" noProof="0">
                <a:ln>
                  <a:noFill/>
                </a:ln>
                <a:solidFill>
                  <a:srgbClr val="000000"/>
                </a:solidFill>
                <a:effectLst/>
                <a:uLnTx/>
                <a:uFillTx/>
                <a:latin typeface="Arial"/>
                <a:ea typeface="MS PGothic" pitchFamily="34" charset="-128"/>
              </a:rPr>
              <a:t> </a:t>
            </a: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p:txBody>
      </p:sp>
      <p:sp>
        <p:nvSpPr>
          <p:cNvPr id="4" name="Rectangle 2"/>
          <p:cNvSpPr txBox="1">
            <a:spLocks noChangeArrowheads="1"/>
          </p:cNvSpPr>
          <p:nvPr/>
        </p:nvSpPr>
        <p:spPr bwMode="auto">
          <a:xfrm>
            <a:off x="211138" y="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2599327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81000" y="851647"/>
            <a:ext cx="819467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2"/>
              </a:buBlip>
              <a:tabLst/>
              <a:defRPr/>
            </a:pPr>
            <a:r>
              <a:rPr kumimoji="0" lang="en-US" altLang="en-US" sz="2700" b="0" i="0" u="none" strike="noStrike" kern="0" cap="none" spc="0" normalizeH="0" baseline="0" noProof="0" dirty="0">
                <a:ln>
                  <a:noFill/>
                </a:ln>
                <a:solidFill>
                  <a:srgbClr val="000000"/>
                </a:solidFill>
                <a:effectLst/>
                <a:uLnTx/>
                <a:uFillTx/>
                <a:latin typeface="Arial"/>
                <a:ea typeface="MS PGothic" pitchFamily="34" charset="-128"/>
                <a:cs typeface="+mn-cs"/>
              </a:rPr>
              <a:t>7. Irregular absorption may occur due to:</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a) Variation in process of solution</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b) pH variation</a:t>
            </a:r>
          </a:p>
          <a:p>
            <a:pPr marL="2095500"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If drug is too hydrophilic (i.e. atenolol), the drug cannot cross the lipid cell membrane; if too lipophilic (i.e. acyclovir), the drug is not soluble enough to cross the water layer adjacent to the cell</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c).  Binding to food (e.g. tetracycline chelated to Ca</a:t>
            </a:r>
            <a:r>
              <a:rPr kumimoji="0" lang="en-US" altLang="en-US" sz="2100" b="0" i="0" u="none" strike="noStrike" kern="0" cap="none" spc="0" normalizeH="0" baseline="30000" noProof="0" dirty="0">
                <a:ln>
                  <a:noFill/>
                </a:ln>
                <a:solidFill>
                  <a:srgbClr val="000000"/>
                </a:solidFill>
                <a:effectLst/>
                <a:uLnTx/>
                <a:uFillTx/>
                <a:latin typeface="Arial"/>
                <a:ea typeface="MS PGothic" pitchFamily="34" charset="-128"/>
              </a:rPr>
              <a:t>++</a:t>
            </a: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 and other heavy metals)</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 d).  Variation in motility and emptying time of GI</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 e).  Reverse transporter associated with P-glycoprotein process actively pumps drug out of gut wall cells back into the gut lumen</a:t>
            </a:r>
          </a:p>
          <a:p>
            <a:pPr marL="2095500"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1800" b="0" i="0" u="sng" strike="noStrike" kern="0" cap="none" spc="0" normalizeH="0" baseline="0" noProof="0" dirty="0" err="1">
                <a:ln>
                  <a:noFill/>
                </a:ln>
                <a:solidFill>
                  <a:srgbClr val="000000"/>
                </a:solidFill>
                <a:effectLst/>
                <a:uLnTx/>
                <a:uFillTx/>
                <a:latin typeface="Arial"/>
                <a:ea typeface="MS PGothic" pitchFamily="34" charset="-128"/>
              </a:rPr>
              <a:t>Tx</a:t>
            </a: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  grapefruit juice – will inhibit P-glycoprotein and gut wall metabolism</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endParaRPr kumimoji="0" lang="en-US" altLang="en-US" sz="1600" b="0" i="0" u="none" strike="noStrike" kern="0" cap="none" spc="0" normalizeH="0" baseline="0" noProof="0" dirty="0">
              <a:ln>
                <a:noFill/>
              </a:ln>
              <a:solidFill>
                <a:srgbClr val="000000"/>
              </a:solidFill>
              <a:effectLst/>
              <a:uLnTx/>
              <a:uFillTx/>
              <a:latin typeface="Arial"/>
              <a:ea typeface="MS PGothic" pitchFamily="34" charset="-128"/>
            </a:endParaRPr>
          </a:p>
          <a:p>
            <a:pPr marL="314325" marR="0" lvl="0" indent="-314325" algn="l" defTabSz="914400" rtl="0" eaLnBrk="1" fontAlgn="base" latinLnBrk="0" hangingPunct="1">
              <a:lnSpc>
                <a:spcPct val="100000"/>
              </a:lnSpc>
              <a:spcBef>
                <a:spcPct val="20000"/>
              </a:spcBef>
              <a:spcAft>
                <a:spcPct val="0"/>
              </a:spcAft>
              <a:buClrTx/>
              <a:buSzTx/>
              <a:buFontTx/>
              <a:buBlip>
                <a:blip r:embed="rId2"/>
              </a:buBlip>
              <a:tabLst/>
              <a:defRPr/>
            </a:pP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211138" y="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i="1" kern="0" dirty="0">
                <a:solidFill>
                  <a:srgbClr val="00B050"/>
                </a:solidFill>
                <a:latin typeface="Bradley Hand ITC" panose="03070402050302030203" pitchFamily="66" charset="0"/>
              </a:rPr>
              <a:t>Drug Absorption</a:t>
            </a:r>
            <a:r>
              <a:rPr lang="en-US" altLang="en-US" kern="0" dirty="0">
                <a:solidFill>
                  <a:srgbClr val="00B050"/>
                </a:solidFill>
                <a:latin typeface="Bradley Hand ITC" panose="03070402050302030203" pitchFamily="66" charset="0"/>
              </a:rPr>
              <a:t> :Routes of Administration</a:t>
            </a:r>
          </a:p>
        </p:txBody>
      </p:sp>
    </p:spTree>
    <p:extLst>
      <p:ext uri="{BB962C8B-B14F-4D97-AF65-F5344CB8AC3E}">
        <p14:creationId xmlns:p14="http://schemas.microsoft.com/office/powerpoint/2010/main" val="13802095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77" y="621704"/>
            <a:ext cx="9144000" cy="4421130"/>
          </a:xfrm>
          <a:prstGeom prst="rect">
            <a:avLst/>
          </a:prstGeom>
        </p:spPr>
      </p:pic>
    </p:spTree>
    <p:extLst>
      <p:ext uri="{BB962C8B-B14F-4D97-AF65-F5344CB8AC3E}">
        <p14:creationId xmlns:p14="http://schemas.microsoft.com/office/powerpoint/2010/main" val="22177143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113" y="1198563"/>
            <a:ext cx="835660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sz="3200" b="0" i="0" u="none" strike="noStrike" kern="0" cap="none" spc="0" normalizeH="0" baseline="0" noProof="0">
                <a:ln>
                  <a:noFill/>
                </a:ln>
                <a:solidFill>
                  <a:srgbClr val="000000"/>
                </a:solidFill>
                <a:effectLst/>
                <a:uLnTx/>
                <a:uFillTx/>
                <a:latin typeface="Arial"/>
                <a:ea typeface="MS PGothic" pitchFamily="34" charset="-128"/>
                <a:cs typeface="+mn-cs"/>
              </a:rPr>
              <a:t>Drug absorption after oral administration has two (2) components: </a:t>
            </a:r>
          </a:p>
          <a:p>
            <a:pPr marL="0" marR="0" lvl="0" indent="0" algn="l" defTabSz="914400" rtl="0" eaLnBrk="1" fontAlgn="base" latinLnBrk="0" hangingPunct="1">
              <a:lnSpc>
                <a:spcPct val="100000"/>
              </a:lnSpc>
              <a:spcBef>
                <a:spcPct val="20000"/>
              </a:spcBef>
              <a:spcAft>
                <a:spcPct val="0"/>
              </a:spcAft>
              <a:buClrTx/>
              <a:buSzTx/>
              <a:buFont typeface="Wingdings" pitchFamily="2" charset="2"/>
              <a:buChar char="Ø"/>
              <a:tabLst/>
              <a:defRPr/>
            </a:pPr>
            <a:endParaRPr kumimoji="0" lang="en-US" sz="32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3200" b="0" i="0" u="none" strike="noStrike" kern="0" cap="none" spc="0" normalizeH="0" baseline="0" noProof="0">
                <a:ln>
                  <a:noFill/>
                </a:ln>
                <a:solidFill>
                  <a:srgbClr val="000000"/>
                </a:solidFill>
                <a:effectLst/>
                <a:uLnTx/>
                <a:uFillTx/>
                <a:latin typeface="Arial"/>
                <a:ea typeface="MS PGothic" pitchFamily="34" charset="-128"/>
                <a:cs typeface="+mn-cs"/>
              </a:rPr>
              <a:t>The Rate of Absorption </a:t>
            </a:r>
          </a:p>
          <a:p>
            <a:pPr marL="314325" marR="0" lvl="0" indent="-314325" algn="l"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32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3200" b="1" i="0" u="none" strike="noStrike" kern="0" cap="none" spc="0" normalizeH="0" baseline="0" noProof="0">
                <a:ln>
                  <a:noFill/>
                </a:ln>
                <a:solidFill>
                  <a:srgbClr val="000000"/>
                </a:solidFill>
                <a:effectLst/>
                <a:uLnTx/>
                <a:uFillTx/>
                <a:latin typeface="Arial"/>
                <a:ea typeface="MS PGothic" pitchFamily="34" charset="-128"/>
                <a:cs typeface="+mn-cs"/>
              </a:rPr>
              <a:t>Bioavailability of the drug.</a:t>
            </a:r>
          </a:p>
          <a:p>
            <a:pPr marL="0" marR="0" lvl="0" indent="0" algn="l" defTabSz="914400" rtl="0" eaLnBrk="1" fontAlgn="base" latinLnBrk="0" hangingPunct="1">
              <a:lnSpc>
                <a:spcPct val="100000"/>
              </a:lnSpc>
              <a:spcBef>
                <a:spcPct val="20000"/>
              </a:spcBef>
              <a:spcAft>
                <a:spcPct val="0"/>
              </a:spcAft>
              <a:buClrTx/>
              <a:buSzTx/>
              <a:buFontTx/>
              <a:buBlip>
                <a:blip r:embed="rId2"/>
              </a:buBlip>
              <a:tabLst/>
              <a:defRPr/>
            </a:pPr>
            <a:endParaRPr kumimoji="0" 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457200" y="122238"/>
            <a:ext cx="75438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u="none" strike="noStrike" kern="0" cap="none" spc="0" normalizeH="0" baseline="0" noProof="0" dirty="0">
                <a:ln>
                  <a:noFill/>
                </a:ln>
                <a:solidFill>
                  <a:srgbClr val="00B050"/>
                </a:solidFill>
                <a:effectLst/>
                <a:uLnTx/>
                <a:uFillTx/>
                <a:latin typeface="Arial"/>
                <a:ea typeface="MS PGothic" pitchFamily="34" charset="-128"/>
                <a:cs typeface="+mj-cs"/>
              </a:rPr>
              <a:t>Oral absorption</a:t>
            </a:r>
          </a:p>
        </p:txBody>
      </p:sp>
    </p:spTree>
    <p:extLst>
      <p:ext uri="{BB962C8B-B14F-4D97-AF65-F5344CB8AC3E}">
        <p14:creationId xmlns:p14="http://schemas.microsoft.com/office/powerpoint/2010/main" val="2049972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143000"/>
            <a:ext cx="7491413"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THE RATE OF ABSORPTION </a:t>
            </a:r>
          </a:p>
          <a:p>
            <a:pPr marL="314325" marR="0" lvl="0" indent="-314325" algn="just" defTabSz="914400" rtl="0" eaLnBrk="1" fontAlgn="base" latinLnBrk="0" hangingPunct="1">
              <a:lnSpc>
                <a:spcPct val="100000"/>
              </a:lnSpc>
              <a:spcBef>
                <a:spcPct val="20000"/>
              </a:spcBef>
              <a:spcAft>
                <a:spcPct val="0"/>
              </a:spcAft>
              <a:buClrTx/>
              <a:buSzTx/>
              <a:buFontTx/>
              <a:buChar char="•"/>
              <a:tabLst/>
              <a:defRP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The rate of absorption is partially controlled by the physicochemical characteristics of the drug. </a:t>
            </a:r>
          </a:p>
          <a:p>
            <a:pPr marL="314325" marR="0" lvl="0" indent="-314325" algn="just" defTabSz="914400" rtl="0" eaLnBrk="1" fontAlgn="base" latinLnBrk="0" hangingPunct="1">
              <a:lnSpc>
                <a:spcPct val="100000"/>
              </a:lnSpc>
              <a:spcBef>
                <a:spcPct val="20000"/>
              </a:spcBef>
              <a:spcAft>
                <a:spcPct val="0"/>
              </a:spcAft>
              <a:buClrTx/>
              <a:buSzTx/>
              <a:buFontTx/>
              <a:buChar char="•"/>
              <a:tabLst/>
              <a:defRPr/>
            </a:pPr>
            <a:r>
              <a:rPr kumimoji="0" lang="en-US" altLang="en-US" sz="2700" b="0" i="0" u="none" strike="noStrike" kern="0" cap="none" spc="0" normalizeH="0" baseline="0" noProof="0" dirty="0">
                <a:ln>
                  <a:noFill/>
                </a:ln>
                <a:solidFill>
                  <a:srgbClr val="000000"/>
                </a:solidFill>
                <a:effectLst/>
                <a:uLnTx/>
                <a:uFillTx/>
                <a:latin typeface="Arial"/>
                <a:ea typeface="MS PGothic" pitchFamily="34" charset="-128"/>
                <a:cs typeface="+mn-cs"/>
              </a:rPr>
              <a:t>This could be modified by formulation to enhance or slow the rate of absorption.</a:t>
            </a:r>
          </a:p>
          <a:p>
            <a:pPr marL="314325" marR="0" lvl="0" indent="-314325" algn="just" defTabSz="914400" rtl="0" eaLnBrk="1" fontAlgn="base" latinLnBrk="0" hangingPunct="1">
              <a:lnSpc>
                <a:spcPct val="100000"/>
              </a:lnSpc>
              <a:spcBef>
                <a:spcPct val="20000"/>
              </a:spcBef>
              <a:spcAft>
                <a:spcPct val="0"/>
              </a:spcAft>
              <a:buClrTx/>
              <a:buSzTx/>
              <a:buFontTx/>
              <a:buChar char="•"/>
              <a:tabLst/>
              <a:defRPr/>
            </a:pP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100000"/>
              </a:lnSpc>
              <a:spcBef>
                <a:spcPct val="20000"/>
              </a:spcBef>
              <a:spcAft>
                <a:spcPct val="0"/>
              </a:spcAft>
              <a:buClrTx/>
              <a:buSzTx/>
              <a:buFontTx/>
              <a:buChar char="•"/>
              <a:tabLst/>
              <a:defRPr/>
            </a:pPr>
            <a:r>
              <a:rPr kumimoji="0" lang="en-US" altLang="en-US" sz="2600" b="0" i="0" u="none" strike="noStrike" kern="0" cap="none" spc="0" normalizeH="0" baseline="0" noProof="0" dirty="0">
                <a:ln>
                  <a:noFill/>
                </a:ln>
                <a:solidFill>
                  <a:srgbClr val="000000"/>
                </a:solidFill>
                <a:effectLst/>
                <a:uLnTx/>
                <a:uFillTx/>
                <a:latin typeface="Bradley Hand ITC" panose="03070402050302030203" pitchFamily="66" charset="0"/>
                <a:ea typeface="MS PGothic" pitchFamily="34" charset="-128"/>
                <a:cs typeface="+mn-cs"/>
              </a:rPr>
              <a:t>Reduction in the rate of absorption can lead to a smoother concentration-time profile with a </a:t>
            </a:r>
            <a:r>
              <a:rPr kumimoji="0" lang="en-US" altLang="en-US" sz="2600" b="1" i="0" u="none" strike="noStrike" kern="0" cap="none" spc="0" normalizeH="0" baseline="0" noProof="0" dirty="0">
                <a:ln>
                  <a:noFill/>
                </a:ln>
                <a:solidFill>
                  <a:srgbClr val="000000"/>
                </a:solidFill>
                <a:effectLst/>
                <a:uLnTx/>
                <a:uFillTx/>
                <a:latin typeface="Bradley Hand ITC" panose="03070402050302030203" pitchFamily="66" charset="0"/>
                <a:ea typeface="MS PGothic" pitchFamily="34" charset="-128"/>
                <a:cs typeface="+mn-cs"/>
              </a:rPr>
              <a:t>lower potential</a:t>
            </a:r>
            <a:r>
              <a:rPr kumimoji="0" lang="en-US" altLang="en-US" sz="2600" b="0" i="0" u="none" strike="noStrike" kern="0" cap="none" spc="0" normalizeH="0" baseline="0" noProof="0" dirty="0">
                <a:ln>
                  <a:noFill/>
                </a:ln>
                <a:solidFill>
                  <a:srgbClr val="000000"/>
                </a:solidFill>
                <a:effectLst/>
                <a:uLnTx/>
                <a:uFillTx/>
                <a:latin typeface="Bradley Hand ITC" panose="03070402050302030203" pitchFamily="66" charset="0"/>
                <a:ea typeface="MS PGothic" pitchFamily="34" charset="-128"/>
                <a:cs typeface="+mn-cs"/>
              </a:rPr>
              <a:t> for concentration-dependent adverse effects. [may even allow less frequent dosing]</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 </a:t>
            </a:r>
          </a:p>
          <a:p>
            <a:pPr marL="314325" marR="0" lvl="0" indent="-314325" algn="l" defTabSz="914400" rtl="0" eaLnBrk="1" fontAlgn="base" latinLnBrk="0" hangingPunct="1">
              <a:lnSpc>
                <a:spcPct val="100000"/>
              </a:lnSpc>
              <a:spcBef>
                <a:spcPct val="20000"/>
              </a:spcBef>
              <a:spcAft>
                <a:spcPct val="0"/>
              </a:spcAft>
              <a:buClrTx/>
              <a:buSzTx/>
              <a:buFontTx/>
              <a:buChar char="•"/>
              <a:tabLst/>
              <a:defRPr/>
            </a:pP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a:xfrm>
            <a:off x="457200" y="122238"/>
            <a:ext cx="7543800" cy="7921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dirty="0">
                <a:solidFill>
                  <a:srgbClr val="00B050"/>
                </a:solidFill>
                <a:latin typeface="Bradley Hand ITC" panose="03070402050302030203" pitchFamily="66" charset="0"/>
              </a:rPr>
              <a:t>Oral absorption</a:t>
            </a:r>
          </a:p>
        </p:txBody>
      </p:sp>
    </p:spTree>
    <p:extLst>
      <p:ext uri="{BB962C8B-B14F-4D97-AF65-F5344CB8AC3E}">
        <p14:creationId xmlns:p14="http://schemas.microsoft.com/office/powerpoint/2010/main" val="8915976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990600"/>
            <a:ext cx="8153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rPr>
              <a:t>BIOAVAILABILITY</a:t>
            </a:r>
            <a:endParaRPr kumimoji="0" lang="en-US" altLang="en-US" sz="25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just"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500" b="0" i="0" u="none" strike="noStrike" kern="0" cap="none" spc="0" normalizeH="0" baseline="0" noProof="0" dirty="0">
                <a:ln>
                  <a:noFill/>
                </a:ln>
                <a:solidFill>
                  <a:srgbClr val="000000"/>
                </a:solidFill>
                <a:effectLst/>
                <a:uLnTx/>
                <a:uFillTx/>
                <a:latin typeface="Arial"/>
                <a:ea typeface="MS PGothic" pitchFamily="34" charset="-128"/>
                <a:cs typeface="+mn-cs"/>
              </a:rPr>
              <a:t>Is the term used to describe the </a:t>
            </a:r>
            <a:r>
              <a:rPr kumimoji="0" lang="en-US" altLang="en-US" sz="2500" b="0" i="0" u="none" strike="noStrike" kern="0" cap="none" spc="0" normalizeH="0" baseline="0" noProof="0" dirty="0">
                <a:ln>
                  <a:noFill/>
                </a:ln>
                <a:solidFill>
                  <a:srgbClr val="00B050"/>
                </a:solidFill>
                <a:effectLst/>
                <a:uLnTx/>
                <a:uFillTx/>
                <a:latin typeface="Arial"/>
                <a:ea typeface="MS PGothic" pitchFamily="34" charset="-128"/>
                <a:cs typeface="+mn-cs"/>
              </a:rPr>
              <a:t>fraction of the administered dose (free unchanged form) that is absorbed into the systemic circulation</a:t>
            </a:r>
            <a:r>
              <a:rPr kumimoji="0" lang="en-US" altLang="en-US" sz="1600" b="0" i="0" u="none" strike="noStrike" kern="0" cap="none" spc="0" normalizeH="0" baseline="0" noProof="0" dirty="0">
                <a:ln>
                  <a:noFill/>
                </a:ln>
                <a:solidFill>
                  <a:srgbClr val="00B050"/>
                </a:solidFill>
                <a:effectLst/>
                <a:uLnTx/>
                <a:uFillTx/>
                <a:latin typeface="Arial"/>
                <a:ea typeface="MS PGothic" pitchFamily="34" charset="-128"/>
                <a:cs typeface="+mn-cs"/>
              </a:rPr>
              <a:t>.</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Differ from bioequivalence </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▬drug products are bioequivalent when the rate and extent of bioavailability of the active ingredients do not differ significantly)</a:t>
            </a:r>
          </a:p>
          <a:p>
            <a:pPr marL="0" marR="0" lvl="0" indent="0" algn="just"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19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just"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500" b="0" i="0" u="none" strike="noStrike" kern="0" cap="none" spc="0" normalizeH="0" baseline="0" noProof="0" dirty="0">
                <a:ln>
                  <a:noFill/>
                </a:ln>
                <a:solidFill>
                  <a:srgbClr val="000000"/>
                </a:solidFill>
                <a:effectLst/>
                <a:uLnTx/>
                <a:uFillTx/>
                <a:latin typeface="Arial"/>
                <a:ea typeface="MS PGothic" pitchFamily="34" charset="-128"/>
                <a:cs typeface="+mn-cs"/>
              </a:rPr>
              <a:t>Bioavailability ranges from 0 to1 or 0 to 100 %. </a:t>
            </a:r>
          </a:p>
          <a:p>
            <a:pPr marL="0" marR="0" lvl="0" indent="0"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700" b="0" i="0" u="none" strike="noStrike" kern="0" cap="none" spc="0" normalizeH="0" baseline="0" noProof="0" dirty="0" err="1">
                <a:ln>
                  <a:noFill/>
                </a:ln>
                <a:solidFill>
                  <a:srgbClr val="000000"/>
                </a:solidFill>
                <a:effectLst/>
                <a:uLnTx/>
                <a:uFillTx/>
                <a:latin typeface="Arial"/>
                <a:ea typeface="MS PGothic" pitchFamily="34" charset="-128"/>
                <a:cs typeface="+mn-cs"/>
              </a:rPr>
              <a:t>i.v</a:t>
            </a:r>
            <a:r>
              <a:rPr kumimoji="0" lang="en-US" altLang="en-US" sz="2700" b="0" i="0" u="none" strike="noStrike" kern="0" cap="none" spc="0" normalizeH="0" baseline="0" noProof="0" dirty="0">
                <a:ln>
                  <a:noFill/>
                </a:ln>
                <a:solidFill>
                  <a:srgbClr val="000000"/>
                </a:solidFill>
                <a:effectLst/>
                <a:uLnTx/>
                <a:uFillTx/>
                <a:latin typeface="Arial"/>
                <a:ea typeface="MS PGothic" pitchFamily="34" charset="-128"/>
                <a:cs typeface="+mn-cs"/>
              </a:rPr>
              <a:t> injection gives 100% bioavailability</a:t>
            </a:r>
          </a:p>
          <a:p>
            <a:pPr marL="790575" marR="0" lvl="1" indent="-314325" algn="just"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Calculated from comparison of the area under the curve (AUC) relating plasma concentration to time for </a:t>
            </a:r>
            <a:r>
              <a:rPr kumimoji="0" lang="en-US" altLang="en-US" sz="2400" b="1" i="0" u="none" strike="noStrike" kern="0" cap="none" spc="0" normalizeH="0" baseline="0" noProof="0" dirty="0" err="1">
                <a:ln>
                  <a:noFill/>
                </a:ln>
                <a:solidFill>
                  <a:srgbClr val="000000"/>
                </a:solidFill>
                <a:effectLst/>
                <a:uLnTx/>
                <a:uFillTx/>
                <a:latin typeface="Arial"/>
                <a:ea typeface="MS PGothic" pitchFamily="34" charset="-128"/>
              </a:rPr>
              <a:t>i.v.</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rPr>
              <a:t> </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dosage compared with other route.</a:t>
            </a:r>
          </a:p>
          <a:p>
            <a:pPr marL="0" marR="0" lvl="0" indent="0"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Says nothing about effectiveness.</a:t>
            </a:r>
          </a:p>
          <a:p>
            <a:pPr marL="790575" marR="0" lvl="1" indent="-314325" algn="just" defTabSz="914400" rtl="0" eaLnBrk="1" fontAlgn="base" latinLnBrk="0" hangingPunct="1">
              <a:lnSpc>
                <a:spcPct val="80000"/>
              </a:lnSpc>
              <a:spcBef>
                <a:spcPct val="2000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a:p>
            <a:pPr marL="0" marR="0" lvl="0" indent="0" algn="l" defTabSz="914400" rtl="0" eaLnBrk="1" fontAlgn="base" latinLnBrk="0" hangingPunct="1">
              <a:lnSpc>
                <a:spcPct val="80000"/>
              </a:lnSpc>
              <a:spcBef>
                <a:spcPct val="20000"/>
              </a:spcBef>
              <a:spcAft>
                <a:spcPct val="0"/>
              </a:spcAft>
              <a:buClrTx/>
              <a:buSzTx/>
              <a:buFontTx/>
              <a:buChar char="•"/>
              <a:tabLst/>
              <a:defRPr/>
            </a:pPr>
            <a:endPar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Grp="1" noChangeArrowheads="1"/>
          </p:cNvSpPr>
          <p:nvPr>
            <p:ph type="title"/>
          </p:nvPr>
        </p:nvSpPr>
        <p:spPr>
          <a:xfrm>
            <a:off x="457200" y="274638"/>
            <a:ext cx="8229600" cy="7159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dirty="0">
                <a:solidFill>
                  <a:srgbClr val="00B050"/>
                </a:solidFill>
                <a:latin typeface="Bradley Hand ITC" panose="03070402050302030203" pitchFamily="66" charset="0"/>
              </a:rPr>
              <a:t>Oral absorption</a:t>
            </a:r>
          </a:p>
        </p:txBody>
      </p:sp>
    </p:spTree>
    <p:extLst>
      <p:ext uri="{BB962C8B-B14F-4D97-AF65-F5344CB8AC3E}">
        <p14:creationId xmlns:p14="http://schemas.microsoft.com/office/powerpoint/2010/main" val="2507786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762000"/>
            <a:ext cx="8229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Absorption occurs via passive diffusion and is governed by blood flow, surface area, drug concentration &amp; formulation.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Theoretically drugs that are weak acids would be optimally absorbed from the acid environment of the stomach.</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And drugs that are weak bases from the alkaline environment of the intestine.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The small surface area of the stomach and its thick mucosa limits absorption. </a:t>
            </a: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In contrast, as a result of the huge surface area of the intestines, the rate of absorption of ALL drugs is greater in the intestines.</a:t>
            </a:r>
          </a:p>
          <a:p>
            <a:pPr marL="1209675" marR="0" lvl="2" indent="-276225" algn="just" defTabSz="914400" rtl="0" eaLnBrk="1" fontAlgn="base" latinLnBrk="0" hangingPunct="1">
              <a:lnSpc>
                <a:spcPct val="8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Changes in the rate of gastric emptying influence rate of presentation of drug to the intestine, and therefore influence rate of absorption. </a:t>
            </a:r>
          </a:p>
        </p:txBody>
      </p:sp>
      <p:sp>
        <p:nvSpPr>
          <p:cNvPr id="4" name="Rectangle 2"/>
          <p:cNvSpPr txBox="1">
            <a:spLocks noGrp="1" noChangeArrowheads="1"/>
          </p:cNvSpPr>
          <p:nvPr>
            <p:ph type="title"/>
          </p:nvPr>
        </p:nvSpPr>
        <p:spPr>
          <a:xfrm>
            <a:off x="554019" y="117178"/>
            <a:ext cx="8229600" cy="629004"/>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dirty="0">
                <a:solidFill>
                  <a:srgbClr val="00B050"/>
                </a:solidFill>
                <a:latin typeface="Bradley Hand ITC" panose="03070402050302030203" pitchFamily="66" charset="0"/>
              </a:rPr>
              <a:t>Oral absorption</a:t>
            </a:r>
          </a:p>
        </p:txBody>
      </p:sp>
    </p:spTree>
    <p:extLst>
      <p:ext uri="{BB962C8B-B14F-4D97-AF65-F5344CB8AC3E}">
        <p14:creationId xmlns:p14="http://schemas.microsoft.com/office/powerpoint/2010/main" val="5586474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554019" y="1138350"/>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Though the unionized form of a drug is absorbed more rapidly than the ionized form at any particular site in the GI tract, </a:t>
            </a:r>
          </a:p>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the </a:t>
            </a:r>
            <a:r>
              <a:rPr kumimoji="0" lang="en-US" altLang="en-US" sz="3200" b="0" i="1" u="none" strike="noStrike" kern="0" cap="none" spc="0" normalizeH="0" baseline="0" noProof="0" dirty="0">
                <a:ln>
                  <a:noFill/>
                </a:ln>
                <a:solidFill>
                  <a:srgbClr val="00B050"/>
                </a:solidFill>
                <a:effectLst/>
                <a:uLnTx/>
                <a:uFillTx/>
                <a:latin typeface="Arial"/>
                <a:ea typeface="MS PGothic" pitchFamily="34" charset="-128"/>
                <a:cs typeface="+mn-cs"/>
              </a:rPr>
              <a:t>OVERALL RATE</a:t>
            </a:r>
            <a:r>
              <a:rPr kumimoji="0" lang="en-US" altLang="en-US" sz="3200" b="0" i="0" u="none" strike="noStrike" kern="0" cap="none" spc="0" normalizeH="0" baseline="0" noProof="0" dirty="0">
                <a:ln>
                  <a:noFill/>
                </a:ln>
                <a:solidFill>
                  <a:srgbClr val="00B050"/>
                </a:solidFill>
                <a:effectLst/>
                <a:uLnTx/>
                <a:uFillTx/>
                <a:latin typeface="Arial"/>
                <a:ea typeface="MS PGothic" pitchFamily="34" charset="-128"/>
                <a:cs typeface="+mn-cs"/>
              </a:rPr>
              <a:t> </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of absorption of a drug from the intestine &gt; that from the stomach even if the drug is relatively more ionized in the intestine than in the stomach. </a:t>
            </a:r>
          </a:p>
          <a:p>
            <a:pPr marL="0" marR="0" lvl="0" indent="0" algn="l" defTabSz="914400" rtl="0" eaLnBrk="1" fontAlgn="base" latinLnBrk="0" hangingPunct="1">
              <a:lnSpc>
                <a:spcPct val="100000"/>
              </a:lnSpc>
              <a:spcBef>
                <a:spcPct val="20000"/>
              </a:spcBef>
              <a:spcAft>
                <a:spcPct val="0"/>
              </a:spcAft>
              <a:buClrTx/>
              <a:buSzTx/>
              <a:buFontTx/>
              <a:buChar char="•"/>
              <a:tabLst/>
              <a:defRPr/>
            </a:pPr>
            <a:endPar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a:xfrm>
            <a:off x="554019" y="117178"/>
            <a:ext cx="8229600" cy="629004"/>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a:solidFill>
                  <a:srgbClr val="00B050"/>
                </a:solidFill>
                <a:latin typeface="Bradley Hand ITC" panose="03070402050302030203" pitchFamily="66" charset="0"/>
              </a:rPr>
              <a:t>Oral absorption</a:t>
            </a:r>
            <a:endParaRPr lang="en-US" altLang="en-US" i="1" dirty="0">
              <a:solidFill>
                <a:srgbClr val="00B050"/>
              </a:solidFill>
              <a:latin typeface="Bradley Hand ITC" panose="03070402050302030203" pitchFamily="66" charset="0"/>
            </a:endParaRPr>
          </a:p>
        </p:txBody>
      </p:sp>
    </p:spTree>
    <p:extLst>
      <p:ext uri="{BB962C8B-B14F-4D97-AF65-F5344CB8AC3E}">
        <p14:creationId xmlns:p14="http://schemas.microsoft.com/office/powerpoint/2010/main" val="183193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273423" y="1290021"/>
            <a:ext cx="8382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0" indent="0" algn="just" defTabSz="914400" eaLnBrk="1" hangingPunct="1">
              <a:lnSpc>
                <a:spcPct val="80000"/>
              </a:lnSpc>
              <a:buFont typeface="Wingdings" pitchFamily="1" charset="2"/>
              <a:buNone/>
              <a:defRPr/>
            </a:pPr>
            <a:r>
              <a:rPr lang="en-US" sz="2800" kern="0" dirty="0">
                <a:ea typeface="ＭＳ Ｐゴシック" pitchFamily="1" charset="-128"/>
              </a:rPr>
              <a:t>It depends on a number of </a:t>
            </a:r>
            <a:r>
              <a:rPr lang="en-US" sz="2800" kern="0" dirty="0" err="1">
                <a:ea typeface="ＭＳ Ｐゴシック" pitchFamily="1" charset="-128"/>
              </a:rPr>
              <a:t>physico</a:t>
            </a:r>
            <a:r>
              <a:rPr lang="en-US" sz="2800" kern="0" dirty="0">
                <a:ea typeface="ＭＳ Ｐゴシック" pitchFamily="1" charset="-128"/>
              </a:rPr>
              <a:t>-chemical &amp; clinical factors. </a:t>
            </a:r>
          </a:p>
          <a:p>
            <a:pPr defTabSz="914400">
              <a:defRPr/>
            </a:pPr>
            <a:r>
              <a:rPr lang="en-US" sz="2800" kern="0" dirty="0">
                <a:latin typeface="Calibri" pitchFamily="1" charset="0"/>
                <a:ea typeface="ＭＳ Ｐゴシック" pitchFamily="1" charset="-128"/>
              </a:rPr>
              <a:t>What determines bioavailability?</a:t>
            </a:r>
          </a:p>
          <a:p>
            <a:pPr lvl="1" defTabSz="914400">
              <a:defRPr/>
            </a:pPr>
            <a:r>
              <a:rPr lang="en-US" sz="2000" kern="0" dirty="0">
                <a:latin typeface="Calibri" pitchFamily="1" charset="0"/>
                <a:ea typeface="ＭＳ Ｐゴシック" pitchFamily="1" charset="-128"/>
              </a:rPr>
              <a:t>Physical properties of the drug (hydrophobicity, </a:t>
            </a:r>
            <a:r>
              <a:rPr lang="en-US" sz="2000" kern="0" dirty="0" err="1">
                <a:latin typeface="Calibri" pitchFamily="1" charset="0"/>
                <a:ea typeface="ＭＳ Ｐゴシック" pitchFamily="1" charset="-128"/>
              </a:rPr>
              <a:t>pKa</a:t>
            </a:r>
            <a:r>
              <a:rPr lang="en-US" sz="2000" kern="0" dirty="0">
                <a:latin typeface="Calibri" pitchFamily="1" charset="0"/>
                <a:ea typeface="ＭＳ Ｐゴシック" pitchFamily="1" charset="-128"/>
              </a:rPr>
              <a:t>, solubility)</a:t>
            </a:r>
          </a:p>
          <a:p>
            <a:pPr lvl="1" defTabSz="914400">
              <a:defRPr/>
            </a:pPr>
            <a:r>
              <a:rPr lang="en-US" sz="2000" kern="0" dirty="0">
                <a:latin typeface="Calibri" pitchFamily="1" charset="0"/>
                <a:ea typeface="ＭＳ Ｐゴシック" pitchFamily="1" charset="-128"/>
              </a:rPr>
              <a:t>The drug formulation (immediate release, delayed release, etc.)</a:t>
            </a:r>
          </a:p>
          <a:p>
            <a:pPr lvl="1" defTabSz="914400">
              <a:defRPr/>
            </a:pPr>
            <a:r>
              <a:rPr lang="en-US" sz="2000" kern="0" dirty="0">
                <a:latin typeface="Calibri" pitchFamily="1" charset="0"/>
                <a:ea typeface="ＭＳ Ｐゴシック" pitchFamily="1" charset="-128"/>
              </a:rPr>
              <a:t>If the drug is administered in a fed or fasted state</a:t>
            </a:r>
          </a:p>
          <a:p>
            <a:pPr lvl="1" defTabSz="914400">
              <a:defRPr/>
            </a:pPr>
            <a:r>
              <a:rPr lang="en-US" sz="2000" kern="0" dirty="0">
                <a:latin typeface="Calibri" pitchFamily="1" charset="0"/>
                <a:ea typeface="ＭＳ Ｐゴシック" pitchFamily="1" charset="-128"/>
              </a:rPr>
              <a:t>Gastric emptying rate</a:t>
            </a:r>
          </a:p>
          <a:p>
            <a:pPr lvl="1" defTabSz="914400">
              <a:defRPr/>
            </a:pPr>
            <a:r>
              <a:rPr lang="en-US" sz="2000" kern="0" dirty="0">
                <a:latin typeface="Calibri" pitchFamily="1" charset="0"/>
                <a:ea typeface="ＭＳ Ｐゴシック" pitchFamily="1" charset="-128"/>
              </a:rPr>
              <a:t>Interactions with other drugs</a:t>
            </a:r>
          </a:p>
          <a:p>
            <a:pPr lvl="1" defTabSz="914400">
              <a:defRPr/>
            </a:pPr>
            <a:r>
              <a:rPr lang="en-US" sz="2000" kern="0" dirty="0">
                <a:latin typeface="Calibri" pitchFamily="1" charset="0"/>
                <a:ea typeface="ＭＳ Ｐゴシック" pitchFamily="1" charset="-128"/>
              </a:rPr>
              <a:t>Age</a:t>
            </a:r>
          </a:p>
          <a:p>
            <a:pPr lvl="1" defTabSz="914400">
              <a:defRPr/>
            </a:pPr>
            <a:r>
              <a:rPr lang="en-US" sz="2000" kern="0" dirty="0">
                <a:latin typeface="Calibri" pitchFamily="1" charset="0"/>
                <a:ea typeface="ＭＳ Ｐゴシック" pitchFamily="1" charset="-128"/>
              </a:rPr>
              <a:t>Diet </a:t>
            </a:r>
          </a:p>
          <a:p>
            <a:pPr lvl="1" defTabSz="914400">
              <a:defRPr/>
            </a:pPr>
            <a:r>
              <a:rPr lang="en-US" sz="2000" kern="0" dirty="0">
                <a:latin typeface="Calibri" pitchFamily="1" charset="0"/>
                <a:ea typeface="ＭＳ Ｐゴシック" pitchFamily="1" charset="-128"/>
              </a:rPr>
              <a:t>Gender</a:t>
            </a:r>
          </a:p>
          <a:p>
            <a:pPr lvl="1" defTabSz="914400">
              <a:defRPr/>
            </a:pPr>
            <a:r>
              <a:rPr lang="en-US" sz="2000" kern="0" dirty="0">
                <a:latin typeface="Calibri" pitchFamily="1" charset="0"/>
                <a:ea typeface="ＭＳ Ｐゴシック" pitchFamily="1" charset="-128"/>
              </a:rPr>
              <a:t>Disease state</a:t>
            </a:r>
            <a:endParaRPr lang="en-US" sz="2000" b="1" kern="0" dirty="0">
              <a:latin typeface="Calibri" pitchFamily="1" charset="0"/>
              <a:ea typeface="ＭＳ Ｐゴシック" pitchFamily="1" charset="-128"/>
            </a:endParaRPr>
          </a:p>
          <a:p>
            <a:pPr defTabSz="914400">
              <a:defRPr/>
            </a:pPr>
            <a:endParaRPr lang="en-US" sz="1800" kern="0" dirty="0">
              <a:ea typeface="ＭＳ Ｐゴシック" pitchFamily="1" charset="-128"/>
            </a:endParaRPr>
          </a:p>
        </p:txBody>
      </p:sp>
      <p:sp>
        <p:nvSpPr>
          <p:cNvPr id="4" name="Title 1"/>
          <p:cNvSpPr txBox="1">
            <a:spLocks/>
          </p:cNvSpPr>
          <p:nvPr/>
        </p:nvSpPr>
        <p:spPr bwMode="auto">
          <a:xfrm>
            <a:off x="390525" y="333375"/>
            <a:ext cx="69119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a:r>
              <a:rPr lang="en-US" altLang="en-US" sz="3200" i="1" kern="0" dirty="0">
                <a:solidFill>
                  <a:srgbClr val="00B050"/>
                </a:solidFill>
                <a:latin typeface="Calibri" panose="020F0502020204030204" pitchFamily="34" charset="0"/>
              </a:rPr>
              <a:t>Bioavailability</a:t>
            </a:r>
          </a:p>
        </p:txBody>
      </p:sp>
    </p:spTree>
    <p:extLst>
      <p:ext uri="{BB962C8B-B14F-4D97-AF65-F5344CB8AC3E}">
        <p14:creationId xmlns:p14="http://schemas.microsoft.com/office/powerpoint/2010/main" val="432964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txBox="1">
            <a:spLocks/>
          </p:cNvSpPr>
          <p:nvPr/>
        </p:nvSpPr>
        <p:spPr bwMode="auto">
          <a:xfrm>
            <a:off x="3124200" y="6248400"/>
            <a:ext cx="2895600" cy="4572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de-DE"/>
            </a:defPPr>
            <a:lvl1pPr algn="l" rtl="0" eaLnBrk="0" fontAlgn="base" hangingPunct="0">
              <a:spcBef>
                <a:spcPct val="0"/>
              </a:spcBef>
              <a:spcAft>
                <a:spcPct val="0"/>
              </a:spcAft>
              <a:defRPr sz="900" kern="1200">
                <a:solidFill>
                  <a:schemeClr val="tx1"/>
                </a:solidFill>
                <a:latin typeface="Arial" charset="0"/>
                <a:ea typeface="ＭＳ Ｐゴシック" charset="-128"/>
                <a:cs typeface="+mn-cs"/>
              </a:defRPr>
            </a:lvl1pPr>
            <a:lvl2pPr marL="742950" indent="-28575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2pPr>
            <a:lvl3pPr marL="11430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3pPr>
            <a:lvl4pPr marL="16002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4pPr>
            <a:lvl5pPr marL="20574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5pPr>
            <a:lvl6pPr marL="25146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6pPr>
            <a:lvl7pPr marL="29718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7pPr>
            <a:lvl8pPr marL="34290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8pPr>
            <a:lvl9pPr marL="38862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Arial" charset="0"/>
                <a:ea typeface="ＭＳ Ｐゴシック" charset="-128"/>
                <a:cs typeface="+mn-cs"/>
              </a:rPr>
              <a:t>GEN. INTRO. PHARMACOLOGY</a:t>
            </a:r>
          </a:p>
        </p:txBody>
      </p:sp>
      <p:sp>
        <p:nvSpPr>
          <p:cNvPr id="4" name="Slide Number Placeholder 5"/>
          <p:cNvSpPr txBox="1">
            <a:spLocks/>
          </p:cNvSpPr>
          <p:nvPr/>
        </p:nvSpPr>
        <p:spPr bwMode="auto">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457200" rtl="0" eaLnBrk="1" latinLnBrk="0" hangingPunct="1">
              <a:spcBef>
                <a:spcPct val="20000"/>
              </a:spcBef>
              <a:buBlip>
                <a:blip r:embed="rId3"/>
              </a:buBlip>
              <a:defRPr sz="2000" kern="1200">
                <a:solidFill>
                  <a:schemeClr val="tx1"/>
                </a:solidFill>
                <a:latin typeface="Arial" panose="020B0604020202020204" pitchFamily="34" charset="0"/>
                <a:ea typeface="MS PGothic" panose="020B0600070205080204" pitchFamily="34" charset="-128"/>
                <a:cs typeface="+mn-cs"/>
              </a:defRPr>
            </a:lvl1pPr>
            <a:lvl2pPr marL="742950" indent="-285750" algn="l" defTabSz="457200" rtl="0" eaLnBrk="1" latinLnBrk="0" hangingPunct="1">
              <a:spcBef>
                <a:spcPct val="20000"/>
              </a:spcBef>
              <a:buBlip>
                <a:blip r:embed="rId4"/>
              </a:buBlip>
              <a:defRPr sz="1800" kern="1200">
                <a:solidFill>
                  <a:schemeClr val="tx1"/>
                </a:solidFill>
                <a:latin typeface="Arial" panose="020B0604020202020204" pitchFamily="34" charset="0"/>
                <a:ea typeface="MS PGothic" panose="020B0600070205080204" pitchFamily="34" charset="-128"/>
                <a:cs typeface="+mn-cs"/>
              </a:defRPr>
            </a:lvl2pPr>
            <a:lvl3pPr marL="1143000" indent="-228600" algn="l" defTabSz="457200" rtl="0" eaLnBrk="1" latinLnBrk="0" hangingPunct="1">
              <a:spcBef>
                <a:spcPct val="20000"/>
              </a:spcBef>
              <a:buBlip>
                <a:blip r:embed="rId5"/>
              </a:buBlip>
              <a:defRPr sz="1600" kern="1200">
                <a:solidFill>
                  <a:schemeClr val="tx1"/>
                </a:solidFill>
                <a:latin typeface="Arial" panose="020B0604020202020204" pitchFamily="34" charset="0"/>
                <a:ea typeface="MS PGothic" panose="020B0600070205080204" pitchFamily="34" charset="-128"/>
                <a:cs typeface="+mn-cs"/>
              </a:defRPr>
            </a:lvl3pPr>
            <a:lvl4pPr marL="1600200" indent="-228600" algn="l" defTabSz="457200" rtl="0" eaLnBrk="1" latinLnBrk="0" hangingPunct="1">
              <a:spcBef>
                <a:spcPct val="20000"/>
              </a:spcBef>
              <a:buBlip>
                <a:blip r:embed="rId5"/>
              </a:buBlip>
              <a:defRPr sz="1600" kern="1200">
                <a:solidFill>
                  <a:schemeClr val="tx1"/>
                </a:solidFill>
                <a:latin typeface="Arial" panose="020B0604020202020204" pitchFamily="34" charset="0"/>
                <a:ea typeface="MS PGothic" panose="020B0600070205080204" pitchFamily="34" charset="-128"/>
                <a:cs typeface="+mn-cs"/>
              </a:defRPr>
            </a:lvl4pPr>
            <a:lvl5pPr marL="2057400" indent="-228600" algn="l" defTabSz="457200" rtl="0" eaLnBrk="1" latinLnBrk="0" hangingPunct="1">
              <a:spcBef>
                <a:spcPct val="20000"/>
              </a:spcBef>
              <a:buBlip>
                <a:blip r:embed="rId5"/>
              </a:buBlip>
              <a:defRPr sz="1600" kern="1200">
                <a:solidFill>
                  <a:schemeClr val="tx1"/>
                </a:solidFill>
                <a:latin typeface="Arial" panose="020B0604020202020204" pitchFamily="34" charset="0"/>
                <a:ea typeface="MS PGothic" panose="020B0600070205080204" pitchFamily="34" charset="-128"/>
                <a:cs typeface="+mn-cs"/>
              </a:defRPr>
            </a:lvl5pPr>
            <a:lvl6pPr marL="2514600" indent="-228600" algn="l" defTabSz="457200" rtl="0" eaLnBrk="0" fontAlgn="base" latinLnBrk="0" hangingPunct="0">
              <a:spcBef>
                <a:spcPct val="20000"/>
              </a:spcBef>
              <a:spcAft>
                <a:spcPct val="0"/>
              </a:spcAft>
              <a:buBlip>
                <a:blip r:embed="rId5"/>
              </a:buBlip>
              <a:defRPr sz="1600" kern="1200">
                <a:solidFill>
                  <a:schemeClr val="tx1"/>
                </a:solidFill>
                <a:latin typeface="Arial" panose="020B0604020202020204" pitchFamily="34" charset="0"/>
                <a:ea typeface="MS PGothic" panose="020B0600070205080204" pitchFamily="34" charset="-128"/>
                <a:cs typeface="+mn-cs"/>
              </a:defRPr>
            </a:lvl6pPr>
            <a:lvl7pPr marL="2971800" indent="-228600" algn="l" defTabSz="457200" rtl="0" eaLnBrk="0" fontAlgn="base" latinLnBrk="0" hangingPunct="0">
              <a:spcBef>
                <a:spcPct val="20000"/>
              </a:spcBef>
              <a:spcAft>
                <a:spcPct val="0"/>
              </a:spcAft>
              <a:buBlip>
                <a:blip r:embed="rId5"/>
              </a:buBlip>
              <a:defRPr sz="1600" kern="1200">
                <a:solidFill>
                  <a:schemeClr val="tx1"/>
                </a:solidFill>
                <a:latin typeface="Arial" panose="020B0604020202020204" pitchFamily="34" charset="0"/>
                <a:ea typeface="MS PGothic" panose="020B0600070205080204" pitchFamily="34" charset="-128"/>
                <a:cs typeface="+mn-cs"/>
              </a:defRPr>
            </a:lvl7pPr>
            <a:lvl8pPr marL="3429000" indent="-228600" algn="l" defTabSz="457200" rtl="0" eaLnBrk="0" fontAlgn="base" latinLnBrk="0" hangingPunct="0">
              <a:spcBef>
                <a:spcPct val="20000"/>
              </a:spcBef>
              <a:spcAft>
                <a:spcPct val="0"/>
              </a:spcAft>
              <a:buBlip>
                <a:blip r:embed="rId5"/>
              </a:buBlip>
              <a:defRPr sz="1600" kern="1200">
                <a:solidFill>
                  <a:schemeClr val="tx1"/>
                </a:solidFill>
                <a:latin typeface="Arial" panose="020B0604020202020204" pitchFamily="34" charset="0"/>
                <a:ea typeface="MS PGothic" panose="020B0600070205080204" pitchFamily="34" charset="-128"/>
                <a:cs typeface="+mn-cs"/>
              </a:defRPr>
            </a:lvl8pPr>
            <a:lvl9pPr marL="3886200" indent="-228600" algn="l" defTabSz="457200" rtl="0" eaLnBrk="0" fontAlgn="base" latinLnBrk="0" hangingPunct="0">
              <a:spcBef>
                <a:spcPct val="20000"/>
              </a:spcBef>
              <a:spcAft>
                <a:spcPct val="0"/>
              </a:spcAft>
              <a:buBlip>
                <a:blip r:embed="rId5"/>
              </a:buBlip>
              <a:defRPr sz="1600" kern="1200">
                <a:solidFill>
                  <a:schemeClr val="tx1"/>
                </a:solidFill>
                <a:latin typeface="Arial" panose="020B0604020202020204" pitchFamily="34" charset="0"/>
                <a:ea typeface="MS PGothic" panose="020B0600070205080204" pitchFamily="34" charset="-128"/>
                <a:cs typeface="+mn-cs"/>
              </a:defRPr>
            </a:lvl9pPr>
          </a:lstStyle>
          <a:p>
            <a:pPr defTabSz="914400" fontAlgn="base">
              <a:spcBef>
                <a:spcPct val="0"/>
              </a:spcBef>
              <a:spcAft>
                <a:spcPct val="0"/>
              </a:spcAft>
              <a:buFontTx/>
              <a:buNone/>
            </a:pPr>
            <a:fld id="{A181557A-C1B4-402F-B499-D96FC963A6CA}" type="slidenum">
              <a:rPr lang="en-US" altLang="en-US" sz="1800" smtClean="0">
                <a:solidFill>
                  <a:srgbClr val="000000"/>
                </a:solidFill>
                <a:cs typeface="Arial" panose="020B0604020202020204" pitchFamily="34" charset="0"/>
              </a:rPr>
              <a:pPr defTabSz="914400" fontAlgn="base">
                <a:spcBef>
                  <a:spcPct val="0"/>
                </a:spcBef>
                <a:spcAft>
                  <a:spcPct val="0"/>
                </a:spcAft>
                <a:buFontTx/>
                <a:buNone/>
              </a:pPr>
              <a:t>59</a:t>
            </a:fld>
            <a:endParaRPr lang="en-US" altLang="en-US" sz="1800">
              <a:solidFill>
                <a:srgbClr val="000000"/>
              </a:solidFill>
              <a:cs typeface="Arial" panose="020B0604020202020204" pitchFamily="34" charset="0"/>
            </a:endParaRPr>
          </a:p>
        </p:txBody>
      </p:sp>
      <p:sp>
        <p:nvSpPr>
          <p:cNvPr id="5" name="Rectangle 2"/>
          <p:cNvSpPr txBox="1">
            <a:spLocks noChangeArrowheads="1"/>
          </p:cNvSpPr>
          <p:nvPr/>
        </p:nvSpPr>
        <p:spPr bwMode="auto">
          <a:xfrm>
            <a:off x="492918" y="827023"/>
            <a:ext cx="6602413" cy="609600"/>
          </a:xfrm>
          <a:prstGeom prst="rect">
            <a:avLst/>
          </a:prstGeom>
          <a:solidFill>
            <a:srgbClr val="FFFFFF"/>
          </a:solidFill>
          <a:ln w="12700" cap="flat">
            <a:solidFill>
              <a:srgbClr val="FFFFFF"/>
            </a:solidFill>
            <a:miter lim="800000"/>
            <a:headEnd/>
            <a:tailEnd/>
          </a:ln>
        </p:spPr>
        <p:txBody>
          <a:bodyPr vert="horz" wrap="square" lIns="85266" tIns="43331" rIns="85266" bIns="43331" numCol="1" anchor="ctr"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69963" eaLnBrk="1" hangingPunct="1"/>
            <a:r>
              <a:rPr lang="en-US" altLang="en-US" sz="3200" b="0" kern="0" dirty="0">
                <a:solidFill>
                  <a:srgbClr val="00B050"/>
                </a:solidFill>
                <a:latin typeface="Bradley Hand ITC" panose="03070402050302030203" pitchFamily="66" charset="0"/>
              </a:rPr>
              <a:t>Bioavailability</a:t>
            </a:r>
          </a:p>
        </p:txBody>
      </p:sp>
      <p:sp>
        <p:nvSpPr>
          <p:cNvPr id="6" name="AutoShape 3"/>
          <p:cNvSpPr>
            <a:spLocks noChangeArrowheads="1"/>
          </p:cNvSpPr>
          <p:nvPr/>
        </p:nvSpPr>
        <p:spPr bwMode="auto">
          <a:xfrm>
            <a:off x="1428750" y="2986088"/>
            <a:ext cx="596900" cy="2536825"/>
          </a:xfrm>
          <a:prstGeom prst="rightArrow">
            <a:avLst>
              <a:gd name="adj1" fmla="val 50000"/>
              <a:gd name="adj2" fmla="val 50005"/>
            </a:avLst>
          </a:prstGeom>
          <a:solidFill>
            <a:srgbClr val="7D92C3"/>
          </a:solidFill>
          <a:ln w="127000">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 name="Oval 4"/>
          <p:cNvSpPr>
            <a:spLocks noChangeArrowheads="1"/>
          </p:cNvSpPr>
          <p:nvPr/>
        </p:nvSpPr>
        <p:spPr bwMode="auto">
          <a:xfrm>
            <a:off x="2259013" y="2698750"/>
            <a:ext cx="469900" cy="3040063"/>
          </a:xfrm>
          <a:prstGeom prst="ellipse">
            <a:avLst/>
          </a:prstGeom>
          <a:solidFill>
            <a:srgbClr val="00DFCA"/>
          </a:solidFill>
          <a:ln w="127000">
            <a:solidFill>
              <a:srgbClr val="00DFC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endParaRPr lang="en-US" altLang="en-US" sz="1800">
              <a:solidFill>
                <a:srgbClr val="000000"/>
              </a:solidFill>
              <a:cs typeface="Arial" panose="020B0604020202020204" pitchFamily="34" charset="0"/>
            </a:endParaRPr>
          </a:p>
        </p:txBody>
      </p:sp>
      <p:sp>
        <p:nvSpPr>
          <p:cNvPr id="8" name="AutoShape 5"/>
          <p:cNvSpPr>
            <a:spLocks noChangeArrowheads="1"/>
          </p:cNvSpPr>
          <p:nvPr/>
        </p:nvSpPr>
        <p:spPr bwMode="auto">
          <a:xfrm>
            <a:off x="3027363" y="3130550"/>
            <a:ext cx="531812" cy="2178050"/>
          </a:xfrm>
          <a:prstGeom prst="rightArrow">
            <a:avLst>
              <a:gd name="adj1" fmla="val 50000"/>
              <a:gd name="adj2" fmla="val 50005"/>
            </a:avLst>
          </a:prstGeom>
          <a:solidFill>
            <a:srgbClr val="7D92C3"/>
          </a:solidFill>
          <a:ln w="127000">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 name="Oval 6"/>
          <p:cNvSpPr>
            <a:spLocks noChangeArrowheads="1"/>
          </p:cNvSpPr>
          <p:nvPr/>
        </p:nvSpPr>
        <p:spPr bwMode="auto">
          <a:xfrm>
            <a:off x="3794125" y="2698750"/>
            <a:ext cx="533400" cy="3111500"/>
          </a:xfrm>
          <a:prstGeom prst="ellipse">
            <a:avLst/>
          </a:prstGeom>
          <a:solidFill>
            <a:srgbClr val="00DFCA"/>
          </a:solidFill>
          <a:ln w="127000">
            <a:solidFill>
              <a:srgbClr val="00DFC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endParaRPr lang="en-US" altLang="en-US" sz="1800">
              <a:solidFill>
                <a:srgbClr val="000000"/>
              </a:solidFill>
              <a:cs typeface="Arial" panose="020B0604020202020204" pitchFamily="34" charset="0"/>
            </a:endParaRPr>
          </a:p>
        </p:txBody>
      </p:sp>
      <p:sp>
        <p:nvSpPr>
          <p:cNvPr id="10" name="AutoShape 7"/>
          <p:cNvSpPr>
            <a:spLocks noChangeArrowheads="1"/>
          </p:cNvSpPr>
          <p:nvPr/>
        </p:nvSpPr>
        <p:spPr bwMode="auto">
          <a:xfrm>
            <a:off x="4625975" y="3560763"/>
            <a:ext cx="468313" cy="1101725"/>
          </a:xfrm>
          <a:prstGeom prst="rightArrow">
            <a:avLst>
              <a:gd name="adj1" fmla="val 50000"/>
              <a:gd name="adj2" fmla="val 52088"/>
            </a:avLst>
          </a:prstGeom>
          <a:solidFill>
            <a:srgbClr val="7D92C3"/>
          </a:solidFill>
          <a:ln w="127000">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1" name="Oval 8"/>
          <p:cNvSpPr>
            <a:spLocks noChangeArrowheads="1"/>
          </p:cNvSpPr>
          <p:nvPr/>
        </p:nvSpPr>
        <p:spPr bwMode="auto">
          <a:xfrm>
            <a:off x="6672263" y="2698750"/>
            <a:ext cx="468312" cy="3040063"/>
          </a:xfrm>
          <a:prstGeom prst="ellipse">
            <a:avLst/>
          </a:prstGeom>
          <a:solidFill>
            <a:srgbClr val="00DFCA"/>
          </a:solidFill>
          <a:ln w="127000">
            <a:solidFill>
              <a:srgbClr val="00DFC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endParaRPr lang="en-US" altLang="en-US" sz="1800">
              <a:solidFill>
                <a:srgbClr val="000000"/>
              </a:solidFill>
              <a:cs typeface="Arial" panose="020B0604020202020204" pitchFamily="34" charset="0"/>
            </a:endParaRPr>
          </a:p>
        </p:txBody>
      </p:sp>
      <p:sp>
        <p:nvSpPr>
          <p:cNvPr id="12" name="AutoShape 9"/>
          <p:cNvSpPr>
            <a:spLocks noChangeArrowheads="1"/>
          </p:cNvSpPr>
          <p:nvPr/>
        </p:nvSpPr>
        <p:spPr bwMode="auto">
          <a:xfrm>
            <a:off x="7439025" y="3919538"/>
            <a:ext cx="212725" cy="382587"/>
          </a:xfrm>
          <a:prstGeom prst="rightArrow">
            <a:avLst>
              <a:gd name="adj1" fmla="val 50000"/>
              <a:gd name="adj2" fmla="val 50005"/>
            </a:avLst>
          </a:prstGeom>
          <a:solidFill>
            <a:srgbClr val="7D92C3"/>
          </a:solidFill>
          <a:ln w="127000">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 name="Oval 10"/>
          <p:cNvSpPr>
            <a:spLocks noChangeArrowheads="1"/>
          </p:cNvSpPr>
          <p:nvPr/>
        </p:nvSpPr>
        <p:spPr bwMode="auto">
          <a:xfrm>
            <a:off x="5329238" y="2698750"/>
            <a:ext cx="468312" cy="3040063"/>
          </a:xfrm>
          <a:prstGeom prst="ellipse">
            <a:avLst/>
          </a:prstGeom>
          <a:solidFill>
            <a:srgbClr val="00DFCA"/>
          </a:solidFill>
          <a:ln w="127000">
            <a:solidFill>
              <a:srgbClr val="00DFC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defTabSz="914400" fontAlgn="base">
              <a:spcBef>
                <a:spcPct val="0"/>
              </a:spcBef>
              <a:spcAft>
                <a:spcPct val="0"/>
              </a:spcAft>
              <a:buFontTx/>
              <a:buNone/>
            </a:pPr>
            <a:endParaRPr lang="en-US" altLang="en-US" sz="1800">
              <a:solidFill>
                <a:srgbClr val="000000"/>
              </a:solidFill>
              <a:cs typeface="Arial" panose="020B0604020202020204" pitchFamily="34" charset="0"/>
            </a:endParaRPr>
          </a:p>
        </p:txBody>
      </p:sp>
      <p:sp>
        <p:nvSpPr>
          <p:cNvPr id="14" name="AutoShape 11"/>
          <p:cNvSpPr>
            <a:spLocks noChangeArrowheads="1"/>
          </p:cNvSpPr>
          <p:nvPr/>
        </p:nvSpPr>
        <p:spPr bwMode="auto">
          <a:xfrm>
            <a:off x="6032500" y="3703638"/>
            <a:ext cx="341313" cy="742950"/>
          </a:xfrm>
          <a:prstGeom prst="rightArrow">
            <a:avLst>
              <a:gd name="adj1" fmla="val 50000"/>
              <a:gd name="adj2" fmla="val 50005"/>
            </a:avLst>
          </a:prstGeom>
          <a:solidFill>
            <a:srgbClr val="7D92C3"/>
          </a:solidFill>
          <a:ln w="127000">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 name="Rectangle 12"/>
          <p:cNvSpPr>
            <a:spLocks noChangeArrowheads="1"/>
          </p:cNvSpPr>
          <p:nvPr/>
        </p:nvSpPr>
        <p:spPr bwMode="auto">
          <a:xfrm>
            <a:off x="1416050" y="2513013"/>
            <a:ext cx="742950" cy="379412"/>
          </a:xfrm>
          <a:prstGeom prst="rect">
            <a:avLst/>
          </a:prstGeom>
          <a:solidFill>
            <a:srgbClr val="7D92C3"/>
          </a:solidFill>
          <a:ln w="25400">
            <a:solidFill>
              <a:srgbClr val="7D92C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804863"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Dose</a:t>
            </a:r>
          </a:p>
        </p:txBody>
      </p:sp>
      <p:sp>
        <p:nvSpPr>
          <p:cNvPr id="16" name="Rectangle 13"/>
          <p:cNvSpPr>
            <a:spLocks noChangeArrowheads="1"/>
          </p:cNvSpPr>
          <p:nvPr/>
        </p:nvSpPr>
        <p:spPr bwMode="auto">
          <a:xfrm>
            <a:off x="1938338" y="1879600"/>
            <a:ext cx="1276350" cy="628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Destroyed</a:t>
            </a:r>
          </a:p>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  in gut</a:t>
            </a:r>
          </a:p>
        </p:txBody>
      </p:sp>
      <p:sp>
        <p:nvSpPr>
          <p:cNvPr id="17" name="Rectangle 14"/>
          <p:cNvSpPr>
            <a:spLocks noChangeArrowheads="1"/>
          </p:cNvSpPr>
          <p:nvPr/>
        </p:nvSpPr>
        <p:spPr bwMode="auto">
          <a:xfrm>
            <a:off x="3429000" y="1879600"/>
            <a:ext cx="1343025" cy="628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Not</a:t>
            </a:r>
          </a:p>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absorbed</a:t>
            </a:r>
            <a:r>
              <a:rPr lang="en-US" altLang="en-US" sz="1800" b="1">
                <a:solidFill>
                  <a:srgbClr val="FAFD00"/>
                </a:solidFill>
                <a:cs typeface="Arial" panose="020B0604020202020204" pitchFamily="34" charset="0"/>
              </a:rPr>
              <a:t> </a:t>
            </a:r>
          </a:p>
        </p:txBody>
      </p:sp>
      <p:sp>
        <p:nvSpPr>
          <p:cNvPr id="18" name="Rectangle 15"/>
          <p:cNvSpPr>
            <a:spLocks noChangeArrowheads="1"/>
          </p:cNvSpPr>
          <p:nvPr/>
        </p:nvSpPr>
        <p:spPr bwMode="auto">
          <a:xfrm>
            <a:off x="5072063" y="1879600"/>
            <a:ext cx="1339850" cy="628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Destroyed </a:t>
            </a:r>
          </a:p>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by gut wall</a:t>
            </a:r>
          </a:p>
        </p:txBody>
      </p:sp>
      <p:sp>
        <p:nvSpPr>
          <p:cNvPr id="19" name="Rectangle 16"/>
          <p:cNvSpPr>
            <a:spLocks noChangeArrowheads="1"/>
          </p:cNvSpPr>
          <p:nvPr/>
        </p:nvSpPr>
        <p:spPr bwMode="auto">
          <a:xfrm>
            <a:off x="6542088" y="1879600"/>
            <a:ext cx="1276350" cy="628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Destroyed</a:t>
            </a:r>
          </a:p>
          <a:p>
            <a:pPr eaLnBrk="0" fontAlgn="base" hangingPunct="0">
              <a:spcBef>
                <a:spcPct val="0"/>
              </a:spcBef>
              <a:spcAft>
                <a:spcPct val="0"/>
              </a:spcAft>
              <a:buFontTx/>
              <a:buNone/>
            </a:pPr>
            <a:r>
              <a:rPr lang="en-US" altLang="en-US" sz="1800" b="1">
                <a:solidFill>
                  <a:srgbClr val="000000"/>
                </a:solidFill>
                <a:cs typeface="Arial" panose="020B0604020202020204" pitchFamily="34" charset="0"/>
              </a:rPr>
              <a:t>by liver</a:t>
            </a:r>
          </a:p>
        </p:txBody>
      </p:sp>
      <p:sp>
        <p:nvSpPr>
          <p:cNvPr id="20" name="Rectangle 17"/>
          <p:cNvSpPr>
            <a:spLocks noChangeArrowheads="1"/>
          </p:cNvSpPr>
          <p:nvPr/>
        </p:nvSpPr>
        <p:spPr bwMode="auto">
          <a:xfrm>
            <a:off x="7248525" y="2798763"/>
            <a:ext cx="1465263" cy="928687"/>
          </a:xfrm>
          <a:prstGeom prst="rect">
            <a:avLst/>
          </a:prstGeom>
          <a:solidFill>
            <a:srgbClr val="7D92C3"/>
          </a:solidFill>
          <a:ln w="25400">
            <a:solidFill>
              <a:srgbClr val="7D92C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9675" tIns="39138" rIns="79675" bIns="39138">
            <a:spAutoFit/>
          </a:bodyPr>
          <a:lstStyle>
            <a:lvl1pPr defTabSz="804863">
              <a:spcBef>
                <a:spcPct val="20000"/>
              </a:spcBef>
              <a:buBlip>
                <a:blip r:embed="rId3"/>
              </a:buBlip>
              <a:defRPr sz="2000">
                <a:solidFill>
                  <a:schemeClr val="tx1"/>
                </a:solidFill>
                <a:latin typeface="Arial" panose="020B0604020202020204" pitchFamily="34" charset="0"/>
                <a:ea typeface="MS PGothic" panose="020B0600070205080204" pitchFamily="34" charset="-128"/>
              </a:defRPr>
            </a:lvl1pPr>
            <a:lvl2pPr marL="742950" indent="-285750" defTabSz="804863">
              <a:spcBef>
                <a:spcPct val="20000"/>
              </a:spcBef>
              <a:buBlip>
                <a:blip r:embed="rId4"/>
              </a:buBlip>
              <a:defRPr>
                <a:solidFill>
                  <a:schemeClr val="tx1"/>
                </a:solidFill>
                <a:latin typeface="Arial" panose="020B0604020202020204" pitchFamily="34" charset="0"/>
                <a:ea typeface="MS PGothic" panose="020B0600070205080204" pitchFamily="34" charset="-128"/>
              </a:defRPr>
            </a:lvl2pPr>
            <a:lvl3pPr marL="11430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3pPr>
            <a:lvl4pPr marL="16002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4pPr>
            <a:lvl5pPr marL="2057400" indent="-228600" defTabSz="804863">
              <a:spcBef>
                <a:spcPct val="20000"/>
              </a:spcBef>
              <a:buBlip>
                <a:blip r:embed="rId5"/>
              </a:buBlip>
              <a:defRPr sz="1600">
                <a:solidFill>
                  <a:schemeClr val="tx1"/>
                </a:solidFill>
                <a:latin typeface="Arial" panose="020B0604020202020204" pitchFamily="34" charset="0"/>
                <a:ea typeface="MS PGothic" panose="020B0600070205080204" pitchFamily="34" charset="-128"/>
              </a:defRPr>
            </a:lvl5pPr>
            <a:lvl6pPr marL="25146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6pPr>
            <a:lvl7pPr marL="29718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7pPr>
            <a:lvl8pPr marL="34290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8pPr>
            <a:lvl9pPr marL="3886200" indent="-228600" defTabSz="804863" eaLnBrk="0" fontAlgn="base" hangingPunct="0">
              <a:spcBef>
                <a:spcPct val="20000"/>
              </a:spcBef>
              <a:spcAft>
                <a:spcPct val="0"/>
              </a:spcAft>
              <a:buBlip>
                <a:blip r:embed="rId5"/>
              </a:buBlip>
              <a:defRPr sz="1600">
                <a:solidFill>
                  <a:schemeClr val="tx1"/>
                </a:solidFill>
                <a:latin typeface="Arial" panose="020B0604020202020204" pitchFamily="34" charset="0"/>
                <a:ea typeface="MS PGothic" panose="020B0600070205080204" pitchFamily="34" charset="-128"/>
              </a:defRPr>
            </a:lvl9pPr>
          </a:lstStyle>
          <a:p>
            <a:pPr marL="0" marR="0" lvl="0" indent="0" defTabSz="804863"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to</a:t>
            </a:r>
          </a:p>
          <a:p>
            <a:pPr marL="0" marR="0" lvl="0" indent="0" defTabSz="804863"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systemic</a:t>
            </a:r>
          </a:p>
          <a:p>
            <a:pPr marL="0" marR="0" lvl="0" indent="0" defTabSz="804863"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circulation</a:t>
            </a:r>
          </a:p>
        </p:txBody>
      </p:sp>
    </p:spTree>
    <p:extLst>
      <p:ext uri="{BB962C8B-B14F-4D97-AF65-F5344CB8AC3E}">
        <p14:creationId xmlns:p14="http://schemas.microsoft.com/office/powerpoint/2010/main" val="24433940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730827"/>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514350" lvl="0" indent="-514350" defTabSz="914400" eaLnBrk="1" hangingPunct="1">
              <a:lnSpc>
                <a:spcPct val="90000"/>
              </a:lnSpc>
              <a:buAutoNum type="arabicPeriod" startAt="2"/>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Parenteral- </a:t>
            </a:r>
            <a:r>
              <a:rPr lang="en-US" sz="1800" kern="0" dirty="0">
                <a:solidFill>
                  <a:srgbClr val="000000"/>
                </a:solidFill>
                <a:latin typeface="Arial"/>
                <a:sym typeface="Arial"/>
              </a:rPr>
              <a:t>Term used for ones </a:t>
            </a:r>
            <a:r>
              <a:rPr lang="en-US" sz="1800" b="1" kern="0" dirty="0">
                <a:solidFill>
                  <a:srgbClr val="00B050"/>
                </a:solidFill>
                <a:latin typeface="Arial"/>
                <a:sym typeface="Arial"/>
              </a:rPr>
              <a:t>delivered by injection</a:t>
            </a:r>
          </a:p>
          <a:p>
            <a:pPr marL="0" indent="0" defTabSz="914400" eaLnBrk="1" hangingPunct="1">
              <a:lnSpc>
                <a:spcPct val="90000"/>
              </a:lnSpc>
              <a:buNone/>
              <a:defRPr/>
            </a:pPr>
            <a:r>
              <a:rPr lang="en-US" sz="1800" kern="0" dirty="0">
                <a:solidFill>
                  <a:srgbClr val="000000"/>
                </a:solidFill>
                <a:latin typeface="Arial"/>
              </a:rPr>
              <a:t>                                - Improved bioavailability but requires </a:t>
            </a:r>
            <a:r>
              <a:rPr lang="en-US" sz="1800" kern="0" dirty="0">
                <a:solidFill>
                  <a:srgbClr val="00B050"/>
                </a:solidFill>
                <a:latin typeface="Arial"/>
              </a:rPr>
              <a:t>skilled personnel</a:t>
            </a:r>
          </a:p>
          <a:p>
            <a:pPr marL="0" indent="0" defTabSz="914400" eaLnBrk="1" hangingPunct="1">
              <a:lnSpc>
                <a:spcPct val="90000"/>
              </a:lnSpc>
              <a:buNone/>
              <a:defRPr/>
            </a:pPr>
            <a:endParaRPr lang="en-US" altLang="en-US" sz="1800" b="1" kern="0" dirty="0">
              <a:solidFill>
                <a:srgbClr val="00B050"/>
              </a:solidFill>
              <a:latin typeface="Arial"/>
            </a:endParaRP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A.  Advantages of parenteral route</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1.  More rapid and predictable absorption</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2.  Used to administer drugs that would be destroyed by stomach acid or enzymes</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3.  Use with unconscious or uncooperative patient</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4.  More accurate dose selection</a:t>
            </a: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B.  Disadvantages of parenteral route</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1.  Strict asepsis must be maintained</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2.  Pain associated with injection</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3.  Self administration may be difficult</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4.  More expensive</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5.  Possibility of technical errors (rate of dosing, area given)</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6.  Difficult to correct overdose or error</a:t>
            </a: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rPr>
              <a:t>7.  Risk of infection or local irritation</a:t>
            </a:r>
          </a:p>
          <a:p>
            <a:pPr marL="2095500" marR="0" lvl="4" indent="-2762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endParaRPr kumimoji="0" lang="en-US" altLang="en-US" sz="1800" b="0" i="0" u="none" strike="noStrike" kern="0" cap="none" spc="0" normalizeH="0" baseline="0" noProof="0" dirty="0">
              <a:ln>
                <a:noFill/>
              </a:ln>
              <a:solidFill>
                <a:srgbClr val="000000"/>
              </a:solidFill>
              <a:effectLst/>
              <a:uLnTx/>
              <a:uFillTx/>
              <a:latin typeface="Arial"/>
              <a:ea typeface="MS PGothic" pitchFamily="34" charset="-128"/>
            </a:endParaRPr>
          </a:p>
        </p:txBody>
      </p:sp>
      <p:sp>
        <p:nvSpPr>
          <p:cNvPr id="4" name="Rectangle 2"/>
          <p:cNvSpPr txBox="1">
            <a:spLocks noChangeArrowheads="1"/>
          </p:cNvSpPr>
          <p:nvPr/>
        </p:nvSpPr>
        <p:spPr>
          <a:xfrm>
            <a:off x="457200" y="49502"/>
            <a:ext cx="7543800" cy="7921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rgbClr val="00B050"/>
                </a:solidFill>
                <a:latin typeface="Bradley Hand ITC" panose="03070402050302030203" pitchFamily="66" charset="0"/>
              </a:rPr>
              <a:t>Absorption</a:t>
            </a:r>
          </a:p>
        </p:txBody>
      </p:sp>
    </p:spTree>
    <p:extLst>
      <p:ext uri="{BB962C8B-B14F-4D97-AF65-F5344CB8AC3E}">
        <p14:creationId xmlns:p14="http://schemas.microsoft.com/office/powerpoint/2010/main" val="81200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8364-D058-A0EA-2D40-DC7C72D88D62}"/>
              </a:ext>
            </a:extLst>
          </p:cNvPr>
          <p:cNvSpPr>
            <a:spLocks noGrp="1"/>
          </p:cNvSpPr>
          <p:nvPr>
            <p:ph type="title"/>
          </p:nvPr>
        </p:nvSpPr>
        <p:spPr>
          <a:xfrm>
            <a:off x="457200" y="274638"/>
            <a:ext cx="8229600" cy="855662"/>
          </a:xfrm>
        </p:spPr>
        <p:txBody>
          <a:bodyPr/>
          <a:lstStyle/>
          <a:p>
            <a:r>
              <a:rPr lang="en-GH" sz="3200" b="1" i="1" kern="0" dirty="0">
                <a:solidFill>
                  <a:srgbClr val="00B050"/>
                </a:solidFill>
                <a:latin typeface="Calibri" panose="020F0502020204030204" pitchFamily="34" charset="0"/>
                <a:ea typeface="MS PGothic" pitchFamily="34" charset="-128"/>
              </a:rPr>
              <a:t>Assignment</a:t>
            </a:r>
            <a:r>
              <a:rPr lang="en-GH" dirty="0"/>
              <a:t> </a:t>
            </a:r>
          </a:p>
        </p:txBody>
      </p:sp>
      <p:sp>
        <p:nvSpPr>
          <p:cNvPr id="4" name="TextBox 3">
            <a:extLst>
              <a:ext uri="{FF2B5EF4-FFF2-40B4-BE49-F238E27FC236}">
                <a16:creationId xmlns:a16="http://schemas.microsoft.com/office/drawing/2014/main" id="{4E1D700B-481A-0B12-33DC-E40F379F92B7}"/>
              </a:ext>
            </a:extLst>
          </p:cNvPr>
          <p:cNvSpPr txBox="1"/>
          <p:nvPr/>
        </p:nvSpPr>
        <p:spPr>
          <a:xfrm>
            <a:off x="342900" y="1244600"/>
            <a:ext cx="8674100" cy="2985433"/>
          </a:xfrm>
          <a:prstGeom prst="rect">
            <a:avLst/>
          </a:prstGeom>
          <a:noFill/>
        </p:spPr>
        <p:txBody>
          <a:bodyPr wrap="square" rtlCol="0">
            <a:spAutoFit/>
          </a:bodyPr>
          <a:lstStyle/>
          <a:p>
            <a:pPr algn="just"/>
            <a:r>
              <a:rPr lang="en-GH" sz="2800" kern="0" dirty="0">
                <a:solidFill>
                  <a:srgbClr val="000000"/>
                </a:solidFill>
                <a:latin typeface="Garamond" panose="02020404030301010803" pitchFamily="18" charset="0"/>
                <a:ea typeface="MS PGothic" pitchFamily="34" charset="-128"/>
              </a:rPr>
              <a:t>Read on the following parenteral routes of drug administration, highting the advantatages and disadvantages of each route</a:t>
            </a:r>
          </a:p>
          <a:p>
            <a:pPr marL="800100" lvl="1" indent="-342900" algn="just">
              <a:buFont typeface="Arial" panose="020B0604020202020204" pitchFamily="34" charset="0"/>
              <a:buChar char="•"/>
            </a:pPr>
            <a:r>
              <a:rPr lang="en-GH" sz="2800" kern="0" dirty="0">
                <a:solidFill>
                  <a:srgbClr val="000000"/>
                </a:solidFill>
                <a:latin typeface="Garamond" panose="02020404030301010803" pitchFamily="18" charset="0"/>
                <a:ea typeface="MS PGothic" pitchFamily="34" charset="-128"/>
              </a:rPr>
              <a:t>intravenous</a:t>
            </a:r>
          </a:p>
          <a:p>
            <a:pPr marL="800100" lvl="1" indent="-342900" algn="just">
              <a:buFont typeface="Arial" panose="020B0604020202020204" pitchFamily="34" charset="0"/>
              <a:buChar char="•"/>
            </a:pPr>
            <a:r>
              <a:rPr lang="en-GH" sz="2800" kern="0" dirty="0">
                <a:solidFill>
                  <a:srgbClr val="000000"/>
                </a:solidFill>
                <a:latin typeface="Garamond" panose="02020404030301010803" pitchFamily="18" charset="0"/>
                <a:ea typeface="MS PGothic" pitchFamily="34" charset="-128"/>
              </a:rPr>
              <a:t>subcutaneous</a:t>
            </a:r>
          </a:p>
          <a:p>
            <a:pPr marL="800100" lvl="1" indent="-342900" algn="just">
              <a:buFont typeface="Arial" panose="020B0604020202020204" pitchFamily="34" charset="0"/>
              <a:buChar char="•"/>
            </a:pPr>
            <a:r>
              <a:rPr lang="en-GH" sz="2800" kern="0" dirty="0">
                <a:solidFill>
                  <a:srgbClr val="000000"/>
                </a:solidFill>
                <a:latin typeface="Garamond" panose="02020404030301010803" pitchFamily="18" charset="0"/>
                <a:ea typeface="MS PGothic" pitchFamily="34" charset="-128"/>
              </a:rPr>
              <a:t>intramuscular</a:t>
            </a:r>
          </a:p>
          <a:p>
            <a:pPr marL="342900" indent="-342900" algn="just">
              <a:buFont typeface="Arial" panose="020B0604020202020204" pitchFamily="34" charset="0"/>
              <a:buChar char="•"/>
            </a:pPr>
            <a:endParaRPr lang="en-GH" sz="2000" kern="0" dirty="0">
              <a:solidFill>
                <a:srgbClr val="000000"/>
              </a:solidFill>
              <a:latin typeface="Garamond" panose="02020404030301010803" pitchFamily="18" charset="0"/>
              <a:ea typeface="MS PGothic" pitchFamily="34" charset="-128"/>
            </a:endParaRPr>
          </a:p>
        </p:txBody>
      </p:sp>
    </p:spTree>
    <p:extLst>
      <p:ext uri="{BB962C8B-B14F-4D97-AF65-F5344CB8AC3E}">
        <p14:creationId xmlns:p14="http://schemas.microsoft.com/office/powerpoint/2010/main" val="33039329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drug routes"/>
          <p:cNvPicPr>
            <a:picLocks noChangeAspect="1" noChangeArrowheads="1"/>
          </p:cNvPicPr>
          <p:nvPr/>
        </p:nvPicPr>
        <p:blipFill>
          <a:blip r:embed="rId2">
            <a:lum bright="-6000"/>
            <a:extLst>
              <a:ext uri="{28A0092B-C50C-407E-A947-70E740481C1C}">
                <a14:useLocalDpi xmlns:a14="http://schemas.microsoft.com/office/drawing/2010/main" val="0"/>
              </a:ext>
            </a:extLst>
          </a:blip>
          <a:srcRect/>
          <a:stretch>
            <a:fillRect/>
          </a:stretch>
        </p:blipFill>
        <p:spPr bwMode="auto">
          <a:xfrm>
            <a:off x="254576" y="943400"/>
            <a:ext cx="6378244" cy="4189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4"/>
          <p:cNvSpPr txBox="1">
            <a:spLocks noGrp="1" noChangeArrowheads="1"/>
          </p:cNvSpPr>
          <p:nvPr>
            <p:ph type="title"/>
          </p:nvPr>
        </p:nvSpPr>
        <p:spPr bwMode="auto">
          <a:xfrm>
            <a:off x="457200" y="274638"/>
            <a:ext cx="822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3200" dirty="0">
                <a:solidFill>
                  <a:srgbClr val="00B050"/>
                </a:solidFill>
              </a:rPr>
              <a:t>Parenteral route of drug administration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7084" y="3758644"/>
            <a:ext cx="3334572" cy="2175252"/>
          </a:xfrm>
          <a:prstGeom prst="rect">
            <a:avLst/>
          </a:prstGeom>
        </p:spPr>
      </p:pic>
    </p:spTree>
    <p:extLst>
      <p:ext uri="{BB962C8B-B14F-4D97-AF65-F5344CB8AC3E}">
        <p14:creationId xmlns:p14="http://schemas.microsoft.com/office/powerpoint/2010/main" val="18975445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3" name="Group 20"/>
          <p:cNvGraphicFramePr>
            <a:graphicFrameLocks/>
          </p:cNvGraphicFramePr>
          <p:nvPr>
            <p:extLst>
              <p:ext uri="{D42A27DB-BD31-4B8C-83A1-F6EECF244321}">
                <p14:modId xmlns:p14="http://schemas.microsoft.com/office/powerpoint/2010/main" val="1395768945"/>
              </p:ext>
            </p:extLst>
          </p:nvPr>
        </p:nvGraphicFramePr>
        <p:xfrm>
          <a:off x="457200" y="1212028"/>
          <a:ext cx="8229600" cy="4602208"/>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761925">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rgbClr val="000000"/>
                          </a:solidFill>
                          <a:effectLst/>
                          <a:latin typeface="Arial" charset="0"/>
                        </a:rPr>
                        <a:t>P a r e n t e r a l  administration             </a:t>
                      </a:r>
                      <a:endParaRPr kumimoji="0" lang="en-US" sz="2000" b="0" i="0" u="none" strike="noStrike" cap="none" normalizeH="0" baseline="0" dirty="0">
                        <a:ln>
                          <a:noFill/>
                        </a:ln>
                        <a:solidFill>
                          <a:srgbClr val="000000"/>
                        </a:solidFill>
                        <a:effectLst/>
                        <a:latin typeface="Arial" charset="0"/>
                      </a:endParaRPr>
                    </a:p>
                  </a:txBody>
                  <a:tcPr marT="45686" marB="4568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rgbClr val="000000"/>
                          </a:solidFill>
                          <a:effectLst/>
                          <a:latin typeface="Arial" charset="0"/>
                        </a:rPr>
                        <a:t>the onset of action at</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marT="45686" marB="4568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70353">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09538"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1" i="0" u="none" strike="noStrike" cap="none" normalizeH="0" baseline="0" noProof="1">
                          <a:ln>
                            <a:noFill/>
                          </a:ln>
                          <a:solidFill>
                            <a:srgbClr val="000000"/>
                          </a:solidFill>
                          <a:effectLst/>
                          <a:latin typeface="Arial" charset="0"/>
                        </a:rPr>
                        <a:t>i n t r a v e n o u s</a:t>
                      </a:r>
                    </a:p>
                    <a:p>
                      <a:pPr marL="173038" marR="0" lvl="0" indent="-109538"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1" i="0" u="none" strike="noStrike" cap="none" normalizeH="0" baseline="0" noProof="1">
                          <a:ln>
                            <a:noFill/>
                          </a:ln>
                          <a:solidFill>
                            <a:srgbClr val="000000"/>
                          </a:solidFill>
                          <a:effectLst/>
                          <a:latin typeface="Arial" charset="0"/>
                        </a:rPr>
                        <a:t>   </a:t>
                      </a:r>
                      <a:r>
                        <a:rPr kumimoji="0" lang="en-US" sz="1400" b="0" i="0" u="none" strike="noStrike" cap="none" normalizeH="0" baseline="0" noProof="1">
                          <a:ln>
                            <a:noFill/>
                          </a:ln>
                          <a:solidFill>
                            <a:srgbClr val="000000"/>
                          </a:solidFill>
                          <a:effectLst/>
                          <a:latin typeface="Arial" charset="0"/>
                        </a:rPr>
                        <a:t>- instantaneous  and complete absorption</a:t>
                      </a:r>
                      <a:endParaRPr kumimoji="0" lang="en-US" sz="1400" b="0" i="0" u="none" strike="noStrike" cap="none" normalizeH="0" baseline="0" dirty="0">
                        <a:ln>
                          <a:noFill/>
                        </a:ln>
                        <a:solidFill>
                          <a:srgbClr val="000000"/>
                        </a:solidFill>
                        <a:effectLst/>
                        <a:latin typeface="Arial" charset="0"/>
                      </a:endParaRPr>
                    </a:p>
                    <a:p>
                      <a:pPr marL="173038" marR="0" lvl="0" indent="-109538"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dirty="0">
                          <a:ln>
                            <a:noFill/>
                          </a:ln>
                          <a:solidFill>
                            <a:srgbClr val="000000"/>
                          </a:solidFill>
                          <a:effectLst/>
                          <a:latin typeface="Arial" charset="0"/>
                        </a:rPr>
                        <a:t>  </a:t>
                      </a:r>
                      <a:r>
                        <a:rPr kumimoji="0" lang="en-US" sz="1400" b="0" i="0" u="none" strike="noStrike" cap="none" normalizeH="0" baseline="0" noProof="1">
                          <a:ln>
                            <a:noFill/>
                          </a:ln>
                          <a:solidFill>
                            <a:srgbClr val="000000"/>
                          </a:solidFill>
                          <a:effectLst/>
                          <a:latin typeface="Arial" charset="0"/>
                        </a:rPr>
                        <a:t>-</a:t>
                      </a:r>
                      <a:r>
                        <a:rPr kumimoji="0" lang="en-US" sz="2600" b="0" i="0" u="none" strike="noStrike" cap="none" normalizeH="0" baseline="0" noProof="1">
                          <a:ln>
                            <a:noFill/>
                          </a:ln>
                          <a:solidFill>
                            <a:srgbClr val="000000"/>
                          </a:solidFill>
                          <a:effectLst/>
                          <a:latin typeface="Arial" charset="0"/>
                        </a:rPr>
                        <a:t> </a:t>
                      </a:r>
                      <a:r>
                        <a:rPr kumimoji="0" lang="en-US" sz="1400" b="0" i="0" u="none" strike="noStrike" cap="none" normalizeH="0" baseline="0" noProof="1">
                          <a:ln>
                            <a:noFill/>
                          </a:ln>
                          <a:solidFill>
                            <a:srgbClr val="000000"/>
                          </a:solidFill>
                          <a:effectLst/>
                          <a:latin typeface="Arial" charset="0"/>
                        </a:rPr>
                        <a:t>more dangereous (vancomycin)</a:t>
                      </a:r>
                      <a:endParaRPr kumimoji="0" lang="en-US" sz="1400" b="0" i="0" u="none" strike="noStrike" cap="none" normalizeH="0" baseline="0" dirty="0">
                        <a:ln>
                          <a:noFill/>
                        </a:ln>
                        <a:solidFill>
                          <a:srgbClr val="000000"/>
                        </a:solidFill>
                        <a:effectLst/>
                        <a:latin typeface="Arial" charset="0"/>
                      </a:endParaRPr>
                    </a:p>
                  </a:txBody>
                  <a:tcPr marT="45686" marB="4568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noProof="1">
                          <a:ln>
                            <a:noFill/>
                          </a:ln>
                          <a:solidFill>
                            <a:srgbClr val="000000"/>
                          </a:solidFill>
                          <a:effectLst/>
                          <a:latin typeface="Arial" charset="0"/>
                        </a:rPr>
                        <a:t>1-2 min</a:t>
                      </a:r>
                      <a:endParaRPr kumimoji="0" lang="en-US" sz="1400" b="1" i="0" u="none" strike="noStrike" cap="none" normalizeH="0" baseline="0">
                        <a:ln>
                          <a:noFill/>
                        </a:ln>
                        <a:solidFill>
                          <a:srgbClr val="000000"/>
                        </a:solidFill>
                        <a:effectLst/>
                        <a:latin typeface="Arial" charset="0"/>
                      </a:endParaRPr>
                    </a:p>
                  </a:txBody>
                  <a:tcPr marT="45686" marB="4568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09127">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1" i="0" u="none" strike="noStrike" cap="none" normalizeH="0" baseline="0" noProof="1">
                          <a:ln>
                            <a:noFill/>
                          </a:ln>
                          <a:solidFill>
                            <a:srgbClr val="000000"/>
                          </a:solidFill>
                          <a:effectLst/>
                          <a:latin typeface="Arial" charset="0"/>
                        </a:rPr>
                        <a:t>i n t r a m u s c u l</a:t>
                      </a:r>
                      <a:r>
                        <a:rPr kumimoji="0" lang="en-US" sz="2600" b="1" i="0" u="none" strike="noStrike" cap="none" normalizeH="0" baseline="0" noProof="1">
                          <a:ln>
                            <a:noFill/>
                          </a:ln>
                          <a:solidFill>
                            <a:srgbClr val="000000"/>
                          </a:solidFill>
                          <a:effectLst/>
                          <a:latin typeface="Arial" charset="0"/>
                        </a:rPr>
                        <a:t> </a:t>
                      </a:r>
                      <a:r>
                        <a:rPr kumimoji="0" lang="en-US" sz="1800" b="1" i="0" u="none" strike="noStrike" cap="none" normalizeH="0" baseline="0" noProof="1">
                          <a:ln>
                            <a:noFill/>
                          </a:ln>
                          <a:solidFill>
                            <a:srgbClr val="000000"/>
                          </a:solidFill>
                          <a:effectLst/>
                          <a:latin typeface="Arial" charset="0"/>
                        </a:rPr>
                        <a:t>a r</a:t>
                      </a:r>
                      <a:endParaRPr kumimoji="0" lang="en-US" sz="1800" b="1" i="0" u="none" strike="noStrike" cap="none" normalizeH="0" baseline="0">
                        <a:ln>
                          <a:noFill/>
                        </a:ln>
                        <a:solidFill>
                          <a:srgbClr val="000000"/>
                        </a:solidFill>
                        <a:effectLst/>
                        <a:latin typeface="Arial" charset="0"/>
                      </a:endParaRPr>
                    </a:p>
                    <a:p>
                      <a:pPr marL="0" marR="0" lvl="0" indent="0" algn="just"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noProof="1">
                          <a:ln>
                            <a:noFill/>
                          </a:ln>
                          <a:solidFill>
                            <a:srgbClr val="000000"/>
                          </a:solidFill>
                          <a:effectLst/>
                          <a:latin typeface="Arial" charset="0"/>
                        </a:rPr>
                        <a:t>- faster and more complete than per os, but in severe hypotension blood flow may be  low and i.m. absorption slow, incomplete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noProof="1">
                          <a:ln>
                            <a:noFill/>
                          </a:ln>
                          <a:solidFill>
                            <a:srgbClr val="000000"/>
                          </a:solidFill>
                          <a:effectLst/>
                          <a:latin typeface="Arial" charset="0"/>
                        </a:rPr>
                        <a:t>   - for larger size of particles (suspension), lipid soluble ones</a:t>
                      </a:r>
                      <a:endParaRPr kumimoji="0" lang="en-US" sz="1400" b="0" i="0" u="none" strike="noStrike" cap="none" normalizeH="0" baseline="0">
                        <a:ln>
                          <a:noFill/>
                        </a:ln>
                        <a:solidFill>
                          <a:srgbClr val="000000"/>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0" i="0" u="none" strike="noStrike" cap="none" normalizeH="0" baseline="0">
                          <a:ln>
                            <a:noFill/>
                          </a:ln>
                          <a:solidFill>
                            <a:schemeClr val="tx1"/>
                          </a:solidFill>
                          <a:effectLst/>
                          <a:latin typeface="Arial" charset="0"/>
                          <a:cs typeface="Arial" charset="0"/>
                        </a:rPr>
                        <a:t>( injection of depot preparations results in very slow absorption.)</a:t>
                      </a:r>
                    </a:p>
                  </a:txBody>
                  <a:tcPr marT="45686" marB="4568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noProof="1">
                          <a:ln>
                            <a:noFill/>
                          </a:ln>
                          <a:solidFill>
                            <a:srgbClr val="000000"/>
                          </a:solidFill>
                          <a:effectLst/>
                          <a:latin typeface="Arial" charset="0"/>
                        </a:rPr>
                        <a:t>10-15 min</a:t>
                      </a:r>
                      <a:endParaRPr kumimoji="0" lang="en-US" sz="1400" b="1" i="0" u="none" strike="noStrike" cap="none" normalizeH="0" baseline="0">
                        <a:ln>
                          <a:noFill/>
                        </a:ln>
                        <a:solidFill>
                          <a:srgbClr val="000000"/>
                        </a:solidFill>
                        <a:effectLst/>
                        <a:latin typeface="Arial" charset="0"/>
                      </a:endParaRPr>
                    </a:p>
                  </a:txBody>
                  <a:tcPr marT="45686" marB="4568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0759">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noProof="1">
                          <a:ln>
                            <a:noFill/>
                          </a:ln>
                          <a:solidFill>
                            <a:srgbClr val="000000"/>
                          </a:solidFill>
                          <a:effectLst/>
                          <a:latin typeface="Arial" charset="0"/>
                        </a:rPr>
                        <a:t>s u b c u t a n e o u s</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1400" b="0" i="0" u="none" strike="noStrike" cap="none" normalizeH="0" baseline="0" dirty="0">
                        <a:ln>
                          <a:noFill/>
                        </a:ln>
                        <a:solidFill>
                          <a:schemeClr val="tx1"/>
                        </a:solidFill>
                        <a:effectLst/>
                        <a:latin typeface="Arial" charset="0"/>
                      </a:endParaRPr>
                    </a:p>
                  </a:txBody>
                  <a:tcPr marT="45686" marB="4568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noProof="1">
                          <a:ln>
                            <a:noFill/>
                          </a:ln>
                          <a:solidFill>
                            <a:srgbClr val="000000"/>
                          </a:solidFill>
                          <a:effectLst/>
                          <a:latin typeface="Arial" charset="0"/>
                        </a:rPr>
                        <a:t>20 min</a:t>
                      </a:r>
                      <a:endParaRPr kumimoji="0" lang="en-US" sz="1400" b="1" i="0" u="none" strike="noStrike" cap="none" normalizeH="0" baseline="0" dirty="0">
                        <a:ln>
                          <a:noFill/>
                        </a:ln>
                        <a:solidFill>
                          <a:srgbClr val="000000"/>
                        </a:solidFill>
                        <a:effectLst/>
                        <a:latin typeface="Arial" charset="0"/>
                      </a:endParaRPr>
                    </a:p>
                  </a:txBody>
                  <a:tcPr marT="45686" marB="4568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763391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199" y="704850"/>
            <a:ext cx="8052955" cy="552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a:solidFill>
                  <a:srgbClr val="000000"/>
                </a:solidFill>
                <a:latin typeface="Arial"/>
                <a:sym typeface="Arial"/>
              </a:rPr>
              <a:t>Epidural</a:t>
            </a:r>
            <a:r>
              <a:rPr lang="en-US" sz="2800" kern="0" dirty="0">
                <a:solidFill>
                  <a:srgbClr val="000000"/>
                </a:solidFill>
                <a:latin typeface="Arial"/>
                <a:sym typeface="Arial"/>
              </a:rPr>
              <a:t>: between dura matter and brain</a:t>
            </a:r>
          </a:p>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a:solidFill>
                  <a:srgbClr val="000000"/>
                </a:solidFill>
                <a:latin typeface="Arial"/>
                <a:sym typeface="Arial"/>
              </a:rPr>
              <a:t>Intra-articular</a:t>
            </a:r>
            <a:r>
              <a:rPr lang="en-US" sz="2800" kern="0" dirty="0">
                <a:solidFill>
                  <a:srgbClr val="000000"/>
                </a:solidFill>
                <a:latin typeface="Arial"/>
                <a:sym typeface="Arial"/>
              </a:rPr>
              <a:t>: into a joint</a:t>
            </a:r>
          </a:p>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a:solidFill>
                  <a:srgbClr val="000000"/>
                </a:solidFill>
                <a:latin typeface="Arial"/>
                <a:sym typeface="Arial"/>
              </a:rPr>
              <a:t>Intracerebral</a:t>
            </a:r>
            <a:r>
              <a:rPr lang="en-US" sz="2800" kern="0" dirty="0">
                <a:solidFill>
                  <a:srgbClr val="000000"/>
                </a:solidFill>
                <a:latin typeface="Arial"/>
                <a:sym typeface="Arial"/>
              </a:rPr>
              <a:t>: directly into the brain</a:t>
            </a:r>
          </a:p>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a:solidFill>
                  <a:srgbClr val="000000"/>
                </a:solidFill>
                <a:latin typeface="Arial"/>
                <a:sym typeface="Arial"/>
              </a:rPr>
              <a:t>Intraperitoneal</a:t>
            </a:r>
            <a:r>
              <a:rPr lang="en-US" sz="2800" kern="0" dirty="0">
                <a:solidFill>
                  <a:srgbClr val="000000"/>
                </a:solidFill>
                <a:latin typeface="Arial"/>
                <a:sym typeface="Arial"/>
              </a:rPr>
              <a:t>: peritoneal cavity</a:t>
            </a:r>
          </a:p>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err="1">
                <a:solidFill>
                  <a:srgbClr val="000000"/>
                </a:solidFill>
                <a:latin typeface="Arial"/>
                <a:sym typeface="Arial"/>
              </a:rPr>
              <a:t>Intraarterial</a:t>
            </a:r>
            <a:r>
              <a:rPr lang="en-US" sz="2800" kern="0" dirty="0">
                <a:solidFill>
                  <a:srgbClr val="000000"/>
                </a:solidFill>
                <a:latin typeface="Arial"/>
                <a:sym typeface="Arial"/>
              </a:rPr>
              <a:t>: into arteries</a:t>
            </a:r>
          </a:p>
          <a:p>
            <a:pPr lvl="0" defTabSz="914400" eaLnBrk="1" fontAlgn="auto" hangingPunct="1">
              <a:lnSpc>
                <a:spcPct val="150000"/>
              </a:lnSpc>
              <a:spcBef>
                <a:spcPts val="0"/>
              </a:spcBef>
              <a:spcAft>
                <a:spcPts val="0"/>
              </a:spcAft>
              <a:buFont typeface="Wingdings" panose="05000000000000000000" pitchFamily="2" charset="2"/>
              <a:buChar char="§"/>
            </a:pPr>
            <a:r>
              <a:rPr lang="en-US" sz="2800" b="1" kern="0" dirty="0">
                <a:solidFill>
                  <a:srgbClr val="000000"/>
                </a:solidFill>
                <a:latin typeface="Arial"/>
                <a:sym typeface="Arial"/>
              </a:rPr>
              <a:t>Intraosseous</a:t>
            </a:r>
            <a:r>
              <a:rPr lang="en-US" sz="2800" kern="0" dirty="0">
                <a:solidFill>
                  <a:srgbClr val="000000"/>
                </a:solidFill>
                <a:latin typeface="Arial"/>
                <a:sym typeface="Arial"/>
              </a:rPr>
              <a:t>: into bones</a:t>
            </a:r>
          </a:p>
          <a:p>
            <a:pPr marL="2657475" lvl="6" indent="0" defTabSz="914400" fontAlgn="auto">
              <a:lnSpc>
                <a:spcPct val="150000"/>
              </a:lnSpc>
              <a:spcBef>
                <a:spcPts val="0"/>
              </a:spcBef>
              <a:spcAft>
                <a:spcPts val="0"/>
              </a:spcAft>
              <a:buNone/>
            </a:pPr>
            <a:r>
              <a:rPr kumimoji="0" lang="en-US" altLang="en-US" sz="2200" b="1" i="0" u="none" strike="noStrike" kern="0" cap="none" spc="0" normalizeH="0" baseline="0" noProof="0" dirty="0">
                <a:ln>
                  <a:noFill/>
                </a:ln>
                <a:solidFill>
                  <a:srgbClr val="00B050"/>
                </a:solidFill>
                <a:effectLst/>
                <a:uLnTx/>
                <a:uFillTx/>
                <a:latin typeface="Arial"/>
                <a:ea typeface="MS PGothic" pitchFamily="34" charset="-128"/>
                <a:cs typeface="+mn-cs"/>
                <a:sym typeface="Arial"/>
              </a:rPr>
              <a:t>Assignment </a:t>
            </a:r>
            <a:endParaRPr kumimoji="0" lang="en-US" altLang="en-US" sz="1800" b="1" i="0" u="none" strike="noStrike" kern="0" cap="none" spc="0" normalizeH="0" baseline="0" noProof="0" dirty="0">
              <a:ln>
                <a:noFill/>
              </a:ln>
              <a:solidFill>
                <a:srgbClr val="00B05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lang="en-US" altLang="en-US" sz="1600" kern="0" dirty="0">
                <a:solidFill>
                  <a:srgbClr val="000000"/>
                </a:solidFill>
                <a:latin typeface="Arial"/>
              </a:rPr>
              <a:t>Differentiate between Prodrugs (Carrier-linked, </a:t>
            </a:r>
            <a:r>
              <a:rPr lang="en-US" altLang="en-US" sz="1600" kern="0" dirty="0" err="1">
                <a:solidFill>
                  <a:srgbClr val="000000"/>
                </a:solidFill>
                <a:latin typeface="Arial"/>
              </a:rPr>
              <a:t>Bioprecursor</a:t>
            </a:r>
            <a:r>
              <a:rPr lang="en-US" altLang="en-US" sz="1600" kern="0" dirty="0">
                <a:solidFill>
                  <a:srgbClr val="000000"/>
                </a:solidFill>
                <a:latin typeface="Arial"/>
              </a:rPr>
              <a:t> and </a:t>
            </a:r>
            <a:r>
              <a:rPr lang="en-US" altLang="en-US" sz="1600" kern="0" dirty="0" err="1">
                <a:solidFill>
                  <a:srgbClr val="000000"/>
                </a:solidFill>
                <a:latin typeface="Arial"/>
              </a:rPr>
              <a:t>Codrug</a:t>
            </a:r>
            <a:r>
              <a:rPr lang="en-US" altLang="en-US" sz="1600" kern="0" dirty="0">
                <a:solidFill>
                  <a:srgbClr val="000000"/>
                </a:solidFill>
                <a:latin typeface="Arial"/>
              </a:rPr>
              <a:t>) and  </a:t>
            </a:r>
            <a:r>
              <a:rPr lang="en-US" altLang="en-US" sz="1600" kern="0" dirty="0" err="1">
                <a:solidFill>
                  <a:srgbClr val="000000"/>
                </a:solidFill>
                <a:latin typeface="Arial"/>
              </a:rPr>
              <a:t>Antedrugs</a:t>
            </a:r>
            <a:r>
              <a:rPr lang="en-US" altLang="en-US" sz="1600" kern="0" dirty="0">
                <a:solidFill>
                  <a:srgbClr val="000000"/>
                </a:solidFill>
                <a:latin typeface="Arial"/>
              </a:rPr>
              <a:t>. </a:t>
            </a: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1600" b="0" i="0" u="none" strike="noStrike" kern="0" cap="none" spc="0" normalizeH="0" baseline="0" noProof="0" dirty="0">
                <a:ln>
                  <a:noFill/>
                </a:ln>
                <a:solidFill>
                  <a:srgbClr val="000000"/>
                </a:solidFill>
                <a:effectLst/>
                <a:uLnTx/>
                <a:uFillTx/>
                <a:latin typeface="Arial"/>
              </a:rPr>
              <a:t>What is the rationale for drug coating? – Enteric, Sugar and Film coating.</a:t>
            </a:r>
          </a:p>
          <a:p>
            <a:pPr marL="0" marR="0" lvl="0" indent="0" algn="l" defTabSz="914400" rtl="0" eaLnBrk="1" fontAlgn="base" latinLnBrk="0" hangingPunct="1">
              <a:lnSpc>
                <a:spcPct val="100000"/>
              </a:lnSpc>
              <a:spcBef>
                <a:spcPct val="20000"/>
              </a:spcBef>
              <a:spcAft>
                <a:spcPct val="0"/>
              </a:spcAft>
              <a:buClrTx/>
              <a:buSzTx/>
              <a:buNone/>
              <a:tabLst/>
              <a:defRPr/>
            </a:pPr>
            <a:r>
              <a:rPr lang="en-US" altLang="en-US" sz="2400" kern="0" noProof="0" dirty="0">
                <a:solidFill>
                  <a:srgbClr val="000000"/>
                </a:solidFill>
                <a:latin typeface="Arial"/>
              </a:rPr>
              <a:t> </a:t>
            </a: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Title 1"/>
          <p:cNvSpPr txBox="1">
            <a:spLocks/>
          </p:cNvSpPr>
          <p:nvPr/>
        </p:nvSpPr>
        <p:spPr>
          <a:xfrm>
            <a:off x="410440" y="234032"/>
            <a:ext cx="8229600" cy="64919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790575" lvl="1" indent="-314325" algn="ctr" defTabSz="914400" fontAlgn="base">
              <a:spcBef>
                <a:spcPct val="20000"/>
              </a:spcBef>
              <a:spcAft>
                <a:spcPct val="0"/>
              </a:spcAft>
              <a:defRPr/>
            </a:pPr>
            <a:r>
              <a:rPr lang="en-US" sz="3200" b="1" dirty="0">
                <a:solidFill>
                  <a:srgbClr val="00B050"/>
                </a:solidFill>
              </a:rPr>
              <a:t>OTHER ROUTES</a:t>
            </a:r>
          </a:p>
          <a:p>
            <a:pPr marL="790575" lvl="1" indent="-314325" algn="ctr" defTabSz="914400" rtl="0" fontAlgn="base">
              <a:spcBef>
                <a:spcPct val="20000"/>
              </a:spcBef>
              <a:spcAft>
                <a:spcPct val="0"/>
              </a:spcAft>
              <a:defRPr/>
            </a:pPr>
            <a:br>
              <a:rPr lang="en-US" altLang="en-US" sz="2800" kern="0" dirty="0">
                <a:solidFill>
                  <a:srgbClr val="00B050"/>
                </a:solidFill>
                <a:latin typeface="Arial"/>
                <a:ea typeface="MS PGothic" pitchFamily="34" charset="-128"/>
                <a:cs typeface="+mn-cs"/>
              </a:rPr>
            </a:br>
            <a:endParaRPr lang="en-US" sz="2400" kern="0" dirty="0">
              <a:solidFill>
                <a:srgbClr val="00B050"/>
              </a:solidFill>
            </a:endParaRPr>
          </a:p>
        </p:txBody>
      </p:sp>
    </p:spTree>
    <p:extLst>
      <p:ext uri="{BB962C8B-B14F-4D97-AF65-F5344CB8AC3E}">
        <p14:creationId xmlns:p14="http://schemas.microsoft.com/office/powerpoint/2010/main" val="911622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336357" y="57057"/>
            <a:ext cx="7772400" cy="745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sz="2800" kern="0" dirty="0">
                <a:solidFill>
                  <a:srgbClr val="000000"/>
                </a:solidFill>
                <a:cs typeface="Arial" panose="020B0604020202020204" pitchFamily="34" charset="0"/>
              </a:rPr>
              <a:t>Summary: Factors affecting oral absorption</a:t>
            </a:r>
          </a:p>
        </p:txBody>
      </p:sp>
      <p:sp>
        <p:nvSpPr>
          <p:cNvPr id="4" name="Rectangle 3"/>
          <p:cNvSpPr txBox="1">
            <a:spLocks noChangeArrowheads="1"/>
          </p:cNvSpPr>
          <p:nvPr/>
        </p:nvSpPr>
        <p:spPr bwMode="auto">
          <a:xfrm>
            <a:off x="707640" y="1151026"/>
            <a:ext cx="7029835" cy="5901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Disintegration of dosage form </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Dissolution of particles</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Chemical stability of drug</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Stability of drug to enzymes </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Motility and mixing in GI tract</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Presence and type of food</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Passage across GI tract wall </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Blood flow to GI tract</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Gastric emptying time </a:t>
            </a:r>
          </a:p>
          <a:p>
            <a:pPr marL="314325" marR="0" lvl="0" indent="-314325"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FORMULATION</a:t>
            </a:r>
          </a:p>
          <a:p>
            <a:pPr marL="0" marR="0" lvl="0" indent="0" algn="l" defTabSz="914400" rtl="0" eaLnBrk="1" fontAlgn="base" latinLnBrk="0" hangingPunct="1">
              <a:lnSpc>
                <a:spcPct val="90000"/>
              </a:lnSpc>
              <a:spcBef>
                <a:spcPct val="20000"/>
              </a:spcBef>
              <a:spcAft>
                <a:spcPct val="0"/>
              </a:spcAft>
              <a:buClrTx/>
              <a:buSz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Tree>
    <p:extLst>
      <p:ext uri="{BB962C8B-B14F-4D97-AF65-F5344CB8AC3E}">
        <p14:creationId xmlns:p14="http://schemas.microsoft.com/office/powerpoint/2010/main" val="26205031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bwMode="auto">
          <a:xfrm>
            <a:off x="805070" y="2535352"/>
            <a:ext cx="7543800" cy="83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algn="ctr" defTabSz="914400" eaLnBrk="1" hangingPunct="1"/>
            <a:r>
              <a:rPr lang="en-US" altLang="en-US" sz="5400" kern="0" dirty="0">
                <a:solidFill>
                  <a:srgbClr val="00B050"/>
                </a:solidFill>
                <a:latin typeface="Bradley Hand ITC" panose="03070402050302030203" pitchFamily="66" charset="0"/>
              </a:rPr>
              <a:t>DRUG DISTRIBUTION</a:t>
            </a:r>
          </a:p>
        </p:txBody>
      </p:sp>
      <p:sp>
        <p:nvSpPr>
          <p:cNvPr id="4" name="Rectangle 3"/>
          <p:cNvSpPr/>
          <p:nvPr/>
        </p:nvSpPr>
        <p:spPr>
          <a:xfrm>
            <a:off x="3802611" y="3258872"/>
            <a:ext cx="2793358" cy="646331"/>
          </a:xfrm>
          <a:prstGeom prst="rect">
            <a:avLst/>
          </a:prstGeom>
        </p:spPr>
        <p:txBody>
          <a:bodyPr wrap="square">
            <a:spAutoFit/>
          </a:bodyPr>
          <a:lstStyle/>
          <a:p>
            <a:pPr lvl="0"/>
            <a:r>
              <a:rPr lang="en-US" sz="3600" b="1" kern="0" dirty="0">
                <a:latin typeface="Agency FB" panose="020B0503020202020204" pitchFamily="34" charset="0"/>
                <a:ea typeface="MS PGothic" pitchFamily="34" charset="-128"/>
                <a:cs typeface="+mj-cs"/>
              </a:rPr>
              <a:t>A</a:t>
            </a:r>
            <a:r>
              <a:rPr lang="en-US" sz="3600" b="1" kern="0" dirty="0">
                <a:solidFill>
                  <a:srgbClr val="00B050"/>
                </a:solidFill>
                <a:latin typeface="Agency FB" panose="020B0503020202020204" pitchFamily="34" charset="0"/>
                <a:ea typeface="MS PGothic" pitchFamily="34" charset="-128"/>
                <a:cs typeface="+mj-cs"/>
              </a:rPr>
              <a:t>D</a:t>
            </a:r>
            <a:r>
              <a:rPr lang="en-US" sz="3600" b="1" kern="0" dirty="0">
                <a:latin typeface="Agency FB" panose="020B0503020202020204" pitchFamily="34" charset="0"/>
                <a:ea typeface="MS PGothic" pitchFamily="34" charset="-128"/>
                <a:cs typeface="+mj-cs"/>
              </a:rPr>
              <a:t>ME</a:t>
            </a:r>
          </a:p>
        </p:txBody>
      </p:sp>
    </p:spTree>
    <p:extLst>
      <p:ext uri="{BB962C8B-B14F-4D97-AF65-F5344CB8AC3E}">
        <p14:creationId xmlns:p14="http://schemas.microsoft.com/office/powerpoint/2010/main" val="372267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68" decel="100000"/>
                                        <p:tgtEl>
                                          <p:spTgt spid="3"/>
                                        </p:tgtEl>
                                      </p:cBhvr>
                                    </p:animEffect>
                                    <p:animScale>
                                      <p:cBhvr>
                                        <p:cTn id="8" dur="768" decel="100000"/>
                                        <p:tgtEl>
                                          <p:spTgt spid="3"/>
                                        </p:tgtEl>
                                      </p:cBhvr>
                                      <p:from x="10000" y="10000"/>
                                      <p:to x="200000" y="450000"/>
                                    </p:animScale>
                                    <p:animScale>
                                      <p:cBhvr>
                                        <p:cTn id="9" dur="1230" accel="100000" fill="hold">
                                          <p:stCondLst>
                                            <p:cond delay="768"/>
                                          </p:stCondLst>
                                        </p:cTn>
                                        <p:tgtEl>
                                          <p:spTgt spid="3"/>
                                        </p:tgtEl>
                                      </p:cBhvr>
                                      <p:from x="200000" y="450000"/>
                                      <p:to x="100000" y="100000"/>
                                    </p:animScale>
                                    <p:set>
                                      <p:cBhvr>
                                        <p:cTn id="10" dur="768" fill="hold"/>
                                        <p:tgtEl>
                                          <p:spTgt spid="3"/>
                                        </p:tgtEl>
                                        <p:attrNameLst>
                                          <p:attrName>ppt_x</p:attrName>
                                        </p:attrNameLst>
                                      </p:cBhvr>
                                      <p:to>
                                        <p:strVal val="(0.5)"/>
                                      </p:to>
                                    </p:set>
                                    <p:anim from="(0.5)" to="(#ppt_x)" calcmode="lin" valueType="num">
                                      <p:cBhvr>
                                        <p:cTn id="11" dur="1230" accel="100000" fill="hold">
                                          <p:stCondLst>
                                            <p:cond delay="768"/>
                                          </p:stCondLst>
                                        </p:cTn>
                                        <p:tgtEl>
                                          <p:spTgt spid="3"/>
                                        </p:tgtEl>
                                        <p:attrNameLst>
                                          <p:attrName>ppt_x</p:attrName>
                                        </p:attrNameLst>
                                      </p:cBhvr>
                                    </p:anim>
                                    <p:set>
                                      <p:cBhvr>
                                        <p:cTn id="12" dur="768" fill="hold"/>
                                        <p:tgtEl>
                                          <p:spTgt spid="3"/>
                                        </p:tgtEl>
                                        <p:attrNameLst>
                                          <p:attrName>ppt_y</p:attrName>
                                        </p:attrNameLst>
                                      </p:cBhvr>
                                      <p:to>
                                        <p:strVal val="(#ppt_y+0.4)"/>
                                      </p:to>
                                    </p:set>
                                    <p:anim from="(#ppt_y+0.4)" to="(#ppt_y)" calcmode="lin" valueType="num">
                                      <p:cBhvr>
                                        <p:cTn id="13" dur="1230" accel="100000" fill="hold">
                                          <p:stCondLst>
                                            <p:cond delay="768"/>
                                          </p:stCondLst>
                                        </p:cTn>
                                        <p:tgtEl>
                                          <p:spTgt spid="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533400" y="38100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altLang="en-US" sz="3500" b="0" i="0" u="none" strike="noStrike" kern="0" cap="none" spc="0" normalizeH="0" baseline="0" noProof="0" dirty="0">
                <a:ln>
                  <a:noFill/>
                </a:ln>
                <a:solidFill>
                  <a:srgbClr val="00B050"/>
                </a:solidFill>
                <a:effectLst/>
                <a:uLnTx/>
                <a:uFillTx/>
                <a:latin typeface="Arial"/>
                <a:ea typeface="MS PGothic" pitchFamily="34" charset="-128"/>
                <a:cs typeface="+mj-cs"/>
              </a:rPr>
            </a:br>
            <a:r>
              <a:rPr kumimoji="0" lang="en-US" altLang="en-US" sz="3500" b="0" i="0" u="none" strike="noStrike" kern="0" cap="none" spc="0" normalizeH="0" baseline="0" noProof="0" dirty="0">
                <a:ln>
                  <a:noFill/>
                </a:ln>
                <a:solidFill>
                  <a:srgbClr val="00B050"/>
                </a:solidFill>
                <a:effectLst/>
                <a:uLnTx/>
                <a:uFillTx/>
                <a:latin typeface="Bradley Hand ITC" panose="03070402050302030203" pitchFamily="66" charset="0"/>
                <a:ea typeface="MS PGothic" pitchFamily="34" charset="-128"/>
                <a:cs typeface="+mj-cs"/>
              </a:rPr>
              <a:t>DRUG DISTRIBUTION</a:t>
            </a:r>
            <a:endParaRPr kumimoji="0" lang="en-US" altLang="en-US" sz="3500" b="0" i="0" u="none" strike="noStrike" kern="0" cap="none" spc="0" normalizeH="0" baseline="0" noProof="0" dirty="0">
              <a:ln>
                <a:noFill/>
              </a:ln>
              <a:solidFill>
                <a:srgbClr val="00B050"/>
              </a:solidFill>
              <a:effectLst/>
              <a:uLnTx/>
              <a:uFillTx/>
              <a:latin typeface="Arial"/>
              <a:ea typeface="MS PGothic" pitchFamily="34" charset="-128"/>
              <a:cs typeface="+mj-cs"/>
            </a:endParaRPr>
          </a:p>
        </p:txBody>
      </p:sp>
      <p:sp>
        <p:nvSpPr>
          <p:cNvPr id="4" name="Rectangle 3"/>
          <p:cNvSpPr txBox="1">
            <a:spLocks noChangeArrowheads="1"/>
          </p:cNvSpPr>
          <p:nvPr/>
        </p:nvSpPr>
        <p:spPr bwMode="auto">
          <a:xfrm>
            <a:off x="569768" y="1087581"/>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just"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Once the drug enters the blood stream, it may be distributed into the body fluids (body water). </a:t>
            </a:r>
          </a:p>
          <a:p>
            <a:pPr marL="0" marR="0" lvl="0" indent="0" algn="just"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just"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The extent of distribution depends on:</a:t>
            </a:r>
          </a:p>
          <a:p>
            <a:pPr marL="790575" marR="0" lvl="1"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Regional blood flow.</a:t>
            </a:r>
          </a:p>
          <a:p>
            <a:pPr marL="790575" marR="0" lvl="1"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Drug Binding to plasma proteins (macromolecules in blood or tissues)</a:t>
            </a:r>
          </a:p>
          <a:p>
            <a:pPr marL="790575" marR="0" lvl="1"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Partition co-efficient into fatty tissues (lipid solubility).</a:t>
            </a:r>
          </a:p>
          <a:p>
            <a:pPr marL="790575" marR="0" lvl="1"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The </a:t>
            </a:r>
            <a:r>
              <a:rPr kumimoji="0" lang="en-US" altLang="en-US" sz="2800" b="0" i="0" u="none" strike="noStrike" kern="0" cap="none" spc="0" normalizeH="0" baseline="0" noProof="0" dirty="0" err="1">
                <a:ln>
                  <a:noFill/>
                </a:ln>
                <a:solidFill>
                  <a:srgbClr val="000000"/>
                </a:solidFill>
                <a:effectLst/>
                <a:uLnTx/>
                <a:uFillTx/>
                <a:latin typeface="Arial"/>
                <a:ea typeface="MS PGothic" pitchFamily="34" charset="-128"/>
              </a:rPr>
              <a:t>pKa</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 of the drug</a:t>
            </a:r>
          </a:p>
          <a:p>
            <a:pPr marL="790575" marR="0" lvl="1"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Size of the organs (tissues)</a:t>
            </a:r>
          </a:p>
          <a:p>
            <a:pPr marL="0" marR="0" lvl="0" indent="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endParaRPr kumimoji="0" lang="en-US" altLang="en-US" sz="2800" b="0" i="1"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endParaRPr>
          </a:p>
        </p:txBody>
      </p:sp>
    </p:spTree>
    <p:extLst>
      <p:ext uri="{BB962C8B-B14F-4D97-AF65-F5344CB8AC3E}">
        <p14:creationId xmlns:p14="http://schemas.microsoft.com/office/powerpoint/2010/main" val="13053106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9648"/>
          </a:xfrm>
        </p:spPr>
        <p:txBody>
          <a:bodyPr/>
          <a:lstStyle/>
          <a:p>
            <a:r>
              <a:rPr lang="en-US" sz="4000" dirty="0">
                <a:solidFill>
                  <a:srgbClr val="00B050"/>
                </a:solidFill>
              </a:rPr>
              <a:t>Factors Influencing Drug distribution</a:t>
            </a:r>
          </a:p>
        </p:txBody>
      </p:sp>
      <p:sp>
        <p:nvSpPr>
          <p:cNvPr id="3" name="Text Placeholder 2"/>
          <p:cNvSpPr txBox="1">
            <a:spLocks/>
          </p:cNvSpPr>
          <p:nvPr/>
        </p:nvSpPr>
        <p:spPr>
          <a:xfrm>
            <a:off x="614975" y="1843108"/>
            <a:ext cx="3185400" cy="266096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a:solidFill>
                  <a:schemeClr val="accent6">
                    <a:lumMod val="10000"/>
                  </a:schemeClr>
                </a:solidFill>
                <a:latin typeface="Garamond" panose="02020404030301010803" pitchFamily="18" charset="0"/>
              </a:rPr>
              <a:t>Lipid solubility</a:t>
            </a:r>
          </a:p>
          <a:p>
            <a:r>
              <a:rPr lang="en-US" sz="2400">
                <a:solidFill>
                  <a:schemeClr val="accent6">
                    <a:lumMod val="10000"/>
                  </a:schemeClr>
                </a:solidFill>
                <a:latin typeface="Garamond" panose="02020404030301010803" pitchFamily="18" charset="0"/>
              </a:rPr>
              <a:t>Molecular size</a:t>
            </a:r>
          </a:p>
          <a:p>
            <a:r>
              <a:rPr lang="en-US" sz="2400">
                <a:solidFill>
                  <a:schemeClr val="accent6">
                    <a:lumMod val="10000"/>
                  </a:schemeClr>
                </a:solidFill>
                <a:latin typeface="Garamond" panose="02020404030301010803" pitchFamily="18" charset="0"/>
              </a:rPr>
              <a:t>Degree of Ionization</a:t>
            </a:r>
            <a:endParaRPr lang="en-US" sz="2400" dirty="0">
              <a:solidFill>
                <a:schemeClr val="accent6">
                  <a:lumMod val="10000"/>
                </a:schemeClr>
              </a:solidFill>
              <a:latin typeface="Garamond" panose="02020404030301010803" pitchFamily="18" charset="0"/>
            </a:endParaRPr>
          </a:p>
        </p:txBody>
      </p:sp>
      <p:sp>
        <p:nvSpPr>
          <p:cNvPr id="4" name="Text Placeholder 3"/>
          <p:cNvSpPr txBox="1">
            <a:spLocks/>
          </p:cNvSpPr>
          <p:nvPr/>
        </p:nvSpPr>
        <p:spPr>
          <a:xfrm>
            <a:off x="4190112" y="1843108"/>
            <a:ext cx="3469016" cy="266096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a:solidFill>
                  <a:schemeClr val="accent6">
                    <a:lumMod val="10000"/>
                  </a:schemeClr>
                </a:solidFill>
                <a:latin typeface="Garamond" panose="02020404030301010803" pitchFamily="18" charset="0"/>
              </a:rPr>
              <a:t>Vascularity</a:t>
            </a:r>
          </a:p>
          <a:p>
            <a:r>
              <a:rPr lang="en-US" sz="2400">
                <a:solidFill>
                  <a:schemeClr val="accent6">
                    <a:lumMod val="10000"/>
                  </a:schemeClr>
                </a:solidFill>
                <a:latin typeface="Garamond" panose="02020404030301010803" pitchFamily="18" charset="0"/>
              </a:rPr>
              <a:t>Volume of distribution</a:t>
            </a:r>
          </a:p>
          <a:p>
            <a:r>
              <a:rPr lang="en-US" sz="2400">
                <a:solidFill>
                  <a:schemeClr val="accent6">
                    <a:lumMod val="10000"/>
                  </a:schemeClr>
                </a:solidFill>
                <a:latin typeface="Garamond" panose="02020404030301010803" pitchFamily="18" charset="0"/>
              </a:rPr>
              <a:t>Protein/ Tissue binding</a:t>
            </a:r>
          </a:p>
          <a:p>
            <a:r>
              <a:rPr lang="en-US" sz="2400">
                <a:solidFill>
                  <a:schemeClr val="accent6">
                    <a:lumMod val="10000"/>
                  </a:schemeClr>
                </a:solidFill>
                <a:latin typeface="Garamond" panose="02020404030301010803" pitchFamily="18" charset="0"/>
              </a:rPr>
              <a:t>Barriers</a:t>
            </a:r>
          </a:p>
          <a:p>
            <a:r>
              <a:rPr lang="en-US" sz="2400">
                <a:solidFill>
                  <a:schemeClr val="accent6">
                    <a:lumMod val="10000"/>
                  </a:schemeClr>
                </a:solidFill>
                <a:latin typeface="Garamond" panose="02020404030301010803" pitchFamily="18" charset="0"/>
              </a:rPr>
              <a:t>Disease states</a:t>
            </a:r>
          </a:p>
          <a:p>
            <a:r>
              <a:rPr lang="en-US" sz="2400">
                <a:solidFill>
                  <a:schemeClr val="accent6">
                    <a:lumMod val="10000"/>
                  </a:schemeClr>
                </a:solidFill>
                <a:latin typeface="Garamond" panose="02020404030301010803" pitchFamily="18" charset="0"/>
              </a:rPr>
              <a:t>Drug reservoirs</a:t>
            </a:r>
            <a:endParaRPr lang="en-US" sz="2400" dirty="0">
              <a:solidFill>
                <a:schemeClr val="accent6">
                  <a:lumMod val="10000"/>
                </a:schemeClr>
              </a:solidFill>
              <a:latin typeface="Garamond" panose="02020404030301010803" pitchFamily="18" charset="0"/>
            </a:endParaRPr>
          </a:p>
        </p:txBody>
      </p:sp>
      <p:sp>
        <p:nvSpPr>
          <p:cNvPr id="5" name="TextBox 4"/>
          <p:cNvSpPr txBox="1"/>
          <p:nvPr/>
        </p:nvSpPr>
        <p:spPr>
          <a:xfrm>
            <a:off x="552450" y="1381442"/>
            <a:ext cx="2899099" cy="461665"/>
          </a:xfrm>
          <a:prstGeom prst="rect">
            <a:avLst/>
          </a:prstGeom>
          <a:noFill/>
        </p:spPr>
        <p:txBody>
          <a:bodyPr wrap="square" rtlCol="0">
            <a:spAutoFit/>
          </a:bodyPr>
          <a:lstStyle/>
          <a:p>
            <a:pPr algn="ctr"/>
            <a:r>
              <a:rPr lang="en-US" sz="2400" b="1" dirty="0">
                <a:solidFill>
                  <a:srgbClr val="00B050"/>
                </a:solidFill>
                <a:latin typeface="+mj-lt"/>
                <a:ea typeface="+mj-ea"/>
                <a:cs typeface="+mj-cs"/>
              </a:rPr>
              <a:t>Drug Related factors</a:t>
            </a:r>
          </a:p>
        </p:txBody>
      </p:sp>
      <p:sp>
        <p:nvSpPr>
          <p:cNvPr id="6" name="TextBox 5"/>
          <p:cNvSpPr txBox="1"/>
          <p:nvPr/>
        </p:nvSpPr>
        <p:spPr>
          <a:xfrm>
            <a:off x="4190112" y="1354917"/>
            <a:ext cx="2896309" cy="461665"/>
          </a:xfrm>
          <a:prstGeom prst="rect">
            <a:avLst/>
          </a:prstGeom>
          <a:noFill/>
        </p:spPr>
        <p:txBody>
          <a:bodyPr wrap="square" rtlCol="0">
            <a:spAutoFit/>
          </a:bodyPr>
          <a:lstStyle/>
          <a:p>
            <a:pPr algn="ctr"/>
            <a:r>
              <a:rPr lang="en-US" sz="2400" b="1" dirty="0">
                <a:solidFill>
                  <a:srgbClr val="00B050"/>
                </a:solidFill>
                <a:latin typeface="+mj-lt"/>
                <a:ea typeface="+mj-ea"/>
                <a:cs typeface="+mj-cs"/>
              </a:rPr>
              <a:t>Body related factors</a:t>
            </a:r>
          </a:p>
        </p:txBody>
      </p:sp>
    </p:spTree>
    <p:extLst>
      <p:ext uri="{BB962C8B-B14F-4D97-AF65-F5344CB8AC3E}">
        <p14:creationId xmlns:p14="http://schemas.microsoft.com/office/powerpoint/2010/main" val="3418332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3291"/>
            <a:ext cx="9144000" cy="5124017"/>
          </a:xfrm>
          <a:prstGeom prst="rect">
            <a:avLst/>
          </a:prstGeom>
        </p:spPr>
      </p:pic>
    </p:spTree>
    <p:extLst>
      <p:ext uri="{BB962C8B-B14F-4D97-AF65-F5344CB8AC3E}">
        <p14:creationId xmlns:p14="http://schemas.microsoft.com/office/powerpoint/2010/main" val="19429436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318366" y="2008188"/>
            <a:ext cx="835660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 Central compartment</a:t>
            </a:r>
          </a:p>
          <a:p>
            <a:pPr marL="314325" marR="0" lvl="0" indent="-314325" algn="l" defTabSz="914400" rtl="0" eaLnBrk="1" fontAlgn="base" latinLnBrk="0" hangingPunct="1">
              <a:lnSpc>
                <a:spcPct val="100000"/>
              </a:lnSpc>
              <a:spcBef>
                <a:spcPct val="20000"/>
              </a:spcBef>
              <a:spcAft>
                <a:spcPct val="0"/>
              </a:spcAft>
              <a:buClrTx/>
              <a:buSzTx/>
              <a:buFontTx/>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-(major organs &amp; blood vessels) </a:t>
            </a: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low lipid solubility (hydrophilic)</a:t>
            </a: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low volume of distribution (low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Vd</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a:t>
            </a:r>
          </a:p>
          <a:p>
            <a:pPr marL="314325" marR="0" lvl="0" indent="-314325" algn="l" defTabSz="914400" rtl="0" eaLnBrk="1" fontAlgn="base" latinLnBrk="0" hangingPunct="1">
              <a:lnSpc>
                <a:spcPct val="100000"/>
              </a:lnSpc>
              <a:spcBef>
                <a:spcPct val="20000"/>
              </a:spcBef>
              <a:spcAft>
                <a:spcPct val="0"/>
              </a:spcAft>
              <a:buClrTx/>
              <a:buSzTx/>
              <a:buFontTx/>
              <a:buNone/>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 Peripheral compartment</a:t>
            </a:r>
          </a:p>
          <a:p>
            <a:pPr marL="314325" marR="0" lvl="0" indent="-314325" algn="l" defTabSz="914400" rtl="0" eaLnBrk="1" fontAlgn="base" latinLnBrk="0" hangingPunct="1">
              <a:lnSpc>
                <a:spcPct val="10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(skin &amp; fat stores)</a:t>
            </a: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high lipid solubility (lipophilic)</a:t>
            </a: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high volume of distribution (high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Vd</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a:t>
            </a:r>
          </a:p>
        </p:txBody>
      </p:sp>
      <p:sp>
        <p:nvSpPr>
          <p:cNvPr id="4" name="Rectangle 3"/>
          <p:cNvSpPr/>
          <p:nvPr/>
        </p:nvSpPr>
        <p:spPr>
          <a:xfrm>
            <a:off x="318366" y="1262569"/>
            <a:ext cx="7442200" cy="554037"/>
          </a:xfrm>
          <a:prstGeom prst="rect">
            <a:avLst/>
          </a:prstGeom>
        </p:spPr>
        <p:txBody>
          <a:bodyPr>
            <a:spAutoFit/>
          </a:bodyPr>
          <a:lstStyle/>
          <a:p>
            <a:pPr marL="314325" indent="-314325" eaLnBrk="1" hangingPunct="1">
              <a:spcBef>
                <a:spcPct val="20000"/>
              </a:spcBef>
              <a:defRPr/>
            </a:pPr>
            <a:r>
              <a:rPr lang="en-US" sz="3000" kern="0" dirty="0">
                <a:solidFill>
                  <a:srgbClr val="000000"/>
                </a:solidFill>
                <a:latin typeface="Arial"/>
              </a:rPr>
              <a:t>Drug in bloodstream is </a:t>
            </a:r>
            <a:r>
              <a:rPr lang="en-US" sz="3000" i="1" u="sng" kern="0" dirty="0">
                <a:solidFill>
                  <a:srgbClr val="000000"/>
                </a:solidFill>
                <a:latin typeface="Arial"/>
              </a:rPr>
              <a:t>distributed</a:t>
            </a:r>
            <a:r>
              <a:rPr lang="en-US" sz="3000" kern="0" dirty="0">
                <a:solidFill>
                  <a:srgbClr val="000000"/>
                </a:solidFill>
                <a:latin typeface="Arial"/>
              </a:rPr>
              <a:t> to body:</a:t>
            </a:r>
          </a:p>
        </p:txBody>
      </p:sp>
      <p:graphicFrame>
        <p:nvGraphicFramePr>
          <p:cNvPr id="5" name="Object 3">
            <a:hlinkClick r:id="" action="ppaction://ole?verb=0"/>
          </p:cNvPr>
          <p:cNvGraphicFramePr>
            <a:graphicFrameLocks/>
          </p:cNvGraphicFramePr>
          <p:nvPr>
            <p:extLst>
              <p:ext uri="{D42A27DB-BD31-4B8C-83A1-F6EECF244321}">
                <p14:modId xmlns:p14="http://schemas.microsoft.com/office/powerpoint/2010/main" val="4034765878"/>
              </p:ext>
            </p:extLst>
          </p:nvPr>
        </p:nvGraphicFramePr>
        <p:xfrm>
          <a:off x="7102512" y="846138"/>
          <a:ext cx="2057400" cy="5410200"/>
        </p:xfrm>
        <a:graphic>
          <a:graphicData uri="http://schemas.openxmlformats.org/presentationml/2006/ole">
            <mc:AlternateContent xmlns:mc="http://schemas.openxmlformats.org/markup-compatibility/2006">
              <mc:Choice xmlns:v="urn:schemas-microsoft-com:vml" Requires="v">
                <p:oleObj name="Clip" r:id="rId6" imgW="1928813" imgH="4792663" progId="MS_ClipArt_Gallery.2">
                  <p:embed/>
                </p:oleObj>
              </mc:Choice>
              <mc:Fallback>
                <p:oleObj name="Clip" r:id="rId6" imgW="1928813" imgH="4792663" progId="MS_ClipArt_Gallery.2">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2512" y="846138"/>
                        <a:ext cx="2057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2"/>
          <p:cNvSpPr txBox="1">
            <a:spLocks noChangeArrowheads="1"/>
          </p:cNvSpPr>
          <p:nvPr/>
        </p:nvSpPr>
        <p:spPr bwMode="auto">
          <a:xfrm>
            <a:off x="658090" y="-938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altLang="en-US" sz="3500" b="0" i="0" u="none" strike="noStrike" kern="0" cap="none" spc="0" normalizeH="0" baseline="0" noProof="0" dirty="0">
                <a:ln>
                  <a:noFill/>
                </a:ln>
                <a:solidFill>
                  <a:srgbClr val="00B050"/>
                </a:solidFill>
                <a:effectLst/>
                <a:uLnTx/>
                <a:uFillTx/>
                <a:latin typeface="Arial"/>
                <a:ea typeface="MS PGothic" pitchFamily="34" charset="-128"/>
                <a:cs typeface="+mj-cs"/>
              </a:rPr>
            </a:br>
            <a:r>
              <a:rPr kumimoji="0" lang="en-US" altLang="en-US" sz="3500" b="0" i="0" u="none" strike="noStrike" kern="0" cap="none" spc="0" normalizeH="0" baseline="0" noProof="0" dirty="0">
                <a:ln>
                  <a:noFill/>
                </a:ln>
                <a:solidFill>
                  <a:srgbClr val="00B050"/>
                </a:solidFill>
                <a:effectLst/>
                <a:uLnTx/>
                <a:uFillTx/>
                <a:latin typeface="Bradley Hand ITC" panose="03070402050302030203" pitchFamily="66" charset="0"/>
                <a:ea typeface="MS PGothic" pitchFamily="34" charset="-128"/>
                <a:cs typeface="+mj-cs"/>
              </a:rPr>
              <a:t>DRUG DISTRIBUTION</a:t>
            </a:r>
            <a:endParaRPr kumimoji="0" lang="en-US" altLang="en-US" sz="3500" b="0" i="0" u="none" strike="noStrike" kern="0" cap="none" spc="0" normalizeH="0" baseline="0" noProof="0" dirty="0">
              <a:ln>
                <a:noFill/>
              </a:ln>
              <a:solidFill>
                <a:srgbClr val="00B050"/>
              </a:solidFill>
              <a:effectLst/>
              <a:uLnTx/>
              <a:uFillTx/>
              <a:latin typeface="Arial"/>
              <a:ea typeface="MS PGothic" pitchFamily="34" charset="-128"/>
              <a:cs typeface="+mj-cs"/>
            </a:endParaRPr>
          </a:p>
        </p:txBody>
      </p:sp>
      <p:sp>
        <p:nvSpPr>
          <p:cNvPr id="7" name="Rectangle 2"/>
          <p:cNvSpPr txBox="1">
            <a:spLocks noChangeArrowheads="1"/>
          </p:cNvSpPr>
          <p:nvPr/>
        </p:nvSpPr>
        <p:spPr bwMode="auto">
          <a:xfrm>
            <a:off x="569229" y="727365"/>
            <a:ext cx="6533283" cy="73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defRPr/>
            </a:pPr>
            <a:br>
              <a:rPr kumimoji="0" lang="en-US" altLang="en-US" sz="3600" b="0" i="0" u="none" strike="noStrike" kern="0" cap="none" spc="0" normalizeH="0" baseline="0" noProof="0" dirty="0">
                <a:ln>
                  <a:noFill/>
                </a:ln>
                <a:solidFill>
                  <a:srgbClr val="00B050"/>
                </a:solidFill>
                <a:effectLst/>
                <a:uLnTx/>
                <a:uFillTx/>
                <a:latin typeface="Arial"/>
                <a:ea typeface="MS PGothic" pitchFamily="34" charset="-128"/>
                <a:cs typeface="+mj-cs"/>
              </a:rPr>
            </a:br>
            <a:r>
              <a:rPr lang="en-US" altLang="en-US" kern="0" dirty="0">
                <a:solidFill>
                  <a:srgbClr val="00B050"/>
                </a:solidFill>
                <a:latin typeface="Arial Black" panose="020B0A04020102020204" pitchFamily="34" charset="0"/>
              </a:rPr>
              <a:t>1. Vascularity / Regional</a:t>
            </a:r>
            <a:r>
              <a:rPr lang="en-US" altLang="en-US" sz="3200" b="0" i="1" kern="0" dirty="0">
                <a:solidFill>
                  <a:srgbClr val="000000"/>
                </a:solidFill>
                <a:latin typeface="Arial"/>
              </a:rPr>
              <a:t> </a:t>
            </a:r>
            <a:r>
              <a:rPr lang="en-US" altLang="en-US" kern="0" dirty="0">
                <a:solidFill>
                  <a:srgbClr val="00B050"/>
                </a:solidFill>
                <a:latin typeface="Arial Black" panose="020B0A04020102020204" pitchFamily="34" charset="0"/>
              </a:rPr>
              <a:t>blood</a:t>
            </a:r>
            <a:r>
              <a:rPr lang="en-US" altLang="en-US" sz="3200" b="0" i="1" kern="0" dirty="0">
                <a:solidFill>
                  <a:srgbClr val="000000"/>
                </a:solidFill>
                <a:latin typeface="Arial"/>
              </a:rPr>
              <a:t> </a:t>
            </a:r>
            <a:r>
              <a:rPr lang="en-US" altLang="en-US" kern="0" dirty="0">
                <a:solidFill>
                  <a:srgbClr val="00B050"/>
                </a:solidFill>
                <a:latin typeface="Arial Black" panose="020B0A04020102020204" pitchFamily="34" charset="0"/>
              </a:rPr>
              <a:t>flow</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kern="0" dirty="0">
                <a:solidFill>
                  <a:srgbClr val="00B050"/>
                </a:solidFill>
                <a:latin typeface="Arial Black" panose="020B0A04020102020204" pitchFamily="34" charset="0"/>
              </a:rPr>
              <a:t> </a:t>
            </a:r>
          </a:p>
        </p:txBody>
      </p:sp>
    </p:spTree>
    <p:extLst>
      <p:ext uri="{BB962C8B-B14F-4D97-AF65-F5344CB8AC3E}">
        <p14:creationId xmlns:p14="http://schemas.microsoft.com/office/powerpoint/2010/main" val="28579768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066800"/>
            <a:ext cx="7772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just"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1" i="1" u="sng" strike="noStrike" kern="0" cap="none" spc="0" normalizeH="0" baseline="0" noProof="0" dirty="0">
                <a:ln>
                  <a:noFill/>
                </a:ln>
                <a:solidFill>
                  <a:srgbClr val="000000"/>
                </a:solidFill>
                <a:effectLst/>
                <a:uLnTx/>
                <a:uFillTx/>
                <a:latin typeface="Arial"/>
                <a:ea typeface="MS PGothic" pitchFamily="34" charset="-128"/>
                <a:cs typeface="+mn-cs"/>
              </a:rPr>
              <a:t>B</a:t>
            </a:r>
            <a:r>
              <a:rPr kumimoji="0" lang="en-US" altLang="en-US" sz="2800" b="1" i="1" u="sng" strike="noStrike" kern="0" cap="none" spc="0" normalizeH="0" baseline="0" noProof="1">
                <a:ln>
                  <a:noFill/>
                </a:ln>
                <a:solidFill>
                  <a:srgbClr val="000000"/>
                </a:solidFill>
                <a:effectLst/>
                <a:uLnTx/>
                <a:uFillTx/>
                <a:latin typeface="Arial"/>
                <a:ea typeface="MS PGothic" pitchFamily="34" charset="-128"/>
                <a:cs typeface="+mn-cs"/>
              </a:rPr>
              <a:t>lood flow</a:t>
            </a:r>
            <a:r>
              <a:rPr kumimoji="0" lang="en-US" altLang="en-US" sz="2800" b="1" i="1" u="none" strike="noStrike" kern="0" cap="none" spc="0" normalizeH="0" baseline="0" noProof="1">
                <a:ln>
                  <a:noFill/>
                </a:ln>
                <a:solidFill>
                  <a:srgbClr val="000000"/>
                </a:solidFill>
                <a:effectLst/>
                <a:uLnTx/>
                <a:uFillTx/>
                <a:latin typeface="Arial"/>
                <a:ea typeface="MS PGothic" pitchFamily="34" charset="-128"/>
                <a:cs typeface="+mn-cs"/>
              </a:rPr>
              <a:t> </a:t>
            </a:r>
            <a:r>
              <a:rPr kumimoji="0" lang="en-US" altLang="en-US" sz="2800" b="1" i="0" u="none" strike="noStrike" kern="0" cap="none" spc="0" normalizeH="0" baseline="0" noProof="1">
                <a:ln>
                  <a:noFill/>
                </a:ln>
                <a:solidFill>
                  <a:srgbClr val="000000"/>
                </a:solidFill>
                <a:effectLst/>
                <a:uLnTx/>
                <a:uFillTx/>
                <a:latin typeface="Arial"/>
                <a:ea typeface="MS PGothic" pitchFamily="34" charset="-128"/>
                <a:cs typeface="+mn-cs"/>
              </a:rPr>
              <a:t>- important for the rate of drug uptake</a:t>
            </a:r>
          </a:p>
          <a:p>
            <a:pPr marL="790575" marR="0" lvl="1"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800" b="0" i="0" u="none" strike="noStrike" kern="0" cap="none" spc="0" normalizeH="0" baseline="0" noProof="1">
                <a:ln>
                  <a:noFill/>
                </a:ln>
                <a:solidFill>
                  <a:srgbClr val="000000"/>
                </a:solidFill>
                <a:effectLst/>
                <a:uLnTx/>
                <a:uFillTx/>
                <a:latin typeface="Arial"/>
                <a:ea typeface="MS PGothic" pitchFamily="34" charset="-128"/>
              </a:rPr>
              <a:t>well-perfused tissues (heart, brain, kidney, splanchnic organs) will achieve high tissue concentration sooner than poorly perfused tissues (adipose, bones)</a:t>
            </a:r>
          </a:p>
          <a:p>
            <a:pPr marL="790575" marR="0" lvl="1" indent="-314325" algn="just" defTabSz="914400" rtl="0" eaLnBrk="1" fontAlgn="base" latinLnBrk="0" hangingPunct="1">
              <a:lnSpc>
                <a:spcPct val="90000"/>
              </a:lnSpc>
              <a:spcBef>
                <a:spcPct val="20000"/>
              </a:spcBef>
              <a:spcAft>
                <a:spcPct val="0"/>
              </a:spcAft>
              <a:buClrTx/>
              <a:buSzTx/>
              <a:buFontTx/>
              <a:buBlip>
                <a:blip r:embed="rId3"/>
              </a:buBlip>
              <a:tabLst/>
              <a:defRPr/>
            </a:pPr>
            <a:endParaRPr kumimoji="0" lang="en-US" altLang="en-US" sz="2800" b="0" i="0" u="none" strike="noStrike" kern="0" cap="none" spc="0" normalizeH="0" baseline="0" noProof="1">
              <a:ln>
                <a:noFill/>
              </a:ln>
              <a:solidFill>
                <a:srgbClr val="000000"/>
              </a:solidFill>
              <a:effectLst/>
              <a:uLnTx/>
              <a:uFillTx/>
              <a:latin typeface="Arial"/>
              <a:ea typeface="MS PGothic" pitchFamily="34" charset="-128"/>
            </a:endParaRPr>
          </a:p>
          <a:p>
            <a:pPr marL="314325" marR="0" lvl="0"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The heart, Liver, kidney and the brain receive most drugs after absorption </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more perfused.</a:t>
            </a:r>
          </a:p>
          <a:p>
            <a:pPr marL="314325" marR="0" lvl="0" indent="-314325"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1"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Drug delivery to and from the muscle, skin and adipose tissue is slower ▬ Less perfused</a:t>
            </a:r>
            <a:endParaRPr kumimoji="0" lang="en-US" altLang="en-US" sz="2800" b="0"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90000"/>
              </a:lnSpc>
              <a:spcBef>
                <a:spcPct val="20000"/>
              </a:spcBef>
              <a:spcAft>
                <a:spcPct val="0"/>
              </a:spcAft>
              <a:buClrTx/>
              <a:buSzTx/>
              <a:buFontTx/>
              <a:buBlip>
                <a:blip r:embed="rId2"/>
              </a:buBlip>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1044286" y="0"/>
            <a:ext cx="7543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500" b="1" i="0" u="none" strike="noStrike" kern="0" cap="none" spc="0" normalizeH="0" baseline="0" noProof="0" dirty="0">
                <a:ln>
                  <a:noFill/>
                </a:ln>
                <a:solidFill>
                  <a:srgbClr val="00B050"/>
                </a:solidFill>
                <a:effectLst/>
                <a:uLnTx/>
                <a:uFillTx/>
                <a:latin typeface="Bradley Hand ITC" panose="03070402050302030203" pitchFamily="66" charset="0"/>
                <a:ea typeface="MS PGothic" pitchFamily="34" charset="-128"/>
                <a:cs typeface="+mj-cs"/>
              </a:rPr>
              <a:t>Drug Distribution</a:t>
            </a:r>
            <a:r>
              <a:rPr kumimoji="0" lang="en-US" altLang="en-US" sz="3500" b="0" i="0" u="none" strike="noStrike" kern="0" cap="none" spc="0" normalizeH="0" baseline="0" noProof="0" dirty="0">
                <a:ln>
                  <a:noFill/>
                </a:ln>
                <a:solidFill>
                  <a:srgbClr val="00B050"/>
                </a:solidFill>
                <a:effectLst/>
                <a:uLnTx/>
                <a:uFillTx/>
                <a:latin typeface="Arial"/>
                <a:ea typeface="MS PGothic" pitchFamily="34" charset="-128"/>
                <a:cs typeface="+mj-cs"/>
              </a:rPr>
              <a:t> </a:t>
            </a:r>
            <a:r>
              <a:rPr kumimoji="0" lang="en-US" altLang="en-US" sz="3500" b="0" i="0"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kern="0" dirty="0">
                <a:solidFill>
                  <a:srgbClr val="00B050"/>
                </a:solidFill>
                <a:latin typeface="Arial Black" panose="020B0A04020102020204" pitchFamily="34" charset="0"/>
              </a:rPr>
              <a:t>Regional</a:t>
            </a:r>
            <a:r>
              <a:rPr kumimoji="0" lang="en-US" altLang="en-US" sz="2400" b="0" i="1"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kern="0" dirty="0">
                <a:solidFill>
                  <a:srgbClr val="00B050"/>
                </a:solidFill>
                <a:latin typeface="Arial Black" panose="020B0A04020102020204" pitchFamily="34" charset="0"/>
              </a:rPr>
              <a:t>blood</a:t>
            </a:r>
            <a:r>
              <a:rPr kumimoji="0" lang="en-US" altLang="en-US" sz="2400" b="0" i="1"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kern="0" dirty="0">
                <a:solidFill>
                  <a:srgbClr val="00B050"/>
                </a:solidFill>
                <a:latin typeface="Arial Black" panose="020B0A04020102020204" pitchFamily="34" charset="0"/>
              </a:rPr>
              <a:t>flow</a:t>
            </a:r>
          </a:p>
        </p:txBody>
      </p:sp>
    </p:spTree>
    <p:extLst>
      <p:ext uri="{BB962C8B-B14F-4D97-AF65-F5344CB8AC3E}">
        <p14:creationId xmlns:p14="http://schemas.microsoft.com/office/powerpoint/2010/main" val="2427271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946672"/>
            <a:ext cx="80772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just" defTabSz="914400" rtl="0" eaLnBrk="1" fontAlgn="base" latinLnBrk="0" hangingPunct="1">
              <a:lnSpc>
                <a:spcPct val="90000"/>
              </a:lnSpc>
              <a:spcBef>
                <a:spcPct val="20000"/>
              </a:spcBef>
              <a:spcAft>
                <a:spcPct val="0"/>
              </a:spcAft>
              <a:buClrTx/>
              <a:buSzTx/>
              <a:buNone/>
              <a:tabLst/>
              <a:defRPr/>
            </a:pPr>
            <a:r>
              <a:rPr kumimoji="0" lang="en-US" altLang="en-US" sz="2400" b="1" i="1" strike="noStrike" kern="0" cap="none" spc="0" normalizeH="0" baseline="0" noProof="0" dirty="0">
                <a:ln>
                  <a:noFill/>
                </a:ln>
                <a:solidFill>
                  <a:srgbClr val="00B050"/>
                </a:solidFill>
                <a:effectLst/>
                <a:uLnTx/>
                <a:uFillTx/>
                <a:latin typeface="Arial"/>
                <a:ea typeface="MS PGothic" pitchFamily="34" charset="-128"/>
                <a:cs typeface="+mn-cs"/>
              </a:rPr>
              <a:t>2. </a:t>
            </a:r>
            <a:r>
              <a:rPr lang="en-US" altLang="en-US" sz="2400" b="1" kern="0" dirty="0">
                <a:solidFill>
                  <a:srgbClr val="00B050"/>
                </a:solidFill>
                <a:latin typeface="Arial Black" panose="020B0A04020102020204" pitchFamily="34" charset="0"/>
                <a:cs typeface="+mj-cs"/>
              </a:rPr>
              <a:t>Binding</a:t>
            </a:r>
            <a:r>
              <a:rPr kumimoji="0" lang="en-US" altLang="en-US" sz="2400" b="1" i="1" u="sng" strike="noStrike" kern="0" cap="none" spc="0" normalizeH="0" baseline="0" noProof="0" dirty="0">
                <a:ln>
                  <a:noFill/>
                </a:ln>
                <a:solidFill>
                  <a:srgbClr val="000000"/>
                </a:solidFill>
                <a:effectLst/>
                <a:uLnTx/>
                <a:uFillTx/>
                <a:latin typeface="Arial"/>
                <a:ea typeface="MS PGothic" pitchFamily="34" charset="-128"/>
                <a:cs typeface="+mn-cs"/>
              </a:rPr>
              <a:t> </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–in the blood or tissue compartment will tend to increase the drug’s conc. in that compartment.</a:t>
            </a:r>
          </a:p>
          <a:p>
            <a:pPr marL="790575" marR="0" lvl="1"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Only a free  (unbound drug) can be distributed</a:t>
            </a:r>
            <a:endPar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endParaRP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1.  </a:t>
            </a:r>
            <a:r>
              <a:rPr kumimoji="0" lang="en-US" altLang="en-US" sz="2800" b="0" i="0" u="sng" strike="noStrike" kern="0" cap="none" spc="0" normalizeH="0" baseline="0" noProof="0" dirty="0">
                <a:ln>
                  <a:noFill/>
                </a:ln>
                <a:solidFill>
                  <a:srgbClr val="000000"/>
                </a:solidFill>
                <a:effectLst/>
                <a:uLnTx/>
                <a:uFillTx/>
                <a:latin typeface="Arial"/>
                <a:ea typeface="MS PGothic" pitchFamily="34" charset="-128"/>
              </a:rPr>
              <a:t>Protein binding</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Two factors determine degree of plasma protein binding:</a:t>
            </a:r>
          </a:p>
          <a:p>
            <a:pPr marL="2095500"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1.  Affinity of drug for plasma protein</a:t>
            </a:r>
          </a:p>
          <a:p>
            <a:pPr marL="2095500"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2.  # of binding sites available</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Weak acid drugs bind to albumin (phenytoin, salicylates, and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rPr>
              <a:t>disopyramide</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 are extensively bound)</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Weak basic drugs bind to serum globulins </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t>
            </a:r>
            <a:r>
              <a:rPr kumimoji="0" lang="el-GR"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α</a:t>
            </a:r>
            <a:r>
              <a:rPr kumimoji="0" lang="en-US" altLang="en-US" sz="2000" b="0" i="0" u="none" strike="noStrike" kern="0" cap="none" spc="0" normalizeH="0" baseline="-25000" noProof="0" dirty="0">
                <a:ln>
                  <a:noFill/>
                </a:ln>
                <a:solidFill>
                  <a:srgbClr val="000000"/>
                </a:solidFill>
                <a:effectLst/>
                <a:uLnTx/>
                <a:uFillTx/>
                <a:latin typeface="Arial"/>
                <a:ea typeface="MS PGothic" pitchFamily="34" charset="-128"/>
                <a:cs typeface="Arial" panose="020B0604020202020204" pitchFamily="34" charset="0"/>
              </a:rPr>
              <a:t>1</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acid glycoprotein (quinidine, lidocaine, propranolol)</a:t>
            </a:r>
          </a:p>
        </p:txBody>
      </p:sp>
      <p:sp>
        <p:nvSpPr>
          <p:cNvPr id="4" name="Rectangle 2"/>
          <p:cNvSpPr txBox="1">
            <a:spLocks noChangeArrowheads="1"/>
          </p:cNvSpPr>
          <p:nvPr/>
        </p:nvSpPr>
        <p:spPr>
          <a:xfrm>
            <a:off x="457200" y="122238"/>
            <a:ext cx="7543800" cy="65231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sz="3600" dirty="0">
                <a:solidFill>
                  <a:srgbClr val="00B050"/>
                </a:solidFill>
                <a:latin typeface="Bradley Hand ITC" panose="03070402050302030203" pitchFamily="66" charset="0"/>
              </a:rPr>
              <a:t>Drug Distribution</a:t>
            </a:r>
            <a:r>
              <a:rPr lang="en-US" altLang="en-US" sz="3600" dirty="0">
                <a:latin typeface="Bradley Hand ITC" panose="03070402050302030203" pitchFamily="66" charset="0"/>
              </a:rPr>
              <a:t>: </a:t>
            </a:r>
            <a:r>
              <a:rPr lang="en-US" altLang="en-US" sz="2400" b="1" kern="0" dirty="0">
                <a:solidFill>
                  <a:srgbClr val="00B050"/>
                </a:solidFill>
                <a:latin typeface="Arial Black" panose="020B0A04020102020204" pitchFamily="34" charset="0"/>
                <a:ea typeface="MS PGothic" pitchFamily="34" charset="-128"/>
              </a:rPr>
              <a:t>Binding</a:t>
            </a:r>
          </a:p>
        </p:txBody>
      </p:sp>
    </p:spTree>
    <p:extLst>
      <p:ext uri="{BB962C8B-B14F-4D97-AF65-F5344CB8AC3E}">
        <p14:creationId xmlns:p14="http://schemas.microsoft.com/office/powerpoint/2010/main" val="23690885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04800" y="914400"/>
            <a:ext cx="8610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46075" marR="0" lvl="2" indent="0" algn="l" defTabSz="914400" rtl="0" eaLnBrk="1" fontAlgn="base" latinLnBrk="0" hangingPunct="1">
              <a:lnSpc>
                <a:spcPct val="100000"/>
              </a:lnSpc>
              <a:spcBef>
                <a:spcPct val="20000"/>
              </a:spcBef>
              <a:spcAft>
                <a:spcPct val="0"/>
              </a:spcAft>
              <a:buClrTx/>
              <a:buSzTx/>
              <a:buNone/>
              <a:tabLst/>
              <a:defRPr/>
            </a:pPr>
            <a:r>
              <a:rPr kumimoji="0" lang="en-US" sz="2800" b="0" i="0" u="sng" strike="noStrike" kern="0" cap="none" spc="0" normalizeH="0" baseline="0" noProof="0" dirty="0">
                <a:ln>
                  <a:noFill/>
                </a:ln>
                <a:solidFill>
                  <a:srgbClr val="000000"/>
                </a:solidFill>
                <a:effectLst/>
                <a:uLnTx/>
                <a:uFillTx/>
                <a:latin typeface="Arial"/>
                <a:ea typeface="MS PGothic" pitchFamily="34" charset="-128"/>
              </a:rPr>
              <a:t>Protein binding</a:t>
            </a:r>
          </a:p>
          <a:p>
            <a:pPr marL="790575" marR="0" lvl="1"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sz="3000" b="0" i="0" u="none" strike="noStrike" kern="0" cap="none" spc="0" normalizeH="0" baseline="0" noProof="0" dirty="0">
                <a:ln>
                  <a:noFill/>
                </a:ln>
                <a:solidFill>
                  <a:srgbClr val="000000"/>
                </a:solidFill>
                <a:effectLst/>
                <a:uLnTx/>
                <a:uFillTx/>
                <a:latin typeface="Arial"/>
                <a:ea typeface="MS PGothic" pitchFamily="34" charset="-128"/>
              </a:rPr>
              <a:t>Limits the drug </a:t>
            </a:r>
            <a:r>
              <a:rPr kumimoji="0" lang="en-US" sz="3000" b="0" i="0" u="none" strike="noStrike" kern="0" cap="none" spc="0" normalizeH="0" baseline="0" noProof="0" dirty="0" err="1">
                <a:ln>
                  <a:noFill/>
                </a:ln>
                <a:solidFill>
                  <a:srgbClr val="000000"/>
                </a:solidFill>
                <a:effectLst/>
                <a:uLnTx/>
                <a:uFillTx/>
                <a:latin typeface="Arial"/>
                <a:ea typeface="MS PGothic" pitchFamily="34" charset="-128"/>
              </a:rPr>
              <a:t>conc</a:t>
            </a:r>
            <a:r>
              <a:rPr kumimoji="0" lang="en-US" sz="3000" b="0" i="0" u="none" strike="noStrike" kern="0" cap="none" spc="0" normalizeH="0" baseline="0" noProof="0" dirty="0">
                <a:ln>
                  <a:noFill/>
                </a:ln>
                <a:solidFill>
                  <a:srgbClr val="000000"/>
                </a:solidFill>
                <a:effectLst/>
                <a:uLnTx/>
                <a:uFillTx/>
                <a:latin typeface="Arial"/>
                <a:ea typeface="MS PGothic" pitchFamily="34" charset="-128"/>
              </a:rPr>
              <a:t> in tissues because bound drug cannot enter tissues, as a result, leads to high </a:t>
            </a:r>
            <a:r>
              <a:rPr kumimoji="0" lang="en-US" sz="3000" b="0" i="0" u="none" strike="noStrike" kern="0" cap="none" spc="0" normalizeH="0" baseline="0" noProof="0" dirty="0" err="1">
                <a:ln>
                  <a:noFill/>
                </a:ln>
                <a:solidFill>
                  <a:srgbClr val="000000"/>
                </a:solidFill>
                <a:effectLst/>
                <a:uLnTx/>
                <a:uFillTx/>
                <a:latin typeface="Arial"/>
                <a:ea typeface="MS PGothic" pitchFamily="34" charset="-128"/>
              </a:rPr>
              <a:t>concs</a:t>
            </a:r>
            <a:r>
              <a:rPr kumimoji="0" lang="en-US" sz="3000" b="0" i="0" u="none" strike="noStrike" kern="0" cap="none" spc="0" normalizeH="0" baseline="0" noProof="0" dirty="0">
                <a:ln>
                  <a:noFill/>
                </a:ln>
                <a:solidFill>
                  <a:srgbClr val="000000"/>
                </a:solidFill>
                <a:effectLst/>
                <a:uLnTx/>
                <a:uFillTx/>
                <a:latin typeface="Arial"/>
                <a:ea typeface="MS PGothic" pitchFamily="34" charset="-128"/>
              </a:rPr>
              <a:t> of drug in the plasma (bound + free drug)</a:t>
            </a:r>
          </a:p>
          <a:p>
            <a:pPr marL="1209675"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sz="2800" b="1" i="0" u="none" strike="noStrike" kern="0" cap="none" spc="0" normalizeH="0" baseline="0" noProof="0" dirty="0">
                <a:ln>
                  <a:noFill/>
                </a:ln>
                <a:solidFill>
                  <a:srgbClr val="000000"/>
                </a:solidFill>
                <a:effectLst/>
                <a:uLnTx/>
                <a:uFillTx/>
                <a:latin typeface="Arial"/>
                <a:ea typeface="MS PGothic" pitchFamily="34" charset="-128"/>
              </a:rPr>
              <a:t>Bound drug is NOT therapeutically active</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sz="2800" b="0" i="0" u="none" strike="noStrike" kern="0" cap="none" spc="0" normalizeH="0" baseline="0" noProof="0" dirty="0">
                <a:ln>
                  <a:noFill/>
                </a:ln>
                <a:solidFill>
                  <a:srgbClr val="000000"/>
                </a:solidFill>
                <a:effectLst/>
                <a:uLnTx/>
                <a:uFillTx/>
                <a:latin typeface="Arial"/>
                <a:ea typeface="MS PGothic" pitchFamily="34" charset="-128"/>
              </a:rPr>
              <a:t>There is an equilibrium between the free drug and the bound drug</a:t>
            </a:r>
          </a:p>
          <a:p>
            <a:pPr marL="2095500" marR="0" lvl="4"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sz="2800" b="0" i="0" u="none" strike="noStrike" kern="0" cap="none" spc="0" normalizeH="0" baseline="0" noProof="0" dirty="0">
                <a:ln>
                  <a:noFill/>
                </a:ln>
                <a:solidFill>
                  <a:srgbClr val="000000"/>
                </a:solidFill>
                <a:effectLst/>
                <a:uLnTx/>
                <a:uFillTx/>
                <a:latin typeface="Arial"/>
                <a:ea typeface="MS PGothic" pitchFamily="34" charset="-128"/>
              </a:rPr>
              <a:t>Drug is gradually released from the protein (acts as storage for drug) as the free drug is utilized and removed</a:t>
            </a:r>
          </a:p>
        </p:txBody>
      </p:sp>
      <p:sp>
        <p:nvSpPr>
          <p:cNvPr id="4" name="Rectangle 2"/>
          <p:cNvSpPr txBox="1">
            <a:spLocks noChangeArrowheads="1"/>
          </p:cNvSpPr>
          <p:nvPr/>
        </p:nvSpPr>
        <p:spPr bwMode="auto">
          <a:xfrm>
            <a:off x="457200" y="139849"/>
            <a:ext cx="7543800" cy="567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sz="2800" kern="0" dirty="0">
                <a:solidFill>
                  <a:srgbClr val="00B050"/>
                </a:solidFill>
                <a:latin typeface="Bradley Hand ITC" panose="03070402050302030203" pitchFamily="66" charset="0"/>
              </a:rPr>
              <a:t>Drug Distribution</a:t>
            </a:r>
          </a:p>
        </p:txBody>
      </p:sp>
    </p:spTree>
    <p:extLst>
      <p:ext uri="{BB962C8B-B14F-4D97-AF65-F5344CB8AC3E}">
        <p14:creationId xmlns:p14="http://schemas.microsoft.com/office/powerpoint/2010/main" val="34535178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003150"/>
            <a:ext cx="838200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400" b="0" i="0" u="sng" strike="noStrike" kern="0" cap="none" spc="0" normalizeH="0" baseline="0" noProof="0" dirty="0">
                <a:ln>
                  <a:noFill/>
                </a:ln>
                <a:solidFill>
                  <a:srgbClr val="000000"/>
                </a:solidFill>
                <a:effectLst/>
                <a:uLnTx/>
                <a:uFillTx/>
                <a:latin typeface="Arial"/>
                <a:ea typeface="MS PGothic" pitchFamily="34" charset="-128"/>
                <a:cs typeface="+mn-cs"/>
              </a:rPr>
              <a:t>Protein binding</a:t>
            </a:r>
          </a:p>
          <a:p>
            <a:pPr marL="790575" marR="0" lvl="1" indent="-3143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Is non-selective</a:t>
            </a:r>
          </a:p>
          <a:p>
            <a:pPr marL="790575" marR="0" lvl="1" indent="-3143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200" b="1" i="0" u="none" strike="noStrike" kern="0" cap="none" spc="0" normalizeH="0" baseline="0" noProof="0" dirty="0">
                <a:ln>
                  <a:noFill/>
                </a:ln>
                <a:solidFill>
                  <a:srgbClr val="000000"/>
                </a:solidFill>
                <a:effectLst/>
                <a:uLnTx/>
                <a:uFillTx/>
                <a:latin typeface="Arial"/>
                <a:ea typeface="MS PGothic" pitchFamily="34" charset="-128"/>
              </a:rPr>
              <a:t>The # of binding sites on plasma protein is limited</a:t>
            </a:r>
          </a:p>
          <a:p>
            <a:pPr marL="790575" marR="0" lvl="1" indent="-3143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Drugs will </a:t>
            </a:r>
            <a:r>
              <a:rPr kumimoji="0" lang="en-US" altLang="en-US" sz="2200" b="1" i="0" u="none" strike="noStrike" kern="0" cap="none" spc="0" normalizeH="0" baseline="0" noProof="0" dirty="0">
                <a:ln>
                  <a:noFill/>
                </a:ln>
                <a:solidFill>
                  <a:srgbClr val="000000"/>
                </a:solidFill>
                <a:effectLst/>
                <a:uLnTx/>
                <a:uFillTx/>
                <a:latin typeface="Arial"/>
                <a:ea typeface="MS PGothic" pitchFamily="34" charset="-128"/>
              </a:rPr>
              <a:t>compete</a:t>
            </a: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 with other drugs, hormones, or other endogenous substances for protein binding sites</a:t>
            </a:r>
          </a:p>
          <a:p>
            <a:pPr marL="1209675" marR="0" lvl="2" indent="-276225" algn="l" defTabSz="914400" rtl="0" eaLnBrk="1" fontAlgn="base" latinLnBrk="0" hangingPunct="1">
              <a:lnSpc>
                <a:spcPct val="100000"/>
              </a:lnSpc>
              <a:spcBef>
                <a:spcPct val="20000"/>
              </a:spcBef>
              <a:spcAft>
                <a:spcPct val="0"/>
              </a:spcAft>
              <a:buClrTx/>
              <a:buSzTx/>
              <a:buFontTx/>
              <a:buBlip>
                <a:blip r:embed="rId5"/>
              </a:buBlip>
              <a:tabLst/>
              <a:defRPr/>
            </a:pP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rPr>
              <a:t>Ex</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  Glyburide (sulfonamide) can be displaced by warfarin, phenytoin, salicylates, etc.. and cause </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cs typeface="Arial" panose="020B0604020202020204" pitchFamily="34" charset="0"/>
              </a:rPr>
              <a:t>hypoglycaemic</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effects (more free drug in body)</a:t>
            </a:r>
          </a:p>
          <a:p>
            <a:pPr marL="1209675" marR="0" lvl="2" indent="-276225" algn="l" defTabSz="914400" rtl="0" eaLnBrk="1" fontAlgn="base" latinLnBrk="0" hangingPunct="1">
              <a:lnSpc>
                <a:spcPct val="100000"/>
              </a:lnSpc>
              <a:spcBef>
                <a:spcPct val="20000"/>
              </a:spcBef>
              <a:spcAft>
                <a:spcPct val="0"/>
              </a:spcAft>
              <a:buClrTx/>
              <a:buSzTx/>
              <a:buFontTx/>
              <a:buBlip>
                <a:blip r:embed="rId5"/>
              </a:buBlip>
              <a:tabLst/>
              <a:defRPr/>
            </a:pP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Ex</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Warfarin can be displaced by indomethacin, aspirin, etc.. which can ↑ bleeding.</a:t>
            </a: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These interactions may necessitate a dosage adjustment or discontinuation of the other drug</a:t>
            </a:r>
          </a:p>
        </p:txBody>
      </p:sp>
      <p:sp>
        <p:nvSpPr>
          <p:cNvPr id="4" name="Rectangle 2"/>
          <p:cNvSpPr txBox="1">
            <a:spLocks noChangeArrowheads="1"/>
          </p:cNvSpPr>
          <p:nvPr/>
        </p:nvSpPr>
        <p:spPr bwMode="auto">
          <a:xfrm>
            <a:off x="457200" y="139849"/>
            <a:ext cx="7543800" cy="567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sz="2800" kern="0" dirty="0">
                <a:solidFill>
                  <a:srgbClr val="00B050"/>
                </a:solidFill>
                <a:latin typeface="Bradley Hand ITC" panose="03070402050302030203" pitchFamily="66" charset="0"/>
              </a:rPr>
              <a:t>Drug Distribution</a:t>
            </a:r>
          </a:p>
        </p:txBody>
      </p:sp>
    </p:spTree>
    <p:extLst>
      <p:ext uri="{BB962C8B-B14F-4D97-AF65-F5344CB8AC3E}">
        <p14:creationId xmlns:p14="http://schemas.microsoft.com/office/powerpoint/2010/main" val="5694844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79375" y="892175"/>
            <a:ext cx="83566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000" b="0" i="0" u="none" strike="noStrike" kern="0" cap="none" spc="0" normalizeH="0" baseline="0" noProof="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100000"/>
              </a:lnSpc>
              <a:spcBef>
                <a:spcPct val="20000"/>
              </a:spcBef>
              <a:spcAft>
                <a:spcPct val="0"/>
              </a:spcAft>
              <a:buClrTx/>
              <a:buSzTx/>
              <a:buFontTx/>
              <a:buBlip>
                <a:blip r:embed="rId2"/>
              </a:buBlip>
              <a:tabLst/>
              <a:defRPr/>
            </a:pPr>
            <a:r>
              <a:rPr kumimoji="0" lang="en-US" sz="2000" b="0" i="0" u="none" strike="noStrike" kern="0" cap="none" spc="0" normalizeH="0" baseline="0" noProof="0">
                <a:ln>
                  <a:noFill/>
                </a:ln>
                <a:solidFill>
                  <a:srgbClr val="000000"/>
                </a:solidFill>
                <a:effectLst/>
                <a:uLnTx/>
                <a:uFillTx/>
                <a:latin typeface="Arial"/>
                <a:ea typeface="MS PGothic" pitchFamily="34" charset="-128"/>
                <a:cs typeface="+mn-cs"/>
              </a:rPr>
              <a:t>Free  form</a:t>
            </a:r>
          </a:p>
          <a:p>
            <a:pPr marL="790575" marR="0" lvl="1"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sz="2000" b="0" i="0" u="none" strike="noStrike" kern="0" cap="none" spc="0" normalizeH="0" baseline="0" noProof="0">
                <a:ln>
                  <a:noFill/>
                </a:ln>
                <a:solidFill>
                  <a:srgbClr val="000000"/>
                </a:solidFill>
                <a:effectLst/>
                <a:uLnTx/>
                <a:uFillTx/>
                <a:latin typeface="Arial"/>
                <a:ea typeface="MS PGothic" pitchFamily="34" charset="-128"/>
              </a:rPr>
              <a:t>Pharmacologically  </a:t>
            </a:r>
            <a:r>
              <a:rPr kumimoji="0" lang="en-US" sz="2000" b="0" i="0" u="none" strike="noStrike" kern="0" cap="none" spc="0" normalizeH="0" baseline="0" noProof="0">
                <a:ln>
                  <a:noFill/>
                </a:ln>
                <a:solidFill>
                  <a:srgbClr val="009682">
                    <a:lumMod val="50000"/>
                  </a:srgbClr>
                </a:solidFill>
                <a:effectLst/>
                <a:uLnTx/>
                <a:uFillTx/>
                <a:latin typeface="Arial"/>
                <a:ea typeface="MS PGothic" pitchFamily="34" charset="-128"/>
              </a:rPr>
              <a:t>active</a:t>
            </a:r>
            <a:endParaRPr kumimoji="0" lang="en-US" sz="1800" b="0" i="0" u="none" strike="noStrike" kern="0" cap="none" spc="0" normalizeH="0" baseline="0" noProof="0">
              <a:ln>
                <a:noFill/>
              </a:ln>
              <a:solidFill>
                <a:srgbClr val="009682">
                  <a:lumMod val="50000"/>
                </a:srgbClr>
              </a:solidFill>
              <a:effectLst/>
              <a:uLnTx/>
              <a:uFillTx/>
              <a:latin typeface="Arial"/>
              <a:ea typeface="MS PGothic" pitchFamily="34" charset="-128"/>
            </a:endParaRPr>
          </a:p>
          <a:p>
            <a:pPr marL="314325" marR="0" lvl="0" indent="-314325" algn="just" defTabSz="914400" rtl="0" eaLnBrk="1" fontAlgn="base" latinLnBrk="0" hangingPunct="1">
              <a:lnSpc>
                <a:spcPct val="100000"/>
              </a:lnSpc>
              <a:spcBef>
                <a:spcPct val="20000"/>
              </a:spcBef>
              <a:spcAft>
                <a:spcPct val="0"/>
              </a:spcAft>
              <a:buClrTx/>
              <a:buSzTx/>
              <a:buFontTx/>
              <a:buBlip>
                <a:blip r:embed="rId2"/>
              </a:buBlip>
              <a:tabLst/>
              <a:defRPr/>
            </a:pPr>
            <a:r>
              <a:rPr kumimoji="0" lang="en-US" sz="2000" b="0" i="0" u="none" strike="noStrike" kern="0" cap="none" spc="0" normalizeH="0" baseline="0" noProof="0">
                <a:ln>
                  <a:noFill/>
                </a:ln>
                <a:solidFill>
                  <a:srgbClr val="000000"/>
                </a:solidFill>
                <a:effectLst/>
                <a:uLnTx/>
                <a:uFillTx/>
                <a:latin typeface="Arial"/>
                <a:ea typeface="MS PGothic" pitchFamily="34" charset="-128"/>
                <a:cs typeface="+mn-cs"/>
              </a:rPr>
              <a:t>Bound  form</a:t>
            </a:r>
          </a:p>
          <a:p>
            <a:pPr marL="790575" marR="0" lvl="1"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sz="2000" b="0" i="0" u="none" strike="noStrike" kern="0" cap="none" spc="0" normalizeH="0" baseline="0" noProof="0">
                <a:ln>
                  <a:noFill/>
                </a:ln>
                <a:solidFill>
                  <a:srgbClr val="000000"/>
                </a:solidFill>
                <a:effectLst/>
                <a:uLnTx/>
                <a:uFillTx/>
                <a:latin typeface="Arial"/>
                <a:ea typeface="MS PGothic" pitchFamily="34" charset="-128"/>
              </a:rPr>
              <a:t>Pharmacologically  </a:t>
            </a:r>
            <a:r>
              <a:rPr kumimoji="0" lang="en-US" sz="2000" b="0" i="0" u="none" strike="noStrike" kern="0" cap="none" spc="0" normalizeH="0" baseline="0" noProof="0">
                <a:ln>
                  <a:noFill/>
                </a:ln>
                <a:solidFill>
                  <a:srgbClr val="009682">
                    <a:lumMod val="75000"/>
                  </a:srgbClr>
                </a:solidFill>
                <a:effectLst/>
                <a:uLnTx/>
                <a:uFillTx/>
                <a:latin typeface="Arial"/>
                <a:ea typeface="MS PGothic" pitchFamily="34" charset="-128"/>
              </a:rPr>
              <a:t>inactive</a:t>
            </a:r>
            <a:endParaRPr kumimoji="0" lang="en-US" sz="2000" b="0" i="0" u="none" strike="noStrike" kern="0" cap="none" spc="0" normalizeH="0" baseline="0" noProof="0" dirty="0">
              <a:ln>
                <a:noFill/>
              </a:ln>
              <a:solidFill>
                <a:srgbClr val="009682">
                  <a:lumMod val="75000"/>
                </a:srgbClr>
              </a:solidFill>
              <a:effectLst/>
              <a:uLnTx/>
              <a:uFillTx/>
              <a:latin typeface="Arial"/>
              <a:ea typeface="MS PGothic" pitchFamily="34" charset="-128"/>
            </a:endParaRPr>
          </a:p>
        </p:txBody>
      </p:sp>
      <p:sp>
        <p:nvSpPr>
          <p:cNvPr id="5" name="Rectangle 6"/>
          <p:cNvSpPr>
            <a:spLocks noChangeArrowheads="1"/>
          </p:cNvSpPr>
          <p:nvPr/>
        </p:nvSpPr>
        <p:spPr bwMode="auto">
          <a:xfrm>
            <a:off x="3795713" y="3686175"/>
            <a:ext cx="665162" cy="1031875"/>
          </a:xfrm>
          <a:prstGeom prst="rect">
            <a:avLst/>
          </a:prstGeom>
          <a:solidFill>
            <a:srgbClr val="009682"/>
          </a:soli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FFFF"/>
              </a:solidFill>
              <a:effectLst/>
              <a:uLnTx/>
              <a:uFillTx/>
              <a:latin typeface="Verdana" panose="020B0604030504040204" pitchFamily="34" charset="0"/>
              <a:ea typeface="MS PGothic" panose="020B0600070205080204" pitchFamily="34" charset="-128"/>
              <a:cs typeface="Times New Roman" panose="02020603050405020304" pitchFamily="18" charset="0"/>
            </a:endParaRPr>
          </a:p>
        </p:txBody>
      </p:sp>
      <p:sp>
        <p:nvSpPr>
          <p:cNvPr id="6" name="Rectangle 7"/>
          <p:cNvSpPr>
            <a:spLocks noChangeArrowheads="1"/>
          </p:cNvSpPr>
          <p:nvPr/>
        </p:nvSpPr>
        <p:spPr bwMode="auto">
          <a:xfrm>
            <a:off x="3795713" y="3548063"/>
            <a:ext cx="665162" cy="138112"/>
          </a:xfrm>
          <a:prstGeom prst="rect">
            <a:avLst/>
          </a:prstGeom>
          <a:solidFill>
            <a:srgbClr val="00FF00"/>
          </a:soli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FFFF"/>
              </a:solidFill>
              <a:effectLst/>
              <a:uLnTx/>
              <a:uFillTx/>
              <a:latin typeface="Verdana" panose="020B0604030504040204" pitchFamily="34" charset="0"/>
              <a:ea typeface="MS PGothic" panose="020B0600070205080204" pitchFamily="34" charset="-128"/>
              <a:cs typeface="Times New Roman" panose="02020603050405020304" pitchFamily="18" charset="0"/>
            </a:endParaRPr>
          </a:p>
        </p:txBody>
      </p:sp>
      <p:sp>
        <p:nvSpPr>
          <p:cNvPr id="7" name="Line 8"/>
          <p:cNvSpPr>
            <a:spLocks noChangeShapeType="1"/>
          </p:cNvSpPr>
          <p:nvPr/>
        </p:nvSpPr>
        <p:spPr bwMode="auto">
          <a:xfrm>
            <a:off x="1873250" y="3411538"/>
            <a:ext cx="43624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8" name="Rectangle 10"/>
          <p:cNvSpPr>
            <a:spLocks noChangeArrowheads="1"/>
          </p:cNvSpPr>
          <p:nvPr/>
        </p:nvSpPr>
        <p:spPr bwMode="auto">
          <a:xfrm>
            <a:off x="5348288" y="3686175"/>
            <a:ext cx="665162" cy="1031875"/>
          </a:xfrm>
          <a:prstGeom prst="rect">
            <a:avLst/>
          </a:prstGeom>
          <a:solidFill>
            <a:srgbClr val="009682"/>
          </a:soli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FFFF"/>
              </a:solidFill>
              <a:effectLst/>
              <a:uLnTx/>
              <a:uFillTx/>
              <a:latin typeface="Verdana" panose="020B0604030504040204" pitchFamily="34" charset="0"/>
              <a:ea typeface="MS PGothic" panose="020B0600070205080204" pitchFamily="34" charset="-128"/>
              <a:cs typeface="Times New Roman" panose="02020603050405020304" pitchFamily="18" charset="0"/>
            </a:endParaRPr>
          </a:p>
        </p:txBody>
      </p:sp>
      <p:sp>
        <p:nvSpPr>
          <p:cNvPr id="9" name="Rectangle 11"/>
          <p:cNvSpPr>
            <a:spLocks noChangeArrowheads="1"/>
          </p:cNvSpPr>
          <p:nvPr/>
        </p:nvSpPr>
        <p:spPr bwMode="auto">
          <a:xfrm>
            <a:off x="5359400" y="3341688"/>
            <a:ext cx="665163" cy="138112"/>
          </a:xfrm>
          <a:prstGeom prst="rect">
            <a:avLst/>
          </a:prstGeom>
          <a:solidFill>
            <a:srgbClr val="00FF00"/>
          </a:solidFill>
          <a:ln w="9525">
            <a:solidFill>
              <a:srgbClr val="000000"/>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FFFFFF"/>
              </a:solidFill>
              <a:effectLst/>
              <a:uLnTx/>
              <a:uFillTx/>
              <a:latin typeface="Verdana" panose="020B0604030504040204" pitchFamily="34" charset="0"/>
              <a:ea typeface="MS PGothic" panose="020B0600070205080204" pitchFamily="34" charset="-128"/>
              <a:cs typeface="Times New Roman" panose="02020603050405020304" pitchFamily="18" charset="0"/>
            </a:endParaRPr>
          </a:p>
        </p:txBody>
      </p:sp>
      <p:sp>
        <p:nvSpPr>
          <p:cNvPr id="10" name="Text Box 12"/>
          <p:cNvSpPr txBox="1">
            <a:spLocks noChangeArrowheads="1"/>
          </p:cNvSpPr>
          <p:nvPr/>
        </p:nvSpPr>
        <p:spPr bwMode="auto">
          <a:xfrm>
            <a:off x="908050" y="2416175"/>
            <a:ext cx="2571750" cy="466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GB" altLang="en-US" sz="2400" b="0" i="0" u="none" strike="noStrike" kern="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Protein-bound drug</a:t>
            </a:r>
          </a:p>
        </p:txBody>
      </p:sp>
      <p:sp>
        <p:nvSpPr>
          <p:cNvPr id="11" name="Text Box 14"/>
          <p:cNvSpPr txBox="1">
            <a:spLocks noChangeArrowheads="1"/>
          </p:cNvSpPr>
          <p:nvPr/>
        </p:nvSpPr>
        <p:spPr bwMode="auto">
          <a:xfrm>
            <a:off x="6986588" y="3824288"/>
            <a:ext cx="1438275" cy="4651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GB" altLang="en-US" sz="2400" b="0" i="0" u="none" strike="noStrike" kern="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Free Drug</a:t>
            </a:r>
          </a:p>
        </p:txBody>
      </p:sp>
      <p:sp>
        <p:nvSpPr>
          <p:cNvPr id="12" name="Line 15"/>
          <p:cNvSpPr>
            <a:spLocks noChangeShapeType="1"/>
          </p:cNvSpPr>
          <p:nvPr/>
        </p:nvSpPr>
        <p:spPr bwMode="auto">
          <a:xfrm flipH="1" flipV="1">
            <a:off x="5876925" y="3411538"/>
            <a:ext cx="1109663" cy="6191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13" name="Text Box 16"/>
          <p:cNvSpPr txBox="1">
            <a:spLocks noChangeArrowheads="1"/>
          </p:cNvSpPr>
          <p:nvPr/>
        </p:nvSpPr>
        <p:spPr bwMode="auto">
          <a:xfrm>
            <a:off x="5418138" y="2003425"/>
            <a:ext cx="1839912" cy="466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GB" altLang="en-US" sz="2400" b="0" i="0" u="none" strike="noStrike" kern="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Receptor Site</a:t>
            </a:r>
          </a:p>
        </p:txBody>
      </p:sp>
      <p:sp>
        <p:nvSpPr>
          <p:cNvPr id="14" name="Line 17"/>
          <p:cNvSpPr>
            <a:spLocks noChangeShapeType="1"/>
          </p:cNvSpPr>
          <p:nvPr/>
        </p:nvSpPr>
        <p:spPr bwMode="auto">
          <a:xfrm flipH="1">
            <a:off x="5654675" y="2447925"/>
            <a:ext cx="666750" cy="8937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15" name="AutoShape 18"/>
          <p:cNvSpPr>
            <a:spLocks noChangeArrowheads="1"/>
          </p:cNvSpPr>
          <p:nvPr/>
        </p:nvSpPr>
        <p:spPr bwMode="auto">
          <a:xfrm>
            <a:off x="3798888" y="3103563"/>
            <a:ext cx="609600" cy="304800"/>
          </a:xfrm>
          <a:prstGeom prst="plaque">
            <a:avLst>
              <a:gd name="adj" fmla="val 16667"/>
            </a:avLst>
          </a:prstGeom>
          <a:solidFill>
            <a:srgbClr val="3333FF"/>
          </a:solidFill>
          <a:ln>
            <a:noFill/>
          </a:ln>
          <a:extLs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defTabSz="914400" fontAlgn="base">
              <a:spcBef>
                <a:spcPct val="0"/>
              </a:spcBef>
              <a:spcAft>
                <a:spcPct val="0"/>
              </a:spcAft>
            </a:pPr>
            <a:endParaRPr lang="en-US" altLang="en-US" sz="2000">
              <a:solidFill>
                <a:srgbClr val="FFFFFF"/>
              </a:solidFill>
              <a:latin typeface="Verdana" panose="020B0604030504040204" pitchFamily="34" charset="0"/>
              <a:cs typeface="Times New Roman" panose="02020603050405020304" pitchFamily="18" charset="0"/>
            </a:endParaRPr>
          </a:p>
        </p:txBody>
      </p:sp>
      <p:sp>
        <p:nvSpPr>
          <p:cNvPr id="16" name="AutoShape 19"/>
          <p:cNvSpPr>
            <a:spLocks noChangeArrowheads="1"/>
          </p:cNvSpPr>
          <p:nvPr/>
        </p:nvSpPr>
        <p:spPr bwMode="auto">
          <a:xfrm>
            <a:off x="5410200" y="3033713"/>
            <a:ext cx="609600" cy="304800"/>
          </a:xfrm>
          <a:prstGeom prst="plaque">
            <a:avLst>
              <a:gd name="adj" fmla="val 16667"/>
            </a:avLst>
          </a:prstGeom>
          <a:solidFill>
            <a:srgbClr val="3333FF"/>
          </a:solidFill>
          <a:ln>
            <a:noFill/>
          </a:ln>
          <a:extLs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defTabSz="914400" fontAlgn="base">
              <a:spcBef>
                <a:spcPct val="0"/>
              </a:spcBef>
              <a:spcAft>
                <a:spcPct val="0"/>
              </a:spcAft>
            </a:pPr>
            <a:endParaRPr lang="en-US" altLang="en-US" sz="2000">
              <a:solidFill>
                <a:srgbClr val="FFFFFF"/>
              </a:solidFill>
              <a:latin typeface="Verdana" panose="020B0604030504040204" pitchFamily="34" charset="0"/>
              <a:cs typeface="Times New Roman" panose="02020603050405020304" pitchFamily="18" charset="0"/>
            </a:endParaRPr>
          </a:p>
        </p:txBody>
      </p:sp>
      <p:sp>
        <p:nvSpPr>
          <p:cNvPr id="17" name="Line 13"/>
          <p:cNvSpPr>
            <a:spLocks noChangeShapeType="1"/>
          </p:cNvSpPr>
          <p:nvPr/>
        </p:nvSpPr>
        <p:spPr bwMode="auto">
          <a:xfrm>
            <a:off x="2020888" y="2895600"/>
            <a:ext cx="1774825" cy="1306513"/>
          </a:xfrm>
          <a:prstGeom prst="line">
            <a:avLst/>
          </a:prstGeom>
          <a:noFill/>
          <a:ln w="9525">
            <a:solidFill>
              <a:srgbClr val="4F2B02"/>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US" sz="2000" kern="0">
              <a:solidFill>
                <a:srgbClr val="FAF8F4"/>
              </a:solidFill>
              <a:latin typeface="Verdana" panose="020B0604030504040204" pitchFamily="34" charset="0"/>
              <a:ea typeface="MS PGothic" panose="020B0600070205080204" pitchFamily="34" charset="-128"/>
              <a:cs typeface="Times New Roman" panose="02020603050405020304" pitchFamily="18" charset="0"/>
            </a:endParaRPr>
          </a:p>
        </p:txBody>
      </p:sp>
      <p:sp>
        <p:nvSpPr>
          <p:cNvPr id="18" name="Rectangle 2"/>
          <p:cNvSpPr txBox="1">
            <a:spLocks noChangeArrowheads="1"/>
          </p:cNvSpPr>
          <p:nvPr/>
        </p:nvSpPr>
        <p:spPr bwMode="auto">
          <a:xfrm>
            <a:off x="553244" y="773263"/>
            <a:ext cx="7408862"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en-US" sz="2800" kern="0" dirty="0">
                <a:solidFill>
                  <a:srgbClr val="00B050"/>
                </a:solidFill>
                <a:latin typeface="Bradley Hand ITC" panose="03070402050302030203" pitchFamily="66" charset="0"/>
              </a:rPr>
              <a:t>Plasma-</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sz="2800" kern="0" dirty="0">
                <a:solidFill>
                  <a:srgbClr val="00B050"/>
                </a:solidFill>
                <a:latin typeface="Bradley Hand ITC" panose="03070402050302030203" pitchFamily="66" charset="0"/>
              </a:rPr>
              <a:t>Protein</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sz="2800" kern="0" dirty="0">
                <a:solidFill>
                  <a:srgbClr val="00B050"/>
                </a:solidFill>
                <a:latin typeface="Bradley Hand ITC" panose="03070402050302030203" pitchFamily="66" charset="0"/>
              </a:rPr>
              <a:t>Binding</a:t>
            </a:r>
            <a:endParaRPr lang="en-GB" altLang="en-US" sz="2800" kern="0" dirty="0">
              <a:solidFill>
                <a:srgbClr val="00B050"/>
              </a:solidFill>
              <a:latin typeface="Bradley Hand ITC" panose="03070402050302030203" pitchFamily="66" charset="0"/>
            </a:endParaRPr>
          </a:p>
        </p:txBody>
      </p:sp>
    </p:spTree>
    <p:extLst>
      <p:ext uri="{BB962C8B-B14F-4D97-AF65-F5344CB8AC3E}">
        <p14:creationId xmlns:p14="http://schemas.microsoft.com/office/powerpoint/2010/main" val="243055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144793"/>
            <a:ext cx="8382000"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rPr>
              <a:t>Quite a number of drugs bind to circulating plasma proteins. </a:t>
            </a:r>
            <a:r>
              <a:rPr kumimoji="0" lang="en-US" sz="2400" b="1" i="1" u="none" strike="noStrike" kern="0" cap="none" spc="0" normalizeH="0" baseline="0" noProof="0" dirty="0">
                <a:ln>
                  <a:noFill/>
                </a:ln>
                <a:solidFill>
                  <a:srgbClr val="000000"/>
                </a:solidFill>
                <a:effectLst/>
                <a:uLnTx/>
                <a:uFillTx/>
                <a:latin typeface="Arial"/>
                <a:ea typeface="MS PGothic" pitchFamily="34" charset="-128"/>
                <a:cs typeface="+mn-cs"/>
              </a:rPr>
              <a:t>mainly </a:t>
            </a:r>
            <a:r>
              <a:rPr kumimoji="0" lang="en-US" sz="2400" b="1" i="1" u="none" strike="noStrike" kern="0" cap="none" spc="0" normalizeH="0" baseline="0" noProof="0" dirty="0">
                <a:ln>
                  <a:noFill/>
                </a:ln>
                <a:solidFill>
                  <a:srgbClr val="FF0000"/>
                </a:solidFill>
                <a:effectLst/>
                <a:uLnTx/>
                <a:uFillTx/>
                <a:latin typeface="Arial"/>
                <a:ea typeface="MS PGothic" pitchFamily="34" charset="-128"/>
                <a:cs typeface="+mn-cs"/>
              </a:rPr>
              <a:t>albumin</a:t>
            </a:r>
            <a:r>
              <a:rPr kumimoji="0" lang="en-US" sz="2400" b="1" i="1" u="none" strike="noStrike" kern="0" cap="none" spc="0" normalizeH="0" baseline="0" noProof="0" dirty="0">
                <a:ln>
                  <a:noFill/>
                </a:ln>
                <a:solidFill>
                  <a:srgbClr val="000000"/>
                </a:solidFill>
                <a:effectLst/>
                <a:uLnTx/>
                <a:uFillTx/>
                <a:latin typeface="Arial"/>
                <a:ea typeface="MS PGothic" pitchFamily="34" charset="-128"/>
                <a:cs typeface="+mn-cs"/>
              </a:rPr>
              <a:t> but </a:t>
            </a:r>
            <a:r>
              <a:rPr kumimoji="0" lang="en-US" sz="2400" b="1" i="1" u="none" strike="noStrike" kern="0" cap="none" spc="0" normalizeH="0" baseline="0" noProof="0" dirty="0">
                <a:ln>
                  <a:noFill/>
                </a:ln>
                <a:solidFill>
                  <a:srgbClr val="FF0000"/>
                </a:solidFill>
                <a:effectLst/>
                <a:uLnTx/>
                <a:uFillTx/>
                <a:latin typeface="Arial"/>
                <a:ea typeface="MS PGothic" pitchFamily="34" charset="-128"/>
                <a:cs typeface="+mn-cs"/>
              </a:rPr>
              <a:t>globulins</a:t>
            </a:r>
            <a:r>
              <a:rPr kumimoji="0" lang="en-US" sz="2400" b="1" i="1" u="none" strike="noStrike" kern="0" cap="none" spc="0" normalizeH="0" baseline="0" noProof="0" dirty="0">
                <a:ln>
                  <a:noFill/>
                </a:ln>
                <a:solidFill>
                  <a:srgbClr val="000000"/>
                </a:solidFill>
                <a:effectLst/>
                <a:uLnTx/>
                <a:uFillTx/>
                <a:latin typeface="Arial"/>
                <a:ea typeface="MS PGothic" pitchFamily="34" charset="-128"/>
                <a:cs typeface="+mn-cs"/>
              </a:rPr>
              <a:t>, </a:t>
            </a:r>
            <a:r>
              <a:rPr kumimoji="0" lang="en-US" sz="2400" b="1" i="1" u="none" strike="noStrike" kern="0" cap="none" spc="0" normalizeH="0" baseline="0" noProof="0" dirty="0">
                <a:ln>
                  <a:noFill/>
                </a:ln>
                <a:solidFill>
                  <a:srgbClr val="FF0000"/>
                </a:solidFill>
                <a:effectLst/>
                <a:uLnTx/>
                <a:uFillTx/>
                <a:latin typeface="Arial"/>
                <a:ea typeface="MS PGothic" pitchFamily="34" charset="-128"/>
                <a:cs typeface="+mn-cs"/>
              </a:rPr>
              <a:t>lipoproteins</a:t>
            </a:r>
            <a:r>
              <a:rPr kumimoji="0" lang="en-US" sz="2400" b="1" i="1" u="none" strike="noStrike" kern="0" cap="none" spc="0" normalizeH="0" baseline="0" noProof="0" dirty="0">
                <a:ln>
                  <a:noFill/>
                </a:ln>
                <a:solidFill>
                  <a:srgbClr val="000000"/>
                </a:solidFill>
                <a:effectLst/>
                <a:uLnTx/>
                <a:uFillTx/>
                <a:latin typeface="Arial"/>
                <a:ea typeface="MS PGothic" pitchFamily="34" charset="-128"/>
                <a:cs typeface="+mn-cs"/>
              </a:rPr>
              <a:t> and </a:t>
            </a:r>
            <a:r>
              <a:rPr kumimoji="0" lang="en-US" sz="2400" b="1" i="1" u="none" strike="noStrike" kern="0" cap="none" spc="0" normalizeH="0" baseline="0" noProof="0" dirty="0">
                <a:ln>
                  <a:noFill/>
                </a:ln>
                <a:solidFill>
                  <a:srgbClr val="FF0000"/>
                </a:solidFill>
                <a:effectLst/>
                <a:uLnTx/>
                <a:uFillTx/>
                <a:latin typeface="Arial"/>
                <a:ea typeface="MS PGothic" pitchFamily="34" charset="-128"/>
                <a:cs typeface="+mn-cs"/>
              </a:rPr>
              <a:t>acid glycoprotein's</a:t>
            </a:r>
            <a:r>
              <a:rPr kumimoji="0" lang="en-US" sz="2400" b="1" i="1" u="none" strike="noStrike" kern="0" cap="none" spc="0" normalizeH="0" baseline="0" noProof="0" dirty="0">
                <a:ln>
                  <a:noFill/>
                </a:ln>
                <a:solidFill>
                  <a:srgbClr val="000000"/>
                </a:solidFill>
                <a:effectLst/>
                <a:uLnTx/>
                <a:uFillTx/>
                <a:latin typeface="Arial"/>
                <a:ea typeface="MS PGothic" pitchFamily="34" charset="-128"/>
                <a:cs typeface="+mn-cs"/>
              </a:rPr>
              <a:t> can also bind to drugs</a:t>
            </a: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rPr>
              <a:t>The acidic drugs bind mainly to </a:t>
            </a:r>
            <a:r>
              <a:rPr kumimoji="0" lang="en-US" sz="2400" b="0" i="0" u="sng" strike="noStrike" kern="0" cap="none" spc="0" normalizeH="0" baseline="0" noProof="0" dirty="0">
                <a:ln>
                  <a:noFill/>
                </a:ln>
                <a:solidFill>
                  <a:srgbClr val="000000"/>
                </a:solidFill>
                <a:effectLst/>
                <a:uLnTx/>
                <a:uFillTx/>
                <a:latin typeface="Arial"/>
                <a:ea typeface="MS PGothic" pitchFamily="34" charset="-128"/>
                <a:cs typeface="+mn-cs"/>
              </a:rPr>
              <a:t>plasma albumin</a:t>
            </a: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rPr>
              <a:t> whilst the basic drugs bind to </a:t>
            </a:r>
            <a:r>
              <a:rPr kumimoji="0" lang="en-US" sz="2400" b="0" i="0" u="sng" strike="noStrike" kern="0" cap="none" spc="0" normalizeH="0" baseline="0" noProof="0" dirty="0">
                <a:ln>
                  <a:noFill/>
                </a:ln>
                <a:solidFill>
                  <a:srgbClr val="000000"/>
                </a:solidFill>
                <a:effectLst/>
                <a:uLnTx/>
                <a:uFillTx/>
                <a:latin typeface="Arial"/>
                <a:ea typeface="MS PGothic" pitchFamily="34" charset="-128"/>
                <a:cs typeface="+mn-cs"/>
                <a:sym typeface="Symbol" pitchFamily="18" charset="2"/>
              </a:rPr>
              <a:t></a:t>
            </a:r>
            <a:r>
              <a:rPr kumimoji="0" lang="en-US" sz="2400" b="0" i="0" u="sng" strike="noStrike" kern="0" cap="none" spc="0" normalizeH="0" baseline="-25000" noProof="0" dirty="0">
                <a:ln>
                  <a:noFill/>
                </a:ln>
                <a:solidFill>
                  <a:srgbClr val="000000"/>
                </a:solidFill>
                <a:effectLst/>
                <a:uLnTx/>
                <a:uFillTx/>
                <a:latin typeface="Arial"/>
                <a:ea typeface="MS PGothic" pitchFamily="34" charset="-128"/>
                <a:cs typeface="+mn-cs"/>
              </a:rPr>
              <a:t>1</a:t>
            </a:r>
            <a:r>
              <a:rPr kumimoji="0" lang="en-US" sz="2400" b="0" i="0" u="sng" strike="noStrike" kern="0" cap="none" spc="0" normalizeH="0" baseline="0" noProof="0" dirty="0">
                <a:ln>
                  <a:noFill/>
                </a:ln>
                <a:solidFill>
                  <a:srgbClr val="000000"/>
                </a:solidFill>
                <a:effectLst/>
                <a:uLnTx/>
                <a:uFillTx/>
                <a:latin typeface="Arial"/>
                <a:ea typeface="MS PGothic" pitchFamily="34" charset="-128"/>
                <a:cs typeface="+mn-cs"/>
              </a:rPr>
              <a:t>-acid glycoprotein(a globulin).</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endPar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cs typeface="+mn-cs"/>
              </a:rPr>
              <a:t>The amount of drug that binds the plasma proteins depends on:</a:t>
            </a:r>
          </a:p>
          <a:p>
            <a:pPr marL="774700" marR="0" lvl="1"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rPr>
              <a:t>The free drug concentration.</a:t>
            </a:r>
          </a:p>
          <a:p>
            <a:pPr marL="774700" marR="0" lvl="1"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rPr>
              <a:t>Affinity of the drug for the binding sites.</a:t>
            </a:r>
          </a:p>
          <a:p>
            <a:pPr marL="774700" marR="0" lvl="1"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400" b="0" i="0" u="none" strike="noStrike" kern="0" cap="none" spc="0" normalizeH="0" baseline="0" noProof="0" dirty="0">
                <a:ln>
                  <a:noFill/>
                </a:ln>
                <a:solidFill>
                  <a:srgbClr val="000000"/>
                </a:solidFill>
                <a:effectLst/>
                <a:uLnTx/>
                <a:uFillTx/>
                <a:latin typeface="Arial"/>
                <a:ea typeface="MS PGothic" pitchFamily="34" charset="-128"/>
              </a:rPr>
              <a:t>The protein concentration in the body-</a:t>
            </a:r>
            <a:r>
              <a:rPr kumimoji="0" lang="en-US" sz="2400" b="0" i="0" u="none" strike="noStrike" kern="0" cap="none" spc="0" normalizeH="0" noProof="0" dirty="0">
                <a:ln>
                  <a:noFill/>
                </a:ln>
                <a:solidFill>
                  <a:srgbClr val="000000"/>
                </a:solidFill>
                <a:effectLst/>
                <a:uLnTx/>
                <a:uFillTx/>
                <a:latin typeface="Arial"/>
                <a:ea typeface="MS PGothic" pitchFamily="34" charset="-128"/>
              </a:rPr>
              <a:t> </a:t>
            </a:r>
            <a:r>
              <a:rPr kumimoji="0" lang="en-US" sz="1400" b="0" i="0" u="none" strike="noStrike" kern="0" cap="none" spc="0" normalizeH="0" noProof="0" dirty="0">
                <a:ln>
                  <a:noFill/>
                </a:ln>
                <a:solidFill>
                  <a:srgbClr val="000000"/>
                </a:solidFill>
                <a:effectLst/>
                <a:uLnTx/>
                <a:uFillTx/>
                <a:latin typeface="Arial"/>
                <a:ea typeface="MS PGothic" pitchFamily="34" charset="-128"/>
              </a:rPr>
              <a:t>Conditions that affect protein levels affect drug-protein binding and distribution (Burns, CKD, Liver disease, malnutrition)</a:t>
            </a:r>
            <a:endParaRPr kumimoji="0" lang="en-US" sz="1400" b="0" i="0" u="none" strike="noStrike" kern="0" cap="none" spc="0" normalizeH="0" baseline="0" noProof="0" dirty="0">
              <a:ln>
                <a:noFill/>
              </a:ln>
              <a:solidFill>
                <a:srgbClr val="000000"/>
              </a:solidFill>
              <a:effectLst/>
              <a:uLnTx/>
              <a:uFillTx/>
              <a:latin typeface="Arial"/>
              <a:ea typeface="MS PGothic" pitchFamily="34" charset="-128"/>
            </a:endParaRPr>
          </a:p>
          <a:p>
            <a:pPr marL="314325" marR="0" lvl="0" indent="-314325" algn="l"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2400" b="0" i="0" u="sng"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bwMode="auto">
          <a:xfrm>
            <a:off x="987911" y="237594"/>
            <a:ext cx="75438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2800" kern="0" dirty="0">
                <a:solidFill>
                  <a:srgbClr val="00B050"/>
                </a:solidFill>
                <a:latin typeface="Bradley Hand ITC" panose="03070402050302030203" pitchFamily="66" charset="0"/>
              </a:rPr>
              <a:t>Distribution: BINDING TO PLASMA PROTEINS</a:t>
            </a:r>
          </a:p>
        </p:txBody>
      </p:sp>
    </p:spTree>
    <p:extLst>
      <p:ext uri="{BB962C8B-B14F-4D97-AF65-F5344CB8AC3E}">
        <p14:creationId xmlns:p14="http://schemas.microsoft.com/office/powerpoint/2010/main" val="27140635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3"/>
          <a:stretch>
            <a:fillRect/>
          </a:stretch>
        </p:blipFill>
        <p:spPr>
          <a:xfrm>
            <a:off x="1641757" y="180694"/>
            <a:ext cx="6362700" cy="5743575"/>
          </a:xfrm>
          <a:prstGeom prst="rect">
            <a:avLst/>
          </a:prstGeom>
        </p:spPr>
      </p:pic>
    </p:spTree>
    <p:extLst>
      <p:ext uri="{BB962C8B-B14F-4D97-AF65-F5344CB8AC3E}">
        <p14:creationId xmlns:p14="http://schemas.microsoft.com/office/powerpoint/2010/main" val="23400500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49624" y="664284"/>
            <a:ext cx="8382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314325" marR="0" lvl="0"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Usually it is the unbound or the free drug that distributes into the tissues of the body, </a:t>
            </a:r>
            <a:r>
              <a:rPr kumimoji="0" lang="en-US" altLang="en-US" sz="2400" b="1" i="1"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a:t>
            </a:r>
            <a:r>
              <a:rPr kumimoji="0" lang="en-US" altLang="en-US" sz="2400" b="1" i="1" u="none" strike="noStrike" kern="0" cap="none" spc="0" normalizeH="0" baseline="0" noProof="0" dirty="0">
                <a:ln>
                  <a:noFill/>
                </a:ln>
                <a:solidFill>
                  <a:srgbClr val="000000"/>
                </a:solidFill>
                <a:effectLst/>
                <a:uLnTx/>
                <a:uFillTx/>
                <a:latin typeface="Arial"/>
                <a:ea typeface="MS PGothic" pitchFamily="34" charset="-128"/>
                <a:cs typeface="+mn-cs"/>
              </a:rPr>
              <a:t> responsible for the clinical effect or toxicity of drug. </a:t>
            </a:r>
          </a:p>
          <a:p>
            <a:pPr marL="314325" marR="0" lvl="0" indent="-314325"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NB:</a:t>
            </a:r>
          </a:p>
          <a:p>
            <a:pPr marL="314325" marR="0" lvl="0"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 Only the unbound drug can </a:t>
            </a:r>
          </a:p>
          <a:p>
            <a:pPr marL="790575" marR="0" lvl="1" indent="-314325" algn="l"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rPr>
              <a:t>bind to receptors to elicit Pharmacological response</a:t>
            </a:r>
          </a:p>
          <a:p>
            <a:pPr marL="790575" marR="0" lvl="1" indent="-314325" algn="l"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rPr>
              <a:t> cross tissue membranes, gain access to cellular enzymes,</a:t>
            </a:r>
          </a:p>
          <a:p>
            <a:pPr marL="790575" marR="0" lvl="1" indent="-314325" algn="l"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rPr>
              <a:t> be metabolized and excreted from the body</a:t>
            </a:r>
          </a:p>
          <a:p>
            <a:pPr marL="314325" marR="0" lvl="0" indent="-314325" algn="l" defTabSz="914400" rtl="0" eaLnBrk="1" fontAlgn="base" latinLnBrk="0" hangingPunct="1">
              <a:lnSpc>
                <a:spcPct val="80000"/>
              </a:lnSpc>
              <a:spcBef>
                <a:spcPct val="20000"/>
              </a:spcBef>
              <a:spcAft>
                <a:spcPct val="0"/>
              </a:spcAft>
              <a:buClrTx/>
              <a:buSzTx/>
              <a:buFontTx/>
              <a:buBlip>
                <a:blip r:embed="rId3"/>
              </a:buBlip>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Increased plasma concentration of free drug may be clinically relevant </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if the drug is highly protein bound</a:t>
            </a:r>
          </a:p>
          <a:p>
            <a:pPr marL="314325" marR="0" lvl="0" indent="-314325"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                 OR </a:t>
            </a:r>
          </a:p>
          <a:p>
            <a:pPr marL="314325" marR="0" lvl="0"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n-cs"/>
              </a:rPr>
              <a:t>not clinically relevant</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mn-cs"/>
              </a:rPr>
              <a:t> if the change in plasma concentration is a transient increase. </a:t>
            </a:r>
          </a:p>
        </p:txBody>
      </p:sp>
      <p:sp>
        <p:nvSpPr>
          <p:cNvPr id="4" name="Rectangle 2"/>
          <p:cNvSpPr txBox="1">
            <a:spLocks noChangeArrowheads="1"/>
          </p:cNvSpPr>
          <p:nvPr/>
        </p:nvSpPr>
        <p:spPr bwMode="auto">
          <a:xfrm>
            <a:off x="457200" y="122238"/>
            <a:ext cx="75438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0" cap="none" spc="0" normalizeH="0" baseline="0" noProof="0">
                <a:ln>
                  <a:noFill/>
                </a:ln>
                <a:solidFill>
                  <a:srgbClr val="00B050"/>
                </a:solidFill>
                <a:effectLst/>
                <a:uLnTx/>
                <a:uFillTx/>
                <a:latin typeface="Arial"/>
                <a:ea typeface="MS PGothic" pitchFamily="34" charset="-128"/>
                <a:cs typeface="+mj-cs"/>
              </a:rPr>
              <a:t>Protein binding &amp; drug distribution</a:t>
            </a:r>
            <a:endParaRPr kumimoji="0" lang="en-US" altLang="en-US" sz="2800" b="0" i="0" u="none" strike="noStrike" kern="0" cap="none" spc="0" normalizeH="0" baseline="0" noProof="0" dirty="0">
              <a:ln>
                <a:noFill/>
              </a:ln>
              <a:solidFill>
                <a:srgbClr val="00B050"/>
              </a:solidFill>
              <a:effectLst/>
              <a:uLnTx/>
              <a:uFillTx/>
              <a:latin typeface="Arial"/>
              <a:ea typeface="MS PGothic" pitchFamily="34" charset="-128"/>
              <a:cs typeface="+mj-cs"/>
            </a:endParaRPr>
          </a:p>
        </p:txBody>
      </p:sp>
    </p:spTree>
    <p:extLst>
      <p:ext uri="{BB962C8B-B14F-4D97-AF65-F5344CB8AC3E}">
        <p14:creationId xmlns:p14="http://schemas.microsoft.com/office/powerpoint/2010/main" val="13671243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txBox="1">
            <a:spLocks/>
          </p:cNvSpPr>
          <p:nvPr/>
        </p:nvSpPr>
        <p:spPr bwMode="auto">
          <a:xfrm>
            <a:off x="3124200" y="6400800"/>
            <a:ext cx="2895600" cy="4572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de-DE"/>
            </a:defPPr>
            <a:lvl1pPr algn="l" rtl="0" eaLnBrk="0" fontAlgn="base" hangingPunct="0">
              <a:spcBef>
                <a:spcPct val="0"/>
              </a:spcBef>
              <a:spcAft>
                <a:spcPct val="0"/>
              </a:spcAft>
              <a:defRPr sz="900" kern="1200">
                <a:solidFill>
                  <a:schemeClr val="tx1"/>
                </a:solidFill>
                <a:latin typeface="Arial" charset="0"/>
                <a:ea typeface="ＭＳ Ｐゴシック" charset="-128"/>
                <a:cs typeface="+mn-cs"/>
              </a:defRPr>
            </a:lvl1pPr>
            <a:lvl2pPr marL="742950" indent="-28575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2pPr>
            <a:lvl3pPr marL="11430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3pPr>
            <a:lvl4pPr marL="16002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4pPr>
            <a:lvl5pPr marL="2057400" indent="-228600" algn="l" rtl="0" eaLnBrk="0" fontAlgn="base" hangingPunct="0">
              <a:spcBef>
                <a:spcPct val="0"/>
              </a:spcBef>
              <a:spcAft>
                <a:spcPct val="0"/>
              </a:spcAft>
              <a:defRPr kern="1200">
                <a:solidFill>
                  <a:schemeClr val="tx1"/>
                </a:solidFill>
                <a:latin typeface="Arial" charset="0"/>
                <a:ea typeface="MS PGothic" panose="020B0600070205080204" pitchFamily="34" charset="-128"/>
                <a:cs typeface="+mn-cs"/>
              </a:defRPr>
            </a:lvl5pPr>
            <a:lvl6pPr marL="25146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6pPr>
            <a:lvl7pPr marL="29718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7pPr>
            <a:lvl8pPr marL="34290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8pPr>
            <a:lvl9pPr marL="3886200" indent="-228600" algn="l" defTabSz="914400" rtl="0" eaLnBrk="0" fontAlgn="base" latinLnBrk="0" hangingPunct="0">
              <a:spcBef>
                <a:spcPct val="0"/>
              </a:spcBef>
              <a:spcAft>
                <a:spcPct val="0"/>
              </a:spcAft>
              <a:defRPr kern="1200">
                <a:solidFill>
                  <a:schemeClr val="tx1"/>
                </a:solidFill>
                <a:latin typeface="Arial" charset="0"/>
                <a:ea typeface="MS PGothic" panose="020B0600070205080204" pitchFamily="34"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Arial" charset="0"/>
                <a:ea typeface="ＭＳ Ｐゴシック" charset="-128"/>
                <a:cs typeface="+mn-cs"/>
              </a:rPr>
              <a:t>GEN. INTRO. PHARMACOLOGY</a:t>
            </a:r>
            <a:endParaRPr kumimoji="0" lang="en-US" altLang="en-US" sz="900" b="0" i="0" u="none" strike="noStrike" kern="1200" cap="none" spc="0" normalizeH="0" baseline="0" noProof="0" dirty="0">
              <a:ln>
                <a:noFill/>
              </a:ln>
              <a:solidFill>
                <a:srgbClr val="000000"/>
              </a:solidFill>
              <a:effectLst/>
              <a:uLnTx/>
              <a:uFillTx/>
              <a:latin typeface="Arial" charset="0"/>
              <a:ea typeface="ＭＳ Ｐゴシック" charset="-128"/>
              <a:cs typeface="+mn-cs"/>
            </a:endParaRPr>
          </a:p>
        </p:txBody>
      </p:sp>
      <p:sp>
        <p:nvSpPr>
          <p:cNvPr id="4" name="Slide Number Placeholder 5"/>
          <p:cNvSpPr txBox="1">
            <a:spLocks/>
          </p:cNvSpPr>
          <p:nvPr/>
        </p:nvSpPr>
        <p:spPr bwMode="auto">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457200" rtl="0" eaLnBrk="1" latinLnBrk="0" hangingPunct="1">
              <a:spcBef>
                <a:spcPct val="20000"/>
              </a:spcBef>
              <a:buBlip>
                <a:blip r:embed="rId2"/>
              </a:buBlip>
              <a:defRPr sz="2000" kern="1200">
                <a:solidFill>
                  <a:schemeClr val="tx1"/>
                </a:solidFill>
                <a:latin typeface="Arial" panose="020B0604020202020204" pitchFamily="34" charset="0"/>
                <a:ea typeface="MS PGothic" panose="020B0600070205080204" pitchFamily="34" charset="-128"/>
                <a:cs typeface="+mn-cs"/>
              </a:defRPr>
            </a:lvl1pPr>
            <a:lvl2pPr marL="742950" indent="-285750" algn="l" defTabSz="457200" rtl="0" eaLnBrk="1" latinLnBrk="0" hangingPunct="1">
              <a:spcBef>
                <a:spcPct val="20000"/>
              </a:spcBef>
              <a:buBlip>
                <a:blip r:embed="rId3"/>
              </a:buBlip>
              <a:defRPr sz="1800" kern="1200">
                <a:solidFill>
                  <a:schemeClr val="tx1"/>
                </a:solidFill>
                <a:latin typeface="Arial" panose="020B0604020202020204" pitchFamily="34" charset="0"/>
                <a:ea typeface="MS PGothic" panose="020B0600070205080204" pitchFamily="34" charset="-128"/>
                <a:cs typeface="+mn-cs"/>
              </a:defRPr>
            </a:lvl2pPr>
            <a:lvl3pPr marL="1143000" indent="-228600" algn="l" defTabSz="457200" rtl="0" eaLnBrk="1" latinLnBrk="0" hangingPunct="1">
              <a:spcBef>
                <a:spcPct val="20000"/>
              </a:spcBef>
              <a:buBlip>
                <a:blip r:embed="rId4"/>
              </a:buBlip>
              <a:defRPr sz="1600" kern="1200">
                <a:solidFill>
                  <a:schemeClr val="tx1"/>
                </a:solidFill>
                <a:latin typeface="Arial" panose="020B0604020202020204" pitchFamily="34" charset="0"/>
                <a:ea typeface="MS PGothic" panose="020B0600070205080204" pitchFamily="34" charset="-128"/>
                <a:cs typeface="+mn-cs"/>
              </a:defRPr>
            </a:lvl3pPr>
            <a:lvl4pPr marL="1600200" indent="-228600" algn="l" defTabSz="457200" rtl="0" eaLnBrk="1" latinLnBrk="0" hangingPunct="1">
              <a:spcBef>
                <a:spcPct val="20000"/>
              </a:spcBef>
              <a:buBlip>
                <a:blip r:embed="rId4"/>
              </a:buBlip>
              <a:defRPr sz="1600" kern="1200">
                <a:solidFill>
                  <a:schemeClr val="tx1"/>
                </a:solidFill>
                <a:latin typeface="Arial" panose="020B0604020202020204" pitchFamily="34" charset="0"/>
                <a:ea typeface="MS PGothic" panose="020B0600070205080204" pitchFamily="34" charset="-128"/>
                <a:cs typeface="+mn-cs"/>
              </a:defRPr>
            </a:lvl4pPr>
            <a:lvl5pPr marL="2057400" indent="-228600" algn="l" defTabSz="457200" rtl="0" eaLnBrk="1" latinLnBrk="0" hangingPunct="1">
              <a:spcBef>
                <a:spcPct val="20000"/>
              </a:spcBef>
              <a:buBlip>
                <a:blip r:embed="rId4"/>
              </a:buBlip>
              <a:defRPr sz="1600" kern="1200">
                <a:solidFill>
                  <a:schemeClr val="tx1"/>
                </a:solidFill>
                <a:latin typeface="Arial" panose="020B0604020202020204" pitchFamily="34" charset="0"/>
                <a:ea typeface="MS PGothic" panose="020B0600070205080204" pitchFamily="34" charset="-128"/>
                <a:cs typeface="+mn-cs"/>
              </a:defRPr>
            </a:lvl5pPr>
            <a:lvl6pPr marL="2514600" indent="-228600" algn="l" defTabSz="457200" rtl="0" eaLnBrk="0" fontAlgn="base" latinLnBrk="0" hangingPunct="0">
              <a:spcBef>
                <a:spcPct val="20000"/>
              </a:spcBef>
              <a:spcAft>
                <a:spcPct val="0"/>
              </a:spcAft>
              <a:buBlip>
                <a:blip r:embed="rId4"/>
              </a:buBlip>
              <a:defRPr sz="1600" kern="1200">
                <a:solidFill>
                  <a:schemeClr val="tx1"/>
                </a:solidFill>
                <a:latin typeface="Arial" panose="020B0604020202020204" pitchFamily="34" charset="0"/>
                <a:ea typeface="MS PGothic" panose="020B0600070205080204" pitchFamily="34" charset="-128"/>
                <a:cs typeface="+mn-cs"/>
              </a:defRPr>
            </a:lvl6pPr>
            <a:lvl7pPr marL="2971800" indent="-228600" algn="l" defTabSz="457200" rtl="0" eaLnBrk="0" fontAlgn="base" latinLnBrk="0" hangingPunct="0">
              <a:spcBef>
                <a:spcPct val="20000"/>
              </a:spcBef>
              <a:spcAft>
                <a:spcPct val="0"/>
              </a:spcAft>
              <a:buBlip>
                <a:blip r:embed="rId4"/>
              </a:buBlip>
              <a:defRPr sz="1600" kern="1200">
                <a:solidFill>
                  <a:schemeClr val="tx1"/>
                </a:solidFill>
                <a:latin typeface="Arial" panose="020B0604020202020204" pitchFamily="34" charset="0"/>
                <a:ea typeface="MS PGothic" panose="020B0600070205080204" pitchFamily="34" charset="-128"/>
                <a:cs typeface="+mn-cs"/>
              </a:defRPr>
            </a:lvl7pPr>
            <a:lvl8pPr marL="3429000" indent="-228600" algn="l" defTabSz="457200" rtl="0" eaLnBrk="0" fontAlgn="base" latinLnBrk="0" hangingPunct="0">
              <a:spcBef>
                <a:spcPct val="20000"/>
              </a:spcBef>
              <a:spcAft>
                <a:spcPct val="0"/>
              </a:spcAft>
              <a:buBlip>
                <a:blip r:embed="rId4"/>
              </a:buBlip>
              <a:defRPr sz="1600" kern="1200">
                <a:solidFill>
                  <a:schemeClr val="tx1"/>
                </a:solidFill>
                <a:latin typeface="Arial" panose="020B0604020202020204" pitchFamily="34" charset="0"/>
                <a:ea typeface="MS PGothic" panose="020B0600070205080204" pitchFamily="34" charset="-128"/>
                <a:cs typeface="+mn-cs"/>
              </a:defRPr>
            </a:lvl8pPr>
            <a:lvl9pPr marL="3886200" indent="-228600" algn="l" defTabSz="457200" rtl="0" eaLnBrk="0" fontAlgn="base" latinLnBrk="0" hangingPunct="0">
              <a:spcBef>
                <a:spcPct val="20000"/>
              </a:spcBef>
              <a:spcAft>
                <a:spcPct val="0"/>
              </a:spcAft>
              <a:buBlip>
                <a:blip r:embed="rId4"/>
              </a:buBlip>
              <a:defRPr sz="1600" kern="1200">
                <a:solidFill>
                  <a:schemeClr val="tx1"/>
                </a:solidFill>
                <a:latin typeface="Arial" panose="020B0604020202020204" pitchFamily="34" charset="0"/>
                <a:ea typeface="MS PGothic" panose="020B0600070205080204" pitchFamily="34" charset="-128"/>
                <a:cs typeface="+mn-cs"/>
              </a:defRPr>
            </a:lvl9pPr>
          </a:lstStyle>
          <a:p>
            <a:pPr defTabSz="914400" fontAlgn="base">
              <a:spcBef>
                <a:spcPct val="0"/>
              </a:spcBef>
              <a:spcAft>
                <a:spcPct val="0"/>
              </a:spcAft>
              <a:buFontTx/>
              <a:buNone/>
            </a:pPr>
            <a:fld id="{85871F5F-9DB0-4497-94A4-68A99D72FED7}" type="slidenum">
              <a:rPr lang="en-US" altLang="en-US" sz="1800" smtClean="0">
                <a:solidFill>
                  <a:srgbClr val="000000"/>
                </a:solidFill>
                <a:cs typeface="Arial" panose="020B0604020202020204" pitchFamily="34" charset="0"/>
              </a:rPr>
              <a:pPr defTabSz="914400" fontAlgn="base">
                <a:spcBef>
                  <a:spcPct val="0"/>
                </a:spcBef>
                <a:spcAft>
                  <a:spcPct val="0"/>
                </a:spcAft>
                <a:buFontTx/>
                <a:buNone/>
              </a:pPr>
              <a:t>79</a:t>
            </a:fld>
            <a:endParaRPr lang="en-US" altLang="en-US" sz="1800">
              <a:solidFill>
                <a:srgbClr val="000000"/>
              </a:solidFill>
              <a:cs typeface="Arial" panose="020B0604020202020204" pitchFamily="34" charset="0"/>
            </a:endParaRPr>
          </a:p>
        </p:txBody>
      </p:sp>
      <p:sp>
        <p:nvSpPr>
          <p:cNvPr id="5" name="Rectangle 2"/>
          <p:cNvSpPr txBox="1">
            <a:spLocks noChangeArrowheads="1"/>
          </p:cNvSpPr>
          <p:nvPr/>
        </p:nvSpPr>
        <p:spPr bwMode="auto">
          <a:xfrm>
            <a:off x="1214438" y="215900"/>
            <a:ext cx="6616700" cy="469900"/>
          </a:xfrm>
          <a:prstGeom prst="rect">
            <a:avLst/>
          </a:prstGeom>
          <a:solidFill>
            <a:srgbClr val="FFFFFF"/>
          </a:solidFill>
          <a:ln>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89323" tIns="45393" rIns="89323" bIns="45393" numCol="1" anchor="ctr"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500" b="1" i="0" u="none" strike="noStrike" kern="0" cap="none" spc="0" normalizeH="0" baseline="0" noProof="0" dirty="0">
                <a:ln>
                  <a:noFill/>
                </a:ln>
                <a:solidFill>
                  <a:srgbClr val="00B050"/>
                </a:solidFill>
                <a:effectLst/>
                <a:uLnTx/>
                <a:uFillTx/>
                <a:latin typeface="Arial"/>
                <a:ea typeface="MS PGothic" pitchFamily="34" charset="-128"/>
                <a:cs typeface="+mj-cs"/>
              </a:rPr>
              <a:t>Plasma binding of drugs</a:t>
            </a:r>
          </a:p>
        </p:txBody>
      </p:sp>
      <p:grpSp>
        <p:nvGrpSpPr>
          <p:cNvPr id="6" name="Group 3"/>
          <p:cNvGrpSpPr>
            <a:grpSpLocks/>
          </p:cNvGrpSpPr>
          <p:nvPr/>
        </p:nvGrpSpPr>
        <p:grpSpPr bwMode="auto">
          <a:xfrm>
            <a:off x="1066800" y="1149350"/>
            <a:ext cx="7467600" cy="2500313"/>
            <a:chOff x="807" y="768"/>
            <a:chExt cx="5097" cy="1672"/>
          </a:xfrm>
        </p:grpSpPr>
        <p:sp>
          <p:nvSpPr>
            <p:cNvPr id="7" name="Rectangle 4"/>
            <p:cNvSpPr>
              <a:spLocks noChangeArrowheads="1"/>
            </p:cNvSpPr>
            <p:nvPr/>
          </p:nvSpPr>
          <p:spPr bwMode="auto">
            <a:xfrm>
              <a:off x="2208" y="768"/>
              <a:ext cx="2493"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00FF00"/>
                  </a:solidFill>
                  <a:effectLst/>
                  <a:uLnTx/>
                  <a:uFillTx/>
                  <a:latin typeface="Arial" panose="020B0604020202020204" pitchFamily="34" charset="0"/>
                  <a:ea typeface="MS PGothic" panose="020B0600070205080204" pitchFamily="34" charset="-128"/>
                  <a:cs typeface="Arial" panose="020B0604020202020204" pitchFamily="34" charset="0"/>
                </a:rPr>
                <a:t>1000 molecules </a:t>
              </a:r>
            </a:p>
          </p:txBody>
        </p:sp>
        <p:sp>
          <p:nvSpPr>
            <p:cNvPr id="8" name="Rectangle 5"/>
            <p:cNvSpPr>
              <a:spLocks noChangeArrowheads="1"/>
            </p:cNvSpPr>
            <p:nvPr/>
          </p:nvSpPr>
          <p:spPr bwMode="auto">
            <a:xfrm>
              <a:off x="1632" y="1339"/>
              <a:ext cx="3360"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high     % bound    lower</a:t>
              </a:r>
            </a:p>
          </p:txBody>
        </p:sp>
        <p:sp>
          <p:nvSpPr>
            <p:cNvPr id="9" name="Rectangle 6"/>
            <p:cNvSpPr>
              <a:spLocks noChangeArrowheads="1"/>
            </p:cNvSpPr>
            <p:nvPr/>
          </p:nvSpPr>
          <p:spPr bwMode="auto">
            <a:xfrm>
              <a:off x="2172" y="2052"/>
              <a:ext cx="2548"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algn="ctr"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molecules free</a:t>
              </a:r>
            </a:p>
          </p:txBody>
        </p:sp>
        <p:sp>
          <p:nvSpPr>
            <p:cNvPr id="10" name="Rectangle 7"/>
            <p:cNvSpPr>
              <a:spLocks noChangeArrowheads="1"/>
            </p:cNvSpPr>
            <p:nvPr/>
          </p:nvSpPr>
          <p:spPr bwMode="auto">
            <a:xfrm>
              <a:off x="807" y="1340"/>
              <a:ext cx="893"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D9D9D9"/>
                  </a:solidFill>
                  <a:effectLst/>
                  <a:uLnTx/>
                  <a:uFillTx/>
                  <a:latin typeface="Arial" panose="020B0604020202020204" pitchFamily="34" charset="0"/>
                  <a:ea typeface="MS PGothic" panose="020B0600070205080204" pitchFamily="34" charset="-128"/>
                  <a:cs typeface="Arial" panose="020B0604020202020204" pitchFamily="34" charset="0"/>
                </a:rPr>
                <a:t>99.9%</a:t>
              </a:r>
            </a:p>
          </p:txBody>
        </p:sp>
        <p:sp>
          <p:nvSpPr>
            <p:cNvPr id="11" name="Rectangle 8"/>
            <p:cNvSpPr>
              <a:spLocks noChangeArrowheads="1"/>
            </p:cNvSpPr>
            <p:nvPr/>
          </p:nvSpPr>
          <p:spPr bwMode="auto">
            <a:xfrm>
              <a:off x="4925" y="1344"/>
              <a:ext cx="979"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00DFCA"/>
                  </a:solidFill>
                  <a:effectLst/>
                  <a:uLnTx/>
                  <a:uFillTx/>
                  <a:latin typeface="Arial" panose="020B0604020202020204" pitchFamily="34" charset="0"/>
                  <a:ea typeface="MS PGothic" panose="020B0600070205080204" pitchFamily="34" charset="-128"/>
                  <a:cs typeface="Arial" panose="020B0604020202020204" pitchFamily="34" charset="0"/>
                </a:rPr>
                <a:t>90.0%</a:t>
              </a:r>
            </a:p>
          </p:txBody>
        </p:sp>
        <p:sp>
          <p:nvSpPr>
            <p:cNvPr id="12" name="Rectangle 9"/>
            <p:cNvSpPr>
              <a:spLocks noChangeArrowheads="1"/>
            </p:cNvSpPr>
            <p:nvPr/>
          </p:nvSpPr>
          <p:spPr bwMode="auto">
            <a:xfrm>
              <a:off x="4865" y="2032"/>
              <a:ext cx="865"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00DFCA"/>
                  </a:solidFill>
                  <a:effectLst/>
                  <a:uLnTx/>
                  <a:uFillTx/>
                  <a:latin typeface="Arial" panose="020B0604020202020204" pitchFamily="34" charset="0"/>
                  <a:ea typeface="MS PGothic" panose="020B0600070205080204" pitchFamily="34" charset="-128"/>
                  <a:cs typeface="Arial" panose="020B0604020202020204" pitchFamily="34" charset="0"/>
                </a:rPr>
                <a:t>100</a:t>
              </a:r>
            </a:p>
          </p:txBody>
        </p:sp>
        <p:sp>
          <p:nvSpPr>
            <p:cNvPr id="13" name="Rectangle 10"/>
            <p:cNvSpPr>
              <a:spLocks noChangeArrowheads="1"/>
            </p:cNvSpPr>
            <p:nvPr/>
          </p:nvSpPr>
          <p:spPr bwMode="auto">
            <a:xfrm>
              <a:off x="1120" y="2032"/>
              <a:ext cx="848" cy="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76200" cmpd="tri">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marL="0" marR="0" lvl="0" indent="0" defTabSz="895350" eaLnBrk="0" fontAlgn="base" latinLnBrk="0" hangingPunct="0">
                <a:lnSpc>
                  <a:spcPct val="100000"/>
                </a:lnSpc>
                <a:spcBef>
                  <a:spcPct val="0"/>
                </a:spcBef>
                <a:spcAft>
                  <a:spcPct val="0"/>
                </a:spcAft>
                <a:buClrTx/>
                <a:buSzTx/>
                <a:buFontTx/>
                <a:buNone/>
                <a:tabLst/>
                <a:defRPr/>
              </a:pPr>
              <a:r>
                <a:rPr kumimoji="0" lang="en-US" altLang="en-US" sz="3100" b="1" i="0" u="none" strike="noStrike" kern="0" cap="none" spc="0" normalizeH="0" baseline="0" noProof="0">
                  <a:ln>
                    <a:noFill/>
                  </a:ln>
                  <a:solidFill>
                    <a:srgbClr val="D9D9D9"/>
                  </a:solidFill>
                  <a:effectLst/>
                  <a:uLnTx/>
                  <a:uFillTx/>
                  <a:latin typeface="Arial" panose="020B0604020202020204" pitchFamily="34" charset="0"/>
                  <a:ea typeface="MS PGothic" panose="020B0600070205080204" pitchFamily="34" charset="-128"/>
                  <a:cs typeface="Arial" panose="020B0604020202020204" pitchFamily="34" charset="0"/>
                </a:rPr>
                <a:t>  1</a:t>
              </a:r>
            </a:p>
          </p:txBody>
        </p:sp>
        <p:sp>
          <p:nvSpPr>
            <p:cNvPr id="14" name="Line 11"/>
            <p:cNvSpPr>
              <a:spLocks noChangeShapeType="1"/>
            </p:cNvSpPr>
            <p:nvPr/>
          </p:nvSpPr>
          <p:spPr bwMode="auto">
            <a:xfrm flipH="1">
              <a:off x="1344" y="998"/>
              <a:ext cx="812" cy="346"/>
            </a:xfrm>
            <a:prstGeom prst="line">
              <a:avLst/>
            </a:prstGeom>
            <a:noFill/>
            <a:ln w="50800">
              <a:solidFill>
                <a:srgbClr val="D9D9D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15" name="Line 12"/>
            <p:cNvSpPr>
              <a:spLocks noChangeShapeType="1"/>
            </p:cNvSpPr>
            <p:nvPr/>
          </p:nvSpPr>
          <p:spPr bwMode="auto">
            <a:xfrm>
              <a:off x="4416" y="1008"/>
              <a:ext cx="741" cy="336"/>
            </a:xfrm>
            <a:prstGeom prst="line">
              <a:avLst/>
            </a:prstGeom>
            <a:noFill/>
            <a:ln w="50800">
              <a:solidFill>
                <a:srgbClr val="00DFC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16" name="Line 13"/>
            <p:cNvSpPr>
              <a:spLocks noChangeShapeType="1"/>
            </p:cNvSpPr>
            <p:nvPr/>
          </p:nvSpPr>
          <p:spPr bwMode="auto">
            <a:xfrm>
              <a:off x="1430" y="1762"/>
              <a:ext cx="1" cy="274"/>
            </a:xfrm>
            <a:prstGeom prst="line">
              <a:avLst/>
            </a:prstGeom>
            <a:noFill/>
            <a:ln w="50800">
              <a:solidFill>
                <a:srgbClr val="D9D9D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17" name="Line 14"/>
            <p:cNvSpPr>
              <a:spLocks noChangeShapeType="1"/>
            </p:cNvSpPr>
            <p:nvPr/>
          </p:nvSpPr>
          <p:spPr bwMode="auto">
            <a:xfrm>
              <a:off x="5232" y="1711"/>
              <a:ext cx="1" cy="274"/>
            </a:xfrm>
            <a:prstGeom prst="line">
              <a:avLst/>
            </a:prstGeom>
            <a:noFill/>
            <a:ln w="50800">
              <a:solidFill>
                <a:srgbClr val="00DFC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grpSp>
      <p:sp>
        <p:nvSpPr>
          <p:cNvPr id="18" name="Rectangle 16"/>
          <p:cNvSpPr>
            <a:spLocks noChangeArrowheads="1"/>
          </p:cNvSpPr>
          <p:nvPr/>
        </p:nvSpPr>
        <p:spPr bwMode="auto">
          <a:xfrm>
            <a:off x="352425" y="3810000"/>
            <a:ext cx="8580438" cy="2014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08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323" tIns="45393" rIns="89323" bIns="45393">
            <a:spAutoFit/>
          </a:bodyPr>
          <a:lstStyle>
            <a:lvl1pPr defTabSz="89535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defTabSz="8953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defTabSz="89535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defTabSz="89535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Fewer free molecules means :</a:t>
            </a:r>
          </a:p>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less drug in active form - therefore action smaller </a:t>
            </a:r>
          </a:p>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lower concentration gradient of </a:t>
            </a:r>
            <a:r>
              <a:rPr lang="en-US" altLang="en-US" sz="1800" b="1" dirty="0" err="1">
                <a:solidFill>
                  <a:srgbClr val="000000"/>
                </a:solidFill>
                <a:cs typeface="Arial" panose="020B0604020202020204" pitchFamily="34" charset="0"/>
              </a:rPr>
              <a:t>diffusable</a:t>
            </a:r>
            <a:r>
              <a:rPr lang="en-US" altLang="en-US" sz="1800" b="1" dirty="0">
                <a:solidFill>
                  <a:srgbClr val="000000"/>
                </a:solidFill>
                <a:cs typeface="Arial" panose="020B0604020202020204" pitchFamily="34" charset="0"/>
              </a:rPr>
              <a:t> drug - slower onset</a:t>
            </a:r>
          </a:p>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less at biotransformation &amp; excretion sites - longer action</a:t>
            </a:r>
          </a:p>
          <a:p>
            <a:pPr eaLnBrk="0" fontAlgn="base" hangingPunct="0">
              <a:spcBef>
                <a:spcPct val="0"/>
              </a:spcBef>
              <a:spcAft>
                <a:spcPct val="0"/>
              </a:spcAft>
              <a:buFontTx/>
              <a:buNone/>
            </a:pPr>
            <a:r>
              <a:rPr lang="en-US" altLang="en-US" sz="1800" b="1" dirty="0">
                <a:solidFill>
                  <a:srgbClr val="000000"/>
                </a:solidFill>
                <a:cs typeface="Arial" panose="020B0604020202020204" pitchFamily="34" charset="0"/>
              </a:rPr>
              <a:t>CHANGE in drug binding = possible serious interaction (eg.100-fold increase in free pharmacologically active drug)</a:t>
            </a:r>
            <a:r>
              <a:rPr lang="en-US" altLang="en-US" sz="1800" b="1" dirty="0">
                <a:solidFill>
                  <a:srgbClr val="00FF00"/>
                </a:solidFill>
                <a:cs typeface="Arial" panose="020B0604020202020204" pitchFamily="34" charset="0"/>
              </a:rPr>
              <a:t> </a:t>
            </a:r>
          </a:p>
          <a:p>
            <a:pPr eaLnBrk="0" fontAlgn="base" hangingPunct="0">
              <a:spcBef>
                <a:spcPct val="0"/>
              </a:spcBef>
              <a:spcAft>
                <a:spcPct val="0"/>
              </a:spcAft>
              <a:buFontTx/>
              <a:buNone/>
            </a:pPr>
            <a:r>
              <a:rPr lang="en-US" altLang="en-US" sz="1800" b="1" dirty="0">
                <a:solidFill>
                  <a:srgbClr val="51DC00"/>
                </a:solidFill>
                <a:cs typeface="Arial" panose="020B0604020202020204" pitchFamily="34" charset="0"/>
              </a:rPr>
              <a:t>            </a:t>
            </a:r>
            <a:r>
              <a:rPr lang="en-US" altLang="en-US" sz="1800" b="1" dirty="0">
                <a:solidFill>
                  <a:srgbClr val="000000"/>
                </a:solidFill>
                <a:cs typeface="Arial" panose="020B0604020202020204" pitchFamily="34" charset="0"/>
              </a:rPr>
              <a:t>Effective                                                      TOXIC </a:t>
            </a:r>
          </a:p>
        </p:txBody>
      </p:sp>
      <p:sp>
        <p:nvSpPr>
          <p:cNvPr id="19" name="Line 17"/>
          <p:cNvSpPr>
            <a:spLocks noChangeShapeType="1"/>
          </p:cNvSpPr>
          <p:nvPr/>
        </p:nvSpPr>
        <p:spPr bwMode="auto">
          <a:xfrm>
            <a:off x="2611438" y="5715000"/>
            <a:ext cx="2189162" cy="0"/>
          </a:xfrm>
          <a:prstGeom prst="line">
            <a:avLst/>
          </a:prstGeom>
          <a:noFill/>
          <a:ln w="76200">
            <a:solidFill>
              <a:srgbClr val="D9D9D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Tree>
    <p:extLst>
      <p:ext uri="{BB962C8B-B14F-4D97-AF65-F5344CB8AC3E}">
        <p14:creationId xmlns:p14="http://schemas.microsoft.com/office/powerpoint/2010/main" val="27283274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390525" y="1079067"/>
            <a:ext cx="835660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algn="just" defTabSz="914400" eaLnBrk="1" hangingPunct="1">
              <a:lnSpc>
                <a:spcPct val="90000"/>
              </a:lnSpc>
              <a:defRPr/>
            </a:pPr>
            <a:r>
              <a:rPr lang="en-US" sz="2400" b="1" i="1" u="sng" kern="0" dirty="0">
                <a:solidFill>
                  <a:srgbClr val="000000"/>
                </a:solidFill>
                <a:ea typeface="ＭＳ Ｐゴシック" pitchFamily="1" charset="-128"/>
              </a:rPr>
              <a:t>Lipid </a:t>
            </a:r>
            <a:r>
              <a:rPr lang="en-US" sz="2400" b="1" i="1" u="sng" kern="0" noProof="1">
                <a:solidFill>
                  <a:srgbClr val="000000"/>
                </a:solidFill>
                <a:ea typeface="ＭＳ Ｐゴシック" pitchFamily="1" charset="-128"/>
              </a:rPr>
              <a:t>solubility</a:t>
            </a:r>
            <a:r>
              <a:rPr lang="en-US" sz="2400" b="1" kern="0" noProof="1">
                <a:solidFill>
                  <a:srgbClr val="000000"/>
                </a:solidFill>
                <a:ea typeface="ＭＳ Ｐゴシック" pitchFamily="1" charset="-128"/>
              </a:rPr>
              <a:t>: in organs with a high lipid content, a high concentration of lipid-soluble agents is reached:</a:t>
            </a:r>
          </a:p>
          <a:p>
            <a:pPr lvl="1" algn="just" defTabSz="914400" eaLnBrk="1" hangingPunct="1">
              <a:lnSpc>
                <a:spcPct val="90000"/>
              </a:lnSpc>
              <a:defRPr/>
            </a:pPr>
            <a:r>
              <a:rPr lang="en-US" sz="2400" kern="0" noProof="1">
                <a:solidFill>
                  <a:srgbClr val="000000"/>
                </a:solidFill>
                <a:ea typeface="ＭＳ Ｐゴシック" pitchFamily="1" charset="-128"/>
              </a:rPr>
              <a:t>a very lipid soluble an</a:t>
            </a:r>
            <a:r>
              <a:rPr lang="en-US" sz="2400" kern="0" dirty="0">
                <a:solidFill>
                  <a:srgbClr val="000000"/>
                </a:solidFill>
                <a:ea typeface="ＭＳ Ｐゴシック" pitchFamily="1" charset="-128"/>
              </a:rPr>
              <a:t>a</a:t>
            </a:r>
            <a:r>
              <a:rPr lang="en-US" sz="2400" kern="0" noProof="1">
                <a:solidFill>
                  <a:srgbClr val="000000"/>
                </a:solidFill>
                <a:ea typeface="ＭＳ Ｐゴシック" pitchFamily="1" charset="-128"/>
              </a:rPr>
              <a:t>est</a:t>
            </a:r>
            <a:r>
              <a:rPr lang="en-US" sz="2400" kern="0" dirty="0">
                <a:solidFill>
                  <a:srgbClr val="000000"/>
                </a:solidFill>
                <a:ea typeface="ＭＳ Ｐゴシック" pitchFamily="1" charset="-128"/>
              </a:rPr>
              <a:t>h</a:t>
            </a:r>
            <a:r>
              <a:rPr lang="en-US" sz="2400" kern="0" noProof="1">
                <a:solidFill>
                  <a:srgbClr val="000000"/>
                </a:solidFill>
                <a:ea typeface="ＭＳ Ｐゴシック" pitchFamily="1" charset="-128"/>
              </a:rPr>
              <a:t>etic agent will transfer out of the blood more rapidly and to a greater exten</a:t>
            </a:r>
            <a:r>
              <a:rPr lang="en-US" sz="2400" kern="0" dirty="0">
                <a:solidFill>
                  <a:srgbClr val="000000"/>
                </a:solidFill>
                <a:ea typeface="ＭＳ Ｐゴシック" pitchFamily="1" charset="-128"/>
              </a:rPr>
              <a:t>t</a:t>
            </a:r>
            <a:r>
              <a:rPr lang="en-US" sz="2400" kern="0" noProof="1">
                <a:solidFill>
                  <a:srgbClr val="000000"/>
                </a:solidFill>
                <a:ea typeface="ＭＳ Ｐゴシック" pitchFamily="1" charset="-128"/>
              </a:rPr>
              <a:t> than a drug with a low lipid solubility.</a:t>
            </a:r>
          </a:p>
          <a:p>
            <a:pPr lvl="1" algn="just" defTabSz="914400" eaLnBrk="1" hangingPunct="1">
              <a:lnSpc>
                <a:spcPct val="90000"/>
              </a:lnSpc>
              <a:defRPr/>
            </a:pPr>
            <a:r>
              <a:rPr lang="en-US" sz="2400" b="1" kern="0" dirty="0">
                <a:solidFill>
                  <a:srgbClr val="FF0000"/>
                </a:solidFill>
                <a:ea typeface="ＭＳ Ｐゴシック" pitchFamily="1" charset="-128"/>
              </a:rPr>
              <a:t>Generally</a:t>
            </a:r>
            <a:r>
              <a:rPr lang="en-US" sz="2400" kern="0" dirty="0">
                <a:solidFill>
                  <a:srgbClr val="000000"/>
                </a:solidFill>
                <a:ea typeface="ＭＳ Ｐゴシック" pitchFamily="1" charset="-128"/>
              </a:rPr>
              <a:t>, high lipid solubility&gt;&gt;&gt; tissue accumulation &gt;&gt;longer duration  &gt;&gt;&gt; slow clearance</a:t>
            </a:r>
          </a:p>
          <a:p>
            <a:pPr lvl="1" algn="just" defTabSz="914400" eaLnBrk="1" hangingPunct="1">
              <a:lnSpc>
                <a:spcPct val="90000"/>
              </a:lnSpc>
              <a:defRPr/>
            </a:pPr>
            <a:r>
              <a:rPr lang="en-US" sz="2400" kern="0" dirty="0">
                <a:solidFill>
                  <a:srgbClr val="000000"/>
                </a:solidFill>
                <a:ea typeface="ＭＳ Ｐゴシック" pitchFamily="1" charset="-128"/>
              </a:rPr>
              <a:t>Water-soluble drugs tend to </a:t>
            </a:r>
            <a:r>
              <a:rPr lang="en-US" sz="2400" kern="0" dirty="0">
                <a:solidFill>
                  <a:srgbClr val="FF0000"/>
                </a:solidFill>
                <a:ea typeface="ＭＳ Ｐゴシック" pitchFamily="1" charset="-128"/>
              </a:rPr>
              <a:t>stay within the blood and interstitial space</a:t>
            </a:r>
            <a:r>
              <a:rPr lang="en-US" sz="2400" kern="0" dirty="0">
                <a:solidFill>
                  <a:srgbClr val="000000"/>
                </a:solidFill>
                <a:ea typeface="ＭＳ Ｐゴシック" pitchFamily="1" charset="-128"/>
              </a:rPr>
              <a:t>. </a:t>
            </a:r>
          </a:p>
          <a:p>
            <a:pPr marL="476250" lvl="1" indent="0" algn="just" defTabSz="914400" eaLnBrk="1" hangingPunct="1">
              <a:lnSpc>
                <a:spcPct val="90000"/>
              </a:lnSpc>
              <a:buNone/>
              <a:defRPr/>
            </a:pPr>
            <a:endParaRPr lang="en-US" sz="2400" kern="0" noProof="1">
              <a:solidFill>
                <a:srgbClr val="000000"/>
              </a:solidFill>
              <a:ea typeface="ＭＳ Ｐゴシック" pitchFamily="1" charset="-128"/>
            </a:endParaRPr>
          </a:p>
          <a:p>
            <a:pPr defTabSz="914400" eaLnBrk="1" hangingPunct="1">
              <a:lnSpc>
                <a:spcPct val="80000"/>
              </a:lnSpc>
              <a:defRPr/>
            </a:pPr>
            <a:r>
              <a:rPr lang="en-US" sz="2700" u="sng" kern="0" dirty="0">
                <a:ea typeface="ＭＳ Ｐゴシック" pitchFamily="1" charset="-128"/>
              </a:rPr>
              <a:t>Membrane permeability</a:t>
            </a:r>
          </a:p>
          <a:p>
            <a:pPr lvl="3" defTabSz="914400" eaLnBrk="1" hangingPunct="1">
              <a:lnSpc>
                <a:spcPct val="80000"/>
              </a:lnSpc>
              <a:defRPr/>
            </a:pPr>
            <a:r>
              <a:rPr lang="en-US" sz="2400" kern="0" dirty="0">
                <a:ea typeface="ＭＳ Ｐゴシック" pitchFamily="1" charset="-128"/>
              </a:rPr>
              <a:t>For a drug to enter an organ (tissue), it must permeate all membranes that separate the organ from the site of drug administration</a:t>
            </a:r>
          </a:p>
          <a:p>
            <a:pPr lvl="1" algn="just" defTabSz="914400" eaLnBrk="1" hangingPunct="1">
              <a:lnSpc>
                <a:spcPct val="90000"/>
              </a:lnSpc>
              <a:defRPr/>
            </a:pPr>
            <a:endParaRPr lang="en-US" sz="2400" kern="0" noProof="1">
              <a:solidFill>
                <a:srgbClr val="000000"/>
              </a:solidFill>
              <a:ea typeface="ＭＳ Ｐゴシック" pitchFamily="1" charset="-128"/>
            </a:endParaRPr>
          </a:p>
          <a:p>
            <a:pPr marL="0" indent="0" defTabSz="914400">
              <a:buFontTx/>
              <a:buNone/>
              <a:defRPr/>
            </a:pPr>
            <a:endParaRPr lang="en-US" kern="0" dirty="0">
              <a:ea typeface="ＭＳ Ｐゴシック" pitchFamily="1" charset="-128"/>
            </a:endParaRPr>
          </a:p>
        </p:txBody>
      </p:sp>
      <p:sp>
        <p:nvSpPr>
          <p:cNvPr id="4" name="Title 1"/>
          <p:cNvSpPr txBox="1">
            <a:spLocks/>
          </p:cNvSpPr>
          <p:nvPr/>
        </p:nvSpPr>
        <p:spPr bwMode="auto">
          <a:xfrm>
            <a:off x="390525" y="333375"/>
            <a:ext cx="69119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kern="0" dirty="0">
                <a:solidFill>
                  <a:srgbClr val="000000"/>
                </a:solidFill>
                <a:latin typeface="Arial"/>
              </a:rPr>
              <a:t>3</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kern="0" dirty="0">
                <a:solidFill>
                  <a:srgbClr val="00B050"/>
                </a:solidFill>
                <a:latin typeface="Arial Black" panose="020B0A04020102020204" pitchFamily="34" charset="0"/>
              </a:rPr>
              <a:t>Lipid</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rPr>
              <a:t> </a:t>
            </a:r>
            <a:r>
              <a:rPr lang="en-US" altLang="en-US" kern="0" dirty="0">
                <a:solidFill>
                  <a:srgbClr val="00B050"/>
                </a:solidFill>
                <a:latin typeface="Arial Black" panose="020B0A04020102020204" pitchFamily="34" charset="0"/>
              </a:rPr>
              <a:t>solubility</a:t>
            </a:r>
            <a:r>
              <a:rPr kumimoji="0" lang="en-US" altLang="en-US" sz="2400" b="1" i="0" u="none" strike="noStrike" kern="0" cap="none" spc="0" normalizeH="0" baseline="0" noProof="0" dirty="0">
                <a:ln>
                  <a:noFill/>
                </a:ln>
                <a:solidFill>
                  <a:srgbClr val="000000"/>
                </a:solidFill>
                <a:effectLst/>
                <a:uLnTx/>
                <a:uFillTx/>
                <a:latin typeface="Arial"/>
                <a:ea typeface="MS PGothic" pitchFamily="34" charset="-128"/>
                <a:cs typeface="+mj-cs"/>
              </a:rPr>
              <a:t> </a:t>
            </a:r>
            <a:r>
              <a:rPr kumimoji="0" lang="en-US" altLang="en-US" sz="2400" b="0" i="1" u="none" strike="noStrike" kern="0" cap="none" spc="0" normalizeH="0" baseline="0" noProof="0" dirty="0">
                <a:ln>
                  <a:noFill/>
                </a:ln>
                <a:solidFill>
                  <a:srgbClr val="000000"/>
                </a:solidFill>
                <a:effectLst/>
                <a:uLnTx/>
                <a:uFillTx/>
                <a:latin typeface="Arial"/>
                <a:ea typeface="MS PGothic" pitchFamily="34" charset="-128"/>
                <a:cs typeface="+mj-cs"/>
              </a:rPr>
              <a:t>:</a:t>
            </a:r>
            <a:r>
              <a:rPr kumimoji="0" lang="en-US" altLang="en-US" sz="2400" b="0" i="1" u="sng" strike="noStrike" kern="0" cap="none" spc="0" normalizeH="0" baseline="0" noProof="0" dirty="0">
                <a:ln>
                  <a:noFill/>
                </a:ln>
                <a:solidFill>
                  <a:srgbClr val="000000"/>
                </a:solidFill>
                <a:effectLst/>
                <a:uLnTx/>
                <a:uFillTx/>
                <a:latin typeface="Arial"/>
                <a:ea typeface="MS PGothic" pitchFamily="34" charset="-128"/>
                <a:cs typeface="+mj-cs"/>
              </a:rPr>
              <a:t>Membrane permeability</a:t>
            </a:r>
            <a:endParaRPr kumimoji="0" lang="en-US" altLang="en-US" sz="2400" b="0" i="1" u="none" strike="noStrike" kern="0" cap="none" spc="0" normalizeH="0" baseline="0" noProof="0" dirty="0">
              <a:ln>
                <a:noFill/>
              </a:ln>
              <a:solidFill>
                <a:srgbClr val="000000"/>
              </a:solidFill>
              <a:effectLst/>
              <a:uLnTx/>
              <a:uFillTx/>
              <a:latin typeface="Arial"/>
              <a:ea typeface="MS PGothic" pitchFamily="34" charset="-128"/>
              <a:cs typeface="+mj-cs"/>
            </a:endParaRPr>
          </a:p>
        </p:txBody>
      </p:sp>
    </p:spTree>
    <p:extLst>
      <p:ext uri="{BB962C8B-B14F-4D97-AF65-F5344CB8AC3E}">
        <p14:creationId xmlns:p14="http://schemas.microsoft.com/office/powerpoint/2010/main" val="25008240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673"/>
            <a:ext cx="8229600" cy="510218"/>
          </a:xfrm>
        </p:spPr>
        <p:txBody>
          <a:bodyPr/>
          <a:lstStyle/>
          <a:p>
            <a:pPr algn="l"/>
            <a:r>
              <a:rPr lang="en-US" sz="2000" b="1" kern="0" dirty="0">
                <a:solidFill>
                  <a:srgbClr val="00B050"/>
                </a:solidFill>
                <a:latin typeface="Arial Black" panose="020B0A04020102020204" pitchFamily="34" charset="0"/>
                <a:ea typeface="MS PGothic" pitchFamily="34" charset="-128"/>
              </a:rPr>
              <a:t>3. Molecular</a:t>
            </a:r>
            <a:r>
              <a:rPr lang="en-US" sz="4000" b="1" dirty="0"/>
              <a:t> </a:t>
            </a:r>
            <a:r>
              <a:rPr lang="en-US" sz="2000" b="1" kern="0" dirty="0">
                <a:solidFill>
                  <a:srgbClr val="00B050"/>
                </a:solidFill>
                <a:latin typeface="Arial Black" panose="020B0A04020102020204" pitchFamily="34" charset="0"/>
                <a:ea typeface="MS PGothic" pitchFamily="34" charset="-128"/>
              </a:rPr>
              <a:t>Size</a:t>
            </a:r>
            <a:br>
              <a:rPr lang="en-US" b="1" dirty="0"/>
            </a:br>
            <a:endParaRPr lang="en-US" dirty="0"/>
          </a:p>
        </p:txBody>
      </p:sp>
      <p:sp>
        <p:nvSpPr>
          <p:cNvPr id="3" name="TextBox 2"/>
          <p:cNvSpPr txBox="1"/>
          <p:nvPr/>
        </p:nvSpPr>
        <p:spPr>
          <a:xfrm>
            <a:off x="713064" y="703589"/>
            <a:ext cx="6562976" cy="1754326"/>
          </a:xfrm>
          <a:prstGeom prst="rect">
            <a:avLst/>
          </a:prstGeom>
          <a:noFill/>
        </p:spPr>
        <p:txBody>
          <a:bodyPr wrap="square" rtlCol="0">
            <a:spAutoFit/>
          </a:bodyPr>
          <a:lstStyle/>
          <a:p>
            <a:pPr marL="342900" indent="-342900">
              <a:lnSpc>
                <a:spcPct val="150000"/>
              </a:lnSpc>
              <a:buClrTx/>
              <a:buFont typeface="Wingdings" panose="05000000000000000000" pitchFamily="2" charset="2"/>
              <a:buChar char="§"/>
            </a:pPr>
            <a:r>
              <a:rPr lang="en-US" sz="2400" kern="0" dirty="0">
                <a:solidFill>
                  <a:srgbClr val="000000"/>
                </a:solidFill>
                <a:ea typeface="ＭＳ Ｐゴシック" pitchFamily="1" charset="-128"/>
              </a:rPr>
              <a:t>Smaller molecules will diffuse more readily than larger ones.</a:t>
            </a:r>
          </a:p>
          <a:p>
            <a:pPr marL="342900" indent="-342900">
              <a:lnSpc>
                <a:spcPct val="150000"/>
              </a:lnSpc>
              <a:buFont typeface="Wingdings" panose="05000000000000000000" pitchFamily="2" charset="2"/>
              <a:buChar char="§"/>
            </a:pPr>
            <a:r>
              <a:rPr lang="en-US" sz="2400" i="1" kern="0" dirty="0">
                <a:solidFill>
                  <a:srgbClr val="FF0000"/>
                </a:solidFill>
                <a:ea typeface="ＭＳ Ｐゴシック" pitchFamily="1" charset="-128"/>
              </a:rPr>
              <a:t>Graham’s law applies</a:t>
            </a:r>
          </a:p>
        </p:txBody>
      </p:sp>
      <p:sp>
        <p:nvSpPr>
          <p:cNvPr id="4" name="Title 1"/>
          <p:cNvSpPr txBox="1">
            <a:spLocks/>
          </p:cNvSpPr>
          <p:nvPr/>
        </p:nvSpPr>
        <p:spPr>
          <a:xfrm>
            <a:off x="457200" y="2536046"/>
            <a:ext cx="8229600" cy="56529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000" b="1" kern="0" dirty="0">
                <a:solidFill>
                  <a:srgbClr val="00B050"/>
                </a:solidFill>
                <a:latin typeface="Arial Black" panose="020B0A04020102020204" pitchFamily="34" charset="0"/>
                <a:ea typeface="MS PGothic" pitchFamily="34" charset="-128"/>
              </a:rPr>
              <a:t>4. Degree of Ionization</a:t>
            </a:r>
            <a:br>
              <a:rPr lang="en-US" b="1" dirty="0"/>
            </a:br>
            <a:endParaRPr lang="en-US" dirty="0"/>
          </a:p>
        </p:txBody>
      </p:sp>
      <p:sp>
        <p:nvSpPr>
          <p:cNvPr id="5" name="TextBox 4"/>
          <p:cNvSpPr txBox="1"/>
          <p:nvPr/>
        </p:nvSpPr>
        <p:spPr>
          <a:xfrm>
            <a:off x="572785" y="2832898"/>
            <a:ext cx="7310227" cy="3323987"/>
          </a:xfrm>
          <a:prstGeom prst="rect">
            <a:avLst/>
          </a:prstGeom>
          <a:noFill/>
        </p:spPr>
        <p:txBody>
          <a:bodyPr wrap="square" rtlCol="0">
            <a:spAutoFit/>
          </a:bodyPr>
          <a:lstStyle/>
          <a:p>
            <a:pPr marL="342900" indent="-342900">
              <a:lnSpc>
                <a:spcPct val="150000"/>
              </a:lnSpc>
              <a:buClrTx/>
              <a:buFont typeface="Wingdings" panose="05000000000000000000" pitchFamily="2" charset="2"/>
              <a:buChar char="§"/>
            </a:pPr>
            <a:r>
              <a:rPr lang="en-US" sz="2000" kern="0" dirty="0">
                <a:solidFill>
                  <a:srgbClr val="000000"/>
                </a:solidFill>
                <a:ea typeface="ＭＳ Ｐゴシック" pitchFamily="1" charset="-128"/>
              </a:rPr>
              <a:t>Unionized forms favor membrane penetration and greater tissue distribution.</a:t>
            </a:r>
          </a:p>
          <a:p>
            <a:pPr marL="342900" indent="-342900">
              <a:lnSpc>
                <a:spcPct val="150000"/>
              </a:lnSpc>
              <a:buClrTx/>
              <a:buFont typeface="Wingdings" panose="05000000000000000000" pitchFamily="2" charset="2"/>
              <a:buChar char="§"/>
            </a:pPr>
            <a:r>
              <a:rPr lang="en-US" sz="2000" kern="0" dirty="0">
                <a:solidFill>
                  <a:srgbClr val="000000"/>
                </a:solidFill>
                <a:ea typeface="ＭＳ Ｐゴシック" pitchFamily="1" charset="-128"/>
              </a:rPr>
              <a:t>Depending on the pH of a compartment, unionized forms may become ionized after crossing the membrane preventing their diffusion backwards – ‘</a:t>
            </a:r>
            <a:r>
              <a:rPr lang="en-US" sz="2000" b="1" kern="0" dirty="0">
                <a:solidFill>
                  <a:srgbClr val="FF0000"/>
                </a:solidFill>
                <a:ea typeface="ＭＳ Ｐゴシック" pitchFamily="1" charset="-128"/>
              </a:rPr>
              <a:t>ion trapping</a:t>
            </a:r>
            <a:r>
              <a:rPr lang="en-US" sz="2000" kern="0" dirty="0">
                <a:solidFill>
                  <a:srgbClr val="000000"/>
                </a:solidFill>
                <a:ea typeface="ＭＳ Ｐゴシック" pitchFamily="1" charset="-128"/>
              </a:rPr>
              <a:t>’.</a:t>
            </a:r>
          </a:p>
          <a:p>
            <a:pPr marL="342900" indent="-342900">
              <a:lnSpc>
                <a:spcPct val="150000"/>
              </a:lnSpc>
              <a:buClrTx/>
              <a:buFont typeface="Wingdings" panose="05000000000000000000" pitchFamily="2" charset="2"/>
              <a:buChar char="§"/>
            </a:pPr>
            <a:r>
              <a:rPr lang="en-US" sz="2000" kern="0" dirty="0" err="1">
                <a:solidFill>
                  <a:srgbClr val="000000"/>
                </a:solidFill>
                <a:ea typeface="ＭＳ Ｐゴシック" pitchFamily="1" charset="-128"/>
              </a:rPr>
              <a:t>Eg</a:t>
            </a:r>
            <a:r>
              <a:rPr lang="en-US" sz="2000" kern="0" dirty="0">
                <a:solidFill>
                  <a:srgbClr val="000000"/>
                </a:solidFill>
                <a:ea typeface="ＭＳ Ｐゴシック" pitchFamily="1" charset="-128"/>
              </a:rPr>
              <a:t>: Fetal pH is also usually less than maternal pH, which can lead to ion trapping and greater drug concentrations in the fetus </a:t>
            </a:r>
          </a:p>
        </p:txBody>
      </p:sp>
    </p:spTree>
    <p:extLst>
      <p:ext uri="{BB962C8B-B14F-4D97-AF65-F5344CB8AC3E}">
        <p14:creationId xmlns:p14="http://schemas.microsoft.com/office/powerpoint/2010/main" val="15906164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a:spLocks noGrp="1"/>
          </p:cNvSpPr>
          <p:nvPr>
            <p:ph type="ftr" sz="quarter" idx="10"/>
          </p:nvPr>
        </p:nvSpPr>
        <p:spPr>
          <a:xfrm>
            <a:off x="3124200" y="6400800"/>
            <a:ext cx="2895600" cy="457200"/>
          </a:xfr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altLang="en-US" dirty="0">
                <a:ea typeface="+mn-ea"/>
              </a:rPr>
              <a:t>GEN. INTRO. PHARMACOLOGY</a:t>
            </a:r>
          </a:p>
        </p:txBody>
      </p:sp>
      <p:sp>
        <p:nvSpPr>
          <p:cNvPr id="4" name="Slide Number Placeholder 5"/>
          <p:cNvSpPr>
            <a:spLocks noGrp="1"/>
          </p:cNvSpPr>
          <p:nvPr>
            <p:ph type="sldNum" sz="quarter" idx="4294967295"/>
          </p:nvPr>
        </p:nvSpPr>
        <p:spPr bwMode="auto">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fld id="{E4E19E1C-EAC9-44A8-9DC0-9009AEDF9BBC}" type="slidenum">
              <a:rPr lang="en-US" altLang="en-US" sz="1800">
                <a:cs typeface="Arial" panose="020B0604020202020204" pitchFamily="34" charset="0"/>
              </a:rPr>
              <a:pPr eaLnBrk="1" hangingPunct="1">
                <a:spcBef>
                  <a:spcPct val="0"/>
                </a:spcBef>
                <a:buFontTx/>
                <a:buNone/>
              </a:pPr>
              <a:t>82</a:t>
            </a:fld>
            <a:endParaRPr lang="en-US" altLang="en-US" sz="1800">
              <a:cs typeface="Arial" panose="020B0604020202020204" pitchFamily="34" charset="0"/>
            </a:endParaRPr>
          </a:p>
        </p:txBody>
      </p:sp>
      <p:sp>
        <p:nvSpPr>
          <p:cNvPr id="5" name="Rectangle 2"/>
          <p:cNvSpPr txBox="1">
            <a:spLocks noChangeArrowheads="1"/>
          </p:cNvSpPr>
          <p:nvPr/>
        </p:nvSpPr>
        <p:spPr>
          <a:xfrm>
            <a:off x="381000" y="165100"/>
            <a:ext cx="7999268" cy="8255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sz="3600" dirty="0">
                <a:solidFill>
                  <a:srgbClr val="00B050"/>
                </a:solidFill>
                <a:latin typeface="Bradley Hand ITC" panose="03070402050302030203" pitchFamily="66" charset="0"/>
              </a:rPr>
              <a:t>Drug Distribution- </a:t>
            </a:r>
            <a:r>
              <a:rPr lang="en-US" altLang="en-US" sz="3600" b="1" dirty="0">
                <a:solidFill>
                  <a:srgbClr val="00B050"/>
                </a:solidFill>
                <a:latin typeface="Bradley Hand ITC" panose="03070402050302030203" pitchFamily="66" charset="0"/>
              </a:rPr>
              <a:t>Lipid Barriers</a:t>
            </a:r>
          </a:p>
        </p:txBody>
      </p:sp>
      <p:sp>
        <p:nvSpPr>
          <p:cNvPr id="6" name="Rectangle 3"/>
          <p:cNvSpPr txBox="1">
            <a:spLocks noChangeArrowheads="1"/>
          </p:cNvSpPr>
          <p:nvPr/>
        </p:nvSpPr>
        <p:spPr>
          <a:xfrm>
            <a:off x="152400" y="872836"/>
            <a:ext cx="8763000" cy="49530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lnSpc>
                <a:spcPct val="80000"/>
              </a:lnSpc>
            </a:pPr>
            <a:r>
              <a:rPr lang="en-US" sz="2400" dirty="0"/>
              <a:t>The unique design of some membranes may influence the distribution of drugs into some compartments in the body</a:t>
            </a:r>
            <a:endParaRPr lang="en-US" altLang="en-US" sz="2400" dirty="0"/>
          </a:p>
          <a:p>
            <a:pPr>
              <a:lnSpc>
                <a:spcPct val="80000"/>
              </a:lnSpc>
            </a:pPr>
            <a:endParaRPr lang="en-US" altLang="en-US" sz="2400" dirty="0"/>
          </a:p>
          <a:p>
            <a:pPr marL="0" indent="0">
              <a:lnSpc>
                <a:spcPct val="80000"/>
              </a:lnSpc>
              <a:buNone/>
            </a:pPr>
            <a:r>
              <a:rPr lang="en-US" altLang="en-US" sz="2400" b="1" dirty="0">
                <a:solidFill>
                  <a:srgbClr val="00B050"/>
                </a:solidFill>
              </a:rPr>
              <a:t>A.  </a:t>
            </a:r>
            <a:r>
              <a:rPr lang="en-US" altLang="en-US" sz="2400" b="1" u="sng" dirty="0">
                <a:solidFill>
                  <a:srgbClr val="00B050"/>
                </a:solidFill>
              </a:rPr>
              <a:t>Blood-brain barrier (BBB)</a:t>
            </a:r>
            <a:r>
              <a:rPr lang="en-US" altLang="en-US" sz="2400" b="1" dirty="0">
                <a:solidFill>
                  <a:srgbClr val="00B050"/>
                </a:solidFill>
              </a:rPr>
              <a:t> </a:t>
            </a:r>
            <a:r>
              <a:rPr lang="en-US" altLang="en-US" sz="2400" dirty="0"/>
              <a:t>– lipid membrane located between plasma and the extracellular space in the brain</a:t>
            </a:r>
          </a:p>
        </p:txBody>
      </p:sp>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0664" y="2677319"/>
            <a:ext cx="4303050" cy="315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
          <p:cNvSpPr txBox="1">
            <a:spLocks noChangeArrowheads="1"/>
          </p:cNvSpPr>
          <p:nvPr/>
        </p:nvSpPr>
        <p:spPr bwMode="auto">
          <a:xfrm>
            <a:off x="228600" y="2557824"/>
            <a:ext cx="3581400"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600" dirty="0">
                <a:cs typeface="Arial" panose="020B0604020202020204" pitchFamily="34" charset="0"/>
              </a:rPr>
              <a:t>Blood and brain are separated by </a:t>
            </a:r>
            <a:r>
              <a:rPr lang="en-US" altLang="en-US" sz="1600" dirty="0">
                <a:solidFill>
                  <a:srgbClr val="92D050"/>
                </a:solidFill>
                <a:cs typeface="Arial" panose="020B0604020202020204" pitchFamily="34" charset="0"/>
              </a:rPr>
              <a:t>capillary cells packed tightly </a:t>
            </a:r>
            <a:r>
              <a:rPr lang="en-US" altLang="en-US" sz="1600" dirty="0">
                <a:cs typeface="Arial" panose="020B0604020202020204" pitchFamily="34" charset="0"/>
              </a:rPr>
              <a:t>together and by a </a:t>
            </a:r>
            <a:r>
              <a:rPr lang="en-US" altLang="en-US" sz="1600" dirty="0">
                <a:solidFill>
                  <a:srgbClr val="92D050"/>
                </a:solidFill>
                <a:cs typeface="Arial" panose="020B0604020202020204" pitchFamily="34" charset="0"/>
              </a:rPr>
              <a:t>fatty barrier </a:t>
            </a:r>
            <a:r>
              <a:rPr lang="en-US" altLang="en-US" sz="1600" dirty="0">
                <a:cs typeface="Arial" panose="020B0604020202020204" pitchFamily="34" charset="0"/>
              </a:rPr>
              <a:t>called a glial sheath, which is made up of extensions (glial feet) from nearby astrocyte cells. A drug moving from blood to brain must diffuse across the cells of the capillaries and because there are tight </a:t>
            </a:r>
            <a:r>
              <a:rPr lang="en-US" altLang="en-US" sz="1600" dirty="0" err="1">
                <a:cs typeface="Arial" panose="020B0604020202020204" pitchFamily="34" charset="0"/>
              </a:rPr>
              <a:t>jxns</a:t>
            </a:r>
            <a:r>
              <a:rPr lang="en-US" altLang="en-US" sz="1600" dirty="0">
                <a:cs typeface="Arial" panose="020B0604020202020204" pitchFamily="34" charset="0"/>
              </a:rPr>
              <a:t> rather than pores b/n the cells, the drug must then move through the fatty glial sheath</a:t>
            </a:r>
          </a:p>
          <a:p>
            <a:pPr>
              <a:spcBef>
                <a:spcPct val="0"/>
              </a:spcBef>
              <a:buNone/>
            </a:pPr>
            <a:endParaRPr lang="en-US" sz="1600" dirty="0">
              <a:solidFill>
                <a:srgbClr val="FF0000"/>
              </a:solidFill>
              <a:cs typeface="Arial" panose="020B0604020202020204" pitchFamily="34" charset="0"/>
            </a:endParaRPr>
          </a:p>
          <a:p>
            <a:pPr marL="285750" indent="-285750" algn="just">
              <a:spcBef>
                <a:spcPct val="0"/>
              </a:spcBef>
              <a:buFont typeface="Arial" panose="020B0604020202020204" pitchFamily="34" charset="0"/>
              <a:buChar char="•"/>
            </a:pPr>
            <a:r>
              <a:rPr lang="en-US" sz="1400" dirty="0">
                <a:solidFill>
                  <a:srgbClr val="FF0000"/>
                </a:solidFill>
                <a:cs typeface="Arial" panose="020B0604020202020204" pitchFamily="34" charset="0"/>
              </a:rPr>
              <a:t>Protective barrier from xenobiotics but may also hamper </a:t>
            </a:r>
            <a:r>
              <a:rPr lang="en-US" sz="1400" dirty="0" err="1">
                <a:solidFill>
                  <a:srgbClr val="FF0000"/>
                </a:solidFill>
                <a:cs typeface="Arial" panose="020B0604020202020204" pitchFamily="34" charset="0"/>
              </a:rPr>
              <a:t>tmt</a:t>
            </a:r>
            <a:r>
              <a:rPr lang="en-US" sz="1400" dirty="0">
                <a:solidFill>
                  <a:srgbClr val="FF0000"/>
                </a:solidFill>
                <a:cs typeface="Arial" panose="020B0604020202020204" pitchFamily="34" charset="0"/>
              </a:rPr>
              <a:t>. to the CNS</a:t>
            </a:r>
          </a:p>
          <a:p>
            <a:pPr eaLnBrk="1" hangingPunct="1">
              <a:spcBef>
                <a:spcPct val="0"/>
              </a:spcBef>
              <a:buFontTx/>
              <a:buNone/>
            </a:pPr>
            <a:endParaRPr lang="en-US" altLang="en-US" sz="1600" dirty="0">
              <a:solidFill>
                <a:srgbClr val="FF0000"/>
              </a:solidFill>
              <a:cs typeface="Arial" panose="020B0604020202020204" pitchFamily="34" charset="0"/>
            </a:endParaRPr>
          </a:p>
        </p:txBody>
      </p:sp>
    </p:spTree>
    <p:extLst>
      <p:ext uri="{BB962C8B-B14F-4D97-AF65-F5344CB8AC3E}">
        <p14:creationId xmlns:p14="http://schemas.microsoft.com/office/powerpoint/2010/main" val="40552107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6368" y="723900"/>
            <a:ext cx="8763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lvl="1" defTabSz="914400" eaLnBrk="1" hangingPunct="1">
              <a:defRPr/>
            </a:pPr>
            <a:r>
              <a:rPr lang="en-US" sz="2600" kern="0" dirty="0">
                <a:ea typeface="ＭＳ Ｐゴシック" pitchFamily="1" charset="-128"/>
              </a:rPr>
              <a:t>The entry of drugs is restricted into the CNS and CSF (cerebrospinal fluid)- </a:t>
            </a:r>
            <a:r>
              <a:rPr lang="en-US" sz="2600" kern="0" dirty="0">
                <a:solidFill>
                  <a:srgbClr val="00B050"/>
                </a:solidFill>
                <a:ea typeface="ＭＳ Ｐゴシック" pitchFamily="1" charset="-128"/>
              </a:rPr>
              <a:t>Selective permeability</a:t>
            </a:r>
          </a:p>
          <a:p>
            <a:pPr lvl="1" defTabSz="914400" eaLnBrk="1" hangingPunct="1">
              <a:defRPr/>
            </a:pPr>
            <a:r>
              <a:rPr lang="en-US" sz="2600" kern="0" dirty="0">
                <a:ea typeface="ＭＳ Ｐゴシック" pitchFamily="1" charset="-128"/>
              </a:rPr>
              <a:t>Lipid solubility and cerebral blood flow limit permeation of the CNS</a:t>
            </a:r>
          </a:p>
          <a:p>
            <a:pPr lvl="1" defTabSz="914400" eaLnBrk="1" hangingPunct="1">
              <a:defRPr/>
            </a:pPr>
            <a:r>
              <a:rPr lang="en-US" sz="2600" kern="0" dirty="0">
                <a:ea typeface="ＭＳ Ｐゴシック" pitchFamily="1" charset="-128"/>
              </a:rPr>
              <a:t>Highly lipophilic drugs can pass the BBB (i.e. benzodiazepines), Low MW and unbound drugs</a:t>
            </a:r>
          </a:p>
          <a:p>
            <a:pPr lvl="1" defTabSz="914400" eaLnBrk="1" hangingPunct="1">
              <a:defRPr/>
            </a:pPr>
            <a:r>
              <a:rPr lang="en-US" sz="2600" kern="0" dirty="0">
                <a:ea typeface="ＭＳ Ｐゴシック" pitchFamily="1" charset="-128"/>
              </a:rPr>
              <a:t>Intrathecal route bypasses BBB to access the CSF</a:t>
            </a:r>
          </a:p>
          <a:p>
            <a:pPr lvl="1" defTabSz="914400" eaLnBrk="1" hangingPunct="1">
              <a:defRPr/>
            </a:pPr>
            <a:r>
              <a:rPr lang="en-US" sz="2600" kern="0" dirty="0">
                <a:ea typeface="ＭＳ Ｐゴシック" pitchFamily="1" charset="-128"/>
              </a:rPr>
              <a:t>Not all drugs enter the brain or CNS, however, the difficulty of passage into the brain can also serve as a protective barrier when treating other parts of the body</a:t>
            </a:r>
          </a:p>
          <a:p>
            <a:pPr marL="476250" lvl="1" indent="0" defTabSz="914400" eaLnBrk="1" hangingPunct="1">
              <a:buNone/>
              <a:defRPr/>
            </a:pPr>
            <a:endParaRPr lang="en-US" kern="0" dirty="0">
              <a:latin typeface="Calibri" pitchFamily="1" charset="0"/>
              <a:ea typeface="ＭＳ Ｐゴシック" pitchFamily="1" charset="-128"/>
            </a:endParaRPr>
          </a:p>
          <a:p>
            <a:pPr defTabSz="914400">
              <a:buFontTx/>
              <a:buChar char="•"/>
              <a:defRPr/>
            </a:pPr>
            <a:r>
              <a:rPr lang="en-US" kern="0" dirty="0">
                <a:latin typeface="Calibri" pitchFamily="1" charset="0"/>
                <a:ea typeface="ＭＳ Ｐゴシック" pitchFamily="1" charset="-128"/>
              </a:rPr>
              <a:t>Excludes ionized  substances;  Active transport  mechanisms;</a:t>
            </a:r>
          </a:p>
          <a:p>
            <a:pPr defTabSz="914400">
              <a:buFontTx/>
              <a:buChar char="•"/>
              <a:defRPr/>
            </a:pPr>
            <a:r>
              <a:rPr lang="en-US" kern="0" dirty="0">
                <a:latin typeface="Calibri" pitchFamily="1" charset="0"/>
                <a:ea typeface="ＭＳ Ｐゴシック" pitchFamily="1" charset="-128"/>
              </a:rPr>
              <a:t>Not uniform – leaky (circumventricular areas)</a:t>
            </a:r>
          </a:p>
          <a:p>
            <a:pPr lvl="1" defTabSz="914400" eaLnBrk="1" hangingPunct="1">
              <a:lnSpc>
                <a:spcPct val="80000"/>
              </a:lnSpc>
              <a:defRPr/>
            </a:pPr>
            <a:endParaRPr lang="en-US" sz="2600" kern="0" dirty="0">
              <a:ea typeface="ＭＳ Ｐゴシック" pitchFamily="1" charset="-128"/>
            </a:endParaRPr>
          </a:p>
        </p:txBody>
      </p:sp>
      <p:sp>
        <p:nvSpPr>
          <p:cNvPr id="5" name="Rectangle 2"/>
          <p:cNvSpPr txBox="1">
            <a:spLocks noChangeArrowheads="1"/>
          </p:cNvSpPr>
          <p:nvPr/>
        </p:nvSpPr>
        <p:spPr bwMode="auto">
          <a:xfrm>
            <a:off x="381000" y="12700"/>
            <a:ext cx="7543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B050"/>
                </a:solidFill>
                <a:effectLst/>
                <a:uLnTx/>
                <a:uFillTx/>
                <a:latin typeface="Bradley Hand ITC" panose="03070402050302030203" pitchFamily="66" charset="0"/>
                <a:ea typeface="MS PGothic" pitchFamily="34" charset="-128"/>
                <a:cs typeface="+mj-cs"/>
              </a:rPr>
              <a:t>Drug Distribution: </a:t>
            </a:r>
            <a:r>
              <a:rPr kumimoji="0" lang="en-US" altLang="en-US" sz="2400" b="0" i="1" u="sng" strike="noStrike" kern="0" cap="none" spc="0" normalizeH="0" baseline="0" noProof="0" dirty="0">
                <a:ln>
                  <a:noFill/>
                </a:ln>
                <a:solidFill>
                  <a:srgbClr val="00B050"/>
                </a:solidFill>
                <a:effectLst/>
                <a:uLnTx/>
                <a:uFillTx/>
                <a:latin typeface="Arial"/>
                <a:ea typeface="MS PGothic" pitchFamily="34" charset="-128"/>
                <a:cs typeface="+mj-cs"/>
              </a:rPr>
              <a:t>Blood-brain barrier (BBB)</a:t>
            </a:r>
            <a:r>
              <a:rPr kumimoji="0" lang="en-US" altLang="en-US" sz="2400" b="0" i="1" u="none" strike="noStrike" kern="0" cap="none" spc="0" normalizeH="0" baseline="0" noProof="0" dirty="0">
                <a:ln>
                  <a:noFill/>
                </a:ln>
                <a:solidFill>
                  <a:srgbClr val="00B050"/>
                </a:solidFill>
                <a:effectLst/>
                <a:uLnTx/>
                <a:uFillTx/>
                <a:latin typeface="Arial"/>
                <a:ea typeface="MS PGothic" pitchFamily="34" charset="-128"/>
                <a:cs typeface="+mj-cs"/>
              </a:rPr>
              <a:t> </a:t>
            </a:r>
            <a:endParaRPr kumimoji="0" lang="en-US" altLang="en-US" sz="2400" b="0" i="1" u="none" strike="noStrike" kern="0" cap="none" spc="0" normalizeH="0" baseline="0" noProof="0" dirty="0">
              <a:ln>
                <a:noFill/>
              </a:ln>
              <a:solidFill>
                <a:srgbClr val="00B050"/>
              </a:solidFill>
              <a:effectLst/>
              <a:uLnTx/>
              <a:uFillTx/>
              <a:latin typeface="Bradley Hand ITC" panose="03070402050302030203" pitchFamily="66" charset="0"/>
              <a:ea typeface="MS PGothic" pitchFamily="34" charset="-128"/>
              <a:cs typeface="+mj-cs"/>
            </a:endParaRPr>
          </a:p>
        </p:txBody>
      </p:sp>
    </p:spTree>
    <p:extLst>
      <p:ext uri="{BB962C8B-B14F-4D97-AF65-F5344CB8AC3E}">
        <p14:creationId xmlns:p14="http://schemas.microsoft.com/office/powerpoint/2010/main" val="31015031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935182"/>
            <a:ext cx="815340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2"/>
              </a:buBlip>
              <a:tabLst/>
              <a:defRPr/>
            </a:pPr>
            <a:r>
              <a:rPr lang="en-US" sz="2400" b="1" dirty="0">
                <a:solidFill>
                  <a:srgbClr val="00B050"/>
                </a:solidFill>
                <a:ea typeface="+mn-ea"/>
              </a:rPr>
              <a:t>B.  </a:t>
            </a:r>
            <a:r>
              <a:rPr lang="en-US" sz="2400" b="1" u="sng" dirty="0">
                <a:solidFill>
                  <a:srgbClr val="00B050"/>
                </a:solidFill>
                <a:ea typeface="+mn-ea"/>
              </a:rPr>
              <a:t>Blood-placenta barrier </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 the </a:t>
            </a:r>
            <a:r>
              <a:rPr kumimoji="0" lang="en-US" sz="2800" b="0" i="0" u="none" strike="noStrike" kern="0" cap="none" spc="0" normalizeH="0" baseline="0" noProof="0" dirty="0" err="1">
                <a:ln>
                  <a:noFill/>
                </a:ln>
                <a:solidFill>
                  <a:srgbClr val="000000"/>
                </a:solidFill>
                <a:effectLst/>
                <a:uLnTx/>
                <a:uFillTx/>
                <a:latin typeface="Arial"/>
                <a:ea typeface="MS PGothic" pitchFamily="34" charset="-128"/>
                <a:cs typeface="+mn-cs"/>
              </a:rPr>
              <a:t>foetus</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rPr>
              <a:t> is exposed to most drugs the mother ingests at anytime during the pregnancy.</a:t>
            </a:r>
          </a:p>
          <a:p>
            <a:pPr defTabSz="914400" eaLnBrk="1" hangingPunct="1">
              <a:buFont typeface="Wingdings" pitchFamily="2" charset="2"/>
              <a:buNone/>
              <a:defRPr/>
            </a:pP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Arial" charset="0"/>
              </a:rPr>
              <a:t>             Lipid soluble drugs may cross the placenta and cause developmental toxicity. </a:t>
            </a:r>
          </a:p>
          <a:p>
            <a:pPr marL="1257300" marR="0" lvl="3" indent="-395288"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800" b="0" i="0" u="sng" strike="noStrike" kern="0" cap="none" spc="0" normalizeH="0" baseline="0" noProof="0" dirty="0">
                <a:ln>
                  <a:noFill/>
                </a:ln>
                <a:solidFill>
                  <a:srgbClr val="000000"/>
                </a:solidFill>
                <a:effectLst/>
                <a:uLnTx/>
                <a:uFillTx/>
                <a:latin typeface="Arial"/>
                <a:ea typeface="MS PGothic" pitchFamily="34" charset="-128"/>
                <a:cs typeface="Arial" charset="0"/>
              </a:rPr>
              <a:t>Nicotine</a:t>
            </a: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Arial" charset="0"/>
              </a:rPr>
              <a:t> withdrawal symptoms in neonates, </a:t>
            </a:r>
          </a:p>
          <a:p>
            <a:pPr marL="1257300" marR="0" lvl="3" indent="-395288"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Arial" charset="0"/>
              </a:rPr>
              <a:t>Fetal Alcohol Syndrome (FAS) for alcoholic mothers.</a:t>
            </a:r>
          </a:p>
          <a:p>
            <a:pPr lvl="1" defTabSz="914400" eaLnBrk="1" hangingPunct="1">
              <a:defRPr/>
            </a:pPr>
            <a:r>
              <a:rPr lang="en-US" sz="2200" kern="0" dirty="0">
                <a:solidFill>
                  <a:srgbClr val="000000"/>
                </a:solidFill>
                <a:latin typeface="Arial"/>
                <a:cs typeface="Arial" charset="0"/>
              </a:rPr>
              <a:t>The pH of fetal blood is lower than that maternal blood; weakly basic drugs may be trapped (e.g. local </a:t>
            </a:r>
            <a:r>
              <a:rPr lang="en-US" sz="2200" kern="0" dirty="0" err="1">
                <a:solidFill>
                  <a:srgbClr val="000000"/>
                </a:solidFill>
                <a:latin typeface="Arial"/>
                <a:cs typeface="Arial" charset="0"/>
              </a:rPr>
              <a:t>anaesthetics</a:t>
            </a:r>
            <a:r>
              <a:rPr lang="en-US" sz="2200" kern="0" dirty="0">
                <a:solidFill>
                  <a:srgbClr val="000000"/>
                </a:solidFill>
                <a:latin typeface="Arial"/>
                <a:cs typeface="Arial" charset="0"/>
              </a:rPr>
              <a:t>).</a:t>
            </a:r>
          </a:p>
          <a:p>
            <a:pPr defTabSz="914400" eaLnBrk="1" hangingPunct="1">
              <a:defRPr/>
            </a:pPr>
            <a:endParaRPr kumimoji="0" lang="en-US" sz="3200" b="0" i="0" u="none" strike="noStrike" kern="0" cap="none" spc="0" normalizeH="0" baseline="0" noProof="0" dirty="0">
              <a:ln>
                <a:noFill/>
              </a:ln>
              <a:solidFill>
                <a:srgbClr val="000000"/>
              </a:solidFill>
              <a:effectLst/>
              <a:uLnTx/>
              <a:uFillTx/>
              <a:latin typeface="Arial"/>
              <a:ea typeface="MS PGothic" pitchFamily="34" charset="-128"/>
            </a:endParaRPr>
          </a:p>
        </p:txBody>
      </p:sp>
      <p:sp>
        <p:nvSpPr>
          <p:cNvPr id="4" name="Rectangle 2"/>
          <p:cNvSpPr txBox="1">
            <a:spLocks noChangeArrowheads="1"/>
          </p:cNvSpPr>
          <p:nvPr/>
        </p:nvSpPr>
        <p:spPr>
          <a:xfrm>
            <a:off x="457200" y="122238"/>
            <a:ext cx="7543800" cy="8683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rgbClr val="00B050"/>
                </a:solidFill>
                <a:latin typeface="Bradley Hand ITC" panose="03070402050302030203" pitchFamily="66" charset="0"/>
              </a:rPr>
              <a:t>Drug Distribution</a:t>
            </a:r>
          </a:p>
        </p:txBody>
      </p:sp>
    </p:spTree>
    <p:extLst>
      <p:ext uri="{BB962C8B-B14F-4D97-AF65-F5344CB8AC3E}">
        <p14:creationId xmlns:p14="http://schemas.microsoft.com/office/powerpoint/2010/main" val="31482771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392113" y="736167"/>
            <a:ext cx="8663564" cy="563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lang="en-US" altLang="en-US" sz="2400" b="1" dirty="0">
                <a:solidFill>
                  <a:srgbClr val="00B050"/>
                </a:solidFill>
                <a:ea typeface="+mn-ea"/>
              </a:rPr>
              <a:t>C.  </a:t>
            </a:r>
            <a:r>
              <a:rPr lang="en-US" altLang="en-US" sz="2400" b="1" u="sng" dirty="0">
                <a:solidFill>
                  <a:srgbClr val="00B050"/>
                </a:solidFill>
                <a:ea typeface="+mn-ea"/>
              </a:rPr>
              <a:t>Mammary transfer of drugs</a:t>
            </a:r>
            <a:endPar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defTabSz="914400" eaLnBrk="1" hangingPunct="1">
              <a:defRPr/>
            </a:pPr>
            <a:r>
              <a:rPr lang="en-US" sz="2800" kern="0" dirty="0">
                <a:solidFill>
                  <a:srgbClr val="000000"/>
                </a:solidFill>
                <a:latin typeface="Arial"/>
              </a:rPr>
              <a:t>Lipid soluble drugs in maternal plasma easily diffuse across capillary walls, alveolar cell walls of milk buds into milk.</a:t>
            </a:r>
            <a:endParaRPr kumimoji="0" lang="en-US" altLang="en-US" sz="2800" b="0" i="0" u="none" strike="noStrike" kern="0" cap="none" spc="0" normalizeH="0" baseline="0" noProof="0" dirty="0">
              <a:ln>
                <a:noFill/>
              </a:ln>
              <a:solidFill>
                <a:srgbClr val="000000"/>
              </a:solidFill>
              <a:effectLst/>
              <a:uLnTx/>
              <a:uFillTx/>
              <a:latin typeface="Arial"/>
            </a:endParaRPr>
          </a:p>
          <a:p>
            <a:pPr marL="790575" marR="0" lvl="1" indent="-3143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rPr>
              <a:t>Non-electrolyte drugs (do not depend on pH gradient – i.e. alcohol) readily reaches the same concentration as in the plasma, independent of the pH of breast milk</a:t>
            </a:r>
            <a:endParaRPr kumimoji="0" lang="en-US" altLang="en-US" sz="3000" b="0" i="0" u="none" strike="noStrike" kern="0" cap="none" spc="0" normalizeH="0" baseline="0" noProof="0" dirty="0">
              <a:ln>
                <a:noFill/>
              </a:ln>
              <a:solidFill>
                <a:srgbClr val="000000"/>
              </a:solidFill>
              <a:effectLst/>
              <a:uLnTx/>
              <a:uFillTx/>
              <a:latin typeface="Arial"/>
              <a:ea typeface="MS PGothic" pitchFamily="34" charset="-128"/>
            </a:endParaRPr>
          </a:p>
          <a:p>
            <a:pPr defTabSz="914400">
              <a:defRPr/>
            </a:pPr>
            <a:r>
              <a:rPr lang="en-US" sz="2400" kern="0" dirty="0">
                <a:solidFill>
                  <a:srgbClr val="C00000"/>
                </a:solidFill>
                <a:latin typeface="Arial"/>
              </a:rPr>
              <a:t>Basic drugs are trapped </a:t>
            </a:r>
            <a:r>
              <a:rPr lang="en-US" sz="2400" kern="0" dirty="0">
                <a:solidFill>
                  <a:srgbClr val="000000"/>
                </a:solidFill>
                <a:latin typeface="Arial"/>
              </a:rPr>
              <a:t>in slightly acidic breast milk (6.35–7.35) </a:t>
            </a:r>
            <a:r>
              <a:rPr lang="en-US" sz="2400" kern="0" dirty="0" err="1">
                <a:solidFill>
                  <a:srgbClr val="000000"/>
                </a:solidFill>
                <a:latin typeface="Arial"/>
              </a:rPr>
              <a:t>Eg</a:t>
            </a:r>
            <a:r>
              <a:rPr lang="en-US" sz="2400" kern="0" dirty="0">
                <a:solidFill>
                  <a:srgbClr val="000000"/>
                </a:solidFill>
                <a:latin typeface="Arial"/>
              </a:rPr>
              <a:t>. Lithium, iodine. </a:t>
            </a:r>
          </a:p>
          <a:p>
            <a:pPr defTabSz="914400">
              <a:defRPr/>
            </a:pPr>
            <a:r>
              <a:rPr lang="en-US" sz="2400" dirty="0"/>
              <a:t>Large drugs like heparin (30,000Da )and insulin (6000Da) are practically excluded</a:t>
            </a:r>
          </a:p>
          <a:p>
            <a:pPr marL="0" indent="0" defTabSz="914400">
              <a:buNone/>
              <a:defRPr/>
            </a:pPr>
            <a:r>
              <a:rPr lang="en-US" sz="2400" b="1" dirty="0">
                <a:latin typeface="Garamond" panose="02020404030301010803" pitchFamily="18" charset="0"/>
              </a:rPr>
              <a:t>Others</a:t>
            </a:r>
            <a:r>
              <a:rPr lang="en-US" sz="2400" dirty="0">
                <a:latin typeface="Garamond" panose="02020404030301010803" pitchFamily="18" charset="0"/>
              </a:rPr>
              <a:t>: </a:t>
            </a:r>
            <a:r>
              <a:rPr lang="en-US" sz="2400" i="1" dirty="0">
                <a:latin typeface="Garamond" panose="02020404030301010803" pitchFamily="18" charset="0"/>
              </a:rPr>
              <a:t>Blood – aqueous humor barrier, blood – testis barrier</a:t>
            </a:r>
          </a:p>
          <a:p>
            <a:pPr marL="0" indent="0" defTabSz="914400">
              <a:buNone/>
              <a:defRPr/>
            </a:pPr>
            <a:endParaRPr lang="en-US" sz="2400" kern="0" dirty="0">
              <a:solidFill>
                <a:srgbClr val="000000"/>
              </a:solidFill>
              <a:latin typeface="Arial"/>
            </a:endParaRPr>
          </a:p>
          <a:p>
            <a:pPr marL="314325" marR="0" lvl="0" indent="-314325" algn="l" defTabSz="914400" rtl="0" eaLnBrk="0" fontAlgn="base" latinLnBrk="0" hangingPunct="0">
              <a:lnSpc>
                <a:spcPct val="100000"/>
              </a:lnSpc>
              <a:spcBef>
                <a:spcPct val="20000"/>
              </a:spcBef>
              <a:spcAft>
                <a:spcPct val="0"/>
              </a:spcAft>
              <a:buClrTx/>
              <a:buSzTx/>
              <a:buFontTx/>
              <a:buBlip>
                <a:blip r:embed="rId3"/>
              </a:buBlip>
              <a:tabLst/>
              <a:defRPr/>
            </a:pPr>
            <a:endPar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Grp="1" noChangeArrowheads="1"/>
          </p:cNvSpPr>
          <p:nvPr>
            <p:ph type="title"/>
          </p:nvPr>
        </p:nvSpPr>
        <p:spPr>
          <a:xfrm>
            <a:off x="457200" y="66820"/>
            <a:ext cx="8229600" cy="707303"/>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rgbClr val="00B050"/>
                </a:solidFill>
                <a:latin typeface="Bradley Hand ITC" panose="03070402050302030203" pitchFamily="66" charset="0"/>
              </a:rPr>
              <a:t>Drug Distribution</a:t>
            </a:r>
          </a:p>
        </p:txBody>
      </p:sp>
    </p:spTree>
    <p:extLst>
      <p:ext uri="{BB962C8B-B14F-4D97-AF65-F5344CB8AC3E}">
        <p14:creationId xmlns:p14="http://schemas.microsoft.com/office/powerpoint/2010/main" val="9726078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143000"/>
            <a:ext cx="822960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Tx/>
              <a:buSzTx/>
              <a:buFontTx/>
              <a:buNone/>
              <a:tabLst/>
              <a:defRPr/>
            </a:pPr>
            <a:r>
              <a:rPr lang="en-US" altLang="en-US" b="1" kern="0" dirty="0">
                <a:solidFill>
                  <a:srgbClr val="00B050"/>
                </a:solidFill>
                <a:latin typeface="Arial Black" panose="020B0A04020102020204" pitchFamily="34" charset="0"/>
                <a:cs typeface="+mj-cs"/>
              </a:rPr>
              <a:t>5. Storage Depots (Tissue/Depot binding)</a:t>
            </a:r>
          </a:p>
          <a:p>
            <a:pPr marL="0" marR="0" lvl="0" indent="0" algn="l"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Drugs may collect in certain body tissues</a:t>
            </a:r>
          </a:p>
          <a:p>
            <a:pPr marL="381000" lvl="0" indent="-276225" defTabSz="914400" eaLnBrk="1" hangingPunct="1">
              <a:lnSpc>
                <a:spcPct val="90000"/>
              </a:lnSpc>
              <a:buBlip>
                <a:blip r:embed="rId4"/>
              </a:buBlip>
              <a:defRPr/>
            </a:pPr>
            <a:r>
              <a:rPr lang="en-US" altLang="en-US" sz="2400" kern="0" dirty="0">
                <a:solidFill>
                  <a:srgbClr val="000000"/>
                </a:solidFill>
                <a:latin typeface="Arial"/>
              </a:rPr>
              <a:t>These tissues are called “depot sites” or “silent receptors” (fat, muscle, organs, bones, </a:t>
            </a:r>
            <a:r>
              <a:rPr lang="en-US" altLang="en-US" sz="2400" kern="0" dirty="0" err="1">
                <a:solidFill>
                  <a:srgbClr val="000000"/>
                </a:solidFill>
                <a:latin typeface="Arial"/>
              </a:rPr>
              <a:t>etc</a:t>
            </a:r>
            <a:r>
              <a:rPr lang="en-US" altLang="en-US" sz="2400" kern="0" dirty="0">
                <a:solidFill>
                  <a:srgbClr val="000000"/>
                </a:solidFill>
                <a:latin typeface="Arial"/>
              </a:rPr>
              <a:t>)</a:t>
            </a:r>
          </a:p>
          <a:p>
            <a:pPr marL="381000" lvl="0" indent="-276225" defTabSz="914400" eaLnBrk="1" hangingPunct="1">
              <a:lnSpc>
                <a:spcPct val="90000"/>
              </a:lnSpc>
              <a:buBlip>
                <a:blip r:embed="rId4"/>
              </a:buBlip>
              <a:defRPr/>
            </a:pPr>
            <a:r>
              <a:rPr lang="en-US" altLang="en-US" sz="2400" kern="0" dirty="0">
                <a:solidFill>
                  <a:srgbClr val="000000"/>
                </a:solidFill>
                <a:latin typeface="Arial"/>
              </a:rPr>
              <a:t>Depot binding reduces </a:t>
            </a:r>
            <a:r>
              <a:rPr lang="en-US" altLang="en-US" sz="2400" kern="0" dirty="0">
                <a:solidFill>
                  <a:srgbClr val="C00000"/>
                </a:solidFill>
                <a:latin typeface="Arial"/>
              </a:rPr>
              <a:t>bioavailability</a:t>
            </a:r>
            <a:r>
              <a:rPr lang="en-US" altLang="en-US" sz="2400" kern="0" dirty="0">
                <a:solidFill>
                  <a:srgbClr val="000000"/>
                </a:solidFill>
                <a:latin typeface="Arial"/>
              </a:rPr>
              <a:t>, </a:t>
            </a:r>
            <a:r>
              <a:rPr lang="en-US" altLang="en-US" sz="2400" kern="0" dirty="0">
                <a:solidFill>
                  <a:srgbClr val="C00000"/>
                </a:solidFill>
                <a:latin typeface="Arial"/>
              </a:rPr>
              <a:t>slows elimination</a:t>
            </a:r>
            <a:r>
              <a:rPr lang="en-US" altLang="en-US" sz="2400" kern="0" dirty="0">
                <a:solidFill>
                  <a:srgbClr val="000000"/>
                </a:solidFill>
                <a:latin typeface="Arial"/>
              </a:rPr>
              <a:t>, can </a:t>
            </a:r>
            <a:r>
              <a:rPr lang="en-US" altLang="en-US" sz="2400" kern="0" dirty="0">
                <a:solidFill>
                  <a:srgbClr val="C00000"/>
                </a:solidFill>
                <a:latin typeface="Arial"/>
              </a:rPr>
              <a:t>increase drug detection window. Affects PK and PD</a:t>
            </a:r>
          </a:p>
          <a:p>
            <a:pPr marL="104775" lvl="0" indent="0" defTabSz="914400" eaLnBrk="1" hangingPunct="1">
              <a:lnSpc>
                <a:spcPct val="90000"/>
              </a:lnSpc>
              <a:buNone/>
              <a:defRPr/>
            </a:pPr>
            <a:endParaRPr lang="en-US" altLang="en-US" sz="2400" kern="0" dirty="0">
              <a:solidFill>
                <a:srgbClr val="C00000"/>
              </a:solidFill>
              <a:latin typeface="Arial"/>
            </a:endParaRPr>
          </a:p>
          <a:p>
            <a:pPr marL="381000" lvl="0" indent="-276225" defTabSz="914400" eaLnBrk="1" hangingPunct="1">
              <a:lnSpc>
                <a:spcPct val="90000"/>
              </a:lnSpc>
              <a:buBlip>
                <a:blip r:embed="rId4"/>
              </a:buBlip>
              <a:defRPr/>
            </a:pPr>
            <a:r>
              <a:rPr lang="en-US" altLang="en-US" sz="2400" kern="0" dirty="0">
                <a:solidFill>
                  <a:srgbClr val="000000"/>
                </a:solidFill>
                <a:latin typeface="Arial"/>
              </a:rPr>
              <a:t>Depot-bound drugs can be released during sudden weight loss – may account for flashback experiences?</a:t>
            </a:r>
          </a:p>
          <a:p>
            <a:pPr lvl="0" defTabSz="914400" eaLnBrk="1" hangingPunct="1">
              <a:lnSpc>
                <a:spcPct val="90000"/>
              </a:lnSpc>
              <a:defRPr/>
            </a:pPr>
            <a:r>
              <a:rPr lang="en-US" altLang="en-US" sz="2400" u="sng" kern="0" dirty="0">
                <a:solidFill>
                  <a:srgbClr val="000000"/>
                </a:solidFill>
                <a:latin typeface="Arial"/>
              </a:rPr>
              <a:t>Redistribution</a:t>
            </a:r>
            <a:r>
              <a:rPr lang="en-US" altLang="en-US" sz="2400" kern="0" dirty="0">
                <a:solidFill>
                  <a:srgbClr val="000000"/>
                </a:solidFill>
                <a:latin typeface="Arial"/>
              </a:rPr>
              <a:t> – after a drug has accumulated in tissue, i.e. thiopental in fatty tissues, drug is gradually returned to the plasma</a:t>
            </a:r>
          </a:p>
        </p:txBody>
      </p:sp>
      <p:sp>
        <p:nvSpPr>
          <p:cNvPr id="4" name="Rectangle 2"/>
          <p:cNvSpPr txBox="1">
            <a:spLocks noChangeArrowheads="1"/>
          </p:cNvSpPr>
          <p:nvPr/>
        </p:nvSpPr>
        <p:spPr>
          <a:xfrm>
            <a:off x="457200" y="122238"/>
            <a:ext cx="7543800" cy="8683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rgbClr val="00B050"/>
                </a:solidFill>
                <a:latin typeface="Bradley Hand ITC" panose="03070402050302030203" pitchFamily="66" charset="0"/>
              </a:rPr>
              <a:t>Drug Distribution</a:t>
            </a:r>
          </a:p>
        </p:txBody>
      </p:sp>
    </p:spTree>
    <p:extLst>
      <p:ext uri="{BB962C8B-B14F-4D97-AF65-F5344CB8AC3E}">
        <p14:creationId xmlns:p14="http://schemas.microsoft.com/office/powerpoint/2010/main" val="35569675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298525"/>
            <a:ext cx="8229600" cy="5842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476250" marR="0" lvl="1" indent="0" algn="l" defTabSz="914400" rtl="0" eaLnBrk="1" fontAlgn="base" latinLnBrk="0" hangingPunct="1">
              <a:lnSpc>
                <a:spcPct val="90000"/>
              </a:lnSpc>
              <a:spcBef>
                <a:spcPct val="20000"/>
              </a:spcBef>
              <a:spcAft>
                <a:spcPct val="0"/>
              </a:spcAft>
              <a:buClrTx/>
              <a:buSzTx/>
              <a:buNone/>
              <a:tabLst/>
              <a:defRPr/>
            </a:pPr>
            <a:r>
              <a:rPr lang="en-US" altLang="en-US" sz="2000" b="1" kern="0" dirty="0">
                <a:solidFill>
                  <a:srgbClr val="00B050"/>
                </a:solidFill>
                <a:latin typeface="Arial Black" panose="020B0A04020102020204" pitchFamily="34" charset="0"/>
                <a:cs typeface="+mj-cs"/>
              </a:rPr>
              <a:t>5.  Storage Depots</a:t>
            </a:r>
          </a:p>
          <a:p>
            <a:pPr marL="239713" lvl="1" indent="-577850" defTabSz="914400" eaLnBrk="1" hangingPunct="1">
              <a:lnSpc>
                <a:spcPct val="90000"/>
              </a:lnSpc>
              <a:defRPr/>
            </a:pPr>
            <a:r>
              <a:rPr lang="en-US" altLang="en-US" sz="2600" kern="0" dirty="0">
                <a:solidFill>
                  <a:srgbClr val="000000"/>
                </a:solidFill>
                <a:latin typeface="Arial"/>
              </a:rPr>
              <a:t>A.  </a:t>
            </a:r>
            <a:r>
              <a:rPr lang="en-US" altLang="en-US" sz="2600" u="sng" kern="0" dirty="0">
                <a:solidFill>
                  <a:srgbClr val="000000"/>
                </a:solidFill>
                <a:latin typeface="Arial"/>
              </a:rPr>
              <a:t>Fat </a:t>
            </a:r>
            <a:r>
              <a:rPr lang="en-US" altLang="en-US" sz="2600" kern="0" dirty="0">
                <a:solidFill>
                  <a:srgbClr val="000000"/>
                </a:solidFill>
                <a:latin typeface="Arial"/>
              </a:rPr>
              <a:t>– lipophilic drugs accumulate here and are released slowly (due to low blood flow)</a:t>
            </a:r>
          </a:p>
          <a:p>
            <a:pPr marL="239713" lvl="1" indent="-577850" defTabSz="914400" eaLnBrk="1" hangingPunct="1">
              <a:lnSpc>
                <a:spcPct val="90000"/>
              </a:lnSpc>
              <a:defRPr/>
            </a:pPr>
            <a:r>
              <a:rPr lang="en-US" altLang="en-US" sz="2000" u="sng" kern="0" dirty="0">
                <a:solidFill>
                  <a:srgbClr val="000000"/>
                </a:solidFill>
                <a:latin typeface="Arial"/>
              </a:rPr>
              <a:t>Ex</a:t>
            </a:r>
            <a:r>
              <a:rPr lang="en-US" altLang="en-US" sz="2000" kern="0" dirty="0">
                <a:solidFill>
                  <a:srgbClr val="000000"/>
                </a:solidFill>
                <a:latin typeface="Arial"/>
              </a:rPr>
              <a:t>:  thiopental (or other anesthetic) – causes </a:t>
            </a:r>
            <a:r>
              <a:rPr lang="en-US" altLang="en-US" sz="2000" kern="0" dirty="0">
                <a:solidFill>
                  <a:srgbClr val="000000"/>
                </a:solidFill>
                <a:latin typeface="Arial"/>
                <a:cs typeface="Arial" panose="020B0604020202020204" pitchFamily="34" charset="0"/>
              </a:rPr>
              <a:t>↑ sedation in obese patients</a:t>
            </a:r>
          </a:p>
          <a:p>
            <a:pPr marL="658813" lvl="2" indent="-577850" defTabSz="914400">
              <a:lnSpc>
                <a:spcPct val="90000"/>
              </a:lnSpc>
              <a:defRPr/>
            </a:pPr>
            <a:r>
              <a:rPr lang="en-US" altLang="en-US" sz="2400" kern="0" dirty="0">
                <a:solidFill>
                  <a:srgbClr val="000000"/>
                </a:solidFill>
                <a:latin typeface="Arial"/>
                <a:cs typeface="Arial" panose="020B0604020202020204" pitchFamily="34" charset="0"/>
              </a:rPr>
              <a:t>B.  </a:t>
            </a:r>
            <a:r>
              <a:rPr lang="en-US" altLang="en-US" sz="2400" u="sng" kern="0" dirty="0">
                <a:solidFill>
                  <a:srgbClr val="000000"/>
                </a:solidFill>
                <a:latin typeface="Arial"/>
                <a:cs typeface="Arial" panose="020B0604020202020204" pitchFamily="34" charset="0"/>
              </a:rPr>
              <a:t>Bone</a:t>
            </a:r>
            <a:r>
              <a:rPr lang="en-US" altLang="en-US" sz="2400" kern="0" dirty="0">
                <a:solidFill>
                  <a:srgbClr val="000000"/>
                </a:solidFill>
                <a:latin typeface="Arial"/>
                <a:cs typeface="Arial" panose="020B0604020202020204" pitchFamily="34" charset="0"/>
              </a:rPr>
              <a:t> – Ca</a:t>
            </a:r>
            <a:r>
              <a:rPr lang="en-US" altLang="en-US" sz="2400" kern="0" baseline="30000" dirty="0">
                <a:solidFill>
                  <a:srgbClr val="000000"/>
                </a:solidFill>
                <a:latin typeface="Arial"/>
                <a:cs typeface="Arial" panose="020B0604020202020204" pitchFamily="34" charset="0"/>
              </a:rPr>
              <a:t>++</a:t>
            </a:r>
            <a:r>
              <a:rPr lang="en-US" altLang="en-US" sz="2400" kern="0" dirty="0">
                <a:solidFill>
                  <a:srgbClr val="000000"/>
                </a:solidFill>
                <a:latin typeface="Arial"/>
                <a:cs typeface="Arial" panose="020B0604020202020204" pitchFamily="34" charset="0"/>
              </a:rPr>
              <a:t> binding drugs accumulate here</a:t>
            </a:r>
          </a:p>
          <a:p>
            <a:pPr marL="239713" lvl="1" indent="-577850" defTabSz="914400">
              <a:lnSpc>
                <a:spcPct val="90000"/>
              </a:lnSpc>
              <a:defRPr/>
            </a:pPr>
            <a:r>
              <a:rPr lang="en-US" altLang="en-US" sz="2000" u="sng" kern="0" dirty="0">
                <a:solidFill>
                  <a:srgbClr val="000000"/>
                </a:solidFill>
                <a:latin typeface="Arial"/>
                <a:cs typeface="Arial" panose="020B0604020202020204" pitchFamily="34" charset="0"/>
              </a:rPr>
              <a:t>Ex</a:t>
            </a:r>
            <a:r>
              <a:rPr lang="en-US" altLang="en-US" sz="2000" kern="0" dirty="0">
                <a:solidFill>
                  <a:srgbClr val="000000"/>
                </a:solidFill>
                <a:latin typeface="Arial"/>
                <a:cs typeface="Arial" panose="020B0604020202020204" pitchFamily="34" charset="0"/>
              </a:rPr>
              <a:t>:  tetracycline can deposit in bone and teeth → will cause mottling or discoloration of teeth</a:t>
            </a:r>
          </a:p>
          <a:p>
            <a:pPr marL="658813" lvl="2" indent="-577850" defTabSz="914400">
              <a:lnSpc>
                <a:spcPct val="90000"/>
              </a:lnSpc>
              <a:defRPr/>
            </a:pPr>
            <a:r>
              <a:rPr lang="en-US" altLang="en-US" sz="2400" kern="0" dirty="0">
                <a:solidFill>
                  <a:srgbClr val="000000"/>
                </a:solidFill>
                <a:latin typeface="Arial"/>
                <a:cs typeface="Arial" panose="020B0604020202020204" pitchFamily="34" charset="0"/>
              </a:rPr>
              <a:t>C.  </a:t>
            </a:r>
            <a:r>
              <a:rPr lang="en-US" altLang="en-US" sz="2400" u="sng" kern="0" dirty="0">
                <a:solidFill>
                  <a:srgbClr val="000000"/>
                </a:solidFill>
                <a:latin typeface="Arial"/>
                <a:cs typeface="Arial" panose="020B0604020202020204" pitchFamily="34" charset="0"/>
              </a:rPr>
              <a:t>Liver</a:t>
            </a:r>
            <a:r>
              <a:rPr lang="en-US" altLang="en-US" sz="2400" kern="0" dirty="0">
                <a:solidFill>
                  <a:srgbClr val="000000"/>
                </a:solidFill>
                <a:latin typeface="Arial"/>
                <a:cs typeface="Arial" panose="020B0604020202020204" pitchFamily="34" charset="0"/>
              </a:rPr>
              <a:t> – many drugs accumulate in the liver due to an affinity for hepatic cells</a:t>
            </a:r>
          </a:p>
          <a:p>
            <a:pPr marL="658813" lvl="2" indent="-577850" defTabSz="914400">
              <a:lnSpc>
                <a:spcPct val="90000"/>
              </a:lnSpc>
              <a:defRPr/>
            </a:pPr>
            <a:r>
              <a:rPr lang="en-US" altLang="en-US" sz="2000" u="sng" kern="0" dirty="0">
                <a:solidFill>
                  <a:srgbClr val="000000"/>
                </a:solidFill>
                <a:latin typeface="Arial"/>
                <a:cs typeface="Arial" panose="020B0604020202020204" pitchFamily="34" charset="0"/>
              </a:rPr>
              <a:t>Ex</a:t>
            </a:r>
            <a:r>
              <a:rPr lang="en-US" altLang="en-US" sz="2000" kern="0" dirty="0">
                <a:solidFill>
                  <a:srgbClr val="000000"/>
                </a:solidFill>
                <a:latin typeface="Arial"/>
                <a:cs typeface="Arial" panose="020B0604020202020204" pitchFamily="34" charset="0"/>
              </a:rPr>
              <a:t>:  </a:t>
            </a:r>
            <a:r>
              <a:rPr lang="en-US" altLang="en-US" sz="2000" kern="0" dirty="0" err="1">
                <a:solidFill>
                  <a:srgbClr val="000000"/>
                </a:solidFill>
                <a:latin typeface="Arial"/>
                <a:cs typeface="Arial" panose="020B0604020202020204" pitchFamily="34" charset="0"/>
              </a:rPr>
              <a:t>quinacrine</a:t>
            </a:r>
            <a:r>
              <a:rPr lang="en-US" altLang="en-US" sz="2000" kern="0" dirty="0">
                <a:solidFill>
                  <a:srgbClr val="000000"/>
                </a:solidFill>
                <a:latin typeface="Arial"/>
                <a:cs typeface="Arial" panose="020B0604020202020204" pitchFamily="34" charset="0"/>
              </a:rPr>
              <a:t> (antimalarial agent) – has higher </a:t>
            </a:r>
            <a:r>
              <a:rPr lang="en-US" altLang="en-US" sz="2000" kern="0" dirty="0" err="1">
                <a:solidFill>
                  <a:srgbClr val="000000"/>
                </a:solidFill>
                <a:latin typeface="Arial"/>
                <a:cs typeface="Arial" panose="020B0604020202020204" pitchFamily="34" charset="0"/>
              </a:rPr>
              <a:t>conc</a:t>
            </a:r>
            <a:r>
              <a:rPr lang="en-US" altLang="en-US" sz="2000" kern="0" dirty="0">
                <a:solidFill>
                  <a:srgbClr val="000000"/>
                </a:solidFill>
                <a:latin typeface="Arial"/>
                <a:cs typeface="Arial" panose="020B0604020202020204" pitchFamily="34" charset="0"/>
              </a:rPr>
              <a:t> (22,000 times) in the liver than in plasma due to long term administration</a:t>
            </a:r>
          </a:p>
          <a:p>
            <a:pPr defTabSz="914400" eaLnBrk="1" hangingPunct="1">
              <a:lnSpc>
                <a:spcPct val="90000"/>
              </a:lnSpc>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D.  </a:t>
            </a:r>
            <a:r>
              <a:rPr kumimoji="0" lang="en-US" altLang="en-US" sz="2400" b="0" i="0" u="sng" strike="noStrike" kern="0" cap="none" spc="0" normalizeH="0" baseline="0" noProof="0" dirty="0">
                <a:ln>
                  <a:noFill/>
                </a:ln>
                <a:solidFill>
                  <a:srgbClr val="000000"/>
                </a:solidFill>
                <a:effectLst/>
                <a:uLnTx/>
                <a:uFillTx/>
                <a:latin typeface="Arial"/>
                <a:ea typeface="MS PGothic" pitchFamily="34" charset="-128"/>
              </a:rPr>
              <a:t>Skin</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 some drugs accumulate here</a:t>
            </a:r>
          </a:p>
          <a:p>
            <a:pPr lvl="1" defTabSz="914400" eaLnBrk="1" hangingPunct="1">
              <a:lnSpc>
                <a:spcPct val="90000"/>
              </a:lnSpc>
              <a:defRPr/>
            </a:pPr>
            <a:r>
              <a:rPr kumimoji="0" lang="en-US" altLang="en-US" sz="2000" b="0" i="0" u="sng" strike="noStrike" kern="0" cap="none" spc="0" normalizeH="0" baseline="0" noProof="0" dirty="0">
                <a:ln>
                  <a:noFill/>
                </a:ln>
                <a:solidFill>
                  <a:srgbClr val="000000"/>
                </a:solidFill>
                <a:effectLst/>
                <a:uLnTx/>
                <a:uFillTx/>
                <a:latin typeface="Arial"/>
                <a:ea typeface="MS PGothic" pitchFamily="34" charset="-128"/>
              </a:rPr>
              <a:t>Ex</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  </a:t>
            </a:r>
            <a:r>
              <a:rPr kumimoji="0" lang="en-US" altLang="en-US" sz="2000" b="0" i="0" u="none" strike="noStrike" kern="0" cap="none" spc="0" normalizeH="0" baseline="0" noProof="0" dirty="0" err="1">
                <a:ln>
                  <a:noFill/>
                </a:ln>
                <a:solidFill>
                  <a:srgbClr val="000000"/>
                </a:solidFill>
                <a:effectLst/>
                <a:uLnTx/>
                <a:uFillTx/>
                <a:latin typeface="Arial"/>
                <a:ea typeface="MS PGothic" pitchFamily="34" charset="-128"/>
              </a:rPr>
              <a:t>griseofulvin</a:t>
            </a: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 (antifungal of skin, hair, and nails) binds to keratin protecting the skin from new infection</a:t>
            </a:r>
          </a:p>
          <a:p>
            <a:pPr lvl="1" defTabSz="914400" eaLnBrk="1" hangingPunct="1">
              <a:lnSpc>
                <a:spcPct val="90000"/>
              </a:lnSpc>
              <a:defRPr/>
            </a:pPr>
            <a:r>
              <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rPr>
              <a:t>Chloroquine, highly tissue bound and stays in the body for a longer time</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a:t>
            </a:r>
          </a:p>
        </p:txBody>
      </p:sp>
    </p:spTree>
    <p:extLst>
      <p:ext uri="{BB962C8B-B14F-4D97-AF65-F5344CB8AC3E}">
        <p14:creationId xmlns:p14="http://schemas.microsoft.com/office/powerpoint/2010/main" val="4453470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1001022" y="-93615"/>
            <a:ext cx="7543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B050"/>
                </a:solidFill>
                <a:effectLst/>
                <a:uLnTx/>
                <a:uFillTx/>
                <a:latin typeface="Arial"/>
                <a:ea typeface="MS PGothic" pitchFamily="34" charset="-128"/>
                <a:cs typeface="+mj-cs"/>
              </a:rPr>
              <a:t>VOLUME OF DISTRIBUTION</a:t>
            </a:r>
            <a:r>
              <a:rPr kumimoji="0" lang="en-US" altLang="en-US" sz="2400" b="1" i="0" u="none" strike="noStrike" kern="0" cap="none" spc="0" normalizeH="0" baseline="0" noProof="0" dirty="0">
                <a:ln>
                  <a:noFill/>
                </a:ln>
                <a:solidFill>
                  <a:srgbClr val="00B050"/>
                </a:solidFill>
                <a:effectLst/>
                <a:uLnTx/>
                <a:uFillTx/>
                <a:latin typeface="Arial"/>
                <a:ea typeface="MS PGothic" pitchFamily="34" charset="-128"/>
                <a:cs typeface="+mj-cs"/>
              </a:rPr>
              <a:t> </a:t>
            </a:r>
            <a:r>
              <a:rPr kumimoji="0" lang="en-US" altLang="en-US" sz="2400" b="1" i="0" u="none" strike="noStrike" kern="0" cap="none" spc="0" normalizeH="0" baseline="0" noProof="0" dirty="0" err="1">
                <a:ln>
                  <a:noFill/>
                </a:ln>
                <a:solidFill>
                  <a:srgbClr val="00B050"/>
                </a:solidFill>
                <a:effectLst/>
                <a:uLnTx/>
                <a:uFillTx/>
                <a:latin typeface="Arial"/>
                <a:ea typeface="MS PGothic" pitchFamily="34" charset="-128"/>
                <a:cs typeface="+mj-cs"/>
              </a:rPr>
              <a:t>V</a:t>
            </a:r>
            <a:r>
              <a:rPr kumimoji="0" lang="en-US" altLang="en-US" sz="2400" b="1" i="0" u="none" strike="noStrike" kern="0" cap="none" spc="0" normalizeH="0" baseline="-25000" noProof="0" dirty="0" err="1">
                <a:ln>
                  <a:noFill/>
                </a:ln>
                <a:solidFill>
                  <a:srgbClr val="00B050"/>
                </a:solidFill>
                <a:effectLst/>
                <a:uLnTx/>
                <a:uFillTx/>
                <a:latin typeface="Arial"/>
                <a:ea typeface="MS PGothic" pitchFamily="34" charset="-128"/>
                <a:cs typeface="+mj-cs"/>
              </a:rPr>
              <a:t>d</a:t>
            </a:r>
            <a:endParaRPr kumimoji="0" lang="en-US" altLang="en-US" sz="2400" b="1" i="0" u="none" strike="noStrike" kern="0" cap="none" spc="0" normalizeH="0" baseline="-25000" noProof="0" dirty="0">
              <a:ln>
                <a:noFill/>
              </a:ln>
              <a:solidFill>
                <a:srgbClr val="00B050"/>
              </a:solidFill>
              <a:effectLst/>
              <a:uLnTx/>
              <a:uFillTx/>
              <a:latin typeface="Arial"/>
              <a:ea typeface="MS PGothic" pitchFamily="34" charset="-128"/>
              <a:cs typeface="+mj-cs"/>
            </a:endParaRPr>
          </a:p>
        </p:txBody>
      </p:sp>
      <p:sp>
        <p:nvSpPr>
          <p:cNvPr id="4" name="TextBox 3"/>
          <p:cNvSpPr txBox="1"/>
          <p:nvPr/>
        </p:nvSpPr>
        <p:spPr>
          <a:xfrm>
            <a:off x="354979" y="635598"/>
            <a:ext cx="8480907" cy="5262979"/>
          </a:xfrm>
          <a:prstGeom prst="rect">
            <a:avLst/>
          </a:prstGeom>
          <a:noFill/>
        </p:spPr>
        <p:txBody>
          <a:bodyPr wrap="square" rtlCol="0">
            <a:spAutoFit/>
          </a:bodyPr>
          <a:lstStyle/>
          <a:p>
            <a:pPr marL="342900" indent="-342900">
              <a:buClrTx/>
              <a:buFont typeface="Wingdings" panose="05000000000000000000" pitchFamily="2" charset="2"/>
              <a:buChar char="§"/>
            </a:pPr>
            <a:r>
              <a:rPr lang="en-US" sz="2800" kern="0" dirty="0">
                <a:solidFill>
                  <a:srgbClr val="000000"/>
                </a:solidFill>
                <a:latin typeface="Arial"/>
                <a:ea typeface="MS PGothic" pitchFamily="34" charset="-128"/>
              </a:rPr>
              <a:t>Body water available for drugs to distribute into is in four compartments as follows: (expressed as percentages of body weight)</a:t>
            </a:r>
          </a:p>
          <a:p>
            <a:pPr marL="1257300" lvl="2" indent="-342900">
              <a:buFont typeface="Wingdings" panose="05000000000000000000" pitchFamily="2" charset="2"/>
              <a:buChar char="§"/>
            </a:pPr>
            <a:r>
              <a:rPr lang="en-US" sz="2800" kern="0" dirty="0">
                <a:solidFill>
                  <a:srgbClr val="92D050"/>
                </a:solidFill>
                <a:latin typeface="Arial"/>
                <a:ea typeface="MS PGothic" pitchFamily="34" charset="-128"/>
              </a:rPr>
              <a:t>Intracellular fluid (</a:t>
            </a:r>
            <a:r>
              <a:rPr lang="en-US" sz="2800" i="1" kern="0" dirty="0">
                <a:solidFill>
                  <a:srgbClr val="92D050"/>
                </a:solidFill>
                <a:latin typeface="Arial"/>
                <a:ea typeface="MS PGothic" pitchFamily="34" charset="-128"/>
              </a:rPr>
              <a:t>within cytoplasm</a:t>
            </a:r>
            <a:r>
              <a:rPr lang="en-US" sz="2800" kern="0" dirty="0">
                <a:solidFill>
                  <a:srgbClr val="92D050"/>
                </a:solidFill>
                <a:latin typeface="Arial"/>
                <a:ea typeface="MS PGothic" pitchFamily="34" charset="-128"/>
              </a:rPr>
              <a:t>) – </a:t>
            </a:r>
            <a:r>
              <a:rPr lang="en-US" sz="2800" kern="0" dirty="0">
                <a:solidFill>
                  <a:srgbClr val="FF0000"/>
                </a:solidFill>
                <a:latin typeface="Arial"/>
                <a:ea typeface="MS PGothic" pitchFamily="34" charset="-128"/>
              </a:rPr>
              <a:t>40% </a:t>
            </a:r>
          </a:p>
          <a:p>
            <a:pPr marL="1257300" lvl="2" indent="-342900">
              <a:buFont typeface="Wingdings" panose="05000000000000000000" pitchFamily="2" charset="2"/>
              <a:buChar char="§"/>
            </a:pPr>
            <a:r>
              <a:rPr lang="en-US" sz="2800" kern="0" dirty="0">
                <a:solidFill>
                  <a:srgbClr val="92D050"/>
                </a:solidFill>
                <a:latin typeface="Arial"/>
                <a:ea typeface="MS PGothic" pitchFamily="34" charset="-128"/>
              </a:rPr>
              <a:t>Plasma (</a:t>
            </a:r>
            <a:r>
              <a:rPr lang="en-US" sz="2800" i="1" kern="0" dirty="0">
                <a:solidFill>
                  <a:srgbClr val="92D050"/>
                </a:solidFill>
                <a:latin typeface="Arial"/>
                <a:ea typeface="MS PGothic" pitchFamily="34" charset="-128"/>
              </a:rPr>
              <a:t>intravascular</a:t>
            </a:r>
            <a:r>
              <a:rPr lang="en-US" sz="2800" kern="0" dirty="0">
                <a:solidFill>
                  <a:srgbClr val="92D050"/>
                </a:solidFill>
                <a:latin typeface="Arial"/>
                <a:ea typeface="MS PGothic" pitchFamily="34" charset="-128"/>
              </a:rPr>
              <a:t>) – </a:t>
            </a:r>
            <a:r>
              <a:rPr lang="en-US" sz="2800" kern="0" dirty="0">
                <a:solidFill>
                  <a:srgbClr val="FF0000"/>
                </a:solidFill>
                <a:latin typeface="Arial"/>
                <a:ea typeface="MS PGothic" pitchFamily="34" charset="-128"/>
              </a:rPr>
              <a:t>5% </a:t>
            </a:r>
          </a:p>
          <a:p>
            <a:pPr marL="1257300" lvl="2" indent="-342900">
              <a:buFont typeface="Wingdings" panose="05000000000000000000" pitchFamily="2" charset="2"/>
              <a:buChar char="§"/>
            </a:pPr>
            <a:r>
              <a:rPr lang="en-US" sz="2800" kern="0" dirty="0">
                <a:solidFill>
                  <a:srgbClr val="92D050"/>
                </a:solidFill>
                <a:latin typeface="Arial"/>
                <a:ea typeface="MS PGothic" pitchFamily="34" charset="-128"/>
              </a:rPr>
              <a:t>interstitial fluid (</a:t>
            </a:r>
            <a:r>
              <a:rPr lang="en-US" sz="2800" i="1" kern="0" dirty="0" err="1">
                <a:solidFill>
                  <a:srgbClr val="92D050"/>
                </a:solidFill>
                <a:latin typeface="Arial"/>
                <a:ea typeface="MS PGothic" pitchFamily="34" charset="-128"/>
              </a:rPr>
              <a:t>btn</a:t>
            </a:r>
            <a:r>
              <a:rPr lang="en-US" sz="2800" i="1" kern="0" dirty="0">
                <a:solidFill>
                  <a:srgbClr val="92D050"/>
                </a:solidFill>
                <a:latin typeface="Arial"/>
                <a:ea typeface="MS PGothic" pitchFamily="34" charset="-128"/>
              </a:rPr>
              <a:t>. blood vessels and cells</a:t>
            </a:r>
            <a:r>
              <a:rPr lang="en-US" sz="2800" kern="0" dirty="0">
                <a:solidFill>
                  <a:srgbClr val="92D050"/>
                </a:solidFill>
                <a:latin typeface="Arial"/>
                <a:ea typeface="MS PGothic" pitchFamily="34" charset="-128"/>
              </a:rPr>
              <a:t>) – </a:t>
            </a:r>
            <a:r>
              <a:rPr lang="en-US" sz="2800" kern="0" dirty="0">
                <a:solidFill>
                  <a:srgbClr val="FF0000"/>
                </a:solidFill>
                <a:latin typeface="Arial"/>
                <a:ea typeface="MS PGothic" pitchFamily="34" charset="-128"/>
              </a:rPr>
              <a:t>15% </a:t>
            </a:r>
          </a:p>
          <a:p>
            <a:pPr marL="1257300" lvl="2" indent="-342900">
              <a:buFont typeface="Wingdings" panose="05000000000000000000" pitchFamily="2" charset="2"/>
              <a:buChar char="§"/>
            </a:pPr>
            <a:r>
              <a:rPr lang="en-US" sz="2800" kern="0" dirty="0">
                <a:solidFill>
                  <a:srgbClr val="92D050"/>
                </a:solidFill>
                <a:latin typeface="Arial"/>
                <a:ea typeface="MS PGothic" pitchFamily="34" charset="-128"/>
              </a:rPr>
              <a:t>transcellular fluid </a:t>
            </a:r>
            <a:r>
              <a:rPr lang="en-US" sz="2800" kern="0" dirty="0">
                <a:solidFill>
                  <a:srgbClr val="FF0000"/>
                </a:solidFill>
                <a:latin typeface="Arial"/>
                <a:ea typeface="MS PGothic" pitchFamily="34" charset="-128"/>
              </a:rPr>
              <a:t>1% </a:t>
            </a:r>
            <a:r>
              <a:rPr lang="en-US" sz="2800" kern="0" dirty="0">
                <a:solidFill>
                  <a:srgbClr val="92D050"/>
                </a:solidFill>
                <a:latin typeface="Arial"/>
                <a:ea typeface="MS PGothic" pitchFamily="34" charset="-128"/>
              </a:rPr>
              <a:t>cerebrospinal, intraocular, pleural and synovial fluids etc.</a:t>
            </a:r>
          </a:p>
          <a:p>
            <a:pPr lvl="2"/>
            <a:endParaRPr lang="en-US" sz="2800" kern="0" dirty="0">
              <a:solidFill>
                <a:srgbClr val="92D050"/>
              </a:solidFill>
              <a:latin typeface="Arial"/>
              <a:ea typeface="MS PGothic" pitchFamily="34" charset="-128"/>
            </a:endParaRPr>
          </a:p>
          <a:p>
            <a:pPr>
              <a:buClrTx/>
            </a:pPr>
            <a:r>
              <a:rPr lang="en-US" sz="2800" kern="0" dirty="0">
                <a:solidFill>
                  <a:srgbClr val="000000"/>
                </a:solidFill>
                <a:latin typeface="Arial"/>
                <a:ea typeface="MS PGothic" pitchFamily="34" charset="-128"/>
              </a:rPr>
              <a:t>NB: Females generally have less body fluids for drug distribution.</a:t>
            </a:r>
          </a:p>
        </p:txBody>
      </p:sp>
    </p:spTree>
    <p:extLst>
      <p:ext uri="{BB962C8B-B14F-4D97-AF65-F5344CB8AC3E}">
        <p14:creationId xmlns:p14="http://schemas.microsoft.com/office/powerpoint/2010/main" val="23244845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9" y="236670"/>
            <a:ext cx="4479521" cy="262821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573" y="236670"/>
            <a:ext cx="4115124" cy="296739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5046" y="3204060"/>
            <a:ext cx="4574851" cy="3439737"/>
          </a:xfrm>
          <a:prstGeom prst="rect">
            <a:avLst/>
          </a:prstGeom>
        </p:spPr>
      </p:pic>
    </p:spTree>
    <p:extLst>
      <p:ext uri="{BB962C8B-B14F-4D97-AF65-F5344CB8AC3E}">
        <p14:creationId xmlns:p14="http://schemas.microsoft.com/office/powerpoint/2010/main" val="6208994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457200" y="2877674"/>
            <a:ext cx="8085530" cy="1292662"/>
          </a:xfrm>
          <a:prstGeom prst="rect">
            <a:avLst/>
          </a:prstGeom>
        </p:spPr>
        <p:txBody>
          <a:bodyPr wrap="square">
            <a:spAutoFit/>
          </a:bodyPr>
          <a:lstStyle/>
          <a:p>
            <a:pPr lvl="0" defTabSz="914400"/>
            <a:r>
              <a:rPr lang="en-US" altLang="en-US" sz="6000" b="1" kern="0" dirty="0">
                <a:solidFill>
                  <a:srgbClr val="00B050"/>
                </a:solidFill>
                <a:latin typeface="Bradley Hand ITC" panose="03070402050302030203" pitchFamily="66" charset="0"/>
                <a:ea typeface="MS PGothic" pitchFamily="34" charset="-128"/>
                <a:cs typeface="+mj-cs"/>
              </a:rPr>
              <a:t>DRUG</a:t>
            </a:r>
            <a:r>
              <a:rPr lang="en-US" altLang="en-US" sz="6000" b="1" kern="0" dirty="0">
                <a:solidFill>
                  <a:srgbClr val="000000"/>
                </a:solidFill>
                <a:latin typeface="Bradley Hand ITC" panose="03070402050302030203" pitchFamily="66" charset="0"/>
                <a:ea typeface="MS PGothic" pitchFamily="34" charset="-128"/>
                <a:cs typeface="+mj-cs"/>
              </a:rPr>
              <a:t>  </a:t>
            </a:r>
            <a:r>
              <a:rPr lang="en-US" altLang="en-US" sz="6000" b="1" kern="0" dirty="0">
                <a:solidFill>
                  <a:srgbClr val="00B050"/>
                </a:solidFill>
                <a:latin typeface="Bradley Hand ITC" panose="03070402050302030203" pitchFamily="66" charset="0"/>
                <a:ea typeface="MS PGothic" pitchFamily="34" charset="-128"/>
                <a:cs typeface="+mj-cs"/>
              </a:rPr>
              <a:t>METABOLISM</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 name="Rectangle 4"/>
          <p:cNvSpPr/>
          <p:nvPr/>
        </p:nvSpPr>
        <p:spPr>
          <a:xfrm>
            <a:off x="3527252" y="3794004"/>
            <a:ext cx="2793358" cy="646331"/>
          </a:xfrm>
          <a:prstGeom prst="rect">
            <a:avLst/>
          </a:prstGeom>
        </p:spPr>
        <p:txBody>
          <a:bodyPr wrap="square">
            <a:spAutoFit/>
          </a:bodyPr>
          <a:lstStyle/>
          <a:p>
            <a:pPr lvl="0"/>
            <a:r>
              <a:rPr lang="en-US" sz="3600" b="1" kern="0" dirty="0">
                <a:latin typeface="Agency FB" panose="020B0503020202020204" pitchFamily="34" charset="0"/>
                <a:ea typeface="MS PGothic" pitchFamily="34" charset="-128"/>
                <a:cs typeface="+mj-cs"/>
              </a:rPr>
              <a:t>AD</a:t>
            </a:r>
            <a:r>
              <a:rPr lang="en-US" sz="3600" b="1" kern="0" dirty="0">
                <a:solidFill>
                  <a:srgbClr val="00B050"/>
                </a:solidFill>
                <a:latin typeface="Agency FB" panose="020B0503020202020204" pitchFamily="34" charset="0"/>
                <a:ea typeface="MS PGothic" pitchFamily="34" charset="-128"/>
                <a:cs typeface="+mj-cs"/>
              </a:rPr>
              <a:t>M</a:t>
            </a:r>
            <a:r>
              <a:rPr lang="en-US" sz="3600" b="1" kern="0" dirty="0">
                <a:latin typeface="Agency FB" panose="020B0503020202020204" pitchFamily="34" charset="0"/>
                <a:ea typeface="MS PGothic" pitchFamily="34" charset="-128"/>
                <a:cs typeface="+mj-cs"/>
              </a:rPr>
              <a:t>E</a:t>
            </a:r>
          </a:p>
        </p:txBody>
      </p:sp>
    </p:spTree>
    <p:extLst>
      <p:ext uri="{BB962C8B-B14F-4D97-AF65-F5344CB8AC3E}">
        <p14:creationId xmlns:p14="http://schemas.microsoft.com/office/powerpoint/2010/main" val="7401053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D2051-A1AE-4E40-B648-F4D095A295BC}"/>
              </a:ext>
            </a:extLst>
          </p:cNvPr>
          <p:cNvSpPr>
            <a:spLocks noGrp="1"/>
          </p:cNvSpPr>
          <p:nvPr>
            <p:ph type="title"/>
          </p:nvPr>
        </p:nvSpPr>
        <p:spPr>
          <a:xfrm>
            <a:off x="457200" y="211138"/>
            <a:ext cx="8229600" cy="713257"/>
          </a:xfrm>
        </p:spPr>
        <p:txBody>
          <a:bodyPr/>
          <a:lstStyle/>
          <a:p>
            <a:r>
              <a:rPr lang="aa-ET" sz="3200" b="1" dirty="0">
                <a:solidFill>
                  <a:srgbClr val="00B050"/>
                </a:solidFill>
              </a:rPr>
              <a:t>LEARNING OBJECTIVES</a:t>
            </a:r>
          </a:p>
        </p:txBody>
      </p:sp>
      <p:sp>
        <p:nvSpPr>
          <p:cNvPr id="3" name="Rectangle 2">
            <a:extLst>
              <a:ext uri="{FF2B5EF4-FFF2-40B4-BE49-F238E27FC236}">
                <a16:creationId xmlns:a16="http://schemas.microsoft.com/office/drawing/2014/main" id="{B8A71290-6DC1-2545-BCBC-12271310790C}"/>
              </a:ext>
            </a:extLst>
          </p:cNvPr>
          <p:cNvSpPr/>
          <p:nvPr/>
        </p:nvSpPr>
        <p:spPr>
          <a:xfrm>
            <a:off x="144378" y="771995"/>
            <a:ext cx="8542422" cy="5262979"/>
          </a:xfrm>
          <a:prstGeom prst="rect">
            <a:avLst/>
          </a:prstGeom>
        </p:spPr>
        <p:txBody>
          <a:bodyPr wrap="square">
            <a:spAutoFit/>
          </a:bodyPr>
          <a:lstStyle/>
          <a:p>
            <a:pPr algn="just"/>
            <a:r>
              <a:rPr lang="en-US" sz="2400" kern="0" dirty="0">
                <a:solidFill>
                  <a:srgbClr val="000000"/>
                </a:solidFill>
                <a:latin typeface="Arial"/>
                <a:ea typeface="MS PGothic" pitchFamily="34" charset="-128"/>
              </a:rPr>
              <a:t>By the end of this lecture, the student should be able to </a:t>
            </a:r>
          </a:p>
          <a:p>
            <a:pPr marL="514350" indent="-514350" algn="just">
              <a:buAutoNum type="arabicPeriod"/>
            </a:pPr>
            <a:r>
              <a:rPr lang="en-US" sz="2400" kern="0" dirty="0">
                <a:solidFill>
                  <a:srgbClr val="000000"/>
                </a:solidFill>
                <a:latin typeface="Arial"/>
                <a:ea typeface="MS PGothic" pitchFamily="34" charset="-128"/>
              </a:rPr>
              <a:t>Describe the different types of metabolic transformations that drugs undergo and their physiological consequences.</a:t>
            </a:r>
          </a:p>
          <a:p>
            <a:pPr marL="514350" indent="-514350" algn="just">
              <a:buAutoNum type="arabicPeriod"/>
            </a:pPr>
            <a:r>
              <a:rPr lang="en-US" sz="2400" kern="0" dirty="0">
                <a:solidFill>
                  <a:srgbClr val="000000"/>
                </a:solidFill>
                <a:latin typeface="Arial"/>
                <a:ea typeface="MS PGothic" pitchFamily="34" charset="-128"/>
              </a:rPr>
              <a:t>Describe the potential changes in chemical properties of a drug metabolite versus the properties of the parent drug.</a:t>
            </a:r>
          </a:p>
          <a:p>
            <a:pPr marL="514350" indent="-514350" algn="just">
              <a:buAutoNum type="arabicPeriod"/>
            </a:pPr>
            <a:r>
              <a:rPr lang="en-US" sz="2400" kern="0" dirty="0">
                <a:solidFill>
                  <a:srgbClr val="000000"/>
                </a:solidFill>
                <a:latin typeface="Arial"/>
                <a:ea typeface="MS PGothic" pitchFamily="34" charset="-128"/>
              </a:rPr>
              <a:t>Discuss the concept that the effects of one drug can be modified by the prior, or simultaneous, administration of a second drug.</a:t>
            </a:r>
          </a:p>
          <a:p>
            <a:pPr marL="514350" indent="-514350" algn="just">
              <a:buAutoNum type="arabicPeriod"/>
            </a:pPr>
            <a:r>
              <a:rPr lang="en-US" sz="2400" kern="0" dirty="0">
                <a:solidFill>
                  <a:srgbClr val="000000"/>
                </a:solidFill>
                <a:latin typeface="Arial"/>
                <a:ea typeface="MS PGothic" pitchFamily="34" charset="-128"/>
              </a:rPr>
              <a:t>Discuss the role that drug metabolism plays in mediating drug-drug interactions.</a:t>
            </a:r>
          </a:p>
          <a:p>
            <a:pPr marL="514350" indent="-514350" algn="just">
              <a:buAutoNum type="arabicPeriod"/>
            </a:pPr>
            <a:r>
              <a:rPr lang="en-US" sz="2400" kern="0" dirty="0">
                <a:solidFill>
                  <a:srgbClr val="000000"/>
                </a:solidFill>
                <a:latin typeface="Arial"/>
                <a:ea typeface="MS PGothic" pitchFamily="34" charset="-128"/>
              </a:rPr>
              <a:t>Summarize the major mechanisms that can lead to drug-drug interactions at the level of drug metabolisms.</a:t>
            </a:r>
          </a:p>
          <a:p>
            <a:pPr marL="514350" indent="-514350" algn="just">
              <a:buAutoNum type="arabicPeriod"/>
            </a:pPr>
            <a:r>
              <a:rPr lang="en-US" sz="2400" kern="0" dirty="0">
                <a:solidFill>
                  <a:srgbClr val="000000"/>
                </a:solidFill>
                <a:latin typeface="Arial"/>
                <a:ea typeface="MS PGothic" pitchFamily="34" charset="-128"/>
              </a:rPr>
              <a:t>Discuss the role that enzyme induction and inhibition of metabolic enzymes play in drug metabolism.</a:t>
            </a:r>
          </a:p>
        </p:txBody>
      </p:sp>
    </p:spTree>
    <p:extLst>
      <p:ext uri="{BB962C8B-B14F-4D97-AF65-F5344CB8AC3E}">
        <p14:creationId xmlns:p14="http://schemas.microsoft.com/office/powerpoint/2010/main" val="14870490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5541"/>
          </a:xfrm>
        </p:spPr>
        <p:txBody>
          <a:bodyPr/>
          <a:lstStyle/>
          <a:p>
            <a:r>
              <a:rPr lang="en-US" altLang="en-US" sz="2800" b="1" kern="0" dirty="0">
                <a:solidFill>
                  <a:srgbClr val="00B050"/>
                </a:solidFill>
                <a:latin typeface="Arial"/>
                <a:ea typeface="MS PGothic" pitchFamily="34" charset="-128"/>
              </a:rPr>
              <a:t>DRUG METABOLISM</a:t>
            </a:r>
            <a:br>
              <a:rPr lang="en-US" altLang="en-US" b="1" kern="0" dirty="0">
                <a:solidFill>
                  <a:srgbClr val="000000"/>
                </a:solidFill>
                <a:latin typeface="Arial"/>
                <a:ea typeface="MS PGothic" pitchFamily="34" charset="-128"/>
              </a:rPr>
            </a:br>
            <a:endParaRPr lang="en-US" dirty="0"/>
          </a:p>
        </p:txBody>
      </p:sp>
      <p:sp>
        <p:nvSpPr>
          <p:cNvPr id="3" name="Rectangle 2"/>
          <p:cNvSpPr/>
          <p:nvPr/>
        </p:nvSpPr>
        <p:spPr>
          <a:xfrm>
            <a:off x="144378" y="924395"/>
            <a:ext cx="8542422" cy="4832092"/>
          </a:xfrm>
          <a:prstGeom prst="rect">
            <a:avLst/>
          </a:prstGeom>
        </p:spPr>
        <p:txBody>
          <a:bodyPr wrap="square">
            <a:spAutoFit/>
          </a:bodyPr>
          <a:lstStyle/>
          <a:p>
            <a:pPr marL="285750" indent="-285750" algn="just">
              <a:buFont typeface="Wingdings" panose="05000000000000000000" pitchFamily="2" charset="2"/>
              <a:buChar char="§"/>
            </a:pPr>
            <a:r>
              <a:rPr lang="en-US" sz="2800" kern="0" dirty="0">
                <a:solidFill>
                  <a:srgbClr val="000000"/>
                </a:solidFill>
                <a:latin typeface="Arial"/>
                <a:ea typeface="MS PGothic" pitchFamily="34" charset="-128"/>
              </a:rPr>
              <a:t>The biologic transformation of a drug molecule by </a:t>
            </a:r>
            <a:r>
              <a:rPr lang="en-US" sz="2800" kern="0" dirty="0">
                <a:solidFill>
                  <a:srgbClr val="FF0000"/>
                </a:solidFill>
                <a:latin typeface="Arial"/>
                <a:ea typeface="MS PGothic" pitchFamily="34" charset="-128"/>
              </a:rPr>
              <a:t>enzymes present in the body</a:t>
            </a:r>
            <a:r>
              <a:rPr lang="en-US" sz="2800" kern="0" dirty="0">
                <a:solidFill>
                  <a:srgbClr val="000000"/>
                </a:solidFill>
                <a:latin typeface="Arial"/>
                <a:ea typeface="MS PGothic" pitchFamily="34" charset="-128"/>
              </a:rPr>
              <a:t> is commonly referred to as </a:t>
            </a:r>
            <a:r>
              <a:rPr lang="en-US" sz="2800" kern="0" dirty="0">
                <a:solidFill>
                  <a:srgbClr val="FF0000"/>
                </a:solidFill>
                <a:latin typeface="Arial"/>
                <a:ea typeface="MS PGothic" pitchFamily="34" charset="-128"/>
              </a:rPr>
              <a:t>drug metabolism</a:t>
            </a:r>
            <a:r>
              <a:rPr lang="en-US" sz="2800" kern="0" dirty="0">
                <a:solidFill>
                  <a:srgbClr val="000000"/>
                </a:solidFill>
                <a:latin typeface="Arial"/>
                <a:ea typeface="MS PGothic" pitchFamily="34" charset="-128"/>
              </a:rPr>
              <a:t>. </a:t>
            </a:r>
          </a:p>
          <a:p>
            <a:pPr marL="285750" indent="-285750" algn="just">
              <a:buFont typeface="Wingdings" panose="05000000000000000000" pitchFamily="2" charset="2"/>
              <a:buChar char="§"/>
            </a:pPr>
            <a:r>
              <a:rPr lang="en-US" sz="2800" kern="0" dirty="0">
                <a:solidFill>
                  <a:srgbClr val="000000"/>
                </a:solidFill>
                <a:latin typeface="Arial"/>
                <a:ea typeface="MS PGothic" pitchFamily="34" charset="-128"/>
              </a:rPr>
              <a:t>The process of drug metabolism is usually considered to be a process that leads to detoxification and increased water solubility.</a:t>
            </a:r>
          </a:p>
          <a:p>
            <a:pPr marL="285750" indent="-285750" algn="just">
              <a:buFont typeface="Wingdings" panose="05000000000000000000" pitchFamily="2" charset="2"/>
              <a:buChar char="§"/>
            </a:pPr>
            <a:r>
              <a:rPr lang="en-US" sz="2800" kern="0" dirty="0">
                <a:solidFill>
                  <a:srgbClr val="000000"/>
                </a:solidFill>
                <a:latin typeface="Arial"/>
                <a:ea typeface="MS PGothic" pitchFamily="34" charset="-128"/>
              </a:rPr>
              <a:t>However, </a:t>
            </a:r>
          </a:p>
          <a:p>
            <a:pPr marL="742950" lvl="1" indent="-285750" algn="just">
              <a:buFont typeface="Wingdings" panose="05000000000000000000" pitchFamily="2" charset="2"/>
              <a:buChar char="§"/>
            </a:pPr>
            <a:r>
              <a:rPr lang="en-US" sz="2800" kern="0" dirty="0">
                <a:solidFill>
                  <a:srgbClr val="000000"/>
                </a:solidFill>
                <a:latin typeface="Arial"/>
                <a:ea typeface="MS PGothic" pitchFamily="34" charset="-128"/>
              </a:rPr>
              <a:t>metabolism as a chemical transforming process can lead to an </a:t>
            </a:r>
            <a:r>
              <a:rPr lang="en-US" sz="2800" kern="0" dirty="0">
                <a:solidFill>
                  <a:srgbClr val="FF0000"/>
                </a:solidFill>
                <a:latin typeface="Arial"/>
                <a:ea typeface="MS PGothic" pitchFamily="34" charset="-128"/>
              </a:rPr>
              <a:t>increase in toxicity</a:t>
            </a:r>
            <a:r>
              <a:rPr lang="en-US" sz="2800" kern="0" dirty="0">
                <a:solidFill>
                  <a:srgbClr val="000000"/>
                </a:solidFill>
                <a:latin typeface="Arial"/>
                <a:ea typeface="MS PGothic" pitchFamily="34" charset="-128"/>
              </a:rPr>
              <a:t>, </a:t>
            </a:r>
            <a:r>
              <a:rPr lang="en-US" sz="2800" kern="0" dirty="0">
                <a:solidFill>
                  <a:srgbClr val="FF0000"/>
                </a:solidFill>
                <a:latin typeface="Arial"/>
                <a:ea typeface="MS PGothic" pitchFamily="34" charset="-128"/>
              </a:rPr>
              <a:t>an activation or deactivation of the biologic action</a:t>
            </a:r>
            <a:r>
              <a:rPr lang="en-US" sz="2800" kern="0" dirty="0">
                <a:solidFill>
                  <a:srgbClr val="000000"/>
                </a:solidFill>
                <a:latin typeface="Arial"/>
                <a:ea typeface="MS PGothic" pitchFamily="34" charset="-128"/>
              </a:rPr>
              <a:t>, and in some cases a </a:t>
            </a:r>
            <a:r>
              <a:rPr lang="en-US" sz="2800" kern="0" dirty="0">
                <a:solidFill>
                  <a:srgbClr val="FF0000"/>
                </a:solidFill>
                <a:latin typeface="Arial"/>
                <a:ea typeface="MS PGothic" pitchFamily="34" charset="-128"/>
              </a:rPr>
              <a:t>decrease in water solubility</a:t>
            </a:r>
            <a:r>
              <a:rPr lang="en-US" sz="2800" kern="0" dirty="0">
                <a:solidFill>
                  <a:srgbClr val="000000"/>
                </a:solidFill>
                <a:latin typeface="Arial"/>
                <a:ea typeface="MS PGothic" pitchFamily="34" charset="-128"/>
              </a:rPr>
              <a:t>.</a:t>
            </a:r>
          </a:p>
        </p:txBody>
      </p:sp>
    </p:spTree>
    <p:extLst>
      <p:ext uri="{BB962C8B-B14F-4D97-AF65-F5344CB8AC3E}">
        <p14:creationId xmlns:p14="http://schemas.microsoft.com/office/powerpoint/2010/main" val="1232909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9757"/>
          </a:xfrm>
        </p:spPr>
        <p:txBody>
          <a:bodyPr/>
          <a:lstStyle/>
          <a:p>
            <a:r>
              <a:rPr lang="en-US" altLang="en-US" sz="2800" b="1" kern="0" dirty="0">
                <a:solidFill>
                  <a:srgbClr val="00B050"/>
                </a:solidFill>
                <a:latin typeface="Arial"/>
                <a:ea typeface="MS PGothic" pitchFamily="34" charset="-128"/>
              </a:rPr>
              <a:t>DRUG METABOLISM</a:t>
            </a:r>
            <a:endParaRPr lang="en-US" dirty="0">
              <a:solidFill>
                <a:srgbClr val="00B050"/>
              </a:solidFill>
            </a:endParaRPr>
          </a:p>
        </p:txBody>
      </p:sp>
      <p:sp>
        <p:nvSpPr>
          <p:cNvPr id="3" name="Rectangle 2"/>
          <p:cNvSpPr/>
          <p:nvPr/>
        </p:nvSpPr>
        <p:spPr>
          <a:xfrm>
            <a:off x="144378" y="924395"/>
            <a:ext cx="8542422" cy="3970318"/>
          </a:xfrm>
          <a:prstGeom prst="rect">
            <a:avLst/>
          </a:prstGeom>
        </p:spPr>
        <p:txBody>
          <a:bodyPr wrap="square">
            <a:spAutoFit/>
          </a:bodyPr>
          <a:lstStyle/>
          <a:p>
            <a:pPr marL="171450" indent="-285750" algn="just">
              <a:buFont typeface="Wingdings" panose="05000000000000000000" pitchFamily="2" charset="2"/>
              <a:buChar char="§"/>
            </a:pPr>
            <a:r>
              <a:rPr lang="en-US" sz="2800" kern="0" dirty="0">
                <a:solidFill>
                  <a:srgbClr val="000000"/>
                </a:solidFill>
                <a:latin typeface="Arial"/>
                <a:ea typeface="MS PGothic" pitchFamily="34" charset="-128"/>
              </a:rPr>
              <a:t>Drugs represent only one small group of substrates that may undergo metabolism. </a:t>
            </a:r>
          </a:p>
          <a:p>
            <a:pPr marL="171450" indent="-285750" algn="just">
              <a:buFont typeface="Wingdings" panose="05000000000000000000" pitchFamily="2" charset="2"/>
              <a:buChar char="§"/>
            </a:pPr>
            <a:endParaRPr lang="en-US" sz="2800" kern="0" dirty="0">
              <a:solidFill>
                <a:srgbClr val="000000"/>
              </a:solidFill>
              <a:latin typeface="Arial"/>
              <a:ea typeface="MS PGothic" pitchFamily="34" charset="-128"/>
            </a:endParaRPr>
          </a:p>
          <a:p>
            <a:pPr marL="171450" indent="-285750" algn="just">
              <a:buFont typeface="Wingdings" panose="05000000000000000000" pitchFamily="2" charset="2"/>
              <a:buChar char="§"/>
            </a:pPr>
            <a:r>
              <a:rPr lang="en-US" sz="2800" kern="0" dirty="0">
                <a:solidFill>
                  <a:srgbClr val="000000"/>
                </a:solidFill>
                <a:latin typeface="Arial"/>
                <a:ea typeface="MS PGothic" pitchFamily="34" charset="-128"/>
              </a:rPr>
              <a:t>Any substance foreign to the body can potentially be metabolized after entering the body. </a:t>
            </a:r>
          </a:p>
          <a:p>
            <a:pPr marL="171450" indent="-285750" algn="just">
              <a:buFont typeface="Wingdings" panose="05000000000000000000" pitchFamily="2" charset="2"/>
              <a:buChar char="§"/>
            </a:pPr>
            <a:endParaRPr lang="en-US" sz="2800" kern="0" dirty="0">
              <a:solidFill>
                <a:srgbClr val="000000"/>
              </a:solidFill>
              <a:latin typeface="Arial"/>
              <a:ea typeface="MS PGothic" pitchFamily="34" charset="-128"/>
            </a:endParaRPr>
          </a:p>
          <a:p>
            <a:pPr marL="171450" lvl="0" indent="-285750" algn="just">
              <a:buFont typeface="Wingdings" panose="05000000000000000000" pitchFamily="2" charset="2"/>
              <a:buChar char="§"/>
            </a:pPr>
            <a:r>
              <a:rPr lang="en-US" sz="2800" kern="0" dirty="0">
                <a:solidFill>
                  <a:srgbClr val="000000"/>
                </a:solidFill>
                <a:latin typeface="Arial"/>
                <a:ea typeface="MS PGothic" pitchFamily="34" charset="-128"/>
              </a:rPr>
              <a:t>A more general term for exogenous substances is the term </a:t>
            </a:r>
            <a:r>
              <a:rPr lang="en-US" sz="2800" kern="0" dirty="0">
                <a:solidFill>
                  <a:srgbClr val="FF0000"/>
                </a:solidFill>
                <a:latin typeface="Arial"/>
                <a:ea typeface="MS PGothic" pitchFamily="34" charset="-128"/>
              </a:rPr>
              <a:t>xenobiotics (</a:t>
            </a:r>
            <a:r>
              <a:rPr lang="en-US" sz="2800" kern="0" dirty="0">
                <a:solidFill>
                  <a:prstClr val="black"/>
                </a:solidFill>
                <a:latin typeface="Arial"/>
                <a:ea typeface="MS PGothic" pitchFamily="34" charset="-128"/>
              </a:rPr>
              <a:t>from Greek </a:t>
            </a:r>
            <a:r>
              <a:rPr lang="en-US" sz="2800" kern="0" dirty="0" err="1">
                <a:solidFill>
                  <a:prstClr val="black"/>
                </a:solidFill>
                <a:latin typeface="Arial"/>
                <a:ea typeface="MS PGothic" pitchFamily="34" charset="-128"/>
              </a:rPr>
              <a:t>xenos</a:t>
            </a:r>
            <a:r>
              <a:rPr lang="en-US" sz="2800" kern="0" dirty="0">
                <a:solidFill>
                  <a:srgbClr val="FF0000"/>
                </a:solidFill>
                <a:latin typeface="Arial"/>
                <a:ea typeface="MS PGothic" pitchFamily="34" charset="-128"/>
              </a:rPr>
              <a:t> “stranger” </a:t>
            </a:r>
            <a:r>
              <a:rPr lang="en-US" sz="2800" kern="0" dirty="0">
                <a:solidFill>
                  <a:prstClr val="black"/>
                </a:solidFill>
                <a:latin typeface="Arial"/>
                <a:ea typeface="MS PGothic" pitchFamily="34" charset="-128"/>
              </a:rPr>
              <a:t>and biotic </a:t>
            </a:r>
            <a:r>
              <a:rPr lang="en-US" sz="2800" kern="0" dirty="0">
                <a:solidFill>
                  <a:srgbClr val="FF0000"/>
                </a:solidFill>
                <a:latin typeface="Arial"/>
                <a:ea typeface="MS PGothic" pitchFamily="34" charset="-128"/>
              </a:rPr>
              <a:t>“related to living things)</a:t>
            </a:r>
            <a:r>
              <a:rPr lang="en-US" sz="2800" kern="0" dirty="0">
                <a:solidFill>
                  <a:srgbClr val="000000"/>
                </a:solidFill>
                <a:latin typeface="Arial"/>
                <a:ea typeface="MS PGothic" pitchFamily="34" charset="-128"/>
              </a:rPr>
              <a:t>. </a:t>
            </a:r>
          </a:p>
        </p:txBody>
      </p:sp>
    </p:spTree>
    <p:extLst>
      <p:ext uri="{BB962C8B-B14F-4D97-AF65-F5344CB8AC3E}">
        <p14:creationId xmlns:p14="http://schemas.microsoft.com/office/powerpoint/2010/main" val="11057226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880D-6F03-9A49-BF0D-3A90F6790E43}"/>
              </a:ext>
            </a:extLst>
          </p:cNvPr>
          <p:cNvSpPr>
            <a:spLocks noGrp="1"/>
          </p:cNvSpPr>
          <p:nvPr>
            <p:ph type="title"/>
          </p:nvPr>
        </p:nvSpPr>
        <p:spPr/>
        <p:txBody>
          <a:bodyPr/>
          <a:lstStyle/>
          <a:p>
            <a:endParaRPr lang="aa-ET"/>
          </a:p>
        </p:txBody>
      </p:sp>
      <p:pic>
        <p:nvPicPr>
          <p:cNvPr id="4" name="Picture 3">
            <a:extLst>
              <a:ext uri="{FF2B5EF4-FFF2-40B4-BE49-F238E27FC236}">
                <a16:creationId xmlns:a16="http://schemas.microsoft.com/office/drawing/2014/main" id="{A696FEE3-C9DB-7C4B-A6C5-30BAD5056B7F}"/>
              </a:ext>
            </a:extLst>
          </p:cNvPr>
          <p:cNvPicPr>
            <a:picLocks noChangeAspect="1"/>
          </p:cNvPicPr>
          <p:nvPr/>
        </p:nvPicPr>
        <p:blipFill>
          <a:blip r:embed="rId3"/>
          <a:stretch>
            <a:fillRect/>
          </a:stretch>
        </p:blipFill>
        <p:spPr>
          <a:xfrm>
            <a:off x="469900" y="274638"/>
            <a:ext cx="8204200" cy="5689600"/>
          </a:xfrm>
          <a:prstGeom prst="rect">
            <a:avLst/>
          </a:prstGeom>
        </p:spPr>
      </p:pic>
    </p:spTree>
    <p:extLst>
      <p:ext uri="{BB962C8B-B14F-4D97-AF65-F5344CB8AC3E}">
        <p14:creationId xmlns:p14="http://schemas.microsoft.com/office/powerpoint/2010/main" val="41085633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3509"/>
          </a:xfrm>
        </p:spPr>
        <p:txBody>
          <a:bodyPr/>
          <a:lstStyle/>
          <a:p>
            <a:r>
              <a:rPr lang="en-US" altLang="en-US" sz="2800" b="1" kern="0" dirty="0">
                <a:solidFill>
                  <a:srgbClr val="00B050"/>
                </a:solidFill>
                <a:latin typeface="Arial"/>
                <a:ea typeface="MS PGothic" pitchFamily="34" charset="-128"/>
              </a:rPr>
              <a:t>DRUG METABOLISM</a:t>
            </a:r>
            <a:endParaRPr lang="en-US" dirty="0">
              <a:solidFill>
                <a:srgbClr val="00B050"/>
              </a:solidFill>
            </a:endParaRPr>
          </a:p>
        </p:txBody>
      </p:sp>
      <p:sp>
        <p:nvSpPr>
          <p:cNvPr id="3" name="Rectangle 2"/>
          <p:cNvSpPr/>
          <p:nvPr/>
        </p:nvSpPr>
        <p:spPr>
          <a:xfrm>
            <a:off x="312822" y="818147"/>
            <a:ext cx="8373978" cy="4832092"/>
          </a:xfrm>
          <a:prstGeom prst="rect">
            <a:avLst/>
          </a:prstGeom>
        </p:spPr>
        <p:txBody>
          <a:bodyPr wrap="square">
            <a:spAutoFit/>
          </a:bodyPr>
          <a:lstStyle/>
          <a:p>
            <a:pPr marL="171450" lvl="0" indent="-285750" algn="just">
              <a:buFont typeface="Wingdings" panose="05000000000000000000" pitchFamily="2" charset="2"/>
              <a:buChar char="§"/>
            </a:pPr>
            <a:r>
              <a:rPr lang="en-US" sz="2800" kern="0" dirty="0">
                <a:solidFill>
                  <a:srgbClr val="000000"/>
                </a:solidFill>
                <a:latin typeface="Arial"/>
                <a:ea typeface="MS PGothic" pitchFamily="34" charset="-128"/>
              </a:rPr>
              <a:t>Xenobiotics represent any foreign chemicals such as food additives (i.e., herbicides and pesticides), volatile chemicals (i.e., substances in cigarette smoke), chemicals in the drinking water, environmental pollutants as well as drugs.</a:t>
            </a:r>
          </a:p>
          <a:p>
            <a:pPr marL="171450" lvl="0" indent="-285750" algn="just">
              <a:buFont typeface="Wingdings" panose="05000000000000000000" pitchFamily="2" charset="2"/>
              <a:buChar char="§"/>
            </a:pPr>
            <a:r>
              <a:rPr lang="en-US" sz="2800" kern="0" dirty="0">
                <a:solidFill>
                  <a:srgbClr val="000000"/>
                </a:solidFill>
                <a:latin typeface="Arial"/>
                <a:ea typeface="MS PGothic" pitchFamily="34" charset="-128"/>
              </a:rPr>
              <a:t>Xenobiotic metabolism, while primarily occurring in the </a:t>
            </a:r>
            <a:r>
              <a:rPr lang="en-US" sz="2800" kern="0" dirty="0">
                <a:solidFill>
                  <a:srgbClr val="00B050"/>
                </a:solidFill>
                <a:latin typeface="Arial"/>
                <a:ea typeface="MS PGothic" pitchFamily="34" charset="-128"/>
              </a:rPr>
              <a:t>liver</a:t>
            </a:r>
            <a:r>
              <a:rPr lang="en-US" sz="2800" kern="0" dirty="0">
                <a:solidFill>
                  <a:srgbClr val="000000"/>
                </a:solidFill>
                <a:latin typeface="Arial"/>
                <a:ea typeface="MS PGothic" pitchFamily="34" charset="-128"/>
              </a:rPr>
              <a:t>, </a:t>
            </a:r>
          </a:p>
          <a:p>
            <a:pPr marL="628650" lvl="1" indent="-285750" algn="just">
              <a:buFont typeface="Wingdings" panose="05000000000000000000" pitchFamily="2" charset="2"/>
              <a:buChar char="§"/>
            </a:pPr>
            <a:r>
              <a:rPr lang="en-US" sz="2800" kern="0" dirty="0">
                <a:solidFill>
                  <a:srgbClr val="000000"/>
                </a:solidFill>
                <a:latin typeface="Arial"/>
                <a:ea typeface="MS PGothic" pitchFamily="34" charset="-128"/>
              </a:rPr>
              <a:t>may also occur at extrahepatic sites, including </a:t>
            </a:r>
            <a:r>
              <a:rPr lang="en-US" sz="2800" kern="0" dirty="0">
                <a:solidFill>
                  <a:srgbClr val="00B050"/>
                </a:solidFill>
                <a:latin typeface="Arial"/>
                <a:ea typeface="MS PGothic" pitchFamily="34" charset="-128"/>
              </a:rPr>
              <a:t>intestine</a:t>
            </a:r>
            <a:r>
              <a:rPr lang="en-US" sz="2800" kern="0" dirty="0">
                <a:solidFill>
                  <a:srgbClr val="000000"/>
                </a:solidFill>
                <a:latin typeface="Arial"/>
                <a:ea typeface="MS PGothic" pitchFamily="34" charset="-128"/>
              </a:rPr>
              <a:t> (both within the lumen and the intestinal mucosa), </a:t>
            </a:r>
            <a:r>
              <a:rPr lang="en-US" sz="2800" kern="0" dirty="0">
                <a:solidFill>
                  <a:srgbClr val="00B050"/>
                </a:solidFill>
                <a:latin typeface="Arial"/>
                <a:ea typeface="MS PGothic" pitchFamily="34" charset="-128"/>
              </a:rPr>
              <a:t>kidney, lungs, nervous tissue, and plasma</a:t>
            </a:r>
            <a:r>
              <a:rPr lang="en-US" sz="2800" kern="0" dirty="0">
                <a:solidFill>
                  <a:srgbClr val="000000"/>
                </a:solidFill>
                <a:latin typeface="Arial"/>
                <a:ea typeface="MS PGothic" pitchFamily="34" charset="-128"/>
              </a:rPr>
              <a:t>.</a:t>
            </a:r>
          </a:p>
        </p:txBody>
      </p:sp>
    </p:spTree>
    <p:extLst>
      <p:ext uri="{BB962C8B-B14F-4D97-AF65-F5344CB8AC3E}">
        <p14:creationId xmlns:p14="http://schemas.microsoft.com/office/powerpoint/2010/main" val="22485684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4371"/>
            <a:ext cx="8229600" cy="441325"/>
          </a:xfrm>
        </p:spPr>
        <p:txBody>
          <a:bodyPr/>
          <a:lstStyle/>
          <a:p>
            <a:r>
              <a:rPr lang="en-US" altLang="en-US" sz="2800" b="1" kern="0" dirty="0">
                <a:solidFill>
                  <a:srgbClr val="00B050"/>
                </a:solidFill>
                <a:latin typeface="Arial"/>
                <a:ea typeface="MS PGothic" pitchFamily="34" charset="-128"/>
              </a:rPr>
              <a:t>DRUG METABOLISM</a:t>
            </a:r>
            <a:endParaRPr lang="en-US" dirty="0">
              <a:solidFill>
                <a:srgbClr val="00B050"/>
              </a:solidFill>
            </a:endParaRPr>
          </a:p>
        </p:txBody>
      </p:sp>
      <p:graphicFrame>
        <p:nvGraphicFramePr>
          <p:cNvPr id="3" name="Object 3"/>
          <p:cNvGraphicFramePr>
            <a:graphicFrameLocks noChangeAspect="1"/>
          </p:cNvGraphicFramePr>
          <p:nvPr/>
        </p:nvGraphicFramePr>
        <p:xfrm>
          <a:off x="381000" y="3886200"/>
          <a:ext cx="8077200" cy="676275"/>
        </p:xfrm>
        <a:graphic>
          <a:graphicData uri="http://schemas.openxmlformats.org/presentationml/2006/ole">
            <mc:AlternateContent xmlns:mc="http://schemas.openxmlformats.org/markup-compatibility/2006">
              <mc:Choice xmlns:v="urn:schemas-microsoft-com:vml" Requires="v">
                <p:oleObj name="Bitmap Image" r:id="rId2" imgW="6249272" imgH="523810" progId="Paint.Picture">
                  <p:embed/>
                </p:oleObj>
              </mc:Choice>
              <mc:Fallback>
                <p:oleObj name="Bitmap Image" r:id="rId2" imgW="6249272" imgH="523810"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86200"/>
                        <a:ext cx="8077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4"/>
          <p:cNvSpPr txBox="1">
            <a:spLocks noChangeArrowheads="1"/>
          </p:cNvSpPr>
          <p:nvPr/>
        </p:nvSpPr>
        <p:spPr bwMode="auto">
          <a:xfrm>
            <a:off x="141288" y="715963"/>
            <a:ext cx="86868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MS PGothic" pitchFamily="34" charset="-128"/>
              </a:defRPr>
            </a:lvl1pPr>
            <a:lvl2pPr marL="742950" indent="-285750" eaLnBrk="0" hangingPunct="0">
              <a:defRPr>
                <a:solidFill>
                  <a:schemeClr val="tx1"/>
                </a:solidFill>
                <a:latin typeface="Arial" pitchFamily="34" charset="0"/>
                <a:ea typeface="MS PGothic" pitchFamily="34" charset="-128"/>
              </a:defRPr>
            </a:lvl2pPr>
            <a:lvl3pPr marL="1143000" indent="-228600" eaLnBrk="0" hangingPunct="0">
              <a:defRPr>
                <a:solidFill>
                  <a:schemeClr val="tx1"/>
                </a:solidFill>
                <a:latin typeface="Arial" pitchFamily="34" charset="0"/>
                <a:ea typeface="MS PGothic" pitchFamily="34" charset="-128"/>
              </a:defRPr>
            </a:lvl3pPr>
            <a:lvl4pPr marL="1600200" indent="-228600" eaLnBrk="0" hangingPunct="0">
              <a:defRPr>
                <a:solidFill>
                  <a:schemeClr val="tx1"/>
                </a:solidFill>
                <a:latin typeface="Arial" pitchFamily="34" charset="0"/>
                <a:ea typeface="MS PGothic" pitchFamily="34" charset="-128"/>
              </a:defRPr>
            </a:lvl4pPr>
            <a:lvl5pPr marL="2057400" indent="-228600" eaLnBrk="0" hangingPunct="0">
              <a:defRPr>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Arial" pitchFamily="34" charset="0"/>
                <a:ea typeface="MS PGothic" pitchFamily="34" charset="-128"/>
              </a:defRPr>
            </a:lvl9pPr>
          </a:lstStyle>
          <a:p>
            <a:pPr defTabSz="914400" fontAlgn="base">
              <a:spcBef>
                <a:spcPct val="50000"/>
              </a:spcBef>
              <a:spcAft>
                <a:spcPct val="0"/>
              </a:spcAft>
              <a:defRPr/>
            </a:pPr>
            <a:r>
              <a:rPr lang="en-US" sz="2700" dirty="0">
                <a:solidFill>
                  <a:srgbClr val="000000"/>
                </a:solidFill>
                <a:latin typeface="Arial"/>
              </a:rPr>
              <a:t>Transformation of </a:t>
            </a:r>
            <a:r>
              <a:rPr lang="en-US" sz="2700" dirty="0" err="1">
                <a:solidFill>
                  <a:srgbClr val="000000"/>
                </a:solidFill>
                <a:latin typeface="Arial"/>
              </a:rPr>
              <a:t>Xenobiotics</a:t>
            </a:r>
            <a:r>
              <a:rPr lang="en-US" sz="2700" dirty="0">
                <a:solidFill>
                  <a:srgbClr val="000000"/>
                </a:solidFill>
                <a:latin typeface="Arial"/>
              </a:rPr>
              <a:t> by Biological Systems</a:t>
            </a:r>
            <a:endParaRPr lang="en-US" sz="2400" dirty="0">
              <a:solidFill>
                <a:srgbClr val="000000"/>
              </a:solidFill>
              <a:latin typeface="Arial"/>
            </a:endParaRPr>
          </a:p>
        </p:txBody>
      </p:sp>
      <p:graphicFrame>
        <p:nvGraphicFramePr>
          <p:cNvPr id="5" name="Object 5"/>
          <p:cNvGraphicFramePr>
            <a:graphicFrameLocks noChangeAspect="1"/>
          </p:cNvGraphicFramePr>
          <p:nvPr/>
        </p:nvGraphicFramePr>
        <p:xfrm>
          <a:off x="1676400" y="1676400"/>
          <a:ext cx="5029200" cy="1909763"/>
        </p:xfrm>
        <a:graphic>
          <a:graphicData uri="http://schemas.openxmlformats.org/presentationml/2006/ole">
            <mc:AlternateContent xmlns:mc="http://schemas.openxmlformats.org/markup-compatibility/2006">
              <mc:Choice xmlns:v="urn:schemas-microsoft-com:vml" Requires="v">
                <p:oleObj name="Bitmap Image" r:id="rId4" imgW="3076190" imgH="1085714" progId="Paint.Picture">
                  <p:embed/>
                </p:oleObj>
              </mc:Choice>
              <mc:Fallback>
                <p:oleObj name="Bitmap Image" r:id="rId4" imgW="3076190" imgH="1085714"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1408" r="5634"/>
                      <a:stretch>
                        <a:fillRect/>
                      </a:stretch>
                    </p:blipFill>
                    <p:spPr bwMode="auto">
                      <a:xfrm>
                        <a:off x="1676400" y="1676400"/>
                        <a:ext cx="5029200" cy="190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457200" y="4979988"/>
          <a:ext cx="8153400" cy="668337"/>
        </p:xfrm>
        <a:graphic>
          <a:graphicData uri="http://schemas.openxmlformats.org/presentationml/2006/ole">
            <mc:AlternateContent xmlns:mc="http://schemas.openxmlformats.org/markup-compatibility/2006">
              <mc:Choice xmlns:v="urn:schemas-microsoft-com:vml" Requires="v">
                <p:oleObj name="Bitmap Image" r:id="rId6" imgW="7552381" imgH="619211" progId="Paint.Picture">
                  <p:embed/>
                </p:oleObj>
              </mc:Choice>
              <mc:Fallback>
                <p:oleObj name="Bitmap Image" r:id="rId6" imgW="7552381" imgH="619211"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4979988"/>
                        <a:ext cx="8153400"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375940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411162"/>
          </a:xfrm>
        </p:spPr>
        <p:txBody>
          <a:bodyPr/>
          <a:lstStyle/>
          <a:p>
            <a:r>
              <a:rPr lang="en-US" altLang="en-US" sz="2000" b="1" kern="0" dirty="0">
                <a:solidFill>
                  <a:srgbClr val="00B050"/>
                </a:solidFill>
                <a:latin typeface="Arial"/>
                <a:ea typeface="MS PGothic" pitchFamily="34" charset="-128"/>
              </a:rPr>
              <a:t>IMPLICATIONS OF DRUG METABOLISM</a:t>
            </a:r>
            <a:endParaRPr lang="en-US" b="1" dirty="0">
              <a:solidFill>
                <a:srgbClr val="00B050"/>
              </a:solidFill>
            </a:endParaRPr>
          </a:p>
        </p:txBody>
      </p:sp>
      <p:sp>
        <p:nvSpPr>
          <p:cNvPr id="3" name="Text Box 3"/>
          <p:cNvSpPr txBox="1">
            <a:spLocks noChangeArrowheads="1"/>
          </p:cNvSpPr>
          <p:nvPr/>
        </p:nvSpPr>
        <p:spPr bwMode="auto">
          <a:xfrm>
            <a:off x="228600" y="835656"/>
            <a:ext cx="87630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defTabSz="914400" eaLnBrk="0" fontAlgn="base" hangingPunct="0">
              <a:spcBef>
                <a:spcPct val="50000"/>
              </a:spcBef>
              <a:spcAft>
                <a:spcPct val="0"/>
              </a:spcAft>
              <a:buFontTx/>
              <a:buAutoNum type="arabicPeriod"/>
            </a:pPr>
            <a:r>
              <a:rPr lang="en-US" altLang="en-US" sz="3200" b="1" dirty="0">
                <a:cs typeface="Arial" panose="020B0604020202020204" pitchFamily="34" charset="0"/>
              </a:rPr>
              <a:t>Termination of Drug Action: </a:t>
            </a:r>
          </a:p>
          <a:p>
            <a:pPr lvl="1" defTabSz="914400" eaLnBrk="0" fontAlgn="base" hangingPunct="0">
              <a:spcBef>
                <a:spcPct val="50000"/>
              </a:spcBef>
              <a:spcAft>
                <a:spcPct val="0"/>
              </a:spcAft>
              <a:buFont typeface="Wingdings" panose="05000000000000000000" pitchFamily="2" charset="2"/>
              <a:buChar char="§"/>
            </a:pPr>
            <a:r>
              <a:rPr lang="en-US" altLang="en-US" sz="3000" dirty="0">
                <a:cs typeface="Arial" panose="020B0604020202020204" pitchFamily="34" charset="0"/>
              </a:rPr>
              <a:t>Atropine             tropic acid &amp; </a:t>
            </a:r>
            <a:r>
              <a:rPr lang="en-US" altLang="en-US" sz="3000" dirty="0" err="1">
                <a:cs typeface="Arial" panose="020B0604020202020204" pitchFamily="34" charset="0"/>
              </a:rPr>
              <a:t>tropine</a:t>
            </a:r>
            <a:endParaRPr lang="en-US" altLang="en-US" sz="3000" dirty="0">
              <a:cs typeface="Arial" panose="020B0604020202020204" pitchFamily="34" charset="0"/>
            </a:endParaRPr>
          </a:p>
          <a:p>
            <a:pPr defTabSz="914400" eaLnBrk="0" fontAlgn="base" hangingPunct="0">
              <a:spcBef>
                <a:spcPct val="50000"/>
              </a:spcBef>
              <a:spcAft>
                <a:spcPct val="0"/>
              </a:spcAft>
              <a:buFontTx/>
              <a:buAutoNum type="arabicPeriod"/>
            </a:pPr>
            <a:r>
              <a:rPr lang="en-US" altLang="en-US" sz="3200" b="1" dirty="0">
                <a:cs typeface="Arial" panose="020B0604020202020204" pitchFamily="34" charset="0"/>
              </a:rPr>
              <a:t>Activation of Prodrug: </a:t>
            </a:r>
          </a:p>
          <a:p>
            <a:pPr lvl="1" defTabSz="914400" eaLnBrk="0" fontAlgn="base" hangingPunct="0">
              <a:spcBef>
                <a:spcPct val="50000"/>
              </a:spcBef>
              <a:spcAft>
                <a:spcPct val="0"/>
              </a:spcAft>
              <a:buFont typeface="Wingdings" panose="05000000000000000000" pitchFamily="2" charset="2"/>
              <a:buChar char="§"/>
            </a:pPr>
            <a:r>
              <a:rPr lang="en-US" altLang="en-US" sz="3000" dirty="0">
                <a:cs typeface="Arial" panose="020B0604020202020204" pitchFamily="34" charset="0"/>
              </a:rPr>
              <a:t>L </a:t>
            </a:r>
            <a:r>
              <a:rPr lang="en-US" altLang="en-US" sz="3000" dirty="0" err="1">
                <a:cs typeface="Arial" panose="020B0604020202020204" pitchFamily="34" charset="0"/>
              </a:rPr>
              <a:t>dopa</a:t>
            </a:r>
            <a:r>
              <a:rPr lang="en-US" altLang="en-US" sz="3000" dirty="0">
                <a:cs typeface="Arial" panose="020B0604020202020204" pitchFamily="34" charset="0"/>
              </a:rPr>
              <a:t>                dopamine</a:t>
            </a:r>
          </a:p>
          <a:p>
            <a:pPr defTabSz="914400" eaLnBrk="0" fontAlgn="base" hangingPunct="0">
              <a:spcBef>
                <a:spcPct val="50000"/>
              </a:spcBef>
              <a:spcAft>
                <a:spcPct val="0"/>
              </a:spcAft>
              <a:buFontTx/>
              <a:buAutoNum type="arabicPeriod"/>
            </a:pPr>
            <a:r>
              <a:rPr lang="en-US" altLang="en-US" sz="3200" b="1" dirty="0" err="1">
                <a:cs typeface="Arial" panose="020B0604020202020204" pitchFamily="34" charset="0"/>
              </a:rPr>
              <a:t>Bioactivation</a:t>
            </a:r>
            <a:r>
              <a:rPr lang="en-US" altLang="en-US" sz="3200" b="1" dirty="0">
                <a:cs typeface="Arial" panose="020B0604020202020204" pitchFamily="34" charset="0"/>
              </a:rPr>
              <a:t> And </a:t>
            </a:r>
            <a:r>
              <a:rPr lang="en-US" altLang="en-US" sz="3200" b="1" dirty="0" err="1">
                <a:cs typeface="Arial" panose="020B0604020202020204" pitchFamily="34" charset="0"/>
              </a:rPr>
              <a:t>Biotoxication</a:t>
            </a:r>
            <a:r>
              <a:rPr lang="en-US" altLang="en-US" sz="3200" b="1" dirty="0">
                <a:cs typeface="Arial" panose="020B0604020202020204" pitchFamily="34" charset="0"/>
              </a:rPr>
              <a:t>:</a:t>
            </a:r>
          </a:p>
          <a:p>
            <a:pPr lvl="2" defTabSz="914400" eaLnBrk="0" fontAlgn="base" hangingPunct="0">
              <a:spcBef>
                <a:spcPct val="50000"/>
              </a:spcBef>
              <a:spcAft>
                <a:spcPct val="0"/>
              </a:spcAft>
              <a:buFont typeface="Wingdings" panose="05000000000000000000" pitchFamily="2" charset="2"/>
              <a:buChar char="§"/>
            </a:pPr>
            <a:r>
              <a:rPr lang="en-US" altLang="en-US" sz="2800" dirty="0">
                <a:cs typeface="Arial" panose="020B0604020202020204" pitchFamily="34" charset="0"/>
              </a:rPr>
              <a:t> </a:t>
            </a:r>
            <a:r>
              <a:rPr lang="en-US" altLang="en-US" sz="2800" dirty="0" err="1">
                <a:cs typeface="Arial" panose="020B0604020202020204" pitchFamily="34" charset="0"/>
              </a:rPr>
              <a:t>Terfenadine</a:t>
            </a:r>
            <a:r>
              <a:rPr lang="en-US" altLang="en-US" sz="2800" dirty="0">
                <a:cs typeface="Arial" panose="020B0604020202020204" pitchFamily="34" charset="0"/>
              </a:rPr>
              <a:t>              fexofenadine</a:t>
            </a:r>
          </a:p>
          <a:p>
            <a:pPr lvl="2" defTabSz="914400" eaLnBrk="0" fontAlgn="base" hangingPunct="0">
              <a:spcBef>
                <a:spcPct val="50000"/>
              </a:spcBef>
              <a:spcAft>
                <a:spcPct val="0"/>
              </a:spcAft>
              <a:buFont typeface="Wingdings" panose="05000000000000000000" pitchFamily="2" charset="2"/>
              <a:buChar char="§"/>
            </a:pPr>
            <a:r>
              <a:rPr lang="en-US" altLang="en-US" sz="2800" dirty="0">
                <a:cs typeface="Arial" panose="020B0604020202020204" pitchFamily="34" charset="0"/>
              </a:rPr>
              <a:t>   Acetaminophen               Reactive Metabolite                N-</a:t>
            </a:r>
            <a:r>
              <a:rPr lang="en-US" altLang="en-US" sz="2800" dirty="0" err="1">
                <a:cs typeface="Arial" panose="020B0604020202020204" pitchFamily="34" charset="0"/>
              </a:rPr>
              <a:t>Acetylbenzoquinoneimine</a:t>
            </a:r>
            <a:r>
              <a:rPr lang="en-US" altLang="en-US" sz="2800" dirty="0">
                <a:cs typeface="Arial" panose="020B0604020202020204" pitchFamily="34" charset="0"/>
              </a:rPr>
              <a:t> (NAPQI)</a:t>
            </a:r>
          </a:p>
        </p:txBody>
      </p:sp>
      <p:sp>
        <p:nvSpPr>
          <p:cNvPr id="4" name="Line 4"/>
          <p:cNvSpPr>
            <a:spLocks noChangeShapeType="1"/>
          </p:cNvSpPr>
          <p:nvPr/>
        </p:nvSpPr>
        <p:spPr bwMode="auto">
          <a:xfrm>
            <a:off x="2697248" y="1860884"/>
            <a:ext cx="98425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Line 4"/>
          <p:cNvSpPr>
            <a:spLocks noChangeShapeType="1"/>
          </p:cNvSpPr>
          <p:nvPr/>
        </p:nvSpPr>
        <p:spPr bwMode="auto">
          <a:xfrm>
            <a:off x="4451685" y="5313947"/>
            <a:ext cx="98425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6" name="Line 4"/>
          <p:cNvSpPr>
            <a:spLocks noChangeShapeType="1"/>
          </p:cNvSpPr>
          <p:nvPr/>
        </p:nvSpPr>
        <p:spPr bwMode="auto">
          <a:xfrm>
            <a:off x="2492209" y="3288632"/>
            <a:ext cx="98425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
        <p:nvSpPr>
          <p:cNvPr id="7" name="Line 4"/>
          <p:cNvSpPr>
            <a:spLocks noChangeShapeType="1"/>
          </p:cNvSpPr>
          <p:nvPr/>
        </p:nvSpPr>
        <p:spPr bwMode="auto">
          <a:xfrm>
            <a:off x="3625850" y="4676274"/>
            <a:ext cx="98425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Tree>
    <p:extLst>
      <p:ext uri="{BB962C8B-B14F-4D97-AF65-F5344CB8AC3E}">
        <p14:creationId xmlns:p14="http://schemas.microsoft.com/office/powerpoint/2010/main" val="33678110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1213"/>
          </a:xfrm>
        </p:spPr>
        <p:txBody>
          <a:bodyPr/>
          <a:lstStyle/>
          <a:p>
            <a:r>
              <a:rPr lang="en-US" sz="2800" b="1" dirty="0">
                <a:solidFill>
                  <a:srgbClr val="00B050"/>
                </a:solidFill>
                <a:latin typeface="GillSans"/>
              </a:rPr>
              <a:t>Comparison of metabolic </a:t>
            </a:r>
            <a:r>
              <a:rPr lang="en-US" sz="2800" b="1" dirty="0" err="1">
                <a:solidFill>
                  <a:srgbClr val="00B050"/>
                </a:solidFill>
                <a:latin typeface="GillSans"/>
              </a:rPr>
              <a:t>bioactivation</a:t>
            </a:r>
            <a:r>
              <a:rPr lang="en-US" sz="2800" b="1" dirty="0">
                <a:solidFill>
                  <a:srgbClr val="00B050"/>
                </a:solidFill>
                <a:latin typeface="GillSans"/>
              </a:rPr>
              <a:t> and </a:t>
            </a:r>
            <a:r>
              <a:rPr lang="en-US" sz="2800" b="1" dirty="0" err="1">
                <a:solidFill>
                  <a:srgbClr val="00B050"/>
                </a:solidFill>
                <a:latin typeface="GillSans"/>
              </a:rPr>
              <a:t>biotoxification</a:t>
            </a:r>
            <a:r>
              <a:rPr lang="en-US" sz="2800" b="1" dirty="0">
                <a:solidFill>
                  <a:srgbClr val="00B050"/>
                </a:solidFill>
                <a:latin typeface="GillSans"/>
              </a:rPr>
              <a:t> processes</a:t>
            </a:r>
          </a:p>
        </p:txBody>
      </p:sp>
      <p:pic>
        <p:nvPicPr>
          <p:cNvPr id="3" name="Picture 2"/>
          <p:cNvPicPr>
            <a:picLocks noChangeAspect="1"/>
          </p:cNvPicPr>
          <p:nvPr/>
        </p:nvPicPr>
        <p:blipFill>
          <a:blip r:embed="rId2"/>
          <a:stretch>
            <a:fillRect/>
          </a:stretch>
        </p:blipFill>
        <p:spPr>
          <a:xfrm>
            <a:off x="371475" y="1602189"/>
            <a:ext cx="8315325" cy="4095750"/>
          </a:xfrm>
          <a:prstGeom prst="rect">
            <a:avLst/>
          </a:prstGeom>
        </p:spPr>
      </p:pic>
    </p:spTree>
    <p:extLst>
      <p:ext uri="{BB962C8B-B14F-4D97-AF65-F5344CB8AC3E}">
        <p14:creationId xmlns:p14="http://schemas.microsoft.com/office/powerpoint/2010/main" val="307056635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altLang="en-US" sz="2000" b="1" kern="0" dirty="0">
                <a:solidFill>
                  <a:srgbClr val="00B050"/>
                </a:solidFill>
                <a:latin typeface="Arial"/>
                <a:ea typeface="MS PGothic" pitchFamily="34" charset="-128"/>
              </a:rPr>
              <a:t>IMPLICATIONS OF DRUG METABOLISM</a:t>
            </a:r>
            <a:endParaRPr lang="en-US" dirty="0"/>
          </a:p>
        </p:txBody>
      </p:sp>
      <p:sp>
        <p:nvSpPr>
          <p:cNvPr id="3" name="Content Placeholder 2"/>
          <p:cNvSpPr txBox="1">
            <a:spLocks/>
          </p:cNvSpPr>
          <p:nvPr/>
        </p:nvSpPr>
        <p:spPr bwMode="auto">
          <a:xfrm>
            <a:off x="392113" y="786063"/>
            <a:ext cx="8599487"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0" fontAlgn="base" latinLnBrk="0" hangingPunct="0">
              <a:lnSpc>
                <a:spcPct val="100000"/>
              </a:lnSpc>
              <a:spcBef>
                <a:spcPct val="50000"/>
              </a:spcBef>
              <a:spcAft>
                <a:spcPct val="0"/>
              </a:spcAft>
              <a:buClrTx/>
              <a:buSzTx/>
              <a:buFontTx/>
              <a:buAutoNum type="arabicPeriod" startAt="4"/>
              <a:tabLst/>
              <a:defRPr/>
            </a:pPr>
            <a:r>
              <a:rPr kumimoji="0" lang="en-US" altLang="en-US" sz="3200" b="1" i="0" u="none" strike="noStrike" kern="0" cap="none" spc="0" normalizeH="0" baseline="0" noProof="0" dirty="0">
                <a:ln>
                  <a:noFill/>
                </a:ln>
                <a:solidFill>
                  <a:srgbClr val="000000"/>
                </a:solidFill>
                <a:effectLst/>
                <a:uLnTx/>
                <a:uFillTx/>
                <a:latin typeface="Arial"/>
                <a:ea typeface="MS PGothic" pitchFamily="34" charset="-128"/>
                <a:cs typeface="+mn-cs"/>
              </a:rPr>
              <a:t>Carcinogenesis:</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rPr>
              <a:t> Metabolites of these agents interact with DNA</a:t>
            </a:r>
          </a:p>
          <a:p>
            <a:pPr lvl="2" defTabSz="914400">
              <a:spcBef>
                <a:spcPct val="50000"/>
              </a:spcBef>
              <a:buFont typeface="Wingdings" panose="05000000000000000000" pitchFamily="2" charset="2"/>
              <a:buChar cha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3,4 </a:t>
            </a:r>
            <a:r>
              <a:rPr kumimoji="0" lang="en-US" altLang="en-US" sz="2600" b="0" i="0" u="none" strike="noStrike" kern="0" cap="none" spc="0" normalizeH="0" baseline="0" noProof="0" dirty="0" err="1">
                <a:ln>
                  <a:noFill/>
                </a:ln>
                <a:solidFill>
                  <a:srgbClr val="000000"/>
                </a:solidFill>
                <a:effectLst/>
                <a:uLnTx/>
                <a:uFillTx/>
                <a:latin typeface="Arial"/>
                <a:ea typeface="MS PGothic" pitchFamily="34" charset="-128"/>
              </a:rPr>
              <a:t>Benzopyrene</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 </a:t>
            </a:r>
          </a:p>
          <a:p>
            <a:pPr lvl="2" defTabSz="914400">
              <a:spcBef>
                <a:spcPct val="50000"/>
              </a:spcBef>
              <a:buFont typeface="Wingdings" panose="05000000000000000000" pitchFamily="2" charset="2"/>
              <a:buChar cha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Aflatoxin</a:t>
            </a:r>
          </a:p>
          <a:p>
            <a:pPr lvl="2" defTabSz="914400">
              <a:spcBef>
                <a:spcPct val="50000"/>
              </a:spcBef>
              <a:buFont typeface="Wingdings" panose="05000000000000000000" pitchFamily="2" charset="2"/>
              <a:buChar char="§"/>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rPr>
              <a:t>N-</a:t>
            </a:r>
            <a:r>
              <a:rPr kumimoji="0" lang="en-US" altLang="en-US" sz="2600" b="0" i="0" u="none" strike="noStrike" kern="0" cap="none" spc="0" normalizeH="0" baseline="0" noProof="0" dirty="0" err="1">
                <a:ln>
                  <a:noFill/>
                </a:ln>
                <a:solidFill>
                  <a:srgbClr val="000000"/>
                </a:solidFill>
                <a:effectLst/>
                <a:uLnTx/>
                <a:uFillTx/>
                <a:latin typeface="Arial"/>
                <a:ea typeface="MS PGothic" pitchFamily="34" charset="-128"/>
              </a:rPr>
              <a:t>Acetylaminofluorene</a:t>
            </a: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endParaRPr>
          </a:p>
          <a:p>
            <a:pPr marL="314325" marR="0" lvl="0" indent="-314325" algn="l" defTabSz="914400" rtl="0" eaLnBrk="0" fontAlgn="base" latinLnBrk="0" hangingPunct="0">
              <a:lnSpc>
                <a:spcPct val="100000"/>
              </a:lnSpc>
              <a:spcBef>
                <a:spcPct val="50000"/>
              </a:spcBef>
              <a:spcAft>
                <a:spcPct val="0"/>
              </a:spcAft>
              <a:buClrTx/>
              <a:buSzTx/>
              <a:buFontTx/>
              <a:buAutoNum type="arabicPeriod" startAt="5"/>
              <a:tabLst/>
              <a:defRPr/>
            </a:pPr>
            <a:r>
              <a:rPr kumimoji="0" lang="en-US" altLang="en-US" sz="3200" b="1" i="0" u="none" strike="noStrike" kern="0" cap="none" spc="0" normalizeH="0" baseline="0" noProof="0" dirty="0" err="1">
                <a:ln>
                  <a:noFill/>
                </a:ln>
                <a:solidFill>
                  <a:srgbClr val="000000"/>
                </a:solidFill>
                <a:effectLst/>
                <a:uLnTx/>
                <a:uFillTx/>
                <a:latin typeface="Arial"/>
                <a:ea typeface="MS PGothic" pitchFamily="34" charset="-128"/>
                <a:cs typeface="+mn-cs"/>
              </a:rPr>
              <a:t>Teratogenesis</a:t>
            </a:r>
            <a:endParaRPr kumimoji="0" lang="en-US" altLang="en-US" sz="32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R="0" lvl="1" algn="just" defTabSz="914400" rtl="0" eaLnBrk="0" fontAlgn="base" latinLnBrk="0" hangingPunct="0">
              <a:lnSpc>
                <a:spcPct val="100000"/>
              </a:lnSpc>
              <a:spcBef>
                <a:spcPct val="50000"/>
              </a:spcBef>
              <a:spcAft>
                <a:spcPct val="0"/>
              </a:spcAft>
              <a:buClrTx/>
              <a:buSzTx/>
              <a:buFont typeface="Wingdings" panose="05000000000000000000" pitchFamily="2" charset="2"/>
              <a:buChar char="§"/>
              <a:tabLst/>
              <a:defRPr/>
            </a:pPr>
            <a:r>
              <a:rPr kumimoji="0" lang="en-US" altLang="en-US" sz="2400" u="none" strike="noStrike" kern="0" cap="none" spc="0" normalizeH="0" baseline="0" noProof="0" dirty="0">
                <a:ln>
                  <a:noFill/>
                </a:ln>
                <a:solidFill>
                  <a:srgbClr val="000000"/>
                </a:solidFill>
                <a:effectLst/>
                <a:uLnTx/>
                <a:uFillTx/>
                <a:latin typeface="Arial"/>
                <a:ea typeface="MS PGothic" pitchFamily="34" charset="-128"/>
              </a:rPr>
              <a:t>THALIDOMIDE:</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Fetal malformations in humans, monkeys, and rats occur due to metabolism of the parent compound to a teratogen. This occurs very early in gestation</a:t>
            </a: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Tree>
    <p:extLst>
      <p:ext uri="{BB962C8B-B14F-4D97-AF65-F5344CB8AC3E}">
        <p14:creationId xmlns:p14="http://schemas.microsoft.com/office/powerpoint/2010/main" val="698781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5699"/>
          </a:xfrm>
        </p:spPr>
        <p:txBody>
          <a:bodyPr/>
          <a:lstStyle/>
          <a:p>
            <a:r>
              <a:rPr lang="en-US" altLang="en-US" sz="2800" b="1" kern="0" dirty="0">
                <a:solidFill>
                  <a:srgbClr val="00B050"/>
                </a:solidFill>
                <a:latin typeface="Arial"/>
                <a:ea typeface="MS PGothic" pitchFamily="34" charset="-128"/>
              </a:rPr>
              <a:t>DRUG METABOLISM</a:t>
            </a:r>
            <a:endParaRPr lang="en-US" dirty="0"/>
          </a:p>
        </p:txBody>
      </p:sp>
      <p:sp>
        <p:nvSpPr>
          <p:cNvPr id="3" name="Rectangle 3"/>
          <p:cNvSpPr txBox="1">
            <a:spLocks noChangeArrowheads="1"/>
          </p:cNvSpPr>
          <p:nvPr/>
        </p:nvSpPr>
        <p:spPr bwMode="auto">
          <a:xfrm>
            <a:off x="228600" y="898357"/>
            <a:ext cx="8686800" cy="515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lvl="0" algn="just" defTabSz="914400" eaLnBrk="1" hangingPunct="1">
              <a:buFont typeface="Wingdings" panose="05000000000000000000" pitchFamily="2" charset="2"/>
              <a:buChar char="§"/>
            </a:pPr>
            <a:r>
              <a:rPr lang="en-US" altLang="en-US" sz="2800" kern="0" dirty="0">
                <a:solidFill>
                  <a:srgbClr val="000000"/>
                </a:solidFill>
                <a:latin typeface="Arial"/>
              </a:rPr>
              <a:t>The first step in the elimination of lipid soluble drugs is metabolism to </a:t>
            </a:r>
            <a:r>
              <a:rPr lang="en-US" altLang="en-US" sz="2800" b="1" kern="0" dirty="0">
                <a:solidFill>
                  <a:srgbClr val="FF0000"/>
                </a:solidFill>
                <a:latin typeface="Arial"/>
              </a:rPr>
              <a:t>more polar compounds that are water soluble and excreted by the kidneys</a:t>
            </a:r>
            <a:r>
              <a:rPr lang="en-US" altLang="en-US" sz="2800" kern="0" dirty="0">
                <a:solidFill>
                  <a:srgbClr val="000000"/>
                </a:solidFill>
                <a:latin typeface="Arial"/>
              </a:rPr>
              <a:t>. </a:t>
            </a: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R="0" lvl="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Drugs that are water soluble may be excreted unchanged by the kidney.</a:t>
            </a:r>
          </a:p>
          <a:p>
            <a:pPr marR="0" lvl="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Lipid soluble drugs are </a:t>
            </a:r>
            <a:r>
              <a:rPr kumimoji="0" lang="en-US" altLang="en-US" sz="2800" b="1" i="0" u="none" strike="noStrike" kern="0" cap="none" spc="0" normalizeH="0" baseline="0" noProof="0" dirty="0">
                <a:ln>
                  <a:noFill/>
                </a:ln>
                <a:solidFill>
                  <a:srgbClr val="000000"/>
                </a:solidFill>
                <a:effectLst/>
                <a:uLnTx/>
                <a:uFillTx/>
                <a:latin typeface="Arial"/>
                <a:ea typeface="MS PGothic" pitchFamily="34" charset="-128"/>
                <a:cs typeface="+mn-cs"/>
              </a:rPr>
              <a:t>not</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 easily excreted by the kidneys because they are largely reabsorbed from the proximal tubules after glomerular filtration. </a:t>
            </a:r>
          </a:p>
          <a:p>
            <a:pPr marR="0" lvl="1"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altLang="en-US" sz="2800" b="1" i="0" u="none" strike="noStrike" kern="0" cap="none" spc="0" normalizeH="0" baseline="0" noProof="0" dirty="0">
                <a:ln>
                  <a:noFill/>
                </a:ln>
                <a:solidFill>
                  <a:srgbClr val="000000"/>
                </a:solidFill>
                <a:effectLst/>
                <a:uLnTx/>
                <a:uFillTx/>
                <a:latin typeface="Arial"/>
                <a:ea typeface="MS PGothic" pitchFamily="34" charset="-128"/>
              </a:rPr>
              <a:t>such</a:t>
            </a:r>
            <a:r>
              <a:rPr kumimoji="0" lang="en-US" altLang="en-US" sz="2800" b="1" i="1" u="none" strike="noStrike" kern="0" cap="none" spc="0" normalizeH="0" baseline="0" noProof="0" dirty="0">
                <a:ln>
                  <a:noFill/>
                </a:ln>
                <a:solidFill>
                  <a:srgbClr val="000000"/>
                </a:solidFill>
                <a:effectLst/>
                <a:uLnTx/>
                <a:uFillTx/>
                <a:latin typeface="Arial"/>
                <a:ea typeface="MS PGothic" pitchFamily="34" charset="-128"/>
              </a:rPr>
              <a:t> drugs have to undergo biotransformation before they can be excreted by the kidneys.</a:t>
            </a: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endParaRPr>
          </a:p>
        </p:txBody>
      </p:sp>
    </p:spTree>
    <p:extLst>
      <p:ext uri="{BB962C8B-B14F-4D97-AF65-F5344CB8AC3E}">
        <p14:creationId xmlns:p14="http://schemas.microsoft.com/office/powerpoint/2010/main" val="30500369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6015"/>
          </a:xfrm>
        </p:spPr>
        <p:txBody>
          <a:bodyPr/>
          <a:lstStyle/>
          <a:p>
            <a:r>
              <a:rPr lang="en-US" altLang="en-US" sz="2800" b="1" kern="0" dirty="0">
                <a:solidFill>
                  <a:srgbClr val="00B050"/>
                </a:solidFill>
                <a:latin typeface="Arial"/>
                <a:ea typeface="MS PGothic" pitchFamily="34" charset="-128"/>
              </a:rPr>
              <a:t>DRUG METABOLISM</a:t>
            </a:r>
            <a:endParaRPr lang="en-US" dirty="0"/>
          </a:p>
        </p:txBody>
      </p:sp>
      <p:sp>
        <p:nvSpPr>
          <p:cNvPr id="3" name="Rectangle 2"/>
          <p:cNvSpPr/>
          <p:nvPr/>
        </p:nvSpPr>
        <p:spPr>
          <a:xfrm>
            <a:off x="457200" y="902368"/>
            <a:ext cx="8133347" cy="4955203"/>
          </a:xfrm>
          <a:prstGeom prst="rect">
            <a:avLst/>
          </a:prstGeom>
        </p:spPr>
        <p:txBody>
          <a:bodyPr wrap="square">
            <a:spAutoFit/>
          </a:bodyPr>
          <a:lstStyle/>
          <a:p>
            <a:pPr marL="457200" lvl="0" indent="-457200" algn="just">
              <a:buFont typeface="Wingdings" panose="05000000000000000000" pitchFamily="2" charset="2"/>
              <a:buChar char="§"/>
            </a:pPr>
            <a:r>
              <a:rPr lang="en-US" sz="2800" kern="0" dirty="0">
                <a:solidFill>
                  <a:srgbClr val="000000"/>
                </a:solidFill>
                <a:latin typeface="Arial"/>
                <a:ea typeface="MS PGothic" pitchFamily="34" charset="-128"/>
              </a:rPr>
              <a:t>Biotransformation / Drug metabolism </a:t>
            </a:r>
            <a:r>
              <a:rPr lang="en-US" altLang="en-US" sz="2800" kern="0" dirty="0">
                <a:solidFill>
                  <a:srgbClr val="000000"/>
                </a:solidFill>
                <a:latin typeface="Arial"/>
                <a:ea typeface="MS PGothic" pitchFamily="34" charset="-128"/>
              </a:rPr>
              <a:t>occurs mainly in the liver and </a:t>
            </a:r>
            <a:r>
              <a:rPr lang="en-US" sz="2800" kern="0" dirty="0">
                <a:solidFill>
                  <a:srgbClr val="000000"/>
                </a:solidFill>
                <a:latin typeface="Arial"/>
                <a:ea typeface="MS PGothic" pitchFamily="34" charset="-128"/>
              </a:rPr>
              <a:t>is generally divided into two types of reactions, referred to as </a:t>
            </a:r>
          </a:p>
          <a:p>
            <a:pPr marL="914400" lvl="1" indent="-457200">
              <a:buFont typeface="Wingdings" panose="05000000000000000000" pitchFamily="2" charset="2"/>
              <a:buChar char="§"/>
            </a:pPr>
            <a:r>
              <a:rPr lang="en-US" sz="2800" b="1" kern="0" dirty="0">
                <a:solidFill>
                  <a:srgbClr val="000000"/>
                </a:solidFill>
                <a:latin typeface="Arial"/>
                <a:ea typeface="MS PGothic" pitchFamily="34" charset="-128"/>
              </a:rPr>
              <a:t>Phase 1 reactions (functionalization </a:t>
            </a:r>
            <a:r>
              <a:rPr lang="en-US" sz="2800" b="1" kern="0" dirty="0" err="1">
                <a:solidFill>
                  <a:srgbClr val="000000"/>
                </a:solidFill>
                <a:latin typeface="Arial"/>
                <a:ea typeface="MS PGothic" pitchFamily="34" charset="-128"/>
              </a:rPr>
              <a:t>rxn</a:t>
            </a:r>
            <a:r>
              <a:rPr lang="en-US" sz="2400" b="1" kern="0" dirty="0" err="1">
                <a:solidFill>
                  <a:srgbClr val="000000"/>
                </a:solidFill>
                <a:latin typeface="Arial"/>
                <a:ea typeface="MS PGothic" pitchFamily="34" charset="-128"/>
              </a:rPr>
              <a:t>s</a:t>
            </a:r>
            <a:r>
              <a:rPr lang="en-US" sz="2800" b="1" kern="0" dirty="0">
                <a:solidFill>
                  <a:srgbClr val="000000"/>
                </a:solidFill>
                <a:latin typeface="Arial"/>
                <a:ea typeface="MS PGothic" pitchFamily="34" charset="-128"/>
              </a:rPr>
              <a:t>)</a:t>
            </a:r>
          </a:p>
          <a:p>
            <a:pPr marL="1200150" lvl="2" indent="-285750" algn="just">
              <a:buFont typeface="Wingdings" panose="05000000000000000000" pitchFamily="2" charset="2"/>
              <a:buChar char="§"/>
            </a:pPr>
            <a:r>
              <a:rPr lang="en-US" sz="2000" kern="0" dirty="0">
                <a:solidFill>
                  <a:srgbClr val="000000"/>
                </a:solidFill>
                <a:latin typeface="Arial"/>
                <a:ea typeface="MS PGothic" pitchFamily="34" charset="-128"/>
              </a:rPr>
              <a:t>reactions include oxidation, reduction, and hydrolysis reactions. These reactions generally involve introduction of a new functional group into the molecule.</a:t>
            </a:r>
          </a:p>
          <a:p>
            <a:pPr marL="914400" lvl="1" indent="-457200">
              <a:buFont typeface="Wingdings" panose="05000000000000000000" pitchFamily="2" charset="2"/>
              <a:buChar char="§"/>
            </a:pPr>
            <a:endParaRPr lang="en-US" sz="2800" kern="0" dirty="0">
              <a:solidFill>
                <a:srgbClr val="000000"/>
              </a:solidFill>
              <a:latin typeface="Arial"/>
              <a:ea typeface="MS PGothic" pitchFamily="34" charset="-128"/>
            </a:endParaRPr>
          </a:p>
          <a:p>
            <a:pPr marL="914400" lvl="1" indent="-457200">
              <a:buFont typeface="Wingdings" panose="05000000000000000000" pitchFamily="2" charset="2"/>
              <a:buChar char="§"/>
            </a:pPr>
            <a:r>
              <a:rPr lang="en-US" sz="2800" b="1" kern="0" dirty="0">
                <a:solidFill>
                  <a:srgbClr val="000000"/>
                </a:solidFill>
                <a:latin typeface="Arial"/>
                <a:ea typeface="MS PGothic" pitchFamily="34" charset="-128"/>
              </a:rPr>
              <a:t>Phase 2 reactions (transferase </a:t>
            </a:r>
            <a:r>
              <a:rPr lang="en-US" sz="2800" b="1" kern="0" dirty="0" err="1">
                <a:solidFill>
                  <a:srgbClr val="000000"/>
                </a:solidFill>
                <a:latin typeface="Arial"/>
                <a:ea typeface="MS PGothic" pitchFamily="34" charset="-128"/>
              </a:rPr>
              <a:t>rxns</a:t>
            </a:r>
            <a:r>
              <a:rPr lang="en-US" sz="2800" b="1" kern="0" dirty="0">
                <a:solidFill>
                  <a:srgbClr val="000000"/>
                </a:solidFill>
                <a:latin typeface="Arial"/>
                <a:ea typeface="MS PGothic" pitchFamily="34" charset="-128"/>
              </a:rPr>
              <a:t>)</a:t>
            </a:r>
          </a:p>
          <a:p>
            <a:pPr marL="1200150" lvl="2" indent="-285750">
              <a:buFont typeface="Wingdings" panose="05000000000000000000" pitchFamily="2" charset="2"/>
              <a:buChar char="§"/>
            </a:pPr>
            <a:r>
              <a:rPr lang="en-US" sz="2000" kern="0" dirty="0">
                <a:solidFill>
                  <a:srgbClr val="FF0000"/>
                </a:solidFill>
                <a:latin typeface="Arial"/>
                <a:ea typeface="MS PGothic" pitchFamily="34" charset="-128"/>
              </a:rPr>
              <a:t>Usually </a:t>
            </a:r>
            <a:r>
              <a:rPr lang="en-US" sz="2000" kern="0" dirty="0">
                <a:solidFill>
                  <a:srgbClr val="000000"/>
                </a:solidFill>
                <a:latin typeface="Arial"/>
                <a:ea typeface="MS PGothic" pitchFamily="34" charset="-128"/>
              </a:rPr>
              <a:t> follows phase 1, involve conjugation reactions such as acetylation, </a:t>
            </a:r>
            <a:r>
              <a:rPr lang="en-US" sz="2000" kern="0" dirty="0" err="1">
                <a:solidFill>
                  <a:srgbClr val="000000"/>
                </a:solidFill>
                <a:latin typeface="Arial"/>
                <a:ea typeface="MS PGothic" pitchFamily="34" charset="-128"/>
              </a:rPr>
              <a:t>sulfation</a:t>
            </a:r>
            <a:r>
              <a:rPr lang="en-US" sz="2000" kern="0" dirty="0">
                <a:solidFill>
                  <a:srgbClr val="000000"/>
                </a:solidFill>
                <a:latin typeface="Arial"/>
                <a:ea typeface="MS PGothic" pitchFamily="34" charset="-128"/>
              </a:rPr>
              <a:t>, </a:t>
            </a:r>
            <a:r>
              <a:rPr lang="en-US" sz="2000" kern="0" dirty="0" err="1">
                <a:solidFill>
                  <a:srgbClr val="000000"/>
                </a:solidFill>
                <a:latin typeface="Arial"/>
                <a:ea typeface="MS PGothic" pitchFamily="34" charset="-128"/>
              </a:rPr>
              <a:t>glucuronidation</a:t>
            </a:r>
            <a:r>
              <a:rPr lang="en-US" sz="2000" kern="0" dirty="0">
                <a:solidFill>
                  <a:srgbClr val="000000"/>
                </a:solidFill>
                <a:latin typeface="Arial"/>
                <a:ea typeface="MS PGothic" pitchFamily="34" charset="-128"/>
              </a:rPr>
              <a:t>, and conjugation with amino acids.</a:t>
            </a:r>
            <a:endParaRPr lang="en-US" sz="2800" kern="0" dirty="0">
              <a:solidFill>
                <a:srgbClr val="000000"/>
              </a:solidFill>
              <a:latin typeface="Arial"/>
              <a:ea typeface="MS PGothic" pitchFamily="34" charset="-128"/>
            </a:endParaRPr>
          </a:p>
          <a:p>
            <a:pPr marL="914400" lvl="1" indent="-457200">
              <a:buFont typeface="Wingdings" panose="05000000000000000000" pitchFamily="2" charset="2"/>
              <a:buChar char="§"/>
            </a:pPr>
            <a:endParaRPr lang="en-US" sz="2800" kern="0" dirty="0">
              <a:solidFill>
                <a:srgbClr val="000000"/>
              </a:solidFill>
              <a:latin typeface="Arial"/>
              <a:ea typeface="MS PGothic" pitchFamily="34" charset="-128"/>
            </a:endParaRPr>
          </a:p>
        </p:txBody>
      </p:sp>
    </p:spTree>
    <p:extLst>
      <p:ext uri="{BB962C8B-B14F-4D97-AF65-F5344CB8AC3E}">
        <p14:creationId xmlns:p14="http://schemas.microsoft.com/office/powerpoint/2010/main" val="18099184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7913688" cy="715962"/>
          </a:xfrm>
        </p:spPr>
        <p:txBody>
          <a:bodyPr/>
          <a:lstStyle/>
          <a:p>
            <a:pPr marL="457200" marR="0" lvl="1" indent="0" defTabSz="914400" rtl="0" eaLnBrk="1" fontAlgn="base" latinLnBrk="0" hangingPunct="1">
              <a:lnSpc>
                <a:spcPct val="100000"/>
              </a:lnSpc>
              <a:spcBef>
                <a:spcPct val="20000"/>
              </a:spcBef>
              <a:spcAft>
                <a:spcPct val="0"/>
              </a:spcAft>
              <a:tabLst/>
              <a:defRPr/>
            </a:pPr>
            <a:r>
              <a:rPr lang="en-US" altLang="en-US" sz="2800" b="1" dirty="0">
                <a:solidFill>
                  <a:srgbClr val="00B050"/>
                </a:solidFill>
                <a:latin typeface="Arial"/>
                <a:ea typeface="MS PGothic" pitchFamily="34" charset="-128"/>
                <a:cs typeface="+mj-cs"/>
              </a:rPr>
              <a:t>General Pathways of Drug Metabolism</a:t>
            </a:r>
            <a:endParaRPr lang="en-US" dirty="0"/>
          </a:p>
        </p:txBody>
      </p:sp>
      <p:sp>
        <p:nvSpPr>
          <p:cNvPr id="3" name="Rectangle 3"/>
          <p:cNvSpPr txBox="1">
            <a:spLocks noChangeArrowheads="1"/>
          </p:cNvSpPr>
          <p:nvPr/>
        </p:nvSpPr>
        <p:spPr bwMode="auto">
          <a:xfrm>
            <a:off x="457200" y="990600"/>
            <a:ext cx="84582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defTabSz="914400" eaLnBrk="1" hangingPunct="1">
              <a:buFont typeface="Wingdings" panose="05000000000000000000" pitchFamily="2" charset="2"/>
              <a:buChar char="§"/>
            </a:pPr>
            <a:r>
              <a:rPr kumimoji="0" lang="en-US" altLang="en-US" sz="2800" b="1" i="0" u="sng" strike="noStrike" kern="0" cap="none" spc="0" normalizeH="0" baseline="0" noProof="0" dirty="0">
                <a:ln>
                  <a:noFill/>
                </a:ln>
                <a:solidFill>
                  <a:srgbClr val="000000"/>
                </a:solidFill>
                <a:effectLst/>
                <a:uLnTx/>
                <a:uFillTx/>
                <a:latin typeface="Arial"/>
                <a:ea typeface="MS PGothic" pitchFamily="34" charset="-128"/>
              </a:rPr>
              <a:t>Phase I reaction</a:t>
            </a:r>
            <a:r>
              <a:rPr kumimoji="0" lang="en-US" altLang="en-US" sz="2800" b="1" i="0" u="none" strike="noStrike" kern="0" cap="none" spc="0" normalizeH="0" baseline="0" noProof="0" dirty="0">
                <a:ln>
                  <a:noFill/>
                </a:ln>
                <a:solidFill>
                  <a:srgbClr val="000000"/>
                </a:solidFill>
                <a:effectLst/>
                <a:uLnTx/>
                <a:uFillTx/>
                <a:latin typeface="Arial"/>
                <a:ea typeface="MS PGothic" pitchFamily="34" charset="-128"/>
              </a:rPr>
              <a:t> </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 (oxidation, reduction, hydrolysis)</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Generally, the parent drug is oxidized or reduced to a more polar metabolite by introducing or unmasking a functional group (-OH, -NH</a:t>
            </a:r>
            <a:r>
              <a:rPr kumimoji="0" lang="en-US" altLang="en-US" sz="2400" b="0" i="0" u="none" strike="noStrike" kern="0" cap="none" spc="0" normalizeH="0" baseline="-25000" noProof="0" dirty="0">
                <a:ln>
                  <a:noFill/>
                </a:ln>
                <a:solidFill>
                  <a:srgbClr val="000000"/>
                </a:solidFill>
                <a:effectLst/>
                <a:uLnTx/>
                <a:uFillTx/>
                <a:latin typeface="Arial"/>
                <a:ea typeface="MS PGothic" pitchFamily="34" charset="-128"/>
              </a:rPr>
              <a:t>2</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-SH)</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lang="en-US" altLang="en-US" sz="2400" kern="0" dirty="0">
                <a:solidFill>
                  <a:srgbClr val="000000"/>
                </a:solidFill>
                <a:latin typeface="Arial"/>
              </a:rPr>
              <a:t>Products of Phase I reactions may be either pharmacologically </a:t>
            </a:r>
            <a:r>
              <a:rPr lang="en-US" altLang="en-US" sz="2400" kern="0" dirty="0">
                <a:solidFill>
                  <a:srgbClr val="FF0000"/>
                </a:solidFill>
                <a:latin typeface="Arial"/>
              </a:rPr>
              <a:t>active or inactive</a:t>
            </a:r>
            <a:endParaRPr kumimoji="0" lang="en-US" altLang="en-US" sz="2400" b="0" i="0" u="none" strike="noStrike" kern="0" cap="none" spc="0" normalizeH="0" baseline="0" noProof="0" dirty="0">
              <a:ln>
                <a:noFill/>
              </a:ln>
              <a:solidFill>
                <a:srgbClr val="FF0000"/>
              </a:solidFill>
              <a:effectLst/>
              <a:uLnTx/>
              <a:uFillTx/>
              <a:latin typeface="Arial"/>
              <a:ea typeface="MS PGothic" pitchFamily="34" charset="-128"/>
            </a:endParaRP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The more polar the drug, the more likely excretion will occur</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This reaction takes place in the smooth (no ribosomes) endoplasmic reticulum in liver cells (hepatocytes)</a:t>
            </a:r>
          </a:p>
        </p:txBody>
      </p:sp>
    </p:spTree>
    <p:extLst>
      <p:ext uri="{BB962C8B-B14F-4D97-AF65-F5344CB8AC3E}">
        <p14:creationId xmlns:p14="http://schemas.microsoft.com/office/powerpoint/2010/main" val="38278873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04800" y="281640"/>
            <a:ext cx="8229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800" b="0" i="0" u="sng" strike="noStrike" kern="0" cap="none" spc="0" normalizeH="0" baseline="0" noProof="0" dirty="0">
                <a:ln>
                  <a:noFill/>
                </a:ln>
                <a:solidFill>
                  <a:srgbClr val="000000"/>
                </a:solidFill>
                <a:effectLst/>
                <a:uLnTx/>
                <a:uFillTx/>
                <a:latin typeface="Arial"/>
                <a:ea typeface="MS PGothic" pitchFamily="34" charset="-128"/>
              </a:rPr>
              <a:t>Phase I reaction</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The smooth </a:t>
            </a:r>
            <a:r>
              <a:rPr kumimoji="0" lang="en-US" altLang="en-US" sz="2800" b="0" i="0" u="none" strike="noStrike" kern="0" cap="none" spc="0" normalizeH="0" baseline="0" noProof="0" dirty="0" err="1">
                <a:ln>
                  <a:noFill/>
                </a:ln>
                <a:solidFill>
                  <a:srgbClr val="000000"/>
                </a:solidFill>
                <a:effectLst/>
                <a:uLnTx/>
                <a:uFillTx/>
                <a:latin typeface="Arial"/>
                <a:ea typeface="MS PGothic" pitchFamily="34" charset="-128"/>
              </a:rPr>
              <a:t>microsomes</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 are relatively rich in enzymes responsible for oxidative drug metabolism</a:t>
            </a:r>
          </a:p>
          <a:p>
            <a:pPr marL="933450" marR="0" lvl="2" indent="0" algn="l" defTabSz="914400" rtl="0" eaLnBrk="1" fontAlgn="base" latinLnBrk="0" hangingPunct="1">
              <a:lnSpc>
                <a:spcPct val="90000"/>
              </a:lnSpc>
              <a:spcBef>
                <a:spcPct val="20000"/>
              </a:spcBef>
              <a:spcAft>
                <a:spcPct val="0"/>
              </a:spcAft>
              <a:buClrTx/>
              <a:buSz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endParaRPr>
          </a:p>
          <a:p>
            <a:pPr marL="1657350" marR="0" lvl="3"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Important class of enzymes – mixed function oxidases (MFOs)</a:t>
            </a:r>
          </a:p>
          <a:p>
            <a:pPr marL="1381125" marR="0" lvl="3" indent="0" algn="l" defTabSz="914400" rtl="0" eaLnBrk="1" fontAlgn="base" latinLnBrk="0" hangingPunct="1">
              <a:lnSpc>
                <a:spcPct val="90000"/>
              </a:lnSpc>
              <a:spcBef>
                <a:spcPct val="20000"/>
              </a:spcBef>
              <a:spcAft>
                <a:spcPct val="0"/>
              </a:spcAft>
              <a:buClrTx/>
              <a:buSz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endParaRPr>
          </a:p>
          <a:p>
            <a:pPr marL="2095500" marR="0" lvl="4"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The activity of these enzymes requires a reducing agent, NADPH and molecular oxygen (O</a:t>
            </a:r>
            <a:r>
              <a:rPr kumimoji="0" lang="en-US" altLang="en-US" sz="2800" b="0" i="0" u="none" strike="noStrike" kern="0" cap="none" spc="0" normalizeH="0" baseline="-25000" noProof="0" dirty="0">
                <a:ln>
                  <a:noFill/>
                </a:ln>
                <a:solidFill>
                  <a:srgbClr val="000000"/>
                </a:solidFill>
                <a:effectLst/>
                <a:uLnTx/>
                <a:uFillTx/>
                <a:latin typeface="Arial"/>
                <a:ea typeface="MS PGothic" pitchFamily="34" charset="-128"/>
              </a:rPr>
              <a:t>2</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a:t>
            </a:r>
          </a:p>
        </p:txBody>
      </p:sp>
      <p:pic>
        <p:nvPicPr>
          <p:cNvPr id="4" name="Picture 3"/>
          <p:cNvPicPr>
            <a:picLocks noChangeAspect="1"/>
          </p:cNvPicPr>
          <p:nvPr/>
        </p:nvPicPr>
        <p:blipFill>
          <a:blip r:embed="rId6"/>
          <a:stretch>
            <a:fillRect/>
          </a:stretch>
        </p:blipFill>
        <p:spPr>
          <a:xfrm>
            <a:off x="784729" y="5250814"/>
            <a:ext cx="7749671" cy="712331"/>
          </a:xfrm>
          <a:prstGeom prst="rect">
            <a:avLst/>
          </a:prstGeom>
        </p:spPr>
      </p:pic>
    </p:spTree>
    <p:extLst>
      <p:ext uri="{BB962C8B-B14F-4D97-AF65-F5344CB8AC3E}">
        <p14:creationId xmlns:p14="http://schemas.microsoft.com/office/powerpoint/2010/main" val="20889041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2800" b="1" dirty="0">
                <a:solidFill>
                  <a:srgbClr val="00B050"/>
                </a:solidFill>
                <a:latin typeface="Arial"/>
                <a:ea typeface="MS PGothic" pitchFamily="34" charset="-128"/>
              </a:rPr>
              <a:t>PHASE</a:t>
            </a:r>
            <a:r>
              <a:rPr lang="en-US" dirty="0"/>
              <a:t> </a:t>
            </a:r>
            <a:r>
              <a:rPr lang="en-US" sz="2800" b="1" dirty="0">
                <a:solidFill>
                  <a:srgbClr val="00B050"/>
                </a:solidFill>
                <a:latin typeface="Arial"/>
                <a:ea typeface="MS PGothic" pitchFamily="34" charset="-128"/>
              </a:rPr>
              <a:t>I</a:t>
            </a:r>
            <a:r>
              <a:rPr lang="en-US" dirty="0"/>
              <a:t> </a:t>
            </a:r>
            <a:r>
              <a:rPr lang="en-US" sz="2800" b="1" dirty="0">
                <a:solidFill>
                  <a:srgbClr val="00B050"/>
                </a:solidFill>
                <a:latin typeface="Arial"/>
                <a:ea typeface="MS PGothic" pitchFamily="34" charset="-128"/>
              </a:rPr>
              <a:t>METABOLISM</a:t>
            </a:r>
          </a:p>
        </p:txBody>
      </p:sp>
      <p:sp>
        <p:nvSpPr>
          <p:cNvPr id="4" name="Rectangle 3"/>
          <p:cNvSpPr/>
          <p:nvPr/>
        </p:nvSpPr>
        <p:spPr>
          <a:xfrm>
            <a:off x="236136" y="1172022"/>
            <a:ext cx="8355204" cy="4358116"/>
          </a:xfrm>
          <a:prstGeom prst="rect">
            <a:avLst/>
          </a:prstGeom>
        </p:spPr>
        <p:txBody>
          <a:bodyPr wrap="square">
            <a:spAutoFit/>
          </a:bodyPr>
          <a:lstStyle/>
          <a:p>
            <a:pPr marL="295275" indent="-276225" defTabSz="914400" fontAlgn="base">
              <a:lnSpc>
                <a:spcPct val="90000"/>
              </a:lnSpc>
              <a:spcBef>
                <a:spcPct val="20000"/>
              </a:spcBef>
              <a:spcAft>
                <a:spcPct val="0"/>
              </a:spcAft>
              <a:buBlip>
                <a:blip r:embed="rId2"/>
              </a:buBlip>
              <a:defRPr/>
            </a:pPr>
            <a:r>
              <a:rPr lang="en-US" altLang="en-US" sz="2800" kern="0" dirty="0">
                <a:solidFill>
                  <a:srgbClr val="000000"/>
                </a:solidFill>
                <a:latin typeface="Arial"/>
                <a:ea typeface="MS PGothic" pitchFamily="34" charset="-128"/>
              </a:rPr>
              <a:t>Two microsomal enzymes play a key role:</a:t>
            </a:r>
          </a:p>
          <a:p>
            <a:pPr marL="723900" lvl="1" indent="-276225" defTabSz="914400" fontAlgn="base">
              <a:lnSpc>
                <a:spcPct val="90000"/>
              </a:lnSpc>
              <a:spcBef>
                <a:spcPct val="20000"/>
              </a:spcBef>
              <a:spcAft>
                <a:spcPct val="0"/>
              </a:spcAft>
              <a:buBlip>
                <a:blip r:embed="rId2"/>
              </a:buBlip>
              <a:defRPr/>
            </a:pPr>
            <a:r>
              <a:rPr lang="en-US" altLang="en-US" sz="2800" kern="0" dirty="0">
                <a:solidFill>
                  <a:srgbClr val="000000"/>
                </a:solidFill>
                <a:latin typeface="Arial"/>
                <a:ea typeface="MS PGothic" pitchFamily="34" charset="-128"/>
              </a:rPr>
              <a:t>NADPH-cytochrome P450 reductase, a </a:t>
            </a:r>
            <a:r>
              <a:rPr lang="en-US" altLang="en-US" sz="2800" kern="0" dirty="0" err="1">
                <a:solidFill>
                  <a:srgbClr val="000000"/>
                </a:solidFill>
                <a:latin typeface="Arial"/>
                <a:ea typeface="MS PGothic" pitchFamily="34" charset="-128"/>
              </a:rPr>
              <a:t>flavoprotein</a:t>
            </a:r>
            <a:endParaRPr lang="en-US" altLang="en-US" sz="2800" kern="0" dirty="0">
              <a:solidFill>
                <a:srgbClr val="000000"/>
              </a:solidFill>
              <a:latin typeface="Arial"/>
              <a:ea typeface="MS PGothic" pitchFamily="34" charset="-128"/>
            </a:endParaRPr>
          </a:p>
          <a:p>
            <a:pPr marL="723900" lvl="1" indent="-276225" defTabSz="914400" fontAlgn="base">
              <a:lnSpc>
                <a:spcPct val="90000"/>
              </a:lnSpc>
              <a:spcBef>
                <a:spcPct val="20000"/>
              </a:spcBef>
              <a:spcAft>
                <a:spcPct val="0"/>
              </a:spcAft>
              <a:buBlip>
                <a:blip r:embed="rId2"/>
              </a:buBlip>
              <a:defRPr/>
            </a:pPr>
            <a:r>
              <a:rPr lang="en-US" altLang="en-US" sz="2800" kern="0" dirty="0">
                <a:solidFill>
                  <a:srgbClr val="000000"/>
                </a:solidFill>
                <a:latin typeface="Arial"/>
                <a:ea typeface="MS PGothic" pitchFamily="34" charset="-128"/>
              </a:rPr>
              <a:t>Cytochrome P450, a hemoprotein, the terminal oxidase</a:t>
            </a:r>
          </a:p>
          <a:p>
            <a:pPr marL="2095500" lvl="4" indent="-276225" defTabSz="914400" fontAlgn="base">
              <a:lnSpc>
                <a:spcPct val="90000"/>
              </a:lnSpc>
              <a:spcBef>
                <a:spcPct val="20000"/>
              </a:spcBef>
              <a:spcAft>
                <a:spcPct val="0"/>
              </a:spcAft>
              <a:buBlip>
                <a:blip r:embed="rId2"/>
              </a:buBlip>
              <a:defRPr/>
            </a:pPr>
            <a:endParaRPr lang="en-US" sz="2800" kern="0" dirty="0">
              <a:solidFill>
                <a:srgbClr val="000000"/>
              </a:solidFill>
              <a:latin typeface="Arial"/>
              <a:ea typeface="MS PGothic" pitchFamily="34" charset="-128"/>
            </a:endParaRPr>
          </a:p>
          <a:p>
            <a:pPr marL="723900" lvl="1" indent="-276225" algn="just" defTabSz="914400" fontAlgn="base">
              <a:lnSpc>
                <a:spcPct val="90000"/>
              </a:lnSpc>
              <a:spcBef>
                <a:spcPct val="20000"/>
              </a:spcBef>
              <a:spcAft>
                <a:spcPct val="0"/>
              </a:spcAft>
              <a:buBlip>
                <a:blip r:embed="rId2"/>
              </a:buBlip>
              <a:defRPr/>
            </a:pPr>
            <a:r>
              <a:rPr lang="en-US" sz="2800" kern="0" dirty="0">
                <a:solidFill>
                  <a:srgbClr val="000000"/>
                </a:solidFill>
                <a:latin typeface="Arial"/>
                <a:ea typeface="MS PGothic" pitchFamily="34" charset="-128"/>
              </a:rPr>
              <a:t>Generally, reduction and hydrolysis reactions play subordinate roles in xenobiotic metabolism compared to oxidation reactions.</a:t>
            </a:r>
          </a:p>
          <a:p>
            <a:pPr algn="just"/>
            <a:endParaRPr lang="en-US" sz="2800" kern="0" dirty="0">
              <a:solidFill>
                <a:srgbClr val="000000"/>
              </a:solidFill>
              <a:latin typeface="Arial"/>
              <a:ea typeface="MS PGothic" pitchFamily="34" charset="-128"/>
            </a:endParaRPr>
          </a:p>
        </p:txBody>
      </p:sp>
    </p:spTree>
    <p:extLst>
      <p:ext uri="{BB962C8B-B14F-4D97-AF65-F5344CB8AC3E}">
        <p14:creationId xmlns:p14="http://schemas.microsoft.com/office/powerpoint/2010/main" val="37678907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913"/>
            <a:ext cx="8229600" cy="639762"/>
          </a:xfrm>
        </p:spPr>
        <p:txBody>
          <a:bodyPr/>
          <a:lstStyle/>
          <a:p>
            <a:r>
              <a:rPr lang="en-US" sz="2800" b="1" dirty="0">
                <a:solidFill>
                  <a:srgbClr val="00B050"/>
                </a:solidFill>
                <a:latin typeface="Arial"/>
                <a:ea typeface="MS PGothic" pitchFamily="34" charset="-128"/>
              </a:rPr>
              <a:t>PHASE</a:t>
            </a:r>
            <a:r>
              <a:rPr lang="en-US" sz="3600" b="1" dirty="0">
                <a:solidFill>
                  <a:srgbClr val="00B050"/>
                </a:solidFill>
              </a:rPr>
              <a:t> I </a:t>
            </a:r>
            <a:r>
              <a:rPr lang="en-US" sz="2800" b="1" dirty="0">
                <a:solidFill>
                  <a:srgbClr val="00B050"/>
                </a:solidFill>
                <a:latin typeface="Arial"/>
                <a:ea typeface="MS PGothic" pitchFamily="34" charset="-128"/>
              </a:rPr>
              <a:t>METABOLISM</a:t>
            </a:r>
            <a:endParaRPr lang="en-US" dirty="0"/>
          </a:p>
        </p:txBody>
      </p:sp>
      <p:sp>
        <p:nvSpPr>
          <p:cNvPr id="3" name="Rectangle 3"/>
          <p:cNvSpPr txBox="1">
            <a:spLocks noChangeArrowheads="1"/>
          </p:cNvSpPr>
          <p:nvPr/>
        </p:nvSpPr>
        <p:spPr bwMode="auto">
          <a:xfrm>
            <a:off x="138165" y="884256"/>
            <a:ext cx="86868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r>
              <a:rPr lang="en-US" sz="3200" kern="0" dirty="0">
                <a:solidFill>
                  <a:srgbClr val="000000"/>
                </a:solidFill>
                <a:latin typeface="Arial"/>
              </a:rPr>
              <a:t>Cytochromes P450 named for their absorption of light at 450 nm when complexed with carbon monoxide</a:t>
            </a:r>
          </a:p>
          <a:p>
            <a:pPr lvl="1" algn="just"/>
            <a:r>
              <a:rPr lang="en-US" sz="3000" kern="0" dirty="0">
                <a:solidFill>
                  <a:srgbClr val="000000"/>
                </a:solidFill>
                <a:latin typeface="Arial"/>
              </a:rPr>
              <a:t>are a superfamily of </a:t>
            </a:r>
            <a:r>
              <a:rPr lang="en-US" sz="3000" kern="0" dirty="0" err="1">
                <a:solidFill>
                  <a:srgbClr val="000000"/>
                </a:solidFill>
                <a:latin typeface="Arial"/>
              </a:rPr>
              <a:t>heme</a:t>
            </a:r>
            <a:r>
              <a:rPr lang="en-US" sz="3000" kern="0" dirty="0">
                <a:solidFill>
                  <a:srgbClr val="000000"/>
                </a:solidFill>
                <a:latin typeface="Arial"/>
              </a:rPr>
              <a:t>-containing enzymes found throughout the animal and plant kingdoms and in yeast and bacteria.</a:t>
            </a:r>
          </a:p>
          <a:p>
            <a:pPr marL="1657350" marR="0" lvl="3"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3200" b="1" i="0" u="none" strike="noStrike" kern="0" cap="none" spc="0" normalizeH="0" baseline="0" noProof="0" dirty="0">
                <a:ln>
                  <a:noFill/>
                </a:ln>
                <a:solidFill>
                  <a:srgbClr val="000000"/>
                </a:solidFill>
                <a:effectLst/>
                <a:uLnTx/>
                <a:uFillTx/>
                <a:latin typeface="Arial"/>
                <a:ea typeface="MS PGothic" pitchFamily="34" charset="-128"/>
              </a:rPr>
              <a:t>Cyp3A4</a:t>
            </a:r>
            <a:r>
              <a:rPr kumimoji="0" lang="en-US" altLang="en-US" sz="3200" b="0" i="0" u="none" strike="noStrike" kern="0" cap="none" spc="0" normalizeH="0" baseline="0" noProof="0" dirty="0">
                <a:ln>
                  <a:noFill/>
                </a:ln>
                <a:solidFill>
                  <a:srgbClr val="000000"/>
                </a:solidFill>
                <a:effectLst/>
                <a:uLnTx/>
                <a:uFillTx/>
                <a:latin typeface="Arial"/>
                <a:ea typeface="MS PGothic" pitchFamily="34" charset="-128"/>
              </a:rPr>
              <a:t> alone is responsible for more than 60% of the clinically prescribed drugs metabolized by the liver</a:t>
            </a:r>
          </a:p>
        </p:txBody>
      </p:sp>
    </p:spTree>
    <p:extLst>
      <p:ext uri="{BB962C8B-B14F-4D97-AF65-F5344CB8AC3E}">
        <p14:creationId xmlns:p14="http://schemas.microsoft.com/office/powerpoint/2010/main" val="13335636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4FEFD66-48C2-C742-A485-054B510BC9CD}"/>
              </a:ext>
            </a:extLst>
          </p:cNvPr>
          <p:cNvSpPr>
            <a:spLocks noGrp="1" noChangeArrowheads="1"/>
          </p:cNvSpPr>
          <p:nvPr/>
        </p:nvSpPr>
        <p:spPr bwMode="auto">
          <a:xfrm>
            <a:off x="419100" y="1223168"/>
            <a:ext cx="8407400" cy="4415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algn="just" eaLnBrk="1" hangingPunct="1">
              <a:lnSpc>
                <a:spcPct val="80000"/>
              </a:lnSpc>
            </a:pPr>
            <a:r>
              <a:rPr lang="en-US" altLang="en-US" sz="2800" kern="0" dirty="0">
                <a:solidFill>
                  <a:srgbClr val="000000"/>
                </a:solidFill>
                <a:latin typeface="Arial"/>
              </a:rPr>
              <a:t>The liver metabolic reactions are mostly catalyzed by the mixed function oxidases or the cytochrome P450 enzymes. </a:t>
            </a:r>
          </a:p>
          <a:p>
            <a:pPr lvl="2" algn="just" eaLnBrk="1" hangingPunct="1">
              <a:lnSpc>
                <a:spcPct val="80000"/>
              </a:lnSpc>
            </a:pPr>
            <a:r>
              <a:rPr lang="en-US" sz="2400" kern="0" dirty="0">
                <a:solidFill>
                  <a:srgbClr val="000000"/>
                </a:solidFill>
                <a:latin typeface="Arial"/>
              </a:rPr>
              <a:t>Important exceptions to this rule are ethyl alcohol and caffeine, which are </a:t>
            </a:r>
            <a:r>
              <a:rPr lang="en-US" sz="2400" kern="0" dirty="0" err="1">
                <a:solidFill>
                  <a:srgbClr val="000000"/>
                </a:solidFill>
                <a:latin typeface="Arial"/>
              </a:rPr>
              <a:t>oxidatively</a:t>
            </a:r>
            <a:r>
              <a:rPr lang="en-US" sz="2400" kern="0" dirty="0">
                <a:solidFill>
                  <a:srgbClr val="000000"/>
                </a:solidFill>
                <a:latin typeface="Arial"/>
              </a:rPr>
              <a:t> metabolized by enzymes primarily present in the soluble, cytosolic fraction of the liver.</a:t>
            </a:r>
          </a:p>
          <a:p>
            <a:pPr marL="933450" lvl="2" indent="0" algn="just" eaLnBrk="1" hangingPunct="1">
              <a:lnSpc>
                <a:spcPct val="80000"/>
              </a:lnSpc>
              <a:buNone/>
            </a:pPr>
            <a:endParaRPr lang="en-US" sz="2400" kern="0" dirty="0">
              <a:solidFill>
                <a:srgbClr val="000000"/>
              </a:solidFill>
              <a:latin typeface="Arial"/>
            </a:endParaRPr>
          </a:p>
          <a:p>
            <a:pPr lvl="1" algn="just" eaLnBrk="1" hangingPunct="1">
              <a:lnSpc>
                <a:spcPct val="80000"/>
              </a:lnSpc>
            </a:pPr>
            <a:r>
              <a:rPr lang="en-US" altLang="en-US" sz="2800" kern="0" dirty="0">
                <a:solidFill>
                  <a:srgbClr val="000000"/>
                </a:solidFill>
                <a:latin typeface="Arial"/>
              </a:rPr>
              <a:t>( There are multiple </a:t>
            </a:r>
            <a:r>
              <a:rPr lang="en-US" altLang="en-US" sz="2800" kern="0" dirty="0" err="1">
                <a:solidFill>
                  <a:srgbClr val="000000"/>
                </a:solidFill>
                <a:latin typeface="Arial"/>
              </a:rPr>
              <a:t>iso</a:t>
            </a:r>
            <a:r>
              <a:rPr lang="en-US" altLang="en-US" sz="2800" kern="0" dirty="0">
                <a:solidFill>
                  <a:srgbClr val="000000"/>
                </a:solidFill>
                <a:latin typeface="Arial"/>
              </a:rPr>
              <a:t>-forms of the P450 enzymes which can act on numerous substrates)</a:t>
            </a:r>
          </a:p>
          <a:p>
            <a:pPr algn="just" eaLnBrk="1" hangingPunct="1">
              <a:lnSpc>
                <a:spcPct val="80000"/>
              </a:lnSpc>
            </a:pPr>
            <a:r>
              <a:rPr lang="en-US" altLang="en-US" sz="2800" kern="0" dirty="0">
                <a:solidFill>
                  <a:srgbClr val="000000"/>
                </a:solidFill>
                <a:latin typeface="Arial"/>
              </a:rPr>
              <a:t>Different members of the </a:t>
            </a:r>
            <a:r>
              <a:rPr lang="en-US" altLang="en-US" sz="2800" kern="0" dirty="0" err="1">
                <a:solidFill>
                  <a:srgbClr val="000000"/>
                </a:solidFill>
                <a:latin typeface="Arial"/>
              </a:rPr>
              <a:t>iso-zymes</a:t>
            </a:r>
            <a:r>
              <a:rPr lang="en-US" altLang="en-US" sz="2800" kern="0" dirty="0">
                <a:solidFill>
                  <a:srgbClr val="000000"/>
                </a:solidFill>
                <a:latin typeface="Arial"/>
              </a:rPr>
              <a:t> have distinct but often overlapping substrate specificities.</a:t>
            </a:r>
          </a:p>
          <a:p>
            <a:pPr marL="0" indent="0" algn="just" eaLnBrk="1" hangingPunct="1">
              <a:lnSpc>
                <a:spcPct val="80000"/>
              </a:lnSpc>
              <a:buNone/>
            </a:pPr>
            <a:endParaRPr lang="en-US" altLang="en-US" sz="2800" kern="0" dirty="0">
              <a:solidFill>
                <a:srgbClr val="000000"/>
              </a:solidFill>
              <a:latin typeface="Arial"/>
            </a:endParaRPr>
          </a:p>
        </p:txBody>
      </p:sp>
      <p:sp>
        <p:nvSpPr>
          <p:cNvPr id="7" name="Title 1">
            <a:extLst>
              <a:ext uri="{FF2B5EF4-FFF2-40B4-BE49-F238E27FC236}">
                <a16:creationId xmlns:a16="http://schemas.microsoft.com/office/drawing/2014/main" id="{6CBEA1D5-B5F3-FE43-81B0-262D2A0D5593}"/>
              </a:ext>
            </a:extLst>
          </p:cNvPr>
          <p:cNvSpPr>
            <a:spLocks noGrp="1"/>
          </p:cNvSpPr>
          <p:nvPr>
            <p:ph type="title"/>
          </p:nvPr>
        </p:nvSpPr>
        <p:spPr>
          <a:xfrm>
            <a:off x="457200" y="274638"/>
            <a:ext cx="8229600" cy="703262"/>
          </a:xfrm>
        </p:spPr>
        <p:txBody>
          <a:bodyPr/>
          <a:lstStyle/>
          <a:p>
            <a:r>
              <a:rPr lang="en-US" sz="2800" b="1" dirty="0">
                <a:solidFill>
                  <a:srgbClr val="00B050"/>
                </a:solidFill>
                <a:latin typeface="Arial"/>
                <a:ea typeface="MS PGothic" pitchFamily="34" charset="-128"/>
              </a:rPr>
              <a:t>DRUG METABOLISM: PHASE</a:t>
            </a:r>
            <a:r>
              <a:rPr lang="en-US" sz="3600" b="1" dirty="0">
                <a:solidFill>
                  <a:srgbClr val="00B050"/>
                </a:solidFill>
              </a:rPr>
              <a:t> I </a:t>
            </a:r>
            <a:r>
              <a:rPr lang="en-US" sz="2800" b="1" dirty="0">
                <a:solidFill>
                  <a:srgbClr val="00B050"/>
                </a:solidFill>
                <a:latin typeface="Arial"/>
                <a:ea typeface="MS PGothic" pitchFamily="34" charset="-128"/>
              </a:rPr>
              <a:t>REACTIONS</a:t>
            </a:r>
            <a:endParaRPr lang="en-US" dirty="0"/>
          </a:p>
        </p:txBody>
      </p:sp>
    </p:spTree>
    <p:extLst>
      <p:ext uri="{BB962C8B-B14F-4D97-AF65-F5344CB8AC3E}">
        <p14:creationId xmlns:p14="http://schemas.microsoft.com/office/powerpoint/2010/main" val="35190364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1256" y="674058"/>
            <a:ext cx="8561196" cy="4678204"/>
          </a:xfrm>
          <a:prstGeom prst="rect">
            <a:avLst/>
          </a:prstGeom>
        </p:spPr>
        <p:txBody>
          <a:bodyPr wrap="square">
            <a:spAutoFit/>
          </a:bodyPr>
          <a:lstStyle/>
          <a:p>
            <a:pPr marL="457200" indent="-457200" algn="just">
              <a:buFont typeface="Wingdings" panose="05000000000000000000" pitchFamily="2" charset="2"/>
              <a:buChar char="Ø"/>
            </a:pPr>
            <a:r>
              <a:rPr lang="en-US" altLang="en-US" sz="2800" kern="0" dirty="0">
                <a:solidFill>
                  <a:srgbClr val="000000"/>
                </a:solidFill>
                <a:latin typeface="Arial"/>
              </a:rPr>
              <a:t>Some act on the same substrates as the other but at different rates.</a:t>
            </a:r>
          </a:p>
          <a:p>
            <a:pPr algn="just"/>
            <a:endParaRPr lang="en-US" altLang="en-US" sz="2800" kern="0" dirty="0">
              <a:solidFill>
                <a:srgbClr val="000000"/>
              </a:solidFill>
              <a:latin typeface="Arial"/>
              <a:ea typeface="MS PGothic" pitchFamily="34" charset="-128"/>
            </a:endParaRPr>
          </a:p>
          <a:p>
            <a:pPr marL="457200" indent="-457200" algn="just">
              <a:buFont typeface="Wingdings" panose="05000000000000000000" pitchFamily="2" charset="2"/>
              <a:buChar char="Ø"/>
            </a:pPr>
            <a:r>
              <a:rPr lang="en-US" sz="2800" kern="0" dirty="0">
                <a:solidFill>
                  <a:srgbClr val="000000"/>
                </a:solidFill>
                <a:latin typeface="Arial"/>
                <a:ea typeface="MS PGothic" pitchFamily="34" charset="-128"/>
              </a:rPr>
              <a:t>The mammalian P450s involved in the oxidation of foreign compounds are designated CYP1, CYP2, CYP3, and CYP4. </a:t>
            </a:r>
          </a:p>
          <a:p>
            <a:pPr marL="457200" indent="-457200" algn="just">
              <a:buFont typeface="Wingdings" panose="05000000000000000000" pitchFamily="2" charset="2"/>
              <a:buChar char="Ø"/>
            </a:pPr>
            <a:endParaRPr lang="en-US" sz="2800" kern="0" dirty="0">
              <a:solidFill>
                <a:srgbClr val="000000"/>
              </a:solidFill>
              <a:latin typeface="Arial"/>
              <a:ea typeface="MS PGothic" pitchFamily="34" charset="-128"/>
            </a:endParaRPr>
          </a:p>
          <a:p>
            <a:pPr marL="457200" indent="-457200" algn="just">
              <a:buFont typeface="Wingdings" panose="05000000000000000000" pitchFamily="2" charset="2"/>
              <a:buChar char="Ø"/>
            </a:pPr>
            <a:r>
              <a:rPr lang="en-US" sz="2800" kern="0" dirty="0">
                <a:solidFill>
                  <a:srgbClr val="000000"/>
                </a:solidFill>
                <a:latin typeface="Arial"/>
                <a:ea typeface="MS PGothic" pitchFamily="34" charset="-128"/>
              </a:rPr>
              <a:t>More than 20 different human CYP isoforms have been characterized. </a:t>
            </a:r>
          </a:p>
          <a:p>
            <a:pPr algn="just"/>
            <a:endParaRPr lang="en-US" sz="2800" kern="0" dirty="0">
              <a:solidFill>
                <a:srgbClr val="000000"/>
              </a:solidFill>
              <a:latin typeface="Arial"/>
              <a:ea typeface="MS PGothic" pitchFamily="34" charset="-128"/>
            </a:endParaRP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738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28">
            <a:extLst>
              <a:ext uri="{FF2B5EF4-FFF2-40B4-BE49-F238E27FC236}">
                <a16:creationId xmlns:a16="http://schemas.microsoft.com/office/drawing/2014/main" id="{7230C3BF-B1F4-9E4F-8BAB-8615F4AF6100}"/>
              </a:ext>
            </a:extLst>
          </p:cNvPr>
          <p:cNvGraphicFramePr>
            <a:graphicFrameLocks/>
          </p:cNvGraphicFramePr>
          <p:nvPr>
            <p:extLst>
              <p:ext uri="{D42A27DB-BD31-4B8C-83A1-F6EECF244321}">
                <p14:modId xmlns:p14="http://schemas.microsoft.com/office/powerpoint/2010/main" val="681305302"/>
              </p:ext>
            </p:extLst>
          </p:nvPr>
        </p:nvGraphicFramePr>
        <p:xfrm>
          <a:off x="228600" y="455613"/>
          <a:ext cx="8686800" cy="5812501"/>
        </p:xfrm>
        <a:graphic>
          <a:graphicData uri="http://schemas.openxmlformats.org/drawingml/2006/table">
            <a:tbl>
              <a:tblPr/>
              <a:tblGrid>
                <a:gridCol w="24384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89601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1" i="0" u="none" strike="noStrike" cap="none" normalizeH="0" baseline="0" dirty="0">
                          <a:ln>
                            <a:noFill/>
                          </a:ln>
                          <a:solidFill>
                            <a:srgbClr val="00B050"/>
                          </a:solidFill>
                          <a:effectLst/>
                          <a:latin typeface="Arial" charset="0"/>
                        </a:rPr>
                        <a:t>P</a:t>
                      </a:r>
                      <a:r>
                        <a:rPr kumimoji="0" lang="en-US" sz="2400" b="1" i="0" u="none" strike="noStrike" cap="none" normalizeH="0" baseline="-25000" dirty="0">
                          <a:ln>
                            <a:noFill/>
                          </a:ln>
                          <a:solidFill>
                            <a:srgbClr val="00B050"/>
                          </a:solidFill>
                          <a:effectLst/>
                          <a:latin typeface="Arial" charset="0"/>
                        </a:rPr>
                        <a:t>450</a:t>
                      </a:r>
                      <a:r>
                        <a:rPr kumimoji="0" lang="en-US" sz="2400" b="1" i="0" u="none" strike="noStrike" cap="none" normalizeH="0" baseline="-25000" dirty="0">
                          <a:ln>
                            <a:noFill/>
                          </a:ln>
                          <a:solidFill>
                            <a:schemeClr val="tx1"/>
                          </a:solidFill>
                          <a:effectLst/>
                          <a:latin typeface="Arial" charset="0"/>
                        </a:rPr>
                        <a:t> </a:t>
                      </a:r>
                      <a:r>
                        <a:rPr kumimoji="0" lang="en-US" sz="2400" b="1" i="0" u="none" strike="noStrike" cap="none" normalizeH="0" baseline="0" dirty="0">
                          <a:ln>
                            <a:noFill/>
                          </a:ln>
                          <a:solidFill>
                            <a:schemeClr val="tx1"/>
                          </a:solidFill>
                          <a:effectLst/>
                          <a:latin typeface="Arial" charset="0"/>
                        </a:rPr>
                        <a:t> </a:t>
                      </a:r>
                      <a:r>
                        <a:rPr lang="en-US" sz="2800" b="1" kern="1200" dirty="0" err="1">
                          <a:solidFill>
                            <a:srgbClr val="00B050"/>
                          </a:solidFill>
                          <a:latin typeface="Arial"/>
                          <a:ea typeface="MS PGothic" pitchFamily="34" charset="-128"/>
                          <a:cs typeface="+mj-cs"/>
                        </a:rPr>
                        <a:t>iso-zyme</a:t>
                      </a:r>
                      <a:endParaRPr lang="en-US" sz="2800" b="1" kern="1200" dirty="0">
                        <a:solidFill>
                          <a:srgbClr val="00B050"/>
                        </a:solidFill>
                        <a:latin typeface="Arial"/>
                        <a:ea typeface="MS PGothic" pitchFamily="34" charset="-128"/>
                        <a:cs typeface="+mj-cs"/>
                      </a:endParaRPr>
                    </a:p>
                  </a:txBody>
                  <a:tcPr marT="45674" marB="45674" horzOverflow="overflow">
                    <a:lnL w="12700" cap="flat" cmpd="sng" algn="ctr">
                      <a:solidFill>
                        <a:schemeClr val="tx1"/>
                      </a:solidFill>
                      <a:prstDash val="sysDot"/>
                      <a:round/>
                      <a:headEnd type="none" w="med" len="med"/>
                      <a:tailEnd type="none" w="med" len="med"/>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lang="en-US" sz="2800" b="1" kern="1200" dirty="0">
                          <a:solidFill>
                            <a:srgbClr val="00B050"/>
                          </a:solidFill>
                          <a:latin typeface="Arial"/>
                          <a:ea typeface="MS PGothic" pitchFamily="34" charset="-128"/>
                          <a:cs typeface="+mj-cs"/>
                        </a:rPr>
                        <a:t>Drug(s</a:t>
                      </a:r>
                      <a:r>
                        <a:rPr kumimoji="0" lang="en-US" sz="2400" b="1" i="0" u="none" strike="noStrike" cap="none" normalizeH="0" baseline="0" dirty="0">
                          <a:ln>
                            <a:noFill/>
                          </a:ln>
                          <a:solidFill>
                            <a:schemeClr val="tx1"/>
                          </a:solidFill>
                          <a:effectLst/>
                          <a:latin typeface="Arial" charset="0"/>
                        </a:rPr>
                        <a:t>) </a:t>
                      </a:r>
                      <a:r>
                        <a:rPr lang="en-US" sz="2800" b="1" kern="1200" dirty="0">
                          <a:solidFill>
                            <a:srgbClr val="00B050"/>
                          </a:solidFill>
                          <a:latin typeface="Arial"/>
                          <a:ea typeface="MS PGothic" pitchFamily="34" charset="-128"/>
                          <a:cs typeface="+mj-cs"/>
                        </a:rPr>
                        <a:t>or</a:t>
                      </a:r>
                      <a:r>
                        <a:rPr kumimoji="0" lang="en-US" sz="2400" b="1" i="0" u="none" strike="noStrike" cap="none" normalizeH="0" baseline="0" dirty="0">
                          <a:ln>
                            <a:noFill/>
                          </a:ln>
                          <a:solidFill>
                            <a:schemeClr val="tx1"/>
                          </a:solidFill>
                          <a:effectLst/>
                          <a:latin typeface="Arial" charset="0"/>
                        </a:rPr>
                        <a:t> </a:t>
                      </a:r>
                      <a:r>
                        <a:rPr lang="en-US" sz="2800" b="1" kern="1200" dirty="0">
                          <a:solidFill>
                            <a:srgbClr val="00B050"/>
                          </a:solidFill>
                          <a:latin typeface="Arial"/>
                          <a:ea typeface="MS PGothic" pitchFamily="34" charset="-128"/>
                          <a:cs typeface="+mj-cs"/>
                        </a:rPr>
                        <a:t>substrate(s</a:t>
                      </a:r>
                      <a:r>
                        <a:rPr kumimoji="0" lang="en-US" sz="2400" b="1" i="0" u="none" strike="noStrike" cap="none" normalizeH="0" baseline="0" dirty="0">
                          <a:ln>
                            <a:noFill/>
                          </a:ln>
                          <a:solidFill>
                            <a:schemeClr val="tx1"/>
                          </a:solidFill>
                          <a:effectLst/>
                          <a:latin typeface="Arial" charset="0"/>
                        </a:rPr>
                        <a:t>)</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1" i="0" u="none" strike="noStrike" cap="none" normalizeH="0" baseline="0" dirty="0">
                        <a:ln>
                          <a:noFill/>
                        </a:ln>
                        <a:solidFill>
                          <a:schemeClr val="tx1"/>
                        </a:solidFill>
                        <a:effectLst/>
                        <a:latin typeface="Arial" charset="0"/>
                      </a:endParaRPr>
                    </a:p>
                  </a:txBody>
                  <a:tcPr marT="45674" marB="45674"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8496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a:ln>
                            <a:noFill/>
                          </a:ln>
                          <a:solidFill>
                            <a:schemeClr val="tx1"/>
                          </a:solidFill>
                          <a:effectLst/>
                          <a:latin typeface="Arial" charset="0"/>
                        </a:rPr>
                        <a:t>Cyp 1A1</a:t>
                      </a:r>
                    </a:p>
                  </a:txBody>
                  <a:tcPr marT="45674" marB="45674" horzOverflow="overflow">
                    <a:lnL w="12700" cap="flat" cmpd="sng" algn="ctr">
                      <a:solidFill>
                        <a:schemeClr val="tx1"/>
                      </a:solidFill>
                      <a:prstDash val="sysDot"/>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a:ln>
                            <a:noFill/>
                          </a:ln>
                          <a:solidFill>
                            <a:schemeClr val="tx1"/>
                          </a:solidFill>
                          <a:effectLst/>
                          <a:latin typeface="Arial" charset="0"/>
                        </a:rPr>
                        <a:t>Theophylline</a:t>
                      </a:r>
                    </a:p>
                  </a:txBody>
                  <a:tcPr marT="45674" marB="4567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1334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err="1">
                          <a:ln>
                            <a:noFill/>
                          </a:ln>
                          <a:solidFill>
                            <a:schemeClr val="tx1"/>
                          </a:solidFill>
                          <a:effectLst/>
                          <a:latin typeface="Arial" charset="0"/>
                        </a:rPr>
                        <a:t>Cyp</a:t>
                      </a:r>
                      <a:r>
                        <a:rPr kumimoji="0" lang="en-US" sz="2400" b="0" i="0" u="none" strike="noStrike" cap="none" normalizeH="0" baseline="0" dirty="0">
                          <a:ln>
                            <a:noFill/>
                          </a:ln>
                          <a:solidFill>
                            <a:schemeClr val="tx1"/>
                          </a:solidFill>
                          <a:effectLst/>
                          <a:latin typeface="Arial" charset="0"/>
                        </a:rPr>
                        <a:t> 1A2</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err="1">
                          <a:ln>
                            <a:noFill/>
                          </a:ln>
                          <a:solidFill>
                            <a:schemeClr val="tx1"/>
                          </a:solidFill>
                          <a:effectLst/>
                          <a:latin typeface="Arial" charset="0"/>
                        </a:rPr>
                        <a:t>Cyp</a:t>
                      </a:r>
                      <a:r>
                        <a:rPr kumimoji="0" lang="en-US" sz="2400" b="0" i="0" u="none" strike="noStrike" cap="none" normalizeH="0" baseline="0" dirty="0">
                          <a:ln>
                            <a:noFill/>
                          </a:ln>
                          <a:solidFill>
                            <a:schemeClr val="tx1"/>
                          </a:solidFill>
                          <a:effectLst/>
                          <a:latin typeface="Arial" charset="0"/>
                        </a:rPr>
                        <a:t> 3A4</a:t>
                      </a:r>
                    </a:p>
                  </a:txBody>
                  <a:tcPr marT="45674" marB="45674" horzOverflow="overflow">
                    <a:lnL w="12700" cap="flat" cmpd="sng" algn="ctr">
                      <a:solidFill>
                        <a:schemeClr val="tx1"/>
                      </a:solidFill>
                      <a:prstDash val="sysDot"/>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Caffeine, </a:t>
                      </a:r>
                      <a:r>
                        <a:rPr kumimoji="0" lang="en-US" sz="2400" b="0" i="0" u="none" strike="noStrike" cap="none" normalizeH="0" baseline="0" dirty="0" err="1">
                          <a:ln>
                            <a:noFill/>
                          </a:ln>
                          <a:solidFill>
                            <a:schemeClr val="tx1"/>
                          </a:solidFill>
                          <a:effectLst/>
                          <a:latin typeface="Arial" charset="0"/>
                        </a:rPr>
                        <a:t>P’mol</a:t>
                      </a:r>
                      <a:r>
                        <a:rPr kumimoji="0" lang="en-US" sz="2400" b="0" i="0" u="none" strike="noStrike" cap="none" normalizeH="0" baseline="0" dirty="0">
                          <a:ln>
                            <a:noFill/>
                          </a:ln>
                          <a:solidFill>
                            <a:schemeClr val="tx1"/>
                          </a:solidFill>
                          <a:effectLst/>
                          <a:latin typeface="Arial" charset="0"/>
                        </a:rPr>
                        <a:t>, Theophylline, </a:t>
                      </a:r>
                      <a:r>
                        <a:rPr kumimoji="0" lang="en-US" sz="2400" b="0" i="0" u="none" strike="noStrike" cap="none" normalizeH="0" baseline="0" dirty="0" err="1">
                          <a:ln>
                            <a:noFill/>
                          </a:ln>
                          <a:solidFill>
                            <a:schemeClr val="tx1"/>
                          </a:solidFill>
                          <a:effectLst/>
                          <a:latin typeface="Arial" charset="0"/>
                        </a:rPr>
                        <a:t>ondansetron</a:t>
                      </a:r>
                      <a:r>
                        <a:rPr kumimoji="0" lang="en-US" sz="2400" b="0" i="0" u="none" strike="noStrike" cap="none" normalizeH="0" baseline="0" dirty="0">
                          <a:ln>
                            <a:noFill/>
                          </a:ln>
                          <a:solidFill>
                            <a:schemeClr val="tx1"/>
                          </a:solidFill>
                          <a:effectLst/>
                          <a:latin typeface="Arial" charset="0"/>
                        </a:rPr>
                        <a:t>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Erythromycin, midazolam, </a:t>
                      </a:r>
                      <a:r>
                        <a:rPr kumimoji="0" lang="en-US" sz="2400" b="0" i="0" u="none" strike="noStrike" cap="none" normalizeH="0" baseline="0" dirty="0" err="1">
                          <a:ln>
                            <a:noFill/>
                          </a:ln>
                          <a:solidFill>
                            <a:schemeClr val="tx1"/>
                          </a:solidFill>
                          <a:effectLst/>
                          <a:latin typeface="Arial" charset="0"/>
                        </a:rPr>
                        <a:t>nifedipine</a:t>
                      </a:r>
                      <a:r>
                        <a:rPr kumimoji="0" lang="en-US" sz="2400" b="0" i="0" u="none" strike="noStrike" cap="none" normalizeH="0" baseline="0" dirty="0">
                          <a:ln>
                            <a:noFill/>
                          </a:ln>
                          <a:solidFill>
                            <a:schemeClr val="tx1"/>
                          </a:solidFill>
                          <a:effectLst/>
                          <a:latin typeface="Arial" charset="0"/>
                        </a:rPr>
                        <a:t>, </a:t>
                      </a:r>
                    </a:p>
                  </a:txBody>
                  <a:tcPr marT="45674" marB="4567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89601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Cyp2C9</a:t>
                      </a:r>
                    </a:p>
                  </a:txBody>
                  <a:tcPr marT="45674" marB="45674" horzOverflow="overflow">
                    <a:lnL w="12700" cap="flat" cmpd="sng" algn="ctr">
                      <a:solidFill>
                        <a:schemeClr val="tx1"/>
                      </a:solidFill>
                      <a:prstDash val="sysDot"/>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Warfarin, </a:t>
                      </a:r>
                      <a:r>
                        <a:rPr kumimoji="0" lang="en-US" sz="2400" b="0" i="0" u="none" strike="noStrike" cap="none" normalizeH="0" baseline="0" dirty="0" err="1">
                          <a:ln>
                            <a:noFill/>
                          </a:ln>
                          <a:solidFill>
                            <a:schemeClr val="tx1"/>
                          </a:solidFill>
                          <a:effectLst/>
                          <a:latin typeface="Arial" charset="0"/>
                        </a:rPr>
                        <a:t>Tolbutamide</a:t>
                      </a:r>
                      <a:r>
                        <a:rPr kumimoji="0" lang="en-US" sz="2400" b="0" i="0" u="none" strike="noStrike" cap="none" normalizeH="0" baseline="0" dirty="0">
                          <a:ln>
                            <a:noFill/>
                          </a:ln>
                          <a:solidFill>
                            <a:schemeClr val="tx1"/>
                          </a:solidFill>
                          <a:effectLst/>
                          <a:latin typeface="Arial" charset="0"/>
                        </a:rPr>
                        <a:t>, Ibuprofen, Phenytoin</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marT="45674" marB="45674"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13959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Cyp2D6</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a:ln>
                            <a:noFill/>
                          </a:ln>
                          <a:solidFill>
                            <a:schemeClr val="tx1"/>
                          </a:solidFill>
                          <a:effectLst/>
                          <a:latin typeface="Arial" charset="0"/>
                        </a:rPr>
                        <a:t>Cyp</a:t>
                      </a:r>
                      <a:r>
                        <a:rPr kumimoji="0" lang="en-US" sz="2400" b="0" i="0" u="none" strike="noStrike" cap="none" normalizeH="0" baseline="0" dirty="0">
                          <a:ln>
                            <a:noFill/>
                          </a:ln>
                          <a:solidFill>
                            <a:schemeClr val="tx1"/>
                          </a:solidFill>
                          <a:effectLst/>
                          <a:latin typeface="Arial" charset="0"/>
                        </a:rPr>
                        <a:t> 2E1</a:t>
                      </a:r>
                    </a:p>
                  </a:txBody>
                  <a:tcPr marT="45674" marB="45674" horzOverflow="overflow">
                    <a:lnL w="12700" cap="flat" cmpd="sng" algn="ctr">
                      <a:solidFill>
                        <a:schemeClr val="tx1"/>
                      </a:solidFill>
                      <a:prstDash val="sysDot"/>
                      <a:round/>
                      <a:headEnd type="none" w="med" len="med"/>
                      <a:tailEnd type="none" w="med" len="med"/>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err="1">
                          <a:ln>
                            <a:noFill/>
                          </a:ln>
                          <a:solidFill>
                            <a:schemeClr val="tx1"/>
                          </a:solidFill>
                          <a:effectLst/>
                          <a:latin typeface="Arial" charset="0"/>
                        </a:rPr>
                        <a:t>Debrisoquine</a:t>
                      </a:r>
                      <a:r>
                        <a:rPr kumimoji="0" lang="en-US" sz="2400" b="0" i="0" u="none" strike="noStrike" cap="none" normalizeH="0" baseline="0" dirty="0">
                          <a:ln>
                            <a:noFill/>
                          </a:ln>
                          <a:solidFill>
                            <a:schemeClr val="tx1"/>
                          </a:solidFill>
                          <a:effectLst/>
                          <a:latin typeface="Arial" charset="0"/>
                        </a:rPr>
                        <a:t>, Codeine   </a:t>
                      </a:r>
                      <a:r>
                        <a:rPr kumimoji="0" lang="en-US" sz="2400" b="0" i="0" u="none" strike="noStrike" cap="none" normalizeH="0" baseline="0" dirty="0" err="1">
                          <a:ln>
                            <a:noFill/>
                          </a:ln>
                          <a:solidFill>
                            <a:schemeClr val="tx1"/>
                          </a:solidFill>
                          <a:effectLst/>
                          <a:latin typeface="Arial" charset="0"/>
                        </a:rPr>
                        <a:t>Metoprolol</a:t>
                      </a:r>
                      <a:r>
                        <a:rPr kumimoji="0" lang="en-US" sz="2400" b="0" i="0" u="none" strike="noStrike" cap="none" normalizeH="0" baseline="0" dirty="0">
                          <a:ln>
                            <a:noFill/>
                          </a:ln>
                          <a:solidFill>
                            <a:schemeClr val="tx1"/>
                          </a:solidFill>
                          <a:effectLst/>
                          <a:latin typeface="Arial" charset="0"/>
                        </a:rPr>
                        <a:t>, </a:t>
                      </a:r>
                      <a:r>
                        <a:rPr kumimoji="0" lang="en-US" sz="2400" b="0" i="0" u="none" strike="noStrike" cap="none" normalizeH="0" baseline="0" dirty="0" err="1">
                          <a:ln>
                            <a:noFill/>
                          </a:ln>
                          <a:solidFill>
                            <a:schemeClr val="tx1"/>
                          </a:solidFill>
                          <a:effectLst/>
                          <a:latin typeface="Arial" charset="0"/>
                        </a:rPr>
                        <a:t>nortryptyline</a:t>
                      </a:r>
                      <a:endParaRPr kumimoji="0" lang="en-US" sz="2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Alcohol, Halothane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marT="45674" marB="45674"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217206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0149"/>
          </a:xfrm>
        </p:spPr>
        <p:txBody>
          <a:bodyPr/>
          <a:lstStyle/>
          <a:p>
            <a:r>
              <a:rPr lang="en-US" sz="2800" b="1" dirty="0">
                <a:solidFill>
                  <a:srgbClr val="00B050"/>
                </a:solidFill>
                <a:latin typeface="Arial"/>
                <a:ea typeface="MS PGothic" pitchFamily="34" charset="-128"/>
              </a:rPr>
              <a:t>Hydrolysis</a:t>
            </a:r>
            <a:r>
              <a:rPr lang="en-US" dirty="0"/>
              <a:t> </a:t>
            </a:r>
            <a:r>
              <a:rPr lang="en-US" sz="2800" b="1" dirty="0">
                <a:solidFill>
                  <a:srgbClr val="00B050"/>
                </a:solidFill>
                <a:latin typeface="Arial"/>
                <a:ea typeface="MS PGothic" pitchFamily="34" charset="-128"/>
              </a:rPr>
              <a:t>reactions</a:t>
            </a:r>
          </a:p>
        </p:txBody>
      </p:sp>
      <p:sp>
        <p:nvSpPr>
          <p:cNvPr id="3" name="Rectangle 3"/>
          <p:cNvSpPr txBox="1">
            <a:spLocks noChangeArrowheads="1"/>
          </p:cNvSpPr>
          <p:nvPr/>
        </p:nvSpPr>
        <p:spPr bwMode="auto">
          <a:xfrm>
            <a:off x="457200" y="1232598"/>
            <a:ext cx="8382000" cy="435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marR="0" lvl="0" indent="0" algn="just"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800" b="0" i="0" u="none" strike="noStrike" kern="0" cap="none" spc="0" normalizeH="0" baseline="0" noProof="0" dirty="0" err="1">
                <a:ln>
                  <a:noFill/>
                </a:ln>
                <a:solidFill>
                  <a:srgbClr val="000000"/>
                </a:solidFill>
                <a:effectLst/>
                <a:uLnTx/>
                <a:uFillTx/>
                <a:latin typeface="Arial"/>
                <a:ea typeface="MS PGothic" pitchFamily="34" charset="-128"/>
                <a:cs typeface="+mn-cs"/>
              </a:rPr>
              <a:t>Esterases</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 catalyze hydrolytic conversions of any many drugs. Examples include:</a:t>
            </a:r>
          </a:p>
          <a:p>
            <a:pPr marL="790575" marR="0" lvl="1"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Cleavage of </a:t>
            </a:r>
            <a:r>
              <a:rPr kumimoji="0" lang="en-US" altLang="en-US" sz="2800" b="0" i="0" u="none" strike="noStrike" kern="0" cap="none" spc="0" normalizeH="0" baseline="0" noProof="0" dirty="0" err="1">
                <a:ln>
                  <a:noFill/>
                </a:ln>
                <a:solidFill>
                  <a:srgbClr val="000000"/>
                </a:solidFill>
                <a:effectLst/>
                <a:uLnTx/>
                <a:uFillTx/>
                <a:latin typeface="Arial"/>
                <a:ea typeface="MS PGothic" pitchFamily="34" charset="-128"/>
              </a:rPr>
              <a:t>suxamethonium</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 by plasma cholinesterase.</a:t>
            </a:r>
          </a:p>
          <a:p>
            <a:pPr marL="790575" marR="0" lvl="1" indent="-314325" algn="just" defTabSz="914400" rtl="0" eaLnBrk="1" fontAlgn="base" latinLnBrk="0" hangingPunct="1">
              <a:lnSpc>
                <a:spcPct val="100000"/>
              </a:lnSpc>
              <a:spcBef>
                <a:spcPct val="20000"/>
              </a:spcBef>
              <a:spcAft>
                <a:spcPct val="0"/>
              </a:spcAft>
              <a:buClrTx/>
              <a:buSzTx/>
              <a:buFontTx/>
              <a:buBlip>
                <a:blip r:embed="rId3"/>
              </a:buBlip>
              <a:tabLst/>
              <a:defRPr/>
            </a:pPr>
            <a:r>
              <a:rPr lang="en-US" altLang="en-US" sz="2800" kern="0" dirty="0">
                <a:solidFill>
                  <a:srgbClr val="000000"/>
                </a:solidFill>
                <a:latin typeface="Arial"/>
              </a:rPr>
              <a:t>Hydrolysis of aspirin (acetylsalicylic acid) to salicylate </a:t>
            </a:r>
          </a:p>
          <a:p>
            <a:pPr marL="790575" marR="0" lvl="1" indent="-314325" algn="just"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rPr>
              <a:t>Hydrolysis</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rPr>
              <a:t> of </a:t>
            </a:r>
            <a:r>
              <a:rPr kumimoji="0" lang="en-US" altLang="en-US" sz="2800" b="0" i="0" u="none" strike="noStrike" kern="0" cap="none" spc="0" normalizeH="0" noProof="0" dirty="0" err="1">
                <a:ln>
                  <a:noFill/>
                </a:ln>
                <a:solidFill>
                  <a:srgbClr val="000000"/>
                </a:solidFill>
                <a:effectLst/>
                <a:uLnTx/>
                <a:uFillTx/>
                <a:latin typeface="Arial"/>
                <a:ea typeface="MS PGothic" pitchFamily="34" charset="-128"/>
              </a:rPr>
              <a:t>enalapril</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rPr>
              <a:t> to </a:t>
            </a:r>
            <a:r>
              <a:rPr kumimoji="0" lang="en-US" altLang="en-US" sz="2800" b="0" i="0" u="none" strike="noStrike" kern="0" cap="none" spc="0" normalizeH="0" noProof="0" dirty="0" err="1">
                <a:ln>
                  <a:noFill/>
                </a:ln>
                <a:solidFill>
                  <a:srgbClr val="000000"/>
                </a:solidFill>
                <a:effectLst/>
                <a:uLnTx/>
                <a:uFillTx/>
                <a:latin typeface="Arial"/>
                <a:ea typeface="MS PGothic" pitchFamily="34" charset="-128"/>
              </a:rPr>
              <a:t>enalaprilat</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rPr>
              <a:t> </a:t>
            </a:r>
          </a:p>
          <a:p>
            <a:pPr marL="476250" marR="0" lvl="1" indent="0" algn="just" defTabSz="914400" rtl="0" eaLnBrk="1" fontAlgn="base" latinLnBrk="0" hangingPunct="1">
              <a:lnSpc>
                <a:spcPct val="100000"/>
              </a:lnSpc>
              <a:spcBef>
                <a:spcPct val="20000"/>
              </a:spcBef>
              <a:spcAft>
                <a:spcPct val="0"/>
              </a:spcAft>
              <a:buClrTx/>
              <a:buSz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endParaRPr>
          </a:p>
        </p:txBody>
      </p:sp>
    </p:spTree>
    <p:extLst>
      <p:ext uri="{BB962C8B-B14F-4D97-AF65-F5344CB8AC3E}">
        <p14:creationId xmlns:p14="http://schemas.microsoft.com/office/powerpoint/2010/main" val="31783726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16">
            <a:extLst>
              <a:ext uri="{FF2B5EF4-FFF2-40B4-BE49-F238E27FC236}">
                <a16:creationId xmlns:a16="http://schemas.microsoft.com/office/drawing/2014/main" id="{7C08B979-54E3-EF4B-B26D-AFB4306489C5}"/>
              </a:ext>
            </a:extLst>
          </p:cNvPr>
          <p:cNvGraphicFramePr>
            <a:graphicFrameLocks/>
          </p:cNvGraphicFramePr>
          <p:nvPr/>
        </p:nvGraphicFramePr>
        <p:xfrm>
          <a:off x="304800" y="846138"/>
          <a:ext cx="8534400" cy="5049838"/>
        </p:xfrm>
        <a:graphic>
          <a:graphicData uri="http://schemas.openxmlformats.org/drawingml/2006/table">
            <a:tbl>
              <a:tblPr/>
              <a:tblGrid>
                <a:gridCol w="28956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66044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600" b="1" i="0" u="none" strike="noStrike" cap="none" normalizeH="0" baseline="0" noProof="1">
                          <a:ln>
                            <a:noFill/>
                          </a:ln>
                          <a:solidFill>
                            <a:srgbClr val="990099"/>
                          </a:solidFill>
                          <a:effectLst/>
                          <a:latin typeface="Arial" charset="0"/>
                        </a:rPr>
                        <a:t>TERM</a:t>
                      </a:r>
                      <a:endParaRPr kumimoji="0" lang="en-US" sz="2600" b="1" i="0" u="none" strike="noStrike" cap="none" normalizeH="0" baseline="0" dirty="0">
                        <a:ln>
                          <a:noFill/>
                        </a:ln>
                        <a:solidFill>
                          <a:srgbClr val="990099"/>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600" b="1" i="0" u="none" strike="noStrike" cap="none" normalizeH="0" baseline="0" noProof="1">
                          <a:ln>
                            <a:noFill/>
                          </a:ln>
                          <a:solidFill>
                            <a:srgbClr val="990099"/>
                          </a:solidFill>
                          <a:effectLst/>
                          <a:latin typeface="Arial" charset="0"/>
                        </a:rPr>
                        <a:t>DEFINITION</a:t>
                      </a:r>
                      <a:endParaRPr kumimoji="0" lang="en-US" sz="2600" b="0" i="0" u="none" strike="noStrike" cap="none" normalizeH="0" baseline="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6639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3200" b="1" i="0" u="none" strike="noStrike" cap="none" normalizeH="0" baseline="0" noProof="1">
                          <a:ln>
                            <a:noFill/>
                          </a:ln>
                          <a:solidFill>
                            <a:srgbClr val="FF6600"/>
                          </a:solidFill>
                          <a:effectLst/>
                          <a:latin typeface="Arial" charset="0"/>
                        </a:rPr>
                        <a:t>Phase I</a:t>
                      </a:r>
                      <a:r>
                        <a:rPr kumimoji="0" lang="en-US" sz="3200" b="1" i="0" u="none" strike="noStrike" cap="none" normalizeH="0" baseline="0" dirty="0">
                          <a:ln>
                            <a:noFill/>
                          </a:ln>
                          <a:solidFill>
                            <a:srgbClr val="FF6600"/>
                          </a:solidFill>
                          <a:effectLst/>
                          <a:latin typeface="Arial" charset="0"/>
                        </a:rPr>
                        <a:t> </a:t>
                      </a:r>
                      <a:r>
                        <a:rPr kumimoji="0" lang="en-US" sz="3200" b="1" i="0" u="none" strike="noStrike" cap="none" normalizeH="0" baseline="0" dirty="0" err="1">
                          <a:ln>
                            <a:noFill/>
                          </a:ln>
                          <a:solidFill>
                            <a:srgbClr val="FF6600"/>
                          </a:solidFill>
                          <a:effectLst/>
                          <a:latin typeface="Arial" charset="0"/>
                        </a:rPr>
                        <a:t>Rxns</a:t>
                      </a:r>
                      <a:endParaRPr kumimoji="0" lang="en-US" sz="3200" b="1" i="0" u="none" strike="noStrike" cap="none" normalizeH="0" baseline="0" dirty="0">
                        <a:ln>
                          <a:noFill/>
                        </a:ln>
                        <a:solidFill>
                          <a:srgbClr val="FF6600"/>
                        </a:solidFill>
                        <a:effectLst/>
                        <a:latin typeface="Arial"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that convert the parent drug to a more polar</a:t>
                      </a:r>
                      <a:r>
                        <a:rPr kumimoji="0" lang="en-US" sz="2000" b="0" i="0" u="none" strike="noStrike" cap="none" normalizeH="0" baseline="0" dirty="0">
                          <a:ln>
                            <a:noFill/>
                          </a:ln>
                          <a:solidFill>
                            <a:schemeClr val="tx1"/>
                          </a:solidFill>
                          <a:effectLst/>
                          <a:latin typeface="Arial" charset="0"/>
                        </a:rPr>
                        <a:t> </a:t>
                      </a:r>
                      <a:r>
                        <a:rPr kumimoji="0" lang="en-US" sz="2000" b="0" i="0" u="none" strike="noStrike" cap="none" normalizeH="0" baseline="0" noProof="1">
                          <a:ln>
                            <a:noFill/>
                          </a:ln>
                          <a:solidFill>
                            <a:schemeClr val="tx1"/>
                          </a:solidFill>
                          <a:effectLst/>
                          <a:latin typeface="Arial" charset="0"/>
                        </a:rPr>
                        <a:t>(water-soluble), or a more reactive product</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by unmasking or inserting polar functional group as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                     OH, SH,NH</a:t>
                      </a:r>
                      <a:r>
                        <a:rPr kumimoji="0" lang="en-US" sz="2000" b="0" i="0" u="none" strike="noStrike" cap="none" normalizeH="0" baseline="-25000" noProof="1">
                          <a:ln>
                            <a:noFill/>
                          </a:ln>
                          <a:solidFill>
                            <a:schemeClr val="tx1"/>
                          </a:solidFill>
                          <a:effectLst/>
                          <a:latin typeface="Arial" charset="0"/>
                        </a:rPr>
                        <a:t>2</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sng" strike="noStrike" cap="none" normalizeH="0" baseline="0" noProof="1">
                          <a:ln>
                            <a:noFill/>
                          </a:ln>
                          <a:solidFill>
                            <a:schemeClr val="tx1"/>
                          </a:solidFill>
                          <a:effectLst/>
                          <a:latin typeface="Arial" charset="0"/>
                        </a:rPr>
                        <a:t>more polar, less active:</a:t>
                      </a:r>
                      <a:endParaRPr kumimoji="0" lang="en-US" sz="2000" b="0" i="0" u="none" strike="noStrike" cap="none" normalizeH="0" baseline="0" noProof="1">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 deamination: diazepam -- nordiazepam</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  hydroxylation: phenytoin</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  </a:t>
                      </a:r>
                      <a:r>
                        <a:rPr kumimoji="0" lang="en-US" sz="2000" b="0" i="0" u="sng" strike="noStrike" cap="none" normalizeH="0" baseline="0" noProof="1">
                          <a:ln>
                            <a:noFill/>
                          </a:ln>
                          <a:solidFill>
                            <a:schemeClr val="tx1"/>
                          </a:solidFill>
                          <a:effectLst/>
                          <a:latin typeface="Arial" charset="0"/>
                        </a:rPr>
                        <a:t>activated:</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000" b="0" i="0" u="none" strike="noStrike" cap="none" normalizeH="0" baseline="0" noProof="1">
                          <a:ln>
                            <a:noFill/>
                          </a:ln>
                          <a:solidFill>
                            <a:schemeClr val="tx1"/>
                          </a:solidFill>
                          <a:effectLst/>
                          <a:latin typeface="Arial" charset="0"/>
                        </a:rPr>
                        <a:t> O-dealkylation: codeine--morphine</a:t>
                      </a:r>
                      <a:endParaRPr kumimoji="0" lang="en-US" sz="2000" b="0" i="0" u="none" strike="noStrike" cap="none" normalizeH="0" baseline="0" dirty="0">
                        <a:ln>
                          <a:noFill/>
                        </a:ln>
                        <a:solidFill>
                          <a:schemeClr val="tx1"/>
                        </a:solidFill>
                        <a:effectLst/>
                        <a:latin typeface="Arial"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3000">
                <a:tc gridSpan="2">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The phase 1 metabolites are usually more reactive and sometimes  more toxic than the parent compound.</a:t>
                      </a:r>
                    </a:p>
                  </a:txBody>
                  <a:tcPr marT="45714" marB="4571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4" name="Title 1">
            <a:extLst>
              <a:ext uri="{FF2B5EF4-FFF2-40B4-BE49-F238E27FC236}">
                <a16:creationId xmlns:a16="http://schemas.microsoft.com/office/drawing/2014/main" id="{7457765C-6896-F046-B825-1EB13C1FBD68}"/>
              </a:ext>
            </a:extLst>
          </p:cNvPr>
          <p:cNvSpPr>
            <a:spLocks noGrp="1"/>
          </p:cNvSpPr>
          <p:nvPr>
            <p:ph type="title"/>
          </p:nvPr>
        </p:nvSpPr>
        <p:spPr>
          <a:xfrm>
            <a:off x="457200" y="118521"/>
            <a:ext cx="8229600" cy="571500"/>
          </a:xfrm>
        </p:spPr>
        <p:txBody>
          <a:bodyPr/>
          <a:lstStyle/>
          <a:p>
            <a:r>
              <a:rPr lang="en-US" sz="2800" b="1" dirty="0">
                <a:solidFill>
                  <a:srgbClr val="00B050"/>
                </a:solidFill>
                <a:latin typeface="Arial"/>
                <a:ea typeface="MS PGothic" pitchFamily="34" charset="-128"/>
              </a:rPr>
              <a:t>DRUG METABOLISM: PHASE</a:t>
            </a:r>
            <a:r>
              <a:rPr lang="en-US" sz="3600" b="1" dirty="0">
                <a:solidFill>
                  <a:srgbClr val="00B050"/>
                </a:solidFill>
              </a:rPr>
              <a:t> 1 </a:t>
            </a:r>
            <a:r>
              <a:rPr lang="en-US" sz="2800" b="1" dirty="0">
                <a:solidFill>
                  <a:srgbClr val="00B050"/>
                </a:solidFill>
                <a:latin typeface="Arial"/>
                <a:ea typeface="MS PGothic" pitchFamily="34" charset="-128"/>
              </a:rPr>
              <a:t>REACTIONS</a:t>
            </a:r>
            <a:endParaRPr lang="en-US" dirty="0"/>
          </a:p>
        </p:txBody>
      </p:sp>
    </p:spTree>
    <p:extLst>
      <p:ext uri="{BB962C8B-B14F-4D97-AF65-F5344CB8AC3E}">
        <p14:creationId xmlns:p14="http://schemas.microsoft.com/office/powerpoint/2010/main" val="21197723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9791"/>
            <a:ext cx="8229600" cy="629714"/>
          </a:xfrm>
        </p:spPr>
        <p:txBody>
          <a:bodyPr/>
          <a:lstStyle/>
          <a:p>
            <a:r>
              <a:rPr lang="en-US" sz="2800" b="1" dirty="0">
                <a:solidFill>
                  <a:srgbClr val="00B050"/>
                </a:solidFill>
                <a:latin typeface="Arial"/>
                <a:ea typeface="MS PGothic" pitchFamily="34" charset="-128"/>
              </a:rPr>
              <a:t>PHASE II METABOLISM</a:t>
            </a:r>
          </a:p>
        </p:txBody>
      </p:sp>
      <p:sp>
        <p:nvSpPr>
          <p:cNvPr id="4" name="Rectangle 3"/>
          <p:cNvSpPr txBox="1">
            <a:spLocks noChangeArrowheads="1"/>
          </p:cNvSpPr>
          <p:nvPr/>
        </p:nvSpPr>
        <p:spPr bwMode="auto">
          <a:xfrm>
            <a:off x="480007" y="928582"/>
            <a:ext cx="8382000" cy="435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0" indent="0" algn="just" defTabSz="914400" eaLnBrk="1" hangingPunct="1">
              <a:buNone/>
              <a:defRPr/>
            </a:pP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The Phase II metabolism</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cs typeface="+mn-cs"/>
              </a:rPr>
              <a:t> also known as </a:t>
            </a:r>
            <a:r>
              <a:rPr kumimoji="0" lang="en-US" altLang="en-US" sz="2800" b="0" i="0" u="none" strike="noStrike" kern="0" cap="none" spc="0" normalizeH="0" noProof="0" dirty="0">
                <a:ln>
                  <a:noFill/>
                </a:ln>
                <a:solidFill>
                  <a:srgbClr val="00B050"/>
                </a:solidFill>
                <a:effectLst/>
                <a:uLnTx/>
                <a:uFillTx/>
                <a:latin typeface="Arial"/>
                <a:ea typeface="MS PGothic" pitchFamily="34" charset="-128"/>
                <a:cs typeface="+mn-cs"/>
              </a:rPr>
              <a:t>transferase</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cs typeface="+mn-cs"/>
              </a:rPr>
              <a:t> </a:t>
            </a:r>
            <a:r>
              <a:rPr kumimoji="0" lang="en-US" altLang="en-US" sz="2800" b="0" i="0" u="none" strike="noStrike" kern="0" cap="none" spc="0" normalizeH="0" noProof="0" dirty="0">
                <a:ln>
                  <a:noFill/>
                </a:ln>
                <a:solidFill>
                  <a:srgbClr val="00B050"/>
                </a:solidFill>
                <a:effectLst/>
                <a:uLnTx/>
                <a:uFillTx/>
                <a:latin typeface="Arial"/>
                <a:ea typeface="MS PGothic" pitchFamily="34" charset="-128"/>
                <a:cs typeface="+mn-cs"/>
              </a:rPr>
              <a:t>reactions</a:t>
            </a:r>
            <a:r>
              <a:rPr kumimoji="0" lang="en-US" altLang="en-US" sz="2800" b="0" i="0" u="none" strike="noStrike" kern="0" cap="none" spc="0" normalizeH="0" noProof="0" dirty="0">
                <a:ln>
                  <a:noFill/>
                </a:ln>
                <a:solidFill>
                  <a:srgbClr val="000000"/>
                </a:solidFill>
                <a:effectLst/>
                <a:uLnTx/>
                <a:uFillTx/>
                <a:latin typeface="Arial"/>
                <a:ea typeface="MS PGothic" pitchFamily="34" charset="-128"/>
                <a:cs typeface="+mn-cs"/>
              </a:rPr>
              <a:t>. </a:t>
            </a:r>
            <a:r>
              <a:rPr lang="en-US" altLang="en-US" sz="2800" dirty="0">
                <a:cs typeface="Arial" panose="020B0604020202020204" pitchFamily="34" charset="0"/>
              </a:rPr>
              <a:t>A molecule endogenous to the body donates a portion of itself to the foreign molecule/drug. </a:t>
            </a:r>
          </a:p>
          <a:p>
            <a:pPr marL="0" indent="0" algn="just" defTabSz="914400" eaLnBrk="1" hangingPunct="1">
              <a:buNone/>
              <a:defRPr/>
            </a:pPr>
            <a:endParaRPr lang="en-US" altLang="en-US" sz="2800" dirty="0">
              <a:cs typeface="Arial" panose="020B0604020202020204" pitchFamily="34" charset="0"/>
            </a:endParaRPr>
          </a:p>
          <a:p>
            <a:pPr marL="0" indent="0" algn="just" defTabSz="914400" eaLnBrk="1" hangingPunct="1">
              <a:buNone/>
              <a:defRPr/>
            </a:pPr>
            <a:endParaRPr lang="en-US" altLang="en-US" sz="2800" dirty="0">
              <a:cs typeface="Arial" panose="020B0604020202020204" pitchFamily="34" charset="0"/>
            </a:endParaRPr>
          </a:p>
          <a:p>
            <a:pPr marL="0" lvl="0" indent="0" defTabSz="914400" eaLnBrk="1" hangingPunct="1">
              <a:spcBef>
                <a:spcPct val="0"/>
              </a:spcBef>
              <a:buNone/>
            </a:pPr>
            <a:r>
              <a:rPr lang="en-US" altLang="en-US" sz="2800" dirty="0">
                <a:solidFill>
                  <a:srgbClr val="000000"/>
                </a:solidFill>
                <a:latin typeface="Arial" panose="020B0604020202020204" pitchFamily="34" charset="0"/>
                <a:cs typeface="Arial" panose="020B0604020202020204" pitchFamily="34" charset="0"/>
              </a:rPr>
              <a:t>This almost always lead to abolition of p/</a:t>
            </a:r>
            <a:r>
              <a:rPr lang="en-US" altLang="en-US" sz="2800" dirty="0" err="1">
                <a:solidFill>
                  <a:srgbClr val="000000"/>
                </a:solidFill>
                <a:latin typeface="Arial" panose="020B0604020202020204" pitchFamily="34" charset="0"/>
                <a:cs typeface="Arial" panose="020B0604020202020204" pitchFamily="34" charset="0"/>
              </a:rPr>
              <a:t>cological</a:t>
            </a:r>
            <a:r>
              <a:rPr lang="en-US" altLang="en-US" sz="2800" dirty="0">
                <a:solidFill>
                  <a:srgbClr val="000000"/>
                </a:solidFill>
                <a:latin typeface="Arial" panose="020B0604020202020204" pitchFamily="34" charset="0"/>
                <a:cs typeface="Arial" panose="020B0604020202020204" pitchFamily="34" charset="0"/>
              </a:rPr>
              <a:t> activity or produces a p/</a:t>
            </a:r>
            <a:r>
              <a:rPr lang="en-US" altLang="en-US" sz="2800" dirty="0" err="1">
                <a:solidFill>
                  <a:srgbClr val="000000"/>
                </a:solidFill>
                <a:latin typeface="Arial" panose="020B0604020202020204" pitchFamily="34" charset="0"/>
                <a:cs typeface="Arial" panose="020B0604020202020204" pitchFamily="34" charset="0"/>
              </a:rPr>
              <a:t>cologically</a:t>
            </a:r>
            <a:r>
              <a:rPr lang="en-US" altLang="en-US" sz="2800" dirty="0">
                <a:solidFill>
                  <a:srgbClr val="000000"/>
                </a:solidFill>
                <a:latin typeface="Arial" panose="020B0604020202020204" pitchFamily="34" charset="0"/>
                <a:cs typeface="Arial" panose="020B0604020202020204" pitchFamily="34" charset="0"/>
              </a:rPr>
              <a:t>  inactive compound that is </a:t>
            </a:r>
            <a:r>
              <a:rPr lang="en-US" altLang="en-US" sz="2800" dirty="0">
                <a:solidFill>
                  <a:srgbClr val="00B050"/>
                </a:solidFill>
                <a:latin typeface="Arial" panose="020B0604020202020204" pitchFamily="34" charset="0"/>
                <a:cs typeface="Arial" panose="020B0604020202020204" pitchFamily="34" charset="0"/>
              </a:rPr>
              <a:t>more water soluble </a:t>
            </a:r>
            <a:r>
              <a:rPr lang="en-US" altLang="en-US" sz="2800" dirty="0">
                <a:solidFill>
                  <a:srgbClr val="000000"/>
                </a:solidFill>
                <a:latin typeface="Arial" panose="020B0604020202020204" pitchFamily="34" charset="0"/>
                <a:cs typeface="Arial" panose="020B0604020202020204" pitchFamily="34" charset="0"/>
              </a:rPr>
              <a:t>and </a:t>
            </a:r>
            <a:r>
              <a:rPr lang="en-US" altLang="en-US" sz="2800" dirty="0">
                <a:solidFill>
                  <a:srgbClr val="00B050"/>
                </a:solidFill>
                <a:latin typeface="Arial" panose="020B0604020202020204" pitchFamily="34" charset="0"/>
                <a:cs typeface="Arial" panose="020B0604020202020204" pitchFamily="34" charset="0"/>
              </a:rPr>
              <a:t>readily excreted</a:t>
            </a:r>
            <a:r>
              <a:rPr lang="en-US" altLang="en-US" sz="2800" dirty="0">
                <a:solidFill>
                  <a:srgbClr val="000000"/>
                </a:solidFill>
                <a:latin typeface="Arial" panose="020B0604020202020204" pitchFamily="34" charset="0"/>
                <a:cs typeface="Arial" panose="020B0604020202020204" pitchFamily="34" charset="0"/>
              </a:rPr>
              <a:t> in the urine mainly, or by the bile.</a:t>
            </a:r>
          </a:p>
          <a:p>
            <a:pPr marL="0" lvl="0" indent="0" defTabSz="914400" eaLnBrk="1" hangingPunct="1">
              <a:spcBef>
                <a:spcPct val="0"/>
              </a:spcBef>
              <a:buNone/>
            </a:pPr>
            <a:r>
              <a:rPr lang="en-US" altLang="en-US" sz="2800" dirty="0">
                <a:solidFill>
                  <a:srgbClr val="000000"/>
                </a:solidFill>
                <a:latin typeface="Arial" panose="020B0604020202020204" pitchFamily="34" charset="0"/>
                <a:cs typeface="Arial" panose="020B0604020202020204" pitchFamily="34" charset="0"/>
              </a:rPr>
              <a:t>The liver is the major site for phase II conjugation reactions but conjugation can also occur in the gut.</a:t>
            </a:r>
          </a:p>
        </p:txBody>
      </p:sp>
      <p:sp>
        <p:nvSpPr>
          <p:cNvPr id="5" name="Text Box 5"/>
          <p:cNvSpPr txBox="1">
            <a:spLocks noChangeArrowheads="1"/>
          </p:cNvSpPr>
          <p:nvPr/>
        </p:nvSpPr>
        <p:spPr bwMode="auto">
          <a:xfrm>
            <a:off x="304800" y="2520950"/>
            <a:ext cx="845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a:spcBef>
                <a:spcPct val="50000"/>
              </a:spcBef>
              <a:buFontTx/>
              <a:buNone/>
            </a:pPr>
            <a:r>
              <a:rPr lang="en-US" altLang="en-US" sz="3200" b="1" dirty="0">
                <a:cs typeface="Arial" panose="020B0604020202020204" pitchFamily="34" charset="0"/>
              </a:rPr>
              <a:t>D   +  </a:t>
            </a:r>
            <a:r>
              <a:rPr lang="en-US" altLang="en-US" sz="3200" b="1" dirty="0">
                <a:solidFill>
                  <a:srgbClr val="CC3300"/>
                </a:solidFill>
                <a:cs typeface="Arial" panose="020B0604020202020204" pitchFamily="34" charset="0"/>
              </a:rPr>
              <a:t>ENDO</a:t>
            </a:r>
            <a:r>
              <a:rPr lang="en-US" altLang="en-US" sz="3200" b="1" dirty="0">
                <a:solidFill>
                  <a:srgbClr val="3333FF"/>
                </a:solidFill>
                <a:cs typeface="Arial" panose="020B0604020202020204" pitchFamily="34" charset="0"/>
              </a:rPr>
              <a:t>X                             </a:t>
            </a:r>
            <a:r>
              <a:rPr lang="en-US" altLang="en-US" sz="3200" b="1" dirty="0">
                <a:cs typeface="Arial" panose="020B0604020202020204" pitchFamily="34" charset="0"/>
                <a:sym typeface="Symbol" panose="05050102010706020507" pitchFamily="18" charset="2"/>
              </a:rPr>
              <a:t>D</a:t>
            </a:r>
            <a:r>
              <a:rPr lang="en-US" altLang="en-US" sz="3200" b="1" dirty="0">
                <a:solidFill>
                  <a:srgbClr val="3333FF"/>
                </a:solidFill>
                <a:cs typeface="Arial" panose="020B0604020202020204" pitchFamily="34" charset="0"/>
                <a:sym typeface="Symbol" panose="05050102010706020507" pitchFamily="18" charset="2"/>
              </a:rPr>
              <a:t>X  </a:t>
            </a:r>
            <a:r>
              <a:rPr lang="en-US" altLang="en-US" sz="3200" b="1" dirty="0">
                <a:cs typeface="Arial" panose="020B0604020202020204" pitchFamily="34" charset="0"/>
                <a:sym typeface="Symbol" panose="05050102010706020507" pitchFamily="18" charset="2"/>
              </a:rPr>
              <a:t>+  </a:t>
            </a:r>
            <a:r>
              <a:rPr lang="en-US" altLang="en-US" sz="3200" b="1" dirty="0">
                <a:solidFill>
                  <a:srgbClr val="CC3300"/>
                </a:solidFill>
                <a:cs typeface="Arial" panose="020B0604020202020204" pitchFamily="34" charset="0"/>
                <a:sym typeface="Symbol" panose="05050102010706020507" pitchFamily="18" charset="2"/>
              </a:rPr>
              <a:t>ENDO</a:t>
            </a:r>
            <a:endParaRPr lang="en-US" altLang="en-US" sz="3200" b="1" dirty="0">
              <a:cs typeface="Arial" panose="020B0604020202020204" pitchFamily="34" charset="0"/>
            </a:endParaRPr>
          </a:p>
        </p:txBody>
      </p:sp>
      <p:sp>
        <p:nvSpPr>
          <p:cNvPr id="6" name="Rectangle 7"/>
          <p:cNvSpPr>
            <a:spLocks noChangeArrowheads="1"/>
          </p:cNvSpPr>
          <p:nvPr/>
        </p:nvSpPr>
        <p:spPr bwMode="auto">
          <a:xfrm>
            <a:off x="3810000" y="2878138"/>
            <a:ext cx="861007" cy="117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000">
                <a:solidFill>
                  <a:schemeClr val="tx1"/>
                </a:solidFill>
                <a:latin typeface="Arial" panose="020B0604020202020204" pitchFamily="34" charset="0"/>
                <a:ea typeface="MS PGothic" panose="020B0600070205080204" pitchFamily="34" charset="-128"/>
              </a:defRPr>
            </a:lvl1pPr>
            <a:lvl2pPr marL="742950" indent="-285750">
              <a:spcBef>
                <a:spcPct val="20000"/>
              </a:spcBef>
              <a:buBlip>
                <a:blip r:embed="rId3"/>
              </a:buBlip>
              <a:defRPr>
                <a:solidFill>
                  <a:schemeClr val="tx1"/>
                </a:solidFill>
                <a:latin typeface="Arial" panose="020B0604020202020204" pitchFamily="34" charset="0"/>
                <a:ea typeface="MS PGothic" panose="020B0600070205080204" pitchFamily="34" charset="-128"/>
              </a:defRPr>
            </a:lvl2pPr>
            <a:lvl3pPr marL="11430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3pPr>
            <a:lvl4pPr marL="16002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Blip>
                <a:blip r:embed="rId4"/>
              </a:buBlip>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Blip>
                <a:blip r:embed="rId4"/>
              </a:buBlip>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cs typeface="Arial" panose="020B0604020202020204" pitchFamily="34" charset="0"/>
            </a:endParaRPr>
          </a:p>
        </p:txBody>
      </p:sp>
      <p:sp>
        <p:nvSpPr>
          <p:cNvPr id="7" name="Freeform 8"/>
          <p:cNvSpPr>
            <a:spLocks/>
          </p:cNvSpPr>
          <p:nvPr/>
        </p:nvSpPr>
        <p:spPr bwMode="auto">
          <a:xfrm>
            <a:off x="4656892" y="2673350"/>
            <a:ext cx="477083" cy="527050"/>
          </a:xfrm>
          <a:custGeom>
            <a:avLst/>
            <a:gdLst>
              <a:gd name="T0" fmla="*/ 0 w 338"/>
              <a:gd name="T1" fmla="*/ 332 h 332"/>
              <a:gd name="T2" fmla="*/ 338 w 338"/>
              <a:gd name="T3" fmla="*/ 163 h 332"/>
              <a:gd name="T4" fmla="*/ 0 w 338"/>
              <a:gd name="T5" fmla="*/ 0 h 332"/>
              <a:gd name="T6" fmla="*/ 0 w 338"/>
              <a:gd name="T7" fmla="*/ 332 h 3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8" h="332">
                <a:moveTo>
                  <a:pt x="0" y="332"/>
                </a:moveTo>
                <a:lnTo>
                  <a:pt x="338" y="163"/>
                </a:lnTo>
                <a:lnTo>
                  <a:pt x="0" y="0"/>
                </a:lnTo>
                <a:lnTo>
                  <a:pt x="0" y="3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Tree>
    <p:extLst>
      <p:ext uri="{BB962C8B-B14F-4D97-AF65-F5344CB8AC3E}">
        <p14:creationId xmlns:p14="http://schemas.microsoft.com/office/powerpoint/2010/main" val="27902939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28600" y="1108075"/>
            <a:ext cx="8610600"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400" b="0" i="0" u="sng" strike="noStrike" kern="0" cap="none" spc="0" normalizeH="0" baseline="0" noProof="0" dirty="0">
                <a:ln>
                  <a:noFill/>
                </a:ln>
                <a:solidFill>
                  <a:srgbClr val="000000"/>
                </a:solidFill>
                <a:effectLst/>
                <a:uLnTx/>
                <a:uFillTx/>
                <a:latin typeface="Arial"/>
                <a:ea typeface="MS PGothic" pitchFamily="34" charset="-128"/>
              </a:rPr>
              <a:t>Phase II reaction</a:t>
            </a:r>
          </a:p>
          <a:p>
            <a:pPr lvl="2" defTabSz="914400" eaLnBrk="1" hangingPunct="1">
              <a:lnSpc>
                <a:spcPct val="90000"/>
              </a:lnSpc>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involves coupling the drug or it’s polar metabolite with an endogenous substrate (glucuronic acid, sulfate</a:t>
            </a:r>
            <a:r>
              <a:rPr lang="en-US" altLang="en-US" sz="2400" kern="0" dirty="0">
                <a:solidFill>
                  <a:srgbClr val="000000"/>
                </a:solidFill>
                <a:latin typeface="Arial"/>
              </a:rPr>
              <a:t>, acetate or amino acids(glycine, glutamine).</a:t>
            </a: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The endogenous substrates originate in the diet, so nutrition plays a critical role in the regulation of drug conjugation</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Drugs undergoing phase II conjugation reactions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glucuronidation</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acetylation, methylation, and glutathione, glycine, and sulfate conjugation) may have already undergone phase I transformation</a:t>
            </a:r>
          </a:p>
          <a:p>
            <a:pPr marL="1209675" marR="0" lvl="2" indent="-2762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Some parent drugs may already possess a functional group that may form a conjugate directly</a:t>
            </a:r>
          </a:p>
        </p:txBody>
      </p:sp>
      <p:sp>
        <p:nvSpPr>
          <p:cNvPr id="4" name="Title 1"/>
          <p:cNvSpPr>
            <a:spLocks noGrp="1"/>
          </p:cNvSpPr>
          <p:nvPr>
            <p:ph type="title"/>
          </p:nvPr>
        </p:nvSpPr>
        <p:spPr>
          <a:xfrm>
            <a:off x="457200" y="274638"/>
            <a:ext cx="8229600" cy="567573"/>
          </a:xfrm>
        </p:spPr>
        <p:txBody>
          <a:bodyPr/>
          <a:lstStyle/>
          <a:p>
            <a:r>
              <a:rPr lang="en-US" sz="2800" b="1" dirty="0">
                <a:solidFill>
                  <a:srgbClr val="00B050"/>
                </a:solidFill>
                <a:latin typeface="Arial"/>
                <a:ea typeface="MS PGothic" pitchFamily="34" charset="-128"/>
              </a:rPr>
              <a:t>PHASE II METABOLISM</a:t>
            </a:r>
          </a:p>
        </p:txBody>
      </p:sp>
    </p:spTree>
    <p:extLst>
      <p:ext uri="{BB962C8B-B14F-4D97-AF65-F5344CB8AC3E}">
        <p14:creationId xmlns:p14="http://schemas.microsoft.com/office/powerpoint/2010/main" val="19194116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13"/>
          <p:cNvGraphicFramePr>
            <a:graphicFrameLocks/>
          </p:cNvGraphicFramePr>
          <p:nvPr>
            <p:extLst>
              <p:ext uri="{D42A27DB-BD31-4B8C-83A1-F6EECF244321}">
                <p14:modId xmlns:p14="http://schemas.microsoft.com/office/powerpoint/2010/main" val="3335965176"/>
              </p:ext>
            </p:extLst>
          </p:nvPr>
        </p:nvGraphicFramePr>
        <p:xfrm>
          <a:off x="381000" y="846138"/>
          <a:ext cx="8382000" cy="5237165"/>
        </p:xfrm>
        <a:graphic>
          <a:graphicData uri="http://schemas.openxmlformats.org/drawingml/2006/table">
            <a:tbl>
              <a:tblPr/>
              <a:tblGrid>
                <a:gridCol w="2667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4175754">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1" i="0" u="none" strike="noStrike" cap="none" normalizeH="0" baseline="0" noProof="1">
                          <a:ln>
                            <a:noFill/>
                          </a:ln>
                          <a:solidFill>
                            <a:srgbClr val="FF6600"/>
                          </a:solidFill>
                          <a:effectLst/>
                          <a:latin typeface="Arial" charset="0"/>
                        </a:rPr>
                        <a:t>Phase II</a:t>
                      </a:r>
                      <a:r>
                        <a:rPr kumimoji="0" lang="en-US" sz="2800" b="1" i="0" u="none" strike="noStrike" cap="none" normalizeH="0" baseline="0" dirty="0">
                          <a:ln>
                            <a:noFill/>
                          </a:ln>
                          <a:solidFill>
                            <a:srgbClr val="FF6600"/>
                          </a:solidFill>
                          <a:effectLst/>
                          <a:latin typeface="Arial" charset="0"/>
                        </a:rPr>
                        <a:t> </a:t>
                      </a:r>
                      <a:r>
                        <a:rPr kumimoji="0" lang="en-US" sz="2800" b="1" i="0" u="none" strike="noStrike" cap="none" normalizeH="0" baseline="0" dirty="0" err="1">
                          <a:ln>
                            <a:noFill/>
                          </a:ln>
                          <a:solidFill>
                            <a:srgbClr val="FF6600"/>
                          </a:solidFill>
                          <a:effectLst/>
                          <a:latin typeface="Arial" charset="0"/>
                        </a:rPr>
                        <a:t>Rxns</a:t>
                      </a:r>
                      <a:endParaRPr kumimoji="0" lang="en-US" sz="2800" b="1" i="0" u="none" strike="noStrike" cap="none" normalizeH="0" baseline="0" dirty="0">
                        <a:ln>
                          <a:noFill/>
                        </a:ln>
                        <a:solidFill>
                          <a:srgbClr val="FF6600"/>
                        </a:solidFill>
                        <a:effectLst/>
                        <a:latin typeface="Arial" charset="0"/>
                      </a:endParaRP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noProof="1">
                          <a:ln>
                            <a:noFill/>
                          </a:ln>
                          <a:solidFill>
                            <a:schemeClr val="tx1"/>
                          </a:solidFill>
                          <a:effectLst/>
                          <a:latin typeface="Arial" charset="0"/>
                        </a:rPr>
                        <a:t>that increase water solubility by</a:t>
                      </a:r>
                      <a:r>
                        <a:rPr kumimoji="0" lang="en-US" sz="2800" b="0" i="0" u="none" strike="noStrike" cap="none" normalizeH="0" baseline="0" dirty="0">
                          <a:ln>
                            <a:noFill/>
                          </a:ln>
                          <a:solidFill>
                            <a:schemeClr val="tx1"/>
                          </a:solidFill>
                          <a:effectLst/>
                          <a:latin typeface="Arial" charset="0"/>
                        </a:rPr>
                        <a:t> </a:t>
                      </a:r>
                      <a:r>
                        <a:rPr kumimoji="0" lang="en-US" sz="2800" b="1" i="0" u="none" strike="noStrike" cap="none" normalizeH="0" baseline="0" noProof="1">
                          <a:ln>
                            <a:noFill/>
                          </a:ln>
                          <a:solidFill>
                            <a:schemeClr val="tx1"/>
                          </a:solidFill>
                          <a:effectLst/>
                          <a:latin typeface="Arial" charset="0"/>
                        </a:rPr>
                        <a:t>conjugation</a:t>
                      </a:r>
                      <a:r>
                        <a:rPr kumimoji="0" lang="en-US" sz="2800" b="0" i="0" u="none" strike="noStrike" cap="none" normalizeH="0" baseline="0" dirty="0">
                          <a:ln>
                            <a:noFill/>
                          </a:ln>
                          <a:solidFill>
                            <a:schemeClr val="tx1"/>
                          </a:solidFill>
                          <a:effectLst/>
                          <a:latin typeface="Arial" charset="0"/>
                        </a:rPr>
                        <a:t> </a:t>
                      </a:r>
                      <a:r>
                        <a:rPr kumimoji="0" lang="en-US" sz="2800" b="0" i="0" u="none" strike="noStrike" cap="none" normalizeH="0" baseline="0" noProof="1">
                          <a:ln>
                            <a:noFill/>
                          </a:ln>
                          <a:solidFill>
                            <a:schemeClr val="tx1"/>
                          </a:solidFill>
                          <a:effectLst/>
                          <a:latin typeface="Arial" charset="0"/>
                        </a:rPr>
                        <a:t>of the drug molecule with a polar moiety:</a:t>
                      </a:r>
                      <a:endParaRPr kumimoji="0" lang="en-US" sz="28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8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1" i="0" u="none" strike="noStrike" cap="none" normalizeH="0" baseline="0" noProof="1">
                          <a:ln>
                            <a:noFill/>
                          </a:ln>
                          <a:solidFill>
                            <a:schemeClr val="tx1"/>
                          </a:solidFill>
                          <a:effectLst/>
                          <a:latin typeface="Arial" charset="0"/>
                        </a:rPr>
                        <a:t>glucuronidation: </a:t>
                      </a:r>
                      <a:r>
                        <a:rPr kumimoji="0" lang="en-US" sz="2800" b="0" i="0" u="none" strike="noStrike" cap="none" normalizeH="0" baseline="0" noProof="1">
                          <a:ln>
                            <a:noFill/>
                          </a:ln>
                          <a:solidFill>
                            <a:schemeClr val="tx1"/>
                          </a:solidFill>
                          <a:effectLst/>
                          <a:latin typeface="Arial" charset="0"/>
                        </a:rPr>
                        <a:t>morphine</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1" i="0" u="none" strike="noStrike" cap="none" normalizeH="0" baseline="0" noProof="1">
                          <a:ln>
                            <a:noFill/>
                          </a:ln>
                          <a:solidFill>
                            <a:schemeClr val="tx1"/>
                          </a:solidFill>
                          <a:effectLst/>
                          <a:latin typeface="Arial" charset="0"/>
                        </a:rPr>
                        <a:t>sulfate conjugation: </a:t>
                      </a:r>
                      <a:r>
                        <a:rPr kumimoji="0" lang="en-US" sz="2800" b="0" i="0" u="none" strike="noStrike" cap="none" normalizeH="0" baseline="0" noProof="1">
                          <a:ln>
                            <a:noFill/>
                          </a:ln>
                          <a:solidFill>
                            <a:schemeClr val="tx1"/>
                          </a:solidFill>
                          <a:effectLst/>
                          <a:latin typeface="Arial" charset="0"/>
                        </a:rPr>
                        <a:t>acetaminophen</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1" i="0" u="none" strike="noStrike" cap="none" normalizeH="0" baseline="0" noProof="1">
                          <a:ln>
                            <a:noFill/>
                          </a:ln>
                          <a:solidFill>
                            <a:schemeClr val="tx1"/>
                          </a:solidFill>
                          <a:effectLst/>
                          <a:latin typeface="Arial" charset="0"/>
                        </a:rPr>
                        <a:t> acetylation: </a:t>
                      </a:r>
                      <a:r>
                        <a:rPr kumimoji="0" lang="en-US" sz="2800" b="0" i="0" u="none" strike="noStrike" cap="none" normalizeH="0" baseline="0" noProof="1">
                          <a:ln>
                            <a:noFill/>
                          </a:ln>
                          <a:solidFill>
                            <a:schemeClr val="tx1"/>
                          </a:solidFill>
                          <a:effectLst/>
                          <a:latin typeface="Arial" charset="0"/>
                        </a:rPr>
                        <a:t>sulphonamides</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1800" b="0" i="0" u="none" strike="noStrike" cap="none" normalizeH="0" baseline="0" dirty="0">
                        <a:ln>
                          <a:noFill/>
                        </a:ln>
                        <a:solidFill>
                          <a:schemeClr val="tx1"/>
                        </a:solidFill>
                        <a:effectLst/>
                        <a:latin typeface="Arial" charset="0"/>
                      </a:endParaRP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61409">
                <a:tc gridSpan="2">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charset="0"/>
                        </a:rPr>
                        <a:t>all tend to be less lipid soluble and therefore better excreted (less well reabsorbed)</a:t>
                      </a:r>
                    </a:p>
                  </a:txBody>
                  <a:tcPr marT="45718" marB="4571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4" name="Title 1"/>
          <p:cNvSpPr>
            <a:spLocks noGrp="1"/>
          </p:cNvSpPr>
          <p:nvPr>
            <p:ph type="title"/>
          </p:nvPr>
        </p:nvSpPr>
        <p:spPr>
          <a:xfrm>
            <a:off x="457200" y="118228"/>
            <a:ext cx="8229600" cy="571500"/>
          </a:xfrm>
        </p:spPr>
        <p:txBody>
          <a:bodyPr/>
          <a:lstStyle/>
          <a:p>
            <a:r>
              <a:rPr lang="en-US" sz="2800" b="1" dirty="0">
                <a:solidFill>
                  <a:srgbClr val="00B050"/>
                </a:solidFill>
                <a:latin typeface="Arial"/>
                <a:ea typeface="MS PGothic" pitchFamily="34" charset="-128"/>
              </a:rPr>
              <a:t>PHASE II METABOLISM</a:t>
            </a:r>
          </a:p>
        </p:txBody>
      </p:sp>
    </p:spTree>
    <p:extLst>
      <p:ext uri="{BB962C8B-B14F-4D97-AF65-F5344CB8AC3E}">
        <p14:creationId xmlns:p14="http://schemas.microsoft.com/office/powerpoint/2010/main" val="400794656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28599" y="542591"/>
            <a:ext cx="8783053" cy="548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800" b="0" i="0" u="sng" strike="noStrike" kern="0" cap="none" spc="0" normalizeH="0" baseline="0" noProof="0" dirty="0">
                <a:ln>
                  <a:noFill/>
                </a:ln>
                <a:solidFill>
                  <a:srgbClr val="00B050"/>
                </a:solidFill>
                <a:effectLst/>
                <a:uLnTx/>
                <a:uFillTx/>
                <a:latin typeface="Arial"/>
                <a:ea typeface="MS PGothic" pitchFamily="34" charset="-128"/>
              </a:rPr>
              <a:t>Amino</a:t>
            </a:r>
            <a:r>
              <a:rPr kumimoji="0" lang="en-US" altLang="en-US" sz="2800" b="0" i="0" u="sng" strike="noStrike" kern="0" cap="none" spc="0" normalizeH="0" noProof="0" dirty="0">
                <a:ln>
                  <a:noFill/>
                </a:ln>
                <a:solidFill>
                  <a:srgbClr val="00B050"/>
                </a:solidFill>
                <a:effectLst/>
                <a:uLnTx/>
                <a:uFillTx/>
                <a:latin typeface="Arial"/>
                <a:ea typeface="MS PGothic" pitchFamily="34" charset="-128"/>
              </a:rPr>
              <a:t> Acid Conjugation</a:t>
            </a:r>
            <a:endParaRPr kumimoji="0" lang="en-US" altLang="en-US" sz="2800" b="0" i="0" u="sng" strike="noStrike" kern="0" cap="none" spc="0" normalizeH="0" baseline="0" noProof="0" dirty="0">
              <a:ln>
                <a:noFill/>
              </a:ln>
              <a:solidFill>
                <a:srgbClr val="00B050"/>
              </a:solidFill>
              <a:effectLst/>
              <a:uLnTx/>
              <a:uFillTx/>
              <a:latin typeface="Arial"/>
              <a:ea typeface="MS PGothic" pitchFamily="34" charset="-128"/>
            </a:endParaRPr>
          </a:p>
          <a:p>
            <a:pPr lvl="2" defTabSz="914400" eaLnBrk="1" hangingPunct="1">
              <a:lnSpc>
                <a:spcPct val="90000"/>
              </a:lnSpc>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Amino</a:t>
            </a:r>
            <a:r>
              <a:rPr kumimoji="0" lang="en-US" altLang="en-US" sz="2400" b="0" i="0" u="none" strike="noStrike" kern="0" cap="none" spc="0" normalizeH="0" noProof="0" dirty="0">
                <a:ln>
                  <a:noFill/>
                </a:ln>
                <a:solidFill>
                  <a:srgbClr val="000000"/>
                </a:solidFill>
                <a:effectLst/>
                <a:uLnTx/>
                <a:uFillTx/>
                <a:latin typeface="Arial"/>
                <a:ea typeface="MS PGothic" pitchFamily="34" charset="-128"/>
              </a:rPr>
              <a:t> acid reactions </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involves glycine and glutamine. Glycine forms conjugates with </a:t>
            </a:r>
            <a:r>
              <a:rPr kumimoji="0" lang="en-US" altLang="en-US" sz="2400" b="0" i="0" u="none" strike="noStrike" kern="0" cap="none" spc="0" normalizeH="0" baseline="0" noProof="0" dirty="0">
                <a:ln>
                  <a:noFill/>
                </a:ln>
                <a:solidFill>
                  <a:srgbClr val="FF0000"/>
                </a:solidFill>
                <a:effectLst/>
                <a:uLnTx/>
                <a:uFillTx/>
                <a:latin typeface="Arial"/>
                <a:ea typeface="MS PGothic" pitchFamily="34" charset="-128"/>
              </a:rPr>
              <a:t>nicotinic acid </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and </a:t>
            </a:r>
            <a:r>
              <a:rPr kumimoji="0" lang="en-US" altLang="en-US" sz="2400" b="0" i="0" u="none" strike="noStrike" kern="0" cap="none" spc="0" normalizeH="0" baseline="0" noProof="0" dirty="0">
                <a:ln>
                  <a:noFill/>
                </a:ln>
                <a:solidFill>
                  <a:srgbClr val="FF0000"/>
                </a:solidFill>
                <a:effectLst/>
                <a:uLnTx/>
                <a:uFillTx/>
                <a:latin typeface="Arial"/>
                <a:ea typeface="MS PGothic" pitchFamily="34" charset="-128"/>
              </a:rPr>
              <a:t>salicylate.</a:t>
            </a:r>
          </a:p>
          <a:p>
            <a:pPr lvl="2" defTabSz="914400" eaLnBrk="1" hangingPunct="1">
              <a:lnSpc>
                <a:spcPct val="90000"/>
              </a:lnSpc>
            </a:pPr>
            <a:r>
              <a:rPr lang="en-US" altLang="en-US" sz="2400" kern="0" dirty="0">
                <a:solidFill>
                  <a:srgbClr val="000000"/>
                </a:solidFill>
                <a:latin typeface="Arial"/>
              </a:rPr>
              <a:t>Glutamine forms conjugates with </a:t>
            </a:r>
            <a:r>
              <a:rPr lang="en-US" altLang="en-US" sz="2400" kern="0" dirty="0">
                <a:solidFill>
                  <a:srgbClr val="FF0000"/>
                </a:solidFill>
                <a:latin typeface="Arial"/>
              </a:rPr>
              <a:t>4-aminosalicylates.</a:t>
            </a:r>
          </a:p>
          <a:p>
            <a:pPr lvl="2" defTabSz="914400" eaLnBrk="1" hangingPunct="1">
              <a:lnSpc>
                <a:spcPct val="90000"/>
              </a:lnSpc>
            </a:pPr>
            <a:r>
              <a:rPr lang="en-US" altLang="en-US" sz="2400" kern="0" dirty="0">
                <a:solidFill>
                  <a:srgbClr val="000000"/>
                </a:solidFill>
                <a:latin typeface="Arial"/>
              </a:rPr>
              <a:t>Hepatocellular damage depletes intracellular pool of these amino acids hence restricting this pathway.</a:t>
            </a:r>
          </a:p>
          <a:p>
            <a:pPr lvl="2" defTabSz="914400" eaLnBrk="1" hangingPunct="1">
              <a:lnSpc>
                <a:spcPct val="90000"/>
              </a:lnSpc>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a:p>
            <a:pPr lvl="2" defTabSz="914400" eaLnBrk="1" hangingPunct="1">
              <a:lnSpc>
                <a:spcPct val="90000"/>
              </a:lnSpc>
            </a:pPr>
            <a:r>
              <a:rPr lang="en-US" altLang="en-US" sz="2400" kern="0" dirty="0">
                <a:solidFill>
                  <a:srgbClr val="000000"/>
                </a:solidFill>
                <a:latin typeface="Arial"/>
              </a:rPr>
              <a:t>Amino acid conjugation is reduced in neonates.</a:t>
            </a:r>
          </a:p>
          <a:p>
            <a:pPr lvl="1" defTabSz="914400" eaLnBrk="1" hangingPunct="1">
              <a:lnSpc>
                <a:spcPct val="90000"/>
              </a:lnSpc>
            </a:pPr>
            <a:r>
              <a:rPr lang="en-US" altLang="en-US" sz="2800" u="sng" kern="0" dirty="0">
                <a:solidFill>
                  <a:srgbClr val="00B050"/>
                </a:solidFill>
                <a:latin typeface="Arial"/>
              </a:rPr>
              <a:t>Acetylation</a:t>
            </a:r>
            <a:r>
              <a:rPr lang="en-US" altLang="en-US" sz="2600" u="sng" kern="0" dirty="0">
                <a:solidFill>
                  <a:srgbClr val="000000"/>
                </a:solidFill>
                <a:latin typeface="Arial"/>
              </a:rPr>
              <a:t> </a:t>
            </a:r>
          </a:p>
          <a:p>
            <a:pPr lvl="2" defTabSz="914400" eaLnBrk="1" hangingPunct="1">
              <a:lnSpc>
                <a:spcPct val="90000"/>
              </a:lnSpc>
            </a:pPr>
            <a:r>
              <a:rPr lang="en-US" altLang="en-US" sz="2400" kern="0" dirty="0">
                <a:solidFill>
                  <a:srgbClr val="000000"/>
                </a:solidFill>
                <a:latin typeface="Arial"/>
              </a:rPr>
              <a:t>Acetate derived from acetyl coenzyme A conjugates with drugs such as isoniazid, hydralazine and procainamide</a:t>
            </a:r>
          </a:p>
        </p:txBody>
      </p:sp>
    </p:spTree>
    <p:extLst>
      <p:ext uri="{BB962C8B-B14F-4D97-AF65-F5344CB8AC3E}">
        <p14:creationId xmlns:p14="http://schemas.microsoft.com/office/powerpoint/2010/main" val="35712457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82479" y="338053"/>
            <a:ext cx="8610600" cy="5124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4"/>
              </a:buBlip>
              <a:tabLst/>
              <a:defRPr/>
            </a:pPr>
            <a:r>
              <a:rPr kumimoji="0" lang="en-US" altLang="en-US" sz="3200" b="0" i="0" u="sng" strike="noStrike" kern="0" cap="none" spc="0" normalizeH="0" baseline="0" noProof="0" dirty="0" err="1">
                <a:ln>
                  <a:noFill/>
                </a:ln>
                <a:solidFill>
                  <a:srgbClr val="00B050"/>
                </a:solidFill>
                <a:effectLst/>
                <a:uLnTx/>
                <a:uFillTx/>
                <a:latin typeface="Arial"/>
                <a:ea typeface="MS PGothic" pitchFamily="34" charset="-128"/>
              </a:rPr>
              <a:t>Glucuronidation</a:t>
            </a:r>
            <a:endParaRPr kumimoji="0" lang="en-US" altLang="en-US" sz="3200" b="0" i="0" u="sng" strike="noStrike" kern="0" cap="none" spc="0" normalizeH="0" baseline="0" noProof="0" dirty="0">
              <a:ln>
                <a:noFill/>
              </a:ln>
              <a:solidFill>
                <a:srgbClr val="00B050"/>
              </a:solidFill>
              <a:effectLst/>
              <a:uLnTx/>
              <a:uFillTx/>
              <a:latin typeface="Arial"/>
              <a:ea typeface="MS PGothic" pitchFamily="34" charset="-128"/>
            </a:endParaRPr>
          </a:p>
          <a:p>
            <a:pPr lvl="2" defTabSz="914400" eaLnBrk="1" hangingPunct="1">
              <a:lnSpc>
                <a:spcPct val="90000"/>
              </a:lnSpc>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Conjugation reactions between glucuronic acid and carboxyl groups </a:t>
            </a:r>
            <a:r>
              <a:rPr lang="en-US" altLang="en-US" sz="2400" kern="0" dirty="0">
                <a:solidFill>
                  <a:srgbClr val="000000"/>
                </a:solidFill>
                <a:latin typeface="Arial"/>
              </a:rPr>
              <a:t>are involved in metabolism of </a:t>
            </a:r>
            <a:r>
              <a:rPr lang="en-US" altLang="en-US" sz="2400" kern="0" dirty="0">
                <a:solidFill>
                  <a:srgbClr val="FF0000"/>
                </a:solidFill>
                <a:latin typeface="Arial"/>
              </a:rPr>
              <a:t>bilirubin</a:t>
            </a:r>
            <a:r>
              <a:rPr lang="en-US" altLang="en-US" sz="2400" kern="0" dirty="0">
                <a:solidFill>
                  <a:srgbClr val="000000"/>
                </a:solidFill>
                <a:latin typeface="Arial"/>
              </a:rPr>
              <a:t>, </a:t>
            </a:r>
            <a:r>
              <a:rPr lang="en-US" altLang="en-US" sz="2400" kern="0" dirty="0">
                <a:solidFill>
                  <a:srgbClr val="FF0000"/>
                </a:solidFill>
                <a:latin typeface="Arial"/>
              </a:rPr>
              <a:t>salicylates</a:t>
            </a:r>
            <a:r>
              <a:rPr lang="en-US" altLang="en-US" sz="2400" kern="0" dirty="0">
                <a:solidFill>
                  <a:srgbClr val="000000"/>
                </a:solidFill>
                <a:latin typeface="Arial"/>
              </a:rPr>
              <a:t> and </a:t>
            </a:r>
            <a:r>
              <a:rPr lang="en-US" altLang="en-US" sz="2400" kern="0" dirty="0">
                <a:solidFill>
                  <a:srgbClr val="FF0000"/>
                </a:solidFill>
                <a:latin typeface="Arial"/>
              </a:rPr>
              <a:t>lorazepam</a:t>
            </a:r>
            <a:r>
              <a:rPr lang="en-US" altLang="en-US" sz="2400" kern="0" dirty="0">
                <a:solidFill>
                  <a:srgbClr val="000000"/>
                </a:solidFill>
                <a:latin typeface="Arial"/>
              </a:rPr>
              <a:t>. </a:t>
            </a:r>
          </a:p>
          <a:p>
            <a:pPr lvl="2" defTabSz="914400" eaLnBrk="1" hangingPunct="1">
              <a:lnSpc>
                <a:spcPct val="90000"/>
              </a:lnSpc>
            </a:pPr>
            <a:r>
              <a:rPr lang="en-US" altLang="en-US" sz="2400" kern="0" dirty="0">
                <a:solidFill>
                  <a:srgbClr val="000000"/>
                </a:solidFill>
                <a:latin typeface="Arial"/>
              </a:rPr>
              <a:t>Some patients inherit a deficiency of glucuronide formation that presents clinically as non-hemolytic jaundice due to excess unconjugated bilirubin  (</a:t>
            </a:r>
            <a:r>
              <a:rPr lang="en-US" altLang="en-US" sz="2400" b="1" kern="0" dirty="0" err="1">
                <a:solidFill>
                  <a:srgbClr val="000000"/>
                </a:solidFill>
                <a:latin typeface="Arial"/>
              </a:rPr>
              <a:t>Crigler-Najjar</a:t>
            </a:r>
            <a:r>
              <a:rPr lang="en-US" altLang="en-US" sz="2400" b="1" kern="0" dirty="0">
                <a:solidFill>
                  <a:srgbClr val="000000"/>
                </a:solidFill>
                <a:latin typeface="Arial"/>
              </a:rPr>
              <a:t> syndrome</a:t>
            </a:r>
            <a:r>
              <a:rPr lang="en-US" altLang="en-US" sz="2400" kern="0" dirty="0">
                <a:solidFill>
                  <a:srgbClr val="000000"/>
                </a:solidFill>
                <a:latin typeface="Arial"/>
              </a:rPr>
              <a:t>). </a:t>
            </a:r>
          </a:p>
          <a:p>
            <a:pPr lvl="3" defTabSz="914400" eaLnBrk="1" hangingPunct="1">
              <a:lnSpc>
                <a:spcPct val="90000"/>
              </a:lnSpc>
            </a:pPr>
            <a:r>
              <a:rPr lang="en-US" altLang="en-US" sz="2400" kern="0" dirty="0">
                <a:solidFill>
                  <a:srgbClr val="000000"/>
                </a:solidFill>
                <a:latin typeface="Arial"/>
              </a:rPr>
              <a:t>Drugs that are normally conjugated via this pathway aggravate jaundice in such patients.</a:t>
            </a:r>
          </a:p>
          <a:p>
            <a:pPr marL="1381125" lvl="3" indent="0" defTabSz="914400" eaLnBrk="1" hangingPunct="1">
              <a:lnSpc>
                <a:spcPct val="90000"/>
              </a:lnSpc>
              <a:buNone/>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a:p>
            <a:pPr lvl="1" defTabSz="914400" eaLnBrk="1" hangingPunct="1">
              <a:lnSpc>
                <a:spcPct val="90000"/>
              </a:lnSpc>
            </a:pPr>
            <a:r>
              <a:rPr lang="en-US" altLang="en-US" sz="2600" i="1" kern="0" dirty="0">
                <a:solidFill>
                  <a:srgbClr val="000000"/>
                </a:solidFill>
                <a:latin typeface="Arial"/>
              </a:rPr>
              <a:t>O-glucuronides</a:t>
            </a:r>
            <a:r>
              <a:rPr lang="en-US" altLang="en-US" sz="2600" kern="0" dirty="0">
                <a:solidFill>
                  <a:srgbClr val="000000"/>
                </a:solidFill>
                <a:latin typeface="Arial"/>
              </a:rPr>
              <a:t> formed by reaction with hydroxyl group result in a ether glucuronide</a:t>
            </a:r>
          </a:p>
          <a:p>
            <a:pPr lvl="2" defTabSz="914400" eaLnBrk="1" hangingPunct="1">
              <a:lnSpc>
                <a:spcPct val="90000"/>
              </a:lnSpc>
            </a:pPr>
            <a:r>
              <a:rPr lang="en-US" altLang="en-US" sz="2400" kern="0" dirty="0">
                <a:solidFill>
                  <a:srgbClr val="000000"/>
                </a:solidFill>
                <a:latin typeface="Arial"/>
              </a:rPr>
              <a:t>This occurs with drugs such as acetaminophen and morphine.</a:t>
            </a:r>
          </a:p>
        </p:txBody>
      </p:sp>
    </p:spTree>
    <p:extLst>
      <p:ext uri="{BB962C8B-B14F-4D97-AF65-F5344CB8AC3E}">
        <p14:creationId xmlns:p14="http://schemas.microsoft.com/office/powerpoint/2010/main" val="3561313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0" y="338052"/>
            <a:ext cx="8963526" cy="583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3200" b="0" i="0" u="sng" strike="noStrike" kern="0" cap="none" spc="0" normalizeH="0" baseline="0" noProof="0" dirty="0" err="1">
                <a:ln>
                  <a:noFill/>
                </a:ln>
                <a:solidFill>
                  <a:srgbClr val="00B050"/>
                </a:solidFill>
                <a:effectLst/>
                <a:uLnTx/>
                <a:uFillTx/>
                <a:latin typeface="Arial"/>
                <a:ea typeface="MS PGothic" pitchFamily="34" charset="-128"/>
              </a:rPr>
              <a:t>Sulfation</a:t>
            </a:r>
            <a:endParaRPr kumimoji="0" lang="en-US" altLang="en-US" sz="3200" b="0" i="0" u="sng" strike="noStrike" kern="0" cap="none" spc="0" normalizeH="0" baseline="0" noProof="0" dirty="0">
              <a:ln>
                <a:noFill/>
              </a:ln>
              <a:solidFill>
                <a:srgbClr val="00B050"/>
              </a:solidFill>
              <a:effectLst/>
              <a:uLnTx/>
              <a:uFillTx/>
              <a:latin typeface="Arial"/>
              <a:ea typeface="MS PGothic" pitchFamily="34" charset="-128"/>
            </a:endParaRPr>
          </a:p>
          <a:p>
            <a:pPr lvl="2" defTabSz="914400" eaLnBrk="1" hangingPunct="1">
              <a:lnSpc>
                <a:spcPct val="90000"/>
              </a:lnSpc>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Cytosolic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sulfonyltransferase</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enzymes (SULTs) catalyze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sulfation</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of hydroxyl and amine groups by transferring a s</a:t>
            </a:r>
            <a:r>
              <a:rPr lang="en-US" altLang="en-US" sz="2400" kern="0" noProof="0" dirty="0">
                <a:solidFill>
                  <a:srgbClr val="000000"/>
                </a:solidFill>
                <a:latin typeface="Arial"/>
              </a:rPr>
              <a:t>ulfonyl group from </a:t>
            </a:r>
            <a:r>
              <a:rPr lang="en-US" altLang="en-US" sz="2400" kern="0" noProof="0" dirty="0">
                <a:solidFill>
                  <a:srgbClr val="FF0000"/>
                </a:solidFill>
                <a:latin typeface="Arial"/>
              </a:rPr>
              <a:t>3’-phosphoadenosine 5’-phosphosulfate (PAPS)</a:t>
            </a:r>
            <a:r>
              <a:rPr lang="en-US" altLang="en-US" sz="2400" kern="0" noProof="0" dirty="0">
                <a:solidFill>
                  <a:srgbClr val="000000"/>
                </a:solidFill>
                <a:latin typeface="Arial"/>
              </a:rPr>
              <a:t> </a:t>
            </a:r>
            <a:r>
              <a:rPr lang="en-US" altLang="en-US" sz="2400" kern="0" dirty="0">
                <a:solidFill>
                  <a:srgbClr val="000000"/>
                </a:solidFill>
                <a:latin typeface="Arial"/>
              </a:rPr>
              <a:t>to a xenobiotic. </a:t>
            </a:r>
          </a:p>
          <a:p>
            <a:pPr lvl="2" defTabSz="914400" eaLnBrk="1" hangingPunct="1">
              <a:lnSpc>
                <a:spcPct val="90000"/>
              </a:lnSpc>
            </a:pPr>
            <a:endParaRPr lang="en-US" altLang="en-US" sz="2400" kern="0" dirty="0">
              <a:solidFill>
                <a:srgbClr val="000000"/>
              </a:solidFill>
              <a:latin typeface="Arial"/>
            </a:endParaRPr>
          </a:p>
          <a:p>
            <a:pPr lvl="2" defTabSz="914400" eaLnBrk="1" hangingPunct="1">
              <a:lnSpc>
                <a:spcPct val="90000"/>
              </a:lnSpc>
            </a:pPr>
            <a:r>
              <a:rPr lang="en-US" altLang="en-US" sz="2400" kern="0" dirty="0">
                <a:solidFill>
                  <a:srgbClr val="000000"/>
                </a:solidFill>
                <a:latin typeface="Arial"/>
              </a:rPr>
              <a:t>Drugs can form conjugates with other Phase II endogenous molecules such as</a:t>
            </a:r>
          </a:p>
          <a:p>
            <a:pPr lvl="3" defTabSz="914400" eaLnBrk="1" hangingPunct="1">
              <a:lnSpc>
                <a:spcPct val="90000"/>
              </a:lnSpc>
            </a:pPr>
            <a:r>
              <a:rPr lang="en-US" altLang="en-US" sz="2400" kern="0" dirty="0">
                <a:solidFill>
                  <a:srgbClr val="000000"/>
                </a:solidFill>
                <a:latin typeface="Arial"/>
              </a:rPr>
              <a:t>Glutathione (Tripeptide – </a:t>
            </a:r>
            <a:r>
              <a:rPr lang="en-US" altLang="en-US" sz="2400" kern="0" dirty="0" err="1">
                <a:solidFill>
                  <a:srgbClr val="000000"/>
                </a:solidFill>
                <a:latin typeface="Arial"/>
              </a:rPr>
              <a:t>Cys-Glu-Gly</a:t>
            </a:r>
            <a:r>
              <a:rPr lang="en-US" altLang="en-US" sz="2400" kern="0" dirty="0">
                <a:solidFill>
                  <a:srgbClr val="000000"/>
                </a:solidFill>
                <a:latin typeface="Arial"/>
              </a:rPr>
              <a:t>)</a:t>
            </a:r>
          </a:p>
          <a:p>
            <a:pPr lvl="3" defTabSz="914400" eaLnBrk="1" hangingPunct="1">
              <a:lnSpc>
                <a:spcPct val="90000"/>
              </a:lnSpc>
            </a:pPr>
            <a:r>
              <a:rPr lang="en-US" altLang="en-US" sz="2400" kern="0" dirty="0">
                <a:solidFill>
                  <a:srgbClr val="000000"/>
                </a:solidFill>
                <a:latin typeface="Arial"/>
              </a:rPr>
              <a:t>Methylation (Methyl groups donated by </a:t>
            </a:r>
            <a:r>
              <a:rPr lang="en-US" altLang="en-US" sz="2400" kern="0" dirty="0">
                <a:solidFill>
                  <a:srgbClr val="FF0000"/>
                </a:solidFill>
                <a:latin typeface="Arial"/>
              </a:rPr>
              <a:t>S-</a:t>
            </a:r>
            <a:r>
              <a:rPr lang="en-US" altLang="en-US" sz="2400" kern="0" dirty="0" err="1">
                <a:solidFill>
                  <a:srgbClr val="FF0000"/>
                </a:solidFill>
                <a:latin typeface="Arial"/>
              </a:rPr>
              <a:t>adenosyl</a:t>
            </a:r>
            <a:r>
              <a:rPr lang="en-US" altLang="en-US" sz="2400" kern="0" dirty="0">
                <a:solidFill>
                  <a:srgbClr val="FF0000"/>
                </a:solidFill>
                <a:latin typeface="Arial"/>
              </a:rPr>
              <a:t> </a:t>
            </a:r>
            <a:r>
              <a:rPr lang="en-US" altLang="en-US" sz="2400" kern="0" dirty="0" err="1">
                <a:solidFill>
                  <a:srgbClr val="FF0000"/>
                </a:solidFill>
                <a:latin typeface="Arial"/>
              </a:rPr>
              <a:t>methione</a:t>
            </a:r>
            <a:r>
              <a:rPr lang="en-US" altLang="en-US" sz="2400" kern="0" dirty="0">
                <a:solidFill>
                  <a:srgbClr val="FF0000"/>
                </a:solidFill>
                <a:latin typeface="Arial"/>
              </a:rPr>
              <a:t> </a:t>
            </a:r>
            <a:r>
              <a:rPr lang="en-US" altLang="en-US" sz="2400" kern="0" dirty="0">
                <a:solidFill>
                  <a:srgbClr val="000000"/>
                </a:solidFill>
                <a:latin typeface="Arial"/>
              </a:rPr>
              <a:t>catalyzed by Catechol O-methyltransferase (COMT) - a </a:t>
            </a:r>
            <a:r>
              <a:rPr lang="en-US" altLang="en-US" sz="2400" kern="0" dirty="0" err="1">
                <a:solidFill>
                  <a:srgbClr val="000000"/>
                </a:solidFill>
                <a:latin typeface="Arial"/>
              </a:rPr>
              <a:t>methylating</a:t>
            </a:r>
            <a:r>
              <a:rPr lang="en-US" altLang="en-US" sz="2400" kern="0" dirty="0">
                <a:solidFill>
                  <a:srgbClr val="000000"/>
                </a:solidFill>
                <a:latin typeface="Arial"/>
              </a:rPr>
              <a:t> enzyme.</a:t>
            </a:r>
          </a:p>
          <a:p>
            <a:pPr lvl="4" defTabSz="914400" eaLnBrk="1" hangingPunct="1">
              <a:lnSpc>
                <a:spcPct val="90000"/>
              </a:lnSpc>
            </a:pPr>
            <a:r>
              <a:rPr lang="en-US" altLang="en-US" sz="2400" kern="0" dirty="0">
                <a:solidFill>
                  <a:srgbClr val="000000"/>
                </a:solidFill>
                <a:latin typeface="Arial"/>
              </a:rPr>
              <a:t>Norepinephrine, dopamine and epinephrine  inactivation.</a:t>
            </a:r>
          </a:p>
        </p:txBody>
      </p:sp>
    </p:spTree>
    <p:extLst>
      <p:ext uri="{BB962C8B-B14F-4D97-AF65-F5344CB8AC3E}">
        <p14:creationId xmlns:p14="http://schemas.microsoft.com/office/powerpoint/2010/main" val="33445497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28600" y="215711"/>
            <a:ext cx="8610600" cy="5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790575" marR="0" lvl="1"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400" b="0" i="0" u="sng" strike="noStrike" kern="0" cap="none" spc="0" normalizeH="0" baseline="0" noProof="0" dirty="0">
                <a:ln>
                  <a:noFill/>
                </a:ln>
                <a:solidFill>
                  <a:srgbClr val="000000"/>
                </a:solidFill>
                <a:effectLst/>
                <a:uLnTx/>
                <a:uFillTx/>
                <a:latin typeface="Arial"/>
                <a:ea typeface="MS PGothic" pitchFamily="34" charset="-128"/>
              </a:rPr>
              <a:t>Phase II reaction</a:t>
            </a:r>
          </a:p>
          <a:p>
            <a:pPr lvl="2" defTabSz="914400" eaLnBrk="1" hangingPunct="1">
              <a:lnSpc>
                <a:spcPct val="90000"/>
              </a:lnSpc>
            </a:pPr>
            <a:r>
              <a:rPr lang="en-US" altLang="en-US" sz="2400" kern="0" dirty="0">
                <a:solidFill>
                  <a:srgbClr val="000000"/>
                </a:solidFill>
                <a:latin typeface="Arial"/>
              </a:rPr>
              <a:t>For example, </a:t>
            </a:r>
            <a:r>
              <a:rPr lang="en-US" altLang="en-US" sz="2400" kern="0" dirty="0">
                <a:solidFill>
                  <a:srgbClr val="FF0000"/>
                </a:solidFill>
                <a:latin typeface="Arial"/>
              </a:rPr>
              <a:t>Phenytoin</a:t>
            </a:r>
            <a:r>
              <a:rPr lang="en-US" altLang="en-US" sz="2400" kern="0" dirty="0">
                <a:solidFill>
                  <a:srgbClr val="000000"/>
                </a:solidFill>
                <a:latin typeface="Arial"/>
              </a:rPr>
              <a:t> is initially oxidized to </a:t>
            </a:r>
            <a:r>
              <a:rPr lang="en-US" altLang="en-US" sz="2400" kern="0" dirty="0">
                <a:solidFill>
                  <a:srgbClr val="FF0000"/>
                </a:solidFill>
                <a:latin typeface="Arial"/>
              </a:rPr>
              <a:t>4-hydroxyphenytoin</a:t>
            </a:r>
            <a:r>
              <a:rPr lang="en-US" altLang="en-US" sz="2400" kern="0" dirty="0">
                <a:solidFill>
                  <a:srgbClr val="000000"/>
                </a:solidFill>
                <a:latin typeface="Arial"/>
              </a:rPr>
              <a:t>       then </a:t>
            </a:r>
            <a:r>
              <a:rPr lang="en-US" altLang="en-US" sz="2400" kern="0" dirty="0" err="1">
                <a:solidFill>
                  <a:srgbClr val="000000"/>
                </a:solidFill>
                <a:latin typeface="Arial"/>
              </a:rPr>
              <a:t>glucuronidated</a:t>
            </a:r>
            <a:r>
              <a:rPr lang="en-US" altLang="en-US" sz="2400" kern="0" dirty="0">
                <a:solidFill>
                  <a:srgbClr val="000000"/>
                </a:solidFill>
                <a:latin typeface="Arial"/>
              </a:rPr>
              <a:t> to </a:t>
            </a:r>
            <a:r>
              <a:rPr lang="en-US" altLang="en-US" sz="2400" kern="0" dirty="0">
                <a:solidFill>
                  <a:srgbClr val="FF0000"/>
                </a:solidFill>
                <a:latin typeface="Arial"/>
              </a:rPr>
              <a:t>4-hydroxyphenytoin-glucuronide        </a:t>
            </a:r>
            <a:r>
              <a:rPr lang="en-US" altLang="en-US" sz="2400" kern="0" dirty="0">
                <a:solidFill>
                  <a:srgbClr val="000000"/>
                </a:solidFill>
                <a:latin typeface="Arial"/>
              </a:rPr>
              <a:t>readily excreted via the kidney.</a:t>
            </a: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p:txBody>
      </p:sp>
      <p:cxnSp>
        <p:nvCxnSpPr>
          <p:cNvPr id="5" name="Straight Arrow Connector 4"/>
          <p:cNvCxnSpPr/>
          <p:nvPr/>
        </p:nvCxnSpPr>
        <p:spPr>
          <a:xfrm>
            <a:off x="5628639" y="1484430"/>
            <a:ext cx="4470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a:off x="3921760" y="1085248"/>
            <a:ext cx="4470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3875" y="2209501"/>
            <a:ext cx="8096250" cy="3381375"/>
          </a:xfrm>
          <a:prstGeom prst="rect">
            <a:avLst/>
          </a:prstGeom>
        </p:spPr>
      </p:pic>
    </p:spTree>
    <p:extLst>
      <p:ext uri="{BB962C8B-B14F-4D97-AF65-F5344CB8AC3E}">
        <p14:creationId xmlns:p14="http://schemas.microsoft.com/office/powerpoint/2010/main" val="119399363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C22C9F-B6D8-5E43-81B4-D661F093D3E6}"/>
              </a:ext>
            </a:extLst>
          </p:cNvPr>
          <p:cNvPicPr>
            <a:picLocks noChangeAspect="1"/>
          </p:cNvPicPr>
          <p:nvPr/>
        </p:nvPicPr>
        <p:blipFill>
          <a:blip r:embed="rId3"/>
          <a:stretch>
            <a:fillRect/>
          </a:stretch>
        </p:blipFill>
        <p:spPr>
          <a:xfrm>
            <a:off x="482600" y="330200"/>
            <a:ext cx="8178800" cy="5638800"/>
          </a:xfrm>
          <a:prstGeom prst="rect">
            <a:avLst/>
          </a:prstGeom>
        </p:spPr>
      </p:pic>
    </p:spTree>
    <p:extLst>
      <p:ext uri="{BB962C8B-B14F-4D97-AF65-F5344CB8AC3E}">
        <p14:creationId xmlns:p14="http://schemas.microsoft.com/office/powerpoint/2010/main" val="18190635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txBox="1">
            <a:spLocks noChangeArrowheads="1"/>
          </p:cNvSpPr>
          <p:nvPr/>
        </p:nvSpPr>
        <p:spPr bwMode="auto">
          <a:xfrm>
            <a:off x="533400" y="990600"/>
            <a:ext cx="80486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900" b="0" i="0" u="sng" strike="noStrike" kern="0" cap="none" spc="0" normalizeH="0" baseline="0" noProof="0" dirty="0">
                <a:ln>
                  <a:noFill/>
                </a:ln>
                <a:solidFill>
                  <a:srgbClr val="000000"/>
                </a:solidFill>
                <a:effectLst/>
                <a:uLnTx/>
                <a:uFillTx/>
                <a:latin typeface="Arial"/>
                <a:ea typeface="MS PGothic" pitchFamily="34" charset="-128"/>
                <a:cs typeface="+mn-cs"/>
              </a:rPr>
              <a:t>Biotransformation in the elderly</a:t>
            </a:r>
          </a:p>
          <a:p>
            <a:pPr marL="1209675" marR="0" lvl="2" indent="-276225" algn="l" defTabSz="914400" rtl="0" eaLnBrk="1" fontAlgn="base" latinLnBrk="0" hangingPunct="1">
              <a:lnSpc>
                <a:spcPct val="80000"/>
              </a:lnSpc>
              <a:spcBef>
                <a:spcPct val="20000"/>
              </a:spcBef>
              <a:spcAft>
                <a:spcPct val="0"/>
              </a:spcAft>
              <a:buClrTx/>
              <a:buSzTx/>
              <a:buFontTx/>
              <a:buBlip>
                <a:blip r:embed="rId4"/>
              </a:buBlip>
              <a:tabLst/>
              <a:defRPr/>
            </a:pPr>
            <a:r>
              <a:rPr kumimoji="0" lang="en-US" altLang="en-US" sz="2500" b="0" i="0" u="none" strike="noStrike" kern="0" cap="none" spc="0" normalizeH="0" baseline="0" noProof="0" dirty="0">
                <a:ln>
                  <a:noFill/>
                </a:ln>
                <a:solidFill>
                  <a:srgbClr val="000000"/>
                </a:solidFill>
                <a:effectLst/>
                <a:uLnTx/>
                <a:uFillTx/>
                <a:latin typeface="Arial"/>
                <a:ea typeface="MS PGothic" pitchFamily="34" charset="-128"/>
              </a:rPr>
              <a:t>Hepatic enzymes and other organs deteriorate over time</a:t>
            </a:r>
          </a:p>
          <a:p>
            <a:pPr marL="790575" marR="0" lvl="1" indent="-314325"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endParaRPr kumimoji="0" lang="en-US" altLang="en-US" sz="2200" b="0" i="0" u="sng" strike="noStrike" kern="0" cap="none" spc="0" normalizeH="0" baseline="0" noProof="0" dirty="0">
              <a:ln>
                <a:noFill/>
              </a:ln>
              <a:solidFill>
                <a:srgbClr val="000000"/>
              </a:solidFill>
              <a:effectLst/>
              <a:uLnTx/>
              <a:uFillTx/>
              <a:latin typeface="Arial"/>
              <a:ea typeface="MS PGothic" pitchFamily="34" charset="-128"/>
            </a:endParaRP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900" b="0" i="0" u="sng" strike="noStrike" kern="0" cap="none" spc="0" normalizeH="0" baseline="0" noProof="0" dirty="0">
                <a:ln>
                  <a:noFill/>
                </a:ln>
                <a:solidFill>
                  <a:srgbClr val="000000"/>
                </a:solidFill>
                <a:effectLst/>
                <a:uLnTx/>
                <a:uFillTx/>
                <a:latin typeface="Arial"/>
                <a:ea typeface="MS PGothic" pitchFamily="34" charset="-128"/>
                <a:cs typeface="+mn-cs"/>
              </a:rPr>
              <a:t>Biotransformation in the </a:t>
            </a:r>
            <a:r>
              <a:rPr kumimoji="0" lang="en-US" altLang="en-US" sz="2900" b="0" i="0" u="sng" strike="noStrike" kern="0" cap="none" spc="0" normalizeH="0" baseline="0" noProof="0" dirty="0" err="1">
                <a:ln>
                  <a:noFill/>
                </a:ln>
                <a:solidFill>
                  <a:srgbClr val="000000"/>
                </a:solidFill>
                <a:effectLst/>
                <a:uLnTx/>
                <a:uFillTx/>
                <a:latin typeface="Arial"/>
                <a:ea typeface="MS PGothic" pitchFamily="34" charset="-128"/>
                <a:cs typeface="+mn-cs"/>
              </a:rPr>
              <a:t>foetus</a:t>
            </a:r>
            <a:r>
              <a:rPr kumimoji="0" lang="en-US" altLang="en-US" sz="2900" b="0" i="0" u="sng" strike="noStrike" kern="0" cap="none" spc="0" normalizeH="0" baseline="0" noProof="0" dirty="0">
                <a:ln>
                  <a:noFill/>
                </a:ln>
                <a:solidFill>
                  <a:srgbClr val="000000"/>
                </a:solidFill>
                <a:effectLst/>
                <a:uLnTx/>
                <a:uFillTx/>
                <a:latin typeface="Arial"/>
                <a:ea typeface="MS PGothic" pitchFamily="34" charset="-128"/>
                <a:cs typeface="+mn-cs"/>
              </a:rPr>
              <a:t> or neonate</a:t>
            </a:r>
          </a:p>
          <a:p>
            <a:pPr marL="790575" marR="0" lvl="1"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These individuals are very vulnerable to the toxic effects of drugs</a:t>
            </a:r>
          </a:p>
          <a:p>
            <a:pPr marL="790575" marR="0" lvl="1"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Their liver and metabolizing enzymes are under-developed</a:t>
            </a:r>
          </a:p>
          <a:p>
            <a:pPr marL="790575" marR="0" lvl="1"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They also have poorly developed blood brain barrier</a:t>
            </a:r>
          </a:p>
          <a:p>
            <a:pPr marL="1209675" marR="0" lvl="2" indent="-276225" algn="l" defTabSz="914400" rtl="0" eaLnBrk="1" fontAlgn="base" latinLnBrk="0" hangingPunct="1">
              <a:lnSpc>
                <a:spcPct val="80000"/>
              </a:lnSpc>
              <a:spcBef>
                <a:spcPct val="20000"/>
              </a:spcBef>
              <a:spcAft>
                <a:spcPct val="0"/>
              </a:spcAft>
              <a:buClrTx/>
              <a:buSzTx/>
              <a:buFontTx/>
              <a:buBlip>
                <a:blip r:embed="rId4"/>
              </a:buBlip>
              <a:tabLst/>
              <a:defRPr/>
            </a:pPr>
            <a:r>
              <a:rPr kumimoji="0" lang="en-US" altLang="en-US" sz="2100" b="0" i="0" u="none" strike="noStrike" kern="0" cap="none" spc="0" normalizeH="0" baseline="0" noProof="0" dirty="0">
                <a:ln>
                  <a:noFill/>
                </a:ln>
                <a:solidFill>
                  <a:srgbClr val="000000"/>
                </a:solidFill>
                <a:effectLst/>
                <a:uLnTx/>
                <a:uFillTx/>
                <a:latin typeface="Arial"/>
                <a:ea typeface="MS PGothic" pitchFamily="34" charset="-128"/>
              </a:rPr>
              <a:t>Can get hyperbilirubinemia which leads to encephalopathy</a:t>
            </a:r>
          </a:p>
          <a:p>
            <a:pPr marL="790575" marR="0" lvl="1" indent="-314325" algn="l" defTabSz="914400" rtl="0" eaLnBrk="1" fontAlgn="base" latinLnBrk="0" hangingPunct="1">
              <a:lnSpc>
                <a:spcPct val="80000"/>
              </a:lnSpc>
              <a:spcBef>
                <a:spcPct val="20000"/>
              </a:spcBef>
              <a:spcAft>
                <a:spcPct val="0"/>
              </a:spcAft>
              <a:buClrTx/>
              <a:buSzTx/>
              <a:buFontTx/>
              <a:buBlip>
                <a:blip r:embed="rId3"/>
              </a:buBlip>
              <a:tabLst/>
              <a:defRPr/>
            </a:pPr>
            <a:r>
              <a:rPr kumimoji="0" lang="en-US" altLang="en-US" sz="2000" b="1" i="0" u="none" strike="noStrike" kern="0" cap="none" spc="0" normalizeH="0" baseline="0" noProof="0" dirty="0">
                <a:ln>
                  <a:noFill/>
                </a:ln>
                <a:solidFill>
                  <a:srgbClr val="000000"/>
                </a:solidFill>
                <a:effectLst/>
                <a:uLnTx/>
                <a:uFillTx/>
                <a:latin typeface="Arial"/>
                <a:ea typeface="MS PGothic" pitchFamily="34" charset="-128"/>
              </a:rPr>
              <a:t>Have poorly developed kidneys which can  alter excretion and cause jaundice</a:t>
            </a: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2000" b="1"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Tree>
    <p:extLst>
      <p:ext uri="{BB962C8B-B14F-4D97-AF65-F5344CB8AC3E}">
        <p14:creationId xmlns:p14="http://schemas.microsoft.com/office/powerpoint/2010/main" val="176760581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81000" y="340894"/>
            <a:ext cx="8763000" cy="5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2"/>
              </a:buBlip>
              <a:tabLst/>
              <a:defRPr/>
            </a:pPr>
            <a:r>
              <a:rPr kumimoji="0" lang="en-US" altLang="en-US" sz="2800" b="0" i="0" u="sng" strike="noStrike" kern="0" cap="none" spc="0" normalizeH="0" baseline="0" noProof="0" dirty="0">
                <a:ln>
                  <a:noFill/>
                </a:ln>
                <a:solidFill>
                  <a:srgbClr val="000000"/>
                </a:solidFill>
                <a:effectLst/>
                <a:uLnTx/>
                <a:uFillTx/>
                <a:latin typeface="Arial"/>
                <a:ea typeface="MS PGothic" pitchFamily="34" charset="-128"/>
                <a:cs typeface="+mn-cs"/>
              </a:rPr>
              <a:t>Variations in drug metabolism</a:t>
            </a:r>
            <a:r>
              <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rPr>
              <a:t>:</a:t>
            </a:r>
          </a:p>
          <a:p>
            <a:pPr marL="863600"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Generally, men metabolize faster than women (ex: alcohol)</a:t>
            </a:r>
          </a:p>
          <a:p>
            <a:pPr marL="863600" marR="0" lvl="2" indent="-276225" algn="l" defTabSz="914400" rtl="0" eaLnBrk="1" fontAlgn="base" latinLnBrk="0" hangingPunct="1">
              <a:lnSpc>
                <a:spcPct val="100000"/>
              </a:lnSpc>
              <a:spcBef>
                <a:spcPct val="20000"/>
              </a:spcBef>
              <a:spcAft>
                <a:spcPct val="0"/>
              </a:spcAft>
              <a:buClrTx/>
              <a:buSzTx/>
              <a:buFontTx/>
              <a:buBlip>
                <a:blip r:embed="rId4"/>
              </a:buBlip>
              <a:tabLst/>
              <a:defRPr/>
            </a:pP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Diseases can affect drug metabolism (ex: hepatitis, cardiac (</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 blood flow to the liver), pulmonary disease)</a:t>
            </a:r>
          </a:p>
          <a:p>
            <a:pPr lvl="1" defTabSz="914400" eaLnBrk="1" hangingPunct="1">
              <a:buFontTx/>
              <a:buBlip>
                <a:blip r:embed="rId2"/>
              </a:buBlip>
            </a:pP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Arial" panose="020B0604020202020204" pitchFamily="34" charset="0"/>
              </a:rPr>
              <a:t>Genetic </a:t>
            </a:r>
            <a:r>
              <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rPr>
              <a:t>polymorphism. </a:t>
            </a:r>
          </a:p>
          <a:p>
            <a:pPr marL="1311275" lvl="3" defTabSz="914400" eaLnBrk="1" hangingPunct="1"/>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Differences in the metabolism of drugs in different races or populations.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E.g</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50% of Caucasians are slow </a:t>
            </a:r>
            <a:r>
              <a:rPr kumimoji="0" lang="en-US" altLang="en-US" sz="2400" b="0" i="0" u="none" strike="noStrike" kern="0" cap="none" spc="0" normalizeH="0" baseline="0" noProof="0" dirty="0" err="1">
                <a:ln>
                  <a:noFill/>
                </a:ln>
                <a:solidFill>
                  <a:srgbClr val="000000"/>
                </a:solidFill>
                <a:effectLst/>
                <a:uLnTx/>
                <a:uFillTx/>
                <a:latin typeface="Arial"/>
                <a:ea typeface="MS PGothic" pitchFamily="34" charset="-128"/>
              </a:rPr>
              <a:t>acetylators</a:t>
            </a:r>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 of Isoniazid, Hydralazine and procainamide.</a:t>
            </a:r>
          </a:p>
          <a:p>
            <a:pPr marL="1311275" lvl="3" defTabSz="914400" eaLnBrk="1" hangingPunct="1"/>
            <a:r>
              <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rPr>
              <a:t>Some individuals are poor metabolizers or extensive metabolizers of debrisoquine, (i.e. hydroxylation of debrisoquine via CYP 2D6)</a:t>
            </a:r>
          </a:p>
          <a:p>
            <a:pPr lvl="2" indent="-314325" defTabSz="914400" eaLnBrk="1" hangingPunct="1">
              <a:buFontTx/>
              <a:buBlip>
                <a:blip r:embed="rId3"/>
              </a:buBlip>
            </a:pPr>
            <a:r>
              <a:rPr kumimoji="0" lang="en-US" altLang="en-US" sz="2200" b="0" i="0" u="none" strike="noStrike" kern="0" cap="none" spc="0" normalizeH="0" baseline="0" noProof="0" dirty="0">
                <a:ln>
                  <a:noFill/>
                </a:ln>
                <a:solidFill>
                  <a:srgbClr val="000000"/>
                </a:solidFill>
                <a:effectLst/>
                <a:uLnTx/>
                <a:uFillTx/>
                <a:latin typeface="Arial"/>
                <a:ea typeface="MS PGothic" pitchFamily="34" charset="-128"/>
              </a:rPr>
              <a:t>Other drugs metabolized by 2D6 are metoprolol and nortriptyline.</a:t>
            </a:r>
          </a:p>
        </p:txBody>
      </p:sp>
    </p:spTree>
    <p:extLst>
      <p:ext uri="{BB962C8B-B14F-4D97-AF65-F5344CB8AC3E}">
        <p14:creationId xmlns:p14="http://schemas.microsoft.com/office/powerpoint/2010/main" val="28635204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1636"/>
          </a:xfrm>
        </p:spPr>
        <p:txBody>
          <a:bodyPr/>
          <a:lstStyle/>
          <a:p>
            <a:r>
              <a:rPr lang="en-US" altLang="en-US" sz="2800" b="1" kern="0" noProof="1">
                <a:solidFill>
                  <a:srgbClr val="00B050"/>
                </a:solidFill>
                <a:latin typeface="Arial"/>
                <a:ea typeface="MS PGothic" pitchFamily="34" charset="-128"/>
              </a:rPr>
              <a:t>Presystemic metabolism and first-pass effect</a:t>
            </a:r>
            <a:endParaRPr lang="en-US" dirty="0">
              <a:solidFill>
                <a:srgbClr val="00B050"/>
              </a:solidFill>
            </a:endParaRPr>
          </a:p>
        </p:txBody>
      </p:sp>
      <p:sp>
        <p:nvSpPr>
          <p:cNvPr id="3" name="Rectangle 3"/>
          <p:cNvSpPr txBox="1">
            <a:spLocks noChangeArrowheads="1"/>
          </p:cNvSpPr>
          <p:nvPr/>
        </p:nvSpPr>
        <p:spPr bwMode="auto">
          <a:xfrm>
            <a:off x="457200" y="926432"/>
            <a:ext cx="8542421"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800" b="0" i="0" u="none" strike="noStrike" kern="0" cap="none" spc="0" normalizeH="0" baseline="0" noProof="1">
                <a:ln>
                  <a:noFill/>
                </a:ln>
                <a:solidFill>
                  <a:srgbClr val="000000"/>
                </a:solidFill>
                <a:effectLst/>
                <a:uLnTx/>
                <a:uFillTx/>
                <a:latin typeface="Arial"/>
                <a:ea typeface="MS PGothic" pitchFamily="34" charset="-128"/>
                <a:cs typeface="+mn-cs"/>
              </a:rPr>
              <a:t>Following oral administration drugs gain access to the systemic circulation via the portal vein, so the entire absorbed dose  is exposed  first to the intestinal wall and then to the liver before gaining the  access to the rest of the body.</a:t>
            </a: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800" b="0" i="0" u="none" strike="noStrike" kern="0" cap="none" spc="0" normalizeH="0" baseline="0" noProof="1">
                <a:ln>
                  <a:noFill/>
                </a:ln>
                <a:solidFill>
                  <a:srgbClr val="000000"/>
                </a:solidFill>
                <a:effectLst/>
                <a:uLnTx/>
                <a:uFillTx/>
                <a:latin typeface="Arial"/>
                <a:ea typeface="MS PGothic" pitchFamily="34" charset="-128"/>
                <a:cs typeface="+mn-cs"/>
              </a:rPr>
              <a:t> If the drug  is rapidly metabolized, a substantional fraction will be extracted and metabolized before it reaches the systemic circulation. This it known as  presystemic metabolism.</a:t>
            </a: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rPr>
              <a:t>Presystemic metabolism </a:t>
            </a:r>
            <a:r>
              <a:rPr kumimoji="0" lang="en-US" altLang="en-US" sz="2100" b="1" i="1" u="none" strike="noStrike" kern="0" cap="none" spc="0" normalizeH="0" baseline="0" noProof="1">
                <a:ln>
                  <a:noFill/>
                </a:ln>
                <a:solidFill>
                  <a:srgbClr val="000000"/>
                </a:solidFill>
                <a:effectLst/>
                <a:uLnTx/>
                <a:uFillTx/>
                <a:latin typeface="Arial"/>
                <a:ea typeface="MS PGothic" pitchFamily="34" charset="-128"/>
                <a:cs typeface="+mn-cs"/>
              </a:rPr>
              <a:t>in the liver:           in the gut:</a:t>
            </a:r>
          </a:p>
          <a:p>
            <a:pPr marL="314325" marR="0" lvl="0" indent="-314325"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100" b="1" i="1" u="none" strike="noStrike" kern="0" cap="none" spc="0" normalizeH="0" baseline="0" noProof="1">
                <a:ln>
                  <a:noFill/>
                </a:ln>
                <a:solidFill>
                  <a:srgbClr val="000000"/>
                </a:solidFill>
                <a:effectLst/>
                <a:uLnTx/>
                <a:uFillTx/>
                <a:latin typeface="Arial"/>
                <a:ea typeface="MS PGothic" pitchFamily="34" charset="-128"/>
                <a:cs typeface="+mn-cs"/>
              </a:rPr>
              <a:t>                                lidocaine,morphine        levodopa, salbutamol</a:t>
            </a:r>
          </a:p>
          <a:p>
            <a:pPr marL="314325" marR="0" lvl="0" indent="-314325" algn="l" defTabSz="914400" rtl="0" eaLnBrk="1" fontAlgn="base" latinLnBrk="0" hangingPunct="1">
              <a:lnSpc>
                <a:spcPct val="80000"/>
              </a:lnSpc>
              <a:spcBef>
                <a:spcPct val="20000"/>
              </a:spcBef>
              <a:spcAft>
                <a:spcPct val="0"/>
              </a:spcAft>
              <a:buClrTx/>
              <a:buSzTx/>
              <a:buFont typeface="Wingdings" panose="05000000000000000000" pitchFamily="2" charset="2"/>
              <a:buNone/>
              <a:tabLst/>
              <a:defRPr/>
            </a:pPr>
            <a:r>
              <a:rPr kumimoji="0" lang="en-US" altLang="en-US" sz="2100" b="0" i="1" u="none" strike="noStrike" kern="0" cap="none" spc="0" normalizeH="0" baseline="0" noProof="1">
                <a:ln>
                  <a:noFill/>
                </a:ln>
                <a:solidFill>
                  <a:srgbClr val="FF6600"/>
                </a:solidFill>
                <a:effectLst/>
                <a:uLnTx/>
                <a:uFillTx/>
                <a:latin typeface="Arial"/>
                <a:ea typeface="MS PGothic" pitchFamily="34" charset="-128"/>
                <a:cs typeface="+mn-cs"/>
              </a:rPr>
              <a:t> </a:t>
            </a:r>
            <a:endParaRPr kumimoji="0" lang="en-US" altLang="en-US" sz="2100" b="0" i="0" u="none" strike="noStrike" kern="0" cap="none" spc="0" normalizeH="0" baseline="0" noProof="1">
              <a:ln>
                <a:noFill/>
              </a:ln>
              <a:solidFill>
                <a:srgbClr val="FF6600"/>
              </a:solidFill>
              <a:effectLst/>
              <a:uLnTx/>
              <a:uFillTx/>
              <a:latin typeface="Arial"/>
              <a:ea typeface="MS PGothic" pitchFamily="34" charset="-128"/>
              <a:cs typeface="+mn-cs"/>
            </a:endParaRPr>
          </a:p>
        </p:txBody>
      </p:sp>
    </p:spTree>
    <p:extLst>
      <p:ext uri="{BB962C8B-B14F-4D97-AF65-F5344CB8AC3E}">
        <p14:creationId xmlns:p14="http://schemas.microsoft.com/office/powerpoint/2010/main" val="41086109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330200" y="974558"/>
            <a:ext cx="835660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3200" b="0" i="0" u="none" strike="noStrike" kern="0" cap="none" spc="0" normalizeH="0" baseline="0" noProof="1">
                <a:ln>
                  <a:noFill/>
                </a:ln>
                <a:solidFill>
                  <a:srgbClr val="000000"/>
                </a:solidFill>
                <a:effectLst/>
                <a:uLnTx/>
                <a:uFillTx/>
                <a:latin typeface="Arial"/>
                <a:ea typeface="MS PGothic" pitchFamily="34" charset="-128"/>
                <a:cs typeface="+mn-cs"/>
              </a:rPr>
              <a:t>Pronounced first-pass metabolism necessitates high </a:t>
            </a:r>
            <a:r>
              <a:rPr kumimoji="0" lang="en-US" sz="3200" b="0" i="1" u="none" strike="noStrike" kern="0" cap="none" spc="0" normalizeH="0" baseline="0" noProof="1">
                <a:ln>
                  <a:noFill/>
                </a:ln>
                <a:solidFill>
                  <a:srgbClr val="000000"/>
                </a:solidFill>
                <a:effectLst/>
                <a:uLnTx/>
                <a:uFillTx/>
                <a:latin typeface="Arial"/>
                <a:ea typeface="MS PGothic" pitchFamily="34" charset="-128"/>
                <a:cs typeface="+mn-cs"/>
              </a:rPr>
              <a:t>oral doses</a:t>
            </a:r>
            <a:r>
              <a:rPr kumimoji="0" lang="en-US" sz="3200" b="0" i="0" u="none" strike="noStrike" kern="0" cap="none" spc="0" normalizeH="0" baseline="0" noProof="1">
                <a:ln>
                  <a:noFill/>
                </a:ln>
                <a:solidFill>
                  <a:srgbClr val="000000"/>
                </a:solidFill>
                <a:effectLst/>
                <a:uLnTx/>
                <a:uFillTx/>
                <a:latin typeface="Arial"/>
                <a:ea typeface="MS PGothic" pitchFamily="34" charset="-128"/>
                <a:cs typeface="+mn-cs"/>
              </a:rPr>
              <a:t> by comparison with the IV route. </a:t>
            </a: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sz="2800" b="0"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Alternative routes of drug delivery e.g.</a:t>
            </a:r>
          </a:p>
          <a:p>
            <a:pPr marL="1144588"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rectal, </a:t>
            </a:r>
          </a:p>
          <a:p>
            <a:pPr marL="1144588"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buccal, </a:t>
            </a:r>
          </a:p>
          <a:p>
            <a:pPr marL="1144588"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sublingual, </a:t>
            </a:r>
          </a:p>
          <a:p>
            <a:pPr marL="1144588"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inhalation or </a:t>
            </a:r>
          </a:p>
          <a:p>
            <a:pPr marL="1144588"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transdermal </a:t>
            </a: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partly or completely </a:t>
            </a:r>
            <a:r>
              <a:rPr kumimoji="0" lang="en-US" sz="2800" b="1" i="1" u="none" strike="noStrike" kern="0" cap="none" spc="0" normalizeH="0" baseline="0" noProof="1">
                <a:ln>
                  <a:noFill/>
                </a:ln>
                <a:solidFill>
                  <a:srgbClr val="000000"/>
                </a:solidFill>
                <a:effectLst/>
                <a:uLnTx/>
                <a:uFillTx/>
                <a:latin typeface="Arial"/>
                <a:ea typeface="MS PGothic" pitchFamily="34" charset="-128"/>
                <a:cs typeface="+mn-cs"/>
              </a:rPr>
              <a:t>bypass</a:t>
            </a:r>
            <a:r>
              <a:rPr kumimoji="0" lang="en-US" sz="2800" b="0" i="1" u="none" strike="noStrike" kern="0" cap="none" spc="0" normalizeH="0" baseline="0" noProof="1">
                <a:ln>
                  <a:noFill/>
                </a:ln>
                <a:solidFill>
                  <a:srgbClr val="000000"/>
                </a:solidFill>
                <a:effectLst/>
                <a:uLnTx/>
                <a:uFillTx/>
                <a:latin typeface="Arial"/>
                <a:ea typeface="MS PGothic" pitchFamily="34" charset="-128"/>
                <a:cs typeface="+mn-cs"/>
              </a:rPr>
              <a:t> </a:t>
            </a:r>
            <a:r>
              <a:rPr kumimoji="0" lang="en-US" sz="2800" b="0" i="0" u="none" strike="noStrike" kern="0" cap="none" spc="0" normalizeH="0" baseline="0" noProof="1">
                <a:ln>
                  <a:noFill/>
                </a:ln>
                <a:solidFill>
                  <a:srgbClr val="000000"/>
                </a:solidFill>
                <a:effectLst/>
                <a:uLnTx/>
                <a:uFillTx/>
                <a:latin typeface="Arial"/>
                <a:ea typeface="MS PGothic" pitchFamily="34" charset="-128"/>
                <a:cs typeface="+mn-cs"/>
              </a:rPr>
              <a:t>presystemic metabolism (elimination).</a:t>
            </a:r>
            <a:endParaRPr kumimoji="0" lang="cs-CZ"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80000"/>
              </a:lnSpc>
              <a:spcBef>
                <a:spcPct val="20000"/>
              </a:spcBef>
              <a:spcAft>
                <a:spcPct val="0"/>
              </a:spcAft>
              <a:buClrTx/>
              <a:buSzTx/>
              <a:buFontTx/>
              <a:buBlip>
                <a:blip r:embed="rId2"/>
              </a:buBlip>
              <a:tabLst/>
              <a:defRPr/>
            </a:pPr>
            <a:endPar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endParaRPr kumimoji="0" 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5" name="Title 1"/>
          <p:cNvSpPr>
            <a:spLocks noGrp="1"/>
          </p:cNvSpPr>
          <p:nvPr>
            <p:ph type="title"/>
          </p:nvPr>
        </p:nvSpPr>
        <p:spPr>
          <a:xfrm>
            <a:off x="457200" y="274638"/>
            <a:ext cx="8229600" cy="699920"/>
          </a:xfrm>
        </p:spPr>
        <p:txBody>
          <a:bodyPr/>
          <a:lstStyle/>
          <a:p>
            <a:r>
              <a:rPr lang="en-US" altLang="en-US" sz="2800" b="1" kern="0" noProof="1">
                <a:solidFill>
                  <a:srgbClr val="00B050"/>
                </a:solidFill>
                <a:latin typeface="Arial"/>
                <a:ea typeface="MS PGothic" pitchFamily="34" charset="-128"/>
              </a:rPr>
              <a:t>Presystemic metabolism and first-pass effect</a:t>
            </a:r>
            <a:endParaRPr lang="en-US" dirty="0">
              <a:solidFill>
                <a:srgbClr val="00B050"/>
              </a:solidFill>
            </a:endParaRPr>
          </a:p>
        </p:txBody>
      </p:sp>
    </p:spTree>
    <p:extLst>
      <p:ext uri="{BB962C8B-B14F-4D97-AF65-F5344CB8AC3E}">
        <p14:creationId xmlns:p14="http://schemas.microsoft.com/office/powerpoint/2010/main" val="30859532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9336"/>
          </a:xfrm>
        </p:spPr>
        <p:txBody>
          <a:bodyPr/>
          <a:lstStyle/>
          <a:p>
            <a:r>
              <a:rPr lang="en-US" b="1" dirty="0">
                <a:solidFill>
                  <a:srgbClr val="00B050"/>
                </a:solidFill>
              </a:rPr>
              <a:t>Paracetamol</a:t>
            </a:r>
            <a:r>
              <a:rPr lang="en-US" dirty="0"/>
              <a:t> </a:t>
            </a:r>
            <a:r>
              <a:rPr lang="en-US" b="1" dirty="0">
                <a:solidFill>
                  <a:srgbClr val="00B050"/>
                </a:solidFill>
              </a:rPr>
              <a:t>Toxicity</a:t>
            </a:r>
          </a:p>
        </p:txBody>
      </p:sp>
      <p:pic>
        <p:nvPicPr>
          <p:cNvPr id="3" name="Picture 2"/>
          <p:cNvPicPr>
            <a:picLocks noChangeAspect="1"/>
          </p:cNvPicPr>
          <p:nvPr/>
        </p:nvPicPr>
        <p:blipFill>
          <a:blip r:embed="rId3"/>
          <a:stretch>
            <a:fillRect/>
          </a:stretch>
        </p:blipFill>
        <p:spPr>
          <a:xfrm>
            <a:off x="240194" y="1208546"/>
            <a:ext cx="8243607" cy="4496513"/>
          </a:xfrm>
          <a:prstGeom prst="rect">
            <a:avLst/>
          </a:prstGeom>
        </p:spPr>
      </p:pic>
    </p:spTree>
    <p:extLst>
      <p:ext uri="{BB962C8B-B14F-4D97-AF65-F5344CB8AC3E}">
        <p14:creationId xmlns:p14="http://schemas.microsoft.com/office/powerpoint/2010/main" val="4362682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txBox="1">
            <a:spLocks noChangeArrowheads="1"/>
          </p:cNvSpPr>
          <p:nvPr/>
        </p:nvSpPr>
        <p:spPr bwMode="auto">
          <a:xfrm>
            <a:off x="685800" y="185928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algn="ctr" defTabSz="914400" eaLnBrk="1" hangingPunct="1"/>
            <a:r>
              <a:rPr lang="en-US" altLang="en-US" sz="6000" kern="0" dirty="0">
                <a:solidFill>
                  <a:srgbClr val="00B050"/>
                </a:solidFill>
                <a:latin typeface="Bradley Hand ITC" panose="03070402050302030203" pitchFamily="66" charset="0"/>
              </a:rPr>
              <a:t>DRUG EXCRETION</a:t>
            </a:r>
          </a:p>
        </p:txBody>
      </p:sp>
      <p:sp>
        <p:nvSpPr>
          <p:cNvPr id="4" name="Rectangle 3"/>
          <p:cNvSpPr/>
          <p:nvPr/>
        </p:nvSpPr>
        <p:spPr>
          <a:xfrm>
            <a:off x="2753129" y="3112628"/>
            <a:ext cx="2793358" cy="646331"/>
          </a:xfrm>
          <a:prstGeom prst="rect">
            <a:avLst/>
          </a:prstGeom>
        </p:spPr>
        <p:txBody>
          <a:bodyPr wrap="square">
            <a:spAutoFit/>
          </a:bodyPr>
          <a:lstStyle/>
          <a:p>
            <a:pPr lvl="0" algn="ctr"/>
            <a:r>
              <a:rPr lang="en-US" sz="3600" b="1" kern="0" dirty="0">
                <a:latin typeface="Agency FB" panose="020B0503020202020204" pitchFamily="34" charset="0"/>
                <a:ea typeface="MS PGothic" pitchFamily="34" charset="-128"/>
                <a:cs typeface="+mj-cs"/>
              </a:rPr>
              <a:t>ADM</a:t>
            </a:r>
            <a:r>
              <a:rPr lang="en-US" sz="3600" b="1" kern="0" dirty="0">
                <a:solidFill>
                  <a:srgbClr val="00B050"/>
                </a:solidFill>
                <a:latin typeface="Agency FB" panose="020B0503020202020204" pitchFamily="34" charset="0"/>
                <a:ea typeface="MS PGothic" pitchFamily="34" charset="-128"/>
                <a:cs typeface="+mj-cs"/>
              </a:rPr>
              <a:t>E</a:t>
            </a:r>
          </a:p>
        </p:txBody>
      </p:sp>
    </p:spTree>
    <p:extLst>
      <p:ext uri="{BB962C8B-B14F-4D97-AF65-F5344CB8AC3E}">
        <p14:creationId xmlns:p14="http://schemas.microsoft.com/office/powerpoint/2010/main" val="119853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68" decel="100000"/>
                                        <p:tgtEl>
                                          <p:spTgt spid="3"/>
                                        </p:tgtEl>
                                      </p:cBhvr>
                                    </p:animEffect>
                                    <p:animScale>
                                      <p:cBhvr>
                                        <p:cTn id="8" dur="768" decel="100000"/>
                                        <p:tgtEl>
                                          <p:spTgt spid="3"/>
                                        </p:tgtEl>
                                      </p:cBhvr>
                                      <p:from x="10000" y="10000"/>
                                      <p:to x="200000" y="450000"/>
                                    </p:animScale>
                                    <p:animScale>
                                      <p:cBhvr>
                                        <p:cTn id="9" dur="1230" accel="100000" fill="hold">
                                          <p:stCondLst>
                                            <p:cond delay="768"/>
                                          </p:stCondLst>
                                        </p:cTn>
                                        <p:tgtEl>
                                          <p:spTgt spid="3"/>
                                        </p:tgtEl>
                                      </p:cBhvr>
                                      <p:from x="200000" y="450000"/>
                                      <p:to x="100000" y="100000"/>
                                    </p:animScale>
                                    <p:set>
                                      <p:cBhvr>
                                        <p:cTn id="10" dur="768" fill="hold"/>
                                        <p:tgtEl>
                                          <p:spTgt spid="3"/>
                                        </p:tgtEl>
                                        <p:attrNameLst>
                                          <p:attrName>ppt_x</p:attrName>
                                        </p:attrNameLst>
                                      </p:cBhvr>
                                      <p:to>
                                        <p:strVal val="(0.5)"/>
                                      </p:to>
                                    </p:set>
                                    <p:anim from="(0.5)" to="(#ppt_x)" calcmode="lin" valueType="num">
                                      <p:cBhvr>
                                        <p:cTn id="11" dur="1230" accel="100000" fill="hold">
                                          <p:stCondLst>
                                            <p:cond delay="768"/>
                                          </p:stCondLst>
                                        </p:cTn>
                                        <p:tgtEl>
                                          <p:spTgt spid="3"/>
                                        </p:tgtEl>
                                        <p:attrNameLst>
                                          <p:attrName>ppt_x</p:attrName>
                                        </p:attrNameLst>
                                      </p:cBhvr>
                                    </p:anim>
                                    <p:set>
                                      <p:cBhvr>
                                        <p:cTn id="12" dur="768" fill="hold"/>
                                        <p:tgtEl>
                                          <p:spTgt spid="3"/>
                                        </p:tgtEl>
                                        <p:attrNameLst>
                                          <p:attrName>ppt_y</p:attrName>
                                        </p:attrNameLst>
                                      </p:cBhvr>
                                      <p:to>
                                        <p:strVal val="(#ppt_y+0.4)"/>
                                      </p:to>
                                    </p:set>
                                    <p:anim from="(#ppt_y+0.4)" to="(#ppt_y)" calcmode="lin" valueType="num">
                                      <p:cBhvr>
                                        <p:cTn id="13" dur="1230" accel="100000" fill="hold">
                                          <p:stCondLst>
                                            <p:cond delay="768"/>
                                          </p:stCondLst>
                                        </p:cTn>
                                        <p:tgtEl>
                                          <p:spTgt spid="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58750" y="762001"/>
            <a:ext cx="8846102" cy="4940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indent="-276225" defTabSz="914400" eaLnBrk="1" hangingPunct="1">
              <a:lnSpc>
                <a:spcPct val="90000"/>
              </a:lnSpc>
              <a:buFontTx/>
              <a:buBlip>
                <a:blip r:embed="rId5"/>
              </a:buBlip>
              <a:defRPr/>
            </a:pPr>
            <a:r>
              <a:rPr lang="en-US" sz="2400" kern="0" dirty="0">
                <a:solidFill>
                  <a:srgbClr val="000000"/>
                </a:solidFill>
                <a:latin typeface="Arial"/>
              </a:rPr>
              <a:t>Irreversible loss of drug from the body. </a:t>
            </a:r>
          </a:p>
          <a:p>
            <a:pPr indent="-276225" defTabSz="914400" eaLnBrk="1" hangingPunct="1">
              <a:lnSpc>
                <a:spcPct val="90000"/>
              </a:lnSpc>
              <a:buFontTx/>
              <a:buBlip>
                <a:blip r:embed="rId5"/>
              </a:buBlip>
              <a:defRPr/>
            </a:pPr>
            <a:r>
              <a:rPr lang="en-US" sz="2400" kern="0" dirty="0">
                <a:solidFill>
                  <a:srgbClr val="000000"/>
                </a:solidFill>
                <a:latin typeface="Arial"/>
              </a:rPr>
              <a:t>It occurs by two processes: Metabolism and Excretion</a:t>
            </a:r>
          </a:p>
          <a:p>
            <a:pPr indent="-276225" defTabSz="914400" eaLnBrk="1" hangingPunct="1">
              <a:lnSpc>
                <a:spcPct val="90000"/>
              </a:lnSpc>
              <a:buFontTx/>
              <a:buBlip>
                <a:blip r:embed="rId5"/>
              </a:buBlip>
              <a:defRPr/>
            </a:pPr>
            <a:r>
              <a:rPr lang="en-US" sz="2400" kern="0" dirty="0">
                <a:solidFill>
                  <a:srgbClr val="000000"/>
                </a:solidFill>
                <a:latin typeface="Arial"/>
              </a:rPr>
              <a:t>Clearance is the sum of all drug eliminating processes.</a:t>
            </a:r>
          </a:p>
          <a:p>
            <a:pPr lvl="0" defTabSz="914400" eaLnBrk="1" hangingPunct="1">
              <a:lnSpc>
                <a:spcPct val="90000"/>
              </a:lnSpc>
              <a:buNone/>
              <a:defRPr/>
            </a:pPr>
            <a:r>
              <a:rPr lang="en-US" altLang="en-US" kern="0" dirty="0">
                <a:solidFill>
                  <a:srgbClr val="000000"/>
                </a:solidFill>
                <a:latin typeface="Arial"/>
              </a:rPr>
              <a:t>Renal drug excretion:</a:t>
            </a:r>
          </a:p>
          <a:p>
            <a:pPr lvl="0" defTabSz="914400" eaLnBrk="1" hangingPunct="1">
              <a:lnSpc>
                <a:spcPct val="90000"/>
              </a:lnSpc>
              <a:defRPr/>
            </a:pPr>
            <a:r>
              <a:rPr lang="en-US" altLang="en-US" kern="0" dirty="0">
                <a:solidFill>
                  <a:srgbClr val="000000"/>
                </a:solidFill>
                <a:latin typeface="Arial"/>
              </a:rPr>
              <a:t>Drugs differ greatly in the way they are cleared by the kidneys.</a:t>
            </a:r>
          </a:p>
          <a:p>
            <a:pPr lvl="2" defTabSz="914400" eaLnBrk="1" hangingPunct="1">
              <a:lnSpc>
                <a:spcPct val="90000"/>
              </a:lnSpc>
              <a:defRPr/>
            </a:pPr>
            <a:r>
              <a:rPr lang="en-US" altLang="en-US" kern="0" dirty="0">
                <a:solidFill>
                  <a:srgbClr val="000000"/>
                </a:solidFill>
                <a:latin typeface="Arial"/>
              </a:rPr>
              <a:t> For e.g.  </a:t>
            </a:r>
            <a:r>
              <a:rPr lang="en-US" altLang="en-US" kern="0" dirty="0" err="1">
                <a:solidFill>
                  <a:srgbClr val="000000"/>
                </a:solidFill>
                <a:latin typeface="Arial"/>
              </a:rPr>
              <a:t>penicillins</a:t>
            </a:r>
            <a:r>
              <a:rPr lang="en-US" altLang="en-US" kern="0" dirty="0">
                <a:solidFill>
                  <a:srgbClr val="000000"/>
                </a:solidFill>
                <a:latin typeface="Arial"/>
              </a:rPr>
              <a:t> are almost completely cleared on a single transit through the kidney where as diazepam is cleared extremely slowly by the kidneys.</a:t>
            </a:r>
          </a:p>
          <a:p>
            <a:pPr marL="314325" marR="0" lvl="0" indent="-314325" algn="l"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rPr>
              <a:t>Urine is the principal </a:t>
            </a:r>
            <a:r>
              <a:rPr kumimoji="0" lang="en-US" altLang="en-US" sz="2300" b="1" i="0" u="none" strike="noStrike" kern="0" cap="none" spc="0" normalizeH="0" baseline="0" noProof="0" dirty="0">
                <a:ln>
                  <a:noFill/>
                </a:ln>
                <a:solidFill>
                  <a:srgbClr val="000000"/>
                </a:solidFill>
                <a:effectLst/>
                <a:uLnTx/>
                <a:uFillTx/>
                <a:latin typeface="Arial"/>
                <a:ea typeface="MS PGothic" pitchFamily="34" charset="-128"/>
                <a:cs typeface="+mn-cs"/>
              </a:rPr>
              <a:t>but NOT the only route</a:t>
            </a:r>
            <a:r>
              <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rPr>
              <a:t> of excretion</a:t>
            </a:r>
          </a:p>
          <a:p>
            <a:pPr marL="314325" marR="0" lvl="0" indent="-3143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endPar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r>
              <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rPr>
              <a:t>M i n o r   r o u t es </a:t>
            </a:r>
            <a:r>
              <a:rPr kumimoji="0" lang="en-US" altLang="en-US" sz="2100" b="1" i="0" u="none" strike="noStrike" kern="0" cap="none" spc="0" normalizeH="0" baseline="0" noProof="1">
                <a:ln>
                  <a:noFill/>
                </a:ln>
                <a:solidFill>
                  <a:srgbClr val="6600CC"/>
                </a:solidFill>
                <a:effectLst/>
                <a:uLnTx/>
                <a:uFillTx/>
                <a:latin typeface="Arial"/>
                <a:ea typeface="MS PGothic" pitchFamily="34" charset="-128"/>
                <a:cs typeface="+mn-cs"/>
              </a:rPr>
              <a:t>:</a:t>
            </a:r>
          </a:p>
          <a:p>
            <a:pPr marL="314325" marR="0" lvl="0"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rPr>
              <a:t>drugs m</a:t>
            </a:r>
            <a:r>
              <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rPr>
              <a:t>a</a:t>
            </a:r>
            <a:r>
              <a:rPr kumimoji="0" lang="en-US" altLang="en-US" sz="2100" b="1" i="0" u="none" strike="noStrike" kern="0" cap="none" spc="0" normalizeH="0" baseline="0" noProof="1">
                <a:ln>
                  <a:noFill/>
                </a:ln>
                <a:solidFill>
                  <a:srgbClr val="000000"/>
                </a:solidFill>
                <a:effectLst/>
                <a:uLnTx/>
                <a:uFillTx/>
                <a:latin typeface="Arial"/>
                <a:ea typeface="MS PGothic" pitchFamily="34" charset="-128"/>
                <a:cs typeface="+mn-cs"/>
              </a:rPr>
              <a:t>y be excreted in </a:t>
            </a:r>
            <a:endParaRPr kumimoji="0" lang="en-US" altLang="en-US" sz="21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saliva </a:t>
            </a:r>
            <a:r>
              <a:rPr kumimoji="0" lang="en-US" altLang="en-US" sz="2100" b="1" i="0" u="sng" strike="noStrike" kern="0" cap="none" spc="0" normalizeH="0" baseline="0" noProof="1">
                <a:ln>
                  <a:noFill/>
                </a:ln>
                <a:solidFill>
                  <a:srgbClr val="6600CC"/>
                </a:solidFill>
                <a:effectLst/>
                <a:uLnTx/>
                <a:uFillTx/>
                <a:latin typeface="Arial"/>
                <a:ea typeface="MS PGothic" pitchFamily="34" charset="-128"/>
                <a:cs typeface="+mn-cs"/>
              </a:rPr>
              <a:t>(phenytoin)</a:t>
            </a: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 </a:t>
            </a:r>
            <a:endParaRPr kumimoji="0" lang="en-US" altLang="en-US" sz="2100" b="1" i="0" u="sng"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sweat </a:t>
            </a:r>
            <a:r>
              <a:rPr kumimoji="0" lang="en-US" altLang="en-US" sz="2100" b="1" i="0" u="sng" strike="noStrike" kern="0" cap="none" spc="0" normalizeH="0" baseline="0" noProof="1">
                <a:ln>
                  <a:noFill/>
                </a:ln>
                <a:solidFill>
                  <a:srgbClr val="6600CC"/>
                </a:solidFill>
                <a:effectLst/>
                <a:uLnTx/>
                <a:uFillTx/>
                <a:latin typeface="Arial"/>
                <a:ea typeface="MS PGothic" pitchFamily="34" charset="-128"/>
                <a:cs typeface="+mn-cs"/>
              </a:rPr>
              <a:t>(salicylates)</a:t>
            </a: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 </a:t>
            </a:r>
            <a:endParaRPr kumimoji="0" lang="en-US" altLang="en-US" sz="2100" b="1" i="0" u="sng"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expired air </a:t>
            </a:r>
            <a:r>
              <a:rPr kumimoji="0" lang="en-US" altLang="en-US" sz="2100" b="1" i="0" u="sng" strike="noStrike" kern="0" cap="none" spc="0" normalizeH="0" baseline="0" noProof="1">
                <a:ln>
                  <a:noFill/>
                </a:ln>
                <a:solidFill>
                  <a:srgbClr val="6600CC"/>
                </a:solidFill>
                <a:effectLst/>
                <a:uLnTx/>
                <a:uFillTx/>
                <a:latin typeface="Arial"/>
                <a:ea typeface="MS PGothic" pitchFamily="34" charset="-128"/>
                <a:cs typeface="+mn-cs"/>
              </a:rPr>
              <a:t>(narcotics),</a:t>
            </a: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 </a:t>
            </a:r>
            <a:endParaRPr kumimoji="0" lang="en-US" altLang="en-US" sz="2100" b="1" i="0" u="sng"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100" b="1" i="0" u="sng" strike="noStrike" kern="0" cap="none" spc="0" normalizeH="0" baseline="0" noProof="1">
                <a:ln>
                  <a:noFill/>
                </a:ln>
                <a:solidFill>
                  <a:srgbClr val="000000"/>
                </a:solidFill>
                <a:effectLst/>
                <a:uLnTx/>
                <a:uFillTx/>
                <a:latin typeface="Arial"/>
                <a:ea typeface="MS PGothic" pitchFamily="34" charset="-128"/>
                <a:cs typeface="+mn-cs"/>
              </a:rPr>
              <a:t>breast milk </a:t>
            </a:r>
            <a:r>
              <a:rPr kumimoji="0" lang="en-US" altLang="en-US" sz="2100" b="1" i="0" u="sng" strike="noStrike" kern="0" cap="none" spc="0" normalizeH="0" baseline="0" noProof="1">
                <a:ln>
                  <a:noFill/>
                </a:ln>
                <a:solidFill>
                  <a:srgbClr val="6600CC"/>
                </a:solidFill>
                <a:effectLst/>
                <a:uLnTx/>
                <a:uFillTx/>
                <a:latin typeface="Arial"/>
                <a:ea typeface="MS PGothic" pitchFamily="34" charset="-128"/>
                <a:cs typeface="+mn-cs"/>
              </a:rPr>
              <a:t>(amiodarone, aspirin).</a:t>
            </a:r>
            <a:endPar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90000"/>
              </a:lnSpc>
              <a:spcBef>
                <a:spcPct val="20000"/>
              </a:spcBef>
              <a:spcAft>
                <a:spcPct val="0"/>
              </a:spcAft>
              <a:buClrTx/>
              <a:buSzTx/>
              <a:buFont typeface="Wingdings" panose="05000000000000000000" pitchFamily="2" charset="2"/>
              <a:buNone/>
              <a:tabLst/>
              <a:defRPr/>
            </a:pPr>
            <a:endParaRPr kumimoji="0" lang="en-US" altLang="en-US" sz="20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a:xfrm>
            <a:off x="457200" y="122238"/>
            <a:ext cx="7543800" cy="6397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dirty="0">
                <a:solidFill>
                  <a:srgbClr val="00B050"/>
                </a:solidFill>
                <a:latin typeface="Bradley Hand ITC" panose="03070402050302030203" pitchFamily="66" charset="0"/>
              </a:rPr>
              <a:t>DRUG ELIMINATION</a:t>
            </a:r>
          </a:p>
        </p:txBody>
      </p:sp>
    </p:spTree>
    <p:extLst>
      <p:ext uri="{BB962C8B-B14F-4D97-AF65-F5344CB8AC3E}">
        <p14:creationId xmlns:p14="http://schemas.microsoft.com/office/powerpoint/2010/main" val="42326342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143000"/>
            <a:ext cx="784225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3"/>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4"/>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5"/>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6"/>
              </a:buBlip>
              <a:defRPr sz="1400">
                <a:solidFill>
                  <a:schemeClr val="tx1"/>
                </a:solidFill>
                <a:latin typeface="+mn-lt"/>
              </a:defRPr>
            </a:lvl6pPr>
            <a:lvl7pPr marL="2971800" indent="-228600" algn="l" rtl="0" fontAlgn="base">
              <a:spcBef>
                <a:spcPct val="20000"/>
              </a:spcBef>
              <a:spcAft>
                <a:spcPct val="0"/>
              </a:spcAft>
              <a:buSzPct val="60000"/>
              <a:buBlip>
                <a:blip r:embed="rId6"/>
              </a:buBlip>
              <a:defRPr sz="1400">
                <a:solidFill>
                  <a:schemeClr val="tx1"/>
                </a:solidFill>
                <a:latin typeface="+mn-lt"/>
              </a:defRPr>
            </a:lvl7pPr>
            <a:lvl8pPr marL="3429000" indent="-228600" algn="l" rtl="0" fontAlgn="base">
              <a:spcBef>
                <a:spcPct val="20000"/>
              </a:spcBef>
              <a:spcAft>
                <a:spcPct val="0"/>
              </a:spcAft>
              <a:buSzPct val="60000"/>
              <a:buBlip>
                <a:blip r:embed="rId6"/>
              </a:buBlip>
              <a:defRPr sz="1400">
                <a:solidFill>
                  <a:schemeClr val="tx1"/>
                </a:solidFill>
                <a:latin typeface="+mn-lt"/>
              </a:defRPr>
            </a:lvl8pPr>
            <a:lvl9pPr marL="3886200" indent="-228600" algn="l" rtl="0" fontAlgn="base">
              <a:spcBef>
                <a:spcPct val="20000"/>
              </a:spcBef>
              <a:spcAft>
                <a:spcPct val="0"/>
              </a:spcAft>
              <a:buSzPct val="60000"/>
              <a:buBlip>
                <a:blip r:embed="rId6"/>
              </a:buBlip>
              <a:defRPr sz="1400">
                <a:solidFill>
                  <a:schemeClr val="tx1"/>
                </a:solidFill>
                <a:latin typeface="+mn-lt"/>
              </a:defRPr>
            </a:lvl9pPr>
          </a:lstStyle>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some drugs are mainly excreted by </a:t>
            </a:r>
            <a:r>
              <a:rPr kumimoji="0" lang="en-US" altLang="en-US" sz="2600" b="1" i="0" u="sng" strike="noStrike" kern="0" cap="none" spc="0" normalizeH="0" baseline="0" noProof="1">
                <a:ln>
                  <a:noFill/>
                </a:ln>
                <a:solidFill>
                  <a:srgbClr val="000000"/>
                </a:solidFill>
                <a:effectLst/>
                <a:uLnTx/>
                <a:uFillTx/>
                <a:latin typeface="Arial"/>
                <a:ea typeface="MS PGothic" pitchFamily="34" charset="-128"/>
                <a:cs typeface="+mn-cs"/>
              </a:rPr>
              <a:t>the kidney</a:t>
            </a: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a:t>
            </a:r>
            <a:r>
              <a:rPr kumimoji="0" lang="en-US" altLang="en-US" sz="2600" b="1" i="0" u="none" strike="noStrike" kern="0" cap="none" spc="0" normalizeH="0" baseline="0" noProof="1">
                <a:ln>
                  <a:noFill/>
                </a:ln>
                <a:solidFill>
                  <a:srgbClr val="FF6600"/>
                </a:solidFill>
                <a:effectLst/>
                <a:uLnTx/>
                <a:uFillTx/>
                <a:latin typeface="Arial"/>
                <a:ea typeface="MS PGothic" pitchFamily="34" charset="-128"/>
                <a:cs typeface="+mn-cs"/>
              </a:rPr>
              <a:t>without  prior metabolism</a:t>
            </a: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a:t>
            </a:r>
            <a:r>
              <a:rPr kumimoji="0" lang="en-US" altLang="en-US" sz="2600" b="1" i="0" u="none" strike="noStrike" kern="0" cap="none" spc="0" normalizeH="0" baseline="0" noProof="1">
                <a:ln>
                  <a:noFill/>
                </a:ln>
                <a:solidFill>
                  <a:srgbClr val="6600CC"/>
                </a:solidFill>
                <a:effectLst/>
                <a:uLnTx/>
                <a:uFillTx/>
                <a:latin typeface="Arial"/>
                <a:ea typeface="MS PGothic" pitchFamily="34" charset="-128"/>
                <a:cs typeface="+mn-cs"/>
              </a:rPr>
              <a:t>digoxin, gentamicin, lithium</a:t>
            </a:r>
            <a:endParaRPr kumimoji="0" lang="en-US" altLang="en-US" sz="2600" b="0"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a:t>
            </a:r>
            <a:endPar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most drug metabolites are </a:t>
            </a:r>
            <a:r>
              <a:rPr kumimoji="0" lang="en-US" altLang="en-US" sz="2600" b="1" i="0" u="none" strike="noStrike" kern="0" cap="none" spc="0" normalizeH="0" baseline="0" noProof="1">
                <a:ln>
                  <a:noFill/>
                </a:ln>
                <a:solidFill>
                  <a:srgbClr val="FF6600"/>
                </a:solidFill>
                <a:effectLst/>
                <a:uLnTx/>
                <a:uFillTx/>
                <a:latin typeface="Arial"/>
                <a:ea typeface="MS PGothic" pitchFamily="34" charset="-128"/>
                <a:cs typeface="+mn-cs"/>
              </a:rPr>
              <a:t>inactive</a:t>
            </a: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and their rate of renal excretion is usually without clinical importance-  </a:t>
            </a:r>
            <a:r>
              <a:rPr kumimoji="0" lang="en-US" altLang="en-US" sz="2600" b="1" i="0" u="none" strike="noStrike" kern="0" cap="none" spc="0" normalizeH="0" baseline="0" noProof="1">
                <a:ln>
                  <a:noFill/>
                </a:ln>
                <a:solidFill>
                  <a:srgbClr val="4664AA"/>
                </a:solidFill>
                <a:effectLst/>
                <a:uLnTx/>
                <a:uFillTx/>
                <a:latin typeface="Arial"/>
                <a:ea typeface="MS PGothic" pitchFamily="34" charset="-128"/>
                <a:cs typeface="+mn-cs"/>
              </a:rPr>
              <a:t>neuroleptics</a:t>
            </a:r>
            <a:endPar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 typeface="Wingdings" panose="05000000000000000000" pitchFamily="2" charset="2"/>
              <a:buNone/>
              <a:tabLst/>
              <a:defRPr/>
            </a:pPr>
            <a:endParaRPr kumimoji="0" lang="en-US" altLang="en-US" sz="2600" b="1" i="0" u="none" strike="noStrike" kern="0" cap="none" spc="0" normalizeH="0" baseline="0" noProof="0" dirty="0">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if metabolites </a:t>
            </a:r>
            <a:r>
              <a:rPr kumimoji="0" lang="en-US" altLang="en-US" sz="2600" b="1" i="0" u="none" strike="noStrike" kern="0" cap="none" spc="0" normalizeH="0" baseline="0" noProof="1">
                <a:ln>
                  <a:noFill/>
                </a:ln>
                <a:solidFill>
                  <a:srgbClr val="FF6600"/>
                </a:solidFill>
                <a:effectLst/>
                <a:uLnTx/>
                <a:uFillTx/>
                <a:latin typeface="Arial"/>
                <a:ea typeface="MS PGothic" pitchFamily="34" charset="-128"/>
                <a:cs typeface="+mn-cs"/>
              </a:rPr>
              <a:t>retain pharmacological activity</a:t>
            </a:r>
            <a:r>
              <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rPr>
              <a:t>, drug   action may be terminated by excretion NOT by  biotransformation- </a:t>
            </a:r>
            <a:r>
              <a:rPr kumimoji="0" lang="en-US" altLang="en-US" sz="2600" b="1" i="0" u="none" strike="noStrike" kern="0" cap="none" spc="0" normalizeH="0" baseline="0" noProof="1">
                <a:ln>
                  <a:noFill/>
                </a:ln>
                <a:solidFill>
                  <a:srgbClr val="4664AA"/>
                </a:solidFill>
                <a:effectLst/>
                <a:uLnTx/>
                <a:uFillTx/>
                <a:latin typeface="Arial"/>
                <a:ea typeface="MS PGothic" pitchFamily="34" charset="-128"/>
                <a:cs typeface="+mn-cs"/>
              </a:rPr>
              <a:t>nordiazepam</a:t>
            </a:r>
            <a:endParaRPr kumimoji="0" lang="en-US" altLang="en-US" sz="2600" b="1" i="0" u="none" strike="noStrike" kern="0" cap="none" spc="0" normalizeH="0" baseline="0" noProof="1">
              <a:ln>
                <a:noFill/>
              </a:ln>
              <a:solidFill>
                <a:srgbClr val="000000"/>
              </a:solidFill>
              <a:effectLst/>
              <a:uLnTx/>
              <a:uFillTx/>
              <a:latin typeface="Arial"/>
              <a:ea typeface="MS PGothic" pitchFamily="34" charset="-128"/>
              <a:cs typeface="+mn-cs"/>
            </a:endParaRPr>
          </a:p>
          <a:p>
            <a:pPr marL="314325" marR="0" lvl="0" indent="-314325" algn="l" defTabSz="914400" rtl="0" eaLnBrk="1" fontAlgn="base" latinLnBrk="0" hangingPunct="1">
              <a:lnSpc>
                <a:spcPct val="100000"/>
              </a:lnSpc>
              <a:spcBef>
                <a:spcPct val="20000"/>
              </a:spcBef>
              <a:spcAft>
                <a:spcPct val="0"/>
              </a:spcAft>
              <a:buClrTx/>
              <a:buSzTx/>
              <a:buFontTx/>
              <a:buBlip>
                <a:blip r:embed="rId3"/>
              </a:buBlip>
              <a:tabLst/>
              <a:defRPr/>
            </a:pPr>
            <a:endParaRPr kumimoji="0" lang="en-US" altLang="en-US" sz="26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sp>
        <p:nvSpPr>
          <p:cNvPr id="4" name="Rectangle 2"/>
          <p:cNvSpPr txBox="1">
            <a:spLocks noChangeArrowheads="1"/>
          </p:cNvSpPr>
          <p:nvPr/>
        </p:nvSpPr>
        <p:spPr>
          <a:xfrm>
            <a:off x="457200" y="122238"/>
            <a:ext cx="7543800" cy="715962"/>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i="1" dirty="0">
                <a:solidFill>
                  <a:srgbClr val="00B050"/>
                </a:solidFill>
                <a:latin typeface="Bradley Hand ITC" panose="03070402050302030203" pitchFamily="66" charset="0"/>
              </a:rPr>
              <a:t>DRUG EXCRETION</a:t>
            </a:r>
            <a:r>
              <a:rPr lang="en-US" altLang="en-US" i="1" dirty="0">
                <a:solidFill>
                  <a:srgbClr val="00B050"/>
                </a:solidFill>
              </a:rPr>
              <a:t> </a:t>
            </a:r>
          </a:p>
        </p:txBody>
      </p:sp>
    </p:spTree>
    <p:extLst>
      <p:ext uri="{BB962C8B-B14F-4D97-AF65-F5344CB8AC3E}">
        <p14:creationId xmlns:p14="http://schemas.microsoft.com/office/powerpoint/2010/main" val="236233701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6727" y="227474"/>
            <a:ext cx="8337884" cy="523220"/>
          </a:xfrm>
          <a:prstGeom prst="rect">
            <a:avLst/>
          </a:prstGeom>
        </p:spPr>
        <p:txBody>
          <a:bodyPr wrap="square">
            <a:spAutoFit/>
          </a:bodyPr>
          <a:lstStyle/>
          <a:p>
            <a:pPr algn="ctr"/>
            <a:r>
              <a:rPr lang="en-US" sz="2800" b="1" dirty="0">
                <a:solidFill>
                  <a:srgbClr val="00B050"/>
                </a:solidFill>
                <a:latin typeface="Arial Black" panose="020B0A04020102020204" pitchFamily="34" charset="0"/>
              </a:rPr>
              <a:t>EXTRARENAL CLEARANCE OF DRUGS</a:t>
            </a:r>
            <a:endParaRPr lang="en-US" sz="2800" dirty="0">
              <a:solidFill>
                <a:srgbClr val="00B050"/>
              </a:solidFill>
              <a:latin typeface="Arial Black" panose="020B0A04020102020204" pitchFamily="34" charset="0"/>
            </a:endParaRPr>
          </a:p>
        </p:txBody>
      </p:sp>
      <p:sp>
        <p:nvSpPr>
          <p:cNvPr id="5" name="Rectangle 4"/>
          <p:cNvSpPr/>
          <p:nvPr/>
        </p:nvSpPr>
        <p:spPr>
          <a:xfrm>
            <a:off x="126331" y="762724"/>
            <a:ext cx="8813131" cy="5262979"/>
          </a:xfrm>
          <a:prstGeom prst="rect">
            <a:avLst/>
          </a:prstGeom>
        </p:spPr>
        <p:txBody>
          <a:bodyPr wrap="square">
            <a:spAutoFit/>
          </a:bodyPr>
          <a:lstStyle/>
          <a:p>
            <a:pPr algn="just"/>
            <a:r>
              <a:rPr lang="en-US" sz="2400" kern="0" dirty="0">
                <a:solidFill>
                  <a:srgbClr val="000000"/>
                </a:solidFill>
                <a:latin typeface="Arial"/>
                <a:ea typeface="MS PGothic" pitchFamily="34" charset="-128"/>
              </a:rPr>
              <a:t>Excretion represents the final common pathway for the elimination of drugs. The kidneys are the most significant of the excretory sites. </a:t>
            </a:r>
          </a:p>
          <a:p>
            <a:pPr algn="just"/>
            <a:r>
              <a:rPr lang="en-US" sz="2400" kern="0" dirty="0">
                <a:solidFill>
                  <a:srgbClr val="000000"/>
                </a:solidFill>
                <a:latin typeface="Arial"/>
                <a:ea typeface="MS PGothic" pitchFamily="34" charset="-128"/>
              </a:rPr>
              <a:t>Extrarenal sites include biliary, pulmonary, sweat, salivary, and mammary glands.</a:t>
            </a:r>
          </a:p>
          <a:p>
            <a:pPr algn="just"/>
            <a:endParaRPr lang="en-US" sz="2400" kern="0" dirty="0">
              <a:solidFill>
                <a:srgbClr val="000000"/>
              </a:solidFill>
              <a:latin typeface="Arial"/>
              <a:ea typeface="MS PGothic" pitchFamily="34" charset="-128"/>
            </a:endParaRPr>
          </a:p>
          <a:p>
            <a:pPr algn="just"/>
            <a:r>
              <a:rPr lang="en-US" sz="2400" kern="0" dirty="0">
                <a:solidFill>
                  <a:srgbClr val="000000"/>
                </a:solidFill>
                <a:latin typeface="Arial"/>
                <a:ea typeface="MS PGothic" pitchFamily="34" charset="-128"/>
              </a:rPr>
              <a:t>The lungs are the primary site of elimination for gaseous anesthetics and any other compounds that are volatile. </a:t>
            </a:r>
          </a:p>
          <a:p>
            <a:pPr algn="just"/>
            <a:r>
              <a:rPr lang="en-US" sz="2400" kern="0" dirty="0">
                <a:solidFill>
                  <a:srgbClr val="000000"/>
                </a:solidFill>
                <a:latin typeface="Arial"/>
                <a:ea typeface="MS PGothic" pitchFamily="34" charset="-128"/>
              </a:rPr>
              <a:t>For example, certain aromatic hydrocarbons are largely eliminated in the expired air. </a:t>
            </a:r>
          </a:p>
          <a:p>
            <a:pPr algn="just"/>
            <a:r>
              <a:rPr lang="en-US" sz="2400" kern="0" dirty="0">
                <a:solidFill>
                  <a:srgbClr val="000000"/>
                </a:solidFill>
                <a:latin typeface="Arial"/>
                <a:ea typeface="MS PGothic" pitchFamily="34" charset="-128"/>
              </a:rPr>
              <a:t>The major pathway for the elimination of ethanol, of course, is metabolism by the liver. However, approximately </a:t>
            </a:r>
            <a:r>
              <a:rPr lang="en-US" sz="2400" kern="0" dirty="0">
                <a:solidFill>
                  <a:srgbClr val="FF0000"/>
                </a:solidFill>
                <a:latin typeface="Arial"/>
                <a:ea typeface="MS PGothic" pitchFamily="34" charset="-128"/>
              </a:rPr>
              <a:t>2% is eliminated via the lungs.</a:t>
            </a:r>
          </a:p>
          <a:p>
            <a:pPr algn="just"/>
            <a:endParaRPr lang="en-US" sz="2400" dirty="0"/>
          </a:p>
        </p:txBody>
      </p:sp>
    </p:spTree>
    <p:extLst>
      <p:ext uri="{BB962C8B-B14F-4D97-AF65-F5344CB8AC3E}">
        <p14:creationId xmlns:p14="http://schemas.microsoft.com/office/powerpoint/2010/main" val="15373090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963" y="126083"/>
            <a:ext cx="8229600" cy="687888"/>
          </a:xfrm>
        </p:spPr>
        <p:txBody>
          <a:bodyPr/>
          <a:lstStyle/>
          <a:p>
            <a:r>
              <a:rPr lang="en-US" dirty="0">
                <a:solidFill>
                  <a:srgbClr val="00B050"/>
                </a:solidFill>
                <a:latin typeface="Arial Black" panose="020B0A04020102020204" pitchFamily="34" charset="0"/>
              </a:rPr>
              <a:t>Biliary excretion</a:t>
            </a:r>
          </a:p>
        </p:txBody>
      </p:sp>
      <p:sp>
        <p:nvSpPr>
          <p:cNvPr id="3" name="Rectangle 2"/>
          <p:cNvSpPr/>
          <p:nvPr/>
        </p:nvSpPr>
        <p:spPr>
          <a:xfrm>
            <a:off x="192505" y="813971"/>
            <a:ext cx="8578516" cy="5262979"/>
          </a:xfrm>
          <a:prstGeom prst="rect">
            <a:avLst/>
          </a:prstGeom>
        </p:spPr>
        <p:txBody>
          <a:bodyPr wrap="square">
            <a:spAutoFit/>
          </a:bodyPr>
          <a:lstStyle/>
          <a:p>
            <a:pPr lvl="0" algn="just"/>
            <a:r>
              <a:rPr lang="en-US" sz="2400" dirty="0">
                <a:solidFill>
                  <a:srgbClr val="000000"/>
                </a:solidFill>
                <a:latin typeface="GraphicSabon-Roman"/>
              </a:rPr>
              <a:t>In addition to metabolism, the liver contributes to clearance by secreting approximately 0.5–1.0 liters of bile daily Important constituents of bile include </a:t>
            </a:r>
            <a:r>
              <a:rPr lang="en-US" sz="2400" dirty="0">
                <a:solidFill>
                  <a:srgbClr val="00B050"/>
                </a:solidFill>
                <a:latin typeface="GraphicSabon-Roman"/>
              </a:rPr>
              <a:t>conjugated bile salts, cholesterol, phospholipid, bilirubin </a:t>
            </a:r>
            <a:r>
              <a:rPr lang="en-US" sz="2400" dirty="0" err="1">
                <a:solidFill>
                  <a:srgbClr val="00B050"/>
                </a:solidFill>
                <a:latin typeface="GraphicSabon-Roman"/>
              </a:rPr>
              <a:t>diglucuronide</a:t>
            </a:r>
            <a:r>
              <a:rPr lang="en-US" sz="2400" dirty="0">
                <a:solidFill>
                  <a:srgbClr val="00B050"/>
                </a:solidFill>
                <a:latin typeface="GraphicSabon-Roman"/>
              </a:rPr>
              <a:t>, electrolytes, and drugs</a:t>
            </a:r>
            <a:r>
              <a:rPr lang="en-US" sz="2400" dirty="0">
                <a:solidFill>
                  <a:srgbClr val="000000"/>
                </a:solidFill>
                <a:latin typeface="GraphicSabon-Roman"/>
              </a:rPr>
              <a:t>.</a:t>
            </a:r>
          </a:p>
          <a:p>
            <a:pPr lvl="0" algn="just"/>
            <a:endParaRPr lang="en-US" sz="2400" dirty="0">
              <a:solidFill>
                <a:srgbClr val="000000"/>
              </a:solidFill>
              <a:latin typeface="GraphicSabon-Roman"/>
            </a:endParaRPr>
          </a:p>
          <a:p>
            <a:pPr lvl="0" algn="just"/>
            <a:r>
              <a:rPr lang="en-US" sz="2400" dirty="0">
                <a:solidFill>
                  <a:srgbClr val="000000"/>
                </a:solidFill>
                <a:latin typeface="GraphicSabon-Roman"/>
              </a:rPr>
              <a:t>Biliary excretion is primarily important for compounds with a molecular weight greater than 500 while compounds with a molecular weight less than 300 are preferentially excreted into the urine.</a:t>
            </a:r>
          </a:p>
          <a:p>
            <a:pPr lvl="0" algn="just"/>
            <a:r>
              <a:rPr lang="en-US" sz="2400" dirty="0">
                <a:solidFill>
                  <a:srgbClr val="000000"/>
                </a:solidFill>
                <a:latin typeface="GraphicSabon-Roman"/>
              </a:rPr>
              <a:t>Bile is initially concentrated in the gall bladder and subsequently transported to the small intestine (duodenum) via the bile ducts. Drugs entering the duodenum may be eliminated in the feces or recycled back into the general circulation (i.e., enterohepatic circulation). </a:t>
            </a:r>
            <a:endParaRPr lang="en-US" sz="2400" dirty="0">
              <a:solidFill>
                <a:prstClr val="black"/>
              </a:solidFill>
            </a:endParaRPr>
          </a:p>
        </p:txBody>
      </p:sp>
    </p:spTree>
    <p:extLst>
      <p:ext uri="{BB962C8B-B14F-4D97-AF65-F5344CB8AC3E}">
        <p14:creationId xmlns:p14="http://schemas.microsoft.com/office/powerpoint/2010/main" val="273102406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57200" y="1062789"/>
            <a:ext cx="7772400"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Clearance is the sum of all drug eliminating processes.</a:t>
            </a:r>
          </a:p>
          <a:p>
            <a:pPr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Principally determined by hepatic metabolism and renal excretion.</a:t>
            </a:r>
          </a:p>
          <a:p>
            <a:pPr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Renal Clearance </a:t>
            </a:r>
          </a:p>
          <a:p>
            <a:pPr lvl="1"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Defined as the volume of plasma containing the amount of drug that is removed by the kidney in a given period of time.</a:t>
            </a:r>
          </a:p>
          <a:p>
            <a:pPr defTabSz="914400" eaLnBrk="1" hangingPunct="1">
              <a:lnSpc>
                <a:spcPct val="90000"/>
              </a:lnSpc>
              <a:defRPr/>
            </a:pPr>
            <a:r>
              <a:rPr lang="en-US" sz="2400" u="sng" kern="0" dirty="0">
                <a:latin typeface="Arial" panose="020B0604020202020204" pitchFamily="34" charset="0"/>
                <a:ea typeface="ＭＳ Ｐゴシック" pitchFamily="1" charset="-128"/>
                <a:cs typeface="Arial" panose="020B0604020202020204" pitchFamily="34" charset="0"/>
              </a:rPr>
              <a:t> </a:t>
            </a:r>
            <a:r>
              <a:rPr lang="en-US" sz="2400" kern="0" dirty="0">
                <a:latin typeface="Arial" panose="020B0604020202020204" pitchFamily="34" charset="0"/>
                <a:ea typeface="ＭＳ Ｐゴシック" pitchFamily="1" charset="-128"/>
                <a:cs typeface="Arial" panose="020B0604020202020204" pitchFamily="34" charset="0"/>
              </a:rPr>
              <a:t>  </a:t>
            </a:r>
          </a:p>
          <a:p>
            <a:pPr marL="0" indent="0" defTabSz="914400" eaLnBrk="1" hangingPunct="1">
              <a:lnSpc>
                <a:spcPct val="90000"/>
              </a:lnSpc>
              <a:buNone/>
              <a:defRPr/>
            </a:pPr>
            <a:endParaRPr lang="en-US" sz="2400" kern="0" dirty="0">
              <a:latin typeface="Arial" panose="020B0604020202020204" pitchFamily="34" charset="0"/>
              <a:ea typeface="ＭＳ Ｐゴシック" pitchFamily="1" charset="-128"/>
              <a:cs typeface="Arial" panose="020B0604020202020204" pitchFamily="34" charset="0"/>
            </a:endParaRPr>
          </a:p>
          <a:p>
            <a:pPr defTabSz="914400" eaLnBrk="1" hangingPunct="1">
              <a:lnSpc>
                <a:spcPct val="90000"/>
              </a:lnSpc>
              <a:defRPr/>
            </a:pPr>
            <a:endParaRPr lang="en-US" sz="2400" kern="0" dirty="0">
              <a:latin typeface="Arial" panose="020B0604020202020204" pitchFamily="34" charset="0"/>
              <a:ea typeface="ＭＳ Ｐゴシック" pitchFamily="1" charset="-128"/>
              <a:cs typeface="Arial" panose="020B0604020202020204" pitchFamily="34" charset="0"/>
            </a:endParaRPr>
          </a:p>
          <a:p>
            <a:pPr defTabSz="914400" eaLnBrk="1" hangingPunct="1">
              <a:lnSpc>
                <a:spcPct val="90000"/>
              </a:lnSpc>
              <a:defRPr/>
            </a:pPr>
            <a:endParaRPr lang="en-US" sz="2400" kern="0" dirty="0">
              <a:latin typeface="Arial" panose="020B0604020202020204" pitchFamily="34" charset="0"/>
              <a:ea typeface="ＭＳ Ｐゴシック" pitchFamily="1" charset="-128"/>
              <a:cs typeface="Arial" panose="020B0604020202020204" pitchFamily="34" charset="0"/>
            </a:endParaRPr>
          </a:p>
          <a:p>
            <a:pPr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C</a:t>
            </a:r>
            <a:r>
              <a:rPr lang="en-US" sz="2400" kern="0" baseline="-25000" dirty="0">
                <a:latin typeface="Arial" panose="020B0604020202020204" pitchFamily="34" charset="0"/>
                <a:ea typeface="ＭＳ Ｐゴシック" pitchFamily="1" charset="-128"/>
                <a:cs typeface="Arial" panose="020B0604020202020204" pitchFamily="34" charset="0"/>
              </a:rPr>
              <a:t>u</a:t>
            </a:r>
            <a:r>
              <a:rPr lang="en-US" sz="2400" kern="0" dirty="0">
                <a:latin typeface="Arial" panose="020B0604020202020204" pitchFamily="34" charset="0"/>
                <a:ea typeface="ＭＳ Ｐゴシック" pitchFamily="1" charset="-128"/>
                <a:cs typeface="Arial" panose="020B0604020202020204" pitchFamily="34" charset="0"/>
              </a:rPr>
              <a:t>=urinary concentration, </a:t>
            </a:r>
            <a:r>
              <a:rPr lang="en-US" sz="2400" kern="0" dirty="0" err="1">
                <a:latin typeface="Arial" panose="020B0604020202020204" pitchFamily="34" charset="0"/>
                <a:ea typeface="ＭＳ Ｐゴシック" pitchFamily="1" charset="-128"/>
                <a:cs typeface="Arial" panose="020B0604020202020204" pitchFamily="34" charset="0"/>
              </a:rPr>
              <a:t>C</a:t>
            </a:r>
            <a:r>
              <a:rPr lang="en-US" sz="2400" kern="0" baseline="-25000" dirty="0" err="1">
                <a:latin typeface="Arial" panose="020B0604020202020204" pitchFamily="34" charset="0"/>
                <a:ea typeface="ＭＳ Ｐゴシック" pitchFamily="1" charset="-128"/>
                <a:cs typeface="Arial" panose="020B0604020202020204" pitchFamily="34" charset="0"/>
              </a:rPr>
              <a:t>p</a:t>
            </a:r>
            <a:r>
              <a:rPr lang="en-US" sz="2400" kern="0" dirty="0">
                <a:latin typeface="Arial" panose="020B0604020202020204" pitchFamily="34" charset="0"/>
                <a:ea typeface="ＭＳ Ｐゴシック" pitchFamily="1" charset="-128"/>
                <a:cs typeface="Arial" panose="020B0604020202020204" pitchFamily="34" charset="0"/>
              </a:rPr>
              <a:t>=Plasma conc.</a:t>
            </a:r>
          </a:p>
          <a:p>
            <a:pPr defTabSz="914400" eaLnBrk="1" hangingPunct="1">
              <a:lnSpc>
                <a:spcPct val="90000"/>
              </a:lnSpc>
              <a:defRPr/>
            </a:pPr>
            <a:r>
              <a:rPr lang="en-US" sz="2400" kern="0" dirty="0">
                <a:latin typeface="Arial" panose="020B0604020202020204" pitchFamily="34" charset="0"/>
                <a:ea typeface="ＭＳ Ｐゴシック" pitchFamily="1" charset="-128"/>
                <a:cs typeface="Arial" panose="020B0604020202020204" pitchFamily="34" charset="0"/>
              </a:rPr>
              <a:t>V</a:t>
            </a:r>
            <a:r>
              <a:rPr lang="en-US" sz="2400" kern="0" baseline="-25000" dirty="0">
                <a:latin typeface="Arial" panose="020B0604020202020204" pitchFamily="34" charset="0"/>
                <a:ea typeface="ＭＳ Ｐゴシック" pitchFamily="1" charset="-128"/>
                <a:cs typeface="Arial" panose="020B0604020202020204" pitchFamily="34" charset="0"/>
              </a:rPr>
              <a:t>u</a:t>
            </a:r>
            <a:r>
              <a:rPr lang="en-US" sz="2400" kern="0" dirty="0">
                <a:latin typeface="Arial" panose="020B0604020202020204" pitchFamily="34" charset="0"/>
                <a:ea typeface="ＭＳ Ｐゴシック" pitchFamily="1" charset="-128"/>
                <a:cs typeface="Arial" panose="020B0604020202020204" pitchFamily="34" charset="0"/>
              </a:rPr>
              <a:t>= Rate of flow of urine.</a:t>
            </a:r>
          </a:p>
          <a:p>
            <a:pPr marL="0" indent="0" defTabSz="914400" eaLnBrk="1" hangingPunct="1">
              <a:lnSpc>
                <a:spcPct val="90000"/>
              </a:lnSpc>
              <a:buFontTx/>
              <a:buNone/>
              <a:defRPr/>
            </a:pPr>
            <a:endParaRPr lang="en-US" sz="2400" kern="0" dirty="0">
              <a:latin typeface="Arial" panose="020B0604020202020204" pitchFamily="34" charset="0"/>
              <a:ea typeface="ＭＳ Ｐゴシック" pitchFamily="1" charset="-128"/>
              <a:cs typeface="Arial" panose="020B0604020202020204" pitchFamily="34" charset="0"/>
            </a:endParaRPr>
          </a:p>
        </p:txBody>
      </p:sp>
      <p:graphicFrame>
        <p:nvGraphicFramePr>
          <p:cNvPr id="4" name="Object 5"/>
          <p:cNvGraphicFramePr>
            <a:graphicFrameLocks noChangeAspect="1"/>
          </p:cNvGraphicFramePr>
          <p:nvPr/>
        </p:nvGraphicFramePr>
        <p:xfrm>
          <a:off x="3124200" y="4046538"/>
          <a:ext cx="1600200" cy="982662"/>
        </p:xfrm>
        <a:graphic>
          <a:graphicData uri="http://schemas.openxmlformats.org/presentationml/2006/ole">
            <mc:AlternateContent xmlns:mc="http://schemas.openxmlformats.org/markup-compatibility/2006">
              <mc:Choice xmlns:v="urn:schemas-microsoft-com:vml" Requires="v">
                <p:oleObj name="Equation" r:id="rId6" imgW="672808" imgH="406224" progId="Equation.3">
                  <p:embed/>
                </p:oleObj>
              </mc:Choice>
              <mc:Fallback>
                <p:oleObj name="Equation" r:id="rId6" imgW="672808" imgH="406224" progId="Equation.3">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4046538"/>
                        <a:ext cx="16002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2"/>
          <p:cNvSpPr txBox="1">
            <a:spLocks noChangeArrowheads="1"/>
          </p:cNvSpPr>
          <p:nvPr/>
        </p:nvSpPr>
        <p:spPr bwMode="auto">
          <a:xfrm>
            <a:off x="457200" y="122238"/>
            <a:ext cx="75438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eaLnBrk="1" hangingPunct="1"/>
            <a:r>
              <a:rPr lang="en-US" altLang="en-US" sz="3200" kern="0" dirty="0">
                <a:solidFill>
                  <a:srgbClr val="00B050"/>
                </a:solidFill>
                <a:latin typeface="Arial Black" panose="020B0A04020102020204" pitchFamily="34" charset="0"/>
                <a:cs typeface="Arial" panose="020B0604020202020204" pitchFamily="34" charset="0"/>
              </a:rPr>
              <a:t>Drug Clearance (Elimination)</a:t>
            </a:r>
          </a:p>
        </p:txBody>
      </p:sp>
    </p:spTree>
    <p:extLst>
      <p:ext uri="{BB962C8B-B14F-4D97-AF65-F5344CB8AC3E}">
        <p14:creationId xmlns:p14="http://schemas.microsoft.com/office/powerpoint/2010/main" val="4128772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457200" y="122238"/>
            <a:ext cx="75438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600" b="1" i="0" u="none" strike="noStrike" kern="0" cap="none" spc="0" normalizeH="0" baseline="0" noProof="0">
                <a:ln>
                  <a:noFill/>
                </a:ln>
                <a:solidFill>
                  <a:srgbClr val="00B050"/>
                </a:solidFill>
                <a:effectLst/>
                <a:uLnTx/>
                <a:uFillTx/>
                <a:latin typeface="Arial"/>
                <a:ea typeface="MS PGothic" pitchFamily="34" charset="-128"/>
                <a:cs typeface="+mj-cs"/>
              </a:rPr>
              <a:t>Half life (T</a:t>
            </a:r>
            <a:r>
              <a:rPr kumimoji="0" lang="en-US" altLang="en-US" sz="3600" b="1" i="0" u="none" strike="noStrike" kern="0" cap="none" spc="0" normalizeH="0" baseline="-25000" noProof="0">
                <a:ln>
                  <a:noFill/>
                </a:ln>
                <a:solidFill>
                  <a:srgbClr val="00B050"/>
                </a:solidFill>
                <a:effectLst/>
                <a:uLnTx/>
                <a:uFillTx/>
                <a:latin typeface="Arial"/>
                <a:ea typeface="MS PGothic" pitchFamily="34" charset="-128"/>
                <a:cs typeface="+mj-cs"/>
              </a:rPr>
              <a:t>1/2</a:t>
            </a:r>
            <a:r>
              <a:rPr kumimoji="0" lang="en-US" altLang="en-US" sz="3600" b="1" i="0" u="none" strike="noStrike" kern="0" cap="none" spc="0" normalizeH="0" baseline="0" noProof="0">
                <a:ln>
                  <a:noFill/>
                </a:ln>
                <a:solidFill>
                  <a:srgbClr val="00B050"/>
                </a:solidFill>
                <a:effectLst/>
                <a:uLnTx/>
                <a:uFillTx/>
                <a:latin typeface="Arial"/>
                <a:ea typeface="MS PGothic" pitchFamily="34" charset="-128"/>
                <a:cs typeface="+mj-cs"/>
              </a:rPr>
              <a:t>)</a:t>
            </a:r>
            <a:br>
              <a:rPr kumimoji="0" lang="en-US" altLang="en-US" sz="3600" b="1" i="0" u="none" strike="noStrike" kern="0" cap="none" spc="0" normalizeH="0" baseline="-25000" noProof="0">
                <a:ln>
                  <a:noFill/>
                </a:ln>
                <a:solidFill>
                  <a:srgbClr val="00B050"/>
                </a:solidFill>
                <a:effectLst/>
                <a:uLnTx/>
                <a:uFillTx/>
                <a:latin typeface="Arial"/>
                <a:ea typeface="MS PGothic" pitchFamily="34" charset="-128"/>
                <a:cs typeface="+mj-cs"/>
              </a:rPr>
            </a:br>
            <a:endParaRPr kumimoji="0" lang="en-US" altLang="en-US" sz="3600" b="1" i="0" u="none" strike="noStrike" kern="0" cap="none" spc="0" normalizeH="0" baseline="-25000" noProof="0" dirty="0">
              <a:ln>
                <a:noFill/>
              </a:ln>
              <a:solidFill>
                <a:srgbClr val="00B050"/>
              </a:solidFill>
              <a:effectLst/>
              <a:uLnTx/>
              <a:uFillTx/>
              <a:latin typeface="Arial"/>
              <a:ea typeface="MS PGothic" pitchFamily="34" charset="-128"/>
              <a:cs typeface="+mj-cs"/>
            </a:endParaRPr>
          </a:p>
        </p:txBody>
      </p:sp>
      <p:sp>
        <p:nvSpPr>
          <p:cNvPr id="4" name="Rectangle 3"/>
          <p:cNvSpPr txBox="1">
            <a:spLocks noChangeArrowheads="1"/>
          </p:cNvSpPr>
          <p:nvPr/>
        </p:nvSpPr>
        <p:spPr bwMode="auto">
          <a:xfrm>
            <a:off x="457200" y="9144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r>
              <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rPr>
              <a:t>The plasma-half life of a drug is the time required for the plasma concentration of the drug to fall to ½ (half) of its original value.</a:t>
            </a:r>
          </a:p>
          <a:p>
            <a:pPr marL="314325" marR="0" lvl="2"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r>
              <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rPr>
              <a:t>Whole body half-life:  Time it takes to eliminate half of the body content of a drug.</a:t>
            </a:r>
            <a:endParaRPr kumimoji="0" lang="en-US" sz="2400" b="0" i="0" u="sng" strike="noStrike" kern="0" cap="none" spc="0" normalizeH="0" baseline="0" noProof="0" dirty="0">
              <a:ln>
                <a:noFill/>
              </a:ln>
              <a:solidFill>
                <a:srgbClr val="000000"/>
              </a:solidFill>
              <a:effectLst/>
              <a:uLnTx/>
              <a:uFillTx/>
              <a:latin typeface="Arial"/>
              <a:ea typeface="ＭＳ Ｐゴシック" pitchFamily="1" charset="-128"/>
            </a:endParaRPr>
          </a:p>
          <a:p>
            <a:pPr marL="314325" marR="0" lvl="0"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r>
              <a:rPr kumimoji="0" lang="en-US" sz="2000" b="0" i="0" u="none" strike="noStrike" kern="0" cap="none" spc="0" normalizeH="0" baseline="0" noProof="0" dirty="0">
                <a:ln>
                  <a:noFill/>
                </a:ln>
                <a:solidFill>
                  <a:srgbClr val="000000"/>
                </a:solidFill>
                <a:effectLst/>
                <a:uLnTx/>
                <a:uFillTx/>
                <a:latin typeface="Arial"/>
                <a:ea typeface="ＭＳ Ｐゴシック" pitchFamily="1" charset="-128"/>
                <a:cs typeface="+mn-cs"/>
              </a:rPr>
              <a:t>4 half-lives must elapse after starting a drug dosing regimen before full effects will be seen</a:t>
            </a:r>
          </a:p>
          <a:p>
            <a:pPr marL="314325" marR="0" lvl="0"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endPar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endParaRPr>
          </a:p>
          <a:p>
            <a:pPr marL="314325" marR="0" lvl="0"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endPar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endParaRPr>
          </a:p>
          <a:p>
            <a:pPr marL="3657600" marR="0" lvl="8" indent="0" algn="l" defTabSz="914400" rtl="0" eaLnBrk="1" fontAlgn="base" latinLnBrk="0" hangingPunct="1">
              <a:lnSpc>
                <a:spcPct val="90000"/>
              </a:lnSpc>
              <a:spcBef>
                <a:spcPct val="20000"/>
              </a:spcBef>
              <a:spcAft>
                <a:spcPct val="0"/>
              </a:spcAft>
              <a:buClrTx/>
              <a:buSzPct val="60000"/>
              <a:buFontTx/>
              <a:buNone/>
              <a:tabLst/>
              <a:defRPr/>
            </a:pPr>
            <a:r>
              <a:rPr kumimoji="0" lang="en-US" sz="1400" b="0" i="0" u="none" strike="noStrike" kern="0" cap="none" spc="0" normalizeH="0" baseline="0" noProof="0" dirty="0">
                <a:ln>
                  <a:noFill/>
                </a:ln>
                <a:solidFill>
                  <a:srgbClr val="000000"/>
                </a:solidFill>
                <a:effectLst/>
                <a:uLnTx/>
                <a:uFillTx/>
                <a:latin typeface="Arial"/>
              </a:rPr>
              <a:t>        k = The elimination rate constant</a:t>
            </a:r>
          </a:p>
          <a:p>
            <a:pPr marL="314325" marR="0" lvl="0"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r>
              <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rPr>
              <a:t>The plasma t</a:t>
            </a:r>
            <a:r>
              <a:rPr kumimoji="0" lang="en-US" sz="2400" b="0" i="0" u="none" strike="noStrike" kern="0" cap="none" spc="0" normalizeH="0" baseline="-25000" noProof="0" dirty="0">
                <a:ln>
                  <a:noFill/>
                </a:ln>
                <a:solidFill>
                  <a:srgbClr val="000000"/>
                </a:solidFill>
                <a:effectLst/>
                <a:uLnTx/>
                <a:uFillTx/>
                <a:latin typeface="Arial"/>
                <a:ea typeface="ＭＳ Ｐゴシック" pitchFamily="1" charset="-128"/>
                <a:cs typeface="+mn-cs"/>
              </a:rPr>
              <a:t>1/2</a:t>
            </a:r>
            <a:r>
              <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rPr>
              <a:t> is directly proportional to the volume of distribution and inversely proportional to the rate of clearance.</a:t>
            </a:r>
          </a:p>
          <a:p>
            <a:pPr marL="790575" marR="0" lvl="1" indent="-314325" algn="l" defTabSz="914400" rtl="0" eaLnBrk="1" fontAlgn="base" latinLnBrk="0" hangingPunct="1">
              <a:lnSpc>
                <a:spcPct val="90000"/>
              </a:lnSpc>
              <a:spcBef>
                <a:spcPct val="20000"/>
              </a:spcBef>
              <a:spcAft>
                <a:spcPct val="0"/>
              </a:spcAft>
              <a:buClrTx/>
              <a:buSzTx/>
              <a:buFont typeface="Wingdings" pitchFamily="1" charset="2"/>
              <a:buChar char="§"/>
              <a:tabLst/>
              <a:defRPr/>
            </a:pPr>
            <a:r>
              <a:rPr kumimoji="0" lang="en-US" sz="1800" b="0" i="0" u="none" strike="noStrike" kern="0" cap="none" spc="0" normalizeH="0" baseline="0" noProof="0" dirty="0">
                <a:ln>
                  <a:noFill/>
                </a:ln>
                <a:solidFill>
                  <a:srgbClr val="000000"/>
                </a:solidFill>
                <a:effectLst/>
                <a:uLnTx/>
                <a:uFillTx/>
                <a:latin typeface="Arial"/>
                <a:ea typeface="ＭＳ Ｐゴシック" pitchFamily="1" charset="-128"/>
              </a:rPr>
              <a:t>It can be used to determine dosage interval to achieve a target concentration-time profile.</a:t>
            </a:r>
          </a:p>
          <a:p>
            <a:pPr marL="314325" marR="0" lvl="0" indent="-314325" algn="l" defTabSz="914400" rtl="0" eaLnBrk="1" fontAlgn="base" latinLnBrk="0" hangingPunct="1">
              <a:lnSpc>
                <a:spcPct val="90000"/>
              </a:lnSpc>
              <a:spcBef>
                <a:spcPct val="20000"/>
              </a:spcBef>
              <a:spcAft>
                <a:spcPct val="0"/>
              </a:spcAft>
              <a:buClrTx/>
              <a:buSzTx/>
              <a:buFont typeface="Wingdings" pitchFamily="1" charset="2"/>
              <a:buNone/>
              <a:tabLst/>
              <a:defRPr/>
            </a:pPr>
            <a:endPar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endParaRPr>
          </a:p>
          <a:p>
            <a:pPr marL="314325" marR="0" lvl="0" indent="-314325"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endParaRPr>
          </a:p>
          <a:p>
            <a:pPr marL="314325" marR="0" lvl="0" indent="-314325"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ＭＳ Ｐゴシック" pitchFamily="1" charset="-128"/>
              <a:cs typeface="+mn-cs"/>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4061664345"/>
              </p:ext>
            </p:extLst>
          </p:nvPr>
        </p:nvGraphicFramePr>
        <p:xfrm>
          <a:off x="4876800" y="3111500"/>
          <a:ext cx="1243013" cy="787400"/>
        </p:xfrm>
        <a:graphic>
          <a:graphicData uri="http://schemas.openxmlformats.org/presentationml/2006/ole">
            <mc:AlternateContent xmlns:mc="http://schemas.openxmlformats.org/markup-compatibility/2006">
              <mc:Choice xmlns:v="urn:schemas-microsoft-com:vml" Requires="v">
                <p:oleObj name="Equation" r:id="rId6" imgW="622030" imgH="393529" progId="Equation.3">
                  <p:embed/>
                </p:oleObj>
              </mc:Choice>
              <mc:Fallback>
                <p:oleObj name="Equation" r:id="rId6" imgW="622030"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3111500"/>
                        <a:ext cx="1243013"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7633341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76200" y="1295400"/>
            <a:ext cx="8763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just" defTabSz="914400" fontAlgn="base">
              <a:lnSpc>
                <a:spcPct val="120000"/>
              </a:lnSpc>
              <a:spcBef>
                <a:spcPct val="30000"/>
              </a:spcBef>
              <a:spcAft>
                <a:spcPct val="0"/>
              </a:spcAft>
              <a:buClr>
                <a:srgbClr val="0000FF"/>
              </a:buClr>
            </a:pPr>
            <a:r>
              <a:rPr lang="en-US" altLang="en-US" sz="2400" dirty="0">
                <a:solidFill>
                  <a:srgbClr val="000000"/>
                </a:solidFill>
                <a:latin typeface="Verdana" panose="020B0604030504040204" pitchFamily="34" charset="0"/>
                <a:cs typeface="Arial" panose="020B0604020202020204" pitchFamily="34" charset="0"/>
              </a:rPr>
              <a:t> </a:t>
            </a:r>
            <a:r>
              <a:rPr lang="en-US" altLang="en-US" sz="3200" dirty="0">
                <a:solidFill>
                  <a:srgbClr val="000000"/>
                </a:solidFill>
                <a:latin typeface="Verdana" panose="020B0604030504040204" pitchFamily="34" charset="0"/>
                <a:cs typeface="Arial" panose="020B0604020202020204" pitchFamily="34" charset="0"/>
              </a:rPr>
              <a:t>1</a:t>
            </a:r>
            <a:r>
              <a:rPr lang="en-US" altLang="en-US" sz="2800" dirty="0">
                <a:solidFill>
                  <a:srgbClr val="000000"/>
                </a:solidFill>
                <a:latin typeface="Verdana" panose="020B0604030504040204" pitchFamily="34" charset="0"/>
                <a:cs typeface="Arial" panose="020B0604020202020204" pitchFamily="34" charset="0"/>
              </a:rPr>
              <a:t> t</a:t>
            </a:r>
            <a:r>
              <a:rPr lang="en-US" altLang="en-US" sz="1200" dirty="0">
                <a:solidFill>
                  <a:srgbClr val="000000"/>
                </a:solidFill>
                <a:latin typeface="Verdana" panose="020B0604030504040204" pitchFamily="34" charset="0"/>
                <a:cs typeface="Arial" panose="020B0604020202020204" pitchFamily="34" charset="0"/>
              </a:rPr>
              <a:t>1/2     </a:t>
            </a:r>
            <a:r>
              <a:rPr lang="en-US" altLang="en-US" sz="2400" dirty="0">
                <a:solidFill>
                  <a:srgbClr val="000000"/>
                </a:solidFill>
                <a:latin typeface="Verdana" panose="020B0604030504040204" pitchFamily="34" charset="0"/>
                <a:cs typeface="Arial" panose="020B0604020202020204" pitchFamily="34" charset="0"/>
              </a:rPr>
              <a:t>-</a:t>
            </a:r>
            <a:r>
              <a:rPr lang="en-US" altLang="en-US" sz="1200" dirty="0">
                <a:solidFill>
                  <a:srgbClr val="000000"/>
                </a:solidFill>
                <a:latin typeface="Verdana" panose="020B0604030504040204" pitchFamily="34" charset="0"/>
                <a:cs typeface="Arial" panose="020B0604020202020204" pitchFamily="34" charset="0"/>
              </a:rPr>
              <a:t> </a:t>
            </a:r>
            <a:r>
              <a:rPr lang="en-US" altLang="en-US" sz="2400" dirty="0">
                <a:solidFill>
                  <a:srgbClr val="000000"/>
                </a:solidFill>
                <a:latin typeface="Verdana" panose="020B0604030504040204" pitchFamily="34" charset="0"/>
                <a:cs typeface="Arial" panose="020B0604020202020204" pitchFamily="34" charset="0"/>
              </a:rPr>
              <a:t> </a:t>
            </a:r>
            <a:r>
              <a:rPr lang="en-US" altLang="en-US" sz="2400" dirty="0">
                <a:solidFill>
                  <a:srgbClr val="FF00FF"/>
                </a:solidFill>
                <a:latin typeface="Verdana" panose="020B0604030504040204" pitchFamily="34" charset="0"/>
                <a:cs typeface="Arial" panose="020B0604020202020204" pitchFamily="34" charset="0"/>
              </a:rPr>
              <a:t>50 %</a:t>
            </a:r>
            <a:r>
              <a:rPr lang="en-US" altLang="en-US" sz="2400" dirty="0">
                <a:solidFill>
                  <a:srgbClr val="000000"/>
                </a:solidFill>
                <a:latin typeface="Verdana" panose="020B0604030504040204" pitchFamily="34" charset="0"/>
                <a:cs typeface="Arial" panose="020B0604020202020204" pitchFamily="34" charset="0"/>
              </a:rPr>
              <a:t> drug is eliminated</a:t>
            </a:r>
          </a:p>
          <a:p>
            <a:pPr algn="just" defTabSz="914400" fontAlgn="base">
              <a:lnSpc>
                <a:spcPct val="120000"/>
              </a:lnSpc>
              <a:spcBef>
                <a:spcPct val="30000"/>
              </a:spcBef>
              <a:spcAft>
                <a:spcPct val="0"/>
              </a:spcAft>
              <a:buClr>
                <a:srgbClr val="0000FF"/>
              </a:buClr>
            </a:pPr>
            <a:r>
              <a:rPr lang="en-US" altLang="en-US" sz="2400" b="1" dirty="0">
                <a:solidFill>
                  <a:srgbClr val="000000"/>
                </a:solidFill>
                <a:latin typeface="Verdana" panose="020B0604030504040204" pitchFamily="34" charset="0"/>
                <a:cs typeface="Arial" panose="020B0604020202020204" pitchFamily="34" charset="0"/>
              </a:rPr>
              <a:t> 2</a:t>
            </a:r>
            <a:r>
              <a:rPr lang="en-US" altLang="en-US" sz="2400" dirty="0">
                <a:solidFill>
                  <a:srgbClr val="000000"/>
                </a:solidFill>
                <a:latin typeface="Verdana" panose="020B0604030504040204" pitchFamily="34" charset="0"/>
                <a:cs typeface="Arial" panose="020B0604020202020204" pitchFamily="34" charset="0"/>
              </a:rPr>
              <a:t>  </a:t>
            </a:r>
            <a:r>
              <a:rPr lang="en-US" altLang="en-US" sz="2800" dirty="0">
                <a:solidFill>
                  <a:srgbClr val="000000"/>
                </a:solidFill>
                <a:latin typeface="Verdana" panose="020B0604030504040204" pitchFamily="34" charset="0"/>
                <a:cs typeface="Arial" panose="020B0604020202020204" pitchFamily="34" charset="0"/>
              </a:rPr>
              <a:t>t</a:t>
            </a:r>
            <a:r>
              <a:rPr lang="en-US" altLang="en-US" sz="1200" dirty="0">
                <a:solidFill>
                  <a:srgbClr val="000000"/>
                </a:solidFill>
                <a:latin typeface="Verdana" panose="020B0604030504040204" pitchFamily="34" charset="0"/>
                <a:cs typeface="Arial" panose="020B0604020202020204" pitchFamily="34" charset="0"/>
              </a:rPr>
              <a:t>1/2  </a:t>
            </a:r>
            <a:r>
              <a:rPr lang="en-US" altLang="en-US" sz="2400" dirty="0">
                <a:solidFill>
                  <a:srgbClr val="000000"/>
                </a:solidFill>
                <a:latin typeface="Verdana" panose="020B0604030504040204" pitchFamily="34" charset="0"/>
                <a:cs typeface="Arial" panose="020B0604020202020204" pitchFamily="34" charset="0"/>
              </a:rPr>
              <a:t> -  50+25 (</a:t>
            </a:r>
            <a:r>
              <a:rPr lang="en-US" altLang="en-US" sz="2400" dirty="0">
                <a:solidFill>
                  <a:srgbClr val="FF00FF"/>
                </a:solidFill>
                <a:latin typeface="Verdana" panose="020B0604030504040204" pitchFamily="34" charset="0"/>
                <a:cs typeface="Arial" panose="020B0604020202020204" pitchFamily="34" charset="0"/>
              </a:rPr>
              <a:t>75 %</a:t>
            </a:r>
            <a:r>
              <a:rPr lang="en-US" altLang="en-US" sz="2400" dirty="0">
                <a:solidFill>
                  <a:srgbClr val="000000"/>
                </a:solidFill>
                <a:latin typeface="Verdana" panose="020B0604030504040204" pitchFamily="34" charset="0"/>
                <a:cs typeface="Arial" panose="020B0604020202020204" pitchFamily="34" charset="0"/>
              </a:rPr>
              <a:t>) drug is eliminated</a:t>
            </a:r>
          </a:p>
          <a:p>
            <a:pPr algn="just" defTabSz="914400" fontAlgn="base">
              <a:lnSpc>
                <a:spcPct val="120000"/>
              </a:lnSpc>
              <a:spcBef>
                <a:spcPct val="30000"/>
              </a:spcBef>
              <a:spcAft>
                <a:spcPct val="0"/>
              </a:spcAft>
              <a:buClr>
                <a:srgbClr val="0000FF"/>
              </a:buClr>
            </a:pPr>
            <a:r>
              <a:rPr lang="en-US" altLang="en-US" sz="2400" b="1" dirty="0">
                <a:solidFill>
                  <a:srgbClr val="000000"/>
                </a:solidFill>
                <a:latin typeface="Verdana" panose="020B0604030504040204" pitchFamily="34" charset="0"/>
                <a:cs typeface="Arial" panose="020B0604020202020204" pitchFamily="34" charset="0"/>
              </a:rPr>
              <a:t> 3  </a:t>
            </a:r>
            <a:r>
              <a:rPr lang="en-US" altLang="en-US" sz="2800" dirty="0">
                <a:solidFill>
                  <a:srgbClr val="000000"/>
                </a:solidFill>
                <a:latin typeface="Verdana" panose="020B0604030504040204" pitchFamily="34" charset="0"/>
                <a:cs typeface="Arial" panose="020B0604020202020204" pitchFamily="34" charset="0"/>
              </a:rPr>
              <a:t>t</a:t>
            </a:r>
            <a:r>
              <a:rPr lang="en-US" altLang="en-US" sz="1200" dirty="0">
                <a:solidFill>
                  <a:srgbClr val="000000"/>
                </a:solidFill>
                <a:latin typeface="Verdana" panose="020B0604030504040204" pitchFamily="34" charset="0"/>
                <a:cs typeface="Arial" panose="020B0604020202020204" pitchFamily="34" charset="0"/>
              </a:rPr>
              <a:t>1/2  </a:t>
            </a:r>
            <a:r>
              <a:rPr lang="en-US" altLang="en-US" sz="2400" dirty="0">
                <a:solidFill>
                  <a:srgbClr val="000000"/>
                </a:solidFill>
                <a:latin typeface="Verdana" panose="020B0604030504040204" pitchFamily="34" charset="0"/>
                <a:cs typeface="Arial" panose="020B0604020202020204" pitchFamily="34" charset="0"/>
              </a:rPr>
              <a:t> -  50+25 +12.5 (</a:t>
            </a:r>
            <a:r>
              <a:rPr lang="en-US" altLang="en-US" sz="2400" dirty="0">
                <a:solidFill>
                  <a:srgbClr val="FF00FF"/>
                </a:solidFill>
                <a:latin typeface="Verdana" panose="020B0604030504040204" pitchFamily="34" charset="0"/>
                <a:cs typeface="Arial" panose="020B0604020202020204" pitchFamily="34" charset="0"/>
              </a:rPr>
              <a:t>87.5 %</a:t>
            </a:r>
            <a:r>
              <a:rPr lang="en-US" altLang="en-US" sz="2400" dirty="0">
                <a:solidFill>
                  <a:srgbClr val="000000"/>
                </a:solidFill>
                <a:latin typeface="Verdana" panose="020B0604030504040204" pitchFamily="34" charset="0"/>
                <a:cs typeface="Arial" panose="020B0604020202020204" pitchFamily="34" charset="0"/>
              </a:rPr>
              <a:t>) drug is eliminated</a:t>
            </a:r>
          </a:p>
          <a:p>
            <a:pPr algn="just" defTabSz="914400" fontAlgn="base">
              <a:lnSpc>
                <a:spcPct val="120000"/>
              </a:lnSpc>
              <a:spcBef>
                <a:spcPct val="30000"/>
              </a:spcBef>
              <a:spcAft>
                <a:spcPct val="0"/>
              </a:spcAft>
              <a:buClr>
                <a:srgbClr val="0000FF"/>
              </a:buClr>
            </a:pPr>
            <a:r>
              <a:rPr lang="en-US" altLang="en-US" sz="2400" b="1" dirty="0">
                <a:solidFill>
                  <a:srgbClr val="000000"/>
                </a:solidFill>
                <a:latin typeface="Verdana" panose="020B0604030504040204" pitchFamily="34" charset="0"/>
                <a:cs typeface="Arial" panose="020B0604020202020204" pitchFamily="34" charset="0"/>
              </a:rPr>
              <a:t> 4 </a:t>
            </a:r>
            <a:r>
              <a:rPr lang="en-US" altLang="en-US" sz="2800" dirty="0">
                <a:solidFill>
                  <a:srgbClr val="000000"/>
                </a:solidFill>
                <a:latin typeface="Verdana" panose="020B0604030504040204" pitchFamily="34" charset="0"/>
                <a:cs typeface="Arial" panose="020B0604020202020204" pitchFamily="34" charset="0"/>
              </a:rPr>
              <a:t>t</a:t>
            </a:r>
            <a:r>
              <a:rPr lang="en-US" altLang="en-US" sz="1200" dirty="0">
                <a:solidFill>
                  <a:srgbClr val="000000"/>
                </a:solidFill>
                <a:latin typeface="Verdana" panose="020B0604030504040204" pitchFamily="34" charset="0"/>
                <a:cs typeface="Arial" panose="020B0604020202020204" pitchFamily="34" charset="0"/>
              </a:rPr>
              <a:t>1/2 </a:t>
            </a:r>
            <a:r>
              <a:rPr lang="en-US" altLang="en-US" sz="2400" dirty="0">
                <a:solidFill>
                  <a:srgbClr val="000000"/>
                </a:solidFill>
                <a:latin typeface="Verdana" panose="020B0604030504040204" pitchFamily="34" charset="0"/>
                <a:cs typeface="Arial" panose="020B0604020202020204" pitchFamily="34" charset="0"/>
              </a:rPr>
              <a:t>- 50+25 +12.5+6.25 (</a:t>
            </a:r>
            <a:r>
              <a:rPr lang="en-US" altLang="en-US" sz="2400" dirty="0">
                <a:solidFill>
                  <a:srgbClr val="FF00FF"/>
                </a:solidFill>
                <a:latin typeface="Verdana" panose="020B0604030504040204" pitchFamily="34" charset="0"/>
                <a:cs typeface="Arial" panose="020B0604020202020204" pitchFamily="34" charset="0"/>
              </a:rPr>
              <a:t>93.7 %</a:t>
            </a:r>
            <a:r>
              <a:rPr lang="en-US" altLang="en-US" sz="2400" dirty="0">
                <a:solidFill>
                  <a:srgbClr val="000000"/>
                </a:solidFill>
                <a:latin typeface="Verdana" panose="020B0604030504040204" pitchFamily="34" charset="0"/>
                <a:cs typeface="Arial" panose="020B0604020202020204" pitchFamily="34" charset="0"/>
              </a:rPr>
              <a:t>) drug is eliminated</a:t>
            </a:r>
          </a:p>
          <a:p>
            <a:pPr algn="just" defTabSz="914400" fontAlgn="base">
              <a:lnSpc>
                <a:spcPct val="120000"/>
              </a:lnSpc>
              <a:spcBef>
                <a:spcPct val="30000"/>
              </a:spcBef>
              <a:spcAft>
                <a:spcPct val="0"/>
              </a:spcAft>
              <a:buClr>
                <a:srgbClr val="0000FF"/>
              </a:buClr>
            </a:pPr>
            <a:r>
              <a:rPr lang="en-US" altLang="en-US" sz="2400" dirty="0">
                <a:solidFill>
                  <a:srgbClr val="000000"/>
                </a:solidFill>
                <a:latin typeface="Verdana" panose="020B0604030504040204" pitchFamily="34" charset="0"/>
                <a:cs typeface="Arial" panose="020B0604020202020204" pitchFamily="34" charset="0"/>
              </a:rPr>
              <a:t>Thus, nearly complete drug elimination occurs in 4-5 half lives.</a:t>
            </a:r>
            <a:endParaRPr lang="en-US" altLang="en-US" sz="1200" dirty="0">
              <a:solidFill>
                <a:srgbClr val="000000"/>
              </a:solidFill>
              <a:latin typeface="Verdana" panose="020B0604030504040204" pitchFamily="34" charset="0"/>
              <a:cs typeface="Arial" panose="020B0604020202020204" pitchFamily="34" charset="0"/>
            </a:endParaRP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4674" y="4722812"/>
            <a:ext cx="1803400"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
          <p:cNvSpPr>
            <a:spLocks noGrp="1" noChangeArrowheads="1"/>
          </p:cNvSpPr>
          <p:nvPr>
            <p:ph type="title"/>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lnSpc>
                <a:spcPct val="105000"/>
              </a:lnSpc>
            </a:pPr>
            <a:r>
              <a:rPr lang="en-US" altLang="en-US" sz="3600" b="1" dirty="0">
                <a:solidFill>
                  <a:srgbClr val="00B050"/>
                </a:solidFill>
                <a:latin typeface="Verdana" panose="020B0604030504040204" pitchFamily="34" charset="0"/>
                <a:cs typeface="Arial" panose="020B0604020202020204" pitchFamily="34" charset="0"/>
              </a:rPr>
              <a:t>DRUG HALF-LIFE </a:t>
            </a:r>
            <a:r>
              <a:rPr lang="en-US" altLang="en-US" sz="3600" dirty="0">
                <a:solidFill>
                  <a:srgbClr val="00B050"/>
                </a:solidFill>
                <a:latin typeface="Verdana" panose="020B0604030504040204" pitchFamily="34" charset="0"/>
                <a:cs typeface="Arial" panose="020B0604020202020204" pitchFamily="34" charset="0"/>
              </a:rPr>
              <a:t>(t</a:t>
            </a:r>
            <a:r>
              <a:rPr lang="en-US" altLang="en-US" sz="3600" baseline="-25000" dirty="0">
                <a:solidFill>
                  <a:srgbClr val="00B050"/>
                </a:solidFill>
                <a:latin typeface="Verdana" panose="020B0604030504040204" pitchFamily="34" charset="0"/>
                <a:cs typeface="Arial" panose="020B0604020202020204" pitchFamily="34" charset="0"/>
              </a:rPr>
              <a:t>1/2 </a:t>
            </a:r>
            <a:r>
              <a:rPr lang="en-US" altLang="en-US" sz="3600" dirty="0">
                <a:solidFill>
                  <a:srgbClr val="00B050"/>
                </a:solidFill>
                <a:latin typeface="Verdana" panose="020B0604030504040204" pitchFamily="34" charset="0"/>
                <a:cs typeface="Arial" panose="020B0604020202020204" pitchFamily="34" charset="0"/>
              </a:rPr>
              <a:t>)</a:t>
            </a:r>
          </a:p>
        </p:txBody>
      </p:sp>
    </p:spTree>
    <p:extLst>
      <p:ext uri="{BB962C8B-B14F-4D97-AF65-F5344CB8AC3E}">
        <p14:creationId xmlns:p14="http://schemas.microsoft.com/office/powerpoint/2010/main" val="168166287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i="1" kern="0" dirty="0">
                <a:solidFill>
                  <a:srgbClr val="00B050"/>
                </a:solidFill>
                <a:latin typeface="Bradley Hand ITC" panose="03070402050302030203" pitchFamily="66" charset="0"/>
                <a:ea typeface="MS PGothic" pitchFamily="34" charset="-128"/>
              </a:rPr>
              <a:t>Elimination: </a:t>
            </a:r>
            <a:r>
              <a:rPr lang="en-US" altLang="en-US" sz="3600" b="1" i="1" kern="0" dirty="0">
                <a:solidFill>
                  <a:srgbClr val="00B050"/>
                </a:solidFill>
                <a:latin typeface="Bradley Hand ITC" panose="03070402050302030203" pitchFamily="66" charset="0"/>
                <a:ea typeface="MS PGothic" pitchFamily="34" charset="-128"/>
              </a:rPr>
              <a:t>kinetics</a:t>
            </a:r>
            <a:endParaRPr lang="en-US" sz="6000" dirty="0">
              <a:solidFill>
                <a:srgbClr val="00B050"/>
              </a:solidFill>
            </a:endParaRPr>
          </a:p>
        </p:txBody>
      </p:sp>
      <p:sp>
        <p:nvSpPr>
          <p:cNvPr id="3" name="Rectangle 3"/>
          <p:cNvSpPr txBox="1">
            <a:spLocks noChangeArrowheads="1"/>
          </p:cNvSpPr>
          <p:nvPr/>
        </p:nvSpPr>
        <p:spPr bwMode="auto">
          <a:xfrm>
            <a:off x="304800" y="1227138"/>
            <a:ext cx="84582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algn="just" defTabSz="914400" eaLnBrk="1" hangingPunct="1">
              <a:lnSpc>
                <a:spcPct val="90000"/>
              </a:lnSpc>
              <a:defRPr/>
            </a:pPr>
            <a:r>
              <a:rPr lang="en-US" sz="2800" kern="0" noProof="1">
                <a:solidFill>
                  <a:srgbClr val="FF6600"/>
                </a:solidFill>
                <a:ea typeface="ＭＳ Ｐゴシック" pitchFamily="1" charset="-128"/>
              </a:rPr>
              <a:t>First-order elimination - </a:t>
            </a:r>
            <a:r>
              <a:rPr lang="en-US" sz="2800" kern="0" noProof="1">
                <a:ea typeface="ＭＳ Ｐゴシック" pitchFamily="1" charset="-128"/>
              </a:rPr>
              <a:t>implies that the rate of elimination is proportionate to the concentration, i.e., the higher the concentration, the greater the amount of drug eliminated per unit time.</a:t>
            </a:r>
          </a:p>
          <a:p>
            <a:pPr defTabSz="914400">
              <a:defRPr/>
            </a:pPr>
            <a:r>
              <a:rPr lang="en-US" sz="2800" kern="0">
                <a:latin typeface="Calibri" pitchFamily="1" charset="0"/>
                <a:ea typeface="ＭＳ Ｐゴシック" pitchFamily="1" charset="-128"/>
              </a:rPr>
              <a:t>A constant </a:t>
            </a:r>
            <a:r>
              <a:rPr lang="en-US" sz="2800" i="1" u="sng" kern="0">
                <a:latin typeface="Calibri" pitchFamily="1" charset="0"/>
                <a:ea typeface="ＭＳ Ｐゴシック" pitchFamily="1" charset="-128"/>
              </a:rPr>
              <a:t>fraction</a:t>
            </a:r>
            <a:r>
              <a:rPr lang="en-US" sz="2800" kern="0">
                <a:latin typeface="Calibri" pitchFamily="1" charset="0"/>
                <a:ea typeface="ＭＳ Ｐゴシック" pitchFamily="1" charset="-128"/>
              </a:rPr>
              <a:t> of drug is eliminated per unit of time.</a:t>
            </a:r>
          </a:p>
          <a:p>
            <a:pPr defTabSz="914400">
              <a:defRPr/>
            </a:pPr>
            <a:r>
              <a:rPr lang="en-US" sz="2800" kern="0">
                <a:latin typeface="Calibri" pitchFamily="1" charset="0"/>
                <a:ea typeface="ＭＳ Ｐゴシック" pitchFamily="1" charset="-128"/>
              </a:rPr>
              <a:t>When drug concentration is high, rate of disappearance</a:t>
            </a:r>
          </a:p>
          <a:p>
            <a:pPr marL="0" indent="0" defTabSz="914400">
              <a:buFontTx/>
              <a:buNone/>
              <a:defRPr/>
            </a:pPr>
            <a:r>
              <a:rPr lang="en-US" sz="2800" kern="0">
                <a:latin typeface="Calibri" pitchFamily="1" charset="0"/>
                <a:ea typeface="ＭＳ Ｐゴシック" pitchFamily="1" charset="-128"/>
              </a:rPr>
              <a:t>is high.</a:t>
            </a:r>
          </a:p>
          <a:p>
            <a:pPr algn="just" defTabSz="914400" eaLnBrk="1" hangingPunct="1">
              <a:lnSpc>
                <a:spcPct val="90000"/>
              </a:lnSpc>
              <a:defRPr/>
            </a:pPr>
            <a:endParaRPr lang="en-US" sz="2800" kern="0" dirty="0">
              <a:ea typeface="ＭＳ Ｐゴシック" pitchFamily="1" charset="-128"/>
            </a:endParaRPr>
          </a:p>
        </p:txBody>
      </p:sp>
    </p:spTree>
    <p:extLst>
      <p:ext uri="{BB962C8B-B14F-4D97-AF65-F5344CB8AC3E}">
        <p14:creationId xmlns:p14="http://schemas.microsoft.com/office/powerpoint/2010/main" val="259537061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04800" y="1227138"/>
            <a:ext cx="84582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0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6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400">
                <a:solidFill>
                  <a:schemeClr val="tx1"/>
                </a:solidFill>
                <a:latin typeface="+mn-lt"/>
              </a:defRPr>
            </a:lvl6pPr>
            <a:lvl7pPr marL="2971800" indent="-228600" algn="l" rtl="0" fontAlgn="base">
              <a:spcBef>
                <a:spcPct val="20000"/>
              </a:spcBef>
              <a:spcAft>
                <a:spcPct val="0"/>
              </a:spcAft>
              <a:buSzPct val="60000"/>
              <a:buBlip>
                <a:blip r:embed="rId5"/>
              </a:buBlip>
              <a:defRPr sz="1400">
                <a:solidFill>
                  <a:schemeClr val="tx1"/>
                </a:solidFill>
                <a:latin typeface="+mn-lt"/>
              </a:defRPr>
            </a:lvl7pPr>
            <a:lvl8pPr marL="3429000" indent="-228600" algn="l" rtl="0" fontAlgn="base">
              <a:spcBef>
                <a:spcPct val="20000"/>
              </a:spcBef>
              <a:spcAft>
                <a:spcPct val="0"/>
              </a:spcAft>
              <a:buSzPct val="60000"/>
              <a:buBlip>
                <a:blip r:embed="rId5"/>
              </a:buBlip>
              <a:defRPr sz="1400">
                <a:solidFill>
                  <a:schemeClr val="tx1"/>
                </a:solidFill>
                <a:latin typeface="+mn-lt"/>
              </a:defRPr>
            </a:lvl8pPr>
            <a:lvl9pPr marL="3886200" indent="-228600" algn="l" rtl="0" fontAlgn="base">
              <a:spcBef>
                <a:spcPct val="20000"/>
              </a:spcBef>
              <a:spcAft>
                <a:spcPct val="0"/>
              </a:spcAft>
              <a:buSzPct val="60000"/>
              <a:buBlip>
                <a:blip r:embed="rId5"/>
              </a:buBlip>
              <a:defRPr sz="1400">
                <a:solidFill>
                  <a:schemeClr val="tx1"/>
                </a:solidFill>
                <a:latin typeface="+mn-lt"/>
              </a:defRPr>
            </a:lvl9pPr>
          </a:lstStyle>
          <a:p>
            <a:pPr marL="314325" marR="0" lvl="0" indent="-314325" algn="just"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1">
                <a:ln>
                  <a:noFill/>
                </a:ln>
                <a:solidFill>
                  <a:srgbClr val="FF6600"/>
                </a:solidFill>
                <a:effectLst/>
                <a:uLnTx/>
                <a:uFillTx/>
                <a:latin typeface="Arial"/>
                <a:ea typeface="MS PGothic" pitchFamily="34" charset="-128"/>
                <a:cs typeface="+mn-cs"/>
              </a:rPr>
              <a:t>Zero-order elimination (</a:t>
            </a:r>
            <a:r>
              <a:rPr kumimoji="0" lang="en-US" altLang="en-US" sz="2800" b="0" i="1" u="none" strike="noStrike" kern="0" cap="none" spc="0" normalizeH="0" baseline="0" noProof="1">
                <a:ln>
                  <a:noFill/>
                </a:ln>
                <a:solidFill>
                  <a:srgbClr val="FF6600"/>
                </a:solidFill>
                <a:effectLst/>
                <a:uLnTx/>
                <a:uFillTx/>
                <a:latin typeface="Arial"/>
                <a:ea typeface="MS PGothic" pitchFamily="34" charset="-128"/>
                <a:cs typeface="+mn-cs"/>
              </a:rPr>
              <a:t>saturation kinetics</a:t>
            </a:r>
            <a:r>
              <a:rPr kumimoji="0" lang="en-US" altLang="en-US" sz="2800" b="0" i="0" u="none" strike="noStrike" kern="0" cap="none" spc="0" normalizeH="0" baseline="0" noProof="1">
                <a:ln>
                  <a:noFill/>
                </a:ln>
                <a:solidFill>
                  <a:srgbClr val="FF6600"/>
                </a:solidFill>
                <a:effectLst/>
                <a:uLnTx/>
                <a:uFillTx/>
                <a:latin typeface="Arial"/>
                <a:ea typeface="MS PGothic" pitchFamily="34" charset="-128"/>
                <a:cs typeface="+mn-cs"/>
              </a:rPr>
              <a:t>). </a:t>
            </a:r>
            <a:r>
              <a:rPr kumimoji="0" lang="en-US" altLang="en-US" sz="2800" b="0" i="0" u="none" strike="noStrike" kern="0" cap="none" spc="0" normalizeH="0" baseline="0" noProof="1">
                <a:ln>
                  <a:noFill/>
                </a:ln>
                <a:solidFill>
                  <a:srgbClr val="000000"/>
                </a:solidFill>
                <a:effectLst/>
                <a:uLnTx/>
                <a:uFillTx/>
                <a:latin typeface="Arial"/>
                <a:ea typeface="MS PGothic" pitchFamily="34" charset="-128"/>
                <a:cs typeface="+mn-cs"/>
              </a:rPr>
              <a:t>Z-o elim. implies elimination at a constant rate regardless of concentration. As a  result, the drug´s concentration in plasma decreases in a linear fashion over time. </a:t>
            </a:r>
          </a:p>
          <a:p>
            <a:pPr marL="314325" marR="0" lvl="0" indent="-314325" algn="just" defTabSz="914400" rtl="0" eaLnBrk="1" fontAlgn="base" latinLnBrk="0" hangingPunct="1">
              <a:lnSpc>
                <a:spcPct val="9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n-cs"/>
              </a:rPr>
              <a:t>Constant </a:t>
            </a:r>
            <a:r>
              <a:rPr kumimoji="0" lang="en-US" altLang="en-US" sz="2800" b="0" i="1" u="sng"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n-cs"/>
              </a:rPr>
              <a:t>amount</a:t>
            </a:r>
            <a:r>
              <a:rPr kumimoji="0" lang="en-US" altLang="en-US" sz="28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n-cs"/>
              </a:rPr>
              <a:t> eliminated per unit of time.</a:t>
            </a:r>
          </a:p>
          <a:p>
            <a:pPr marL="790575" marR="0" lvl="1" indent="-314325" algn="just" defTabSz="914400" rtl="0" eaLnBrk="1" fontAlgn="base" latinLnBrk="0" hangingPunct="1">
              <a:lnSpc>
                <a:spcPct val="90000"/>
              </a:lnSpc>
              <a:spcBef>
                <a:spcPct val="20000"/>
              </a:spcBef>
              <a:spcAft>
                <a:spcPct val="0"/>
              </a:spcAft>
              <a:buClrTx/>
              <a:buSzTx/>
              <a:buFontTx/>
              <a:buBlip>
                <a:blip r:embed="rId3"/>
              </a:buBlip>
              <a:tabLst/>
              <a:defRPr/>
            </a:pPr>
            <a:r>
              <a:rPr kumimoji="0" lang="en-US" altLang="en-US" sz="2000" b="0" i="0" u="none" strike="noStrike" kern="0" cap="none" spc="0" normalizeH="0" baseline="0" noProof="1">
                <a:ln>
                  <a:noFill/>
                </a:ln>
                <a:solidFill>
                  <a:srgbClr val="000000"/>
                </a:solidFill>
                <a:effectLst/>
                <a:uLnTx/>
                <a:uFillTx/>
                <a:latin typeface="Arial"/>
                <a:ea typeface="MS PGothic" pitchFamily="34" charset="-128"/>
              </a:rPr>
              <a:t>This is typical of ethanol, and of phenytoin and aspirin at high therapeutic or toxic concentration.</a:t>
            </a:r>
          </a:p>
          <a:p>
            <a:pPr marL="314325" marR="0" lvl="0" indent="-314325" algn="just" defTabSz="914400" rtl="0" eaLnBrk="1" fontAlgn="base" latinLnBrk="0" hangingPunct="1">
              <a:lnSpc>
                <a:spcPct val="90000"/>
              </a:lnSpc>
              <a:spcBef>
                <a:spcPct val="2000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S PGothic" pitchFamily="34" charset="-128"/>
              <a:cs typeface="+mn-cs"/>
            </a:endParaRPr>
          </a:p>
        </p:txBody>
      </p:sp>
      <p:pic>
        <p:nvPicPr>
          <p:cNvPr id="4" name="Picture 3" descr="quant2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6453" y="3918284"/>
            <a:ext cx="28765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457200" y="274638"/>
            <a:ext cx="8229600" cy="634666"/>
          </a:xfrm>
        </p:spPr>
        <p:txBody>
          <a:bodyPr/>
          <a:lstStyle/>
          <a:p>
            <a:r>
              <a:rPr lang="en-US" altLang="en-US" sz="3600" i="1" kern="0" dirty="0">
                <a:solidFill>
                  <a:srgbClr val="00B050"/>
                </a:solidFill>
                <a:latin typeface="Bradley Hand ITC" panose="03070402050302030203" pitchFamily="66" charset="0"/>
                <a:ea typeface="MS PGothic" pitchFamily="34" charset="-128"/>
              </a:rPr>
              <a:t>Elimination: </a:t>
            </a:r>
            <a:r>
              <a:rPr lang="en-US" altLang="en-US" sz="3600" b="1" i="1" kern="0" dirty="0">
                <a:solidFill>
                  <a:srgbClr val="00B050"/>
                </a:solidFill>
                <a:latin typeface="Bradley Hand ITC" panose="03070402050302030203" pitchFamily="66" charset="0"/>
                <a:ea typeface="MS PGothic" pitchFamily="34" charset="-128"/>
              </a:rPr>
              <a:t>kinetics</a:t>
            </a:r>
            <a:endParaRPr lang="en-US" sz="6000" dirty="0">
              <a:solidFill>
                <a:srgbClr val="00B050"/>
              </a:solidFill>
            </a:endParaRPr>
          </a:p>
        </p:txBody>
      </p:sp>
    </p:spTree>
    <p:extLst>
      <p:ext uri="{BB962C8B-B14F-4D97-AF65-F5344CB8AC3E}">
        <p14:creationId xmlns:p14="http://schemas.microsoft.com/office/powerpoint/2010/main" val="161258065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390525" y="333375"/>
            <a:ext cx="69119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2400" b="1">
                <a:solidFill>
                  <a:schemeClr val="tx2"/>
                </a:solidFill>
                <a:latin typeface="+mj-lt"/>
                <a:ea typeface="MS PGothic" pitchFamily="34" charset="-128"/>
                <a:cs typeface="+mj-cs"/>
              </a:defRPr>
            </a:lvl1pPr>
            <a:lvl2pPr algn="l" rtl="0" eaLnBrk="0" fontAlgn="base" hangingPunct="0">
              <a:spcBef>
                <a:spcPct val="0"/>
              </a:spcBef>
              <a:spcAft>
                <a:spcPct val="0"/>
              </a:spcAft>
              <a:defRPr sz="2400" b="1">
                <a:solidFill>
                  <a:schemeClr val="tx2"/>
                </a:solidFill>
                <a:latin typeface="Arial" charset="0"/>
                <a:ea typeface="MS PGothic" pitchFamily="34" charset="-128"/>
              </a:defRPr>
            </a:lvl2pPr>
            <a:lvl3pPr algn="l" rtl="0" eaLnBrk="0" fontAlgn="base" hangingPunct="0">
              <a:spcBef>
                <a:spcPct val="0"/>
              </a:spcBef>
              <a:spcAft>
                <a:spcPct val="0"/>
              </a:spcAft>
              <a:defRPr sz="2400" b="1">
                <a:solidFill>
                  <a:schemeClr val="tx2"/>
                </a:solidFill>
                <a:latin typeface="Arial" charset="0"/>
                <a:ea typeface="MS PGothic" pitchFamily="34" charset="-128"/>
              </a:defRPr>
            </a:lvl3pPr>
            <a:lvl4pPr algn="l" rtl="0" eaLnBrk="0" fontAlgn="base" hangingPunct="0">
              <a:spcBef>
                <a:spcPct val="0"/>
              </a:spcBef>
              <a:spcAft>
                <a:spcPct val="0"/>
              </a:spcAft>
              <a:defRPr sz="2400" b="1">
                <a:solidFill>
                  <a:schemeClr val="tx2"/>
                </a:solidFill>
                <a:latin typeface="Arial" charset="0"/>
                <a:ea typeface="MS PGothic" pitchFamily="34" charset="-128"/>
              </a:defRPr>
            </a:lvl4pPr>
            <a:lvl5pPr algn="l" rtl="0" eaLnBrk="0" fontAlgn="base" hangingPunct="0">
              <a:spcBef>
                <a:spcPct val="0"/>
              </a:spcBef>
              <a:spcAft>
                <a:spcPct val="0"/>
              </a:spcAft>
              <a:defRPr sz="2400" b="1">
                <a:solidFill>
                  <a:schemeClr val="tx2"/>
                </a:solidFill>
                <a:latin typeface="Arial" charset="0"/>
                <a:ea typeface="MS PGothic" pitchFamily="34" charset="-128"/>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a:lstStyle>
          <a:p>
            <a:pPr defTabSz="914400"/>
            <a:r>
              <a:rPr lang="en-US" altLang="en-US" sz="4000" i="1" kern="0" dirty="0">
                <a:solidFill>
                  <a:srgbClr val="00B050"/>
                </a:solidFill>
                <a:latin typeface="Calibri" panose="020F0502020204030204" pitchFamily="34" charset="0"/>
              </a:rPr>
              <a:t>Comparison</a:t>
            </a:r>
          </a:p>
        </p:txBody>
      </p:sp>
      <p:sp>
        <p:nvSpPr>
          <p:cNvPr id="4" name="Rectangle 3"/>
          <p:cNvSpPr txBox="1">
            <a:spLocks noChangeArrowheads="1"/>
          </p:cNvSpPr>
          <p:nvPr/>
        </p:nvSpPr>
        <p:spPr bwMode="auto">
          <a:xfrm>
            <a:off x="381000" y="1584158"/>
            <a:ext cx="4114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8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sz="2400">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20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8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8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800">
                <a:solidFill>
                  <a:schemeClr val="tx1"/>
                </a:solidFill>
                <a:latin typeface="+mn-lt"/>
              </a:defRPr>
            </a:lvl6pPr>
            <a:lvl7pPr marL="2971800" indent="-228600" algn="l" rtl="0" fontAlgn="base">
              <a:spcBef>
                <a:spcPct val="20000"/>
              </a:spcBef>
              <a:spcAft>
                <a:spcPct val="0"/>
              </a:spcAft>
              <a:buSzPct val="60000"/>
              <a:buBlip>
                <a:blip r:embed="rId5"/>
              </a:buBlip>
              <a:defRPr sz="1800">
                <a:solidFill>
                  <a:schemeClr val="tx1"/>
                </a:solidFill>
                <a:latin typeface="+mn-lt"/>
              </a:defRPr>
            </a:lvl7pPr>
            <a:lvl8pPr marL="3429000" indent="-228600" algn="l" rtl="0" fontAlgn="base">
              <a:spcBef>
                <a:spcPct val="20000"/>
              </a:spcBef>
              <a:spcAft>
                <a:spcPct val="0"/>
              </a:spcAft>
              <a:buSzPct val="60000"/>
              <a:buBlip>
                <a:blip r:embed="rId5"/>
              </a:buBlip>
              <a:defRPr sz="1800">
                <a:solidFill>
                  <a:schemeClr val="tx1"/>
                </a:solidFill>
                <a:latin typeface="+mn-lt"/>
              </a:defRPr>
            </a:lvl8pPr>
            <a:lvl9pPr marL="3886200" indent="-228600" algn="l" rtl="0" fontAlgn="base">
              <a:spcBef>
                <a:spcPct val="20000"/>
              </a:spcBef>
              <a:spcAft>
                <a:spcPct val="0"/>
              </a:spcAft>
              <a:buSzPct val="60000"/>
              <a:buBlip>
                <a:blip r:embed="rId5"/>
              </a:buBlip>
              <a:defRPr sz="1800">
                <a:solidFill>
                  <a:schemeClr val="tx1"/>
                </a:solidFill>
                <a:latin typeface="+mn-lt"/>
              </a:defRPr>
            </a:lvl9pPr>
          </a:lstStyle>
          <a:p>
            <a:pPr defTabSz="914400"/>
            <a:r>
              <a:rPr lang="en-US" altLang="en-US" kern="0">
                <a:latin typeface="Calibri" panose="020F0502020204030204" pitchFamily="34" charset="0"/>
              </a:rPr>
              <a:t>First Order Elimination</a:t>
            </a:r>
          </a:p>
          <a:p>
            <a:pPr lvl="1" defTabSz="914400"/>
            <a:r>
              <a:rPr lang="en-US" altLang="en-US" kern="0">
                <a:latin typeface="Calibri" panose="020F0502020204030204" pitchFamily="34" charset="0"/>
              </a:rPr>
              <a:t>[drug] decreases exponentially w/ time</a:t>
            </a:r>
          </a:p>
          <a:p>
            <a:pPr lvl="1" defTabSz="914400"/>
            <a:r>
              <a:rPr lang="en-US" altLang="en-US" kern="0">
                <a:latin typeface="Calibri" panose="020F0502020204030204" pitchFamily="34" charset="0"/>
              </a:rPr>
              <a:t>Rate of elimination is proportional to [drug]</a:t>
            </a:r>
          </a:p>
          <a:p>
            <a:pPr lvl="1" defTabSz="914400"/>
            <a:r>
              <a:rPr lang="en-US" altLang="en-US" kern="0">
                <a:latin typeface="Calibri" panose="020F0502020204030204" pitchFamily="34" charset="0"/>
              </a:rPr>
              <a:t>Plot of log [drug] or ln[drug] vs. time are linear</a:t>
            </a:r>
          </a:p>
          <a:p>
            <a:pPr lvl="1" defTabSz="914400"/>
            <a:r>
              <a:rPr lang="en-US" altLang="en-US" kern="0">
                <a:latin typeface="Calibri" panose="020F0502020204030204" pitchFamily="34" charset="0"/>
              </a:rPr>
              <a:t>t </a:t>
            </a:r>
            <a:r>
              <a:rPr lang="en-US" altLang="en-US" kern="0" baseline="-25000">
                <a:latin typeface="Calibri" panose="020F0502020204030204" pitchFamily="34" charset="0"/>
              </a:rPr>
              <a:t>1/2</a:t>
            </a:r>
            <a:r>
              <a:rPr lang="en-US" altLang="en-US" kern="0">
                <a:latin typeface="Calibri" panose="020F0502020204030204" pitchFamily="34" charset="0"/>
              </a:rPr>
              <a:t> is constant regardless of [drug]</a:t>
            </a:r>
            <a:endParaRPr lang="en-US" altLang="en-US" kern="0" dirty="0">
              <a:latin typeface="Calibri" panose="020F0502020204030204" pitchFamily="34" charset="0"/>
            </a:endParaRPr>
          </a:p>
        </p:txBody>
      </p:sp>
      <p:sp>
        <p:nvSpPr>
          <p:cNvPr id="5" name="Rectangle 4"/>
          <p:cNvSpPr txBox="1">
            <a:spLocks noChangeArrowheads="1"/>
          </p:cNvSpPr>
          <p:nvPr/>
        </p:nvSpPr>
        <p:spPr bwMode="auto">
          <a:xfrm>
            <a:off x="4648200" y="1544052"/>
            <a:ext cx="4038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4325" indent="-314325" algn="l" rtl="0" eaLnBrk="0" fontAlgn="base" hangingPunct="0">
              <a:spcBef>
                <a:spcPct val="20000"/>
              </a:spcBef>
              <a:spcAft>
                <a:spcPct val="0"/>
              </a:spcAft>
              <a:buBlip>
                <a:blip r:embed="rId2"/>
              </a:buBlip>
              <a:defRPr sz="2800">
                <a:solidFill>
                  <a:schemeClr val="tx1"/>
                </a:solidFill>
                <a:latin typeface="+mn-lt"/>
                <a:ea typeface="MS PGothic" pitchFamily="34" charset="-128"/>
                <a:cs typeface="+mn-cs"/>
              </a:defRPr>
            </a:lvl1pPr>
            <a:lvl2pPr marL="790575" indent="-314325" algn="l" rtl="0" eaLnBrk="0" fontAlgn="base" hangingPunct="0">
              <a:spcBef>
                <a:spcPct val="20000"/>
              </a:spcBef>
              <a:spcAft>
                <a:spcPct val="0"/>
              </a:spcAft>
              <a:buBlip>
                <a:blip r:embed="rId3"/>
              </a:buBlip>
              <a:defRPr sz="2400">
                <a:solidFill>
                  <a:schemeClr val="tx1"/>
                </a:solidFill>
                <a:latin typeface="+mn-lt"/>
                <a:ea typeface="MS PGothic" pitchFamily="34" charset="-128"/>
              </a:defRPr>
            </a:lvl2pPr>
            <a:lvl3pPr marL="1209675" indent="-276225" algn="l" rtl="0" eaLnBrk="0" fontAlgn="base" hangingPunct="0">
              <a:spcBef>
                <a:spcPct val="20000"/>
              </a:spcBef>
              <a:spcAft>
                <a:spcPct val="0"/>
              </a:spcAft>
              <a:buBlip>
                <a:blip r:embed="rId4"/>
              </a:buBlip>
              <a:defRPr sz="2000">
                <a:solidFill>
                  <a:schemeClr val="tx1"/>
                </a:solidFill>
                <a:latin typeface="+mn-lt"/>
                <a:ea typeface="MS PGothic" pitchFamily="34" charset="-128"/>
              </a:defRPr>
            </a:lvl3pPr>
            <a:lvl4pPr marL="1657350" indent="-276225" algn="l" rtl="0" eaLnBrk="0" fontAlgn="base" hangingPunct="0">
              <a:spcBef>
                <a:spcPct val="20000"/>
              </a:spcBef>
              <a:spcAft>
                <a:spcPct val="0"/>
              </a:spcAft>
              <a:buBlip>
                <a:blip r:embed="rId4"/>
              </a:buBlip>
              <a:defRPr sz="1800">
                <a:solidFill>
                  <a:schemeClr val="tx1"/>
                </a:solidFill>
                <a:latin typeface="+mn-lt"/>
                <a:ea typeface="MS PGothic" pitchFamily="34" charset="-128"/>
              </a:defRPr>
            </a:lvl4pPr>
            <a:lvl5pPr marL="2095500" indent="-276225" algn="l" rtl="0" eaLnBrk="0" fontAlgn="base" hangingPunct="0">
              <a:spcBef>
                <a:spcPct val="20000"/>
              </a:spcBef>
              <a:spcAft>
                <a:spcPct val="0"/>
              </a:spcAft>
              <a:buBlip>
                <a:blip r:embed="rId4"/>
              </a:buBlip>
              <a:defRPr sz="1800">
                <a:solidFill>
                  <a:schemeClr val="tx1"/>
                </a:solidFill>
                <a:latin typeface="+mn-lt"/>
                <a:ea typeface="MS PGothic" pitchFamily="34" charset="-128"/>
              </a:defRPr>
            </a:lvl5pPr>
            <a:lvl6pPr marL="2514600" indent="-228600" algn="l" rtl="0" fontAlgn="base">
              <a:spcBef>
                <a:spcPct val="20000"/>
              </a:spcBef>
              <a:spcAft>
                <a:spcPct val="0"/>
              </a:spcAft>
              <a:buSzPct val="60000"/>
              <a:buBlip>
                <a:blip r:embed="rId5"/>
              </a:buBlip>
              <a:defRPr sz="1800">
                <a:solidFill>
                  <a:schemeClr val="tx1"/>
                </a:solidFill>
                <a:latin typeface="+mn-lt"/>
              </a:defRPr>
            </a:lvl6pPr>
            <a:lvl7pPr marL="2971800" indent="-228600" algn="l" rtl="0" fontAlgn="base">
              <a:spcBef>
                <a:spcPct val="20000"/>
              </a:spcBef>
              <a:spcAft>
                <a:spcPct val="0"/>
              </a:spcAft>
              <a:buSzPct val="60000"/>
              <a:buBlip>
                <a:blip r:embed="rId5"/>
              </a:buBlip>
              <a:defRPr sz="1800">
                <a:solidFill>
                  <a:schemeClr val="tx1"/>
                </a:solidFill>
                <a:latin typeface="+mn-lt"/>
              </a:defRPr>
            </a:lvl7pPr>
            <a:lvl8pPr marL="3429000" indent="-228600" algn="l" rtl="0" fontAlgn="base">
              <a:spcBef>
                <a:spcPct val="20000"/>
              </a:spcBef>
              <a:spcAft>
                <a:spcPct val="0"/>
              </a:spcAft>
              <a:buSzPct val="60000"/>
              <a:buBlip>
                <a:blip r:embed="rId5"/>
              </a:buBlip>
              <a:defRPr sz="1800">
                <a:solidFill>
                  <a:schemeClr val="tx1"/>
                </a:solidFill>
                <a:latin typeface="+mn-lt"/>
              </a:defRPr>
            </a:lvl8pPr>
            <a:lvl9pPr marL="3886200" indent="-228600" algn="l" rtl="0" fontAlgn="base">
              <a:spcBef>
                <a:spcPct val="20000"/>
              </a:spcBef>
              <a:spcAft>
                <a:spcPct val="0"/>
              </a:spcAft>
              <a:buSzPct val="60000"/>
              <a:buBlip>
                <a:blip r:embed="rId5"/>
              </a:buBlip>
              <a:defRPr sz="1800">
                <a:solidFill>
                  <a:schemeClr val="tx1"/>
                </a:solidFill>
                <a:latin typeface="+mn-lt"/>
              </a:defRPr>
            </a:lvl9pPr>
          </a:lstStyle>
          <a:p>
            <a:pPr marL="314325" marR="0" lvl="0" indent="-314325" algn="l" defTabSz="914400" rtl="0" eaLnBrk="0" fontAlgn="base" latinLnBrk="0" hangingPunct="0">
              <a:lnSpc>
                <a:spcPct val="100000"/>
              </a:lnSpc>
              <a:spcBef>
                <a:spcPct val="20000"/>
              </a:spcBef>
              <a:spcAft>
                <a:spcPct val="0"/>
              </a:spcAft>
              <a:buClrTx/>
              <a:buSzTx/>
              <a:buFontTx/>
              <a:buBlip>
                <a:blip r:embed="rId2"/>
              </a:buBlip>
              <a:tabLst/>
              <a:defRPr/>
            </a:pPr>
            <a:r>
              <a:rPr kumimoji="0" lang="en-US" altLang="en-US" sz="28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cs typeface="+mn-cs"/>
              </a:rPr>
              <a:t>Zero Order Elimination</a:t>
            </a:r>
          </a:p>
          <a:p>
            <a:pPr marL="790575" marR="0" lvl="1" indent="-314325" algn="l" defTabSz="914400" rtl="0" eaLnBrk="0" fontAlgn="base" latinLnBrk="0" hangingPunct="0">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rPr>
              <a:t>[drug] decreases linearly with time</a:t>
            </a:r>
          </a:p>
          <a:p>
            <a:pPr marL="790575" marR="0" lvl="1" indent="-314325" algn="l" defTabSz="914400" rtl="0" eaLnBrk="0" fontAlgn="base" latinLnBrk="0" hangingPunct="0">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rPr>
              <a:t>Rate of elimination is constant</a:t>
            </a:r>
          </a:p>
          <a:p>
            <a:pPr marL="790575" marR="0" lvl="1" indent="-314325" algn="l" defTabSz="914400" rtl="0" eaLnBrk="0" fontAlgn="base" latinLnBrk="0" hangingPunct="0">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rPr>
              <a:t>Rate of elimination is independent of [drug]</a:t>
            </a:r>
          </a:p>
          <a:p>
            <a:pPr marL="790575" marR="0" lvl="1" indent="-314325" algn="l" defTabSz="914400" rtl="0" eaLnBrk="0" fontAlgn="base" latinLnBrk="0" hangingPunct="0">
              <a:lnSpc>
                <a:spcPct val="100000"/>
              </a:lnSpc>
              <a:spcBef>
                <a:spcPct val="20000"/>
              </a:spcBef>
              <a:spcAft>
                <a:spcPct val="0"/>
              </a:spcAft>
              <a:buClrTx/>
              <a:buSzTx/>
              <a:buFontTx/>
              <a:buBlip>
                <a:blip r:embed="rId3"/>
              </a:buBlip>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S PGothic" pitchFamily="34" charset="-128"/>
              </a:rPr>
              <a:t>No true t </a:t>
            </a:r>
            <a:r>
              <a:rPr kumimoji="0" lang="en-US" altLang="en-US" sz="2400" b="0" i="0" u="none" strike="noStrike" kern="0" cap="none" spc="0" normalizeH="0" baseline="-25000" noProof="0" dirty="0">
                <a:ln>
                  <a:noFill/>
                </a:ln>
                <a:solidFill>
                  <a:srgbClr val="000000"/>
                </a:solidFill>
                <a:effectLst/>
                <a:uLnTx/>
                <a:uFillTx/>
                <a:latin typeface="Calibri" panose="020F0502020204030204" pitchFamily="34" charset="0"/>
                <a:ea typeface="MS PGothic" pitchFamily="34" charset="-128"/>
              </a:rPr>
              <a:t>1/2</a:t>
            </a:r>
          </a:p>
          <a:p>
            <a:pPr marL="790575" marR="0" lvl="1" indent="-314325" algn="l" defTabSz="914400" rtl="0" eaLnBrk="0" fontAlgn="base" latinLnBrk="0" hangingPunct="0">
              <a:lnSpc>
                <a:spcPct val="100000"/>
              </a:lnSpc>
              <a:spcBef>
                <a:spcPct val="20000"/>
              </a:spcBef>
              <a:spcAft>
                <a:spcPct val="0"/>
              </a:spcAft>
              <a:buClrTx/>
              <a:buSzTx/>
              <a:buFontTx/>
              <a:buBlip>
                <a:blip r:embed="rId3"/>
              </a:buBlip>
              <a:tabLst/>
              <a:defRPr/>
            </a:pPr>
            <a:endParaRPr kumimoji="0" lang="en-US" altLang="en-US" sz="2400" b="0" i="0" u="none" strike="noStrike" kern="0" cap="none" spc="0" normalizeH="0" baseline="0" noProof="0" dirty="0">
              <a:ln>
                <a:noFill/>
              </a:ln>
              <a:solidFill>
                <a:srgbClr val="000000"/>
              </a:solidFill>
              <a:effectLst/>
              <a:uLnTx/>
              <a:uFillTx/>
              <a:latin typeface="Arial"/>
              <a:ea typeface="MS PGothic" pitchFamily="34" charset="-128"/>
            </a:endParaRPr>
          </a:p>
        </p:txBody>
      </p:sp>
    </p:spTree>
    <p:extLst>
      <p:ext uri="{BB962C8B-B14F-4D97-AF65-F5344CB8AC3E}">
        <p14:creationId xmlns:p14="http://schemas.microsoft.com/office/powerpoint/2010/main" val="84970493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661" y="2332038"/>
            <a:ext cx="8229600" cy="1143000"/>
          </a:xfrm>
        </p:spPr>
        <p:txBody>
          <a:bodyPr/>
          <a:lstStyle/>
          <a:p>
            <a:r>
              <a:rPr lang="en-US" b="1" dirty="0">
                <a:solidFill>
                  <a:srgbClr val="00B050"/>
                </a:solidFill>
                <a:latin typeface="AR DELANEY" panose="02000000000000000000" pitchFamily="2" charset="0"/>
              </a:rPr>
              <a:t>THANK YOU</a:t>
            </a:r>
          </a:p>
        </p:txBody>
      </p:sp>
    </p:spTree>
    <p:extLst>
      <p:ext uri="{BB962C8B-B14F-4D97-AF65-F5344CB8AC3E}">
        <p14:creationId xmlns:p14="http://schemas.microsoft.com/office/powerpoint/2010/main" val="70511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6313</TotalTime>
  <Words>9599</Words>
  <Application>Microsoft Macintosh PowerPoint</Application>
  <PresentationFormat>On-screen Show (4:3)</PresentationFormat>
  <Paragraphs>1029</Paragraphs>
  <Slides>135</Slides>
  <Notes>38</Notes>
  <HiddenSlides>0</HiddenSlides>
  <MMClips>0</MMClips>
  <ScaleCrop>false</ScaleCrop>
  <HeadingPairs>
    <vt:vector size="8" baseType="variant">
      <vt:variant>
        <vt:lpstr>Fonts Used</vt:lpstr>
      </vt:variant>
      <vt:variant>
        <vt:i4>21</vt:i4>
      </vt:variant>
      <vt:variant>
        <vt:lpstr>Theme</vt:lpstr>
      </vt:variant>
      <vt:variant>
        <vt:i4>1</vt:i4>
      </vt:variant>
      <vt:variant>
        <vt:lpstr>Embedded OLE Servers</vt:lpstr>
      </vt:variant>
      <vt:variant>
        <vt:i4>3</vt:i4>
      </vt:variant>
      <vt:variant>
        <vt:lpstr>Slide Titles</vt:lpstr>
      </vt:variant>
      <vt:variant>
        <vt:i4>135</vt:i4>
      </vt:variant>
    </vt:vector>
  </HeadingPairs>
  <TitlesOfParts>
    <vt:vector size="160" baseType="lpstr">
      <vt:lpstr>Agency FB</vt:lpstr>
      <vt:lpstr>AR DELANEY</vt:lpstr>
      <vt:lpstr>Arial</vt:lpstr>
      <vt:lpstr>Arial Black</vt:lpstr>
      <vt:lpstr>Arial Narrow</vt:lpstr>
      <vt:lpstr>Blackadder ITC</vt:lpstr>
      <vt:lpstr>Bradley Hand ITC</vt:lpstr>
      <vt:lpstr>Calibri</vt:lpstr>
      <vt:lpstr>Calisto MT</vt:lpstr>
      <vt:lpstr>Curlz MT</vt:lpstr>
      <vt:lpstr>Garamond</vt:lpstr>
      <vt:lpstr>GillSans</vt:lpstr>
      <vt:lpstr>GraphicSabon-Italic</vt:lpstr>
      <vt:lpstr>GraphicSabon-Roman</vt:lpstr>
      <vt:lpstr>Helvetica</vt:lpstr>
      <vt:lpstr>MV Boli</vt:lpstr>
      <vt:lpstr>Symbol</vt:lpstr>
      <vt:lpstr>Times New Roman</vt:lpstr>
      <vt:lpstr>Verdana</vt:lpstr>
      <vt:lpstr>Wingdings</vt:lpstr>
      <vt:lpstr>Wingdings 2</vt:lpstr>
      <vt:lpstr>Office Theme</vt:lpstr>
      <vt:lpstr>Clip</vt:lpstr>
      <vt:lpstr>Bitmap Image</vt:lpstr>
      <vt:lpstr>Equation</vt:lpstr>
      <vt:lpstr>General Introductory Pharmacology Pharmacokinetics-Basic concepts</vt:lpstr>
      <vt:lpstr>References</vt:lpstr>
      <vt:lpstr>OBJECTIVES:</vt:lpstr>
      <vt:lpstr>PowerPoint Presentation</vt:lpstr>
      <vt:lpstr>Terminologies</vt:lpstr>
      <vt:lpstr>NATURE  AND  SOURCES  OF DRUGS</vt:lpstr>
      <vt:lpstr>NATURE  AND  SOURCES  OF DRUGS</vt:lpstr>
      <vt:lpstr>MICROORGANISMS AS A SOURCE OF DRUGS </vt:lpstr>
      <vt:lpstr>PowerPoint Presentation</vt:lpstr>
      <vt:lpstr>PowerPoint Presentation</vt:lpstr>
      <vt:lpstr>Pharmacology Terminologies </vt:lpstr>
      <vt:lpstr>Pharmacology Terminologies </vt:lpstr>
      <vt:lpstr>Pharmacology Terminologies </vt:lpstr>
      <vt:lpstr>Pharmacology</vt:lpstr>
      <vt:lpstr>Pharmacology: Subdivisions of particular importance include:</vt:lpstr>
      <vt:lpstr>Pharmacology: Subdivisions of particular importance include:</vt:lpstr>
      <vt:lpstr>Assignment 1</vt:lpstr>
      <vt:lpstr>PowerPoint Presentation</vt:lpstr>
      <vt:lpstr>Drug Names</vt:lpstr>
      <vt:lpstr>PowerPoint Presentation</vt:lpstr>
      <vt:lpstr>PowerPoint Presentation</vt:lpstr>
      <vt:lpstr>Names of Drugs</vt:lpstr>
      <vt:lpstr>PowerPoint Presentation</vt:lpstr>
      <vt:lpstr>PowerPoint Presentation</vt:lpstr>
      <vt:lpstr>PHARMACODYNAMICS</vt:lpstr>
      <vt:lpstr>PowerPoint Presentation</vt:lpstr>
      <vt:lpstr>INTRODUCTION</vt:lpstr>
      <vt:lpstr>4 Arms of pharmacokinetics (ADME) </vt:lpstr>
      <vt:lpstr>PowerPoint Presentation</vt:lpstr>
      <vt:lpstr>PowerPoint Presentation</vt:lpstr>
      <vt:lpstr>PowerPoint Presentation</vt:lpstr>
      <vt:lpstr>Movement of drug molecules across cellular barriers</vt:lpstr>
      <vt:lpstr>PowerPoint Presentation</vt:lpstr>
      <vt:lpstr>PowerPoint Presentation</vt:lpstr>
      <vt:lpstr>PowerPoint Presentation</vt:lpstr>
      <vt:lpstr>PowerPoint Presentation</vt:lpstr>
      <vt:lpstr>PowerPoint Presentation</vt:lpstr>
      <vt:lpstr>PowerPoint Presentation</vt:lpstr>
      <vt:lpstr>Absorption</vt:lpstr>
      <vt:lpstr>PowerPoint Presentation</vt:lpstr>
      <vt:lpstr>ROUTE OF ADMNISTRATION</vt:lpstr>
      <vt:lpstr>PowerPoint Presentation</vt:lpstr>
      <vt:lpstr>PowerPoint Presentation</vt:lpstr>
      <vt:lpstr>Fastest Absorption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Oral absorption</vt:lpstr>
      <vt:lpstr>Oral absorption</vt:lpstr>
      <vt:lpstr>PowerPoint Presentation</vt:lpstr>
      <vt:lpstr>PowerPoint Presentation</vt:lpstr>
      <vt:lpstr>PowerPoint Presentation</vt:lpstr>
      <vt:lpstr>PowerPoint Presentation</vt:lpstr>
      <vt:lpstr>Assignment </vt:lpstr>
      <vt:lpstr>Parenteral route of drug administration</vt:lpstr>
      <vt:lpstr>PowerPoint Presentation</vt:lpstr>
      <vt:lpstr>PowerPoint Presentation</vt:lpstr>
      <vt:lpstr>PowerPoint Presentation</vt:lpstr>
      <vt:lpstr>PowerPoint Presentation</vt:lpstr>
      <vt:lpstr>PowerPoint Presentation</vt:lpstr>
      <vt:lpstr>Factors Influencing Drug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Molecular Size </vt:lpstr>
      <vt:lpstr>PowerPoint Presentation</vt:lpstr>
      <vt:lpstr>PowerPoint Presentation</vt:lpstr>
      <vt:lpstr>PowerPoint Presentation</vt:lpstr>
      <vt:lpstr>Drug Distribution</vt:lpstr>
      <vt:lpstr>PowerPoint Presentation</vt:lpstr>
      <vt:lpstr>PowerPoint Presentation</vt:lpstr>
      <vt:lpstr>PowerPoint Presentation</vt:lpstr>
      <vt:lpstr>PowerPoint Presentation</vt:lpstr>
      <vt:lpstr>PowerPoint Presentation</vt:lpstr>
      <vt:lpstr>LEARNING OBJECTIVES</vt:lpstr>
      <vt:lpstr>DRUG METABOLISM </vt:lpstr>
      <vt:lpstr>DRUG METABOLISM</vt:lpstr>
      <vt:lpstr>PowerPoint Presentation</vt:lpstr>
      <vt:lpstr>DRUG METABOLISM</vt:lpstr>
      <vt:lpstr>DRUG METABOLISM</vt:lpstr>
      <vt:lpstr>IMPLICATIONS OF DRUG METABOLISM</vt:lpstr>
      <vt:lpstr>Comparison of metabolic bioactivation and biotoxification processes</vt:lpstr>
      <vt:lpstr>IMPLICATIONS OF DRUG METABOLISM</vt:lpstr>
      <vt:lpstr>DRUG METABOLISM</vt:lpstr>
      <vt:lpstr>DRUG METABOLISM</vt:lpstr>
      <vt:lpstr>General Pathways of Drug Metabolism</vt:lpstr>
      <vt:lpstr>PowerPoint Presentation</vt:lpstr>
      <vt:lpstr>PHASE I METABOLISM</vt:lpstr>
      <vt:lpstr>PHASE I METABOLISM</vt:lpstr>
      <vt:lpstr>DRUG METABOLISM: PHASE I REACTIONS</vt:lpstr>
      <vt:lpstr>PowerPoint Presentation</vt:lpstr>
      <vt:lpstr>PowerPoint Presentation</vt:lpstr>
      <vt:lpstr>Hydrolysis reactions</vt:lpstr>
      <vt:lpstr>DRUG METABOLISM: PHASE 1 REACTIONS</vt:lpstr>
      <vt:lpstr>PHASE II METABOLISM</vt:lpstr>
      <vt:lpstr>PHASE II METABOLISM</vt:lpstr>
      <vt:lpstr>PHASE II METABOLISM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Presystemic metabolism and first-pass effect</vt:lpstr>
      <vt:lpstr>Presystemic metabolism and first-pass effect</vt:lpstr>
      <vt:lpstr>Paracetamol Toxicity</vt:lpstr>
      <vt:lpstr>PowerPoint Presentation</vt:lpstr>
      <vt:lpstr>PowerPoint Presentation</vt:lpstr>
      <vt:lpstr>PowerPoint Presentation</vt:lpstr>
      <vt:lpstr>PowerPoint Presentation</vt:lpstr>
      <vt:lpstr>Biliary excretion</vt:lpstr>
      <vt:lpstr>PowerPoint Presentation</vt:lpstr>
      <vt:lpstr>PowerPoint Presentation</vt:lpstr>
      <vt:lpstr>DRUG HALF-LIFE (t1/2 )</vt:lpstr>
      <vt:lpstr>Elimination: kinetics</vt:lpstr>
      <vt:lpstr>Elimination: kinetics</vt:lpstr>
      <vt:lpstr>PowerPoint Presentation</vt:lpstr>
      <vt:lpstr>THANK YOU</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Dr. Arnold Forkuo Donkor</cp:lastModifiedBy>
  <cp:revision>184</cp:revision>
  <dcterms:created xsi:type="dcterms:W3CDTF">2016-11-07T15:28:41Z</dcterms:created>
  <dcterms:modified xsi:type="dcterms:W3CDTF">2026-04-30T17:58:36Z</dcterms:modified>
</cp:coreProperties>
</file>