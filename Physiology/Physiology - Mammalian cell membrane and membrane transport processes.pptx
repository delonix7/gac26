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56" r:id="rId3"/>
    <p:sldId id="431" r:id="rId4"/>
    <p:sldId id="823" r:id="rId5"/>
    <p:sldId id="824" r:id="rId6"/>
    <p:sldId id="825" r:id="rId7"/>
    <p:sldId id="553" r:id="rId8"/>
    <p:sldId id="826" r:id="rId9"/>
    <p:sldId id="607" r:id="rId10"/>
    <p:sldId id="827" r:id="rId11"/>
    <p:sldId id="434" r:id="rId12"/>
    <p:sldId id="435" r:id="rId13"/>
    <p:sldId id="550" r:id="rId14"/>
    <p:sldId id="828" r:id="rId15"/>
    <p:sldId id="829" r:id="rId16"/>
    <p:sldId id="548" r:id="rId17"/>
    <p:sldId id="816" r:id="rId18"/>
    <p:sldId id="634" r:id="rId19"/>
    <p:sldId id="834" r:id="rId20"/>
    <p:sldId id="835" r:id="rId21"/>
    <p:sldId id="831" r:id="rId22"/>
    <p:sldId id="836" r:id="rId23"/>
    <p:sldId id="832" r:id="rId24"/>
    <p:sldId id="837" r:id="rId25"/>
    <p:sldId id="838" r:id="rId26"/>
    <p:sldId id="576" r:id="rId27"/>
    <p:sldId id="839" r:id="rId28"/>
    <p:sldId id="840" r:id="rId29"/>
    <p:sldId id="677" r:id="rId30"/>
    <p:sldId id="841" r:id="rId31"/>
    <p:sldId id="842" r:id="rId32"/>
    <p:sldId id="843" r:id="rId33"/>
    <p:sldId id="844" r:id="rId34"/>
    <p:sldId id="845" r:id="rId35"/>
    <p:sldId id="846" r:id="rId36"/>
    <p:sldId id="847" r:id="rId37"/>
    <p:sldId id="849" r:id="rId38"/>
    <p:sldId id="539" r:id="rId39"/>
    <p:sldId id="850" r:id="rId40"/>
    <p:sldId id="851" r:id="rId41"/>
    <p:sldId id="580" r:id="rId42"/>
    <p:sldId id="852" r:id="rId43"/>
    <p:sldId id="854" r:id="rId44"/>
    <p:sldId id="853" r:id="rId45"/>
    <p:sldId id="855" r:id="rId46"/>
    <p:sldId id="856" r:id="rId47"/>
    <p:sldId id="601" r:id="rId48"/>
    <p:sldId id="575" r:id="rId49"/>
    <p:sldId id="857" r:id="rId50"/>
    <p:sldId id="858" r:id="rId51"/>
    <p:sldId id="859" r:id="rId52"/>
    <p:sldId id="446" r:id="rId53"/>
    <p:sldId id="860" r:id="rId54"/>
    <p:sldId id="861" r:id="rId55"/>
    <p:sldId id="532" r:id="rId56"/>
    <p:sldId id="862" r:id="rId57"/>
    <p:sldId id="863" r:id="rId58"/>
    <p:sldId id="809" r:id="rId59"/>
    <p:sldId id="864" r:id="rId60"/>
    <p:sldId id="452" r:id="rId61"/>
    <p:sldId id="865" r:id="rId62"/>
    <p:sldId id="866" r:id="rId63"/>
    <p:sldId id="605" r:id="rId64"/>
    <p:sldId id="808" r:id="rId65"/>
    <p:sldId id="867" r:id="rId66"/>
    <p:sldId id="602" r:id="rId67"/>
    <p:sldId id="818" r:id="rId68"/>
    <p:sldId id="868" r:id="rId69"/>
    <p:sldId id="820" r:id="rId70"/>
    <p:sldId id="603" r:id="rId71"/>
    <p:sldId id="869" r:id="rId72"/>
    <p:sldId id="451" r:id="rId73"/>
    <p:sldId id="822" r:id="rId74"/>
    <p:sldId id="821" r:id="rId75"/>
    <p:sldId id="444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0" d="100"/>
          <a:sy n="50" d="100"/>
        </p:scale>
        <p:origin x="1288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529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FCA0B-4372-9522-185F-C9F1EDA8A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18F00-4F65-314A-A4D7-0B6E325F6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B9B38-0E5F-F733-3C95-68325965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2C55-67AA-89C1-FFF8-2422B8C30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F7CE4-AC0C-C88B-A3F8-E1A94286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2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C9A98-603F-2F7F-C8A8-391223DF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8259C-F261-7180-791E-3C45881A9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4418D-0F44-980B-A0F6-43100162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45DC4-05C7-0EB0-34BB-73A9A2E9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B80B6-D5C2-271F-BD61-8DEA8142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2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425F-5AC0-EC79-AF9D-89A59865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C6417-EFB4-3B10-F787-909926475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C707E-90AD-D5DD-5477-14A125A7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B6B03-19FB-5286-C725-F3A565E9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2983-179C-A770-6259-8B661FF6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3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C699-9EBF-B991-23E0-C4ACC92D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41C28-DC73-97D0-A4EF-16A5633A19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63C95-5994-08A8-F271-EBB6978CB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FC298-48CD-8FEB-1345-B59C4DD6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BE761-ECB1-530E-E64E-322E5328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6073B-DA08-0A1F-205A-B3A2123A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4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7E2B-BD3C-CA1A-7515-DF79F77F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9303E-617F-1BCD-842A-1FABB1033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78634-8E68-AF3B-6777-A8ECC3363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CD1A5-87F9-C917-2379-0FCB9381C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DE119-8F56-C77D-47A2-C57540C10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6D56A-B2C5-D717-EFF2-01D374AE1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3F03F-2640-90DA-ED66-6C9DE0F1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7B5B2-7A9E-6481-2562-FFB7F1EA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50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5ACE-D850-ED7C-8B64-4A886E43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59F47-795B-CDCA-0F6F-64DCC250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6B10D-CA6D-A7A6-B2D9-D781F66EC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295EA-635D-3C2B-845D-A27FAA9E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9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8DD3A-A6C2-CAA7-3521-203C256A4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F665C-DD78-2715-6636-AAE9D7F24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099AA-931A-6690-7851-D4CF29CB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01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5595-3474-4BC3-FE6E-246BE7A02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6DBD3-8980-DCD4-62AF-0E30FF20F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AD9F4-765C-5250-07F6-9A6E7308B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46C9C-4755-C7FD-F919-373C76387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CCACB-760A-CC8C-25D1-61579ECC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08C20-9C33-7BD5-098B-4A83FFA2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5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0094-062D-B002-0EAB-85632E857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69AAE-0A87-C7E7-441F-8C96B4CF39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BC5EA-D8AF-DD9D-E45C-149E4F978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78D0-925D-EADF-377D-A91E9189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A898F-28A4-9F6C-DB50-EA909E22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EDC34-E565-5907-2358-EF6932E6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65C6-76A8-CE31-D464-BD14392E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1A9FD-330E-D10C-C634-DD4E2E3A4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291A2-70F2-09AC-805E-C20CD6A3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AA43-973C-A192-F04C-E227DF26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0E651-BCFC-9B0E-8A1E-A9C8E48E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4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97469-80AB-B6D3-7380-9226A214A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FA4FB-840B-DF6E-DE76-6C621C8FB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3FB66-54F8-42B2-286F-E2A5684A1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53014-C574-04A6-9064-C5DDA478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3B232-8E30-BA3D-1204-83E61DE6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14400" y="6172200"/>
            <a:ext cx="467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r>
              <a:rPr lang="en-US"/>
              <a:t>Tortora &amp; Grabowski 9/e </a:t>
            </a:r>
            <a:r>
              <a:rPr lang="en-US">
                <a:sym typeface="Symbol" pitchFamily="18" charset="2"/>
              </a:rPr>
              <a:t>2000 JWS</a:t>
            </a:r>
            <a:r>
              <a:rPr lang="en-US" i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37600" y="6172200"/>
            <a:ext cx="25400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r>
              <a:rPr lang="en-US"/>
              <a:t>2.1-</a:t>
            </a:r>
            <a:fld id="{9A678AFB-D02D-4401-A9F3-04ED985337FE}" type="slidenum">
              <a:rPr lang="en-US"/>
              <a:pPr/>
              <a:t>‹#›</a:t>
            </a:fld>
            <a:endParaRPr lang="en-US" i="0"/>
          </a:p>
        </p:txBody>
      </p:sp>
    </p:spTree>
    <p:extLst>
      <p:ext uri="{BB962C8B-B14F-4D97-AF65-F5344CB8AC3E}">
        <p14:creationId xmlns:p14="http://schemas.microsoft.com/office/powerpoint/2010/main" val="82629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14400" y="6172200"/>
            <a:ext cx="467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r>
              <a:rPr lang="en-US"/>
              <a:t>Tortora &amp; Grabowski 9/e </a:t>
            </a:r>
            <a:r>
              <a:rPr lang="en-US">
                <a:sym typeface="Symbol" pitchFamily="18" charset="2"/>
              </a:rPr>
              <a:t>2000 JWS</a:t>
            </a:r>
            <a:r>
              <a:rPr lang="en-US" i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37600" y="6172200"/>
            <a:ext cx="25400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r>
              <a:rPr lang="en-US"/>
              <a:t>2.1-</a:t>
            </a:r>
            <a:fld id="{4295BAED-D208-4F98-A2DA-7BF151A2688C}" type="slidenum">
              <a:rPr lang="en-US"/>
              <a:pPr/>
              <a:t>‹#›</a:t>
            </a:fld>
            <a:endParaRPr lang="en-US" i="0"/>
          </a:p>
        </p:txBody>
      </p:sp>
    </p:spTree>
    <p:extLst>
      <p:ext uri="{BB962C8B-B14F-4D97-AF65-F5344CB8AC3E}">
        <p14:creationId xmlns:p14="http://schemas.microsoft.com/office/powerpoint/2010/main" val="3543291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14400" y="6172200"/>
            <a:ext cx="467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r>
              <a:rPr lang="en-US"/>
              <a:t>Tortora &amp; Grabowski 9/e </a:t>
            </a:r>
            <a:r>
              <a:rPr lang="en-US">
                <a:sym typeface="Symbol" pitchFamily="18" charset="2"/>
              </a:rPr>
              <a:t>2000 JWS</a:t>
            </a:r>
            <a:r>
              <a:rPr lang="en-US" i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37600" y="6172200"/>
            <a:ext cx="25400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r>
              <a:rPr lang="en-US"/>
              <a:t>2.1-</a:t>
            </a:r>
            <a:fld id="{409E5CF4-58B0-4EF5-BDBD-E6BBA134ACC1}" type="slidenum">
              <a:rPr lang="en-US"/>
              <a:pPr/>
              <a:t>‹#›</a:t>
            </a:fld>
            <a:endParaRPr lang="en-US" i="0"/>
          </a:p>
        </p:txBody>
      </p:sp>
    </p:spTree>
    <p:extLst>
      <p:ext uri="{BB962C8B-B14F-4D97-AF65-F5344CB8AC3E}">
        <p14:creationId xmlns:p14="http://schemas.microsoft.com/office/powerpoint/2010/main" val="190034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A6E05-ED7D-58FC-24A2-A3C6D31CF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7D379-E461-BE40-31E5-B7180F3A8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ED11F-C4AD-5DB5-2BAD-9F6193C5F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CC565-EA6B-4125-A02D-8B9780479136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E5B1-B8E2-6B9E-0AEA-F16B2A75C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673F1-0DA5-2A60-F42A-74B362949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50476-2709-484D-8A50-6093321C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://en.wikipedia.org/wiki/File:Phagocytosis_in_three_steps.png" TargetMode="Externa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2130426"/>
            <a:ext cx="10972799" cy="3084525"/>
          </a:xfrm>
        </p:spPr>
        <p:txBody>
          <a:bodyPr>
            <a:noAutofit/>
          </a:bodyPr>
          <a:lstStyle/>
          <a:p>
            <a:pPr algn="l"/>
            <a:br>
              <a:rPr lang="en-US" sz="6600" dirty="0"/>
            </a:br>
            <a:r>
              <a:rPr lang="en-US" sz="6600" b="1" i="1" dirty="0"/>
              <a:t>Cellular Level of Organization (cell membranes &amp; transport)</a:t>
            </a:r>
            <a:br>
              <a:rPr lang="en-US" sz="6600" b="1" i="1" dirty="0"/>
            </a:br>
            <a:endParaRPr lang="en-US" sz="66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14878-888E-42D0-BFC0-E43B77CE7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3183"/>
            <a:ext cx="9826487" cy="1336606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FF0000"/>
                </a:solidFill>
              </a:rPr>
              <a:t>Mammalian cell membrane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F91EE-6B50-3FD0-C529-A93A17B62B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AF0EB-6213-5615-DF73-39BD59E79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180" y="2789583"/>
            <a:ext cx="8498561" cy="354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39512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Functions: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345558" y="1076826"/>
            <a:ext cx="11685181" cy="54636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Physical isolation/ barrier </a:t>
            </a:r>
            <a:r>
              <a:rPr lang="en-US" sz="3200" dirty="0"/>
              <a:t>that separates ICF from the surrounding ECF </a:t>
            </a:r>
          </a:p>
          <a:p>
            <a:pPr>
              <a:lnSpc>
                <a:spcPct val="100000"/>
              </a:lnSpc>
            </a:pPr>
            <a:r>
              <a:rPr lang="en-US" sz="3200" b="1" dirty="0"/>
              <a:t>Regulation </a:t>
            </a:r>
            <a:r>
              <a:rPr lang="en-US" sz="3200" dirty="0"/>
              <a:t>Highly selective for exchange from/into the cell with the environment (ions, nutrients, wastes, secretions)</a:t>
            </a:r>
          </a:p>
          <a:p>
            <a:pPr>
              <a:lnSpc>
                <a:spcPct val="100000"/>
              </a:lnSpc>
            </a:pPr>
            <a:r>
              <a:rPr lang="en-US" sz="3200" b="1" dirty="0"/>
              <a:t>Structural support</a:t>
            </a:r>
            <a:r>
              <a:rPr lang="en-US" sz="3200" dirty="0"/>
              <a:t>: attachment point for intracellular cytoskeleton</a:t>
            </a:r>
            <a:r>
              <a:rPr lang="en-GB" sz="3200" dirty="0"/>
              <a:t> (cell framework): internal network of protein filaments and microtubules that controls the cell's shape and movement.</a:t>
            </a:r>
            <a:endParaRPr lang="en-US" sz="3200" dirty="0"/>
          </a:p>
          <a:p>
            <a:pPr>
              <a:lnSpc>
                <a:spcPct val="100000"/>
              </a:lnSpc>
            </a:pPr>
            <a:r>
              <a:rPr lang="en-US" sz="3200" b="1" dirty="0"/>
              <a:t>Sensitivity</a:t>
            </a:r>
            <a:r>
              <a:rPr lang="en-US" sz="3200" dirty="0"/>
              <a:t> :contains receptors, affected by changes in ECF (pH, concentration, composition)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7E4A-5CA3-0CA0-EE58-F7F6E5C8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68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Structure</a:t>
            </a:r>
            <a:r>
              <a:rPr lang="en-US" dirty="0"/>
              <a:t>: Fluid Mosaic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0A35C-1B23-4C70-8596-E3C381D4F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1005386"/>
            <a:ext cx="11453200" cy="5668370"/>
          </a:xfrm>
        </p:spPr>
        <p:txBody>
          <a:bodyPr>
            <a:normAutofit/>
          </a:bodyPr>
          <a:lstStyle/>
          <a:p>
            <a:r>
              <a:rPr lang="en-US" sz="3200" dirty="0"/>
              <a:t>Cell membrane is a Fluid Mosaic of </a:t>
            </a:r>
          </a:p>
          <a:p>
            <a:pPr lvl="1"/>
            <a:r>
              <a:rPr lang="en-US" sz="3200" dirty="0"/>
              <a:t>Proteins, </a:t>
            </a:r>
          </a:p>
          <a:p>
            <a:pPr lvl="1"/>
            <a:r>
              <a:rPr lang="en-US" sz="3200" dirty="0"/>
              <a:t>phospholipids, cholesterol, other lipids, </a:t>
            </a:r>
          </a:p>
          <a:p>
            <a:pPr lvl="1"/>
            <a:r>
              <a:rPr lang="en-US" sz="3200" dirty="0"/>
              <a:t>carbohydrates </a:t>
            </a:r>
          </a:p>
          <a:p>
            <a:r>
              <a:rPr lang="en-US" sz="3200" dirty="0"/>
              <a:t>Phospholipid bilayer: Bilayer of lipids with imbedded and dispersed proteins</a:t>
            </a:r>
          </a:p>
          <a:p>
            <a:r>
              <a:rPr lang="en-US" sz="3200" dirty="0"/>
              <a:t>Flexible, thin, elastic but sturdy barrier that surround the cytoplasm:6-10nm</a:t>
            </a:r>
          </a:p>
          <a:p>
            <a:r>
              <a:rPr lang="en-US" sz="3200" dirty="0"/>
              <a:t>Semipermeable </a:t>
            </a:r>
          </a:p>
          <a:p>
            <a:r>
              <a:rPr lang="en-US" sz="3200" dirty="0"/>
              <a:t>Present in all cells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2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47F3-40AE-309B-8810-334EA18EC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62"/>
            <a:ext cx="10515600" cy="625475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sz="4900" b="1" dirty="0">
                <a:solidFill>
                  <a:srgbClr val="C00000"/>
                </a:solidFill>
              </a:rPr>
              <a:t>Structure</a:t>
            </a:r>
            <a:r>
              <a:rPr lang="en-US" sz="4900" dirty="0"/>
              <a:t>: </a:t>
            </a:r>
            <a:r>
              <a:rPr lang="en-US" sz="4900" b="1" dirty="0"/>
              <a:t>Membrane lipids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231-93BE-D4EE-1D46-45E7D125F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350" y="781050"/>
            <a:ext cx="11525250" cy="57975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3500" dirty="0"/>
              <a:t>Two back-to-back layers of </a:t>
            </a:r>
            <a:r>
              <a:rPr lang="en-US" sz="3500" b="1" dirty="0"/>
              <a:t>3 types </a:t>
            </a:r>
            <a:r>
              <a:rPr lang="en-US" sz="3500" dirty="0"/>
              <a:t>of lipid molecules: </a:t>
            </a:r>
            <a:r>
              <a:rPr lang="en-US" sz="3500" b="1" dirty="0"/>
              <a:t>phospholipids</a:t>
            </a:r>
            <a:r>
              <a:rPr lang="en-US" sz="3500" dirty="0"/>
              <a:t> (75%), </a:t>
            </a:r>
            <a:r>
              <a:rPr lang="en-US" sz="3500" b="1" dirty="0"/>
              <a:t>cholesterol</a:t>
            </a:r>
            <a:r>
              <a:rPr lang="en-US" sz="3500" dirty="0"/>
              <a:t> (20%), and </a:t>
            </a:r>
            <a:r>
              <a:rPr lang="en-US" sz="3500" b="1" dirty="0"/>
              <a:t>glycolipids</a:t>
            </a:r>
            <a:r>
              <a:rPr lang="en-US" sz="3500" dirty="0"/>
              <a:t> (5%)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3500" dirty="0"/>
          </a:p>
          <a:p>
            <a:pPr>
              <a:lnSpc>
                <a:spcPct val="110000"/>
              </a:lnSpc>
            </a:pPr>
            <a:r>
              <a:rPr lang="en-US" sz="3500" b="1" dirty="0"/>
              <a:t>Phospholipids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3500" dirty="0"/>
              <a:t>- form the bilayer with Cholesterol and glycolipids scattered among a double row of phospholipid molecules</a:t>
            </a:r>
          </a:p>
          <a:p>
            <a:pPr marL="457200" lvl="1" indent="-457200">
              <a:lnSpc>
                <a:spcPct val="110000"/>
              </a:lnSpc>
              <a:buFontTx/>
              <a:buChar char="-"/>
            </a:pPr>
            <a:r>
              <a:rPr lang="en-US" sz="3500" dirty="0"/>
              <a:t>have hydrophobic(fatty acid end) and hydrophilic (phosphate end) </a:t>
            </a:r>
            <a:r>
              <a:rPr lang="en-US" sz="3500" dirty="0" err="1"/>
              <a:t>bipoles</a:t>
            </a:r>
            <a:r>
              <a:rPr lang="en-US" sz="3500" dirty="0"/>
              <a:t>.</a:t>
            </a:r>
          </a:p>
          <a:p>
            <a:pPr marL="457200" lvl="1" indent="-457200">
              <a:lnSpc>
                <a:spcPct val="110000"/>
              </a:lnSpc>
              <a:buFontTx/>
              <a:buChar char="-"/>
            </a:pPr>
            <a:r>
              <a:rPr lang="en-US" sz="3500" dirty="0"/>
              <a:t>lie with their hydrophilic heads at the membrane surface and hydrophobic  tails on the inside </a:t>
            </a:r>
          </a:p>
          <a:p>
            <a:pPr marL="457200" lvl="1" indent="-457200">
              <a:lnSpc>
                <a:spcPct val="110000"/>
              </a:lnSpc>
              <a:buFontTx/>
              <a:buChar char="-"/>
            </a:pPr>
            <a:r>
              <a:rPr lang="en-US" sz="3600" dirty="0"/>
              <a:t>Entire membrane is held together by noncovalent interaction of hydrophobic  tails </a:t>
            </a:r>
            <a:endParaRPr lang="en-US" sz="3600" b="1" dirty="0"/>
          </a:p>
          <a:p>
            <a:pPr marL="457200" lvl="1" indent="-457200">
              <a:lnSpc>
                <a:spcPct val="110000"/>
              </a:lnSpc>
              <a:buFontTx/>
              <a:buChar char="-"/>
            </a:pPr>
            <a:endParaRPr lang="en-US" sz="3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7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CD5D3-D5D9-BDB4-0E75-1D7B1955A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558800"/>
            <a:ext cx="11410950" cy="59817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endParaRPr lang="en-US" b="1" dirty="0"/>
          </a:p>
          <a:p>
            <a:pPr>
              <a:lnSpc>
                <a:spcPct val="100000"/>
              </a:lnSpc>
            </a:pPr>
            <a:r>
              <a:rPr lang="en-US" sz="3600" b="1" dirty="0"/>
              <a:t>Glycolipids</a:t>
            </a:r>
            <a:r>
              <a:rPr lang="en-US" sz="36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Carbohydrate groups form a polar head only on the side of the membrane facing the extracellular fluid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endParaRPr lang="en-US" sz="3600" dirty="0"/>
          </a:p>
          <a:p>
            <a:pPr>
              <a:lnSpc>
                <a:spcPct val="100000"/>
              </a:lnSpc>
            </a:pPr>
            <a:r>
              <a:rPr lang="en-US" sz="3600" b="1" dirty="0"/>
              <a:t> Cholesterol:</a:t>
            </a:r>
            <a:r>
              <a:rPr lang="en-US" sz="3600" dirty="0"/>
              <a:t> </a:t>
            </a: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en-US" sz="3600" dirty="0"/>
              <a:t>Interspersed among the other lipids in both layers</a:t>
            </a: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en-US" sz="3600" dirty="0"/>
              <a:t>Hydrocarbon tails are nonpolar and hide in the middle of the cell membrane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8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8" name="Picture 14" descr="I:\MEDIA\1702\170298.JPG"/>
          <p:cNvPicPr>
            <a:picLocks noChangeAspect="1" noChangeArrowheads="1"/>
          </p:cNvPicPr>
          <p:nvPr/>
        </p:nvPicPr>
        <p:blipFill>
          <a:blip r:embed="rId2" cstate="print"/>
          <a:srcRect b="5905"/>
          <a:stretch>
            <a:fillRect/>
          </a:stretch>
        </p:blipFill>
        <p:spPr bwMode="auto">
          <a:xfrm>
            <a:off x="1524000" y="548680"/>
            <a:ext cx="9144000" cy="6309320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44450" y="127000"/>
            <a:ext cx="9144000" cy="57148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Lipid </a:t>
            </a:r>
            <a:r>
              <a:rPr lang="en-US" sz="3600" b="1" dirty="0" err="1">
                <a:solidFill>
                  <a:srgbClr val="C00000"/>
                </a:solidFill>
              </a:rPr>
              <a:t>Bilayer</a:t>
            </a:r>
            <a:r>
              <a:rPr lang="en-US" sz="3600" b="1" dirty="0">
                <a:solidFill>
                  <a:srgbClr val="C00000"/>
                </a:solidFill>
              </a:rPr>
              <a:t> of the Cell Membrane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1271" name="Oval 7"/>
          <p:cNvSpPr>
            <a:spLocks noChangeArrowheads="1"/>
          </p:cNvSpPr>
          <p:nvPr/>
        </p:nvSpPr>
        <p:spPr bwMode="auto">
          <a:xfrm>
            <a:off x="4943872" y="4653136"/>
            <a:ext cx="457200" cy="533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1272" name="Oval 8"/>
          <p:cNvSpPr>
            <a:spLocks noChangeArrowheads="1"/>
          </p:cNvSpPr>
          <p:nvPr/>
        </p:nvSpPr>
        <p:spPr bwMode="auto">
          <a:xfrm rot="-1620038">
            <a:off x="3610108" y="3684328"/>
            <a:ext cx="639762" cy="6223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8976320" y="1268760"/>
            <a:ext cx="838200" cy="762000"/>
            <a:chOff x="3360" y="2160"/>
            <a:chExt cx="528" cy="816"/>
          </a:xfrm>
        </p:grpSpPr>
        <p:sp>
          <p:nvSpPr>
            <p:cNvPr id="11273" name="Line 9"/>
            <p:cNvSpPr>
              <a:spLocks noChangeShapeType="1"/>
            </p:cNvSpPr>
            <p:nvPr/>
          </p:nvSpPr>
          <p:spPr bwMode="auto">
            <a:xfrm>
              <a:off x="3360" y="2160"/>
              <a:ext cx="52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74" name="Line 10"/>
            <p:cNvSpPr>
              <a:spLocks noChangeShapeType="1"/>
            </p:cNvSpPr>
            <p:nvPr/>
          </p:nvSpPr>
          <p:spPr bwMode="auto">
            <a:xfrm>
              <a:off x="3360" y="2976"/>
              <a:ext cx="52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75" name="Line 11"/>
            <p:cNvSpPr>
              <a:spLocks noChangeShapeType="1"/>
            </p:cNvSpPr>
            <p:nvPr/>
          </p:nvSpPr>
          <p:spPr bwMode="auto">
            <a:xfrm>
              <a:off x="3888" y="2160"/>
              <a:ext cx="0" cy="81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nimBg="1" autoUpdateAnimBg="0"/>
      <p:bldP spid="11272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41A2-E500-7507-1989-46F80BB3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76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Structure: </a:t>
            </a:r>
            <a:r>
              <a:rPr lang="en-GB" b="1" dirty="0"/>
              <a:t>Membrane proteins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134C-CEF6-8DDF-FA12-6AF5CA19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1" y="994229"/>
            <a:ext cx="11662228" cy="5638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sz="3200" dirty="0"/>
              <a:t>About 55% of the cell membrane weight</a:t>
            </a:r>
          </a:p>
          <a:p>
            <a:pPr>
              <a:lnSpc>
                <a:spcPct val="100000"/>
              </a:lnSpc>
            </a:pPr>
            <a:r>
              <a:rPr lang="en-GB" sz="3200" dirty="0"/>
              <a:t>2 major types: </a:t>
            </a:r>
            <a:r>
              <a:rPr lang="en-GB" sz="3200" b="1" dirty="0"/>
              <a:t>integral</a:t>
            </a:r>
            <a:r>
              <a:rPr lang="en-GB" sz="3200" dirty="0"/>
              <a:t> and </a:t>
            </a:r>
            <a:r>
              <a:rPr lang="en-GB" sz="3200" b="1" dirty="0"/>
              <a:t>peripheral</a:t>
            </a:r>
          </a:p>
          <a:p>
            <a:pPr>
              <a:lnSpc>
                <a:spcPct val="100000"/>
              </a:lnSpc>
            </a:pPr>
            <a:endParaRPr lang="en-GB" sz="3200" dirty="0"/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GB" sz="3200" b="1" dirty="0"/>
              <a:t>Integral (transmembrane) proteins</a:t>
            </a:r>
            <a:r>
              <a:rPr lang="en-GB" sz="32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200" dirty="0"/>
              <a:t>- span width of membrane 1/more times (embedded)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200" dirty="0"/>
              <a:t>- Their </a:t>
            </a:r>
            <a:r>
              <a:rPr lang="en-US" sz="3200" dirty="0"/>
              <a:t>hydrophobic ends completely span the hydrophobic interior of membrane, whiles hydrophilic ends are exposed to aqueous parts on either side of the membrane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endParaRPr lang="en-GB" sz="3200" dirty="0"/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GB" sz="3200" b="1" dirty="0"/>
              <a:t>Peripheral proteins</a:t>
            </a:r>
            <a:r>
              <a:rPr lang="en-GB" sz="32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200" dirty="0"/>
              <a:t>- Bound to inner or outer surface of membrane(not embedded)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026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985" name="Picture 9" descr="I:\MEDIA\1702\170298.JPG"/>
          <p:cNvPicPr>
            <a:picLocks noChangeAspect="1" noChangeArrowheads="1"/>
          </p:cNvPicPr>
          <p:nvPr/>
        </p:nvPicPr>
        <p:blipFill>
          <a:blip r:embed="rId2" cstate="print"/>
          <a:srcRect b="5511"/>
          <a:stretch>
            <a:fillRect/>
          </a:stretch>
        </p:blipFill>
        <p:spPr bwMode="auto">
          <a:xfrm>
            <a:off x="1703512" y="836712"/>
            <a:ext cx="8964488" cy="5832648"/>
          </a:xfrm>
          <a:prstGeom prst="rect">
            <a:avLst/>
          </a:prstGeom>
          <a:noFill/>
        </p:spPr>
      </p:pic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89" y="425625"/>
            <a:ext cx="7772400" cy="4320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Membrane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sz="4000" b="1" dirty="0">
                <a:solidFill>
                  <a:srgbClr val="C00000"/>
                </a:solidFill>
              </a:rPr>
              <a:t>Proteins</a:t>
            </a:r>
          </a:p>
        </p:txBody>
      </p:sp>
      <p:sp>
        <p:nvSpPr>
          <p:cNvPr id="254982" name="Oval 6"/>
          <p:cNvSpPr>
            <a:spLocks noChangeArrowheads="1"/>
          </p:cNvSpPr>
          <p:nvPr/>
        </p:nvSpPr>
        <p:spPr bwMode="auto">
          <a:xfrm>
            <a:off x="4223792" y="4653136"/>
            <a:ext cx="762000" cy="9906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735960" y="1340768"/>
            <a:ext cx="3024336" cy="3200400"/>
            <a:chOff x="2592" y="672"/>
            <a:chExt cx="1776" cy="2016"/>
          </a:xfrm>
        </p:grpSpPr>
        <p:sp>
          <p:nvSpPr>
            <p:cNvPr id="254983" name="Oval 7"/>
            <p:cNvSpPr>
              <a:spLocks noChangeArrowheads="1"/>
            </p:cNvSpPr>
            <p:nvPr/>
          </p:nvSpPr>
          <p:spPr bwMode="auto">
            <a:xfrm>
              <a:off x="3792" y="672"/>
              <a:ext cx="576" cy="115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54990" name="Oval 14"/>
            <p:cNvSpPr>
              <a:spLocks noChangeArrowheads="1"/>
            </p:cNvSpPr>
            <p:nvPr/>
          </p:nvSpPr>
          <p:spPr bwMode="auto">
            <a:xfrm rot="-1509446">
              <a:off x="2592" y="1536"/>
              <a:ext cx="576" cy="115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54991" name="Oval 15"/>
            <p:cNvSpPr>
              <a:spLocks noChangeArrowheads="1"/>
            </p:cNvSpPr>
            <p:nvPr/>
          </p:nvSpPr>
          <p:spPr bwMode="auto">
            <a:xfrm rot="-1509446">
              <a:off x="3168" y="1152"/>
              <a:ext cx="576" cy="115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4981" name="Oval 5"/>
          <p:cNvSpPr>
            <a:spLocks noChangeArrowheads="1"/>
          </p:cNvSpPr>
          <p:nvPr/>
        </p:nvSpPr>
        <p:spPr bwMode="auto">
          <a:xfrm rot="-2347999">
            <a:off x="5268540" y="4806364"/>
            <a:ext cx="1816100" cy="533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54989" name="Oval 13"/>
          <p:cNvSpPr>
            <a:spLocks noChangeArrowheads="1"/>
          </p:cNvSpPr>
          <p:nvPr/>
        </p:nvSpPr>
        <p:spPr bwMode="auto">
          <a:xfrm>
            <a:off x="4439816" y="3212976"/>
            <a:ext cx="12192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2" grpId="0" animBg="1"/>
      <p:bldP spid="254981" grpId="0" animBg="1"/>
      <p:bldP spid="25498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814B-810C-0334-57A5-702B66BFD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3838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Functions</a:t>
            </a:r>
            <a:r>
              <a:rPr lang="en-GB" dirty="0"/>
              <a:t>: plasma proteins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C4F38-CA0E-2170-45DB-BFFADCC99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02" y="893134"/>
            <a:ext cx="11376838" cy="577879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b="1" dirty="0"/>
              <a:t>Anchoring proteins</a:t>
            </a:r>
            <a:r>
              <a:rPr lang="en-GB" dirty="0"/>
              <a:t>-attach membrane to other structures to stabilize its position </a:t>
            </a:r>
            <a:r>
              <a:rPr lang="en-GB" dirty="0" err="1"/>
              <a:t>ie</a:t>
            </a:r>
            <a:r>
              <a:rPr lang="en-GB" dirty="0"/>
              <a:t> </a:t>
            </a:r>
            <a:r>
              <a:rPr lang="en-US" dirty="0"/>
              <a:t>to cytoskeleton and extracellular matrix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b="1" dirty="0"/>
              <a:t>Recognition proteins</a:t>
            </a:r>
            <a:r>
              <a:rPr lang="en-GB" dirty="0"/>
              <a:t>: identifiers, cells of immune system recognise others as normal/abnormal(</a:t>
            </a:r>
            <a:r>
              <a:rPr lang="en-US" dirty="0"/>
              <a:t>Cell-cell recognition)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b="1" dirty="0"/>
              <a:t>Receptors</a:t>
            </a:r>
            <a:r>
              <a:rPr lang="en-GB" dirty="0"/>
              <a:t>: sensitive to ligands,</a:t>
            </a:r>
            <a:r>
              <a:rPr lang="en-US" dirty="0"/>
              <a:t> for signal transduction</a:t>
            </a:r>
            <a:endParaRPr lang="en-GB" b="1" dirty="0"/>
          </a:p>
          <a:p>
            <a:pPr>
              <a:lnSpc>
                <a:spcPct val="100000"/>
              </a:lnSpc>
            </a:pPr>
            <a:r>
              <a:rPr lang="en-GB" b="1" dirty="0"/>
              <a:t>Carrier proteins</a:t>
            </a:r>
            <a:r>
              <a:rPr lang="en-US" dirty="0"/>
              <a:t>: </a:t>
            </a:r>
            <a:r>
              <a:rPr lang="en-GB" dirty="0"/>
              <a:t>binds solutes and transports them across the membrane</a:t>
            </a:r>
            <a:endParaRPr lang="en-GB" b="1" dirty="0"/>
          </a:p>
          <a:p>
            <a:pPr>
              <a:lnSpc>
                <a:spcPct val="100000"/>
              </a:lnSpc>
            </a:pPr>
            <a:r>
              <a:rPr lang="en-GB" b="1" dirty="0"/>
              <a:t>channels</a:t>
            </a:r>
            <a:r>
              <a:rPr lang="en-GB" dirty="0"/>
              <a:t>: contains a central pore, serves as a passageway for movement of water and small solutes(</a:t>
            </a:r>
            <a:r>
              <a:rPr lang="en-GB" dirty="0" err="1"/>
              <a:t>eg</a:t>
            </a:r>
            <a:r>
              <a:rPr lang="en-GB" dirty="0"/>
              <a:t> ions)-leak and gated channels</a:t>
            </a:r>
          </a:p>
          <a:p>
            <a:pPr>
              <a:lnSpc>
                <a:spcPct val="100000"/>
              </a:lnSpc>
            </a:pPr>
            <a:r>
              <a:rPr lang="en-GB" b="1" dirty="0"/>
              <a:t>Enzymes: </a:t>
            </a:r>
            <a:r>
              <a:rPr lang="en-US" dirty="0"/>
              <a:t>Enzymatic activity</a:t>
            </a:r>
            <a:endParaRPr lang="en-GB" b="1" dirty="0"/>
          </a:p>
          <a:p>
            <a:pPr>
              <a:lnSpc>
                <a:spcPct val="100000"/>
              </a:lnSpc>
            </a:pPr>
            <a:r>
              <a:rPr lang="en-GB" b="1" dirty="0"/>
              <a:t>Antigens</a:t>
            </a:r>
            <a:r>
              <a:rPr lang="en-GB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973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5" name="Picture 5" descr=" 0303a.jpg                                                      0001B72FHAP5e_ppt_cd                   B3FD695F:"/>
          <p:cNvPicPr>
            <a:picLocks noChangeAspect="1" noChangeArrowheads="1"/>
          </p:cNvPicPr>
          <p:nvPr/>
        </p:nvPicPr>
        <p:blipFill>
          <a:blip r:embed="rId2" cstate="print"/>
          <a:srcRect b="4999"/>
          <a:stretch>
            <a:fillRect/>
          </a:stretch>
        </p:blipFill>
        <p:spPr bwMode="auto">
          <a:xfrm>
            <a:off x="326003" y="79513"/>
            <a:ext cx="11688418" cy="67784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9" name="Picture 5" descr=" 0303b.jpg                                                      0001B72FHAP5e_ppt_cd                   B3FD695F:"/>
          <p:cNvPicPr>
            <a:picLocks noChangeAspect="1" noChangeArrowheads="1"/>
          </p:cNvPicPr>
          <p:nvPr/>
        </p:nvPicPr>
        <p:blipFill>
          <a:blip r:embed="rId2" cstate="print"/>
          <a:srcRect b="4999"/>
          <a:stretch>
            <a:fillRect/>
          </a:stretch>
        </p:blipFill>
        <p:spPr bwMode="auto">
          <a:xfrm>
            <a:off x="151075" y="188640"/>
            <a:ext cx="11799735" cy="65265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94856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Classification</a:t>
            </a:r>
            <a:r>
              <a:rPr lang="en-US" dirty="0"/>
              <a:t>: Membrane proteins</a:t>
            </a:r>
          </a:p>
        </p:txBody>
      </p:sp>
      <p:pic>
        <p:nvPicPr>
          <p:cNvPr id="87046" name="Picture 6" descr="03-04_1.jpg                                                    000000B4Sarah                          B9D5FA8B:"/>
          <p:cNvPicPr>
            <a:picLocks noChangeAspect="1" noChangeArrowheads="1"/>
          </p:cNvPicPr>
          <p:nvPr/>
        </p:nvPicPr>
        <p:blipFill>
          <a:blip r:embed="rId2" cstate="print"/>
          <a:srcRect b="3000"/>
          <a:stretch>
            <a:fillRect/>
          </a:stretch>
        </p:blipFill>
        <p:spPr bwMode="auto">
          <a:xfrm>
            <a:off x="225288" y="523460"/>
            <a:ext cx="11897802" cy="62550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D457-95BD-AF18-FC8B-09DD7FFEC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172" y="490674"/>
            <a:ext cx="10515600" cy="516145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Structure</a:t>
            </a:r>
            <a:r>
              <a:rPr lang="en-GB" b="1" dirty="0"/>
              <a:t>: Membrane carbohydrates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E8D9-4225-4AAB-D4C6-1CC2F9F86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191" y="1232452"/>
            <a:ext cx="11648661" cy="54135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400" dirty="0"/>
              <a:t>About 3% of the membrane weight</a:t>
            </a:r>
          </a:p>
          <a:p>
            <a:pPr>
              <a:lnSpc>
                <a:spcPct val="100000"/>
              </a:lnSpc>
            </a:pPr>
            <a:r>
              <a:rPr lang="en-GB" sz="3400" dirty="0"/>
              <a:t>Components of complex molecules</a:t>
            </a:r>
          </a:p>
          <a:p>
            <a:pPr>
              <a:lnSpc>
                <a:spcPct val="100000"/>
              </a:lnSpc>
            </a:pPr>
            <a:r>
              <a:rPr lang="en-GB" sz="3400" dirty="0"/>
              <a:t>Covalently bonded to lipids to form glycolipids and to Proteins, forming glycoproteins</a:t>
            </a:r>
          </a:p>
          <a:p>
            <a:pPr>
              <a:lnSpc>
                <a:spcPct val="100000"/>
              </a:lnSpc>
            </a:pPr>
            <a:r>
              <a:rPr lang="en-GB" sz="3400" dirty="0"/>
              <a:t>Forms a layer by extending beyond the outer surface of the membrane-glycocalyx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349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9778-0E51-5D36-354D-6A5C4F48B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8178"/>
          </a:xfrm>
        </p:spPr>
        <p:txBody>
          <a:bodyPr>
            <a:normAutofit fontScale="90000"/>
          </a:bodyPr>
          <a:lstStyle/>
          <a:p>
            <a:br>
              <a:rPr lang="en-GB" b="1" dirty="0">
                <a:solidFill>
                  <a:srgbClr val="FF0000"/>
                </a:solidFill>
              </a:rPr>
            </a:br>
            <a:r>
              <a:rPr lang="en-GB" sz="4900" b="1" dirty="0">
                <a:solidFill>
                  <a:srgbClr val="FF0000"/>
                </a:solidFill>
              </a:rPr>
              <a:t>Functions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61A9B-38EA-000A-CC39-315D9A26C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3" y="1272208"/>
            <a:ext cx="11304104" cy="509546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3600" b="1" dirty="0"/>
              <a:t>Lubrication and protection</a:t>
            </a:r>
            <a:r>
              <a:rPr lang="en-GB" sz="3600" dirty="0"/>
              <a:t>: form a viscous layer</a:t>
            </a:r>
          </a:p>
          <a:p>
            <a:pPr>
              <a:lnSpc>
                <a:spcPct val="100000"/>
              </a:lnSpc>
            </a:pPr>
            <a:r>
              <a:rPr lang="en-GB" sz="3600" b="1" dirty="0"/>
              <a:t>Anchoring and locomotion</a:t>
            </a:r>
            <a:r>
              <a:rPr lang="en-GB" sz="3600" dirty="0"/>
              <a:t>: components are sticky, anchoring the cell in place</a:t>
            </a:r>
          </a:p>
          <a:p>
            <a:pPr>
              <a:lnSpc>
                <a:spcPct val="100000"/>
              </a:lnSpc>
            </a:pPr>
            <a:r>
              <a:rPr lang="en-GB" sz="3600" b="1" dirty="0"/>
              <a:t>Receptors</a:t>
            </a:r>
            <a:r>
              <a:rPr lang="en-GB" sz="3600" dirty="0"/>
              <a:t>: specificity towards extracellular components</a:t>
            </a:r>
          </a:p>
          <a:p>
            <a:pPr>
              <a:lnSpc>
                <a:spcPct val="100000"/>
              </a:lnSpc>
            </a:pPr>
            <a:r>
              <a:rPr lang="en-GB" sz="3600" b="1" dirty="0"/>
              <a:t>Recognition</a:t>
            </a:r>
            <a:r>
              <a:rPr lang="en-GB" sz="3600" dirty="0"/>
              <a:t>: immune 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891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4046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 </a:t>
            </a:r>
            <a:r>
              <a:rPr lang="en-US" sz="4000" dirty="0"/>
              <a:t>The Cell Membrane: Fluid Mosaic Model</a:t>
            </a:r>
          </a:p>
        </p:txBody>
      </p:sp>
      <p:pic>
        <p:nvPicPr>
          <p:cNvPr id="61446" name="Picture 6" descr="03-03_1.jpg                                                    000000B4Sarah                          B9D5FA8B:"/>
          <p:cNvPicPr>
            <a:picLocks noChangeAspect="1" noChangeArrowheads="1"/>
          </p:cNvPicPr>
          <p:nvPr/>
        </p:nvPicPr>
        <p:blipFill>
          <a:blip r:embed="rId2" cstate="print"/>
          <a:srcRect b="3419"/>
          <a:stretch>
            <a:fillRect/>
          </a:stretch>
        </p:blipFill>
        <p:spPr bwMode="auto">
          <a:xfrm>
            <a:off x="1666844" y="476672"/>
            <a:ext cx="9001156" cy="63813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114" name="Picture 2" descr="D:\cell membrane\cellMembraneClose.jpgc0dacc00-d424-494c-b0ce-2ab8d842ce85Lar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332656"/>
            <a:ext cx="8496944" cy="62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643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2215" y="2185920"/>
            <a:ext cx="10999303" cy="2387600"/>
          </a:xfrm>
        </p:spPr>
        <p:txBody>
          <a:bodyPr>
            <a:noAutofit/>
          </a:bodyPr>
          <a:lstStyle/>
          <a:p>
            <a:br>
              <a:rPr lang="en-GB" sz="9600" b="1" dirty="0">
                <a:solidFill>
                  <a:srgbClr val="C00000"/>
                </a:solidFill>
              </a:rPr>
            </a:br>
            <a:br>
              <a:rPr lang="en-GB" sz="9600" b="1" dirty="0">
                <a:solidFill>
                  <a:srgbClr val="C00000"/>
                </a:solidFill>
              </a:rPr>
            </a:br>
            <a:br>
              <a:rPr lang="en-GB" sz="9600" b="1" dirty="0">
                <a:solidFill>
                  <a:srgbClr val="C00000"/>
                </a:solidFill>
              </a:rPr>
            </a:br>
            <a:br>
              <a:rPr lang="en-GB" sz="9600" b="1" dirty="0">
                <a:solidFill>
                  <a:srgbClr val="C00000"/>
                </a:solidFill>
              </a:rPr>
            </a:br>
            <a:br>
              <a:rPr lang="en-GB" sz="9600" dirty="0"/>
            </a:br>
            <a:br>
              <a:rPr lang="en-GB" sz="9600" dirty="0"/>
            </a:br>
            <a:br>
              <a:rPr lang="en-GB" sz="9600" dirty="0"/>
            </a:br>
            <a:r>
              <a:rPr lang="en-US" sz="9600" dirty="0">
                <a:solidFill>
                  <a:srgbClr val="FF0000"/>
                </a:solidFill>
              </a:rPr>
              <a:t>membrane transport processes</a:t>
            </a:r>
            <a:endParaRPr lang="en-GB" sz="9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68825-3D2D-C285-1D3B-236A5FFE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87" y="544622"/>
            <a:ext cx="10515600" cy="27408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Why Transport?.......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2CA79-CC76-5645-1F81-7FB8378D2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2" y="983512"/>
            <a:ext cx="11844670" cy="57575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dirty="0"/>
              <a:t>…..When mammalian cells are surrounded by a </a:t>
            </a:r>
            <a:r>
              <a:rPr lang="en-US" sz="3000" b="1" dirty="0"/>
              <a:t>phospholipid bilayer</a:t>
            </a:r>
            <a:r>
              <a:rPr lang="en-US" sz="3000" dirty="0"/>
              <a:t>, which is </a:t>
            </a:r>
            <a:r>
              <a:rPr lang="en-US" sz="3000" b="1" dirty="0"/>
              <a:t>selectively permeable</a:t>
            </a:r>
            <a:r>
              <a:rPr lang="en-US" sz="3000" dirty="0"/>
              <a:t>, </a:t>
            </a:r>
            <a:r>
              <a:rPr lang="en-US" sz="3000" b="1" dirty="0"/>
              <a:t>impermeable</a:t>
            </a:r>
            <a:r>
              <a:rPr lang="en-US" sz="3000" dirty="0"/>
              <a:t> to most essential molecules) and existing </a:t>
            </a:r>
            <a:r>
              <a:rPr lang="en-US" sz="3000" b="1" dirty="0"/>
              <a:t>concentration gradients</a:t>
            </a:r>
          </a:p>
          <a:p>
            <a:pPr>
              <a:lnSpc>
                <a:spcPct val="100000"/>
              </a:lnSpc>
            </a:pPr>
            <a:r>
              <a:rPr lang="en-US" sz="3000" dirty="0"/>
              <a:t>Most polar or charged substances, </a:t>
            </a:r>
            <a:r>
              <a:rPr lang="en-GB" sz="3000" dirty="0"/>
              <a:t>small hydrophilic, macromolecules (proteins, RNA) and ions</a:t>
            </a:r>
            <a:r>
              <a:rPr lang="en-US" sz="3000" dirty="0"/>
              <a:t> </a:t>
            </a:r>
            <a:r>
              <a:rPr lang="en-US" sz="3000" b="1" dirty="0"/>
              <a:t>cannot cross freely</a:t>
            </a: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dirty="0"/>
              <a:t>Cell membranes serve as </a:t>
            </a:r>
            <a:r>
              <a:rPr lang="en-US" sz="3000" b="1" dirty="0"/>
              <a:t>barriers</a:t>
            </a:r>
            <a:r>
              <a:rPr lang="en-US" sz="3000" dirty="0"/>
              <a:t> and a </a:t>
            </a:r>
            <a:r>
              <a:rPr lang="en-US" sz="3000" b="1" dirty="0"/>
              <a:t>gateway</a:t>
            </a:r>
            <a:r>
              <a:rPr lang="en-US" sz="3000" dirty="0"/>
              <a:t> between the cytoplasm and extracellular fluid (ECF)</a:t>
            </a:r>
          </a:p>
          <a:p>
            <a:pPr>
              <a:lnSpc>
                <a:spcPct val="100000"/>
              </a:lnSpc>
            </a:pPr>
            <a:endParaRPr lang="en-US" sz="3000" dirty="0"/>
          </a:p>
          <a:p>
            <a:pPr>
              <a:lnSpc>
                <a:spcPct val="100000"/>
              </a:lnSpc>
            </a:pPr>
            <a:r>
              <a:rPr lang="en-US" sz="3000" dirty="0"/>
              <a:t>Without membrane transport, cells would quickly lose viability.</a:t>
            </a:r>
          </a:p>
          <a:p>
            <a:pPr lvl="1">
              <a:lnSpc>
                <a:spcPct val="100000"/>
              </a:lnSpc>
            </a:pPr>
            <a:r>
              <a:rPr lang="en-GB" sz="3000" dirty="0"/>
              <a:t>All cells acquire molecules and ions that are essential from their surrounding ECF (unceasing traffic that cannot be broken)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952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3039-1E4C-058C-2E2E-99C5B776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6"/>
            <a:ext cx="11137605" cy="719395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b="1" dirty="0"/>
              <a:t>Importance of membrane transport: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BDB18-C8DE-2352-0BCD-9CF164FD7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37" y="1249326"/>
            <a:ext cx="11568223" cy="53907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Different transport systems are required to: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Maintain </a:t>
            </a:r>
            <a:r>
              <a:rPr lang="en-US" sz="3200" b="1" dirty="0"/>
              <a:t>homeostasis</a:t>
            </a:r>
            <a:r>
              <a:rPr lang="en-US" sz="3200" dirty="0"/>
              <a:t> (stable internal environment)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Regulate </a:t>
            </a:r>
            <a:r>
              <a:rPr lang="en-US" sz="3200" b="1" dirty="0"/>
              <a:t>ion gradients</a:t>
            </a:r>
            <a:r>
              <a:rPr lang="en-US" sz="3200" dirty="0"/>
              <a:t> (Na⁺, K⁺, Ca²⁺) critical for nerve and muscle function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Allow </a:t>
            </a:r>
            <a:r>
              <a:rPr lang="en-US" sz="3200" b="1" dirty="0"/>
              <a:t>nutrient uptake</a:t>
            </a:r>
            <a:r>
              <a:rPr lang="en-US" sz="3200" dirty="0"/>
              <a:t> (e.g., glucose, amino acids)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Remove </a:t>
            </a:r>
            <a:r>
              <a:rPr lang="en-US" sz="3200" b="1" dirty="0"/>
              <a:t>metabolic waste</a:t>
            </a:r>
            <a:r>
              <a:rPr lang="en-US" sz="3200" dirty="0"/>
              <a:t> (e.g., urea, CO₂)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Enable </a:t>
            </a:r>
            <a:r>
              <a:rPr lang="en-US" sz="3200" b="1" dirty="0"/>
              <a:t>cell signaling</a:t>
            </a:r>
            <a:r>
              <a:rPr lang="en-US" sz="3200" dirty="0"/>
              <a:t> and volume control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452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B411-B2B2-E66D-F0A2-4551088C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281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Factors that affect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9C473-410F-9D0E-82CA-172BF4EEF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930" y="1472609"/>
            <a:ext cx="11542644" cy="5179982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00000"/>
              </a:lnSpc>
            </a:pPr>
            <a:r>
              <a:rPr lang="en-US" sz="3200" dirty="0"/>
              <a:t>Selective Permeability depends on:</a:t>
            </a:r>
          </a:p>
          <a:p>
            <a:pPr marL="914400" lvl="2" indent="-457200">
              <a:lnSpc>
                <a:spcPct val="100000"/>
              </a:lnSpc>
            </a:pPr>
            <a:r>
              <a:rPr lang="en-US" sz="3200" dirty="0"/>
              <a:t>Relative solubility of particle in lipids</a:t>
            </a:r>
          </a:p>
          <a:p>
            <a:pPr marL="914400" lvl="2" indent="-457200">
              <a:lnSpc>
                <a:spcPct val="100000"/>
              </a:lnSpc>
            </a:pPr>
            <a:r>
              <a:rPr lang="en-US" sz="3200" dirty="0"/>
              <a:t>Size of particle</a:t>
            </a:r>
          </a:p>
          <a:p>
            <a:pPr marL="914400" lvl="2" indent="-457200">
              <a:lnSpc>
                <a:spcPct val="100000"/>
              </a:lnSpc>
            </a:pPr>
            <a:r>
              <a:rPr lang="en-US" sz="3200" dirty="0"/>
              <a:t>Electric charge</a:t>
            </a:r>
          </a:p>
          <a:p>
            <a:pPr marL="914400" lvl="2" indent="-457200">
              <a:lnSpc>
                <a:spcPct val="100000"/>
              </a:lnSpc>
            </a:pPr>
            <a:r>
              <a:rPr lang="en-US" sz="3200" dirty="0"/>
              <a:t>Molecular shape</a:t>
            </a:r>
          </a:p>
          <a:p>
            <a:pPr marL="914400" lvl="2" indent="-457200">
              <a:lnSpc>
                <a:spcPct val="100000"/>
              </a:lnSpc>
            </a:pPr>
            <a:r>
              <a:rPr lang="en-US" sz="3200" dirty="0"/>
              <a:t>Combination of factors</a:t>
            </a:r>
          </a:p>
          <a:p>
            <a:pPr>
              <a:buNone/>
            </a:pP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995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2632-0C96-7BD4-0F5A-9D89DCEAF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Membrane Transport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1DFF9-A300-94BD-3A4E-6112F52BA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3242"/>
            <a:ext cx="10916093" cy="4693721"/>
          </a:xfrm>
        </p:spPr>
        <p:txBody>
          <a:bodyPr/>
          <a:lstStyle/>
          <a:p>
            <a:pPr marL="514350" indent="-514350">
              <a:lnSpc>
                <a:spcPct val="110000"/>
              </a:lnSpc>
              <a:buFont typeface="+mj-lt"/>
              <a:buAutoNum type="romanUcPeriod"/>
            </a:pPr>
            <a:r>
              <a:rPr lang="en-US" dirty="0"/>
              <a:t>Passive transport mechanisms require no ATP </a:t>
            </a:r>
          </a:p>
          <a:p>
            <a:pPr marL="742950" lvl="2" indent="-342900">
              <a:lnSpc>
                <a:spcPct val="110000"/>
              </a:lnSpc>
            </a:pPr>
            <a:r>
              <a:rPr lang="en-US" sz="3200" dirty="0"/>
              <a:t>no expenditure of energy by the cell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Rather the random molecular motion of particles provides the necessary energy</a:t>
            </a:r>
          </a:p>
          <a:p>
            <a:pPr lvl="1">
              <a:lnSpc>
                <a:spcPct val="110000"/>
              </a:lnSpc>
              <a:buNone/>
            </a:pPr>
            <a:endParaRPr lang="en-US" sz="3200" dirty="0"/>
          </a:p>
          <a:p>
            <a:pPr marL="514350" indent="-514350">
              <a:lnSpc>
                <a:spcPct val="110000"/>
              </a:lnSpc>
              <a:buFont typeface="+mj-lt"/>
              <a:buAutoNum type="romanUcPeriod"/>
            </a:pPr>
            <a:r>
              <a:rPr lang="en-US" dirty="0"/>
              <a:t>Active transport mechanisms consumes ATP</a:t>
            </a:r>
          </a:p>
          <a:p>
            <a:pPr marL="742950" lvl="2" indent="-342900">
              <a:lnSpc>
                <a:spcPct val="110000"/>
              </a:lnSpc>
            </a:pPr>
            <a:r>
              <a:rPr lang="en-US" sz="3200" dirty="0"/>
              <a:t>Active-requires energy(ATP) expended from the cell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757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D531-FF19-0C78-9C1D-BB44B66E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354"/>
          </a:xfrm>
        </p:spPr>
        <p:txBody>
          <a:bodyPr/>
          <a:lstStyle/>
          <a:p>
            <a:r>
              <a:rPr lang="en-US" b="1" dirty="0"/>
              <a:t>Membrane Transport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97C4C-D742-023F-64C2-EC6AB28FF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480"/>
            <a:ext cx="10515600" cy="4975483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romanUcPeriod"/>
            </a:pPr>
            <a:r>
              <a:rPr lang="en-US" sz="3200" b="1" dirty="0"/>
              <a:t>Passive transport </a:t>
            </a:r>
            <a:r>
              <a:rPr lang="en-US" sz="3200" dirty="0"/>
              <a:t>mechanisms require </a:t>
            </a:r>
            <a:r>
              <a:rPr lang="en-US" sz="3200" b="1" dirty="0"/>
              <a:t>no ATP </a:t>
            </a:r>
          </a:p>
          <a:p>
            <a:pPr marL="742950" lvl="2" indent="-342900">
              <a:lnSpc>
                <a:spcPct val="100000"/>
              </a:lnSpc>
            </a:pPr>
            <a:r>
              <a:rPr lang="en-US" sz="3200" dirty="0"/>
              <a:t>no expenditure of energy by the cell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Rather the random molecular motion of particles provides the necessary energy</a:t>
            </a:r>
          </a:p>
          <a:p>
            <a:pPr lvl="1">
              <a:lnSpc>
                <a:spcPct val="100000"/>
              </a:lnSpc>
              <a:buNone/>
            </a:pPr>
            <a:endParaRPr lang="en-US" sz="3200" dirty="0"/>
          </a:p>
          <a:p>
            <a:pPr marL="514350" indent="-514350">
              <a:lnSpc>
                <a:spcPct val="100000"/>
              </a:lnSpc>
              <a:buFont typeface="+mj-lt"/>
              <a:buAutoNum type="romanUcPeriod"/>
            </a:pPr>
            <a:r>
              <a:rPr lang="en-US" sz="3200" b="1" dirty="0"/>
              <a:t>Active transport </a:t>
            </a:r>
            <a:r>
              <a:rPr lang="en-US" sz="3200" dirty="0"/>
              <a:t>mechanisms </a:t>
            </a:r>
            <a:r>
              <a:rPr lang="en-US" sz="3200" b="1" dirty="0"/>
              <a:t>consumes ATP</a:t>
            </a:r>
          </a:p>
          <a:p>
            <a:pPr marL="742950" lvl="2" indent="-342900">
              <a:lnSpc>
                <a:spcPct val="100000"/>
              </a:lnSpc>
            </a:pPr>
            <a:r>
              <a:rPr lang="en-US" sz="3200" dirty="0"/>
              <a:t>Active-requires energy(ATP) expended from the cell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95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ABDF-1A28-F74D-CE80-30C67B1D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01" y="324292"/>
            <a:ext cx="11328991" cy="633700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GB" sz="4600" dirty="0"/>
              <a:t>Substances move across the cell membrane in 4 ways:</a:t>
            </a:r>
          </a:p>
          <a:p>
            <a:pPr lvl="1">
              <a:lnSpc>
                <a:spcPct val="110000"/>
              </a:lnSpc>
            </a:pPr>
            <a:r>
              <a:rPr lang="en-GB" sz="4600" dirty="0"/>
              <a:t>Directly through the lipid bilayer</a:t>
            </a:r>
          </a:p>
          <a:p>
            <a:pPr lvl="1">
              <a:lnSpc>
                <a:spcPct val="110000"/>
              </a:lnSpc>
            </a:pPr>
            <a:r>
              <a:rPr lang="en-GB" sz="4600" dirty="0"/>
              <a:t>Through membrane channels</a:t>
            </a:r>
          </a:p>
          <a:p>
            <a:pPr lvl="1">
              <a:lnSpc>
                <a:spcPct val="110000"/>
              </a:lnSpc>
            </a:pPr>
            <a:r>
              <a:rPr lang="en-GB" sz="4600" dirty="0"/>
              <a:t>With carrier molecules in the membrane </a:t>
            </a:r>
          </a:p>
          <a:p>
            <a:pPr lvl="1">
              <a:lnSpc>
                <a:spcPct val="110000"/>
              </a:lnSpc>
            </a:pPr>
            <a:r>
              <a:rPr lang="en-GB" sz="4600" dirty="0"/>
              <a:t>In vesicles</a:t>
            </a:r>
          </a:p>
          <a:p>
            <a:pPr>
              <a:lnSpc>
                <a:spcPct val="110000"/>
              </a:lnSpc>
            </a:pPr>
            <a:r>
              <a:rPr lang="en-GB" sz="4800" dirty="0"/>
              <a:t>Transport mechanisms could be </a:t>
            </a:r>
            <a:r>
              <a:rPr lang="en-GB" sz="4800" b="1" dirty="0"/>
              <a:t>carrier mediated</a:t>
            </a:r>
            <a:r>
              <a:rPr lang="en-GB" sz="4800" dirty="0"/>
              <a:t> or </a:t>
            </a:r>
            <a:r>
              <a:rPr lang="en-GB" sz="4800" b="1" dirty="0"/>
              <a:t>not</a:t>
            </a:r>
            <a:r>
              <a:rPr lang="en-GB" sz="4800" dirty="0"/>
              <a:t>.</a:t>
            </a:r>
            <a:endParaRPr lang="en-GB" sz="4600" dirty="0"/>
          </a:p>
          <a:p>
            <a:pPr>
              <a:lnSpc>
                <a:spcPct val="110000"/>
              </a:lnSpc>
            </a:pPr>
            <a:endParaRPr lang="en-US" sz="4600" dirty="0"/>
          </a:p>
          <a:p>
            <a:pPr>
              <a:lnSpc>
                <a:spcPct val="110000"/>
              </a:lnSpc>
            </a:pPr>
            <a:r>
              <a:rPr lang="en-US" sz="4600" dirty="0"/>
              <a:t>Mechanisms of Transport:</a:t>
            </a:r>
          </a:p>
          <a:p>
            <a:pPr lvl="1">
              <a:lnSpc>
                <a:spcPct val="110000"/>
              </a:lnSpc>
            </a:pPr>
            <a:r>
              <a:rPr lang="en-US" sz="4600" dirty="0"/>
              <a:t>Diffusion (</a:t>
            </a:r>
            <a:r>
              <a:rPr lang="en-US" sz="4600" b="1" dirty="0"/>
              <a:t>passive</a:t>
            </a:r>
            <a:r>
              <a:rPr lang="en-US" sz="4600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sz="4600" dirty="0"/>
              <a:t>Osmosis (</a:t>
            </a:r>
            <a:r>
              <a:rPr lang="en-US" sz="4600" b="1" dirty="0"/>
              <a:t>passive</a:t>
            </a:r>
            <a:r>
              <a:rPr lang="en-US" sz="4600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sz="4600" dirty="0"/>
              <a:t>Filtration (</a:t>
            </a:r>
            <a:r>
              <a:rPr lang="en-US" sz="4600" b="1" dirty="0"/>
              <a:t>passive</a:t>
            </a:r>
            <a:r>
              <a:rPr lang="en-US" sz="4600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sz="4600" dirty="0"/>
              <a:t>Vesicular transport(</a:t>
            </a:r>
            <a:r>
              <a:rPr lang="en-US" sz="4600" b="1" dirty="0"/>
              <a:t>active</a:t>
            </a:r>
            <a:r>
              <a:rPr lang="en-US" sz="4600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sz="4600" dirty="0"/>
              <a:t>Active transport (</a:t>
            </a:r>
            <a:r>
              <a:rPr lang="en-US" sz="4600" b="1" dirty="0"/>
              <a:t>active</a:t>
            </a:r>
            <a:r>
              <a:rPr lang="en-US" sz="46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749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E16D-1F90-891E-C7DC-C9CECC54C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6233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Carrier mediated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28471-2515-1383-285C-5E34340F2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354" y="1089837"/>
            <a:ext cx="11440632" cy="559272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3500" dirty="0"/>
              <a:t>Requires the use of </a:t>
            </a:r>
            <a:r>
              <a:rPr lang="en-US" sz="3500" b="1" dirty="0"/>
              <a:t>specialized integral membrane </a:t>
            </a:r>
            <a:r>
              <a:rPr lang="en-US" sz="3500" dirty="0"/>
              <a:t>proteins to transport substances</a:t>
            </a:r>
          </a:p>
          <a:p>
            <a:pPr lvl="1">
              <a:lnSpc>
                <a:spcPct val="120000"/>
              </a:lnSpc>
            </a:pPr>
            <a:r>
              <a:rPr lang="en-US" sz="3500" dirty="0"/>
              <a:t>Moves large water-soluble and electrically charged molecules</a:t>
            </a:r>
          </a:p>
          <a:p>
            <a:pPr lvl="1">
              <a:lnSpc>
                <a:spcPct val="120000"/>
              </a:lnSpc>
            </a:pPr>
            <a:r>
              <a:rPr lang="en-US" sz="3500" b="1" dirty="0"/>
              <a:t>Co-transport (symport): </a:t>
            </a:r>
            <a:r>
              <a:rPr lang="en-US" sz="3500" dirty="0"/>
              <a:t>Carries two or more solutes simultaneously in same direction </a:t>
            </a:r>
          </a:p>
          <a:p>
            <a:pPr lvl="1">
              <a:lnSpc>
                <a:spcPct val="120000"/>
              </a:lnSpc>
            </a:pPr>
            <a:r>
              <a:rPr lang="en-US" sz="3500" b="1" dirty="0" err="1"/>
              <a:t>Countertransport</a:t>
            </a:r>
            <a:r>
              <a:rPr lang="en-US" sz="3500" b="1" dirty="0"/>
              <a:t> (antiport):</a:t>
            </a:r>
            <a:r>
              <a:rPr lang="en-US" sz="3500" dirty="0"/>
              <a:t>Carries two or more solutes in opposite directions </a:t>
            </a:r>
          </a:p>
          <a:p>
            <a:pPr lvl="1">
              <a:lnSpc>
                <a:spcPct val="120000"/>
              </a:lnSpc>
            </a:pPr>
            <a:r>
              <a:rPr lang="en-US" sz="3500" b="1" dirty="0"/>
              <a:t>Uniport: </a:t>
            </a:r>
            <a:r>
              <a:rPr lang="en-US" sz="3500" dirty="0"/>
              <a:t>Carries only one solute at a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987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xfrm>
            <a:off x="1148315" y="419986"/>
            <a:ext cx="10233837" cy="571480"/>
          </a:xfrm>
        </p:spPr>
        <p:txBody>
          <a:bodyPr>
            <a:noAutofit/>
          </a:bodyPr>
          <a:lstStyle/>
          <a:p>
            <a:r>
              <a:rPr lang="en-US" sz="3600" b="1" dirty="0"/>
              <a:t>Integral membrane: </a:t>
            </a:r>
            <a:r>
              <a:rPr lang="en-US" sz="3600" dirty="0"/>
              <a:t>Antiporters and Symporters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2209800" y="6215082"/>
            <a:ext cx="7172348" cy="642918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/>
              <a:t>One in &amp; one out.		 Both going in</a:t>
            </a:r>
            <a:r>
              <a:rPr lang="en-US" b="1" dirty="0"/>
              <a:t> </a:t>
            </a:r>
          </a:p>
        </p:txBody>
      </p:sp>
      <p:pic>
        <p:nvPicPr>
          <p:cNvPr id="6151" name="Picture 7" descr="I:\MEDIA\1703\170307.JPG"/>
          <p:cNvPicPr>
            <a:picLocks noChangeAspect="1" noChangeArrowheads="1"/>
          </p:cNvPicPr>
          <p:nvPr/>
        </p:nvPicPr>
        <p:blipFill>
          <a:blip r:embed="rId2" cstate="print"/>
          <a:srcRect b="8400"/>
          <a:stretch>
            <a:fillRect/>
          </a:stretch>
        </p:blipFill>
        <p:spPr bwMode="auto">
          <a:xfrm>
            <a:off x="999461" y="914400"/>
            <a:ext cx="10494334" cy="53006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6B4A-EF38-D2B8-DBA8-93CCF5FD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4345"/>
            <a:ext cx="10515600" cy="600297"/>
          </a:xfrm>
        </p:spPr>
        <p:txBody>
          <a:bodyPr>
            <a:normAutofit/>
          </a:bodyPr>
          <a:lstStyle/>
          <a:p>
            <a:r>
              <a:rPr lang="en-US" sz="3600" i="1" dirty="0"/>
              <a:t>Carrier mediated transport:</a:t>
            </a:r>
            <a:r>
              <a:rPr lang="en-US" sz="3600" dirty="0"/>
              <a:t> </a:t>
            </a:r>
            <a:r>
              <a:rPr lang="en-US" sz="3600" b="1" i="1" dirty="0"/>
              <a:t>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8DFA-432D-2B87-643E-7F4AD7C6D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159" y="1525772"/>
            <a:ext cx="11111022" cy="49707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400" b="1" dirty="0"/>
              <a:t>Specificity:</a:t>
            </a:r>
            <a:r>
              <a:rPr lang="en-US" sz="3400" dirty="0"/>
              <a:t> each carrier binds to and transports only a single type of molecule (specific for one particular ligand)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Solute binds to a specific receptor site on carrier protein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Carriers do not chemically change their ligand (picks them up on one side of the membrane, and releases them, unchanged, on the other)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38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44804-B1A6-EB24-C93B-94916861C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71" y="590107"/>
            <a:ext cx="11227980" cy="58585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400" b="1" dirty="0"/>
              <a:t>Competition</a:t>
            </a:r>
            <a:r>
              <a:rPr lang="en-US" sz="3400" dirty="0"/>
              <a:t>: results from several </a:t>
            </a:r>
            <a:r>
              <a:rPr lang="en-US" sz="3400" b="1" dirty="0"/>
              <a:t>similar molecules </a:t>
            </a:r>
            <a:r>
              <a:rPr lang="en-US" sz="3400" dirty="0"/>
              <a:t>binding to a carrier/ subs in </a:t>
            </a:r>
            <a:r>
              <a:rPr lang="en-US" sz="3400" b="1" dirty="0"/>
              <a:t>greater concentration </a:t>
            </a:r>
            <a:r>
              <a:rPr lang="en-US" sz="3400" dirty="0"/>
              <a:t>/ that which </a:t>
            </a:r>
            <a:r>
              <a:rPr lang="en-US" sz="3400" b="1" dirty="0"/>
              <a:t>binds more readily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400" b="1" dirty="0"/>
          </a:p>
          <a:p>
            <a:pPr>
              <a:lnSpc>
                <a:spcPct val="100000"/>
              </a:lnSpc>
            </a:pPr>
            <a:r>
              <a:rPr lang="en-US" sz="3400" b="1" dirty="0"/>
              <a:t>Saturation</a:t>
            </a:r>
            <a:r>
              <a:rPr lang="en-US" sz="3400" dirty="0"/>
              <a:t>: rate of transport is limited by the no of available carrier molecules.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As the solute concentration rises, the rate of transport rises, but only to a point—transport maximum (Tm)</a:t>
            </a:r>
          </a:p>
          <a:p>
            <a:pPr>
              <a:lnSpc>
                <a:spcPct val="100000"/>
              </a:lnSpc>
            </a:pPr>
            <a:endParaRPr lang="en-US" sz="3200" dirty="0"/>
          </a:p>
          <a:p>
            <a:r>
              <a:rPr lang="en-US" sz="3200" dirty="0" err="1"/>
              <a:t>Eg.</a:t>
            </a:r>
            <a:r>
              <a:rPr lang="en-US" sz="3200" dirty="0"/>
              <a:t> facilitated diffusion, secondary active transport</a:t>
            </a:r>
          </a:p>
        </p:txBody>
      </p:sp>
    </p:spTree>
    <p:extLst>
      <p:ext uri="{BB962C8B-B14F-4D97-AF65-F5344CB8AC3E}">
        <p14:creationId xmlns:p14="http://schemas.microsoft.com/office/powerpoint/2010/main" val="2209029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Diffusion</a:t>
            </a:r>
            <a:endParaRPr lang="en-GB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386B4-89D4-9BAD-D196-F125B1A56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619125"/>
            <a:ext cx="10953750" cy="55578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b="1" dirty="0"/>
              <a:t>Random movement of molecules with a net direction towards regions of lower concentration in order to reach an equilibrium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Movement is from an area of high concentration to low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Continues until concentration gradient is eliminated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Molecular motion continues, but net movement is not in any particular direction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DA3A1-3261-AB5D-29B6-88DF3EA12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35" y="4438649"/>
            <a:ext cx="8919221" cy="1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61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6645-6607-A5BB-9C5F-21A8E166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7990"/>
            <a:ext cx="10515600" cy="496888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Principles of Diffusion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BEB01-79B2-9121-B5D3-98AE8DB5B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990600"/>
            <a:ext cx="11506200" cy="5638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600" b="1" dirty="0"/>
              <a:t>More molecules move away from an area of high concentration to an area of low concentration</a:t>
            </a:r>
            <a:endParaRPr lang="en-US" sz="3600" dirty="0"/>
          </a:p>
          <a:p>
            <a:pPr lvl="1">
              <a:lnSpc>
                <a:spcPct val="120000"/>
              </a:lnSpc>
            </a:pPr>
            <a:r>
              <a:rPr lang="en-US" sz="3600" dirty="0"/>
              <a:t>the </a:t>
            </a:r>
            <a:r>
              <a:rPr lang="en-US" sz="3600" b="1" dirty="0"/>
              <a:t>greater the difference in concentration </a:t>
            </a:r>
            <a:r>
              <a:rPr lang="en-US" sz="3600" dirty="0"/>
              <a:t>between the 2 sides of the membrane, the </a:t>
            </a:r>
            <a:r>
              <a:rPr lang="en-US" sz="3600" b="1" dirty="0"/>
              <a:t>faster the rate of diffusion</a:t>
            </a:r>
          </a:p>
          <a:p>
            <a:pPr lvl="1">
              <a:lnSpc>
                <a:spcPct val="120000"/>
              </a:lnSpc>
            </a:pPr>
            <a:r>
              <a:rPr lang="en-US" sz="3600" dirty="0"/>
              <a:t>the </a:t>
            </a:r>
            <a:r>
              <a:rPr lang="en-US" sz="3600" b="1" dirty="0"/>
              <a:t>higher the temperature</a:t>
            </a:r>
            <a:r>
              <a:rPr lang="en-US" sz="3600" dirty="0"/>
              <a:t> (solution), the </a:t>
            </a:r>
            <a:r>
              <a:rPr lang="en-US" sz="3600" b="1" dirty="0"/>
              <a:t>faster the rate of diffusion</a:t>
            </a:r>
          </a:p>
          <a:p>
            <a:pPr lvl="1">
              <a:lnSpc>
                <a:spcPct val="120000"/>
              </a:lnSpc>
            </a:pPr>
            <a:r>
              <a:rPr lang="en-US" sz="3600" dirty="0"/>
              <a:t>the </a:t>
            </a:r>
            <a:r>
              <a:rPr lang="en-US" sz="3600" b="1" dirty="0"/>
              <a:t>larger the size </a:t>
            </a:r>
            <a:r>
              <a:rPr lang="en-US" sz="3600" dirty="0"/>
              <a:t>of the </a:t>
            </a:r>
            <a:r>
              <a:rPr lang="en-US" sz="3600" b="1" dirty="0"/>
              <a:t>diffusing substance</a:t>
            </a:r>
            <a:r>
              <a:rPr lang="en-US" sz="3600" dirty="0"/>
              <a:t>, the </a:t>
            </a:r>
            <a:r>
              <a:rPr lang="en-US" sz="3600" b="1" dirty="0"/>
              <a:t>slower the rate of diffusion</a:t>
            </a:r>
          </a:p>
          <a:p>
            <a:pPr lvl="1">
              <a:lnSpc>
                <a:spcPct val="120000"/>
              </a:lnSpc>
            </a:pPr>
            <a:r>
              <a:rPr lang="en-US" sz="3600" dirty="0"/>
              <a:t>an </a:t>
            </a:r>
            <a:r>
              <a:rPr lang="en-US" sz="3600" b="1" dirty="0"/>
              <a:t>increase in surface area</a:t>
            </a:r>
            <a:r>
              <a:rPr lang="en-US" sz="3600" dirty="0"/>
              <a:t>, </a:t>
            </a:r>
            <a:r>
              <a:rPr lang="en-US" sz="3600" b="1" dirty="0"/>
              <a:t>increases the rate </a:t>
            </a:r>
            <a:r>
              <a:rPr lang="en-US" sz="3600" dirty="0"/>
              <a:t>of diffusion</a:t>
            </a:r>
          </a:p>
          <a:p>
            <a:pPr lvl="1">
              <a:lnSpc>
                <a:spcPct val="120000"/>
              </a:lnSpc>
            </a:pPr>
            <a:r>
              <a:rPr lang="en-US" sz="3600" b="1" dirty="0"/>
              <a:t>increasing diffusion distance, slows rate of diffusion</a:t>
            </a:r>
          </a:p>
          <a:p>
            <a:pPr>
              <a:lnSpc>
                <a:spcPct val="120000"/>
              </a:lnSpc>
            </a:pPr>
            <a:r>
              <a:rPr lang="en-US" sz="3500" dirty="0"/>
              <a:t>When the molecules are evenly distributed, equilibrium has been reached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562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718E-9150-A800-C8C1-57840812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62756"/>
          </a:xfrm>
        </p:spPr>
        <p:txBody>
          <a:bodyPr>
            <a:normAutofit fontScale="90000"/>
          </a:bodyPr>
          <a:lstStyle/>
          <a:p>
            <a:r>
              <a:rPr lang="en-GB" sz="4000" i="1" dirty="0"/>
              <a:t>Factors that influence diffusion rates:</a:t>
            </a:r>
            <a:endParaRPr lang="en-US" sz="40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A58FC-194F-03DD-2994-8EF53588F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07" y="832513"/>
            <a:ext cx="11529390" cy="58068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b="1" dirty="0"/>
              <a:t>Distance</a:t>
            </a:r>
            <a:r>
              <a:rPr lang="en-GB" dirty="0"/>
              <a:t>:  Conc. gradients are eliminated quickly over short distances(shorter time required)</a:t>
            </a:r>
          </a:p>
          <a:p>
            <a:pPr>
              <a:lnSpc>
                <a:spcPct val="100000"/>
              </a:lnSpc>
            </a:pPr>
            <a:r>
              <a:rPr lang="en-GB" b="1" dirty="0"/>
              <a:t>Gradient size</a:t>
            </a:r>
            <a:r>
              <a:rPr lang="en-GB" dirty="0"/>
              <a:t>: the larger the gradient, the faster diffusion proceeds</a:t>
            </a:r>
          </a:p>
          <a:p>
            <a:pPr>
              <a:lnSpc>
                <a:spcPct val="100000"/>
              </a:lnSpc>
            </a:pPr>
            <a:r>
              <a:rPr lang="en-GB" b="1" dirty="0"/>
              <a:t>Molecule size</a:t>
            </a:r>
            <a:r>
              <a:rPr lang="en-GB" dirty="0"/>
              <a:t>: ions &amp; small organic molecules diffuse faster than large proteins</a:t>
            </a:r>
          </a:p>
          <a:p>
            <a:pPr>
              <a:lnSpc>
                <a:spcPct val="100000"/>
              </a:lnSpc>
            </a:pPr>
            <a:r>
              <a:rPr lang="en-GB" b="1" dirty="0"/>
              <a:t>Temperature</a:t>
            </a:r>
            <a:r>
              <a:rPr lang="en-GB" dirty="0"/>
              <a:t>: higher temp, faster diffusion rate</a:t>
            </a:r>
          </a:p>
          <a:p>
            <a:pPr>
              <a:lnSpc>
                <a:spcPct val="100000"/>
              </a:lnSpc>
            </a:pPr>
            <a:r>
              <a:rPr lang="en-GB" b="1" dirty="0"/>
              <a:t>Electrical forces </a:t>
            </a:r>
            <a:r>
              <a:rPr lang="en-GB" dirty="0"/>
              <a:t>: </a:t>
            </a:r>
          </a:p>
          <a:p>
            <a:pPr lvl="1">
              <a:lnSpc>
                <a:spcPct val="100000"/>
              </a:lnSpc>
            </a:pPr>
            <a:r>
              <a:rPr lang="en-GB" sz="2800" dirty="0"/>
              <a:t>Concentration /chemical gradient and electrical grad. Favour diffusion of +</a:t>
            </a:r>
            <a:r>
              <a:rPr lang="en-GB" sz="2800" dirty="0" err="1"/>
              <a:t>vely</a:t>
            </a:r>
            <a:r>
              <a:rPr lang="en-GB" sz="2800" dirty="0"/>
              <a:t> charged ions into the interior of the cell</a:t>
            </a:r>
          </a:p>
          <a:p>
            <a:pPr lvl="1">
              <a:lnSpc>
                <a:spcPct val="100000"/>
              </a:lnSpc>
            </a:pPr>
            <a:r>
              <a:rPr lang="en-GB" sz="2800" dirty="0"/>
              <a:t>Diffusion of –</a:t>
            </a:r>
            <a:r>
              <a:rPr lang="en-GB" sz="2800" dirty="0" err="1"/>
              <a:t>vely</a:t>
            </a:r>
            <a:r>
              <a:rPr lang="en-GB" sz="2800" dirty="0"/>
              <a:t> charged ions is opposed by the electrical grad. but favoured by the chemical gradient (electrochemical gradient)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005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B0201-C415-A0B0-119A-FCF2BF8DD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4442"/>
            <a:ext cx="10515600" cy="521252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Diffusion is either </a:t>
            </a:r>
            <a:r>
              <a:rPr lang="en-US" sz="3200" b="1" dirty="0"/>
              <a:t>simple or facilitated*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Diffusion is by: Passage through membrane channel </a:t>
            </a:r>
          </a:p>
          <a:p>
            <a:pPr marL="971550" lvl="1" indent="-571500">
              <a:lnSpc>
                <a:spcPct val="100000"/>
              </a:lnSpc>
            </a:pPr>
            <a:r>
              <a:rPr lang="en-US" sz="3200" dirty="0"/>
              <a:t>Gated channels: </a:t>
            </a:r>
          </a:p>
          <a:p>
            <a:pPr marL="1371600" lvl="2" indent="-571500">
              <a:lnSpc>
                <a:spcPct val="100000"/>
              </a:lnSpc>
            </a:pPr>
            <a:r>
              <a:rPr lang="en-US" sz="3200" dirty="0"/>
              <a:t>voltage</a:t>
            </a:r>
          </a:p>
          <a:p>
            <a:pPr marL="1371600" lvl="2" indent="-571500">
              <a:lnSpc>
                <a:spcPct val="100000"/>
              </a:lnSpc>
            </a:pPr>
            <a:r>
              <a:rPr lang="en-US" sz="3200" dirty="0"/>
              <a:t>chemical (ligand)</a:t>
            </a:r>
          </a:p>
          <a:p>
            <a:pPr marL="1371600" lvl="2" indent="-571500">
              <a:lnSpc>
                <a:spcPct val="100000"/>
              </a:lnSpc>
            </a:pPr>
            <a:r>
              <a:rPr lang="en-US" sz="3200" dirty="0"/>
              <a:t>mechanical</a:t>
            </a:r>
          </a:p>
          <a:p>
            <a:pPr marL="1371600" lvl="2" indent="-571500">
              <a:lnSpc>
                <a:spcPct val="100000"/>
              </a:lnSpc>
            </a:pPr>
            <a:r>
              <a:rPr lang="en-US" sz="3200" dirty="0"/>
              <a:t>Light</a:t>
            </a:r>
          </a:p>
          <a:p>
            <a:pPr marL="971550" lvl="1" indent="-571500">
              <a:lnSpc>
                <a:spcPct val="100000"/>
              </a:lnSpc>
            </a:pPr>
            <a:r>
              <a:rPr lang="en-US" sz="3200" dirty="0"/>
              <a:t>Non gated channels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498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AD0E4-A42F-FA55-D9BA-5DCE77109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394" y="753116"/>
            <a:ext cx="5157787" cy="823912"/>
          </a:xfrm>
        </p:spPr>
        <p:txBody>
          <a:bodyPr/>
          <a:lstStyle/>
          <a:p>
            <a:r>
              <a:rPr lang="en-GB" sz="2800" dirty="0" err="1"/>
              <a:t>i</a:t>
            </a:r>
            <a:r>
              <a:rPr lang="en-GB" sz="2800" dirty="0"/>
              <a:t>. Non gated channels 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FF7155-08E5-4BAF-8D65-702F2B36B0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5134" y="1705970"/>
            <a:ext cx="4435523" cy="448369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D3FB8-E318-8966-6943-BE1396184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747003"/>
            <a:ext cx="5183188" cy="823912"/>
          </a:xfrm>
        </p:spPr>
        <p:txBody>
          <a:bodyPr/>
          <a:lstStyle/>
          <a:p>
            <a:r>
              <a:rPr lang="en-GB" sz="2800" dirty="0"/>
              <a:t>ii. Gated channels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3253664-E6E8-8202-D875-107D9EE979F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1705970"/>
            <a:ext cx="3942741" cy="448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616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0768-53C2-0243-4637-80D3ACDA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683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Simple Diffusion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ADEEC-4D96-FD46-C4D0-9C78C7132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11" y="991738"/>
            <a:ext cx="11068334" cy="5418162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lnSpc>
                <a:spcPct val="120000"/>
              </a:lnSpc>
            </a:pPr>
            <a:r>
              <a:rPr lang="en-US" sz="3800" dirty="0"/>
              <a:t>It is the net movement of particles from area of high concentration to area of low concentration passing through the cell membrane without the aid of an intermediary (integral carrier protein).</a:t>
            </a:r>
          </a:p>
          <a:p>
            <a:pPr marL="342900" lvl="1" indent="-342900">
              <a:lnSpc>
                <a:spcPct val="120000"/>
              </a:lnSpc>
            </a:pPr>
            <a:endParaRPr lang="en-US" sz="3800" dirty="0"/>
          </a:p>
          <a:p>
            <a:pPr>
              <a:lnSpc>
                <a:spcPct val="120000"/>
              </a:lnSpc>
            </a:pPr>
            <a:r>
              <a:rPr lang="en-US" sz="3800" dirty="0"/>
              <a:t>Movement is always down the concentration gradient, can be </a:t>
            </a:r>
          </a:p>
          <a:p>
            <a:pPr lvl="1">
              <a:lnSpc>
                <a:spcPct val="120000"/>
              </a:lnSpc>
            </a:pPr>
            <a:r>
              <a:rPr lang="en-US" sz="3800" dirty="0"/>
              <a:t>Directly through the lipid bilayer (Nonpolar, hydrophobic, lipid-soluble substances )</a:t>
            </a:r>
          </a:p>
          <a:p>
            <a:pPr lvl="1">
              <a:lnSpc>
                <a:spcPct val="120000"/>
              </a:lnSpc>
            </a:pPr>
            <a:r>
              <a:rPr lang="en-US" sz="3800" dirty="0"/>
              <a:t>Through channel proteins (Water and charged, hydrophilic solutes, small polar / lipid insoluble substances)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19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BD982-5E09-CE79-9AAF-E8BDE6F96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69" y="648585"/>
            <a:ext cx="10857931" cy="5528377"/>
          </a:xfrm>
        </p:spPr>
        <p:txBody>
          <a:bodyPr>
            <a:normAutofit/>
          </a:bodyPr>
          <a:lstStyle/>
          <a:p>
            <a:pPr marL="457200" lvl="1" indent="-457200">
              <a:lnSpc>
                <a:spcPct val="100000"/>
              </a:lnSpc>
            </a:pPr>
            <a:r>
              <a:rPr lang="en-US" sz="3200" dirty="0"/>
              <a:t>Cells control permeability by regulating n</a:t>
            </a:r>
            <a:r>
              <a:rPr lang="en-US" sz="3200" u="sng" dirty="0"/>
              <a:t>o</a:t>
            </a:r>
            <a:r>
              <a:rPr lang="en-US" sz="3200" dirty="0"/>
              <a:t> of channel proteins or by opening and closing gates</a:t>
            </a:r>
          </a:p>
          <a:p>
            <a:pPr marL="457200" lvl="1" indent="-457200">
              <a:lnSpc>
                <a:spcPct val="100000"/>
              </a:lnSpc>
            </a:pPr>
            <a:endParaRPr lang="en-US" sz="3200" dirty="0"/>
          </a:p>
          <a:p>
            <a:pPr marL="342900" lvl="1" indent="-342900">
              <a:lnSpc>
                <a:spcPct val="100000"/>
              </a:lnSpc>
            </a:pPr>
            <a:r>
              <a:rPr lang="en-US" sz="3200" dirty="0"/>
              <a:t>Factors affecting diffusion rate through a membrane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Temperature:  </a:t>
            </a:r>
            <a:r>
              <a:rPr lang="en-US" sz="3200" dirty="0">
                <a:sym typeface="Symbol" pitchFamily="18" charset="2"/>
              </a:rPr>
              <a:t> </a:t>
            </a:r>
            <a:r>
              <a:rPr lang="en-US" sz="3200" dirty="0"/>
              <a:t>temp., </a:t>
            </a:r>
            <a:r>
              <a:rPr lang="en-US" sz="3200" dirty="0">
                <a:sym typeface="Symbol" pitchFamily="18" charset="2"/>
              </a:rPr>
              <a:t> </a:t>
            </a:r>
            <a:r>
              <a:rPr lang="en-US" sz="3200" dirty="0"/>
              <a:t>motion of particles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Molecular weight: larger molecules move slower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Steepness of concentrated gradient:  </a:t>
            </a:r>
            <a:r>
              <a:rPr lang="en-US" sz="3200" dirty="0">
                <a:sym typeface="Symbol" pitchFamily="18" charset="2"/>
              </a:rPr>
              <a:t>difference,  rate</a:t>
            </a:r>
          </a:p>
          <a:p>
            <a:pPr lvl="1">
              <a:lnSpc>
                <a:spcPct val="100000"/>
              </a:lnSpc>
            </a:pPr>
            <a:r>
              <a:rPr lang="en-US" sz="3200" dirty="0">
                <a:sym typeface="Symbol" pitchFamily="18" charset="2"/>
              </a:rPr>
              <a:t>Membrane surface area:   area,  rate</a:t>
            </a:r>
          </a:p>
          <a:p>
            <a:pPr lvl="1">
              <a:lnSpc>
                <a:spcPct val="100000"/>
              </a:lnSpc>
            </a:pPr>
            <a:r>
              <a:rPr lang="en-US" sz="3200" dirty="0">
                <a:sym typeface="Symbol" pitchFamily="18" charset="2"/>
              </a:rPr>
              <a:t>Membrane permeability:   permeability,  rate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243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D83CE-556D-C69D-EB1A-33CB66D4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Simple Diffusion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C822F8D-C693-25F4-0940-412AEB3B82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972880"/>
            <a:ext cx="5454502" cy="4896452"/>
          </a:xfrm>
          <a:prstGeom prst="rect">
            <a:avLst/>
          </a:prstGeom>
        </p:spPr>
      </p:pic>
      <p:pic>
        <p:nvPicPr>
          <p:cNvPr id="5" name="Picture 5" descr=" 0306a.jpg                                                      0001B72FHAP5e_ppt_cd                   B3FD695F:">
            <a:extLst>
              <a:ext uri="{FF2B5EF4-FFF2-40B4-BE49-F238E27FC236}">
                <a16:creationId xmlns:a16="http://schemas.microsoft.com/office/drawing/2014/main" id="{608CE567-E810-37D8-F78F-4D16A57D41E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 b="4573"/>
          <a:stretch>
            <a:fillRect/>
          </a:stretch>
        </p:blipFill>
        <p:spPr bwMode="auto">
          <a:xfrm>
            <a:off x="622005" y="1068572"/>
            <a:ext cx="5268283" cy="51083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0551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4290"/>
            <a:ext cx="8229600" cy="214314"/>
          </a:xfrm>
        </p:spPr>
        <p:txBody>
          <a:bodyPr>
            <a:noAutofit/>
          </a:bodyPr>
          <a:lstStyle/>
          <a:p>
            <a:r>
              <a:rPr lang="en-US" sz="3600" dirty="0"/>
              <a:t>Diffusion across the Cell Membrane</a:t>
            </a:r>
          </a:p>
        </p:txBody>
      </p:sp>
      <p:pic>
        <p:nvPicPr>
          <p:cNvPr id="189444" name="Picture 4" descr="03-19_1.jpg                                                    000000B4Sarah                          B9D5FA8B:"/>
          <p:cNvPicPr>
            <a:picLocks noChangeAspect="1" noChangeArrowheads="1"/>
          </p:cNvPicPr>
          <p:nvPr/>
        </p:nvPicPr>
        <p:blipFill>
          <a:blip r:embed="rId2" cstate="print"/>
          <a:srcRect b="3000"/>
          <a:stretch>
            <a:fillRect/>
          </a:stretch>
        </p:blipFill>
        <p:spPr bwMode="auto">
          <a:xfrm>
            <a:off x="1809720" y="500043"/>
            <a:ext cx="8643998" cy="62151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A815-C6FF-9B2D-9042-5E8C23C89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8010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Facilitated Diffusion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85010-5752-BD2F-479E-B2478625B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749" y="1041990"/>
            <a:ext cx="10652051" cy="555019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3500" dirty="0"/>
              <a:t>Takes place through transmembrane proteins (TP).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TP can either form </a:t>
            </a:r>
            <a:r>
              <a:rPr lang="en-US" sz="3500" b="1" dirty="0"/>
              <a:t>water filled channels </a:t>
            </a:r>
            <a:r>
              <a:rPr lang="en-US" sz="3500" dirty="0"/>
              <a:t>allowing ions to be transported or function as </a:t>
            </a:r>
            <a:r>
              <a:rPr lang="en-US" sz="3500" b="1" dirty="0"/>
              <a:t>carrier proteins </a:t>
            </a:r>
            <a:r>
              <a:rPr lang="en-US" sz="3500" dirty="0"/>
              <a:t>for solutes to bind </a:t>
            </a:r>
          </a:p>
          <a:p>
            <a:pPr lvl="1">
              <a:lnSpc>
                <a:spcPct val="110000"/>
              </a:lnSpc>
            </a:pPr>
            <a:r>
              <a:rPr lang="en-US" sz="3500" b="1" dirty="0"/>
              <a:t>Ions: </a:t>
            </a:r>
          </a:p>
          <a:p>
            <a:pPr lvl="2">
              <a:lnSpc>
                <a:spcPct val="110000"/>
              </a:lnSpc>
            </a:pPr>
            <a:r>
              <a:rPr lang="en-US" sz="3500" dirty="0"/>
              <a:t>Channels are opened according to the needs of the cell</a:t>
            </a:r>
          </a:p>
          <a:p>
            <a:pPr lvl="2">
              <a:lnSpc>
                <a:spcPct val="110000"/>
              </a:lnSpc>
            </a:pPr>
            <a:r>
              <a:rPr lang="en-US" sz="3500" dirty="0"/>
              <a:t>Net influx is down an electrochemical grad</a:t>
            </a:r>
          </a:p>
          <a:p>
            <a:pPr lvl="1">
              <a:lnSpc>
                <a:spcPct val="110000"/>
              </a:lnSpc>
            </a:pPr>
            <a:r>
              <a:rPr lang="en-US" sz="3500" b="1" dirty="0"/>
              <a:t>Solutes:</a:t>
            </a:r>
          </a:p>
          <a:p>
            <a:pPr lvl="2">
              <a:lnSpc>
                <a:spcPct val="110000"/>
              </a:lnSpc>
            </a:pPr>
            <a:r>
              <a:rPr lang="en-US" sz="3500" dirty="0"/>
              <a:t>Bind to a specific a receptor site on a transporter protein</a:t>
            </a:r>
          </a:p>
          <a:p>
            <a:pPr lvl="2">
              <a:lnSpc>
                <a:spcPct val="110000"/>
              </a:lnSpc>
            </a:pPr>
            <a:r>
              <a:rPr lang="en-US" sz="3500" dirty="0"/>
              <a:t>Protein undergoes a conformational change moving substance across cell membrane </a:t>
            </a:r>
          </a:p>
          <a:p>
            <a:pPr lvl="2">
              <a:lnSpc>
                <a:spcPct val="110000"/>
              </a:lnSpc>
            </a:pPr>
            <a:r>
              <a:rPr lang="en-US" sz="3500" dirty="0" err="1"/>
              <a:t>Eg.</a:t>
            </a:r>
            <a:r>
              <a:rPr lang="en-US" sz="3500" dirty="0"/>
              <a:t> large, polar molecules (simple sugars)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881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B949-B82D-D216-61CC-78C46CBA3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5287"/>
            <a:ext cx="10515600" cy="53316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700" dirty="0"/>
              <a:t>Characteristics: Proteins show</a:t>
            </a:r>
          </a:p>
          <a:p>
            <a:pPr lvl="1">
              <a:lnSpc>
                <a:spcPct val="100000"/>
              </a:lnSpc>
            </a:pPr>
            <a:r>
              <a:rPr lang="en-US" sz="3300" dirty="0"/>
              <a:t>Specificity</a:t>
            </a:r>
          </a:p>
          <a:p>
            <a:pPr lvl="1">
              <a:lnSpc>
                <a:spcPct val="100000"/>
              </a:lnSpc>
            </a:pPr>
            <a:r>
              <a:rPr lang="en-US" sz="3300" dirty="0"/>
              <a:t>Saturation limits</a:t>
            </a:r>
          </a:p>
          <a:p>
            <a:pPr lvl="1">
              <a:lnSpc>
                <a:spcPct val="100000"/>
              </a:lnSpc>
            </a:pPr>
            <a:r>
              <a:rPr lang="en-US" sz="3300" dirty="0"/>
              <a:t>Regulation</a:t>
            </a:r>
          </a:p>
          <a:p>
            <a:pPr lvl="1">
              <a:lnSpc>
                <a:spcPct val="100000"/>
              </a:lnSpc>
            </a:pPr>
            <a:r>
              <a:rPr lang="en-US" sz="3300" dirty="0"/>
              <a:t>Rapid than simple diffusion</a:t>
            </a:r>
          </a:p>
          <a:p>
            <a:pPr lvl="1">
              <a:lnSpc>
                <a:spcPct val="100000"/>
              </a:lnSpc>
            </a:pPr>
            <a:endParaRPr lang="en-US" sz="3300" dirty="0"/>
          </a:p>
          <a:p>
            <a:pPr>
              <a:lnSpc>
                <a:spcPct val="100000"/>
              </a:lnSpc>
            </a:pPr>
            <a:r>
              <a:rPr lang="en-US" sz="3700" dirty="0"/>
              <a:t>Rate of movement depends upon </a:t>
            </a:r>
          </a:p>
          <a:p>
            <a:pPr lvl="1">
              <a:lnSpc>
                <a:spcPct val="100000"/>
              </a:lnSpc>
            </a:pPr>
            <a:r>
              <a:rPr lang="en-US" sz="3300" dirty="0"/>
              <a:t>steepness of concentration gradient </a:t>
            </a:r>
          </a:p>
          <a:p>
            <a:pPr lvl="1">
              <a:lnSpc>
                <a:spcPct val="100000"/>
              </a:lnSpc>
            </a:pPr>
            <a:r>
              <a:rPr lang="en-US" sz="3300" dirty="0"/>
              <a:t>number of transporter proteins (saturation)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9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8282" y="214290"/>
            <a:ext cx="8643998" cy="328671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GB" dirty="0"/>
          </a:p>
        </p:txBody>
      </p:sp>
      <p:pic>
        <p:nvPicPr>
          <p:cNvPr id="5" name="Picture 4" descr="03-22_1.jpg                                                    000000B4Sarah                          B9D5FA8B:"/>
          <p:cNvPicPr>
            <a:picLocks noChangeAspect="1" noChangeArrowheads="1"/>
          </p:cNvPicPr>
          <p:nvPr/>
        </p:nvPicPr>
        <p:blipFill>
          <a:blip r:embed="rId2" cstate="print"/>
          <a:srcRect b="6140"/>
          <a:stretch>
            <a:fillRect/>
          </a:stretch>
        </p:blipFill>
        <p:spPr bwMode="auto">
          <a:xfrm>
            <a:off x="1600200" y="3573016"/>
            <a:ext cx="8915400" cy="3284984"/>
          </a:xfrm>
          <a:prstGeom prst="rect">
            <a:avLst/>
          </a:prstGeom>
          <a:noFill/>
        </p:spPr>
      </p:pic>
      <p:pic>
        <p:nvPicPr>
          <p:cNvPr id="6" name="Picture 6" descr=" 0306b.jpg                                                      0001B72FHAP5e_ppt_cd                   B3FD695F:"/>
          <p:cNvPicPr>
            <a:picLocks noChangeAspect="1" noChangeArrowheads="1"/>
          </p:cNvPicPr>
          <p:nvPr/>
        </p:nvPicPr>
        <p:blipFill>
          <a:blip r:embed="rId3" cstate="print"/>
          <a:srcRect b="4999"/>
          <a:stretch>
            <a:fillRect/>
          </a:stretch>
        </p:blipFill>
        <p:spPr bwMode="auto">
          <a:xfrm>
            <a:off x="1600200" y="116632"/>
            <a:ext cx="8915400" cy="34563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A2A9-9882-81EF-8168-58B4D6499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2815"/>
          </a:xfrm>
        </p:spPr>
        <p:txBody>
          <a:bodyPr>
            <a:normAutofit/>
          </a:bodyPr>
          <a:lstStyle/>
          <a:p>
            <a:r>
              <a:rPr lang="en-US" sz="3600" b="1" i="1" dirty="0"/>
              <a:t>Diffusion</a:t>
            </a:r>
            <a:r>
              <a:rPr lang="en-US" sz="3600" dirty="0"/>
              <a:t>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A93F96-6FC5-34E7-7C51-F72162838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190" y="940981"/>
            <a:ext cx="9473609" cy="523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501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04B9-5617-FFFE-D42F-A0DD4E3DD8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Osmosis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EE92D-8F98-88C4-A5BC-49B715549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4046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728C1-2FC0-4DA3-2A8A-22B98015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Osmosis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313FD-5E7F-3543-313B-1FB4EDBFC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1113183"/>
            <a:ext cx="11701670" cy="549965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Osmosis is the </a:t>
            </a:r>
            <a:r>
              <a:rPr lang="en-US" sz="3200" b="1" dirty="0"/>
              <a:t>passive diffusion of water (solvent) </a:t>
            </a:r>
            <a:r>
              <a:rPr lang="en-US" sz="3200" dirty="0"/>
              <a:t>across a </a:t>
            </a:r>
            <a:r>
              <a:rPr lang="en-US" sz="3200" b="1" dirty="0"/>
              <a:t>semipermeable membrane </a:t>
            </a:r>
            <a:r>
              <a:rPr lang="en-US" sz="3200" dirty="0"/>
              <a:t>in response to </a:t>
            </a:r>
            <a:r>
              <a:rPr lang="en-US" sz="3200" b="1" dirty="0"/>
              <a:t>solute differences </a:t>
            </a:r>
            <a:r>
              <a:rPr lang="en-US" sz="3200" dirty="0"/>
              <a:t>( from a </a:t>
            </a:r>
            <a:r>
              <a:rPr lang="en-US" sz="3200" b="1" dirty="0"/>
              <a:t>low </a:t>
            </a:r>
            <a:r>
              <a:rPr lang="en-US" sz="3200" dirty="0"/>
              <a:t>solute concentration to a </a:t>
            </a:r>
            <a:r>
              <a:rPr lang="en-US" sz="3200" b="1" dirty="0"/>
              <a:t>high</a:t>
            </a:r>
            <a:r>
              <a:rPr lang="en-US" sz="3200" dirty="0"/>
              <a:t> solute concentration)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Net movement of water through a selectively permeable membrane from an area of </a:t>
            </a:r>
            <a:r>
              <a:rPr lang="en-US" sz="3200" b="1" dirty="0"/>
              <a:t>high H</a:t>
            </a:r>
            <a:r>
              <a:rPr lang="en-US" sz="3200" b="1" baseline="-25000" dirty="0"/>
              <a:t>2</a:t>
            </a:r>
            <a:r>
              <a:rPr lang="en-US" sz="3200" b="1" dirty="0"/>
              <a:t>O concentration </a:t>
            </a:r>
            <a:r>
              <a:rPr lang="en-US" sz="3200" dirty="0"/>
              <a:t>to an area of </a:t>
            </a:r>
            <a:r>
              <a:rPr lang="en-US" sz="3200" b="1" dirty="0"/>
              <a:t>lower H</a:t>
            </a:r>
            <a:r>
              <a:rPr lang="en-US" sz="3200" b="1" baseline="-25000" dirty="0"/>
              <a:t>2</a:t>
            </a:r>
            <a:r>
              <a:rPr lang="en-US" sz="3200" b="1" dirty="0"/>
              <a:t>O concentration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Aquaporins (transmembrane proteins) function as water channels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Only occurs if the membrane is permeable to water but not to certain solutes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2843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724EC-E14A-B9D5-EA0D-EAB59BFCE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150"/>
            <a:ext cx="10902950" cy="59817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Osmosis generates Osmotic and Hydrostatic pressures</a:t>
            </a:r>
          </a:p>
          <a:p>
            <a:pPr>
              <a:lnSpc>
                <a:spcPct val="100000"/>
              </a:lnSpc>
            </a:pPr>
            <a:r>
              <a:rPr lang="en-US" sz="3200" b="1" dirty="0"/>
              <a:t>Osmotic pressure </a:t>
            </a:r>
            <a:r>
              <a:rPr lang="en-US" sz="3200" dirty="0"/>
              <a:t>is the force required to prevent the movement of water by osmosis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Osmotic pressure is also defined as the </a:t>
            </a:r>
            <a:r>
              <a:rPr lang="en-US" sz="3200" b="1" dirty="0"/>
              <a:t>Hydrostatic pressure</a:t>
            </a:r>
            <a:r>
              <a:rPr lang="en-US" sz="3200" dirty="0"/>
              <a:t> (“water-stopping”) required to stop the flow of H</a:t>
            </a:r>
            <a:r>
              <a:rPr lang="en-US" sz="3200" baseline="-25000" dirty="0"/>
              <a:t>2</a:t>
            </a:r>
            <a:r>
              <a:rPr lang="en-US" sz="3200" dirty="0"/>
              <a:t>O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opposes osmotic force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Equal to the force of H</a:t>
            </a:r>
            <a:r>
              <a:rPr lang="en-US" sz="3200" baseline="-25000" dirty="0"/>
              <a:t>2</a:t>
            </a:r>
            <a:r>
              <a:rPr lang="en-US" sz="3200" dirty="0"/>
              <a:t>O movement into a solution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Dependent on the number of particles in 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324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4495-FFB7-FAB4-9014-5460EE0F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950" y="3892550"/>
            <a:ext cx="11703050" cy="264794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dirty="0"/>
              <a:t>Pure water on the left side &amp; a membrane impermeable to the solute found on the right side</a:t>
            </a:r>
          </a:p>
          <a:p>
            <a:pPr>
              <a:lnSpc>
                <a:spcPct val="100000"/>
              </a:lnSpc>
            </a:pPr>
            <a:r>
              <a:rPr lang="en-US" sz="3000" dirty="0"/>
              <a:t>Net movement of water is from left to right, until hydrostatic pressure (osmotic pressure ) starts to push water back to the left</a:t>
            </a:r>
          </a:p>
          <a:p>
            <a:pPr>
              <a:lnSpc>
                <a:spcPct val="100000"/>
              </a:lnSpc>
            </a:pPr>
            <a:r>
              <a:rPr lang="en-US" sz="3000" dirty="0"/>
              <a:t>Osmolarity – total concentration of solute particles in a solution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92C80-D1A0-CCE8-46EC-C34CCCA62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" y="374651"/>
            <a:ext cx="10026650" cy="346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756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500042"/>
            <a:ext cx="11290300" cy="571504"/>
          </a:xfrm>
        </p:spPr>
        <p:txBody>
          <a:bodyPr>
            <a:noAutofit/>
          </a:bodyPr>
          <a:lstStyle/>
          <a:p>
            <a:pPr algn="l"/>
            <a:r>
              <a:rPr lang="en-US" sz="3600" b="1" dirty="0"/>
              <a:t>Effect of Membrane Permeability on Diffusion &amp; Osmosis</a:t>
            </a:r>
            <a:endParaRPr lang="en-GB" sz="3600" b="1" dirty="0"/>
          </a:p>
        </p:txBody>
      </p:sp>
      <p:pic>
        <p:nvPicPr>
          <p:cNvPr id="5" name="Picture 10" descr=" 0307a.jpg                                                      0001B72FHAP5e_ppt_cd                   B3FD695F: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 b="4822"/>
          <a:stretch>
            <a:fillRect/>
          </a:stretch>
        </p:blipFill>
        <p:spPr bwMode="auto">
          <a:xfrm>
            <a:off x="1738282" y="1285860"/>
            <a:ext cx="4357718" cy="5072098"/>
          </a:xfrm>
          <a:prstGeom prst="rect">
            <a:avLst/>
          </a:prstGeom>
          <a:noFill/>
        </p:spPr>
      </p:pic>
      <p:pic>
        <p:nvPicPr>
          <p:cNvPr id="6" name="Picture 8" descr=" 0307b.jpg                                                      0001B72FHAP5e_ppt_cd                   B3FD695F: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 b="4999"/>
          <a:stretch>
            <a:fillRect/>
          </a:stretch>
        </p:blipFill>
        <p:spPr bwMode="auto">
          <a:xfrm>
            <a:off x="6172200" y="1071546"/>
            <a:ext cx="4210080" cy="54292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8348" y="285728"/>
            <a:ext cx="7772400" cy="428628"/>
          </a:xfrm>
        </p:spPr>
        <p:txBody>
          <a:bodyPr>
            <a:noAutofit/>
          </a:bodyPr>
          <a:lstStyle/>
          <a:p>
            <a:r>
              <a:rPr lang="en-US" sz="3600" dirty="0"/>
              <a:t>Osmotic flow across a cell membrane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0" y="1071546"/>
            <a:ext cx="4071934" cy="528641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Tonicity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The effects of osmotic solutions on cells</a:t>
            </a:r>
          </a:p>
          <a:p>
            <a:r>
              <a:rPr lang="en-US" dirty="0"/>
              <a:t>Isotonic : solute </a:t>
            </a:r>
            <a:r>
              <a:rPr lang="en-US" dirty="0" err="1"/>
              <a:t>conc</a:t>
            </a:r>
            <a:r>
              <a:rPr lang="en-US" dirty="0"/>
              <a:t> =</a:t>
            </a:r>
            <a:r>
              <a:rPr lang="en-US" dirty="0" err="1"/>
              <a:t>cytosol</a:t>
            </a:r>
            <a:r>
              <a:rPr lang="en-US" dirty="0"/>
              <a:t> solute </a:t>
            </a:r>
            <a:r>
              <a:rPr lang="en-US" dirty="0" err="1"/>
              <a:t>conc</a:t>
            </a:r>
            <a:r>
              <a:rPr lang="en-US" dirty="0"/>
              <a:t>, no net gain / loss of water</a:t>
            </a:r>
          </a:p>
          <a:p>
            <a:r>
              <a:rPr lang="en-US" dirty="0"/>
              <a:t>Hypotonic: solute </a:t>
            </a:r>
            <a:r>
              <a:rPr lang="en-US" dirty="0" err="1"/>
              <a:t>conc</a:t>
            </a:r>
            <a:r>
              <a:rPr lang="en-US" dirty="0"/>
              <a:t> </a:t>
            </a:r>
            <a:r>
              <a:rPr lang="en-US"/>
              <a:t>more than cytosol</a:t>
            </a:r>
            <a:r>
              <a:rPr lang="en-US" dirty="0"/>
              <a:t> solute </a:t>
            </a:r>
            <a:r>
              <a:rPr lang="en-US" dirty="0" err="1"/>
              <a:t>conc</a:t>
            </a:r>
            <a:r>
              <a:rPr lang="en-US" dirty="0"/>
              <a:t>, net gain of water into cell</a:t>
            </a:r>
          </a:p>
          <a:p>
            <a:r>
              <a:rPr lang="en-US" dirty="0"/>
              <a:t>Hypertonic = net water flow out of cell</a:t>
            </a:r>
          </a:p>
          <a:p>
            <a:endParaRPr lang="en-GB" dirty="0"/>
          </a:p>
        </p:txBody>
      </p:sp>
      <p:pic>
        <p:nvPicPr>
          <p:cNvPr id="6" name="Picture 6" descr="03-21_1.jpg                                                    000000B4Sarah                          B9D5FA8B: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 b="3000"/>
          <a:stretch>
            <a:fillRect/>
          </a:stretch>
        </p:blipFill>
        <p:spPr bwMode="auto">
          <a:xfrm>
            <a:off x="5810248" y="1000108"/>
            <a:ext cx="4643470" cy="55721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18FEA-3870-C446-AFCF-E5EA682A1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Active Transport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F1F52-1E02-1BED-7235-035921FA96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624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BDD6C-B23E-1625-4739-0E2A3E8A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40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Active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52441-EFAC-1B7D-61AD-7CEB953B2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350" y="1016000"/>
            <a:ext cx="11417300" cy="56261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3200" dirty="0"/>
              <a:t>Movement  is </a:t>
            </a:r>
            <a:r>
              <a:rPr lang="en-US" sz="3200" b="1" dirty="0"/>
              <a:t>Independent of concentration gradients </a:t>
            </a:r>
            <a:r>
              <a:rPr lang="en-US" sz="3200" dirty="0"/>
              <a:t>(low to high/ high to low)</a:t>
            </a:r>
          </a:p>
          <a:p>
            <a:pPr>
              <a:lnSpc>
                <a:spcPct val="110000"/>
              </a:lnSpc>
            </a:pPr>
            <a:r>
              <a:rPr lang="en-US" sz="3200" dirty="0"/>
              <a:t>An e</a:t>
            </a:r>
            <a:r>
              <a:rPr lang="en-US" sz="3200" b="1" dirty="0"/>
              <a:t>nergy-requiring</a:t>
            </a:r>
            <a:r>
              <a:rPr lang="en-US" sz="3200" dirty="0"/>
              <a:t> process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energy from hydrolysis of ATP (1⁰)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energy stored in an ionic concentration gradient (2⁰)</a:t>
            </a:r>
          </a:p>
          <a:p>
            <a:pPr>
              <a:lnSpc>
                <a:spcPct val="110000"/>
              </a:lnSpc>
            </a:pPr>
            <a:r>
              <a:rPr lang="en-US" sz="3200" dirty="0"/>
              <a:t>Requires </a:t>
            </a:r>
            <a:r>
              <a:rPr lang="en-US" sz="3200" b="1" dirty="0"/>
              <a:t>carrier proteins</a:t>
            </a:r>
          </a:p>
          <a:p>
            <a:pPr>
              <a:lnSpc>
                <a:spcPct val="110000"/>
              </a:lnSpc>
            </a:pPr>
            <a:r>
              <a:rPr lang="en-US" sz="3200" dirty="0"/>
              <a:t>Rate depends on the number of carriers and ATP</a:t>
            </a:r>
          </a:p>
          <a:p>
            <a:pPr>
              <a:lnSpc>
                <a:spcPct val="110000"/>
              </a:lnSpc>
            </a:pPr>
            <a:r>
              <a:rPr lang="en-US" sz="3200" dirty="0"/>
              <a:t>Types of active transport:</a:t>
            </a:r>
          </a:p>
          <a:p>
            <a:pPr lvl="1">
              <a:lnSpc>
                <a:spcPct val="110000"/>
              </a:lnSpc>
            </a:pPr>
            <a:r>
              <a:rPr lang="en-US" sz="3200" b="1" dirty="0"/>
              <a:t>Primary active transport</a:t>
            </a:r>
          </a:p>
          <a:p>
            <a:pPr lvl="1">
              <a:lnSpc>
                <a:spcPct val="110000"/>
              </a:lnSpc>
            </a:pPr>
            <a:r>
              <a:rPr lang="en-US" sz="3200" b="1" dirty="0"/>
              <a:t>Secondary active transport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419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BB74-1962-734B-913D-012BD5FE3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82" y="641350"/>
            <a:ext cx="4325099" cy="647272"/>
          </a:xfrm>
        </p:spPr>
        <p:txBody>
          <a:bodyPr>
            <a:noAutofit/>
          </a:bodyPr>
          <a:lstStyle/>
          <a:p>
            <a:pPr algn="ctr"/>
            <a:br>
              <a:rPr lang="en-US" sz="3600" b="1" i="1" dirty="0"/>
            </a:br>
            <a:br>
              <a:rPr lang="en-US" sz="3600" b="1" i="1" dirty="0"/>
            </a:br>
            <a:r>
              <a:rPr lang="en-US" sz="3600" b="1" i="1" dirty="0"/>
              <a:t>Primary Active Transport</a:t>
            </a:r>
            <a:endParaRPr lang="en-US" sz="3600" i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A49B93-4B3D-8AC9-BB10-E40A6AF7C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2025" y="158665"/>
            <a:ext cx="6916393" cy="37249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0717F-FB38-063B-5002-283CF09A1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0344" y="1352551"/>
            <a:ext cx="4501681" cy="5366302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Uses metabolic energy in the form of ATP and Ion pumps</a:t>
            </a:r>
            <a:endParaRPr lang="en-US" sz="3200" dirty="0">
              <a:solidFill>
                <a:prstClr val="black"/>
              </a:solidFill>
              <a:latin typeface="Aptos" panose="0211000402020202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Cells have 1000s of carrier (Transporter) proteins called ion pumps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operates continually</a:t>
            </a:r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prstClr val="black"/>
                </a:solidFill>
              </a:rPr>
              <a:t>(Na</a:t>
            </a:r>
            <a:r>
              <a:rPr lang="en-US" sz="3200" baseline="30000" dirty="0">
                <a:solidFill>
                  <a:prstClr val="black"/>
                </a:solidFill>
              </a:rPr>
              <a:t>+</a:t>
            </a:r>
            <a:r>
              <a:rPr lang="en-US" sz="3200" dirty="0">
                <a:solidFill>
                  <a:prstClr val="black"/>
                </a:solidFill>
              </a:rPr>
              <a:t>/K</a:t>
            </a:r>
            <a:r>
              <a:rPr lang="en-US" sz="3200" baseline="30000" dirty="0">
                <a:solidFill>
                  <a:prstClr val="black"/>
                </a:solidFill>
              </a:rPr>
              <a:t>+</a:t>
            </a:r>
            <a:r>
              <a:rPr lang="en-US" sz="3200" dirty="0">
                <a:solidFill>
                  <a:prstClr val="black"/>
                </a:solidFill>
              </a:rPr>
              <a:t> ATPase, Ca</a:t>
            </a:r>
            <a:r>
              <a:rPr lang="en-US" sz="3200" baseline="30000" dirty="0">
                <a:solidFill>
                  <a:prstClr val="black"/>
                </a:solidFill>
              </a:rPr>
              <a:t>2+ </a:t>
            </a:r>
            <a:r>
              <a:rPr lang="en-US" sz="3200" dirty="0">
                <a:solidFill>
                  <a:prstClr val="black"/>
                </a:solidFill>
              </a:rPr>
              <a:t>ATPase pump)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2AB43-9059-C4EF-FC5D-D4D37670D3AE}"/>
              </a:ext>
            </a:extLst>
          </p:cNvPr>
          <p:cNvSpPr txBox="1"/>
          <p:nvPr/>
        </p:nvSpPr>
        <p:spPr>
          <a:xfrm>
            <a:off x="6569400" y="3789237"/>
            <a:ext cx="54086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3000" dirty="0"/>
              <a:t>Na+ binding</a:t>
            </a:r>
          </a:p>
          <a:p>
            <a:pPr marL="342900" indent="-342900">
              <a:buAutoNum type="arabicPeriod"/>
            </a:pPr>
            <a:r>
              <a:rPr lang="en-US" sz="3000" dirty="0"/>
              <a:t>ATP split (phosphorylation) </a:t>
            </a:r>
          </a:p>
          <a:p>
            <a:pPr marL="342900" indent="-342900">
              <a:buAutoNum type="arabicPeriod"/>
            </a:pPr>
            <a:r>
              <a:rPr lang="en-US" sz="3000" dirty="0"/>
              <a:t>Na+pushed out</a:t>
            </a:r>
          </a:p>
          <a:p>
            <a:pPr marL="342900" indent="-342900">
              <a:buAutoNum type="arabicPeriod"/>
            </a:pPr>
            <a:r>
              <a:rPr lang="en-US" sz="3000" dirty="0"/>
              <a:t>K+ binding</a:t>
            </a:r>
            <a:endParaRPr lang="en-US" sz="3000" b="1" dirty="0"/>
          </a:p>
          <a:p>
            <a:pPr marL="342900" indent="-342900">
              <a:buAutoNum type="arabicPeriod"/>
            </a:pPr>
            <a:r>
              <a:rPr lang="en-US" sz="3000" dirty="0"/>
              <a:t>Phosphate  release</a:t>
            </a:r>
          </a:p>
          <a:p>
            <a:pPr marL="342900" indent="-342900">
              <a:buAutoNum type="arabicPeriod"/>
            </a:pPr>
            <a:r>
              <a:rPr lang="en-US" sz="3000" dirty="0"/>
              <a:t>K+ is pushed in</a:t>
            </a:r>
          </a:p>
        </p:txBody>
      </p:sp>
    </p:spTree>
    <p:extLst>
      <p:ext uri="{BB962C8B-B14F-4D97-AF65-F5344CB8AC3E}">
        <p14:creationId xmlns:p14="http://schemas.microsoft.com/office/powerpoint/2010/main" val="513567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2" descr="0309.jpg                                                       0001B72FHAP5e_ppt_cd                   B3FD695F:"/>
          <p:cNvPicPr>
            <a:picLocks noChangeAspect="1" noChangeArrowheads="1"/>
          </p:cNvPicPr>
          <p:nvPr/>
        </p:nvPicPr>
        <p:blipFill>
          <a:blip r:embed="rId2" cstate="print"/>
          <a:srcRect b="4999"/>
          <a:stretch>
            <a:fillRect/>
          </a:stretch>
        </p:blipFill>
        <p:spPr bwMode="auto">
          <a:xfrm>
            <a:off x="978010" y="642919"/>
            <a:ext cx="10551381" cy="6000791"/>
          </a:xfrm>
          <a:prstGeom prst="rect">
            <a:avLst/>
          </a:prstGeom>
          <a:noFill/>
        </p:spPr>
      </p:pic>
      <p:sp>
        <p:nvSpPr>
          <p:cNvPr id="118787" name="Rectangle 3"/>
          <p:cNvSpPr>
            <a:spLocks noGrp="1" noChangeArrowheads="1"/>
          </p:cNvSpPr>
          <p:nvPr>
            <p:ph type="title"/>
          </p:nvPr>
        </p:nvSpPr>
        <p:spPr>
          <a:xfrm>
            <a:off x="704850" y="152400"/>
            <a:ext cx="9505950" cy="476250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Sodium-Potassium Pump</a:t>
            </a:r>
            <a:endParaRPr lang="en-US" b="1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0A21-6D15-0EC0-5E26-12CDC448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2325"/>
          </a:xfrm>
        </p:spPr>
        <p:txBody>
          <a:bodyPr/>
          <a:lstStyle/>
          <a:p>
            <a:r>
              <a:rPr lang="en-US" b="1" i="1" dirty="0"/>
              <a:t>Secondary Active Transport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C8861-812F-68F5-B47F-F3E914CE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350" y="1187450"/>
            <a:ext cx="11531600" cy="54864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400" dirty="0"/>
              <a:t>Utilizes energy (stored in an ion concentration gradient) released during passive movement of one substance down its electrochemical gradient to transport another against its concentration gradient</a:t>
            </a:r>
          </a:p>
          <a:p>
            <a:pPr>
              <a:lnSpc>
                <a:spcPct val="120000"/>
              </a:lnSpc>
            </a:pPr>
            <a:r>
              <a:rPr lang="en-US" sz="3400" dirty="0"/>
              <a:t>Uses an exchange pump to indirectly drive the transport of other solutes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400" dirty="0"/>
              <a:t>Eg, Na+/K+ pump maintains a low concentration of Na+ inside cells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309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2196A67-A071-C738-A840-DFCF9DE532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62150" y="393700"/>
            <a:ext cx="8864600" cy="35687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FFF19-69A6-E8AA-DAB0-22237E80D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4114800"/>
            <a:ext cx="11214100" cy="2349500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dirty="0" err="1"/>
              <a:t>Eg.</a:t>
            </a:r>
            <a:r>
              <a:rPr lang="en-US" sz="4000" dirty="0"/>
              <a:t>  The Na+/K+ pump maintains a low concentration of Na+ inside cells</a:t>
            </a:r>
          </a:p>
          <a:p>
            <a:pPr lvl="1">
              <a:lnSpc>
                <a:spcPct val="120000"/>
              </a:lnSpc>
            </a:pPr>
            <a:r>
              <a:rPr lang="en-US" sz="4000" dirty="0"/>
              <a:t>provide a route for Na+ to leak back in and use the energy of motion to transport other substances</a:t>
            </a:r>
          </a:p>
          <a:p>
            <a:pPr lvl="1">
              <a:lnSpc>
                <a:spcPct val="120000"/>
              </a:lnSpc>
            </a:pPr>
            <a:r>
              <a:rPr lang="en-US" sz="4000" dirty="0"/>
              <a:t>Na+ symporter proteins</a:t>
            </a:r>
          </a:p>
          <a:p>
            <a:pPr lvl="2">
              <a:lnSpc>
                <a:spcPct val="120000"/>
              </a:lnSpc>
            </a:pPr>
            <a:r>
              <a:rPr lang="en-US" sz="4000" dirty="0"/>
              <a:t>glucose or amino acids rush inward with Na+ ions</a:t>
            </a:r>
          </a:p>
          <a:p>
            <a:pPr lvl="1">
              <a:lnSpc>
                <a:spcPct val="120000"/>
              </a:lnSpc>
            </a:pPr>
            <a:r>
              <a:rPr lang="en-US" sz="4000" dirty="0"/>
              <a:t>Na+ antiporter protein</a:t>
            </a:r>
          </a:p>
          <a:p>
            <a:pPr lvl="2">
              <a:lnSpc>
                <a:spcPct val="120000"/>
              </a:lnSpc>
            </a:pPr>
            <a:r>
              <a:rPr lang="en-US" sz="4000" dirty="0"/>
              <a:t>as Na+ ions rush inward, Ca+2 or H+ pushed out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9187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40" name="Picture 4" descr="03-24_1.jpg                                                    000000B4Sarah                          B9D5FA8B:"/>
          <p:cNvPicPr>
            <a:picLocks noChangeAspect="1" noChangeArrowheads="1"/>
          </p:cNvPicPr>
          <p:nvPr/>
        </p:nvPicPr>
        <p:blipFill>
          <a:blip r:embed="rId2" cstate="print"/>
          <a:srcRect b="5429"/>
          <a:stretch>
            <a:fillRect/>
          </a:stretch>
        </p:blipFill>
        <p:spPr bwMode="auto">
          <a:xfrm>
            <a:off x="1676400" y="714356"/>
            <a:ext cx="8839200" cy="55721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B47F-7DE4-AB26-C377-05206D7C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US" b="1" dirty="0"/>
              <a:t>Vesicular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25813-8667-1770-D08A-97F9D183C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289050"/>
            <a:ext cx="11341100" cy="5314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400" dirty="0"/>
              <a:t>Transport of large particles and macromolecules across plasma membranes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Materials are bound in membranous vesicles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Types: </a:t>
            </a:r>
          </a:p>
          <a:p>
            <a:pPr marL="857250" indent="-857250">
              <a:lnSpc>
                <a:spcPct val="100000"/>
              </a:lnSpc>
              <a:buFont typeface="+mj-lt"/>
              <a:buAutoNum type="romanUcPeriod"/>
            </a:pPr>
            <a:r>
              <a:rPr lang="en-US" sz="3400" dirty="0"/>
              <a:t>Exocytosis and</a:t>
            </a:r>
          </a:p>
          <a:p>
            <a:pPr marL="857250" indent="-857250">
              <a:lnSpc>
                <a:spcPct val="100000"/>
              </a:lnSpc>
              <a:buFont typeface="+mj-lt"/>
              <a:buAutoNum type="romanUcPeriod"/>
            </a:pPr>
            <a:r>
              <a:rPr lang="en-US" sz="3400" dirty="0"/>
              <a:t>Endocytosis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8867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CC65-4297-25D4-81AF-65A4CC6E6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25"/>
            <a:ext cx="10515600" cy="1101725"/>
          </a:xfrm>
        </p:spPr>
        <p:txBody>
          <a:bodyPr/>
          <a:lstStyle/>
          <a:p>
            <a:r>
              <a:rPr lang="en-US" b="1" dirty="0"/>
              <a:t>Endocytosis(movement into the cell):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922AC-7DD2-DBBA-1514-6056092FF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174750"/>
            <a:ext cx="11512550" cy="545782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An energy-using process (Requires metabolic energy) by which cells absorb molecules by engulfing them. Eg proteins  </a:t>
            </a:r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r>
              <a:rPr lang="en-US" sz="3200" dirty="0"/>
              <a:t>Used by all cells as most of the important substances are large polar molecules that cannot pass through the hydrophobic plasma membrane. </a:t>
            </a:r>
          </a:p>
          <a:p>
            <a:pPr>
              <a:lnSpc>
                <a:spcPct val="100000"/>
              </a:lnSpc>
            </a:pPr>
            <a:endParaRPr lang="en-US" sz="3200" dirty="0"/>
          </a:p>
          <a:p>
            <a:pPr>
              <a:lnSpc>
                <a:spcPct val="100000"/>
              </a:lnSpc>
            </a:pPr>
            <a:r>
              <a:rPr lang="en-US" sz="3200" dirty="0"/>
              <a:t>Material to be taken into the cell is surrounded by a portion of the plasma membrane, buds off inside the cell to form a vesicle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0166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018" name="Picture 2" descr="D:\endocytosis images\endocytosis%20burs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260648"/>
            <a:ext cx="8784976" cy="6408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2732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B0AF9-CE9E-63F8-B664-A65259CC4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88" y="160344"/>
            <a:ext cx="3932237" cy="800100"/>
          </a:xfrm>
        </p:spPr>
        <p:txBody>
          <a:bodyPr>
            <a:normAutofit/>
          </a:bodyPr>
          <a:lstStyle/>
          <a:p>
            <a:r>
              <a:rPr lang="en-US" sz="3600" dirty="0"/>
              <a:t>Types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17DC3-B437-780B-6748-A27011A0C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6388" y="1123950"/>
            <a:ext cx="4894262" cy="5365750"/>
          </a:xfrm>
        </p:spPr>
        <p:txBody>
          <a:bodyPr>
            <a:normAutofit/>
          </a:bodyPr>
          <a:lstStyle/>
          <a:p>
            <a:pPr marL="914400" indent="-857250">
              <a:buFont typeface="+mj-lt"/>
              <a:buAutoNum type="romanLcPeriod"/>
            </a:pPr>
            <a:r>
              <a:rPr lang="en-US" sz="3200" b="1" dirty="0"/>
              <a:t>Receptor-mediated endocytosis </a:t>
            </a:r>
            <a:r>
              <a:rPr lang="en-US" sz="3200" dirty="0"/>
              <a:t>(coated vesicles)</a:t>
            </a:r>
          </a:p>
          <a:p>
            <a:pPr marL="914400" indent="-857250">
              <a:buFont typeface="+mj-lt"/>
              <a:buAutoNum type="romanLcPeriod"/>
            </a:pPr>
            <a:r>
              <a:rPr lang="en-US" sz="3200" b="1" dirty="0"/>
              <a:t>Pinocytosis</a:t>
            </a:r>
          </a:p>
          <a:p>
            <a:pPr marL="914400" indent="-857250">
              <a:buFont typeface="+mj-lt"/>
              <a:buAutoNum type="romanLcPeriod"/>
            </a:pPr>
            <a:r>
              <a:rPr lang="en-US" sz="3200" b="1" dirty="0"/>
              <a:t>Phagocytosis </a:t>
            </a:r>
            <a:r>
              <a:rPr lang="en-US" sz="3200" dirty="0"/>
              <a:t>(pseudopodia): pseudopods engulf solids and bring them into the cell’s interior</a:t>
            </a:r>
          </a:p>
          <a:p>
            <a:endParaRPr lang="en-US" dirty="0"/>
          </a:p>
        </p:txBody>
      </p:sp>
      <p:pic>
        <p:nvPicPr>
          <p:cNvPr id="5" name="Content Placeholder 4" descr=" 0312a.jpg                                                      0001B72FHAP5e_ppt_cd                   B3FD695F:">
            <a:extLst>
              <a:ext uri="{FF2B5EF4-FFF2-40B4-BE49-F238E27FC236}">
                <a16:creationId xmlns:a16="http://schemas.microsoft.com/office/drawing/2014/main" id="{7A7E6707-2F53-74DF-60E2-07356E3450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r="14754" b="8511"/>
          <a:stretch>
            <a:fillRect/>
          </a:stretch>
        </p:blipFill>
        <p:spPr bwMode="auto">
          <a:xfrm>
            <a:off x="5422900" y="560394"/>
            <a:ext cx="5981700" cy="59293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56768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3" name="Picture 5" descr=" 0312b.jpg                                                      0001B72FHAP5e_ppt_cd                   B3FD695F:"/>
          <p:cNvPicPr>
            <a:picLocks noChangeAspect="1" noChangeArrowheads="1"/>
          </p:cNvPicPr>
          <p:nvPr/>
        </p:nvPicPr>
        <p:blipFill>
          <a:blip r:embed="rId2" cstate="print"/>
          <a:srcRect b="7295"/>
          <a:stretch>
            <a:fillRect/>
          </a:stretch>
        </p:blipFill>
        <p:spPr bwMode="auto">
          <a:xfrm>
            <a:off x="1586880" y="116633"/>
            <a:ext cx="4800600" cy="6513859"/>
          </a:xfrm>
          <a:prstGeom prst="rect">
            <a:avLst/>
          </a:prstGeom>
          <a:noFill/>
        </p:spPr>
      </p:pic>
      <p:pic>
        <p:nvPicPr>
          <p:cNvPr id="124934" name="Picture 6" descr=" 0312c.jpg                                                      0001B72FHAP5e_ppt_cd                   B3FD695F:"/>
          <p:cNvPicPr>
            <a:picLocks noChangeAspect="1" noChangeArrowheads="1"/>
          </p:cNvPicPr>
          <p:nvPr/>
        </p:nvPicPr>
        <p:blipFill>
          <a:blip r:embed="rId3" cstate="print"/>
          <a:srcRect b="9285"/>
          <a:stretch>
            <a:fillRect/>
          </a:stretch>
        </p:blipFill>
        <p:spPr bwMode="auto">
          <a:xfrm>
            <a:off x="6240016" y="116633"/>
            <a:ext cx="4441676" cy="65138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989D-887C-2BDF-B7B6-A056BC05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375"/>
          </a:xfrm>
        </p:spPr>
        <p:txBody>
          <a:bodyPr/>
          <a:lstStyle/>
          <a:p>
            <a:r>
              <a:rPr lang="en-US" i="1" dirty="0"/>
              <a:t>Receptor-Mediated Endocytosis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AD397-023F-86C2-4994-1EC586EE4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50" y="1231900"/>
            <a:ext cx="11315700" cy="526097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dirty="0"/>
              <a:t>It is a process by which cells internalize molecules by endocytosis in which the inward budding of plasma membrane vesicles contains proteins with receptor sites specific to the molecules being internalized.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6255C-C288-A032-D8D0-7464717BD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503" y="3251200"/>
            <a:ext cx="9442847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837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C44F-0398-CC61-B448-718E6081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215900"/>
            <a:ext cx="10515600" cy="790575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Pathway: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C170-4F5E-069B-B820-EBAA56957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350" y="1073150"/>
            <a:ext cx="11493500" cy="5556250"/>
          </a:xfrm>
        </p:spPr>
        <p:txBody>
          <a:bodyPr>
            <a:normAutofit fontScale="70000" lnSpcReduction="20000"/>
          </a:bodyPr>
          <a:lstStyle/>
          <a:p>
            <a:r>
              <a:rPr lang="en-GB" sz="4100" dirty="0"/>
              <a:t>Specific target molecules (ligands) bind to plasma membrane-spanning receptors</a:t>
            </a:r>
          </a:p>
          <a:p>
            <a:r>
              <a:rPr lang="en-US" sz="4100" dirty="0"/>
              <a:t>A signal is sent through the membrane, leading to membrane coating, and formation of a membrane invagination. </a:t>
            </a:r>
          </a:p>
          <a:p>
            <a:r>
              <a:rPr lang="en-GB" sz="4100" dirty="0"/>
              <a:t>Membrane coated ligands (</a:t>
            </a:r>
            <a:r>
              <a:rPr lang="en-US" sz="4100" dirty="0"/>
              <a:t>receptor and its ligand) are then enclosed in (</a:t>
            </a:r>
            <a:r>
              <a:rPr lang="en-US" sz="4100" dirty="0" err="1"/>
              <a:t>eg.</a:t>
            </a:r>
            <a:r>
              <a:rPr lang="en-US" sz="4100" dirty="0"/>
              <a:t> </a:t>
            </a:r>
            <a:r>
              <a:rPr lang="en-US" sz="4100" b="1" dirty="0" err="1"/>
              <a:t>clathrin</a:t>
            </a:r>
            <a:r>
              <a:rPr lang="en-US" sz="4100" dirty="0"/>
              <a:t>-coated) vesicles. </a:t>
            </a:r>
            <a:endParaRPr lang="en-GB" sz="4100" dirty="0"/>
          </a:p>
          <a:p>
            <a:pPr lvl="1"/>
            <a:r>
              <a:rPr lang="en-US" sz="4100" dirty="0"/>
              <a:t>As a pre-requisite for the vesicle to fuse with other membranes, the </a:t>
            </a:r>
            <a:r>
              <a:rPr lang="en-US" sz="4100" dirty="0" err="1"/>
              <a:t>clathrin</a:t>
            </a:r>
            <a:r>
              <a:rPr lang="en-US" sz="4100" dirty="0"/>
              <a:t>-coated vesicle </a:t>
            </a:r>
            <a:r>
              <a:rPr lang="en-US" sz="4100" dirty="0" err="1"/>
              <a:t>uncoats</a:t>
            </a:r>
            <a:r>
              <a:rPr lang="en-US" sz="4100" dirty="0"/>
              <a:t> </a:t>
            </a:r>
            <a:endParaRPr lang="en-GB" sz="4100" dirty="0"/>
          </a:p>
          <a:p>
            <a:r>
              <a:rPr lang="en-GB" sz="4100" dirty="0"/>
              <a:t>Vesicles fuse with 1⁰ lysosomes</a:t>
            </a:r>
          </a:p>
          <a:p>
            <a:r>
              <a:rPr lang="en-GB" sz="4100" dirty="0"/>
              <a:t>Ligands are freed, broken down by enzymes</a:t>
            </a:r>
          </a:p>
          <a:p>
            <a:pPr lvl="1"/>
            <a:r>
              <a:rPr lang="en-GB" sz="4100" dirty="0"/>
              <a:t>Diffuse into cytoplasm</a:t>
            </a:r>
          </a:p>
          <a:p>
            <a:r>
              <a:rPr lang="en-GB" sz="4100" dirty="0"/>
              <a:t>Membrane of receptor molecules separate from membrane of lysosomes</a:t>
            </a:r>
          </a:p>
          <a:p>
            <a:pPr lvl="1"/>
            <a:r>
              <a:rPr lang="en-GB" sz="4100" dirty="0"/>
              <a:t>Returns to cell surface to bind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1515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03-25_1.jpg                                                    000000B4Sarah                          B9D5FA8B: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b="3000"/>
          <a:stretch>
            <a:fillRect/>
          </a:stretch>
        </p:blipFill>
        <p:spPr bwMode="auto">
          <a:xfrm>
            <a:off x="1631504" y="214290"/>
            <a:ext cx="9036496" cy="64294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995" name="Picture 3" descr="D:\endocytosis images\endocytosisA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16632"/>
            <a:ext cx="8784975" cy="674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3429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D6B3-39EB-E4F3-11D3-9AF342286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1875"/>
          </a:xfrm>
        </p:spPr>
        <p:txBody>
          <a:bodyPr/>
          <a:lstStyle/>
          <a:p>
            <a:r>
              <a:rPr lang="en-US" b="1" i="1" dirty="0"/>
              <a:t>Pinocytosis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610F8-AE7F-ACD8-046E-372010182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244600"/>
            <a:ext cx="11366500" cy="53784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400" dirty="0"/>
              <a:t>Used primarily for the absorption of extracellular fluids (Nonselective drinking of ECF) </a:t>
            </a:r>
          </a:p>
          <a:p>
            <a:pPr lvl="1">
              <a:lnSpc>
                <a:spcPct val="100000"/>
              </a:lnSpc>
            </a:pPr>
            <a:r>
              <a:rPr lang="en-US" sz="3400" dirty="0"/>
              <a:t>“Cell drinking”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The cell takes in surrounding fluids, including all solutes present by engulfing already-dissolved or broken-down food.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Nonspecific in the substances that it transports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This process requires a lot of energy in the form of ATP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984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I:\MEDIA\1703\170310.JPG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 cstate="print"/>
          <a:srcRect b="5882"/>
          <a:stretch>
            <a:fillRect/>
          </a:stretch>
        </p:blipFill>
        <p:spPr bwMode="auto">
          <a:xfrm>
            <a:off x="665132" y="286868"/>
            <a:ext cx="4643470" cy="6382492"/>
          </a:xfrm>
          <a:prstGeom prst="rect">
            <a:avLst/>
          </a:prstGeom>
          <a:noFill/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13400" y="260648"/>
            <a:ext cx="6108700" cy="64087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Pathway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Small particles are brought into the cell, forming an invagination 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Pocket forms and pinches off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Particles are then suspended within small vesicles. </a:t>
            </a:r>
          </a:p>
          <a:p>
            <a:pPr lvl="1">
              <a:lnSpc>
                <a:spcPct val="100000"/>
              </a:lnSpc>
            </a:pPr>
            <a:r>
              <a:rPr lang="en-US" sz="3200" dirty="0" err="1"/>
              <a:t>Pinocytotic</a:t>
            </a:r>
            <a:r>
              <a:rPr lang="en-US" sz="3200" dirty="0"/>
              <a:t> vesicles fuse with lysosomes to hydrolyze (break down) the particles.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dirty="0"/>
              <a:t>Phagocytosis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692696"/>
            <a:ext cx="8856984" cy="6048672"/>
          </a:xfrm>
        </p:spPr>
        <p:txBody>
          <a:bodyPr>
            <a:normAutofit fontScale="92500" lnSpcReduction="20000"/>
          </a:bodyPr>
          <a:lstStyle/>
          <a:p>
            <a:r>
              <a:rPr lang="en-US" sz="3500" dirty="0"/>
              <a:t>It is a specific form of endocytosis involving the vesicular internalization of solids.</a:t>
            </a:r>
          </a:p>
          <a:p>
            <a:r>
              <a:rPr lang="en-US" sz="3500" dirty="0"/>
              <a:t>It is the process by which a cell engulfs a solid particle to form an internal vesicle known as a </a:t>
            </a:r>
            <a:r>
              <a:rPr lang="en-US" sz="3500" dirty="0" err="1"/>
              <a:t>phagosome</a:t>
            </a:r>
            <a:r>
              <a:rPr lang="en-US" sz="3500" dirty="0"/>
              <a:t>. </a:t>
            </a:r>
          </a:p>
          <a:p>
            <a:r>
              <a:rPr lang="en-US" sz="3500" dirty="0"/>
              <a:t>Phagocytosis is specific in the substances it transports,  engulfs whole particles, which are later broken down by enzymes and absorbed into the cells. </a:t>
            </a:r>
          </a:p>
          <a:p>
            <a:r>
              <a:rPr lang="en-US" sz="3500" dirty="0"/>
              <a:t>Importance: </a:t>
            </a:r>
          </a:p>
          <a:p>
            <a:pPr lvl="1"/>
            <a:r>
              <a:rPr lang="en-US" sz="3500" dirty="0"/>
              <a:t>Involved in the acquisition of nutrients for some cells (small mineral particles)</a:t>
            </a:r>
          </a:p>
          <a:p>
            <a:pPr lvl="1"/>
            <a:r>
              <a:rPr lang="en-US" sz="3500" dirty="0"/>
              <a:t>a major mechanism used to remove pathogens and cell debris (Bacteria, dead tissue cells)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5365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FADA-1770-0CE1-DBF0-E6F82B98F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925"/>
          </a:xfrm>
        </p:spPr>
        <p:txBody>
          <a:bodyPr/>
          <a:lstStyle/>
          <a:p>
            <a:r>
              <a:rPr lang="en-US" b="1" i="1" dirty="0"/>
              <a:t>Phagocytosis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DFDFE-567E-DCD6-F471-A49DA49C2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162050"/>
            <a:ext cx="11271250" cy="53975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500" dirty="0"/>
              <a:t>It is a specific form of endocytosis involving the vesicular internalization of solids.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It is the process by which a cell engulfs a solid particle to form an internal vesicle known as a phagosome. 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Phagocytosis is specific in the substances it transports,  engulfs whole particles, which are later broken down by enzymes and absorbed into the cells. 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Importance: </a:t>
            </a:r>
          </a:p>
          <a:p>
            <a:pPr lvl="1">
              <a:lnSpc>
                <a:spcPct val="110000"/>
              </a:lnSpc>
            </a:pPr>
            <a:r>
              <a:rPr lang="en-US" sz="3500" dirty="0"/>
              <a:t>Involved in the acquisition of nutrients for some cells (small mineral particles)</a:t>
            </a:r>
          </a:p>
          <a:p>
            <a:pPr lvl="1">
              <a:lnSpc>
                <a:spcPct val="110000"/>
              </a:lnSpc>
            </a:pPr>
            <a:r>
              <a:rPr lang="en-US" sz="3500" dirty="0"/>
              <a:t>a major mechanism used to remove pathogens and cell debris (Bacteria, dead tissue cells)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405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http://upload.wikimedia.org/wikipedia/commons/thumb/b/ba/Phagocytosis_in_three_steps.png/250px-Phagocytosis_in_three_steps.png">
            <a:hlinkClick r:id="rId2"/>
          </p:cNvPr>
          <p:cNvPicPr>
            <a:picLocks noGrp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88640"/>
            <a:ext cx="3888432" cy="64807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1944" y="188640"/>
            <a:ext cx="5076056" cy="6669360"/>
          </a:xfrm>
        </p:spPr>
        <p:txBody>
          <a:bodyPr>
            <a:noAutofit/>
          </a:bodyPr>
          <a:lstStyle/>
          <a:p>
            <a:r>
              <a:rPr lang="en-US" sz="3200" dirty="0"/>
              <a:t>Pathway:</a:t>
            </a:r>
          </a:p>
          <a:p>
            <a:pPr lvl="1"/>
            <a:r>
              <a:rPr lang="en-US" sz="3200" dirty="0"/>
              <a:t>To trigger phagocytosis, ligand coated particles bind to phagocyte surface receptors</a:t>
            </a:r>
          </a:p>
          <a:p>
            <a:pPr lvl="1"/>
            <a:r>
              <a:rPr lang="en-US" sz="3200" dirty="0"/>
              <a:t>Binding of receptors causes them to cluster.</a:t>
            </a:r>
          </a:p>
          <a:p>
            <a:pPr lvl="1"/>
            <a:r>
              <a:rPr lang="en-US" sz="3200" dirty="0"/>
              <a:t>Phagocytosis is triggered</a:t>
            </a:r>
          </a:p>
          <a:p>
            <a:pPr lvl="1"/>
            <a:r>
              <a:rPr lang="en-US" sz="3200" dirty="0"/>
              <a:t>Pseudopods extend to form </a:t>
            </a:r>
            <a:r>
              <a:rPr lang="en-US" sz="3200" dirty="0" err="1"/>
              <a:t>phagosome</a:t>
            </a:r>
            <a:r>
              <a:rPr lang="en-US" sz="3200" dirty="0"/>
              <a:t> </a:t>
            </a:r>
          </a:p>
          <a:p>
            <a:pPr lvl="1"/>
            <a:r>
              <a:rPr lang="en-US" sz="3200" dirty="0"/>
              <a:t>particle is taken up by the phagocyte</a:t>
            </a:r>
          </a:p>
        </p:txBody>
      </p:sp>
    </p:spTree>
    <p:extLst>
      <p:ext uri="{BB962C8B-B14F-4D97-AF65-F5344CB8AC3E}">
        <p14:creationId xmlns:p14="http://schemas.microsoft.com/office/powerpoint/2010/main" val="611536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:\MEDIA\1703\170309.JPG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 cstate="print"/>
          <a:srcRect b="4938"/>
          <a:stretch>
            <a:fillRect/>
          </a:stretch>
        </p:blipFill>
        <p:spPr bwMode="auto">
          <a:xfrm>
            <a:off x="1738282" y="332656"/>
            <a:ext cx="4357718" cy="6311054"/>
          </a:xfrm>
          <a:prstGeom prst="rect">
            <a:avLst/>
          </a:prstGeom>
          <a:noFill/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0" y="500042"/>
            <a:ext cx="4495800" cy="6143668"/>
          </a:xfrm>
        </p:spPr>
        <p:txBody>
          <a:bodyPr>
            <a:normAutofit/>
          </a:bodyPr>
          <a:lstStyle/>
          <a:p>
            <a:r>
              <a:rPr lang="en-US" dirty="0"/>
              <a:t>Material is brought into cell is enclosed in the </a:t>
            </a:r>
            <a:r>
              <a:rPr lang="en-US" dirty="0" err="1"/>
              <a:t>phagosome</a:t>
            </a:r>
            <a:endParaRPr lang="en-US" dirty="0"/>
          </a:p>
          <a:p>
            <a:r>
              <a:rPr lang="en-US" dirty="0"/>
              <a:t>Lysosome fuses with the </a:t>
            </a:r>
            <a:r>
              <a:rPr lang="en-US" dirty="0" err="1"/>
              <a:t>phagosome</a:t>
            </a:r>
            <a:endParaRPr lang="en-US" dirty="0"/>
          </a:p>
          <a:p>
            <a:r>
              <a:rPr lang="en-US" dirty="0"/>
              <a:t>Exposed to </a:t>
            </a:r>
            <a:r>
              <a:rPr lang="en-US" dirty="0" err="1"/>
              <a:t>lysosomal</a:t>
            </a:r>
            <a:r>
              <a:rPr lang="en-US" dirty="0"/>
              <a:t> enzymes: digest the particles</a:t>
            </a:r>
          </a:p>
          <a:p>
            <a:r>
              <a:rPr lang="en-US" dirty="0"/>
              <a:t>Residue is discharged </a:t>
            </a:r>
          </a:p>
          <a:p>
            <a:endParaRPr lang="en-US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95055-44C2-3128-7A3B-F0565876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3425"/>
          </a:xfrm>
        </p:spPr>
        <p:txBody>
          <a:bodyPr/>
          <a:lstStyle/>
          <a:p>
            <a:r>
              <a:rPr lang="en-US" b="1" i="1" dirty="0"/>
              <a:t>Exocytosis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49175-6316-67A5-BDAC-849DF8ED1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1036300" cy="54483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400" dirty="0"/>
              <a:t>It is the ejection/discharge of materials from the cell to the extracellular space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Process by which materials packed in vesicles are secreted from a cell when the vesicle membrane fuses with the plasma membrane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Ejected material may be secretory, waste or products accumulating in endocytic vesicles</a:t>
            </a:r>
          </a:p>
          <a:p>
            <a:pPr>
              <a:lnSpc>
                <a:spcPct val="100000"/>
              </a:lnSpc>
            </a:pPr>
            <a:r>
              <a:rPr lang="en-US" sz="3400" dirty="0"/>
              <a:t>Requires energy and Ca</a:t>
            </a:r>
            <a:r>
              <a:rPr lang="en-US" sz="3400" baseline="30000" dirty="0"/>
              <a:t>2+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0447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285728"/>
            <a:ext cx="8558242" cy="6286544"/>
          </a:xfrm>
        </p:spPr>
        <p:txBody>
          <a:bodyPr>
            <a:normAutofit lnSpcReduction="10000"/>
          </a:bodyPr>
          <a:lstStyle/>
          <a:p>
            <a:r>
              <a:rPr lang="en-US" sz="3500" dirty="0" err="1"/>
              <a:t>Exocytosis</a:t>
            </a:r>
            <a:r>
              <a:rPr lang="en-US" sz="3500" dirty="0"/>
              <a:t> is ejection/discharge of materials from the cell to the extracellular space</a:t>
            </a:r>
          </a:p>
          <a:p>
            <a:pPr>
              <a:buFont typeface="Wingdings" pitchFamily="2" charset="2"/>
              <a:buChar char="§"/>
            </a:pPr>
            <a:r>
              <a:rPr lang="en-US" sz="3500" dirty="0"/>
              <a:t>Process by which materials packed in vesicles are secreted from a cell when the vesicle membrane fuses with the plasma membrane</a:t>
            </a:r>
          </a:p>
          <a:p>
            <a:pPr>
              <a:buFont typeface="Wingdings" pitchFamily="2" charset="2"/>
              <a:buChar char="§"/>
            </a:pPr>
            <a:r>
              <a:rPr lang="en-US" sz="3500" dirty="0"/>
              <a:t>Ejected material may be </a:t>
            </a:r>
            <a:r>
              <a:rPr lang="en-US" sz="3500" dirty="0" err="1"/>
              <a:t>secretory</a:t>
            </a:r>
            <a:r>
              <a:rPr lang="en-US" sz="3500" dirty="0"/>
              <a:t>, waste or products accumulating in </a:t>
            </a:r>
            <a:r>
              <a:rPr lang="en-US" sz="3500" dirty="0" err="1"/>
              <a:t>endocytic</a:t>
            </a:r>
            <a:r>
              <a:rPr lang="en-US" sz="3500" dirty="0"/>
              <a:t> vesicles</a:t>
            </a:r>
          </a:p>
          <a:p>
            <a:pPr>
              <a:buFont typeface="Wingdings" pitchFamily="2" charset="2"/>
              <a:buChar char="§"/>
            </a:pPr>
            <a:r>
              <a:rPr lang="en-US" sz="3500" dirty="0"/>
              <a:t>Requires energy and Ca</a:t>
            </a:r>
            <a:r>
              <a:rPr lang="en-US" sz="3500" baseline="30000" dirty="0"/>
              <a:t>2+</a:t>
            </a:r>
          </a:p>
          <a:p>
            <a:pPr>
              <a:buFont typeface="Wingdings" pitchFamily="2" charset="2"/>
              <a:buChar char="§"/>
            </a:pPr>
            <a:endParaRPr lang="en-US" sz="3500" baseline="30000" dirty="0"/>
          </a:p>
          <a:p>
            <a:pPr lvl="1">
              <a:buNone/>
            </a:pPr>
            <a:r>
              <a:rPr lang="en-US" sz="3500" dirty="0"/>
              <a:t> </a:t>
            </a:r>
          </a:p>
          <a:p>
            <a:endParaRPr lang="en-US" sz="2500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138" name="Picture 2" descr="D:\endocytosis images\imagesCA8NQS6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404664"/>
            <a:ext cx="8424936" cy="597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7248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62" name="Picture 2" descr="D:\endocytosis images\exocytosis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260648"/>
            <a:ext cx="8928992" cy="6408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7008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8458200" cy="476250"/>
          </a:xfrm>
        </p:spPr>
        <p:txBody>
          <a:bodyPr>
            <a:normAutofit fontScale="90000"/>
          </a:bodyPr>
          <a:lstStyle/>
          <a:p>
            <a:r>
              <a:rPr lang="en-US" dirty="0"/>
              <a:t> Filtration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714356"/>
            <a:ext cx="8458200" cy="5786478"/>
          </a:xfrm>
        </p:spPr>
        <p:txBody>
          <a:bodyPr>
            <a:normAutofit/>
          </a:bodyPr>
          <a:lstStyle/>
          <a:p>
            <a:r>
              <a:rPr lang="en-US" sz="3400" dirty="0"/>
              <a:t>The passage of water and solutes through a membrane by hydrostatic pressure</a:t>
            </a:r>
          </a:p>
          <a:p>
            <a:r>
              <a:rPr lang="en-US" sz="3400" dirty="0"/>
              <a:t>Pressure gradient pushes solute-containing fluid from a higher-pressure area to a lower-pressure area</a:t>
            </a:r>
          </a:p>
          <a:p>
            <a:r>
              <a:rPr lang="en-US" sz="3400" dirty="0"/>
              <a:t>amount of fluid filtered is proportionate to:</a:t>
            </a:r>
          </a:p>
          <a:p>
            <a:pPr>
              <a:buFont typeface="Wingdings" pitchFamily="2" charset="2"/>
              <a:buChar char="Ø"/>
            </a:pPr>
            <a:r>
              <a:rPr lang="en-US" sz="3400" dirty="0"/>
              <a:t>The pressure difference</a:t>
            </a:r>
          </a:p>
          <a:p>
            <a:pPr>
              <a:buFont typeface="Wingdings" pitchFamily="2" charset="2"/>
              <a:buChar char="Ø"/>
            </a:pPr>
            <a:r>
              <a:rPr lang="en-US" sz="3400" dirty="0"/>
              <a:t>Surface area of the membrane</a:t>
            </a:r>
          </a:p>
          <a:p>
            <a:pPr>
              <a:buFont typeface="Wingdings" pitchFamily="2" charset="2"/>
              <a:buChar char="Ø"/>
            </a:pPr>
            <a:r>
              <a:rPr lang="en-US" sz="3400" dirty="0"/>
              <a:t>permeability of the membrane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2914</Words>
  <Application>Microsoft Office PowerPoint</Application>
  <PresentationFormat>Widescreen</PresentationFormat>
  <Paragraphs>334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Aptos</vt:lpstr>
      <vt:lpstr>Aptos Display</vt:lpstr>
      <vt:lpstr>Arial</vt:lpstr>
      <vt:lpstr>Symbol</vt:lpstr>
      <vt:lpstr>Wingdings</vt:lpstr>
      <vt:lpstr>Office Theme</vt:lpstr>
      <vt:lpstr> Cellular Level of Organization (cell membranes &amp; transport) </vt:lpstr>
      <vt:lpstr>Mammalian cell membrane</vt:lpstr>
      <vt:lpstr> Functions: </vt:lpstr>
      <vt:lpstr>Structure: Fluid Mosaic Model</vt:lpstr>
      <vt:lpstr>  Structure: Membrane lipids </vt:lpstr>
      <vt:lpstr>PowerPoint Presentation</vt:lpstr>
      <vt:lpstr>Lipid Bilayer of the Cell Membrane</vt:lpstr>
      <vt:lpstr>Structure: Membrane proteins</vt:lpstr>
      <vt:lpstr>Membrane Proteins</vt:lpstr>
      <vt:lpstr>Functions: plasma proteins</vt:lpstr>
      <vt:lpstr>PowerPoint Presentation</vt:lpstr>
      <vt:lpstr>PowerPoint Presentation</vt:lpstr>
      <vt:lpstr> Classification: Membrane proteins</vt:lpstr>
      <vt:lpstr>Structure: Membrane carbohydrates</vt:lpstr>
      <vt:lpstr> Functions </vt:lpstr>
      <vt:lpstr> The Cell Membrane: Fluid Mosaic Model</vt:lpstr>
      <vt:lpstr>PowerPoint Presentation</vt:lpstr>
      <vt:lpstr>       membrane transport processes</vt:lpstr>
      <vt:lpstr>Why Transport?.......</vt:lpstr>
      <vt:lpstr> Importance of membrane transport: </vt:lpstr>
      <vt:lpstr>Factors that affect transport</vt:lpstr>
      <vt:lpstr>Membrane Transport</vt:lpstr>
      <vt:lpstr>Membrane Transport</vt:lpstr>
      <vt:lpstr>PowerPoint Presentation</vt:lpstr>
      <vt:lpstr>Carrier mediated transport</vt:lpstr>
      <vt:lpstr>Integral membrane: Antiporters and Symporters</vt:lpstr>
      <vt:lpstr>Carrier mediated transport: characteristics</vt:lpstr>
      <vt:lpstr>PowerPoint Presentation</vt:lpstr>
      <vt:lpstr>Diffusion</vt:lpstr>
      <vt:lpstr>PowerPoint Presentation</vt:lpstr>
      <vt:lpstr>Principles of Diffusion</vt:lpstr>
      <vt:lpstr>Factors that influence diffusion rates:</vt:lpstr>
      <vt:lpstr>PowerPoint Presentation</vt:lpstr>
      <vt:lpstr>PowerPoint Presentation</vt:lpstr>
      <vt:lpstr>Simple Diffusion</vt:lpstr>
      <vt:lpstr>PowerPoint Presentation</vt:lpstr>
      <vt:lpstr>Simple Diffusion</vt:lpstr>
      <vt:lpstr>Diffusion across the Cell Membrane</vt:lpstr>
      <vt:lpstr>Facilitated Diffusion</vt:lpstr>
      <vt:lpstr>PowerPoint Presentation</vt:lpstr>
      <vt:lpstr>PowerPoint Presentation</vt:lpstr>
      <vt:lpstr>Diffusion </vt:lpstr>
      <vt:lpstr>Osmosis </vt:lpstr>
      <vt:lpstr>Osmosis </vt:lpstr>
      <vt:lpstr>PowerPoint Presentation</vt:lpstr>
      <vt:lpstr>PowerPoint Presentation</vt:lpstr>
      <vt:lpstr>Effect of Membrane Permeability on Diffusion &amp; Osmosis</vt:lpstr>
      <vt:lpstr>Osmotic flow across a cell membrane</vt:lpstr>
      <vt:lpstr>Active Transport</vt:lpstr>
      <vt:lpstr>Active Transport</vt:lpstr>
      <vt:lpstr>  Primary Active Transport</vt:lpstr>
      <vt:lpstr>Sodium-Potassium Pump</vt:lpstr>
      <vt:lpstr>Secondary Active Transport</vt:lpstr>
      <vt:lpstr>PowerPoint Presentation</vt:lpstr>
      <vt:lpstr>PowerPoint Presentation</vt:lpstr>
      <vt:lpstr>Vesicular transport</vt:lpstr>
      <vt:lpstr>Endocytosis(movement into the cell):</vt:lpstr>
      <vt:lpstr>PowerPoint Presentation</vt:lpstr>
      <vt:lpstr>Types</vt:lpstr>
      <vt:lpstr>PowerPoint Presentation</vt:lpstr>
      <vt:lpstr>Receptor-Mediated Endocytosis</vt:lpstr>
      <vt:lpstr> Pathway: </vt:lpstr>
      <vt:lpstr>PowerPoint Presentation</vt:lpstr>
      <vt:lpstr>PowerPoint Presentation</vt:lpstr>
      <vt:lpstr>Pinocytosis</vt:lpstr>
      <vt:lpstr>PowerPoint Presentation</vt:lpstr>
      <vt:lpstr>Phagocytosis</vt:lpstr>
      <vt:lpstr>Phagocytosis</vt:lpstr>
      <vt:lpstr>PowerPoint Presentation</vt:lpstr>
      <vt:lpstr>PowerPoint Presentation</vt:lpstr>
      <vt:lpstr>Exocytosis</vt:lpstr>
      <vt:lpstr>PowerPoint Presentation</vt:lpstr>
      <vt:lpstr>PowerPoint Presentation</vt:lpstr>
      <vt:lpstr>PowerPoint Presentation</vt:lpstr>
      <vt:lpstr> Filtration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Lorraine sallah</dc:creator>
  <cp:lastModifiedBy>Lorraine sallah</cp:lastModifiedBy>
  <cp:revision>181</cp:revision>
  <dcterms:created xsi:type="dcterms:W3CDTF">2026-05-05T15:12:08Z</dcterms:created>
  <dcterms:modified xsi:type="dcterms:W3CDTF">2026-05-06T15:44:37Z</dcterms:modified>
</cp:coreProperties>
</file>