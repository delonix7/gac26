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Lst>
  <p:notesMasterIdLst>
    <p:notesMasterId r:id="rId61"/>
  </p:notesMasterIdLst>
  <p:sldIdLst>
    <p:sldId id="256" r:id="rId6"/>
    <p:sldId id="257" r:id="rId7"/>
    <p:sldId id="320" r:id="rId8"/>
    <p:sldId id="258" r:id="rId9"/>
    <p:sldId id="319" r:id="rId10"/>
    <p:sldId id="297" r:id="rId11"/>
    <p:sldId id="321" r:id="rId12"/>
    <p:sldId id="299" r:id="rId13"/>
    <p:sldId id="261" r:id="rId14"/>
    <p:sldId id="300" r:id="rId15"/>
    <p:sldId id="301" r:id="rId16"/>
    <p:sldId id="324" r:id="rId17"/>
    <p:sldId id="325" r:id="rId18"/>
    <p:sldId id="326" r:id="rId19"/>
    <p:sldId id="327" r:id="rId20"/>
    <p:sldId id="328" r:id="rId21"/>
    <p:sldId id="329" r:id="rId22"/>
    <p:sldId id="322" r:id="rId23"/>
    <p:sldId id="302" r:id="rId24"/>
    <p:sldId id="303" r:id="rId25"/>
    <p:sldId id="304" r:id="rId26"/>
    <p:sldId id="263" r:id="rId27"/>
    <p:sldId id="305" r:id="rId28"/>
    <p:sldId id="323" r:id="rId29"/>
    <p:sldId id="343" r:id="rId30"/>
    <p:sldId id="359" r:id="rId31"/>
    <p:sldId id="264" r:id="rId32"/>
    <p:sldId id="265" r:id="rId33"/>
    <p:sldId id="266" r:id="rId34"/>
    <p:sldId id="267" r:id="rId35"/>
    <p:sldId id="268" r:id="rId36"/>
    <p:sldId id="330" r:id="rId37"/>
    <p:sldId id="269" r:id="rId38"/>
    <p:sldId id="270" r:id="rId39"/>
    <p:sldId id="271" r:id="rId40"/>
    <p:sldId id="360" r:id="rId41"/>
    <p:sldId id="274" r:id="rId42"/>
    <p:sldId id="275" r:id="rId43"/>
    <p:sldId id="276" r:id="rId44"/>
    <p:sldId id="277" r:id="rId45"/>
    <p:sldId id="361" r:id="rId46"/>
    <p:sldId id="279" r:id="rId47"/>
    <p:sldId id="280" r:id="rId48"/>
    <p:sldId id="281" r:id="rId49"/>
    <p:sldId id="282" r:id="rId50"/>
    <p:sldId id="283" r:id="rId51"/>
    <p:sldId id="284" r:id="rId52"/>
    <p:sldId id="288" r:id="rId53"/>
    <p:sldId id="289" r:id="rId54"/>
    <p:sldId id="290" r:id="rId55"/>
    <p:sldId id="291" r:id="rId56"/>
    <p:sldId id="292" r:id="rId57"/>
    <p:sldId id="293" r:id="rId58"/>
    <p:sldId id="294" r:id="rId59"/>
    <p:sldId id="295"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7" d="100"/>
          <a:sy n="57" d="100"/>
        </p:scale>
        <p:origin x="11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microsoft.com/office/2016/11/relationships/changesInfo" Target="changesInfos/changesInfo1.xml"/><Relationship Id="rId5" Type="http://schemas.openxmlformats.org/officeDocument/2006/relationships/slideMaster" Target="slideMasters/slideMaster5.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NTIM" userId="978b0b86-5ed5-422f-af9b-9517179de80a" providerId="ADAL" clId="{B469A636-E888-4F4C-AD2E-A30D55445222}"/>
    <pc:docChg chg="modSld">
      <pc:chgData name="MICHAEL NTIM" userId="978b0b86-5ed5-422f-af9b-9517179de80a" providerId="ADAL" clId="{B469A636-E888-4F4C-AD2E-A30D55445222}" dt="2026-05-06T10:16:37.125" v="1" actId="6549"/>
      <pc:docMkLst>
        <pc:docMk/>
      </pc:docMkLst>
      <pc:sldChg chg="modSp mod">
        <pc:chgData name="MICHAEL NTIM" userId="978b0b86-5ed5-422f-af9b-9517179de80a" providerId="ADAL" clId="{B469A636-E888-4F4C-AD2E-A30D55445222}" dt="2026-05-06T10:16:37.125" v="1" actId="6549"/>
        <pc:sldMkLst>
          <pc:docMk/>
          <pc:sldMk cId="100512077" sldId="257"/>
        </pc:sldMkLst>
        <pc:spChg chg="mod">
          <ac:chgData name="MICHAEL NTIM" userId="978b0b86-5ed5-422f-af9b-9517179de80a" providerId="ADAL" clId="{B469A636-E888-4F4C-AD2E-A30D55445222}" dt="2026-05-06T10:16:37.125" v="1" actId="6549"/>
          <ac:spMkLst>
            <pc:docMk/>
            <pc:sldMk cId="100512077" sldId="257"/>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1D0BF-44E5-4944-9894-5EF85A5A1817}"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DA1B8A-141F-45B3-A5D8-2000AC9C6D15}" type="slidenum">
              <a:rPr lang="en-US" smtClean="0"/>
              <a:t>‹#›</a:t>
            </a:fld>
            <a:endParaRPr lang="en-US"/>
          </a:p>
        </p:txBody>
      </p:sp>
    </p:spTree>
    <p:extLst>
      <p:ext uri="{BB962C8B-B14F-4D97-AF65-F5344CB8AC3E}">
        <p14:creationId xmlns:p14="http://schemas.microsoft.com/office/powerpoint/2010/main" val="1747301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prstGeom prst="rect">
            <a:avLst/>
          </a:prstGeom>
        </p:spPr>
        <p:txBody>
          <a:bodyPr/>
          <a:lstStyle/>
          <a:p>
            <a:endParaRPr/>
          </a:p>
        </p:txBody>
      </p:sp>
      <p:sp>
        <p:nvSpPr>
          <p:cNvPr id="207" name="Shape 207"/>
          <p:cNvSpPr>
            <a:spLocks noGrp="1"/>
          </p:cNvSpPr>
          <p:nvPr>
            <p:ph type="body" sz="quarter" idx="1"/>
          </p:nvPr>
        </p:nvSpPr>
        <p:spPr>
          <a:prstGeom prst="rect">
            <a:avLst/>
          </a:prstGeom>
        </p:spPr>
        <p:txBody>
          <a:bodyPr/>
          <a:lstStyle/>
          <a:p>
            <a:pPr defTabSz="914400">
              <a:defRPr sz="1200" b="1"/>
            </a:pPr>
            <a:r>
              <a:t>Meissner’s corpuscles</a:t>
            </a:r>
            <a:r>
              <a:rPr b="0"/>
              <a:t>: encapsulated neurons that responds to low-frequency vibrations and fine touch</a:t>
            </a:r>
          </a:p>
          <a:p>
            <a:pPr defTabSz="914400">
              <a:defRPr sz="1200" b="1"/>
            </a:pPr>
            <a:endParaRPr b="0"/>
          </a:p>
          <a:p>
            <a:pPr defTabSz="914400">
              <a:defRPr sz="1200" b="1"/>
            </a:pPr>
            <a:r>
              <a:t>Merkel’s disks</a:t>
            </a:r>
            <a:r>
              <a:rPr b="0"/>
              <a:t>: encapsulated nerve endings that respond to light pressure and </a:t>
            </a:r>
            <a:r>
              <a:rPr sz="1100" b="0"/>
              <a:t>play a key role in differentiating </a:t>
            </a:r>
            <a:r>
              <a:rPr sz="1100"/>
              <a:t>textures</a:t>
            </a:r>
            <a:r>
              <a:rPr sz="1100" b="0"/>
              <a:t>.</a:t>
            </a:r>
            <a:endParaRPr sz="1100"/>
          </a:p>
          <a:p>
            <a:pPr defTabSz="914400">
              <a:defRPr sz="1200" b="1"/>
            </a:pPr>
            <a:r>
              <a:t>Free nerve endings</a:t>
            </a:r>
            <a:r>
              <a:rPr b="0"/>
              <a:t>: fond in all connective tissues and are sensitive to painful stimuli, to hot and cold, and to light touch.</a:t>
            </a:r>
          </a:p>
          <a:p>
            <a:pPr defTabSz="914400">
              <a:defRPr sz="1200"/>
            </a:pPr>
            <a:endParaRPr b="0"/>
          </a:p>
          <a:p>
            <a:pPr defTabSz="914400">
              <a:defRPr sz="1200" b="1"/>
            </a:pPr>
            <a:r>
              <a:t>Pacinian corpuscles</a:t>
            </a:r>
            <a:r>
              <a:rPr b="0"/>
              <a:t>: deep receptors that respond to deep pressure and high-frequency vibration</a:t>
            </a:r>
            <a:endParaRPr sz="1100"/>
          </a:p>
          <a:p>
            <a:pPr defTabSz="914400">
              <a:defRPr sz="1200" b="1"/>
            </a:pPr>
            <a:endParaRPr sz="1100"/>
          </a:p>
          <a:p>
            <a:pPr defTabSz="914400">
              <a:defRPr sz="1200" b="1"/>
            </a:pPr>
            <a:r>
              <a:t>Ruffini </a:t>
            </a:r>
            <a:r>
              <a:rPr sz="1100"/>
              <a:t>corpuscles</a:t>
            </a:r>
            <a:r>
              <a:rPr b="0"/>
              <a:t>: encapsulated receptors that respond to skin stretch </a:t>
            </a:r>
            <a:endParaRPr sz="1100"/>
          </a:p>
          <a:p>
            <a:pPr defTabSz="914400">
              <a:defRPr sz="1200"/>
            </a:pPr>
            <a:endParaRPr sz="1100"/>
          </a:p>
          <a:p>
            <a:pPr defTabSz="914400">
              <a:defRPr sz="1200" b="1"/>
            </a:pPr>
            <a:r>
              <a:t>C-fiber LTMs </a:t>
            </a:r>
            <a:r>
              <a:rPr b="0"/>
              <a:t>detect pleasant, light tactile sensations</a:t>
            </a:r>
          </a:p>
        </p:txBody>
      </p:sp>
    </p:spTree>
    <p:extLst>
      <p:ext uri="{BB962C8B-B14F-4D97-AF65-F5344CB8AC3E}">
        <p14:creationId xmlns:p14="http://schemas.microsoft.com/office/powerpoint/2010/main" val="4286333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Shape 232"/>
          <p:cNvSpPr>
            <a:spLocks noGrp="1" noRot="1" noChangeAspect="1"/>
          </p:cNvSpPr>
          <p:nvPr>
            <p:ph type="sldImg"/>
          </p:nvPr>
        </p:nvSpPr>
        <p:spPr>
          <a:prstGeom prst="rect">
            <a:avLst/>
          </a:prstGeom>
        </p:spPr>
        <p:txBody>
          <a:bodyPr/>
          <a:lstStyle/>
          <a:p>
            <a:endParaRPr/>
          </a:p>
        </p:txBody>
      </p:sp>
      <p:sp>
        <p:nvSpPr>
          <p:cNvPr id="233" name="Shape 233"/>
          <p:cNvSpPr>
            <a:spLocks noGrp="1"/>
          </p:cNvSpPr>
          <p:nvPr>
            <p:ph type="body" sz="quarter" idx="1"/>
          </p:nvPr>
        </p:nvSpPr>
        <p:spPr>
          <a:prstGeom prst="rect">
            <a:avLst/>
          </a:prstGeom>
        </p:spPr>
        <p:txBody>
          <a:bodyPr/>
          <a:lstStyle/>
          <a:p>
            <a:pPr marL="457200" indent="-317500" defTabSz="914400">
              <a:buClr>
                <a:srgbClr val="000000"/>
              </a:buClr>
              <a:buSzPts val="1100"/>
              <a:buFont typeface="Cambria"/>
              <a:buChar char="●"/>
              <a:defRPr sz="1100" b="1"/>
            </a:pPr>
            <a:r>
              <a:t>Tonic receptors </a:t>
            </a:r>
            <a:r>
              <a:rPr b="0"/>
              <a:t>are slow adapting receptors. They will respond to the stimulus as long as it persists, and produce a continuous frequency of action potentials. Hence, they convey information about the duration of the stimulus.</a:t>
            </a:r>
          </a:p>
          <a:p>
            <a:pPr marL="457200" indent="-317500" defTabSz="914400">
              <a:buClr>
                <a:srgbClr val="000000"/>
              </a:buClr>
              <a:buSzPts val="1100"/>
              <a:buFont typeface="Cambria"/>
              <a:buChar char="●"/>
              <a:defRPr sz="1100"/>
            </a:pPr>
            <a:endParaRPr b="0"/>
          </a:p>
          <a:p>
            <a:pPr marL="457200" indent="-317500" defTabSz="914400">
              <a:buClr>
                <a:srgbClr val="000000"/>
              </a:buClr>
              <a:buSzPts val="1100"/>
              <a:buFont typeface="Cambria"/>
              <a:buChar char="●"/>
              <a:defRPr sz="1100" b="1"/>
            </a:pPr>
            <a:r>
              <a:t>Phasic receptors </a:t>
            </a:r>
            <a:r>
              <a:rPr b="0"/>
              <a:t>are rapidly adapting receptors. They will respond quickly to stimuli but stop responding upon continuous stimulation. Therefore, action potential frequency decreases during prolonged stimulation. This class of receptor conveys information about the changes to the stimulus such as intensity.</a:t>
            </a:r>
          </a:p>
        </p:txBody>
      </p:sp>
    </p:spTree>
    <p:extLst>
      <p:ext uri="{BB962C8B-B14F-4D97-AF65-F5344CB8AC3E}">
        <p14:creationId xmlns:p14="http://schemas.microsoft.com/office/powerpoint/2010/main" val="431967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3.xml"/><Relationship Id="rId6" Type="http://schemas.openxmlformats.org/officeDocument/2006/relationships/hyperlink" Target="https://www.facebook.com/knust.Ghana/" TargetMode="External"/><Relationship Id="rId5" Type="http://schemas.openxmlformats.org/officeDocument/2006/relationships/image" Target="../media/image6.jpeg"/><Relationship Id="rId4" Type="http://schemas.openxmlformats.org/officeDocument/2006/relationships/hyperlink" Target="https://twitter.com/_knust_"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Master" Target="../slideMasters/slideMaster3.xml"/><Relationship Id="rId6" Type="http://schemas.openxmlformats.org/officeDocument/2006/relationships/hyperlink" Target="https://www.facebook.com/knust.Ghana/" TargetMode="External"/><Relationship Id="rId5" Type="http://schemas.openxmlformats.org/officeDocument/2006/relationships/image" Target="../media/image9.jpeg"/><Relationship Id="rId4" Type="http://schemas.openxmlformats.org/officeDocument/2006/relationships/hyperlink" Target="https://twitter.com/_knust_"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hyperlink" Target="https://www.facebook.com/knust.Ghana/" TargetMode="External"/><Relationship Id="rId5" Type="http://schemas.openxmlformats.org/officeDocument/2006/relationships/image" Target="../media/image6.jpeg"/><Relationship Id="rId4" Type="http://schemas.openxmlformats.org/officeDocument/2006/relationships/hyperlink" Target="https://twitter.com/_knust_" TargetMode="Externa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Master" Target="../slideMasters/slideMaster5.xml"/><Relationship Id="rId6" Type="http://schemas.openxmlformats.org/officeDocument/2006/relationships/hyperlink" Target="https://www.facebook.com/knust.Ghana/" TargetMode="External"/><Relationship Id="rId5" Type="http://schemas.openxmlformats.org/officeDocument/2006/relationships/image" Target="../media/image9.jpeg"/><Relationship Id="rId4" Type="http://schemas.openxmlformats.org/officeDocument/2006/relationships/hyperlink" Target="https://twitter.com/_knust_"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8BDD0-F16E-F908-CFB5-0B4F5E1D9F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EC9655-A5A8-5917-32AE-2062BEE0E3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A91F9E-CFEB-F068-873B-3C135EABCD2A}"/>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5" name="Footer Placeholder 4">
            <a:extLst>
              <a:ext uri="{FF2B5EF4-FFF2-40B4-BE49-F238E27FC236}">
                <a16:creationId xmlns:a16="http://schemas.microsoft.com/office/drawing/2014/main" id="{B2B1A083-1D9B-9372-A6F2-CE2CD1F714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4A1D2D-1F15-A798-586B-BF67CB07B60D}"/>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270605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06304-8C46-77FF-D48D-D4C3960FE1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FD1060-27C2-4F67-0ED1-27A27F85CA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897412-AD17-2D08-B781-12C6B531A81B}"/>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5" name="Footer Placeholder 4">
            <a:extLst>
              <a:ext uri="{FF2B5EF4-FFF2-40B4-BE49-F238E27FC236}">
                <a16:creationId xmlns:a16="http://schemas.microsoft.com/office/drawing/2014/main" id="{3235FF16-7725-DC94-1028-97C42EA56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CB11C2-6C74-623F-998C-50DDEE995A7C}"/>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3550712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8871-1621-C74C-3831-A041086A09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D71E3F-45A8-8900-C27E-87882AD71D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B2E897-92B8-FB12-44E6-E2DD4A52C0E4}"/>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5" name="Footer Placeholder 4">
            <a:extLst>
              <a:ext uri="{FF2B5EF4-FFF2-40B4-BE49-F238E27FC236}">
                <a16:creationId xmlns:a16="http://schemas.microsoft.com/office/drawing/2014/main" id="{89B54A7E-4203-D3D5-3AC0-5543F92B1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E0D66-A5E8-AAE9-0DE1-E8A0E5171CA1}"/>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3230561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9628-7391-A199-655E-63517D1F8B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7E1B96-E690-D1BB-51F4-32EF1C5BDF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B78960-75C1-D626-D975-472712790D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63D5FA-76E8-F424-E972-3049245BB3E5}"/>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6" name="Footer Placeholder 5">
            <a:extLst>
              <a:ext uri="{FF2B5EF4-FFF2-40B4-BE49-F238E27FC236}">
                <a16:creationId xmlns:a16="http://schemas.microsoft.com/office/drawing/2014/main" id="{6EA54626-FF8B-080E-A6F2-CF4BC8EB97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DE912C-DFF6-B6DF-5922-A20C5C7F6CD0}"/>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38366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7D95-14B5-6898-CBBB-8959145716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AC8706-47FA-3042-7F88-63F609C3D6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829212-CC74-9B38-3F61-4ADF397556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CA98FC-B9C7-19B6-BC22-57C5046278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C6CB56-094E-A17C-01A6-4B1889463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815BF8-033F-ECFE-6336-FBEC0B75BAE5}"/>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8" name="Footer Placeholder 7">
            <a:extLst>
              <a:ext uri="{FF2B5EF4-FFF2-40B4-BE49-F238E27FC236}">
                <a16:creationId xmlns:a16="http://schemas.microsoft.com/office/drawing/2014/main" id="{82864067-742E-B50D-6235-C5B2A76D09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E9BDD7-3F63-DFFD-A3FC-650CEEFADB3F}"/>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1117332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63000-9061-2718-4997-BB9AE4E0F5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572EA4-22FB-D771-0486-067EFA517156}"/>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4" name="Footer Placeholder 3">
            <a:extLst>
              <a:ext uri="{FF2B5EF4-FFF2-40B4-BE49-F238E27FC236}">
                <a16:creationId xmlns:a16="http://schemas.microsoft.com/office/drawing/2014/main" id="{8AB5C1A8-9FCC-BB22-28C7-7D0F0ED66E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4AF051-EEAA-0F3B-996B-7523AC5D1D6D}"/>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103618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DCE1F5-1FF4-9A85-399C-A6E011D831B2}"/>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3" name="Footer Placeholder 2">
            <a:extLst>
              <a:ext uri="{FF2B5EF4-FFF2-40B4-BE49-F238E27FC236}">
                <a16:creationId xmlns:a16="http://schemas.microsoft.com/office/drawing/2014/main" id="{9AFE20B4-CA9A-0836-2B0A-D128D9F8AA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72401E-8E03-90FB-7BAA-5CE839E62CF8}"/>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3439803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348E8-BF2E-B73D-AD9F-F7CD9D6665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7EBB59-FA47-76E5-1240-E9D2455086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D504CF-8C56-A1BE-62C5-6157A1440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02A4BC-34ED-E534-1A13-4E46BD69877E}"/>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6" name="Footer Placeholder 5">
            <a:extLst>
              <a:ext uri="{FF2B5EF4-FFF2-40B4-BE49-F238E27FC236}">
                <a16:creationId xmlns:a16="http://schemas.microsoft.com/office/drawing/2014/main" id="{E93DFA3D-F685-5667-8684-0DBAD67E8B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5C695-BC5B-2D16-13D7-7320E720A63D}"/>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257176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EA96-8A4A-1861-42AC-681095C320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11A96E-0C74-5C97-EDC2-F9102D327D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DC984A-7A81-A3FF-AA44-139F3DE401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502882-B5F0-2034-AAD0-5DB766E65C72}"/>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6" name="Footer Placeholder 5">
            <a:extLst>
              <a:ext uri="{FF2B5EF4-FFF2-40B4-BE49-F238E27FC236}">
                <a16:creationId xmlns:a16="http://schemas.microsoft.com/office/drawing/2014/main" id="{0B2DF4F1-BCE7-5D61-1740-07167970D4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0C93EB-09D8-6856-306E-8E53360386FA}"/>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1558610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48DE7-EEB7-E233-C47D-9D495FADD1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9035D0-4806-D2C1-68FA-C661CE9C6C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04A9F7-53DD-34B3-B54B-78D3ECA95B97}"/>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5" name="Footer Placeholder 4">
            <a:extLst>
              <a:ext uri="{FF2B5EF4-FFF2-40B4-BE49-F238E27FC236}">
                <a16:creationId xmlns:a16="http://schemas.microsoft.com/office/drawing/2014/main" id="{8EB897C5-7848-D408-91FA-1C7C963A36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C51C62-A42C-F13C-9C4E-36172D505F89}"/>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1918113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3D2B2B-A4F4-604A-D22D-6093E371D0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1A75F6-75C3-FFA9-E141-D6BC114432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325969-D83F-FC92-006A-5A70774CC578}"/>
              </a:ext>
            </a:extLst>
          </p:cNvPr>
          <p:cNvSpPr>
            <a:spLocks noGrp="1"/>
          </p:cNvSpPr>
          <p:nvPr>
            <p:ph type="dt" sz="half" idx="10"/>
          </p:nvPr>
        </p:nvSpPr>
        <p:spPr/>
        <p:txBody>
          <a:bodyPr/>
          <a:lstStyle/>
          <a:p>
            <a:fld id="{954E64FD-846D-49B0-BF77-C9F7FB71E2AB}" type="datetimeFigureOut">
              <a:rPr lang="en-US" smtClean="0"/>
              <a:t>5/5/2026</a:t>
            </a:fld>
            <a:endParaRPr lang="en-US"/>
          </a:p>
        </p:txBody>
      </p:sp>
      <p:sp>
        <p:nvSpPr>
          <p:cNvPr id="5" name="Footer Placeholder 4">
            <a:extLst>
              <a:ext uri="{FF2B5EF4-FFF2-40B4-BE49-F238E27FC236}">
                <a16:creationId xmlns:a16="http://schemas.microsoft.com/office/drawing/2014/main" id="{6D8F4729-3192-1004-B5F6-D2408DA59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64936D-1D4B-1BA3-0588-4A6D8E90DB8D}"/>
              </a:ext>
            </a:extLst>
          </p:cNvPr>
          <p:cNvSpPr>
            <a:spLocks noGrp="1"/>
          </p:cNvSpPr>
          <p:nvPr>
            <p:ph type="sldNum" sz="quarter" idx="12"/>
          </p:nvPr>
        </p:nvSpPr>
        <p:spPr/>
        <p:txBody>
          <a:bodyPr/>
          <a:lstStyle/>
          <a:p>
            <a:fld id="{CB48F9B9-910C-43C2-A897-4A3B27911428}" type="slidenum">
              <a:rPr lang="en-US" smtClean="0"/>
              <a:t>‹#›</a:t>
            </a:fld>
            <a:endParaRPr lang="en-US"/>
          </a:p>
        </p:txBody>
      </p:sp>
    </p:spTree>
    <p:extLst>
      <p:ext uri="{BB962C8B-B14F-4D97-AF65-F5344CB8AC3E}">
        <p14:creationId xmlns:p14="http://schemas.microsoft.com/office/powerpoint/2010/main" val="749590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4F075A-9D75-2B48-9A54-E569C7FF800C}" type="datetime1">
              <a:rPr lang="en-US" smtClean="0"/>
              <a:t>5/5/2026</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extBox 8"/>
            <p:cNvSpPr txBox="1"/>
            <p:nvPr/>
          </p:nvSpPr>
          <p:spPr>
            <a:xfrm>
              <a:off x="6413360" y="241270"/>
              <a:ext cx="2519624"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914400" y="1096019"/>
            <a:ext cx="10363200" cy="2541745"/>
          </a:xfrm>
          <a:prstGeom prst="rect">
            <a:avLst/>
          </a:prstGeom>
        </p:spPr>
        <p:txBody>
          <a:bodyPr>
            <a:normAutofit/>
          </a:bodyPr>
          <a:lstStyle>
            <a:lvl1pPr>
              <a:defRPr>
                <a:latin typeface="Garamond" panose="02020404030301010803" pitchFamily="18" charset="0"/>
              </a:defRPr>
            </a:lvl1pPr>
          </a:lstStyle>
          <a:p>
            <a:pPr algn="l"/>
            <a:r>
              <a:rPr lang="en-US">
                <a:latin typeface="Helvetica"/>
                <a:cs typeface="Helvetica"/>
              </a:rPr>
              <a:t>Click to edit Master title style</a:t>
            </a:r>
            <a:endParaRPr lang="en-US" dirty="0">
              <a:latin typeface="Helvetica"/>
              <a:cs typeface="Helvetica"/>
            </a:endParaRPr>
          </a:p>
        </p:txBody>
      </p:sp>
      <p:sp>
        <p:nvSpPr>
          <p:cNvPr id="12" name="Subtitle 2"/>
          <p:cNvSpPr>
            <a:spLocks noGrp="1"/>
          </p:cNvSpPr>
          <p:nvPr>
            <p:ph type="subTitle" idx="1"/>
          </p:nvPr>
        </p:nvSpPr>
        <p:spPr>
          <a:xfrm>
            <a:off x="914400" y="4666761"/>
            <a:ext cx="103632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r>
              <a:rPr lang="en-US" b="1">
                <a:solidFill>
                  <a:schemeClr val="tx1"/>
                </a:solidFill>
                <a:latin typeface="Helvetica"/>
                <a:cs typeface="Helvetica"/>
              </a:rPr>
              <a:t>Click to edit Master subtitle style</a:t>
            </a:r>
            <a:endParaRPr lang="en-US" b="1" dirty="0">
              <a:solidFill>
                <a:schemeClr val="tx1"/>
              </a:solidFill>
              <a:latin typeface="Helvetica"/>
              <a:cs typeface="Helvetica"/>
            </a:endParaRPr>
          </a:p>
        </p:txBody>
      </p:sp>
    </p:spTree>
    <p:extLst>
      <p:ext uri="{BB962C8B-B14F-4D97-AF65-F5344CB8AC3E}">
        <p14:creationId xmlns:p14="http://schemas.microsoft.com/office/powerpoint/2010/main" val="4117402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3C9E489-CF82-AC41-8AC7-E64A8729DB92}"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p:nvGrpSpPr>
        <p:grpSpPr>
          <a:xfrm>
            <a:off x="0" y="6271235"/>
            <a:ext cx="12191997"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609601" y="195127"/>
            <a:ext cx="11198086" cy="592690"/>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p:nvCxnSpPr>
        <p:spPr>
          <a:xfrm>
            <a:off x="1" y="924340"/>
            <a:ext cx="1220716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609600" y="1002088"/>
            <a:ext cx="11198085" cy="51758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708" y="6278605"/>
            <a:ext cx="855784" cy="365125"/>
          </a:xfrm>
        </p:spPr>
        <p:txBody>
          <a:bodyPr/>
          <a:lstStyle>
            <a:lvl1pPr>
              <a:defRPr sz="240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534498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F845A64-44E2-AA44-BF0A-0A6EBB813A36}"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361724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A303D-75E3-FC4C-ABF8-DBE5552AD690}"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830722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4B1834-423E-B246-A5D3-FE019AB1BCCC}" type="datetime1">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381879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2587CF7D-DEA7-4646-BF5A-8F86F47F55E0}" type="datetime1">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762819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EB0E7-5ABD-4248-BC89-2EF7B115D306}" type="datetime1">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645009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8125B47-57AB-1847-9A5E-9D0228DA2CF8}"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7420915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010DC83-A974-8647-80C3-F692755FAEC3}"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981710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84B6AA-36AB-384C-89F5-D0AA3660A4E6}"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8803436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3A0C56-AED7-E349-A367-C56B569B58DD}"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83051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226D5CB-651E-4FFC-B5E0-5ECAC39E35F2}" type="datetime1">
              <a:rPr lang="en-US" smtClean="0"/>
              <a:t>5/5/2026</a:t>
            </a:fld>
            <a:endParaRPr lang="en-US"/>
          </a:p>
        </p:txBody>
      </p:sp>
      <p:sp>
        <p:nvSpPr>
          <p:cNvPr id="6" name="Slide Number Placeholder 5"/>
          <p:cNvSpPr>
            <a:spLocks noGrp="1"/>
          </p:cNvSpPr>
          <p:nvPr>
            <p:ph type="sldNum" sz="quarter" idx="12"/>
          </p:nvPr>
        </p:nvSpPr>
        <p:spPr/>
        <p:txBody>
          <a:bodyPr/>
          <a:lstStyle>
            <a:lvl1pPr>
              <a:defRPr sz="788">
                <a:latin typeface="Arial" panose="020B0604020202020204" pitchFamily="34" charset="0"/>
                <a:cs typeface="Arial" panose="020B0604020202020204" pitchFamily="34" charset="0"/>
              </a:defRPr>
            </a:lvl1pPr>
          </a:lstStyle>
          <a:p>
            <a:fld id="{D0F4EC6C-B2D9-447D-B7D7-F8AF27CB0183}" type="slidenum">
              <a:rPr lang="en-US" smtClean="0"/>
              <a:t>‹#›</a:t>
            </a:fld>
            <a:endParaRPr lang="en-US"/>
          </a:p>
        </p:txBody>
      </p:sp>
      <p:grpSp>
        <p:nvGrpSpPr>
          <p:cNvPr id="7" name="Group 6"/>
          <p:cNvGrpSpPr/>
          <p:nvPr/>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sp>
          <p:nvSpPr>
            <p:cNvPr id="9" name="TextBox 8"/>
            <p:cNvSpPr txBox="1"/>
            <p:nvPr/>
          </p:nvSpPr>
          <p:spPr>
            <a:xfrm>
              <a:off x="5487656" y="241270"/>
              <a:ext cx="3445328" cy="334835"/>
            </a:xfrm>
            <a:prstGeom prst="rect">
              <a:avLst/>
            </a:prstGeom>
            <a:noFill/>
          </p:spPr>
          <p:txBody>
            <a:bodyPr wrap="square" rtlCol="0">
              <a:spAutoFit/>
            </a:bodyPr>
            <a:lstStyle/>
            <a:p>
              <a:r>
                <a:rPr lang="en-US" sz="788">
                  <a:solidFill>
                    <a:schemeClr val="bg1"/>
                  </a:solidFill>
                  <a:latin typeface="Helvetica"/>
                  <a:cs typeface="Helvetica"/>
                </a:rPr>
                <a:t>Kwame Nkrumah University of </a:t>
              </a:r>
            </a:p>
            <a:p>
              <a:r>
                <a:rPr lang="en-US" sz="788">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914400" y="2167743"/>
            <a:ext cx="10363200" cy="1470025"/>
          </a:xfrm>
          <a:prstGeom prst="rect">
            <a:avLst/>
          </a:prstGeom>
        </p:spPr>
        <p:txBody>
          <a:bodyPr>
            <a:normAutofit/>
          </a:bodyPr>
          <a:lstStyle/>
          <a:p>
            <a:pPr algn="l"/>
            <a:r>
              <a:rPr lang="en-US">
                <a:latin typeface="Helvetica"/>
                <a:cs typeface="Helvetica"/>
              </a:rPr>
              <a:t>Click to edit Master title style</a:t>
            </a:r>
            <a:endParaRPr lang="en-US" dirty="0">
              <a:latin typeface="Helvetica"/>
              <a:cs typeface="Helvetica"/>
            </a:endParaRPr>
          </a:p>
        </p:txBody>
      </p:sp>
      <p:sp>
        <p:nvSpPr>
          <p:cNvPr id="12" name="Subtitle 2"/>
          <p:cNvSpPr>
            <a:spLocks noGrp="1"/>
          </p:cNvSpPr>
          <p:nvPr>
            <p:ph type="subTitle" idx="1"/>
          </p:nvPr>
        </p:nvSpPr>
        <p:spPr>
          <a:xfrm>
            <a:off x="971341" y="4010849"/>
            <a:ext cx="8534400" cy="1599330"/>
          </a:xfrm>
        </p:spPr>
        <p:txBody>
          <a:bodyPr>
            <a:normAutofit/>
          </a:bodyPr>
          <a:lstStyle>
            <a:lvl1pPr marL="0" indent="0">
              <a:buNone/>
              <a:defRPr>
                <a:solidFill>
                  <a:schemeClr val="bg1">
                    <a:lumMod val="50000"/>
                  </a:schemeClr>
                </a:solidFill>
              </a:defRPr>
            </a:lvl1pPr>
          </a:lstStyle>
          <a:p>
            <a:pPr algn="l"/>
            <a:r>
              <a:rPr lang="en-US" b="1">
                <a:solidFill>
                  <a:schemeClr val="tx1"/>
                </a:solidFill>
                <a:latin typeface="Helvetica"/>
                <a:cs typeface="Helvetica"/>
              </a:rPr>
              <a:t>Click to edit Master subtitle style</a:t>
            </a:r>
            <a:endParaRPr lang="en-US" sz="1350" b="1" dirty="0">
              <a:latin typeface="Helvetica"/>
              <a:cs typeface="Helvetica"/>
            </a:endParaRPr>
          </a:p>
        </p:txBody>
      </p:sp>
    </p:spTree>
    <p:extLst>
      <p:ext uri="{BB962C8B-B14F-4D97-AF65-F5344CB8AC3E}">
        <p14:creationId xmlns:p14="http://schemas.microsoft.com/office/powerpoint/2010/main" val="27168969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4E8CFD6-C668-487D-97BF-35FAFDE8729D}"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1013">
                <a:solidFill>
                  <a:schemeClr val="tx1"/>
                </a:solidFill>
                <a:latin typeface="Arial" panose="020B0604020202020204" pitchFamily="34" charset="0"/>
                <a:cs typeface="Arial" panose="020B0604020202020204" pitchFamily="34" charset="0"/>
              </a:defRPr>
            </a:lvl1pPr>
          </a:lstStyle>
          <a:p>
            <a:fld id="{D0F4EC6C-B2D9-447D-B7D7-F8AF27CB0183}" type="slidenum">
              <a:rPr lang="en-US" smtClean="0"/>
              <a:t>‹#›</a:t>
            </a:fld>
            <a:endParaRPr lang="en-US"/>
          </a:p>
        </p:txBody>
      </p:sp>
      <p:grpSp>
        <p:nvGrpSpPr>
          <p:cNvPr id="7" name="Group 6"/>
          <p:cNvGrpSpPr/>
          <p:nvPr/>
        </p:nvGrpSpPr>
        <p:grpSpPr>
          <a:xfrm>
            <a:off x="0" y="6172203"/>
            <a:ext cx="12192000" cy="685801"/>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pic>
          <p:nvPicPr>
            <p:cNvPr id="10" name="Picture 9" descr="KNUST_logo Vector.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7"/>
              <a:ext cx="1548864" cy="269412"/>
            </a:xfrm>
            <a:prstGeom prst="rect">
              <a:avLst/>
            </a:prstGeom>
            <a:noFill/>
          </p:spPr>
          <p:txBody>
            <a:bodyPr wrap="square" rtlCol="0">
              <a:spAutoFit/>
            </a:bodyPr>
            <a:lstStyle/>
            <a:p>
              <a:r>
                <a:rPr lang="en-US" sz="788" err="1">
                  <a:solidFill>
                    <a:schemeClr val="bg1"/>
                  </a:solidFill>
                  <a:latin typeface="Helvetica"/>
                  <a:cs typeface="Helvetica"/>
                </a:rPr>
                <a:t>www.knust.edu.gh</a:t>
              </a:r>
              <a:endParaRPr lang="en-US" sz="788">
                <a:solidFill>
                  <a:schemeClr val="bg1"/>
                </a:solidFill>
                <a:latin typeface="Helvetica"/>
                <a:cs typeface="Helvetica"/>
              </a:endParaRPr>
            </a:p>
          </p:txBody>
        </p:sp>
        <p:pic>
          <p:nvPicPr>
            <p:cNvPr id="12" name="Picture 11">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a:solidFill>
                  <a:srgbClr val="008000"/>
                </a:solidFill>
                <a:latin typeface="Helvetica"/>
                <a:cs typeface="Helvetica"/>
              </a:rPr>
              <a:t>Click to edit Master title style</a:t>
            </a:r>
            <a:endParaRPr lang="en-US" dirty="0">
              <a:solidFill>
                <a:srgbClr val="008000"/>
              </a:solidFill>
              <a:latin typeface="Helvetica"/>
              <a:cs typeface="Helvetica"/>
            </a:endParaRPr>
          </a:p>
        </p:txBody>
      </p:sp>
    </p:spTree>
    <p:extLst>
      <p:ext uri="{BB962C8B-B14F-4D97-AF65-F5344CB8AC3E}">
        <p14:creationId xmlns:p14="http://schemas.microsoft.com/office/powerpoint/2010/main" val="859147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a:prstGeom prst="rect">
            <a:avLst/>
          </a:prstGeo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4FE89D-63BD-402B-B5D9-1FF8031EBA6D}"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2809492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27C1FF-BDCE-41DC-86B9-EF6E177C8460}"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sz="900">
                <a:solidFill>
                  <a:schemeClr val="tx1"/>
                </a:solidFill>
                <a:latin typeface="Arial" panose="020B0604020202020204" pitchFamily="34" charset="0"/>
                <a:cs typeface="Arial" panose="020B0604020202020204" pitchFamily="34" charset="0"/>
              </a:defRPr>
            </a:lvl1pPr>
          </a:lstStyle>
          <a:p>
            <a:fld id="{D0F4EC6C-B2D9-447D-B7D7-F8AF27CB0183}" type="slidenum">
              <a:rPr lang="en-US" smtClean="0"/>
              <a:t>‹#›</a:t>
            </a:fld>
            <a:endParaRPr lang="en-US"/>
          </a:p>
        </p:txBody>
      </p:sp>
      <p:grpSp>
        <p:nvGrpSpPr>
          <p:cNvPr id="8" name="Group 7"/>
          <p:cNvGrpSpPr/>
          <p:nvPr/>
        </p:nvGrpSpPr>
        <p:grpSpPr>
          <a:xfrm>
            <a:off x="0" y="5992947"/>
            <a:ext cx="12192000" cy="865057"/>
            <a:chOff x="0" y="5992943"/>
            <a:chExt cx="9144000" cy="865057"/>
          </a:xfrm>
        </p:grpSpPr>
        <p:sp>
          <p:nvSpPr>
            <p:cNvPr id="9" name="Rectangle 8"/>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sp>
          <p:nvSpPr>
            <p:cNvPr id="10" name="Rectangle 9"/>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pic>
          <p:nvPicPr>
            <p:cNvPr id="11" name="Picture 10" descr="KNUST_logo Vector.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2" name="TextBox 11">
              <a:hlinkClick r:id="rId3"/>
            </p:cNvPr>
            <p:cNvSpPr txBox="1"/>
            <p:nvPr/>
          </p:nvSpPr>
          <p:spPr>
            <a:xfrm>
              <a:off x="7137936" y="6036146"/>
              <a:ext cx="1548864" cy="196208"/>
            </a:xfrm>
            <a:prstGeom prst="rect">
              <a:avLst/>
            </a:prstGeom>
            <a:noFill/>
          </p:spPr>
          <p:txBody>
            <a:bodyPr wrap="square" rtlCol="0">
              <a:spAutoFit/>
            </a:bodyPr>
            <a:lstStyle/>
            <a:p>
              <a:r>
                <a:rPr lang="en-US" sz="675" err="1">
                  <a:solidFill>
                    <a:schemeClr val="bg1"/>
                  </a:solidFill>
                  <a:latin typeface="Helvetica"/>
                  <a:cs typeface="Helvetica"/>
                </a:rPr>
                <a:t>www.knust.edu.gh</a:t>
              </a:r>
              <a:endParaRPr lang="en-US" sz="675">
                <a:solidFill>
                  <a:schemeClr val="bg1"/>
                </a:solidFill>
                <a:latin typeface="Helvetica"/>
                <a:cs typeface="Helvetica"/>
              </a:endParaRPr>
            </a:p>
          </p:txBody>
        </p:sp>
        <p:pic>
          <p:nvPicPr>
            <p:cNvPr id="13" name="Picture 12">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4" name="Picture 13">
              <a:hlinkClick r:id="rId6"/>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Tree>
    <p:extLst>
      <p:ext uri="{BB962C8B-B14F-4D97-AF65-F5344CB8AC3E}">
        <p14:creationId xmlns:p14="http://schemas.microsoft.com/office/powerpoint/2010/main" val="3056045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2EE51FA-B1D7-4D02-8F30-91576EBFF449}" type="datetime1">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1957342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4DE1A797-8035-43DA-BF89-B6A4E09ECB50}" type="datetime1">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18592825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754DB2-F219-4342-ACD0-69AEF17E911D}" type="datetime1">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11334134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a:prstGeom prst="rect">
            <a:avLst/>
          </a:prstGeo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fld id="{F35AD115-BF21-41EE-BAE9-7BF284D55308}"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40498607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fld id="{EE4EC81C-A469-4952-B271-A883CACA51D6}"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8512502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25C194-1A1C-4957-85CC-E4DF39145D45}"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31844253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63A8FE-0C9C-4221-AA6E-C89D86F32526}"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22533292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4F075A-9D75-2B48-9A54-E569C7FF800C}" type="datetime1">
              <a:rPr lang="en-US" smtClean="0"/>
              <a:t>5/5/2026</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extBox 8"/>
            <p:cNvSpPr txBox="1"/>
            <p:nvPr/>
          </p:nvSpPr>
          <p:spPr>
            <a:xfrm>
              <a:off x="6413360" y="241270"/>
              <a:ext cx="2519624"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914400" y="1096019"/>
            <a:ext cx="10363200" cy="2541745"/>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914400" y="4666761"/>
            <a:ext cx="103632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32073445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3C9E489-CF82-AC41-8AC7-E64A8729DB92}"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0" y="6271235"/>
            <a:ext cx="12191997"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609601" y="195127"/>
            <a:ext cx="11198086" cy="592690"/>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1" y="924340"/>
            <a:ext cx="1220716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609600" y="1002088"/>
            <a:ext cx="11198085" cy="51758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708" y="6278605"/>
            <a:ext cx="855784" cy="365125"/>
          </a:xfrm>
        </p:spPr>
        <p:txBody>
          <a:bodyPr/>
          <a:lstStyle>
            <a:lvl1pPr>
              <a:defRPr sz="240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6637810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845A64-44E2-AA44-BF0A-0A6EBB813A36}"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0096258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A303D-75E3-FC4C-ABF8-DBE5552AD690}"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9681329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4B1834-423E-B246-A5D3-FE019AB1BCCC}" type="datetime1">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8389498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2587CF7D-DEA7-4646-BF5A-8F86F47F55E0}" type="datetime1">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840586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EB0E7-5ABD-4248-BC89-2EF7B115D306}" type="datetime1">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6115477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125B47-57AB-1847-9A5E-9D0228DA2CF8}"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424508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10DC83-A974-8647-80C3-F692755FAEC3}"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3646421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84B6AA-36AB-384C-89F5-D0AA3660A4E6}"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8368981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3A0C56-AED7-E349-A367-C56B569B58DD}"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7775402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226D5CB-651E-4FFC-B5E0-5ECAC39E35F2}" type="datetime1">
              <a:rPr lang="en-US" smtClean="0"/>
              <a:t>5/5/2026</a:t>
            </a:fld>
            <a:endParaRPr lang="en-US"/>
          </a:p>
        </p:txBody>
      </p:sp>
      <p:sp>
        <p:nvSpPr>
          <p:cNvPr id="6" name="Slide Number Placeholder 5"/>
          <p:cNvSpPr>
            <a:spLocks noGrp="1"/>
          </p:cNvSpPr>
          <p:nvPr>
            <p:ph type="sldNum" sz="quarter" idx="12"/>
          </p:nvPr>
        </p:nvSpPr>
        <p:spPr/>
        <p:txBody>
          <a:bodyPr/>
          <a:lstStyle>
            <a:lvl1pPr>
              <a:defRPr sz="788">
                <a:latin typeface="Arial" panose="020B0604020202020204" pitchFamily="34" charset="0"/>
                <a:cs typeface="Arial" panose="020B0604020202020204" pitchFamily="34" charset="0"/>
              </a:defRPr>
            </a:lvl1pPr>
          </a:lstStyle>
          <a:p>
            <a:fld id="{D0F4EC6C-B2D9-447D-B7D7-F8AF27CB0183}" type="slidenum">
              <a:rPr lang="en-US" smtClean="0"/>
              <a:t>‹#›</a:t>
            </a:fld>
            <a:endParaRPr lang="en-US"/>
          </a:p>
        </p:txBody>
      </p:sp>
      <p:grpSp>
        <p:nvGrpSpPr>
          <p:cNvPr id="7" name="Group 6"/>
          <p:cNvGrpSpPr/>
          <p:nvPr/>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sp>
          <p:nvSpPr>
            <p:cNvPr id="9" name="TextBox 8"/>
            <p:cNvSpPr txBox="1"/>
            <p:nvPr/>
          </p:nvSpPr>
          <p:spPr>
            <a:xfrm>
              <a:off x="5487656" y="241270"/>
              <a:ext cx="3445328" cy="334835"/>
            </a:xfrm>
            <a:prstGeom prst="rect">
              <a:avLst/>
            </a:prstGeom>
            <a:noFill/>
          </p:spPr>
          <p:txBody>
            <a:bodyPr wrap="square" rtlCol="0">
              <a:spAutoFit/>
            </a:bodyPr>
            <a:lstStyle/>
            <a:p>
              <a:r>
                <a:rPr lang="en-US" sz="788">
                  <a:solidFill>
                    <a:schemeClr val="bg1"/>
                  </a:solidFill>
                  <a:latin typeface="Helvetica"/>
                  <a:cs typeface="Helvetica"/>
                </a:rPr>
                <a:t>Kwame Nkrumah University of </a:t>
              </a:r>
            </a:p>
            <a:p>
              <a:r>
                <a:rPr lang="en-US" sz="788">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914400" y="2167743"/>
            <a:ext cx="10363200" cy="1470025"/>
          </a:xfrm>
          <a:prstGeom prst="rect">
            <a:avLst/>
          </a:prstGeom>
        </p:spPr>
        <p:txBody>
          <a:bodyPr>
            <a:normAutofit/>
          </a:bodyPr>
          <a:lstStyle/>
          <a:p>
            <a:pPr algn="l"/>
            <a:r>
              <a:rPr lang="en-US">
                <a:latin typeface="Helvetica"/>
                <a:cs typeface="Helvetica"/>
              </a:rPr>
              <a:t>Click to edit Master title style</a:t>
            </a:r>
            <a:endParaRPr lang="en-US" dirty="0">
              <a:latin typeface="Helvetica"/>
              <a:cs typeface="Helvetica"/>
            </a:endParaRPr>
          </a:p>
        </p:txBody>
      </p:sp>
      <p:sp>
        <p:nvSpPr>
          <p:cNvPr id="12" name="Subtitle 2"/>
          <p:cNvSpPr>
            <a:spLocks noGrp="1"/>
          </p:cNvSpPr>
          <p:nvPr>
            <p:ph type="subTitle" idx="1"/>
          </p:nvPr>
        </p:nvSpPr>
        <p:spPr>
          <a:xfrm>
            <a:off x="971341" y="4010849"/>
            <a:ext cx="8534400" cy="1599330"/>
          </a:xfrm>
        </p:spPr>
        <p:txBody>
          <a:bodyPr>
            <a:normAutofit/>
          </a:bodyPr>
          <a:lstStyle>
            <a:lvl1pPr marL="0" indent="0">
              <a:buNone/>
              <a:defRPr>
                <a:solidFill>
                  <a:schemeClr val="bg1">
                    <a:lumMod val="50000"/>
                  </a:schemeClr>
                </a:solidFill>
              </a:defRPr>
            </a:lvl1pPr>
          </a:lstStyle>
          <a:p>
            <a:pPr algn="l"/>
            <a:r>
              <a:rPr lang="en-US" b="1">
                <a:solidFill>
                  <a:schemeClr val="tx1"/>
                </a:solidFill>
                <a:latin typeface="Helvetica"/>
                <a:cs typeface="Helvetica"/>
              </a:rPr>
              <a:t>Click to edit Master subtitle style</a:t>
            </a:r>
            <a:endParaRPr lang="en-US" sz="1350" b="1" dirty="0">
              <a:latin typeface="Helvetica"/>
              <a:cs typeface="Helvetica"/>
            </a:endParaRPr>
          </a:p>
        </p:txBody>
      </p:sp>
    </p:spTree>
    <p:extLst>
      <p:ext uri="{BB962C8B-B14F-4D97-AF65-F5344CB8AC3E}">
        <p14:creationId xmlns:p14="http://schemas.microsoft.com/office/powerpoint/2010/main" val="10009145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4E8CFD6-C668-487D-97BF-35FAFDE8729D}"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1013">
                <a:solidFill>
                  <a:schemeClr val="tx1"/>
                </a:solidFill>
                <a:latin typeface="Arial" panose="020B0604020202020204" pitchFamily="34" charset="0"/>
                <a:cs typeface="Arial" panose="020B0604020202020204" pitchFamily="34" charset="0"/>
              </a:defRPr>
            </a:lvl1pPr>
          </a:lstStyle>
          <a:p>
            <a:fld id="{D0F4EC6C-B2D9-447D-B7D7-F8AF27CB0183}" type="slidenum">
              <a:rPr lang="en-US" smtClean="0"/>
              <a:t>‹#›</a:t>
            </a:fld>
            <a:endParaRPr lang="en-US"/>
          </a:p>
        </p:txBody>
      </p:sp>
      <p:grpSp>
        <p:nvGrpSpPr>
          <p:cNvPr id="7" name="Group 6"/>
          <p:cNvGrpSpPr/>
          <p:nvPr/>
        </p:nvGrpSpPr>
        <p:grpSpPr>
          <a:xfrm>
            <a:off x="0" y="6172203"/>
            <a:ext cx="12192000" cy="685801"/>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pic>
          <p:nvPicPr>
            <p:cNvPr id="10" name="Picture 9" descr="KNUST_logo Vector.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7"/>
              <a:ext cx="1548864" cy="269412"/>
            </a:xfrm>
            <a:prstGeom prst="rect">
              <a:avLst/>
            </a:prstGeom>
            <a:noFill/>
          </p:spPr>
          <p:txBody>
            <a:bodyPr wrap="square" rtlCol="0">
              <a:spAutoFit/>
            </a:bodyPr>
            <a:lstStyle/>
            <a:p>
              <a:r>
                <a:rPr lang="en-US" sz="788" err="1">
                  <a:solidFill>
                    <a:schemeClr val="bg1"/>
                  </a:solidFill>
                  <a:latin typeface="Helvetica"/>
                  <a:cs typeface="Helvetica"/>
                </a:rPr>
                <a:t>www.knust.edu.gh</a:t>
              </a:r>
              <a:endParaRPr lang="en-US" sz="788">
                <a:solidFill>
                  <a:schemeClr val="bg1"/>
                </a:solidFill>
                <a:latin typeface="Helvetica"/>
                <a:cs typeface="Helvetica"/>
              </a:endParaRPr>
            </a:p>
          </p:txBody>
        </p:sp>
        <p:pic>
          <p:nvPicPr>
            <p:cNvPr id="12" name="Picture 11">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a:solidFill>
                  <a:srgbClr val="008000"/>
                </a:solidFill>
                <a:latin typeface="Helvetica"/>
                <a:cs typeface="Helvetica"/>
              </a:rPr>
              <a:t>Click to edit Master title style</a:t>
            </a:r>
            <a:endParaRPr lang="en-US" dirty="0">
              <a:solidFill>
                <a:srgbClr val="008000"/>
              </a:solidFill>
              <a:latin typeface="Helvetica"/>
              <a:cs typeface="Helvetica"/>
            </a:endParaRPr>
          </a:p>
        </p:txBody>
      </p:sp>
    </p:spTree>
    <p:extLst>
      <p:ext uri="{BB962C8B-B14F-4D97-AF65-F5344CB8AC3E}">
        <p14:creationId xmlns:p14="http://schemas.microsoft.com/office/powerpoint/2010/main" val="13077438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a:prstGeom prst="rect">
            <a:avLst/>
          </a:prstGeo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4FE89D-63BD-402B-B5D9-1FF8031EBA6D}"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505790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27C1FF-BDCE-41DC-86B9-EF6E177C8460}"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sz="900">
                <a:solidFill>
                  <a:schemeClr val="tx1"/>
                </a:solidFill>
                <a:latin typeface="Arial" panose="020B0604020202020204" pitchFamily="34" charset="0"/>
                <a:cs typeface="Arial" panose="020B0604020202020204" pitchFamily="34" charset="0"/>
              </a:defRPr>
            </a:lvl1pPr>
          </a:lstStyle>
          <a:p>
            <a:fld id="{D0F4EC6C-B2D9-447D-B7D7-F8AF27CB0183}" type="slidenum">
              <a:rPr lang="en-US" smtClean="0"/>
              <a:t>‹#›</a:t>
            </a:fld>
            <a:endParaRPr lang="en-US"/>
          </a:p>
        </p:txBody>
      </p:sp>
      <p:grpSp>
        <p:nvGrpSpPr>
          <p:cNvPr id="8" name="Group 7"/>
          <p:cNvGrpSpPr/>
          <p:nvPr/>
        </p:nvGrpSpPr>
        <p:grpSpPr>
          <a:xfrm>
            <a:off x="0" y="5992947"/>
            <a:ext cx="12192000" cy="865057"/>
            <a:chOff x="0" y="5992943"/>
            <a:chExt cx="9144000" cy="865057"/>
          </a:xfrm>
        </p:grpSpPr>
        <p:sp>
          <p:nvSpPr>
            <p:cNvPr id="9" name="Rectangle 8"/>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sp>
          <p:nvSpPr>
            <p:cNvPr id="10" name="Rectangle 9"/>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13"/>
            </a:p>
          </p:txBody>
        </p:sp>
        <p:pic>
          <p:nvPicPr>
            <p:cNvPr id="11" name="Picture 10" descr="KNUST_logo Vector.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2" name="TextBox 11">
              <a:hlinkClick r:id="rId3"/>
            </p:cNvPr>
            <p:cNvSpPr txBox="1"/>
            <p:nvPr/>
          </p:nvSpPr>
          <p:spPr>
            <a:xfrm>
              <a:off x="7137936" y="6036146"/>
              <a:ext cx="1548864" cy="196208"/>
            </a:xfrm>
            <a:prstGeom prst="rect">
              <a:avLst/>
            </a:prstGeom>
            <a:noFill/>
          </p:spPr>
          <p:txBody>
            <a:bodyPr wrap="square" rtlCol="0">
              <a:spAutoFit/>
            </a:bodyPr>
            <a:lstStyle/>
            <a:p>
              <a:r>
                <a:rPr lang="en-US" sz="675" err="1">
                  <a:solidFill>
                    <a:schemeClr val="bg1"/>
                  </a:solidFill>
                  <a:latin typeface="Helvetica"/>
                  <a:cs typeface="Helvetica"/>
                </a:rPr>
                <a:t>www.knust.edu.gh</a:t>
              </a:r>
              <a:endParaRPr lang="en-US" sz="675">
                <a:solidFill>
                  <a:schemeClr val="bg1"/>
                </a:solidFill>
                <a:latin typeface="Helvetica"/>
                <a:cs typeface="Helvetica"/>
              </a:endParaRPr>
            </a:p>
          </p:txBody>
        </p:sp>
        <p:pic>
          <p:nvPicPr>
            <p:cNvPr id="13" name="Picture 12">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4" name="Picture 13">
              <a:hlinkClick r:id="rId6"/>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Tree>
    <p:extLst>
      <p:ext uri="{BB962C8B-B14F-4D97-AF65-F5344CB8AC3E}">
        <p14:creationId xmlns:p14="http://schemas.microsoft.com/office/powerpoint/2010/main" val="24309210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2EE51FA-B1D7-4D02-8F30-91576EBFF449}" type="datetime1">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16237451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4DE1A797-8035-43DA-BF89-B6A4E09ECB50}" type="datetime1">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168827743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754DB2-F219-4342-ACD0-69AEF17E911D}" type="datetime1">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1014285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a:prstGeom prst="rect">
            <a:avLst/>
          </a:prstGeo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fld id="{F35AD115-BF21-41EE-BAE9-7BF284D55308}"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20507417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p:txBody>
          <a:bodyPr/>
          <a:lstStyle/>
          <a:p>
            <a:fld id="{EE4EC81C-A469-4952-B271-A883CACA51D6}" type="datetime1">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15432571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25C194-1A1C-4957-85CC-E4DF39145D45}"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23022667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63A8FE-0C9C-4221-AA6E-C89D86F32526}" type="datetime1">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4EC6C-B2D9-447D-B7D7-F8AF27CB0183}" type="slidenum">
              <a:rPr lang="en-US" smtClean="0"/>
              <a:t>‹#›</a:t>
            </a:fld>
            <a:endParaRPr lang="en-US"/>
          </a:p>
        </p:txBody>
      </p:sp>
    </p:spTree>
    <p:extLst>
      <p:ext uri="{BB962C8B-B14F-4D97-AF65-F5344CB8AC3E}">
        <p14:creationId xmlns:p14="http://schemas.microsoft.com/office/powerpoint/2010/main" val="30979325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1_Title and Content">
    <p:spTree>
      <p:nvGrpSpPr>
        <p:cNvPr id="1" name=""/>
        <p:cNvGrpSpPr/>
        <p:nvPr/>
      </p:nvGrpSpPr>
      <p:grpSpPr>
        <a:xfrm>
          <a:off x="0" y="0"/>
          <a:ext cx="0" cy="0"/>
          <a:chOff x="0" y="0"/>
          <a:chExt cx="0" cy="0"/>
        </a:xfrm>
      </p:grpSpPr>
      <p:sp>
        <p:nvSpPr>
          <p:cNvPr id="72" name="Title Text"/>
          <p:cNvSpPr txBox="1">
            <a:spLocks noGrp="1"/>
          </p:cNvSpPr>
          <p:nvPr>
            <p:ph type="title"/>
          </p:nvPr>
        </p:nvSpPr>
        <p:spPr>
          <a:xfrm>
            <a:off x="539106" y="658442"/>
            <a:ext cx="10972801" cy="551201"/>
          </a:xfrm>
          <a:prstGeom prst="rect">
            <a:avLst/>
          </a:prstGeom>
        </p:spPr>
        <p:txBody>
          <a:bodyPr/>
          <a:lstStyle>
            <a:lvl1pPr>
              <a:defRPr sz="2600"/>
            </a:lvl1pPr>
          </a:lstStyle>
          <a:p>
            <a:r>
              <a:t>Title Text</a:t>
            </a:r>
          </a:p>
        </p:txBody>
      </p:sp>
      <p:sp>
        <p:nvSpPr>
          <p:cNvPr id="73" name="Body Level One…"/>
          <p:cNvSpPr txBox="1">
            <a:spLocks noGrp="1"/>
          </p:cNvSpPr>
          <p:nvPr>
            <p:ph type="body" idx="1"/>
          </p:nvPr>
        </p:nvSpPr>
        <p:spPr>
          <a:xfrm>
            <a:off x="609600" y="1500000"/>
            <a:ext cx="10972801" cy="4852000"/>
          </a:xfrm>
          <a:prstGeom prst="rect">
            <a:avLst/>
          </a:prstGeom>
        </p:spPr>
        <p:txBody>
          <a:bodyPr/>
          <a:lstStyle>
            <a:lvl1pPr marL="546100" indent="-508000" algn="l" defTabSz="1219200">
              <a:lnSpc>
                <a:spcPct val="100000"/>
              </a:lnSpc>
              <a:spcBef>
                <a:spcPts val="800"/>
              </a:spcBef>
              <a:buSzPts val="6400"/>
              <a:defRPr sz="3200"/>
            </a:lvl1pPr>
            <a:lvl2pPr marL="774700" indent="-508000" algn="l" defTabSz="1219200">
              <a:lnSpc>
                <a:spcPct val="100000"/>
              </a:lnSpc>
              <a:spcBef>
                <a:spcPts val="800"/>
              </a:spcBef>
              <a:buSzPts val="6400"/>
              <a:defRPr sz="3200"/>
            </a:lvl2pPr>
            <a:lvl3pPr marL="1003300" indent="-508000" algn="l" defTabSz="1219200">
              <a:lnSpc>
                <a:spcPct val="100000"/>
              </a:lnSpc>
              <a:spcBef>
                <a:spcPts val="800"/>
              </a:spcBef>
              <a:buSzPts val="6400"/>
              <a:defRPr sz="3200"/>
            </a:lvl3pPr>
            <a:lvl4pPr marL="1231900" indent="-508000" algn="l" defTabSz="1219200">
              <a:lnSpc>
                <a:spcPct val="100000"/>
              </a:lnSpc>
              <a:spcBef>
                <a:spcPts val="800"/>
              </a:spcBef>
              <a:buSzPts val="6400"/>
              <a:defRPr sz="3200"/>
            </a:lvl4pPr>
            <a:lvl5pPr marL="1460500" indent="-508000" algn="l" defTabSz="1219200">
              <a:lnSpc>
                <a:spcPct val="100000"/>
              </a:lnSpc>
              <a:spcBef>
                <a:spcPts val="800"/>
              </a:spcBef>
              <a:buSzPts val="6400"/>
              <a:defRPr sz="3200"/>
            </a:lvl5pPr>
          </a:lstStyle>
          <a:p>
            <a:r>
              <a:t>Body Level One</a:t>
            </a:r>
          </a:p>
          <a:p>
            <a:pPr lvl="1"/>
            <a:r>
              <a:t>Body Level Two</a:t>
            </a:r>
          </a:p>
          <a:p>
            <a:pPr lvl="2"/>
            <a:r>
              <a:t>Body Level Three</a:t>
            </a:r>
          </a:p>
          <a:p>
            <a:pPr lvl="3"/>
            <a:r>
              <a:t>Body Level Four</a:t>
            </a:r>
          </a:p>
          <a:p>
            <a:pPr lvl="4"/>
            <a:r>
              <a:t>Body Level Five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2999131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cSld name="TITLE_1">
    <p:spTree>
      <p:nvGrpSpPr>
        <p:cNvPr id="1" name=""/>
        <p:cNvGrpSpPr/>
        <p:nvPr/>
      </p:nvGrpSpPr>
      <p:grpSpPr>
        <a:xfrm>
          <a:off x="0" y="0"/>
          <a:ext cx="0" cy="0"/>
          <a:chOff x="0" y="0"/>
          <a:chExt cx="0" cy="0"/>
        </a:xfrm>
      </p:grpSpPr>
      <p:sp>
        <p:nvSpPr>
          <p:cNvPr id="13" name="Google Shape;19;p3"/>
          <p:cNvSpPr/>
          <p:nvPr/>
        </p:nvSpPr>
        <p:spPr>
          <a:xfrm rot="5400000">
            <a:off x="6036236" y="-734014"/>
            <a:ext cx="123451" cy="947581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path>
            </a:pathLst>
          </a:custGeom>
          <a:ln w="25400">
            <a:solidFill>
              <a:srgbClr val="FFFFFF"/>
            </a:solidFill>
            <a:miter lim="8000"/>
          </a:ln>
        </p:spPr>
        <p:txBody>
          <a:bodyPr lIns="60960" tIns="60960" rIns="60960" bIns="60960"/>
          <a:lstStyle/>
          <a:p>
            <a:endParaRPr sz="900"/>
          </a:p>
        </p:txBody>
      </p:sp>
      <p:sp>
        <p:nvSpPr>
          <p:cNvPr id="14" name="Google Shape;20;p3"/>
          <p:cNvSpPr/>
          <p:nvPr/>
        </p:nvSpPr>
        <p:spPr>
          <a:xfrm rot="16200000">
            <a:off x="903066" y="1339128"/>
            <a:ext cx="663401" cy="7108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FFFFFF"/>
            </a:solidFill>
            <a:prstDash val="dash"/>
            <a:headEnd type="triangle"/>
            <a:tailEnd type="triangle"/>
          </a:ln>
        </p:spPr>
        <p:txBody>
          <a:bodyPr lIns="60960" tIns="60960" rIns="60960" bIns="60960" anchor="ctr"/>
          <a:lstStyle/>
          <a:p>
            <a:endParaRPr sz="900"/>
          </a:p>
        </p:txBody>
      </p:sp>
      <p:sp>
        <p:nvSpPr>
          <p:cNvPr id="15" name="Google Shape;21;p3"/>
          <p:cNvSpPr/>
          <p:nvPr/>
        </p:nvSpPr>
        <p:spPr>
          <a:xfrm>
            <a:off x="11153734" y="1793733"/>
            <a:ext cx="1" cy="2262400"/>
          </a:xfrm>
          <a:prstGeom prst="line">
            <a:avLst/>
          </a:prstGeom>
          <a:ln w="25400">
            <a:solidFill>
              <a:srgbClr val="FFFFFF"/>
            </a:solidFill>
            <a:headEnd type="triangle"/>
            <a:tailEnd type="triangle"/>
          </a:ln>
        </p:spPr>
        <p:txBody>
          <a:bodyPr lIns="60960" tIns="60960" rIns="60960" bIns="60960"/>
          <a:lstStyle/>
          <a:p>
            <a:endParaRPr sz="900"/>
          </a:p>
        </p:txBody>
      </p:sp>
      <p:sp>
        <p:nvSpPr>
          <p:cNvPr id="16" name="Google Shape;22;p3"/>
          <p:cNvSpPr/>
          <p:nvPr/>
        </p:nvSpPr>
        <p:spPr>
          <a:xfrm rot="16200000">
            <a:off x="6034270" y="-2845349"/>
            <a:ext cx="123451" cy="947581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path>
            </a:pathLst>
          </a:custGeom>
          <a:ln w="25400">
            <a:solidFill>
              <a:srgbClr val="FFFFFF"/>
            </a:solidFill>
            <a:prstDash val="dashDot"/>
            <a:miter lim="8000"/>
          </a:ln>
        </p:spPr>
        <p:txBody>
          <a:bodyPr lIns="60960" tIns="60960" rIns="60960" bIns="60960"/>
          <a:lstStyle/>
          <a:p>
            <a:endParaRPr sz="900"/>
          </a:p>
        </p:txBody>
      </p:sp>
      <p:sp>
        <p:nvSpPr>
          <p:cNvPr id="17" name="Google Shape;23;p3"/>
          <p:cNvSpPr/>
          <p:nvPr/>
        </p:nvSpPr>
        <p:spPr>
          <a:xfrm rot="5400000">
            <a:off x="10285167" y="4710140"/>
            <a:ext cx="857001" cy="9182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FFFFFF"/>
            </a:solidFill>
            <a:prstDash val="dash"/>
            <a:headEnd type="triangle"/>
            <a:tailEnd type="triangle"/>
          </a:ln>
        </p:spPr>
        <p:txBody>
          <a:bodyPr lIns="60960" tIns="60960" rIns="60960" bIns="60960" anchor="ctr"/>
          <a:lstStyle/>
          <a:p>
            <a:endParaRPr sz="900"/>
          </a:p>
        </p:txBody>
      </p:sp>
      <p:sp>
        <p:nvSpPr>
          <p:cNvPr id="18" name="Title Text"/>
          <p:cNvSpPr txBox="1">
            <a:spLocks noGrp="1"/>
          </p:cNvSpPr>
          <p:nvPr>
            <p:ph type="title"/>
          </p:nvPr>
        </p:nvSpPr>
        <p:spPr>
          <a:xfrm>
            <a:off x="1228267" y="2012275"/>
            <a:ext cx="9607600" cy="1546401"/>
          </a:xfrm>
          <a:prstGeom prst="rect">
            <a:avLst/>
          </a:prstGeom>
        </p:spPr>
        <p:txBody>
          <a:bodyPr/>
          <a:lstStyle>
            <a:lvl1pPr>
              <a:defRPr sz="4800" b="1"/>
            </a:lvl1pPr>
          </a:lstStyle>
          <a:p>
            <a:r>
              <a:t>Title Text</a:t>
            </a:r>
          </a:p>
        </p:txBody>
      </p:sp>
      <p:sp>
        <p:nvSpPr>
          <p:cNvPr id="19" name="Body Level One…"/>
          <p:cNvSpPr txBox="1">
            <a:spLocks noGrp="1"/>
          </p:cNvSpPr>
          <p:nvPr>
            <p:ph type="body" sz="quarter" idx="1"/>
          </p:nvPr>
        </p:nvSpPr>
        <p:spPr>
          <a:xfrm>
            <a:off x="6264752" y="4145092"/>
            <a:ext cx="4723201" cy="1046401"/>
          </a:xfrm>
          <a:prstGeom prst="rect">
            <a:avLst/>
          </a:prstGeom>
        </p:spPr>
        <p:txBody>
          <a:bodyPr/>
          <a:lstStyle>
            <a:lvl1pPr marL="508000" indent="-469900" algn="r" defTabSz="1219200">
              <a:lnSpc>
                <a:spcPct val="100000"/>
              </a:lnSpc>
              <a:spcBef>
                <a:spcPts val="0"/>
              </a:spcBef>
              <a:buClrTx/>
              <a:buSzTx/>
              <a:buFontTx/>
              <a:buNone/>
              <a:defRPr sz="2400"/>
            </a:lvl1pPr>
            <a:lvl2pPr marL="508000" indent="-241300" algn="r" defTabSz="1219200">
              <a:lnSpc>
                <a:spcPct val="100000"/>
              </a:lnSpc>
              <a:spcBef>
                <a:spcPts val="0"/>
              </a:spcBef>
              <a:buClrTx/>
              <a:buSzTx/>
              <a:buFontTx/>
              <a:buNone/>
              <a:defRPr sz="2400"/>
            </a:lvl2pPr>
            <a:lvl3pPr marL="508000" indent="-12700" algn="r" defTabSz="1219200">
              <a:lnSpc>
                <a:spcPct val="100000"/>
              </a:lnSpc>
              <a:spcBef>
                <a:spcPts val="0"/>
              </a:spcBef>
              <a:buClrTx/>
              <a:buSzTx/>
              <a:buFontTx/>
              <a:buNone/>
              <a:defRPr sz="2400"/>
            </a:lvl3pPr>
            <a:lvl4pPr marL="508000" indent="215900" algn="r" defTabSz="1219200">
              <a:lnSpc>
                <a:spcPct val="100000"/>
              </a:lnSpc>
              <a:spcBef>
                <a:spcPts val="0"/>
              </a:spcBef>
              <a:buClrTx/>
              <a:buSzTx/>
              <a:buFontTx/>
              <a:buNone/>
              <a:defRPr sz="2400"/>
            </a:lvl4pPr>
            <a:lvl5pPr marL="508000" indent="444500" algn="r" defTabSz="1219200">
              <a:lnSpc>
                <a:spcPct val="100000"/>
              </a:lnSpc>
              <a:spcBef>
                <a:spcPts val="0"/>
              </a:spcBef>
              <a:buClrTx/>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28178035"/>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57" name="Title Text"/>
          <p:cNvSpPr txBox="1">
            <a:spLocks noGrp="1"/>
          </p:cNvSpPr>
          <p:nvPr>
            <p:ph type="title"/>
          </p:nvPr>
        </p:nvSpPr>
        <p:spPr>
          <a:xfrm>
            <a:off x="539106" y="658442"/>
            <a:ext cx="10972801" cy="551201"/>
          </a:xfrm>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50975100"/>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6" name="Title Text"/>
          <p:cNvSpPr txBox="1">
            <a:spLocks noGrp="1"/>
          </p:cNvSpPr>
          <p:nvPr>
            <p:ph type="title"/>
          </p:nvPr>
        </p:nvSpPr>
        <p:spPr>
          <a:xfrm>
            <a:off x="539106" y="658442"/>
            <a:ext cx="10972801" cy="551201"/>
          </a:xfrm>
          <a:prstGeom prst="rect">
            <a:avLst/>
          </a:prstGeom>
        </p:spPr>
        <p:txBody>
          <a:bodyPr/>
          <a:lstStyle/>
          <a:p>
            <a:r>
              <a:t>Title Text</a:t>
            </a:r>
          </a:p>
        </p:txBody>
      </p:sp>
      <p:sp>
        <p:nvSpPr>
          <p:cNvPr id="37" name="Body Level One…"/>
          <p:cNvSpPr txBox="1">
            <a:spLocks noGrp="1"/>
          </p:cNvSpPr>
          <p:nvPr>
            <p:ph type="body" sz="half" idx="1"/>
          </p:nvPr>
        </p:nvSpPr>
        <p:spPr>
          <a:xfrm>
            <a:off x="561037" y="1653070"/>
            <a:ext cx="5326001" cy="4967601"/>
          </a:xfrm>
          <a:prstGeom prst="rect">
            <a:avLst/>
          </a:prstGeom>
        </p:spPr>
        <p:txBody>
          <a:bodyPr/>
          <a:lstStyle>
            <a:lvl1pPr marL="514350" indent="-457200" algn="l" defTabSz="1219200">
              <a:lnSpc>
                <a:spcPct val="100000"/>
              </a:lnSpc>
              <a:spcBef>
                <a:spcPts val="800"/>
              </a:spcBef>
              <a:buSzPts val="4800"/>
              <a:defRPr sz="2400"/>
            </a:lvl1pPr>
            <a:lvl2pPr marL="742950" indent="-457200" algn="l" defTabSz="1219200">
              <a:lnSpc>
                <a:spcPct val="100000"/>
              </a:lnSpc>
              <a:spcBef>
                <a:spcPts val="800"/>
              </a:spcBef>
              <a:buSzPts val="4800"/>
              <a:defRPr sz="2400"/>
            </a:lvl2pPr>
            <a:lvl3pPr marL="971550" indent="-457200" algn="l" defTabSz="1219200">
              <a:lnSpc>
                <a:spcPct val="100000"/>
              </a:lnSpc>
              <a:spcBef>
                <a:spcPts val="800"/>
              </a:spcBef>
              <a:buSzPts val="4800"/>
              <a:defRPr sz="2400"/>
            </a:lvl3pPr>
            <a:lvl4pPr marL="1200150" indent="-457200" algn="l" defTabSz="1219200">
              <a:lnSpc>
                <a:spcPct val="100000"/>
              </a:lnSpc>
              <a:spcBef>
                <a:spcPts val="800"/>
              </a:spcBef>
              <a:buSzPts val="4800"/>
              <a:defRPr sz="2400"/>
            </a:lvl4pPr>
            <a:lvl5pPr marL="1428750" indent="-457200" algn="l" defTabSz="1219200">
              <a:lnSpc>
                <a:spcPct val="100000"/>
              </a:lnSpc>
              <a:spcBef>
                <a:spcPts val="800"/>
              </a:spcBef>
              <a:buSzPts val="4800"/>
              <a:defRPr sz="2400"/>
            </a:lvl5pPr>
          </a:lstStyle>
          <a:p>
            <a:r>
              <a:t>Body Level One</a:t>
            </a:r>
          </a:p>
          <a:p>
            <a:pPr lvl="1"/>
            <a:r>
              <a:t>Body Level Two</a:t>
            </a:r>
          </a:p>
          <a:p>
            <a:pPr lvl="2"/>
            <a:r>
              <a:t>Body Level Three</a:t>
            </a:r>
          </a:p>
          <a:p>
            <a:pPr lvl="3"/>
            <a:r>
              <a:t>Body Level Four</a:t>
            </a:r>
          </a:p>
          <a:p>
            <a:pPr lvl="4"/>
            <a:r>
              <a:t>Body Level Five</a:t>
            </a:r>
          </a:p>
        </p:txBody>
      </p:sp>
      <p:sp>
        <p:nvSpPr>
          <p:cNvPr id="38" name="Google Shape;45;p6"/>
          <p:cNvSpPr txBox="1">
            <a:spLocks noGrp="1"/>
          </p:cNvSpPr>
          <p:nvPr>
            <p:ph type="body" sz="half" idx="21"/>
          </p:nvPr>
        </p:nvSpPr>
        <p:spPr>
          <a:xfrm>
            <a:off x="6308508" y="1653070"/>
            <a:ext cx="5326001" cy="4967601"/>
          </a:xfrm>
          <a:prstGeom prst="rect">
            <a:avLst/>
          </a:prstGeom>
        </p:spPr>
        <p:txBody>
          <a:bodyPr/>
          <a:lstStyle>
            <a:lvl1pPr marL="514350" indent="-457200" algn="l" defTabSz="1219200">
              <a:lnSpc>
                <a:spcPct val="100000"/>
              </a:lnSpc>
              <a:spcBef>
                <a:spcPts val="800"/>
              </a:spcBef>
              <a:buSzPts val="4800"/>
              <a:defRPr sz="4800"/>
            </a:lvl1pPr>
          </a:lstStyle>
          <a:p>
            <a:pPr marL="1028700" indent="-914400" algn="l" defTabSz="2438400">
              <a:lnSpc>
                <a:spcPct val="100000"/>
              </a:lnSpc>
              <a:spcBef>
                <a:spcPts val="1600"/>
              </a:spcBef>
              <a:buSzPts val="4800"/>
              <a:defRPr sz="4800"/>
            </a:pPr>
            <a:endParaRPr/>
          </a:p>
        </p:txBody>
      </p:sp>
      <p:sp>
        <p:nvSpPr>
          <p:cNvPr id="3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32814806"/>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575CB-B832-262F-5707-3EA87FEC6B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5F7E22-CCCD-EE1A-8D69-E49A2508AA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4E1E0-E0E1-A4E7-D171-F52898956044}"/>
              </a:ext>
            </a:extLst>
          </p:cNvPr>
          <p:cNvSpPr>
            <a:spLocks noGrp="1"/>
          </p:cNvSpPr>
          <p:nvPr>
            <p:ph type="dt" sz="half" idx="10"/>
          </p:nvPr>
        </p:nvSpPr>
        <p:spPr/>
        <p:txBody>
          <a:bodyPr/>
          <a:lstStyle/>
          <a:p>
            <a:fld id="{142E6A9A-0D21-46AD-A025-D8B170383890}" type="datetimeFigureOut">
              <a:rPr lang="en-US" smtClean="0"/>
              <a:t>5/5/2026</a:t>
            </a:fld>
            <a:endParaRPr lang="en-US"/>
          </a:p>
        </p:txBody>
      </p:sp>
      <p:sp>
        <p:nvSpPr>
          <p:cNvPr id="5" name="Footer Placeholder 4">
            <a:extLst>
              <a:ext uri="{FF2B5EF4-FFF2-40B4-BE49-F238E27FC236}">
                <a16:creationId xmlns:a16="http://schemas.microsoft.com/office/drawing/2014/main" id="{13A15343-5345-0994-0BF1-7E958A492C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4360FB-CC5C-AE75-1F17-EA158EE72013}"/>
              </a:ext>
            </a:extLst>
          </p:cNvPr>
          <p:cNvSpPr>
            <a:spLocks noGrp="1"/>
          </p:cNvSpPr>
          <p:nvPr>
            <p:ph type="sldNum" sz="quarter" idx="12"/>
          </p:nvPr>
        </p:nvSpPr>
        <p:spPr/>
        <p:txBody>
          <a:bodyPr/>
          <a:lstStyle/>
          <a:p>
            <a:fld id="{187F2779-EA86-4E31-8D31-6248851BA265}" type="slidenum">
              <a:rPr lang="en-US" smtClean="0"/>
              <a:t>‹#›</a:t>
            </a:fld>
            <a:endParaRPr lang="en-US"/>
          </a:p>
        </p:txBody>
      </p:sp>
    </p:spTree>
    <p:extLst>
      <p:ext uri="{BB962C8B-B14F-4D97-AF65-F5344CB8AC3E}">
        <p14:creationId xmlns:p14="http://schemas.microsoft.com/office/powerpoint/2010/main" val="304121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theme" Target="../theme/theme5.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8533C6-E06E-62DF-429B-A58C7F2DE6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C552D6-8AED-A322-E85E-E62B8DDBDD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755DF0-647D-870A-CB33-5970AB7395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4E64FD-846D-49B0-BF77-C9F7FB71E2AB}" type="datetimeFigureOut">
              <a:rPr lang="en-US" smtClean="0"/>
              <a:t>5/5/2026</a:t>
            </a:fld>
            <a:endParaRPr lang="en-US"/>
          </a:p>
        </p:txBody>
      </p:sp>
      <p:sp>
        <p:nvSpPr>
          <p:cNvPr id="5" name="Footer Placeholder 4">
            <a:extLst>
              <a:ext uri="{FF2B5EF4-FFF2-40B4-BE49-F238E27FC236}">
                <a16:creationId xmlns:a16="http://schemas.microsoft.com/office/drawing/2014/main" id="{1C19E6FD-1863-38AC-E6D7-4F7C96E2B0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6E8FA18-FAD4-AB81-2BDC-077E324E35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48F9B9-910C-43C2-A897-4A3B27911428}" type="slidenum">
              <a:rPr lang="en-US" smtClean="0"/>
              <a:t>‹#›</a:t>
            </a:fld>
            <a:endParaRPr lang="en-US"/>
          </a:p>
        </p:txBody>
      </p:sp>
    </p:spTree>
    <p:extLst>
      <p:ext uri="{BB962C8B-B14F-4D97-AF65-F5344CB8AC3E}">
        <p14:creationId xmlns:p14="http://schemas.microsoft.com/office/powerpoint/2010/main" val="2611342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C52A24-3BDA-B749-BE6C-6289322D5558}" type="datetime1">
              <a:rPr lang="en-US" smtClean="0"/>
              <a:t>5/5/2026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385748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675">
                <a:solidFill>
                  <a:schemeClr val="tx1">
                    <a:tint val="75000"/>
                  </a:schemeClr>
                </a:solidFill>
              </a:defRPr>
            </a:lvl1pPr>
          </a:lstStyle>
          <a:p>
            <a:fld id="{8FF6D7C4-449A-45BC-A1B4-A37293E188CD}" type="datetime1">
              <a:rPr lang="en-US" smtClean="0"/>
              <a:t>5/5/2026</a:t>
            </a:fld>
            <a:endParaRPr lang="en-US"/>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D0F4EC6C-B2D9-447D-B7D7-F8AF27CB0183}" type="slidenum">
              <a:rPr lang="en-US" smtClean="0"/>
              <a:t>‹#›</a:t>
            </a:fld>
            <a:endParaRPr lang="en-US"/>
          </a:p>
        </p:txBody>
      </p:sp>
    </p:spTree>
    <p:extLst>
      <p:ext uri="{BB962C8B-B14F-4D97-AF65-F5344CB8AC3E}">
        <p14:creationId xmlns:p14="http://schemas.microsoft.com/office/powerpoint/2010/main" val="10228432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257175" rtl="0" eaLnBrk="1" latinLnBrk="0" hangingPunct="1">
        <a:spcBef>
          <a:spcPct val="0"/>
        </a:spcBef>
        <a:buNone/>
        <a:defRPr sz="2475" kern="1200">
          <a:solidFill>
            <a:schemeClr val="tx1"/>
          </a:solidFill>
          <a:latin typeface="+mj-lt"/>
          <a:ea typeface="+mj-ea"/>
          <a:cs typeface="+mj-cs"/>
        </a:defRPr>
      </a:lvl1pPr>
    </p:titleStyle>
    <p:bodyStyle>
      <a:lvl1pPr marL="192881" indent="-192881" algn="l" defTabSz="257175" rtl="0" eaLnBrk="1" latinLnBrk="0" hangingPunct="1">
        <a:spcBef>
          <a:spcPct val="20000"/>
        </a:spcBef>
        <a:buFont typeface="Arial"/>
        <a:buChar char="•"/>
        <a:defRPr sz="1800" kern="1200">
          <a:solidFill>
            <a:schemeClr val="tx1"/>
          </a:solidFill>
          <a:latin typeface="+mn-lt"/>
          <a:ea typeface="+mn-ea"/>
          <a:cs typeface="+mn-cs"/>
        </a:defRPr>
      </a:lvl1pPr>
      <a:lvl2pPr marL="417910" indent="-160735" algn="l" defTabSz="257175" rtl="0" eaLnBrk="1" latinLnBrk="0" hangingPunct="1">
        <a:spcBef>
          <a:spcPct val="20000"/>
        </a:spcBef>
        <a:buFont typeface="Arial"/>
        <a:buChar char="–"/>
        <a:defRPr sz="1575" kern="1200">
          <a:solidFill>
            <a:schemeClr val="tx1"/>
          </a:solidFill>
          <a:latin typeface="+mn-lt"/>
          <a:ea typeface="+mn-ea"/>
          <a:cs typeface="+mn-cs"/>
        </a:defRPr>
      </a:lvl2pPr>
      <a:lvl3pPr marL="642938" indent="-128588" algn="l" defTabSz="257175" rtl="0" eaLnBrk="1" latinLnBrk="0" hangingPunct="1">
        <a:spcBef>
          <a:spcPct val="20000"/>
        </a:spcBef>
        <a:buFont typeface="Arial"/>
        <a:buChar char="•"/>
        <a:defRPr sz="1350" kern="1200">
          <a:solidFill>
            <a:schemeClr val="tx1"/>
          </a:solidFill>
          <a:latin typeface="+mn-lt"/>
          <a:ea typeface="+mn-ea"/>
          <a:cs typeface="+mn-cs"/>
        </a:defRPr>
      </a:lvl3pPr>
      <a:lvl4pPr marL="900113" indent="-128588" algn="l" defTabSz="257175" rtl="0" eaLnBrk="1" latinLnBrk="0" hangingPunct="1">
        <a:spcBef>
          <a:spcPct val="20000"/>
        </a:spcBef>
        <a:buFont typeface="Arial"/>
        <a:buChar char="–"/>
        <a:defRPr sz="1125" kern="1200">
          <a:solidFill>
            <a:schemeClr val="tx1"/>
          </a:solidFill>
          <a:latin typeface="+mn-lt"/>
          <a:ea typeface="+mn-ea"/>
          <a:cs typeface="+mn-cs"/>
        </a:defRPr>
      </a:lvl4pPr>
      <a:lvl5pPr marL="1157288" indent="-128588" algn="l" defTabSz="257175" rtl="0" eaLnBrk="1" latinLnBrk="0" hangingPunct="1">
        <a:spcBef>
          <a:spcPct val="20000"/>
        </a:spcBef>
        <a:buFont typeface="Arial"/>
        <a:buChar char="»"/>
        <a:defRPr sz="1125" kern="1200">
          <a:solidFill>
            <a:schemeClr val="tx1"/>
          </a:solidFill>
          <a:latin typeface="+mn-lt"/>
          <a:ea typeface="+mn-ea"/>
          <a:cs typeface="+mn-cs"/>
        </a:defRPr>
      </a:lvl5pPr>
      <a:lvl6pPr marL="1414463" indent="-128588" algn="l" defTabSz="257175" rtl="0" eaLnBrk="1" latinLnBrk="0" hangingPunct="1">
        <a:spcBef>
          <a:spcPct val="20000"/>
        </a:spcBef>
        <a:buFont typeface="Arial"/>
        <a:buChar char="•"/>
        <a:defRPr sz="1125" kern="1200">
          <a:solidFill>
            <a:schemeClr val="tx1"/>
          </a:solidFill>
          <a:latin typeface="+mn-lt"/>
          <a:ea typeface="+mn-ea"/>
          <a:cs typeface="+mn-cs"/>
        </a:defRPr>
      </a:lvl6pPr>
      <a:lvl7pPr marL="1671638" indent="-128588" algn="l" defTabSz="257175" rtl="0" eaLnBrk="1" latinLnBrk="0" hangingPunct="1">
        <a:spcBef>
          <a:spcPct val="20000"/>
        </a:spcBef>
        <a:buFont typeface="Arial"/>
        <a:buChar char="•"/>
        <a:defRPr sz="1125" kern="1200">
          <a:solidFill>
            <a:schemeClr val="tx1"/>
          </a:solidFill>
          <a:latin typeface="+mn-lt"/>
          <a:ea typeface="+mn-ea"/>
          <a:cs typeface="+mn-cs"/>
        </a:defRPr>
      </a:lvl7pPr>
      <a:lvl8pPr marL="1928813" indent="-128588" algn="l" defTabSz="257175" rtl="0" eaLnBrk="1" latinLnBrk="0" hangingPunct="1">
        <a:spcBef>
          <a:spcPct val="20000"/>
        </a:spcBef>
        <a:buFont typeface="Arial"/>
        <a:buChar char="•"/>
        <a:defRPr sz="1125" kern="1200">
          <a:solidFill>
            <a:schemeClr val="tx1"/>
          </a:solidFill>
          <a:latin typeface="+mn-lt"/>
          <a:ea typeface="+mn-ea"/>
          <a:cs typeface="+mn-cs"/>
        </a:defRPr>
      </a:lvl8pPr>
      <a:lvl9pPr marL="2185988" indent="-128588" algn="l" defTabSz="257175" rtl="0" eaLnBrk="1" latinLnBrk="0" hangingPunct="1">
        <a:spcBef>
          <a:spcPct val="20000"/>
        </a:spcBef>
        <a:buFont typeface="Arial"/>
        <a:buChar char="•"/>
        <a:defRPr sz="1125" kern="1200">
          <a:solidFill>
            <a:schemeClr val="tx1"/>
          </a:solidFill>
          <a:latin typeface="+mn-lt"/>
          <a:ea typeface="+mn-ea"/>
          <a:cs typeface="+mn-cs"/>
        </a:defRPr>
      </a:lvl9pPr>
    </p:bodyStyle>
    <p:otherStyle>
      <a:defPPr>
        <a:defRPr lang="en-US"/>
      </a:defPPr>
      <a:lvl1pPr marL="0" algn="l" defTabSz="257175" rtl="0" eaLnBrk="1" latinLnBrk="0" hangingPunct="1">
        <a:defRPr sz="1013" kern="1200">
          <a:solidFill>
            <a:schemeClr val="tx1"/>
          </a:solidFill>
          <a:latin typeface="+mn-lt"/>
          <a:ea typeface="+mn-ea"/>
          <a:cs typeface="+mn-cs"/>
        </a:defRPr>
      </a:lvl1pPr>
      <a:lvl2pPr marL="257175" algn="l" defTabSz="257175" rtl="0" eaLnBrk="1" latinLnBrk="0" hangingPunct="1">
        <a:defRPr sz="1013" kern="1200">
          <a:solidFill>
            <a:schemeClr val="tx1"/>
          </a:solidFill>
          <a:latin typeface="+mn-lt"/>
          <a:ea typeface="+mn-ea"/>
          <a:cs typeface="+mn-cs"/>
        </a:defRPr>
      </a:lvl2pPr>
      <a:lvl3pPr marL="514350" algn="l" defTabSz="257175" rtl="0" eaLnBrk="1" latinLnBrk="0" hangingPunct="1">
        <a:defRPr sz="1013" kern="1200">
          <a:solidFill>
            <a:schemeClr val="tx1"/>
          </a:solidFill>
          <a:latin typeface="+mn-lt"/>
          <a:ea typeface="+mn-ea"/>
          <a:cs typeface="+mn-cs"/>
        </a:defRPr>
      </a:lvl3pPr>
      <a:lvl4pPr marL="771525" algn="l" defTabSz="257175" rtl="0" eaLnBrk="1" latinLnBrk="0" hangingPunct="1">
        <a:defRPr sz="1013" kern="1200">
          <a:solidFill>
            <a:schemeClr val="tx1"/>
          </a:solidFill>
          <a:latin typeface="+mn-lt"/>
          <a:ea typeface="+mn-ea"/>
          <a:cs typeface="+mn-cs"/>
        </a:defRPr>
      </a:lvl4pPr>
      <a:lvl5pPr marL="1028700" algn="l" defTabSz="257175" rtl="0" eaLnBrk="1" latinLnBrk="0" hangingPunct="1">
        <a:defRPr sz="1013" kern="1200">
          <a:solidFill>
            <a:schemeClr val="tx1"/>
          </a:solidFill>
          <a:latin typeface="+mn-lt"/>
          <a:ea typeface="+mn-ea"/>
          <a:cs typeface="+mn-cs"/>
        </a:defRPr>
      </a:lvl5pPr>
      <a:lvl6pPr marL="1285875" algn="l" defTabSz="257175" rtl="0" eaLnBrk="1" latinLnBrk="0" hangingPunct="1">
        <a:defRPr sz="1013" kern="1200">
          <a:solidFill>
            <a:schemeClr val="tx1"/>
          </a:solidFill>
          <a:latin typeface="+mn-lt"/>
          <a:ea typeface="+mn-ea"/>
          <a:cs typeface="+mn-cs"/>
        </a:defRPr>
      </a:lvl6pPr>
      <a:lvl7pPr marL="1543050" algn="l" defTabSz="257175" rtl="0" eaLnBrk="1" latinLnBrk="0" hangingPunct="1">
        <a:defRPr sz="1013" kern="1200">
          <a:solidFill>
            <a:schemeClr val="tx1"/>
          </a:solidFill>
          <a:latin typeface="+mn-lt"/>
          <a:ea typeface="+mn-ea"/>
          <a:cs typeface="+mn-cs"/>
        </a:defRPr>
      </a:lvl7pPr>
      <a:lvl8pPr marL="1800225" algn="l" defTabSz="257175" rtl="0" eaLnBrk="1" latinLnBrk="0" hangingPunct="1">
        <a:defRPr sz="1013" kern="1200">
          <a:solidFill>
            <a:schemeClr val="tx1"/>
          </a:solidFill>
          <a:latin typeface="+mn-lt"/>
          <a:ea typeface="+mn-ea"/>
          <a:cs typeface="+mn-cs"/>
        </a:defRPr>
      </a:lvl8pPr>
      <a:lvl9pPr marL="2057400" algn="l" defTabSz="257175" rtl="0" eaLnBrk="1" latinLnBrk="0" hangingPunct="1">
        <a:defRPr sz="101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C52A24-3BDA-B749-BE6C-6289322D5558}" type="datetime1">
              <a:rPr lang="en-US" smtClean="0"/>
              <a:t>5/5/2026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3196285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675">
                <a:solidFill>
                  <a:schemeClr val="tx1">
                    <a:tint val="75000"/>
                  </a:schemeClr>
                </a:solidFill>
              </a:defRPr>
            </a:lvl1pPr>
          </a:lstStyle>
          <a:p>
            <a:fld id="{8FF6D7C4-449A-45BC-A1B4-A37293E188CD}" type="datetime1">
              <a:rPr lang="en-US" smtClean="0"/>
              <a:t>5/5/2026</a:t>
            </a:fld>
            <a:endParaRPr lang="en-US"/>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D0F4EC6C-B2D9-447D-B7D7-F8AF27CB0183}" type="slidenum">
              <a:rPr lang="en-US" smtClean="0"/>
              <a:t>‹#›</a:t>
            </a:fld>
            <a:endParaRPr lang="en-US"/>
          </a:p>
        </p:txBody>
      </p:sp>
    </p:spTree>
    <p:extLst>
      <p:ext uri="{BB962C8B-B14F-4D97-AF65-F5344CB8AC3E}">
        <p14:creationId xmlns:p14="http://schemas.microsoft.com/office/powerpoint/2010/main" val="403030203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hf hdr="0" ftr="0" dt="0"/>
  <p:txStyles>
    <p:titleStyle>
      <a:lvl1pPr algn="ctr" defTabSz="257175" rtl="0" eaLnBrk="1" latinLnBrk="0" hangingPunct="1">
        <a:spcBef>
          <a:spcPct val="0"/>
        </a:spcBef>
        <a:buNone/>
        <a:defRPr sz="2475" kern="1200">
          <a:solidFill>
            <a:schemeClr val="tx1"/>
          </a:solidFill>
          <a:latin typeface="+mj-lt"/>
          <a:ea typeface="+mj-ea"/>
          <a:cs typeface="+mj-cs"/>
        </a:defRPr>
      </a:lvl1pPr>
    </p:titleStyle>
    <p:bodyStyle>
      <a:lvl1pPr marL="192881" indent="-192881" algn="l" defTabSz="257175" rtl="0" eaLnBrk="1" latinLnBrk="0" hangingPunct="1">
        <a:spcBef>
          <a:spcPct val="20000"/>
        </a:spcBef>
        <a:buFont typeface="Arial"/>
        <a:buChar char="•"/>
        <a:defRPr sz="1800" kern="1200">
          <a:solidFill>
            <a:schemeClr val="tx1"/>
          </a:solidFill>
          <a:latin typeface="+mn-lt"/>
          <a:ea typeface="+mn-ea"/>
          <a:cs typeface="+mn-cs"/>
        </a:defRPr>
      </a:lvl1pPr>
      <a:lvl2pPr marL="417910" indent="-160735" algn="l" defTabSz="257175" rtl="0" eaLnBrk="1" latinLnBrk="0" hangingPunct="1">
        <a:spcBef>
          <a:spcPct val="20000"/>
        </a:spcBef>
        <a:buFont typeface="Arial"/>
        <a:buChar char="–"/>
        <a:defRPr sz="1575" kern="1200">
          <a:solidFill>
            <a:schemeClr val="tx1"/>
          </a:solidFill>
          <a:latin typeface="+mn-lt"/>
          <a:ea typeface="+mn-ea"/>
          <a:cs typeface="+mn-cs"/>
        </a:defRPr>
      </a:lvl2pPr>
      <a:lvl3pPr marL="642938" indent="-128588" algn="l" defTabSz="257175" rtl="0" eaLnBrk="1" latinLnBrk="0" hangingPunct="1">
        <a:spcBef>
          <a:spcPct val="20000"/>
        </a:spcBef>
        <a:buFont typeface="Arial"/>
        <a:buChar char="•"/>
        <a:defRPr sz="1350" kern="1200">
          <a:solidFill>
            <a:schemeClr val="tx1"/>
          </a:solidFill>
          <a:latin typeface="+mn-lt"/>
          <a:ea typeface="+mn-ea"/>
          <a:cs typeface="+mn-cs"/>
        </a:defRPr>
      </a:lvl3pPr>
      <a:lvl4pPr marL="900113" indent="-128588" algn="l" defTabSz="257175" rtl="0" eaLnBrk="1" latinLnBrk="0" hangingPunct="1">
        <a:spcBef>
          <a:spcPct val="20000"/>
        </a:spcBef>
        <a:buFont typeface="Arial"/>
        <a:buChar char="–"/>
        <a:defRPr sz="1125" kern="1200">
          <a:solidFill>
            <a:schemeClr val="tx1"/>
          </a:solidFill>
          <a:latin typeface="+mn-lt"/>
          <a:ea typeface="+mn-ea"/>
          <a:cs typeface="+mn-cs"/>
        </a:defRPr>
      </a:lvl4pPr>
      <a:lvl5pPr marL="1157288" indent="-128588" algn="l" defTabSz="257175" rtl="0" eaLnBrk="1" latinLnBrk="0" hangingPunct="1">
        <a:spcBef>
          <a:spcPct val="20000"/>
        </a:spcBef>
        <a:buFont typeface="Arial"/>
        <a:buChar char="»"/>
        <a:defRPr sz="1125" kern="1200">
          <a:solidFill>
            <a:schemeClr val="tx1"/>
          </a:solidFill>
          <a:latin typeface="+mn-lt"/>
          <a:ea typeface="+mn-ea"/>
          <a:cs typeface="+mn-cs"/>
        </a:defRPr>
      </a:lvl5pPr>
      <a:lvl6pPr marL="1414463" indent="-128588" algn="l" defTabSz="257175" rtl="0" eaLnBrk="1" latinLnBrk="0" hangingPunct="1">
        <a:spcBef>
          <a:spcPct val="20000"/>
        </a:spcBef>
        <a:buFont typeface="Arial"/>
        <a:buChar char="•"/>
        <a:defRPr sz="1125" kern="1200">
          <a:solidFill>
            <a:schemeClr val="tx1"/>
          </a:solidFill>
          <a:latin typeface="+mn-lt"/>
          <a:ea typeface="+mn-ea"/>
          <a:cs typeface="+mn-cs"/>
        </a:defRPr>
      </a:lvl6pPr>
      <a:lvl7pPr marL="1671638" indent="-128588" algn="l" defTabSz="257175" rtl="0" eaLnBrk="1" latinLnBrk="0" hangingPunct="1">
        <a:spcBef>
          <a:spcPct val="20000"/>
        </a:spcBef>
        <a:buFont typeface="Arial"/>
        <a:buChar char="•"/>
        <a:defRPr sz="1125" kern="1200">
          <a:solidFill>
            <a:schemeClr val="tx1"/>
          </a:solidFill>
          <a:latin typeface="+mn-lt"/>
          <a:ea typeface="+mn-ea"/>
          <a:cs typeface="+mn-cs"/>
        </a:defRPr>
      </a:lvl7pPr>
      <a:lvl8pPr marL="1928813" indent="-128588" algn="l" defTabSz="257175" rtl="0" eaLnBrk="1" latinLnBrk="0" hangingPunct="1">
        <a:spcBef>
          <a:spcPct val="20000"/>
        </a:spcBef>
        <a:buFont typeface="Arial"/>
        <a:buChar char="•"/>
        <a:defRPr sz="1125" kern="1200">
          <a:solidFill>
            <a:schemeClr val="tx1"/>
          </a:solidFill>
          <a:latin typeface="+mn-lt"/>
          <a:ea typeface="+mn-ea"/>
          <a:cs typeface="+mn-cs"/>
        </a:defRPr>
      </a:lvl8pPr>
      <a:lvl9pPr marL="2185988" indent="-128588" algn="l" defTabSz="257175" rtl="0" eaLnBrk="1" latinLnBrk="0" hangingPunct="1">
        <a:spcBef>
          <a:spcPct val="20000"/>
        </a:spcBef>
        <a:buFont typeface="Arial"/>
        <a:buChar char="•"/>
        <a:defRPr sz="1125" kern="1200">
          <a:solidFill>
            <a:schemeClr val="tx1"/>
          </a:solidFill>
          <a:latin typeface="+mn-lt"/>
          <a:ea typeface="+mn-ea"/>
          <a:cs typeface="+mn-cs"/>
        </a:defRPr>
      </a:lvl9pPr>
    </p:bodyStyle>
    <p:otherStyle>
      <a:defPPr>
        <a:defRPr lang="en-US"/>
      </a:defPPr>
      <a:lvl1pPr marL="0" algn="l" defTabSz="257175" rtl="0" eaLnBrk="1" latinLnBrk="0" hangingPunct="1">
        <a:defRPr sz="1013" kern="1200">
          <a:solidFill>
            <a:schemeClr val="tx1"/>
          </a:solidFill>
          <a:latin typeface="+mn-lt"/>
          <a:ea typeface="+mn-ea"/>
          <a:cs typeface="+mn-cs"/>
        </a:defRPr>
      </a:lvl1pPr>
      <a:lvl2pPr marL="257175" algn="l" defTabSz="257175" rtl="0" eaLnBrk="1" latinLnBrk="0" hangingPunct="1">
        <a:defRPr sz="1013" kern="1200">
          <a:solidFill>
            <a:schemeClr val="tx1"/>
          </a:solidFill>
          <a:latin typeface="+mn-lt"/>
          <a:ea typeface="+mn-ea"/>
          <a:cs typeface="+mn-cs"/>
        </a:defRPr>
      </a:lvl2pPr>
      <a:lvl3pPr marL="514350" algn="l" defTabSz="257175" rtl="0" eaLnBrk="1" latinLnBrk="0" hangingPunct="1">
        <a:defRPr sz="1013" kern="1200">
          <a:solidFill>
            <a:schemeClr val="tx1"/>
          </a:solidFill>
          <a:latin typeface="+mn-lt"/>
          <a:ea typeface="+mn-ea"/>
          <a:cs typeface="+mn-cs"/>
        </a:defRPr>
      </a:lvl3pPr>
      <a:lvl4pPr marL="771525" algn="l" defTabSz="257175" rtl="0" eaLnBrk="1" latinLnBrk="0" hangingPunct="1">
        <a:defRPr sz="1013" kern="1200">
          <a:solidFill>
            <a:schemeClr val="tx1"/>
          </a:solidFill>
          <a:latin typeface="+mn-lt"/>
          <a:ea typeface="+mn-ea"/>
          <a:cs typeface="+mn-cs"/>
        </a:defRPr>
      </a:lvl4pPr>
      <a:lvl5pPr marL="1028700" algn="l" defTabSz="257175" rtl="0" eaLnBrk="1" latinLnBrk="0" hangingPunct="1">
        <a:defRPr sz="1013" kern="1200">
          <a:solidFill>
            <a:schemeClr val="tx1"/>
          </a:solidFill>
          <a:latin typeface="+mn-lt"/>
          <a:ea typeface="+mn-ea"/>
          <a:cs typeface="+mn-cs"/>
        </a:defRPr>
      </a:lvl5pPr>
      <a:lvl6pPr marL="1285875" algn="l" defTabSz="257175" rtl="0" eaLnBrk="1" latinLnBrk="0" hangingPunct="1">
        <a:defRPr sz="1013" kern="1200">
          <a:solidFill>
            <a:schemeClr val="tx1"/>
          </a:solidFill>
          <a:latin typeface="+mn-lt"/>
          <a:ea typeface="+mn-ea"/>
          <a:cs typeface="+mn-cs"/>
        </a:defRPr>
      </a:lvl6pPr>
      <a:lvl7pPr marL="1543050" algn="l" defTabSz="257175" rtl="0" eaLnBrk="1" latinLnBrk="0" hangingPunct="1">
        <a:defRPr sz="1013" kern="1200">
          <a:solidFill>
            <a:schemeClr val="tx1"/>
          </a:solidFill>
          <a:latin typeface="+mn-lt"/>
          <a:ea typeface="+mn-ea"/>
          <a:cs typeface="+mn-cs"/>
        </a:defRPr>
      </a:lvl7pPr>
      <a:lvl8pPr marL="1800225" algn="l" defTabSz="257175" rtl="0" eaLnBrk="1" latinLnBrk="0" hangingPunct="1">
        <a:defRPr sz="1013" kern="1200">
          <a:solidFill>
            <a:schemeClr val="tx1"/>
          </a:solidFill>
          <a:latin typeface="+mn-lt"/>
          <a:ea typeface="+mn-ea"/>
          <a:cs typeface="+mn-cs"/>
        </a:defRPr>
      </a:lvl8pPr>
      <a:lvl9pPr marL="2057400" algn="l" defTabSz="257175"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hyperlink" Target="mailto:archangelmntim@yahoo.co.uk" TargetMode="External"/><Relationship Id="rId2" Type="http://schemas.openxmlformats.org/officeDocument/2006/relationships/image" Target="../media/image34.jpg"/><Relationship Id="rId1" Type="http://schemas.openxmlformats.org/officeDocument/2006/relationships/slideLayout" Target="../slideLayouts/slideLayout4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56.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6.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6.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29384"/>
            <a:ext cx="10363200" cy="1708380"/>
          </a:xfrm>
        </p:spPr>
        <p:txBody>
          <a:bodyPr>
            <a:normAutofit/>
          </a:bodyPr>
          <a:lstStyle/>
          <a:p>
            <a:r>
              <a:rPr lang="en-US" altLang="en-US" sz="6600" b="1" dirty="0"/>
              <a:t>The Nervous System</a:t>
            </a:r>
            <a:endParaRPr lang="en-US" sz="6600" dirty="0"/>
          </a:p>
        </p:txBody>
      </p:sp>
      <p:sp>
        <p:nvSpPr>
          <p:cNvPr id="3" name="Subtitle 2"/>
          <p:cNvSpPr>
            <a:spLocks noGrp="1"/>
          </p:cNvSpPr>
          <p:nvPr>
            <p:ph type="subTitle" idx="1"/>
          </p:nvPr>
        </p:nvSpPr>
        <p:spPr>
          <a:xfrm>
            <a:off x="987552" y="4081545"/>
            <a:ext cx="10363200" cy="1599330"/>
          </a:xfrm>
        </p:spPr>
        <p:txBody>
          <a:bodyPr>
            <a:normAutofit fontScale="92500" lnSpcReduction="10000"/>
          </a:bodyPr>
          <a:lstStyle/>
          <a:p>
            <a:r>
              <a:rPr lang="en-US" dirty="0">
                <a:solidFill>
                  <a:schemeClr val="tx1"/>
                </a:solidFill>
              </a:rPr>
              <a:t>MICHAEL NTIM (Ph.D.)</a:t>
            </a:r>
          </a:p>
          <a:p>
            <a:r>
              <a:rPr lang="en-US" dirty="0">
                <a:solidFill>
                  <a:schemeClr val="tx1"/>
                </a:solidFill>
              </a:rPr>
              <a:t>Phone No: 0507497320</a:t>
            </a:r>
          </a:p>
          <a:p>
            <a:r>
              <a:rPr lang="en-US" dirty="0">
                <a:solidFill>
                  <a:schemeClr val="tx1"/>
                </a:solidFill>
              </a:rPr>
              <a:t>Email: archangelmntim@yahoo.co.uk</a:t>
            </a:r>
          </a:p>
        </p:txBody>
      </p:sp>
    </p:spTree>
    <p:extLst>
      <p:ext uri="{BB962C8B-B14F-4D97-AF65-F5344CB8AC3E}">
        <p14:creationId xmlns:p14="http://schemas.microsoft.com/office/powerpoint/2010/main" val="1735347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5" name="Rectangle 1"/>
          <p:cNvSpPr txBox="1">
            <a:spLocks noChangeArrowheads="1"/>
          </p:cNvSpPr>
          <p:nvPr/>
        </p:nvSpPr>
        <p:spPr>
          <a:xfrm>
            <a:off x="685800" y="92075"/>
            <a:ext cx="7770813" cy="763588"/>
          </a:xfrm>
          <a:prstGeom prst="rect">
            <a:avLst/>
          </a:prstGeom>
        </p:spPr>
        <p:txBody>
          <a:bodyPr/>
          <a:lstStyle>
            <a:lvl1pPr algn="ctr" defTabSz="457200" rtl="0" eaLnBrk="1" latinLnBrk="0" hangingPunct="1">
              <a:spcBef>
                <a:spcPct val="0"/>
              </a:spcBef>
              <a:buNone/>
              <a:defRPr sz="4000" kern="1200">
                <a:solidFill>
                  <a:schemeClr val="tx1"/>
                </a:solidFill>
                <a:latin typeface="Garamond" panose="02020404030301010803" pitchFamily="18" charset="0"/>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altLang="en-US" sz="4000" b="0" i="0" u="none" strike="noStrike" kern="1200" cap="none" spc="0" normalizeH="0" baseline="0" noProof="0">
                <a:ln>
                  <a:noFill/>
                </a:ln>
                <a:solidFill>
                  <a:srgbClr val="21409A"/>
                </a:solidFill>
                <a:effectLst/>
                <a:uLnTx/>
                <a:uFillTx/>
                <a:latin typeface="Arial" panose="020B0604020202020204" pitchFamily="34" charset="0"/>
                <a:ea typeface="+mj-ea"/>
                <a:cs typeface="+mj-cs"/>
              </a:rPr>
              <a:t>Objectives </a:t>
            </a:r>
            <a:endParaRPr kumimoji="0" lang="en-US" altLang="en-US" sz="4000" b="0" i="0" u="none" strike="noStrike" kern="1200" cap="none" spc="0" normalizeH="0" baseline="0" noProof="0" dirty="0">
              <a:ln>
                <a:noFill/>
              </a:ln>
              <a:solidFill>
                <a:srgbClr val="21409A"/>
              </a:solidFill>
              <a:effectLst/>
              <a:uLnTx/>
              <a:uFillTx/>
              <a:latin typeface="Arial" panose="020B0604020202020204" pitchFamily="34" charset="0"/>
              <a:ea typeface="+mj-ea"/>
              <a:cs typeface="+mj-cs"/>
            </a:endParaRPr>
          </a:p>
        </p:txBody>
      </p:sp>
      <p:sp>
        <p:nvSpPr>
          <p:cNvPr id="6" name="Rectangle 2"/>
          <p:cNvSpPr txBox="1">
            <a:spLocks noChangeArrowheads="1"/>
          </p:cNvSpPr>
          <p:nvPr/>
        </p:nvSpPr>
        <p:spPr>
          <a:xfrm>
            <a:off x="225044" y="1035039"/>
            <a:ext cx="11607292" cy="4936173"/>
          </a:xfrm>
          <a:prstGeom prst="rect">
            <a:avLst/>
          </a:prstGeom>
        </p:spPr>
        <p:txBody>
          <a:bodyPr vert="horz" lIns="0" tIns="0" rIns="0" bIns="0" rtlCol="0" anchor="ctr">
            <a:normAutofit/>
          </a:bodyPr>
          <a:lst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555625" marR="0" lvl="0" indent="-555625" algn="l" defTabSz="457200" rtl="0" eaLnBrk="1" fontAlgn="auto" latinLnBrk="0" hangingPunct="1">
              <a:lnSpc>
                <a:spcPct val="100000"/>
              </a:lnSpc>
              <a:spcBef>
                <a:spcPct val="20000"/>
              </a:spcBef>
              <a:spcAft>
                <a:spcPts val="0"/>
              </a:spcAft>
              <a:buClrTx/>
              <a:buSzPct val="45000"/>
              <a:buFont typeface="Wingdings" panose="05000000000000000000" pitchFamily="2" charset="2"/>
              <a:buChar char=""/>
              <a:tabLst>
                <a:tab pos="5556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defRPr/>
            </a:pPr>
            <a:r>
              <a:rPr kumimoji="0" lang="en-US" altLang="en-US" sz="2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By the end of the lesson, students should be able to;</a:t>
            </a:r>
          </a:p>
          <a:p>
            <a:pPr marL="576263" marR="0" lvl="1" indent="-358775" algn="l" defTabSz="457200" rtl="0" eaLnBrk="1" fontAlgn="auto" latinLnBrk="0" hangingPunct="1">
              <a:lnSpc>
                <a:spcPct val="100000"/>
              </a:lnSpc>
              <a:spcBef>
                <a:spcPts val="800"/>
              </a:spcBef>
              <a:spcAft>
                <a:spcPts val="0"/>
              </a:spcAft>
              <a:buClrTx/>
              <a:buSzPct val="45000"/>
              <a:buFont typeface="Wingdings" panose="05000000000000000000" pitchFamily="2" charset="2"/>
              <a:buChar char=""/>
              <a:tabLst>
                <a:tab pos="5556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defRPr/>
            </a:pPr>
            <a:r>
              <a:rPr kumimoji="0" lang="en-US" altLang="en-US" sz="2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State the divisions of the nervous system</a:t>
            </a:r>
          </a:p>
          <a:p>
            <a:pPr marL="576263" marR="0" lvl="2" indent="-358775" algn="l" defTabSz="457200" rtl="0" eaLnBrk="1" fontAlgn="auto" latinLnBrk="0" hangingPunct="1">
              <a:lnSpc>
                <a:spcPct val="100000"/>
              </a:lnSpc>
              <a:spcBef>
                <a:spcPts val="800"/>
              </a:spcBef>
              <a:spcAft>
                <a:spcPts val="0"/>
              </a:spcAft>
              <a:buClrTx/>
              <a:buSzPct val="45000"/>
              <a:buFont typeface="Wingdings" panose="05000000000000000000" pitchFamily="2" charset="2"/>
              <a:buChar char=""/>
              <a:tabLst>
                <a:tab pos="5556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defRPr/>
            </a:pPr>
            <a:r>
              <a:rPr kumimoji="0" lang="en-US" altLang="en-US" sz="2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List the types of nervous tissue</a:t>
            </a:r>
          </a:p>
          <a:p>
            <a:pPr marL="576263" marR="0" lvl="2" indent="-358775" algn="l" defTabSz="457200" rtl="0" eaLnBrk="1" fontAlgn="auto" latinLnBrk="0" hangingPunct="1">
              <a:lnSpc>
                <a:spcPct val="100000"/>
              </a:lnSpc>
              <a:spcBef>
                <a:spcPts val="800"/>
              </a:spcBef>
              <a:spcAft>
                <a:spcPts val="0"/>
              </a:spcAft>
              <a:buClrTx/>
              <a:buSzPct val="45000"/>
              <a:buFont typeface="Wingdings" panose="05000000000000000000" pitchFamily="2" charset="2"/>
              <a:buChar char=""/>
              <a:tabLst>
                <a:tab pos="5556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defRPr/>
            </a:pPr>
            <a:r>
              <a:rPr kumimoji="0" lang="en-US" altLang="en-US" sz="2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Describe action potential generation and propagation</a:t>
            </a:r>
          </a:p>
          <a:p>
            <a:pPr marL="576263" marR="0" lvl="2" indent="-358775" algn="l" defTabSz="457200" rtl="0" eaLnBrk="1" fontAlgn="auto" latinLnBrk="0" hangingPunct="1">
              <a:lnSpc>
                <a:spcPct val="100000"/>
              </a:lnSpc>
              <a:spcBef>
                <a:spcPts val="800"/>
              </a:spcBef>
              <a:spcAft>
                <a:spcPts val="0"/>
              </a:spcAft>
              <a:buClrTx/>
              <a:buSzPct val="45000"/>
              <a:buFont typeface="Wingdings" panose="05000000000000000000" pitchFamily="2" charset="2"/>
              <a:buChar char=""/>
              <a:tabLst>
                <a:tab pos="5556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defRPr/>
            </a:pPr>
            <a:r>
              <a:rPr kumimoji="0" lang="en-US" altLang="en-US" sz="2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Describe sensory physiology and communication between cells</a:t>
            </a:r>
          </a:p>
          <a:p>
            <a:pPr marL="576263" marR="0" lvl="1" indent="-358775" algn="l" defTabSz="457200" rtl="0" eaLnBrk="1" fontAlgn="auto" latinLnBrk="0" hangingPunct="1">
              <a:lnSpc>
                <a:spcPct val="100000"/>
              </a:lnSpc>
              <a:spcBef>
                <a:spcPts val="800"/>
              </a:spcBef>
              <a:spcAft>
                <a:spcPts val="0"/>
              </a:spcAft>
              <a:buClrTx/>
              <a:buSzPct val="45000"/>
              <a:buFont typeface="Wingdings" panose="05000000000000000000" pitchFamily="2" charset="2"/>
              <a:buChar char=""/>
              <a:tabLst>
                <a:tab pos="5556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defRPr/>
            </a:pPr>
            <a:r>
              <a:rPr kumimoji="0" lang="en-US" altLang="en-US" sz="2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Describe the sensory and motor system</a:t>
            </a:r>
          </a:p>
          <a:p>
            <a:pPr marL="576263" marR="0" lvl="1" indent="-358775" algn="l" defTabSz="457200" rtl="0" eaLnBrk="1" fontAlgn="auto" latinLnBrk="0" hangingPunct="1">
              <a:lnSpc>
                <a:spcPct val="100000"/>
              </a:lnSpc>
              <a:spcBef>
                <a:spcPts val="800"/>
              </a:spcBef>
              <a:spcAft>
                <a:spcPts val="0"/>
              </a:spcAft>
              <a:buClrTx/>
              <a:buSzPct val="45000"/>
              <a:buFont typeface="Wingdings" panose="05000000000000000000" pitchFamily="2" charset="2"/>
              <a:buChar char=""/>
              <a:tabLst>
                <a:tab pos="5556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defRPr/>
            </a:pPr>
            <a:r>
              <a:rPr kumimoji="0" lang="en-US" altLang="en-US" sz="2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Differentiate between the functions of the sympathetic and the parasympathetic system</a:t>
            </a:r>
          </a:p>
        </p:txBody>
      </p:sp>
    </p:spTree>
    <p:extLst>
      <p:ext uri="{BB962C8B-B14F-4D97-AF65-F5344CB8AC3E}">
        <p14:creationId xmlns:p14="http://schemas.microsoft.com/office/powerpoint/2010/main" val="100512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Nervous System</a:t>
            </a:r>
          </a:p>
        </p:txBody>
      </p:sp>
      <p:pic>
        <p:nvPicPr>
          <p:cNvPr id="5" name="Content Placeholder 4"/>
          <p:cNvPicPr>
            <a:picLocks noGrp="1" noChangeAspect="1"/>
          </p:cNvPicPr>
          <p:nvPr>
            <p:ph sz="half" idx="1"/>
          </p:nvPr>
        </p:nvPicPr>
        <p:blipFill rotWithShape="1">
          <a:blip r:embed="rId2"/>
          <a:srcRect l="14412" r="10646" b="67773"/>
          <a:stretch/>
        </p:blipFill>
        <p:spPr>
          <a:xfrm>
            <a:off x="374903" y="1440625"/>
            <a:ext cx="5221459" cy="4009199"/>
          </a:xfrm>
          <a:prstGeom prst="rect">
            <a:avLst/>
          </a:prstGeom>
        </p:spPr>
      </p:pic>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pic>
        <p:nvPicPr>
          <p:cNvPr id="6" name="Picture 5"/>
          <p:cNvPicPr>
            <a:picLocks noChangeAspect="1"/>
          </p:cNvPicPr>
          <p:nvPr/>
        </p:nvPicPr>
        <p:blipFill rotWithShape="1">
          <a:blip r:embed="rId2"/>
          <a:srcRect l="9861" t="66626" r="3716" b="2134"/>
          <a:stretch/>
        </p:blipFill>
        <p:spPr>
          <a:xfrm>
            <a:off x="6313254" y="1440625"/>
            <a:ext cx="5878746" cy="3794315"/>
          </a:xfrm>
          <a:prstGeom prst="rect">
            <a:avLst/>
          </a:prstGeom>
        </p:spPr>
      </p:pic>
    </p:spTree>
    <p:extLst>
      <p:ext uri="{BB962C8B-B14F-4D97-AF65-F5344CB8AC3E}">
        <p14:creationId xmlns:p14="http://schemas.microsoft.com/office/powerpoint/2010/main" val="86573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5" name="Rectangle 1">
            <a:extLst>
              <a:ext uri="{FF2B5EF4-FFF2-40B4-BE49-F238E27FC236}">
                <a16:creationId xmlns:a16="http://schemas.microsoft.com/office/drawing/2014/main" id="{FDF7F528-E811-1E44-A5CA-4FA63D61480D}"/>
              </a:ext>
            </a:extLst>
          </p:cNvPr>
          <p:cNvSpPr>
            <a:spLocks noChangeArrowheads="1"/>
          </p:cNvSpPr>
          <p:nvPr/>
        </p:nvSpPr>
        <p:spPr bwMode="auto">
          <a:xfrm>
            <a:off x="381000" y="0"/>
            <a:ext cx="8382000"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3655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marL="342900" marR="0" lvl="0" indent="-336550" algn="l" defTabSz="457200" rtl="0" eaLnBrk="1" fontAlgn="auto" latinLnBrk="0" hangingPunct="1">
              <a:lnSpc>
                <a:spcPct val="100000"/>
              </a:lnSpc>
              <a:spcBef>
                <a:spcPts val="1025"/>
              </a:spcBef>
              <a:spcAft>
                <a:spcPts val="0"/>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LID33801" altLang="en-US" sz="4100" b="0"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Arial Unicode MS" panose="020B0604020202020204" pitchFamily="34" charset="-128"/>
              </a:rPr>
              <a:t>Functions of the Nervous System</a:t>
            </a:r>
          </a:p>
        </p:txBody>
      </p:sp>
      <p:sp>
        <p:nvSpPr>
          <p:cNvPr id="6" name="Text Box 6"/>
          <p:cNvSpPr txBox="1">
            <a:spLocks noChangeArrowheads="1"/>
          </p:cNvSpPr>
          <p:nvPr/>
        </p:nvSpPr>
        <p:spPr bwMode="auto">
          <a:xfrm>
            <a:off x="381000" y="1060704"/>
            <a:ext cx="11341608" cy="53118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marL="342900" indent="-336550">
              <a:spcBef>
                <a:spcPts val="800"/>
              </a:spcBef>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3200">
                <a:solidFill>
                  <a:srgbClr val="000000"/>
                </a:solidFill>
                <a:latin typeface="Times New Roman" panose="02020603050405020304" pitchFamily="18" charset="0"/>
                <a:ea typeface="Arial Unicode MS" charset="-128"/>
              </a:defRPr>
            </a:lvl1pPr>
            <a:lvl2pPr marL="685800" indent="-228600">
              <a:spcBef>
                <a:spcPts val="700"/>
              </a:spcBef>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800">
                <a:solidFill>
                  <a:srgbClr val="000000"/>
                </a:solidFill>
                <a:latin typeface="Times New Roman" panose="02020603050405020304" pitchFamily="18" charset="0"/>
                <a:ea typeface="Arial Unicode MS" charset="-128"/>
              </a:defRPr>
            </a:lvl2pPr>
            <a:lvl3pPr>
              <a:spcBef>
                <a:spcPts val="600"/>
              </a:spcBef>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charset="-128"/>
              </a:defRPr>
            </a:lvl3pPr>
            <a:lvl4pPr>
              <a:spcBef>
                <a:spcPts val="500"/>
              </a:spcBef>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000">
                <a:solidFill>
                  <a:srgbClr val="000000"/>
                </a:solidFill>
                <a:latin typeface="Times New Roman" panose="02020603050405020304" pitchFamily="18" charset="0"/>
                <a:ea typeface="Arial Unicode MS" charset="-128"/>
              </a:defRPr>
            </a:lvl4pPr>
            <a:lvl5pPr>
              <a:spcBef>
                <a:spcPts val="500"/>
              </a:spcBef>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000">
                <a:solidFill>
                  <a:srgbClr val="000000"/>
                </a:solidFill>
                <a:latin typeface="Times New Roman" panose="02020603050405020304" pitchFamily="18" charset="0"/>
                <a:ea typeface="Arial Unicode MS"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000">
                <a:solidFill>
                  <a:srgbClr val="000000"/>
                </a:solidFill>
                <a:latin typeface="Times New Roman" panose="02020603050405020304" pitchFamily="18" charset="0"/>
                <a:ea typeface="Arial Unicode MS"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000">
                <a:solidFill>
                  <a:srgbClr val="000000"/>
                </a:solidFill>
                <a:latin typeface="Times New Roman" panose="02020603050405020304" pitchFamily="18" charset="0"/>
                <a:ea typeface="Arial Unicode MS"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000">
                <a:solidFill>
                  <a:srgbClr val="000000"/>
                </a:solidFill>
                <a:latin typeface="Times New Roman" panose="02020603050405020304" pitchFamily="18" charset="0"/>
                <a:ea typeface="Arial Unicode MS"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000">
                <a:solidFill>
                  <a:srgbClr val="000000"/>
                </a:solidFill>
                <a:latin typeface="Times New Roman" panose="02020603050405020304" pitchFamily="18" charset="0"/>
                <a:ea typeface="Arial Unicode MS" charset="-128"/>
              </a:defRPr>
            </a:lvl9pPr>
          </a:lstStyle>
          <a:p>
            <a:pPr marL="342900" marR="0" lvl="0" indent="-336550" algn="l" defTabSz="457200" rtl="0" eaLnBrk="1" fontAlgn="auto" latinLnBrk="0" hangingPunct="1">
              <a:lnSpc>
                <a:spcPct val="80000"/>
              </a:lnSpc>
              <a:spcBef>
                <a:spcPct val="0"/>
              </a:spcBef>
              <a:spcAft>
                <a:spcPts val="2125"/>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1. Sensory input – gathering information</a:t>
            </a:r>
          </a:p>
          <a:p>
            <a:pPr marL="685800" marR="0" lvl="1" indent="-228600" algn="l" defTabSz="457200" rtl="0" eaLnBrk="1" fontAlgn="auto" latinLnBrk="0" hangingPunct="1">
              <a:lnSpc>
                <a:spcPct val="80000"/>
              </a:lnSpc>
              <a:spcBef>
                <a:spcPct val="0"/>
              </a:spcBef>
              <a:spcAft>
                <a:spcPts val="1875"/>
              </a:spcAft>
              <a:buClr>
                <a:srgbClr val="FF6600"/>
              </a:buClr>
              <a:buSzPct val="100000"/>
              <a:buFont typeface="Symbol" panose="05050102010706020507" pitchFamily="18" charset="2"/>
              <a:buChar cha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To monitor changes occurring inside and outside the body (changes = stimuli)</a:t>
            </a:r>
          </a:p>
          <a:p>
            <a:pPr marL="342900" marR="0" lvl="0" indent="-336550" algn="l" defTabSz="457200" rtl="0" eaLnBrk="1" fontAlgn="auto" latinLnBrk="0" hangingPunct="1">
              <a:lnSpc>
                <a:spcPct val="80000"/>
              </a:lnSpc>
              <a:spcBef>
                <a:spcPct val="0"/>
              </a:spcBef>
              <a:spcAft>
                <a:spcPts val="2125"/>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2. Integration –</a:t>
            </a:r>
          </a:p>
          <a:p>
            <a:pPr marL="685800" marR="0" lvl="1" indent="-228600" algn="l" defTabSz="457200" rtl="0" eaLnBrk="1" fontAlgn="auto" latinLnBrk="0" hangingPunct="1">
              <a:lnSpc>
                <a:spcPct val="80000"/>
              </a:lnSpc>
              <a:spcBef>
                <a:spcPct val="0"/>
              </a:spcBef>
              <a:spcAft>
                <a:spcPts val="2000"/>
              </a:spcAft>
              <a:buClr>
                <a:srgbClr val="FF6600"/>
              </a:buClr>
              <a:buSzPct val="100000"/>
              <a:buFont typeface="Symbol" panose="05050102010706020507" pitchFamily="18" charset="2"/>
              <a:buChar cha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en-US" altLang="en-US" sz="32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To process and interpret sensory input and decide if action is needed.</a:t>
            </a:r>
          </a:p>
          <a:p>
            <a:pPr marL="342900" marR="0" lvl="0" indent="-336550" algn="l" defTabSz="457200" rtl="0" eaLnBrk="1" fontAlgn="auto" latinLnBrk="0" hangingPunct="1">
              <a:lnSpc>
                <a:spcPct val="90000"/>
              </a:lnSpc>
              <a:spcBef>
                <a:spcPct val="0"/>
              </a:spcBef>
              <a:spcAft>
                <a:spcPts val="2125"/>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3. Motor output</a:t>
            </a:r>
          </a:p>
          <a:p>
            <a:pPr marL="685800" marR="0" lvl="1" indent="-228600" algn="l" defTabSz="457200" rtl="0" eaLnBrk="1" fontAlgn="auto" latinLnBrk="0" hangingPunct="1">
              <a:lnSpc>
                <a:spcPct val="90000"/>
              </a:lnSpc>
              <a:spcBef>
                <a:spcPct val="0"/>
              </a:spcBef>
              <a:spcAft>
                <a:spcPts val="1875"/>
              </a:spcAft>
              <a:buClr>
                <a:srgbClr val="FF6600"/>
              </a:buClr>
              <a:buSzPct val="100000"/>
              <a:buFont typeface="Symbol" panose="05050102010706020507" pitchFamily="18" charset="2"/>
              <a:buChar cha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A response to integrated stimuli</a:t>
            </a:r>
          </a:p>
          <a:p>
            <a:pPr marL="685800" marR="0" lvl="1" indent="-228600" algn="l" defTabSz="457200" rtl="0" eaLnBrk="1" fontAlgn="auto" latinLnBrk="0" hangingPunct="1">
              <a:lnSpc>
                <a:spcPct val="90000"/>
              </a:lnSpc>
              <a:spcBef>
                <a:spcPct val="0"/>
              </a:spcBef>
              <a:spcAft>
                <a:spcPts val="1875"/>
              </a:spcAft>
              <a:buClr>
                <a:srgbClr val="FF6600"/>
              </a:buClr>
              <a:buSzPct val="100000"/>
              <a:buFont typeface="Symbol" panose="05050102010706020507" pitchFamily="18" charset="2"/>
              <a:buChar cha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The response activates muscles or glands</a:t>
            </a:r>
          </a:p>
        </p:txBody>
      </p:sp>
    </p:spTree>
    <p:extLst>
      <p:ext uri="{BB962C8B-B14F-4D97-AF65-F5344CB8AC3E}">
        <p14:creationId xmlns:p14="http://schemas.microsoft.com/office/powerpoint/2010/main" val="115066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afterEffect">
                                  <p:stCondLst>
                                    <p:cond delay="0"/>
                                  </p:stCondLst>
                                  <p:childTnLst>
                                    <p:set>
                                      <p:cBhvr additive="repl">
                                        <p:cTn id="6" dur="1" fill="hold">
                                          <p:stCondLst>
                                            <p:cond delay="0"/>
                                          </p:stCondLst>
                                        </p:cTn>
                                        <p:tgtEl>
                                          <p:spTgt spid="5">
                                            <p:txEl>
                                              <p:pRg st="0" end="0"/>
                                            </p:txEl>
                                          </p:spTgt>
                                        </p:tgtEl>
                                        <p:attrNameLst>
                                          <p:attrName>style.visibility</p:attrName>
                                        </p:attrNameLst>
                                      </p:cBhvr>
                                      <p:to>
                                        <p:strVal val="visible"/>
                                      </p:to>
                                    </p:set>
                                    <p:animEffect transition="in" filter="dissolve">
                                      <p:cBhvr additive="repl">
                                        <p:cTn id="7" dur="500"/>
                                        <p:tgtEl>
                                          <p:spTgt spid="5">
                                            <p:txEl>
                                              <p:pRg st="0" end="0"/>
                                            </p:txEl>
                                          </p:spTgt>
                                        </p:tgtEl>
                                      </p:cBhvr>
                                    </p:animEffect>
                                  </p:childTnLst>
                                </p:cTn>
                              </p:par>
                            </p:childTnLst>
                          </p:cTn>
                        </p:par>
                        <p:par>
                          <p:cTn id="8" fill="hold">
                            <p:stCondLst>
                              <p:cond delay="500"/>
                            </p:stCondLst>
                            <p:childTnLst>
                              <p:par>
                                <p:cTn id="9" presetID="9" presetClass="entr" fill="hold" nodeType="afterEffect">
                                  <p:stCondLst>
                                    <p:cond delay="0"/>
                                  </p:stCondLst>
                                  <p:childTnLst>
                                    <p:set>
                                      <p:cBhvr additive="repl">
                                        <p:cTn id="10" dur="1" fill="hold">
                                          <p:stCondLst>
                                            <p:cond delay="0"/>
                                          </p:stCondLst>
                                        </p:cTn>
                                        <p:tgtEl>
                                          <p:spTgt spid="6"/>
                                        </p:tgtEl>
                                        <p:attrNameLst>
                                          <p:attrName>style.visibility</p:attrName>
                                        </p:attrNameLst>
                                      </p:cBhvr>
                                      <p:to>
                                        <p:strVal val="visible"/>
                                      </p:to>
                                    </p:set>
                                    <p:animEffect transition="in" filter="dissolve">
                                      <p:cBhvr additive="repl">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 calcmode="lin" valueType="num">
                                      <p:cBhvr additive="base">
                                        <p:cTn id="16"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6">
                                            <p:txEl>
                                              <p:pRg st="0" end="0"/>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 calcmode="lin" valueType="num">
                                      <p:cBhvr additive="base">
                                        <p:cTn id="20"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 calcmode="lin" valueType="num">
                                      <p:cBhvr additive="base">
                                        <p:cTn id="26"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6">
                                            <p:txEl>
                                              <p:pRg st="2" end="2"/>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 calcmode="lin" valueType="num">
                                      <p:cBhvr additive="base">
                                        <p:cTn id="30"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anim calcmode="lin" valueType="num">
                                      <p:cBhvr additive="base">
                                        <p:cTn id="36"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
                                            <p:txEl>
                                              <p:pRg st="4" end="4"/>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 calcmode="lin" valueType="num">
                                      <p:cBhvr additive="base">
                                        <p:cTn id="40"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6">
                                            <p:txEl>
                                              <p:pRg st="5" end="5"/>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6">
                                            <p:txEl>
                                              <p:pRg st="6" end="6"/>
                                            </p:txEl>
                                          </p:spTgt>
                                        </p:tgtEl>
                                        <p:attrNameLst>
                                          <p:attrName>style.visibility</p:attrName>
                                        </p:attrNameLst>
                                      </p:cBhvr>
                                      <p:to>
                                        <p:strVal val="visible"/>
                                      </p:to>
                                    </p:set>
                                    <p:anim calcmode="lin" valueType="num">
                                      <p:cBhvr additive="base">
                                        <p:cTn id="44"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half" idx="1"/>
          </p:nvPr>
        </p:nvPicPr>
        <p:blipFill>
          <a:blip r:embed="rId2"/>
          <a:stretch>
            <a:fillRect/>
          </a:stretch>
        </p:blipFill>
        <p:spPr>
          <a:xfrm>
            <a:off x="2537197" y="1001713"/>
            <a:ext cx="7343031" cy="5176837"/>
          </a:xfrm>
          <a:prstGeom prst="rect">
            <a:avLst/>
          </a:prstGeom>
        </p:spPr>
      </p:pic>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Tree>
    <p:extLst>
      <p:ext uri="{BB962C8B-B14F-4D97-AF65-F5344CB8AC3E}">
        <p14:creationId xmlns:p14="http://schemas.microsoft.com/office/powerpoint/2010/main" val="3792991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itle 2"/>
          <p:cNvSpPr>
            <a:spLocks noGrp="1"/>
          </p:cNvSpPr>
          <p:nvPr>
            <p:ph type="title"/>
          </p:nvPr>
        </p:nvSpPr>
        <p:spPr>
          <a:xfrm>
            <a:off x="609600" y="64326"/>
            <a:ext cx="10972800" cy="895794"/>
          </a:xfrm>
        </p:spPr>
        <p:txBody>
          <a:bodyPr/>
          <a:lstStyle/>
          <a:p>
            <a:r>
              <a:rPr lang="en-US" altLang="en-US" sz="4400" b="1" dirty="0">
                <a:solidFill>
                  <a:srgbClr val="000000"/>
                </a:solidFill>
                <a:effectLst>
                  <a:outerShdw blurRad="38100" dist="38100" dir="2700000" algn="tl">
                    <a:srgbClr val="000000">
                      <a:alpha val="43137"/>
                    </a:srgbClr>
                  </a:outerShdw>
                </a:effectLst>
                <a:latin typeface="Arial"/>
              </a:rPr>
              <a:t>Nervous vs. Endocrine System</a:t>
            </a:r>
            <a:endParaRPr lang="en-US" b="1" dirty="0">
              <a:solidFill>
                <a:srgbClr val="000000"/>
              </a:solidFill>
              <a:effectLst>
                <a:outerShdw blurRad="38100" dist="38100" dir="2700000" algn="tl">
                  <a:srgbClr val="000000">
                    <a:alpha val="43137"/>
                  </a:srgbClr>
                </a:outerShdw>
              </a:effectLst>
            </a:endParaRPr>
          </a:p>
        </p:txBody>
      </p:sp>
      <p:sp>
        <p:nvSpPr>
          <p:cNvPr id="4" name="Rectangle 3"/>
          <p:cNvSpPr txBox="1">
            <a:spLocks noChangeArrowheads="1"/>
          </p:cNvSpPr>
          <p:nvPr/>
        </p:nvSpPr>
        <p:spPr bwMode="auto">
          <a:xfrm>
            <a:off x="609600" y="1078992"/>
            <a:ext cx="10308336"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Arial"/>
                <a:ea typeface="+mn-ea"/>
                <a:cs typeface="+mn-cs"/>
              </a:rPr>
              <a:t>Similarities: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They both monitor stimuli and react so as to maintain homeostasis.</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Arial"/>
                <a:ea typeface="+mn-ea"/>
                <a:cs typeface="+mn-cs"/>
              </a:rPr>
              <a:t>Differences: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The NS is a rapid, fast-acting system whose effects do not always persevere.  </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The ES acts slower (via blood-borne chemical signals called H _ _ _ _ _ _ _) and its actions are usually much longer lasting.</a:t>
            </a:r>
          </a:p>
        </p:txBody>
      </p:sp>
    </p:spTree>
    <p:extLst>
      <p:ext uri="{BB962C8B-B14F-4D97-AF65-F5344CB8AC3E}">
        <p14:creationId xmlns:p14="http://schemas.microsoft.com/office/powerpoint/2010/main" val="382182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additive="base">
                                        <p:cTn id="2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additive="base">
                                        <p:cTn id="2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5" name="Picture 4"/>
          <p:cNvPicPr>
            <a:picLocks noChangeAspect="1"/>
          </p:cNvPicPr>
          <p:nvPr/>
        </p:nvPicPr>
        <p:blipFill rotWithShape="1">
          <a:blip r:embed="rId2"/>
          <a:srcRect l="10052" r="7091" b="83527"/>
          <a:stretch/>
        </p:blipFill>
        <p:spPr>
          <a:xfrm>
            <a:off x="2478024" y="-36019"/>
            <a:ext cx="7159752" cy="1051003"/>
          </a:xfrm>
          <a:prstGeom prst="rect">
            <a:avLst/>
          </a:prstGeom>
        </p:spPr>
      </p:pic>
      <p:pic>
        <p:nvPicPr>
          <p:cNvPr id="6" name="Picture 5"/>
          <p:cNvPicPr>
            <a:picLocks noChangeAspect="1"/>
          </p:cNvPicPr>
          <p:nvPr/>
        </p:nvPicPr>
        <p:blipFill rotWithShape="1">
          <a:blip r:embed="rId2"/>
          <a:srcRect l="-918" t="16092" r="48748" b="62124"/>
          <a:stretch/>
        </p:blipFill>
        <p:spPr>
          <a:xfrm>
            <a:off x="1531620" y="1014984"/>
            <a:ext cx="4507992" cy="1389888"/>
          </a:xfrm>
          <a:prstGeom prst="rect">
            <a:avLst/>
          </a:prstGeom>
        </p:spPr>
      </p:pic>
      <p:pic>
        <p:nvPicPr>
          <p:cNvPr id="7" name="Picture 6"/>
          <p:cNvPicPr>
            <a:picLocks noChangeAspect="1"/>
          </p:cNvPicPr>
          <p:nvPr/>
        </p:nvPicPr>
        <p:blipFill rotWithShape="1">
          <a:blip r:embed="rId2"/>
          <a:srcRect l="50299" t="15976" r="72" b="62096"/>
          <a:stretch/>
        </p:blipFill>
        <p:spPr>
          <a:xfrm>
            <a:off x="5961888" y="1010412"/>
            <a:ext cx="4288536" cy="1399032"/>
          </a:xfrm>
          <a:prstGeom prst="rect">
            <a:avLst/>
          </a:prstGeom>
        </p:spPr>
      </p:pic>
      <p:pic>
        <p:nvPicPr>
          <p:cNvPr id="8" name="Picture 7"/>
          <p:cNvPicPr>
            <a:picLocks noChangeAspect="1"/>
          </p:cNvPicPr>
          <p:nvPr/>
        </p:nvPicPr>
        <p:blipFill rotWithShape="1">
          <a:blip r:embed="rId2"/>
          <a:srcRect l="-1341" t="37732" r="52240" b="17840"/>
          <a:stretch/>
        </p:blipFill>
        <p:spPr>
          <a:xfrm>
            <a:off x="1495044" y="2404872"/>
            <a:ext cx="4242816" cy="2834640"/>
          </a:xfrm>
          <a:prstGeom prst="rect">
            <a:avLst/>
          </a:prstGeom>
        </p:spPr>
      </p:pic>
      <p:pic>
        <p:nvPicPr>
          <p:cNvPr id="9" name="Picture 8"/>
          <p:cNvPicPr>
            <a:picLocks noChangeAspect="1"/>
          </p:cNvPicPr>
          <p:nvPr/>
        </p:nvPicPr>
        <p:blipFill rotWithShape="1">
          <a:blip r:embed="rId2"/>
          <a:srcRect l="49135" t="38160" r="25891" b="21853"/>
          <a:stretch/>
        </p:blipFill>
        <p:spPr>
          <a:xfrm>
            <a:off x="5861304" y="2414016"/>
            <a:ext cx="2157984" cy="2551176"/>
          </a:xfrm>
          <a:prstGeom prst="rect">
            <a:avLst/>
          </a:prstGeom>
        </p:spPr>
      </p:pic>
      <p:pic>
        <p:nvPicPr>
          <p:cNvPr id="10" name="Picture 9"/>
          <p:cNvPicPr>
            <a:picLocks noChangeAspect="1"/>
          </p:cNvPicPr>
          <p:nvPr/>
        </p:nvPicPr>
        <p:blipFill rotWithShape="1">
          <a:blip r:embed="rId2"/>
          <a:srcRect l="74109" t="37160" r="-247" b="21994"/>
          <a:stretch/>
        </p:blipFill>
        <p:spPr>
          <a:xfrm>
            <a:off x="8005572" y="2346711"/>
            <a:ext cx="2258568" cy="2606040"/>
          </a:xfrm>
          <a:prstGeom prst="rect">
            <a:avLst/>
          </a:prstGeom>
        </p:spPr>
      </p:pic>
      <p:pic>
        <p:nvPicPr>
          <p:cNvPr id="11" name="Picture 10"/>
          <p:cNvPicPr>
            <a:picLocks noChangeAspect="1"/>
          </p:cNvPicPr>
          <p:nvPr/>
        </p:nvPicPr>
        <p:blipFill rotWithShape="1">
          <a:blip r:embed="rId2"/>
          <a:srcRect l="30616" t="78433" r="2823" b="-361"/>
          <a:stretch/>
        </p:blipFill>
        <p:spPr>
          <a:xfrm>
            <a:off x="4261104" y="4952751"/>
            <a:ext cx="5751576" cy="1399032"/>
          </a:xfrm>
          <a:prstGeom prst="rect">
            <a:avLst/>
          </a:prstGeom>
        </p:spPr>
      </p:pic>
    </p:spTree>
    <p:extLst>
      <p:ext uri="{BB962C8B-B14F-4D97-AF65-F5344CB8AC3E}">
        <p14:creationId xmlns:p14="http://schemas.microsoft.com/office/powerpoint/2010/main" val="4219585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ppt_x"/>
                                          </p:val>
                                        </p:tav>
                                        <p:tav tm="100000">
                                          <p:val>
                                            <p:strVal val="#ppt_x"/>
                                          </p:val>
                                        </p:tav>
                                      </p:tavLst>
                                    </p:anim>
                                    <p:anim calcmode="lin" valueType="num">
                                      <p:cBhvr additive="base">
                                        <p:cTn id="3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p:tgtEl>
                                          <p:spTgt spid="11"/>
                                        </p:tgtEl>
                                        <p:attrNameLst>
                                          <p:attrName>ppt_x</p:attrName>
                                        </p:attrNameLst>
                                      </p:cBhvr>
                                      <p:tavLst>
                                        <p:tav tm="0">
                                          <p:val>
                                            <p:strVal val="#ppt_x"/>
                                          </p:val>
                                        </p:tav>
                                        <p:tav tm="100000">
                                          <p:val>
                                            <p:strVal val="#ppt_x"/>
                                          </p:val>
                                        </p:tav>
                                      </p:tavLst>
                                    </p:anim>
                                    <p:anim calcmode="lin" valueType="num">
                                      <p:cBhvr additive="base">
                                        <p:cTn id="4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Rectangle 2"/>
          <p:cNvSpPr>
            <a:spLocks noGrp="1" noChangeArrowheads="1"/>
          </p:cNvSpPr>
          <p:nvPr>
            <p:ph type="title"/>
          </p:nvPr>
        </p:nvSpPr>
        <p:spPr>
          <a:xfrm>
            <a:off x="0" y="0"/>
            <a:ext cx="12192000" cy="795528"/>
          </a:xfrm>
          <a:solidFill>
            <a:srgbClr val="FF0000"/>
          </a:solidFill>
          <a:ln>
            <a:solidFill>
              <a:srgbClr val="000000"/>
            </a:solidFill>
            <a:miter lim="800000"/>
            <a:headEnd/>
            <a:tailEnd/>
          </a:ln>
        </p:spPr>
        <p:txBody>
          <a:bodyPr/>
          <a:lstStyle/>
          <a:p>
            <a:r>
              <a:rPr lang="en-US" altLang="en-US" sz="3600" b="1">
                <a:effectLst>
                  <a:outerShdw blurRad="38100" dist="38100" dir="2700000" algn="tl">
                    <a:srgbClr val="000000">
                      <a:alpha val="43137"/>
                    </a:srgbClr>
                  </a:outerShdw>
                </a:effectLst>
              </a:rPr>
              <a:t>Peripheral Nervous System</a:t>
            </a:r>
          </a:p>
        </p:txBody>
      </p:sp>
      <p:sp>
        <p:nvSpPr>
          <p:cNvPr id="5" name="Rectangle 3"/>
          <p:cNvSpPr txBox="1">
            <a:spLocks noChangeArrowheads="1"/>
          </p:cNvSpPr>
          <p:nvPr/>
        </p:nvSpPr>
        <p:spPr bwMode="auto">
          <a:xfrm>
            <a:off x="457200" y="1014984"/>
            <a:ext cx="10680192" cy="5111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Responsible for communication between the CNS and the rest of the body.</a:t>
            </a:r>
          </a:p>
          <a:p>
            <a:pPr marL="342900" marR="0" lvl="0" indent="-342900" algn="l" defTabSz="914400" rtl="0" eaLnBrk="1" fontAlgn="base" latinLnBrk="0" hangingPunct="1">
              <a:lnSpc>
                <a:spcPct val="80000"/>
              </a:lnSpc>
              <a:spcBef>
                <a:spcPct val="20000"/>
              </a:spcBef>
              <a:spcAft>
                <a:spcPct val="0"/>
              </a:spcAft>
              <a:buClrTx/>
              <a:buSzTx/>
              <a:buFontTx/>
              <a:buChar char="•"/>
              <a:tabLst/>
              <a:defRPr/>
            </a:pPr>
            <a:endParaRPr kumimoji="0" lang="en-US" altLang="en-US" sz="28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Char char="•"/>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Can be divided into:</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en-US" sz="2400" b="1" i="0" u="none" strike="noStrike" kern="1200" cap="none" spc="0" normalizeH="0" baseline="0" noProof="0" dirty="0">
                <a:ln>
                  <a:noFill/>
                </a:ln>
                <a:solidFill>
                  <a:srgbClr val="000000"/>
                </a:solidFill>
                <a:effectLst/>
                <a:uLnTx/>
                <a:uFillTx/>
                <a:latin typeface="Arial"/>
                <a:ea typeface="+mn-ea"/>
                <a:cs typeface="+mn-cs"/>
              </a:rPr>
              <a:t>Sensory Division </a:t>
            </a:r>
          </a:p>
          <a:p>
            <a:pPr marL="1143000" marR="0" lvl="2" indent="-228600" algn="l" defTabSz="914400" rtl="0" eaLnBrk="1" fontAlgn="base" latinLnBrk="0" hangingPunct="1">
              <a:lnSpc>
                <a:spcPct val="80000"/>
              </a:lnSpc>
              <a:spcBef>
                <a:spcPct val="20000"/>
              </a:spcBef>
              <a:spcAft>
                <a:spcPct val="0"/>
              </a:spcAft>
              <a:buClrTx/>
              <a:buSzTx/>
              <a:buFontTx/>
              <a:buChar char="•"/>
              <a:tabLst/>
              <a:defRPr/>
            </a:pPr>
            <a:r>
              <a:rPr kumimoji="0" lang="en-US" altLang="en-US" sz="2000" b="0" i="1" u="none" strike="noStrike" kern="1200" cap="none" spc="0" normalizeH="0" baseline="0" noProof="0" dirty="0">
                <a:ln>
                  <a:noFill/>
                </a:ln>
                <a:solidFill>
                  <a:srgbClr val="000000"/>
                </a:solidFill>
                <a:effectLst/>
                <a:uLnTx/>
                <a:uFillTx/>
                <a:latin typeface="Arial"/>
                <a:ea typeface="+mn-ea"/>
                <a:cs typeface="+mn-cs"/>
              </a:rPr>
              <a:t>Afferent division</a:t>
            </a:r>
          </a:p>
          <a:p>
            <a:pPr marL="1600200" marR="0" lvl="3" indent="-228600" algn="l" defTabSz="914400" rtl="0" eaLnBrk="1" fontAlgn="base" latinLnBrk="0" hangingPunct="1">
              <a:lnSpc>
                <a:spcPct val="80000"/>
              </a:lnSpc>
              <a:spcBef>
                <a:spcPct val="20000"/>
              </a:spcBef>
              <a:spcAft>
                <a:spcPct val="0"/>
              </a:spcAft>
              <a:buClrTx/>
              <a:buSzTx/>
              <a:buFontTx/>
              <a:buChar char="–"/>
              <a:tabLst/>
              <a:defRPr/>
            </a:pPr>
            <a:r>
              <a:rPr kumimoji="0" lang="en-US" altLang="en-US" sz="1800" b="0" i="0" u="none" strike="noStrike" kern="1200" cap="none" spc="0" normalizeH="0" baseline="0" noProof="0" dirty="0">
                <a:ln>
                  <a:noFill/>
                </a:ln>
                <a:solidFill>
                  <a:srgbClr val="000000"/>
                </a:solidFill>
                <a:effectLst/>
                <a:uLnTx/>
                <a:uFillTx/>
                <a:latin typeface="Arial"/>
                <a:ea typeface="+mn-ea"/>
                <a:cs typeface="+mn-cs"/>
              </a:rPr>
              <a:t>Conducts impulses from receptors to the CNS</a:t>
            </a:r>
          </a:p>
          <a:p>
            <a:pPr marL="1600200" marR="0" lvl="3" indent="-228600" algn="l" defTabSz="914400" rtl="0" eaLnBrk="1" fontAlgn="base" latinLnBrk="0" hangingPunct="1">
              <a:lnSpc>
                <a:spcPct val="80000"/>
              </a:lnSpc>
              <a:spcBef>
                <a:spcPct val="20000"/>
              </a:spcBef>
              <a:spcAft>
                <a:spcPct val="0"/>
              </a:spcAft>
              <a:buClrTx/>
              <a:buSzTx/>
              <a:buFontTx/>
              <a:buChar char="–"/>
              <a:tabLst/>
              <a:defRPr/>
            </a:pPr>
            <a:r>
              <a:rPr kumimoji="0" lang="en-US" altLang="en-US" sz="1800" b="0" i="0" u="none" strike="noStrike" kern="1200" cap="none" spc="0" normalizeH="0" baseline="0" noProof="0" dirty="0">
                <a:ln>
                  <a:noFill/>
                </a:ln>
                <a:solidFill>
                  <a:srgbClr val="000000"/>
                </a:solidFill>
                <a:effectLst/>
                <a:uLnTx/>
                <a:uFillTx/>
                <a:latin typeface="Arial"/>
                <a:ea typeface="+mn-ea"/>
                <a:cs typeface="+mn-cs"/>
              </a:rPr>
              <a:t>Informs the CNS of the state of the body interior and exterior</a:t>
            </a:r>
          </a:p>
          <a:p>
            <a:pPr marL="1600200" marR="0" lvl="3" indent="-228600" algn="l" defTabSz="914400" rtl="0" eaLnBrk="1" fontAlgn="base" latinLnBrk="0" hangingPunct="1">
              <a:lnSpc>
                <a:spcPct val="80000"/>
              </a:lnSpc>
              <a:spcBef>
                <a:spcPct val="20000"/>
              </a:spcBef>
              <a:spcAft>
                <a:spcPct val="0"/>
              </a:spcAft>
              <a:buClrTx/>
              <a:buSzTx/>
              <a:buFontTx/>
              <a:buChar char="–"/>
              <a:tabLst/>
              <a:defRPr/>
            </a:pPr>
            <a:r>
              <a:rPr kumimoji="0" lang="en-US" altLang="en-US" sz="1800" b="0" i="0" u="none" strike="noStrike" kern="1200" cap="none" spc="0" normalizeH="0" baseline="0" noProof="0" dirty="0">
                <a:ln>
                  <a:noFill/>
                </a:ln>
                <a:solidFill>
                  <a:srgbClr val="000000"/>
                </a:solidFill>
                <a:effectLst/>
                <a:uLnTx/>
                <a:uFillTx/>
                <a:latin typeface="Arial"/>
                <a:ea typeface="+mn-ea"/>
                <a:cs typeface="+mn-cs"/>
              </a:rPr>
              <a:t>Sensory nerve fibers can be </a:t>
            </a:r>
            <a:r>
              <a:rPr kumimoji="0" lang="en-US" altLang="en-US" sz="1800" b="1" i="0" u="none" strike="noStrike" kern="1200" cap="none" spc="0" normalizeH="0" baseline="0" noProof="0" dirty="0">
                <a:ln>
                  <a:noFill/>
                </a:ln>
                <a:solidFill>
                  <a:srgbClr val="000000"/>
                </a:solidFill>
                <a:effectLst/>
                <a:uLnTx/>
                <a:uFillTx/>
                <a:latin typeface="Arial"/>
                <a:ea typeface="+mn-ea"/>
                <a:cs typeface="+mn-cs"/>
              </a:rPr>
              <a:t>somatic</a:t>
            </a:r>
            <a:r>
              <a:rPr kumimoji="0" lang="en-US" altLang="en-US" sz="1800" b="0" i="0" u="none" strike="noStrike" kern="1200" cap="none" spc="0" normalizeH="0" baseline="0" noProof="0" dirty="0">
                <a:ln>
                  <a:noFill/>
                </a:ln>
                <a:solidFill>
                  <a:srgbClr val="000000"/>
                </a:solidFill>
                <a:effectLst/>
                <a:uLnTx/>
                <a:uFillTx/>
                <a:latin typeface="Arial"/>
                <a:ea typeface="+mn-ea"/>
                <a:cs typeface="+mn-cs"/>
              </a:rPr>
              <a:t> (from skin, skeletal muscles or joints) or </a:t>
            </a:r>
            <a:r>
              <a:rPr kumimoji="0" lang="en-US" altLang="en-US" sz="1800" b="1" i="0" u="none" strike="noStrike" kern="1200" cap="none" spc="0" normalizeH="0" baseline="0" noProof="0" dirty="0">
                <a:ln>
                  <a:noFill/>
                </a:ln>
                <a:solidFill>
                  <a:srgbClr val="000000"/>
                </a:solidFill>
                <a:effectLst/>
                <a:uLnTx/>
                <a:uFillTx/>
                <a:latin typeface="Arial"/>
                <a:ea typeface="+mn-ea"/>
                <a:cs typeface="+mn-cs"/>
              </a:rPr>
              <a:t>visceral</a:t>
            </a:r>
            <a:r>
              <a:rPr kumimoji="0" lang="en-US" altLang="en-US" sz="1800" b="0" i="0" u="none" strike="noStrike" kern="1200" cap="none" spc="0" normalizeH="0" baseline="0" noProof="0" dirty="0">
                <a:ln>
                  <a:noFill/>
                </a:ln>
                <a:solidFill>
                  <a:srgbClr val="000000"/>
                </a:solidFill>
                <a:effectLst/>
                <a:uLnTx/>
                <a:uFillTx/>
                <a:latin typeface="Arial"/>
                <a:ea typeface="+mn-ea"/>
                <a:cs typeface="+mn-cs"/>
              </a:rPr>
              <a:t> (from organs w/</a:t>
            </a:r>
            <a:r>
              <a:rPr kumimoji="0" lang="en-US" altLang="en-US" sz="1800" b="0" i="0" u="none" strike="noStrike" kern="1200" cap="none" spc="0" normalizeH="0" baseline="0" noProof="0" dirty="0" err="1">
                <a:ln>
                  <a:noFill/>
                </a:ln>
                <a:solidFill>
                  <a:srgbClr val="000000"/>
                </a:solidFill>
                <a:effectLst/>
                <a:uLnTx/>
                <a:uFillTx/>
                <a:latin typeface="Arial"/>
                <a:ea typeface="+mn-ea"/>
                <a:cs typeface="+mn-cs"/>
              </a:rPr>
              <a:t>i</a:t>
            </a:r>
            <a:r>
              <a:rPr kumimoji="0" lang="en-US" altLang="en-US" sz="1800" b="0" i="0" u="none" strike="noStrike" kern="1200" cap="none" spc="0" normalizeH="0" baseline="0" noProof="0" dirty="0">
                <a:ln>
                  <a:noFill/>
                </a:ln>
                <a:solidFill>
                  <a:srgbClr val="000000"/>
                </a:solidFill>
                <a:effectLst/>
                <a:uLnTx/>
                <a:uFillTx/>
                <a:latin typeface="Arial"/>
                <a:ea typeface="+mn-ea"/>
                <a:cs typeface="+mn-cs"/>
              </a:rPr>
              <a:t> the ventral body cavity)</a:t>
            </a:r>
          </a:p>
          <a:p>
            <a:pPr marL="742950" marR="0" lvl="1" indent="-285750" algn="l" defTabSz="914400" rtl="0" eaLnBrk="1" fontAlgn="base" latinLnBrk="0" hangingPunct="1">
              <a:lnSpc>
                <a:spcPct val="80000"/>
              </a:lnSpc>
              <a:spcBef>
                <a:spcPct val="20000"/>
              </a:spcBef>
              <a:spcAft>
                <a:spcPct val="0"/>
              </a:spcAft>
              <a:buClrTx/>
              <a:buSzTx/>
              <a:buFontTx/>
              <a:buChar char="–"/>
              <a:tabLst/>
              <a:defRPr/>
            </a:pPr>
            <a:r>
              <a:rPr kumimoji="0" lang="en-US" altLang="en-US" sz="2400" b="1" i="0" u="none" strike="noStrike" kern="1200" cap="none" spc="0" normalizeH="0" baseline="0" noProof="0" dirty="0">
                <a:ln>
                  <a:noFill/>
                </a:ln>
                <a:solidFill>
                  <a:srgbClr val="000000"/>
                </a:solidFill>
                <a:effectLst/>
                <a:uLnTx/>
                <a:uFillTx/>
                <a:latin typeface="Arial"/>
                <a:ea typeface="+mn-ea"/>
                <a:cs typeface="+mn-cs"/>
              </a:rPr>
              <a:t>Motor Division </a:t>
            </a:r>
          </a:p>
          <a:p>
            <a:pPr marL="1143000" marR="0" lvl="2" indent="-228600" algn="l" defTabSz="914400" rtl="0" eaLnBrk="1" fontAlgn="base" latinLnBrk="0" hangingPunct="1">
              <a:lnSpc>
                <a:spcPct val="80000"/>
              </a:lnSpc>
              <a:spcBef>
                <a:spcPct val="20000"/>
              </a:spcBef>
              <a:spcAft>
                <a:spcPct val="0"/>
              </a:spcAft>
              <a:buClrTx/>
              <a:buSzTx/>
              <a:buFontTx/>
              <a:buChar char="•"/>
              <a:tabLst/>
              <a:defRPr/>
            </a:pPr>
            <a:r>
              <a:rPr kumimoji="0" lang="en-US" altLang="en-US" sz="2000" b="0" i="1" u="none" strike="noStrike" kern="1200" cap="none" spc="0" normalizeH="0" baseline="0" noProof="0" dirty="0">
                <a:ln>
                  <a:noFill/>
                </a:ln>
                <a:solidFill>
                  <a:srgbClr val="000000"/>
                </a:solidFill>
                <a:effectLst/>
                <a:uLnTx/>
                <a:uFillTx/>
                <a:latin typeface="Arial"/>
                <a:ea typeface="+mn-ea"/>
                <a:cs typeface="+mn-cs"/>
              </a:rPr>
              <a:t>Efferent division</a:t>
            </a:r>
          </a:p>
          <a:p>
            <a:pPr marL="1600200" marR="0" lvl="3" indent="-228600" algn="l" defTabSz="914400" rtl="0" eaLnBrk="1" fontAlgn="base" latinLnBrk="0" hangingPunct="1">
              <a:lnSpc>
                <a:spcPct val="80000"/>
              </a:lnSpc>
              <a:spcBef>
                <a:spcPct val="20000"/>
              </a:spcBef>
              <a:spcAft>
                <a:spcPct val="0"/>
              </a:spcAft>
              <a:buClrTx/>
              <a:buSzTx/>
              <a:buFontTx/>
              <a:buChar char="–"/>
              <a:tabLst/>
              <a:defRPr/>
            </a:pPr>
            <a:r>
              <a:rPr kumimoji="0" lang="en-US" altLang="en-US" sz="1800" b="0" i="0" u="none" strike="noStrike" kern="1200" cap="none" spc="0" normalizeH="0" baseline="0" noProof="0" dirty="0">
                <a:ln>
                  <a:noFill/>
                </a:ln>
                <a:solidFill>
                  <a:srgbClr val="000000"/>
                </a:solidFill>
                <a:effectLst/>
                <a:uLnTx/>
                <a:uFillTx/>
                <a:latin typeface="Arial"/>
                <a:ea typeface="+mn-ea"/>
                <a:cs typeface="+mn-cs"/>
              </a:rPr>
              <a:t>Conducts impulses from CNS to effectors (muscles/glands)</a:t>
            </a:r>
          </a:p>
          <a:p>
            <a:pPr marL="1600200" marR="0" lvl="3" indent="-228600" algn="l" defTabSz="914400" rtl="0" eaLnBrk="1" fontAlgn="base" latinLnBrk="0" hangingPunct="1">
              <a:lnSpc>
                <a:spcPct val="80000"/>
              </a:lnSpc>
              <a:spcBef>
                <a:spcPct val="20000"/>
              </a:spcBef>
              <a:spcAft>
                <a:spcPct val="0"/>
              </a:spcAft>
              <a:buClrTx/>
              <a:buSzTx/>
              <a:buFontTx/>
              <a:buChar char="–"/>
              <a:tabLst/>
              <a:defRPr/>
            </a:pPr>
            <a:r>
              <a:rPr kumimoji="0" lang="en-US" altLang="en-US" sz="1800" b="0" i="0" u="none" strike="noStrike" kern="1200" cap="none" spc="0" normalizeH="0" baseline="0" noProof="0" dirty="0">
                <a:ln>
                  <a:noFill/>
                </a:ln>
                <a:solidFill>
                  <a:srgbClr val="000000"/>
                </a:solidFill>
                <a:effectLst/>
                <a:uLnTx/>
                <a:uFillTx/>
                <a:latin typeface="Arial"/>
                <a:ea typeface="+mn-ea"/>
                <a:cs typeface="+mn-cs"/>
              </a:rPr>
              <a:t>Motor nerve fibers</a:t>
            </a:r>
          </a:p>
        </p:txBody>
      </p:sp>
    </p:spTree>
    <p:extLst>
      <p:ext uri="{BB962C8B-B14F-4D97-AF65-F5344CB8AC3E}">
        <p14:creationId xmlns:p14="http://schemas.microsoft.com/office/powerpoint/2010/main" val="2536254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3" name="Rectangle 1">
            <a:extLst>
              <a:ext uri="{FF2B5EF4-FFF2-40B4-BE49-F238E27FC236}">
                <a16:creationId xmlns:a16="http://schemas.microsoft.com/office/drawing/2014/main" id="{4223A135-DAAB-A440-875A-B85E3B09309D}"/>
              </a:ext>
            </a:extLst>
          </p:cNvPr>
          <p:cNvSpPr>
            <a:spLocks noChangeArrowheads="1"/>
          </p:cNvSpPr>
          <p:nvPr/>
        </p:nvSpPr>
        <p:spPr bwMode="auto">
          <a:xfrm>
            <a:off x="381000" y="85344"/>
            <a:ext cx="83820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3655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marL="342900" marR="0" lvl="0" indent="-336550" algn="ctr" defTabSz="457200" rtl="0" eaLnBrk="1" fontAlgn="auto" latinLnBrk="0" hangingPunct="1">
              <a:lnSpc>
                <a:spcPct val="100000"/>
              </a:lnSpc>
              <a:spcBef>
                <a:spcPts val="1025"/>
              </a:spcBef>
              <a:spcAft>
                <a:spcPts val="0"/>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LID33801" altLang="en-US" sz="3800" b="0"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Arial Unicode MS" panose="020B0604020202020204" pitchFamily="34" charset="-128"/>
              </a:rPr>
              <a:t>Organization of the Nervous System</a:t>
            </a:r>
          </a:p>
        </p:txBody>
      </p:sp>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b="2919"/>
          <a:stretch>
            <a:fillRect/>
          </a:stretch>
        </p:blipFill>
        <p:spPr bwMode="auto">
          <a:xfrm>
            <a:off x="3589338" y="764794"/>
            <a:ext cx="3844734" cy="6060810"/>
          </a:xfrm>
          <a:prstGeom prst="rect">
            <a:avLst/>
          </a:prstGeom>
          <a:noFill/>
          <a:ln>
            <a:noFill/>
          </a:ln>
          <a:effectLst/>
          <a:extLst>
            <a:ext uri="{909E8E84-426E-40DD-AFC4-6F175D3DCCD1}">
              <a14:hiddenFill xmlns:a14="http://schemas.microsoft.com/office/drawing/2010/main">
                <a:blipFill dpi="0" rotWithShape="0">
                  <a:blip/>
                  <a:srcRect b="2919"/>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7852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afterEffect">
                                  <p:stCondLst>
                                    <p:cond delay="0"/>
                                  </p:stCondLst>
                                  <p:childTnLst>
                                    <p:set>
                                      <p:cBhvr additive="repl">
                                        <p:cTn id="6" dur="1" fill="hold">
                                          <p:stCondLst>
                                            <p:cond delay="0"/>
                                          </p:stCondLst>
                                        </p:cTn>
                                        <p:tgtEl>
                                          <p:spTgt spid="3">
                                            <p:txEl>
                                              <p:pRg st="0" end="0"/>
                                            </p:txEl>
                                          </p:spTgt>
                                        </p:tgtEl>
                                        <p:attrNameLst>
                                          <p:attrName>style.visibility</p:attrName>
                                        </p:attrNameLst>
                                      </p:cBhvr>
                                      <p:to>
                                        <p:strVal val="visible"/>
                                      </p:to>
                                    </p:set>
                                    <p:animEffect transition="in" filter="dissolve">
                                      <p:cBhvr additive="repl">
                                        <p:cTn id="7" dur="500"/>
                                        <p:tgtEl>
                                          <p:spTgt spid="3">
                                            <p:txEl>
                                              <p:pRg st="0" end="0"/>
                                            </p:txEl>
                                          </p:spTgt>
                                        </p:tgtEl>
                                      </p:cBhvr>
                                    </p:animEffect>
                                  </p:childTnLst>
                                </p:cTn>
                              </p:par>
                            </p:childTnLst>
                          </p:cTn>
                        </p:par>
                        <p:par>
                          <p:cTn id="8" fill="hold">
                            <p:stCondLst>
                              <p:cond delay="500"/>
                            </p:stCondLst>
                            <p:childTnLst>
                              <p:par>
                                <p:cTn id="9" presetID="9" presetClass="entr" fill="hold" nodeType="afterEffect">
                                  <p:stCondLst>
                                    <p:cond delay="0"/>
                                  </p:stCondLst>
                                  <p:childTnLst>
                                    <p:set>
                                      <p:cBhvr additive="repl">
                                        <p:cTn id="10" dur="1" fill="hold">
                                          <p:stCondLst>
                                            <p:cond delay="0"/>
                                          </p:stCondLst>
                                        </p:cTn>
                                        <p:tgtEl>
                                          <p:spTgt spid="5"/>
                                        </p:tgtEl>
                                        <p:attrNameLst>
                                          <p:attrName>style.visibility</p:attrName>
                                        </p:attrNameLst>
                                      </p:cBhvr>
                                      <p:to>
                                        <p:strVal val="visible"/>
                                      </p:to>
                                    </p:set>
                                    <p:animEffect transition="in" filter="dissolve">
                                      <p:cBhvr additive="repl">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Rectangle 2"/>
          <p:cNvSpPr>
            <a:spLocks noGrp="1" noChangeArrowheads="1"/>
          </p:cNvSpPr>
          <p:nvPr>
            <p:ph type="title"/>
          </p:nvPr>
        </p:nvSpPr>
        <p:spPr>
          <a:xfrm>
            <a:off x="0" y="0"/>
            <a:ext cx="5181600" cy="914400"/>
          </a:xfrm>
          <a:solidFill>
            <a:srgbClr val="33CC33"/>
          </a:solidFill>
          <a:ln>
            <a:solidFill>
              <a:srgbClr val="000000"/>
            </a:solidFill>
            <a:miter lim="800000"/>
            <a:headEnd/>
            <a:tailEnd/>
          </a:ln>
        </p:spPr>
        <p:txBody>
          <a:bodyPr/>
          <a:lstStyle/>
          <a:p>
            <a:r>
              <a:rPr lang="en-US" altLang="en-US" sz="3600" b="1">
                <a:effectLst>
                  <a:outerShdw blurRad="38100" dist="38100" dir="2700000" algn="tl">
                    <a:srgbClr val="000000">
                      <a:alpha val="43137"/>
                    </a:srgbClr>
                  </a:outerShdw>
                </a:effectLst>
              </a:rPr>
              <a:t>Nervous Tissue</a:t>
            </a:r>
          </a:p>
        </p:txBody>
      </p:sp>
      <p:pic>
        <p:nvPicPr>
          <p:cNvPr id="5" name="Picture 1" descr="Neuron Photo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3163" y="-1"/>
            <a:ext cx="3398837" cy="354806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glia"/>
          <p:cNvPicPr>
            <a:picLocks noChangeAspect="1" noChangeArrowheads="1"/>
          </p:cNvPicPr>
          <p:nvPr/>
        </p:nvPicPr>
        <p:blipFill>
          <a:blip r:embed="rId3">
            <a:extLst>
              <a:ext uri="{28A0092B-C50C-407E-A947-70E740481C1C}">
                <a14:useLocalDpi xmlns:a14="http://schemas.microsoft.com/office/drawing/2010/main" val="0"/>
              </a:ext>
            </a:extLst>
          </a:blip>
          <a:srcRect l="1111" t="35585" r="55556" b="22974"/>
          <a:stretch>
            <a:fillRect/>
          </a:stretch>
        </p:blipFill>
        <p:spPr bwMode="auto">
          <a:xfrm>
            <a:off x="7696200" y="3548065"/>
            <a:ext cx="4495800" cy="2651125"/>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p:cNvSpPr txBox="1">
            <a:spLocks noChangeArrowheads="1"/>
          </p:cNvSpPr>
          <p:nvPr/>
        </p:nvSpPr>
        <p:spPr bwMode="auto">
          <a:xfrm>
            <a:off x="8814816" y="0"/>
            <a:ext cx="609600" cy="406400"/>
          </a:xfrm>
          <a:prstGeom prst="rect">
            <a:avLst/>
          </a:prstGeom>
          <a:solidFill>
            <a:schemeClr val="bg1"/>
          </a:solidFill>
          <a:ln w="9525">
            <a:solidFill>
              <a:srgbClr val="000000"/>
            </a:solid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000" b="1" i="0" u="none" strike="noStrike" kern="1200" cap="none" spc="0" normalizeH="0" baseline="0" noProof="0">
                <a:ln>
                  <a:noFill/>
                </a:ln>
                <a:solidFill>
                  <a:srgbClr val="000000"/>
                </a:solidFill>
                <a:effectLst/>
                <a:uLnTx/>
                <a:uFillTx/>
                <a:latin typeface="Calibri"/>
                <a:ea typeface="+mn-ea"/>
                <a:cs typeface="+mn-cs"/>
              </a:rPr>
              <a:t>1.</a:t>
            </a:r>
          </a:p>
        </p:txBody>
      </p:sp>
      <p:sp>
        <p:nvSpPr>
          <p:cNvPr id="8" name="Text Box 5"/>
          <p:cNvSpPr txBox="1">
            <a:spLocks noChangeArrowheads="1"/>
          </p:cNvSpPr>
          <p:nvPr/>
        </p:nvSpPr>
        <p:spPr bwMode="auto">
          <a:xfrm>
            <a:off x="7720584" y="3569208"/>
            <a:ext cx="609600" cy="406400"/>
          </a:xfrm>
          <a:prstGeom prst="rect">
            <a:avLst/>
          </a:prstGeom>
          <a:solidFill>
            <a:schemeClr val="bg1"/>
          </a:solidFill>
          <a:ln w="9525">
            <a:solidFill>
              <a:srgbClr val="000000"/>
            </a:solid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en-US" sz="2000" b="1" i="0" u="none" strike="noStrike" kern="1200" cap="none" spc="0" normalizeH="0" baseline="0" noProof="0">
                <a:ln>
                  <a:noFill/>
                </a:ln>
                <a:solidFill>
                  <a:srgbClr val="000000"/>
                </a:solidFill>
                <a:effectLst/>
                <a:uLnTx/>
                <a:uFillTx/>
                <a:latin typeface="Calibri"/>
                <a:ea typeface="+mn-ea"/>
                <a:cs typeface="+mn-cs"/>
              </a:rPr>
              <a:t>2.</a:t>
            </a:r>
          </a:p>
        </p:txBody>
      </p:sp>
      <p:sp>
        <p:nvSpPr>
          <p:cNvPr id="9" name="Rectangle 3"/>
          <p:cNvSpPr txBox="1">
            <a:spLocks noChangeArrowheads="1"/>
          </p:cNvSpPr>
          <p:nvPr/>
        </p:nvSpPr>
        <p:spPr bwMode="auto">
          <a:xfrm>
            <a:off x="278892" y="1127918"/>
            <a:ext cx="6871716" cy="4916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marR="0" lvl="0" indent="-609600" algn="l" defTabSz="914400" rtl="0" eaLnBrk="1" fontAlgn="base" latinLnBrk="0" hangingPunct="1">
              <a:lnSpc>
                <a:spcPct val="90000"/>
              </a:lnSpc>
              <a:spcBef>
                <a:spcPct val="20000"/>
              </a:spcBef>
              <a:spcAft>
                <a:spcPct val="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Arial"/>
                <a:ea typeface="+mn-ea"/>
                <a:cs typeface="+mn-cs"/>
              </a:rPr>
              <a:t>Highly cellular</a:t>
            </a:r>
          </a:p>
          <a:p>
            <a:pPr marL="990600" marR="0" lvl="1" indent="-533400" algn="l" defTabSz="914400" rtl="0" eaLnBrk="1" fontAlgn="base" latinLnBrk="0" hangingPunct="1">
              <a:lnSpc>
                <a:spcPct val="90000"/>
              </a:lnSpc>
              <a:spcBef>
                <a:spcPct val="20000"/>
              </a:spcBef>
              <a:spcAft>
                <a:spcPct val="0"/>
              </a:spcAft>
              <a:buClrTx/>
              <a:buSzTx/>
              <a:buFontTx/>
              <a:buChar char="–"/>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How does this compare to the other 3 tissue types?</a:t>
            </a:r>
          </a:p>
          <a:p>
            <a:pPr marL="609600" marR="0" lvl="0" indent="-609600" algn="l" defTabSz="914400" rtl="0" eaLnBrk="1" fontAlgn="base" latinLnBrk="0" hangingPunct="1">
              <a:lnSpc>
                <a:spcPct val="90000"/>
              </a:lnSpc>
              <a:spcBef>
                <a:spcPct val="20000"/>
              </a:spcBef>
              <a:spcAft>
                <a:spcPct val="0"/>
              </a:spcAft>
              <a:buClrTx/>
              <a:buSzTx/>
              <a:buFontTx/>
              <a:buChar char="•"/>
              <a:tabLst/>
              <a:defRPr/>
            </a:pPr>
            <a:endParaRPr kumimoji="0" lang="en-US" altLang="en-US" sz="3200" b="0" i="0" u="none" strike="noStrike" kern="1200" cap="none" spc="0" normalizeH="0" baseline="0" noProof="0" dirty="0">
              <a:ln>
                <a:noFill/>
              </a:ln>
              <a:solidFill>
                <a:srgbClr val="000000"/>
              </a:solidFill>
              <a:effectLst/>
              <a:uLnTx/>
              <a:uFillTx/>
              <a:latin typeface="Arial"/>
              <a:ea typeface="+mn-ea"/>
              <a:cs typeface="+mn-cs"/>
            </a:endParaRPr>
          </a:p>
          <a:p>
            <a:pPr marL="609600" marR="0" lvl="0" indent="-609600" algn="l" defTabSz="914400" rtl="0" eaLnBrk="1" fontAlgn="base" latinLnBrk="0" hangingPunct="1">
              <a:lnSpc>
                <a:spcPct val="90000"/>
              </a:lnSpc>
              <a:spcBef>
                <a:spcPct val="20000"/>
              </a:spcBef>
              <a:spcAft>
                <a:spcPct val="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Arial"/>
                <a:ea typeface="+mn-ea"/>
                <a:cs typeface="+mn-cs"/>
              </a:rPr>
              <a:t>2 cell types</a:t>
            </a:r>
          </a:p>
          <a:p>
            <a:pPr marL="990600" marR="0" lvl="1" indent="-533400" algn="l" defTabSz="914400" rtl="0" eaLnBrk="1" fontAlgn="base" latinLnBrk="0" hangingPunct="1">
              <a:lnSpc>
                <a:spcPct val="90000"/>
              </a:lnSpc>
              <a:spcBef>
                <a:spcPct val="20000"/>
              </a:spcBef>
              <a:spcAft>
                <a:spcPct val="0"/>
              </a:spcAft>
              <a:buClrTx/>
              <a:buSzTx/>
              <a:buFontTx/>
              <a:buAutoNum type="arabicPeriod"/>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Neurons</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400" b="0" i="0" u="none" strike="noStrike" kern="1200" cap="none" spc="0" normalizeH="0" baseline="0" noProof="0" dirty="0">
                <a:ln>
                  <a:noFill/>
                </a:ln>
                <a:solidFill>
                  <a:srgbClr val="000000"/>
                </a:solidFill>
                <a:effectLst/>
                <a:uLnTx/>
                <a:uFillTx/>
                <a:latin typeface="Arial"/>
                <a:ea typeface="+mn-ea"/>
                <a:cs typeface="+mn-cs"/>
              </a:rPr>
              <a:t>Functional, signal conducting cells</a:t>
            </a:r>
          </a:p>
          <a:p>
            <a:pPr marL="990600" marR="0" lvl="1" indent="-533400" algn="l" defTabSz="914400" rtl="0" eaLnBrk="1" fontAlgn="base" latinLnBrk="0" hangingPunct="1">
              <a:lnSpc>
                <a:spcPct val="90000"/>
              </a:lnSpc>
              <a:spcBef>
                <a:spcPct val="20000"/>
              </a:spcBef>
              <a:spcAft>
                <a:spcPct val="0"/>
              </a:spcAft>
              <a:buClrTx/>
              <a:buSzTx/>
              <a:buFontTx/>
              <a:buAutoNum type="arabicPeriod"/>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Neuroglia</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400" b="0" i="0" u="none" strike="noStrike" kern="1200" cap="none" spc="0" normalizeH="0" baseline="0" noProof="0" dirty="0">
                <a:ln>
                  <a:noFill/>
                </a:ln>
                <a:solidFill>
                  <a:srgbClr val="000000"/>
                </a:solidFill>
                <a:effectLst/>
                <a:uLnTx/>
                <a:uFillTx/>
                <a:latin typeface="Arial"/>
                <a:ea typeface="+mn-ea"/>
                <a:cs typeface="+mn-cs"/>
              </a:rPr>
              <a:t>Supporting cells</a:t>
            </a:r>
          </a:p>
        </p:txBody>
      </p:sp>
    </p:spTree>
    <p:extLst>
      <p:ext uri="{BB962C8B-B14F-4D97-AF65-F5344CB8AC3E}">
        <p14:creationId xmlns:p14="http://schemas.microsoft.com/office/powerpoint/2010/main" val="380752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 calcmode="lin" valueType="num">
                                      <p:cBhvr additive="base">
                                        <p:cTn id="11"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 calcmode="lin" valueType="num">
                                      <p:cBhvr additive="base">
                                        <p:cTn id="17"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 calcmode="lin" valueType="num">
                                      <p:cBhvr additive="base">
                                        <p:cTn id="2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 calcmode="lin" valueType="num">
                                      <p:cBhvr additive="base">
                                        <p:cTn id="2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1000"/>
                                        <p:tgtEl>
                                          <p:spTgt spid="6"/>
                                        </p:tgtEl>
                                      </p:cBhvr>
                                    </p:animEffect>
                                    <p:anim calcmode="lin" valueType="num">
                                      <p:cBhvr>
                                        <p:cTn id="40" dur="1000" fill="hold"/>
                                        <p:tgtEl>
                                          <p:spTgt spid="6"/>
                                        </p:tgtEl>
                                        <p:attrNameLst>
                                          <p:attrName>ppt_x</p:attrName>
                                        </p:attrNameLst>
                                      </p:cBhvr>
                                      <p:tavLst>
                                        <p:tav tm="0">
                                          <p:val>
                                            <p:strVal val="#ppt_x"/>
                                          </p:val>
                                        </p:tav>
                                        <p:tav tm="100000">
                                          <p:val>
                                            <p:strVal val="#ppt_x"/>
                                          </p:val>
                                        </p:tav>
                                      </p:tavLst>
                                    </p:anim>
                                    <p:anim calcmode="lin" valueType="num">
                                      <p:cBhvr>
                                        <p:cTn id="4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9">
                                            <p:txEl>
                                              <p:pRg st="6" end="6"/>
                                            </p:txEl>
                                          </p:spTgt>
                                        </p:tgtEl>
                                        <p:attrNameLst>
                                          <p:attrName>style.visibility</p:attrName>
                                        </p:attrNameLst>
                                      </p:cBhvr>
                                      <p:to>
                                        <p:strVal val="visible"/>
                                      </p:to>
                                    </p:set>
                                    <p:anim calcmode="lin" valueType="num">
                                      <p:cBhvr additive="base">
                                        <p:cTn id="46"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9">
                                            <p:txEl>
                                              <p:pRg st="6" end="6"/>
                                            </p:txEl>
                                          </p:spTgt>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9">
                                            <p:txEl>
                                              <p:pRg st="7" end="7"/>
                                            </p:txEl>
                                          </p:spTgt>
                                        </p:tgtEl>
                                        <p:attrNameLst>
                                          <p:attrName>style.visibility</p:attrName>
                                        </p:attrNameLst>
                                      </p:cBhvr>
                                      <p:to>
                                        <p:strVal val="visible"/>
                                      </p:to>
                                    </p:set>
                                    <p:anim calcmode="lin" valueType="num">
                                      <p:cBhvr additive="base">
                                        <p:cTn id="50"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Rectangle 2"/>
          <p:cNvSpPr>
            <a:spLocks noGrp="1" noChangeArrowheads="1"/>
          </p:cNvSpPr>
          <p:nvPr>
            <p:ph type="title"/>
          </p:nvPr>
        </p:nvSpPr>
        <p:spPr>
          <a:xfrm>
            <a:off x="0" y="0"/>
            <a:ext cx="6324600" cy="932688"/>
          </a:xfrm>
          <a:solidFill>
            <a:srgbClr val="33CC33"/>
          </a:solidFill>
          <a:ln>
            <a:solidFill>
              <a:srgbClr val="000000"/>
            </a:solidFill>
            <a:miter lim="800000"/>
            <a:headEnd/>
            <a:tailEnd/>
          </a:ln>
        </p:spPr>
        <p:txBody>
          <a:bodyPr/>
          <a:lstStyle/>
          <a:p>
            <a:r>
              <a:rPr lang="en-US" altLang="en-US" sz="3600" b="1">
                <a:effectLst>
                  <a:outerShdw blurRad="38100" dist="38100" dir="2700000" algn="tl">
                    <a:srgbClr val="000000">
                      <a:alpha val="43137"/>
                    </a:srgbClr>
                  </a:outerShdw>
                </a:effectLst>
              </a:rPr>
              <a:t>Neuroglia</a:t>
            </a:r>
          </a:p>
        </p:txBody>
      </p:sp>
      <p:sp>
        <p:nvSpPr>
          <p:cNvPr id="7" name="Rectangle 3"/>
          <p:cNvSpPr txBox="1">
            <a:spLocks noChangeArrowheads="1"/>
          </p:cNvSpPr>
          <p:nvPr/>
        </p:nvSpPr>
        <p:spPr bwMode="auto">
          <a:xfrm>
            <a:off x="335280" y="1179576"/>
            <a:ext cx="7793736" cy="795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marR="0" lvl="0" indent="-609600" algn="l" defTabSz="914400" rtl="0" eaLnBrk="1" fontAlgn="base" latinLnBrk="0" hangingPunct="1">
              <a:lnSpc>
                <a:spcPct val="90000"/>
              </a:lnSpc>
              <a:spcBef>
                <a:spcPct val="20000"/>
              </a:spcBef>
              <a:spcAft>
                <a:spcPct val="0"/>
              </a:spcAft>
              <a:buClrTx/>
              <a:buSzTx/>
              <a:buFontTx/>
              <a:buChar char="•"/>
              <a:tabLst/>
              <a:defRPr/>
            </a:pPr>
            <a:r>
              <a:rPr kumimoji="0" lang="en-US" altLang="en-US" sz="2200" b="0" i="0" u="none" strike="noStrike" kern="1200" cap="none" spc="0" normalizeH="0" baseline="0" noProof="0" dirty="0">
                <a:ln>
                  <a:noFill/>
                </a:ln>
                <a:solidFill>
                  <a:srgbClr val="000000"/>
                </a:solidFill>
                <a:effectLst/>
                <a:uLnTx/>
                <a:uFillTx/>
                <a:latin typeface="Arial"/>
                <a:ea typeface="+mn-ea"/>
                <a:cs typeface="+mn-cs"/>
              </a:rPr>
              <a:t>Outnumber neurons by about 10 to 1</a:t>
            </a:r>
            <a:endParaRPr kumimoji="0" lang="en-US" altLang="en-US" sz="2000" b="0" i="0" u="none" strike="noStrike" kern="1200" cap="none" spc="0" normalizeH="0" baseline="0" noProof="0" dirty="0">
              <a:ln>
                <a:noFill/>
              </a:ln>
              <a:solidFill>
                <a:srgbClr val="000000"/>
              </a:solidFill>
              <a:effectLst/>
              <a:uLnTx/>
              <a:uFillTx/>
              <a:latin typeface="Arial"/>
              <a:ea typeface="+mn-ea"/>
              <a:cs typeface="+mn-cs"/>
            </a:endParaRPr>
          </a:p>
          <a:p>
            <a:pPr marL="990600" marR="0" lvl="1" indent="-533400" algn="l" defTabSz="914400" rtl="0" eaLnBrk="1" fontAlgn="base" latinLnBrk="0" hangingPunct="1">
              <a:lnSpc>
                <a:spcPct val="90000"/>
              </a:lnSpc>
              <a:spcBef>
                <a:spcPct val="20000"/>
              </a:spcBef>
              <a:spcAft>
                <a:spcPct val="0"/>
              </a:spcAft>
              <a:buClrTx/>
              <a:buSzTx/>
              <a:buFontTx/>
              <a:buAutoNum type="arabicPeriod"/>
              <a:tabLst/>
              <a:defRPr/>
            </a:pPr>
            <a:endParaRPr kumimoji="0" lang="en-US" altLang="en-US" sz="2000" b="0" i="0" u="none" strike="noStrike" kern="1200" cap="none" spc="0" normalizeH="0" baseline="0" noProof="0" dirty="0">
              <a:ln>
                <a:noFill/>
              </a:ln>
              <a:solidFill>
                <a:srgbClr val="000000"/>
              </a:solidFill>
              <a:effectLst/>
              <a:uLnTx/>
              <a:uFillTx/>
              <a:latin typeface="Arial"/>
              <a:ea typeface="+mn-ea"/>
              <a:cs typeface="+mn-cs"/>
            </a:endParaRPr>
          </a:p>
          <a:p>
            <a:pPr marL="1371600" marR="0" lvl="2" indent="-457200" algn="l" defTabSz="914400" rtl="0" eaLnBrk="1" fontAlgn="base" latinLnBrk="0" hangingPunct="1">
              <a:lnSpc>
                <a:spcPct val="90000"/>
              </a:lnSpc>
              <a:spcBef>
                <a:spcPct val="20000"/>
              </a:spcBef>
              <a:spcAft>
                <a:spcPct val="0"/>
              </a:spcAft>
              <a:buClrTx/>
              <a:buSzTx/>
              <a:buFontTx/>
              <a:buAutoNum type="arabicPeriod"/>
              <a:tabLst/>
              <a:defRPr/>
            </a:pPr>
            <a:endParaRPr kumimoji="0" lang="en-US" altLang="en-US"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3" name="Picture 2"/>
          <p:cNvPicPr>
            <a:picLocks noChangeAspect="1"/>
          </p:cNvPicPr>
          <p:nvPr/>
        </p:nvPicPr>
        <p:blipFill>
          <a:blip r:embed="rId2"/>
          <a:stretch>
            <a:fillRect/>
          </a:stretch>
        </p:blipFill>
        <p:spPr>
          <a:xfrm>
            <a:off x="419669" y="1975104"/>
            <a:ext cx="11016427" cy="3664014"/>
          </a:xfrm>
          <a:prstGeom prst="rect">
            <a:avLst/>
          </a:prstGeom>
        </p:spPr>
      </p:pic>
    </p:spTree>
    <p:extLst>
      <p:ext uri="{BB962C8B-B14F-4D97-AF65-F5344CB8AC3E}">
        <p14:creationId xmlns:p14="http://schemas.microsoft.com/office/powerpoint/2010/main" val="347834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9" name="Picture 8"/>
          <p:cNvPicPr>
            <a:picLocks noChangeAspect="1"/>
          </p:cNvPicPr>
          <p:nvPr/>
        </p:nvPicPr>
        <p:blipFill rotWithShape="1">
          <a:blip r:embed="rId2"/>
          <a:srcRect t="58916" r="86611" b="-520"/>
          <a:stretch/>
        </p:blipFill>
        <p:spPr>
          <a:xfrm>
            <a:off x="557784" y="3777747"/>
            <a:ext cx="1475232" cy="2578608"/>
          </a:xfrm>
          <a:prstGeom prst="rect">
            <a:avLst/>
          </a:prstGeom>
        </p:spPr>
      </p:pic>
      <p:grpSp>
        <p:nvGrpSpPr>
          <p:cNvPr id="17" name="Group 16"/>
          <p:cNvGrpSpPr/>
          <p:nvPr/>
        </p:nvGrpSpPr>
        <p:grpSpPr>
          <a:xfrm>
            <a:off x="600456" y="152400"/>
            <a:ext cx="11018520" cy="3742944"/>
            <a:chOff x="600456" y="152400"/>
            <a:chExt cx="11018520" cy="3742944"/>
          </a:xfrm>
        </p:grpSpPr>
        <p:pic>
          <p:nvPicPr>
            <p:cNvPr id="13" name="Picture 12"/>
            <p:cNvPicPr>
              <a:picLocks noChangeAspect="1"/>
            </p:cNvPicPr>
            <p:nvPr/>
          </p:nvPicPr>
          <p:blipFill rotWithShape="1">
            <a:blip r:embed="rId2"/>
            <a:srcRect b="40839"/>
            <a:stretch/>
          </p:blipFill>
          <p:spPr>
            <a:xfrm>
              <a:off x="600456" y="152400"/>
              <a:ext cx="11018520" cy="3666744"/>
            </a:xfrm>
            <a:prstGeom prst="rect">
              <a:avLst/>
            </a:prstGeom>
          </p:spPr>
        </p:pic>
        <p:sp>
          <p:nvSpPr>
            <p:cNvPr id="16" name="Rectangle 15"/>
            <p:cNvSpPr/>
            <p:nvPr/>
          </p:nvSpPr>
          <p:spPr>
            <a:xfrm>
              <a:off x="2033016" y="1967484"/>
              <a:ext cx="9585960"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410406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0" name="Picture 9"/>
          <p:cNvPicPr>
            <a:picLocks noChangeAspect="1"/>
          </p:cNvPicPr>
          <p:nvPr/>
        </p:nvPicPr>
        <p:blipFill rotWithShape="1">
          <a:blip r:embed="rId2"/>
          <a:srcRect l="14053" t="58769" r="72669" b="-79"/>
          <a:stretch/>
        </p:blipFill>
        <p:spPr>
          <a:xfrm>
            <a:off x="2121408" y="3777747"/>
            <a:ext cx="1463040" cy="2560320"/>
          </a:xfrm>
          <a:prstGeom prst="rect">
            <a:avLst/>
          </a:prstGeom>
        </p:spPr>
      </p:pic>
      <p:grpSp>
        <p:nvGrpSpPr>
          <p:cNvPr id="4" name="Group 3"/>
          <p:cNvGrpSpPr/>
          <p:nvPr/>
        </p:nvGrpSpPr>
        <p:grpSpPr>
          <a:xfrm>
            <a:off x="201168" y="152400"/>
            <a:ext cx="11417808" cy="3742944"/>
            <a:chOff x="201168" y="152400"/>
            <a:chExt cx="11417808" cy="3742944"/>
          </a:xfrm>
        </p:grpSpPr>
        <p:pic>
          <p:nvPicPr>
            <p:cNvPr id="13" name="Picture 12"/>
            <p:cNvPicPr>
              <a:picLocks noChangeAspect="1"/>
            </p:cNvPicPr>
            <p:nvPr/>
          </p:nvPicPr>
          <p:blipFill rotWithShape="1">
            <a:blip r:embed="rId2"/>
            <a:srcRect b="40839"/>
            <a:stretch/>
          </p:blipFill>
          <p:spPr>
            <a:xfrm>
              <a:off x="600456" y="152400"/>
              <a:ext cx="11018520" cy="3666744"/>
            </a:xfrm>
            <a:prstGeom prst="rect">
              <a:avLst/>
            </a:prstGeom>
          </p:spPr>
        </p:pic>
        <p:sp>
          <p:nvSpPr>
            <p:cNvPr id="16" name="Rectangle 15"/>
            <p:cNvSpPr/>
            <p:nvPr/>
          </p:nvSpPr>
          <p:spPr>
            <a:xfrm>
              <a:off x="3739896" y="1967484"/>
              <a:ext cx="7879080"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201168" y="1929384"/>
              <a:ext cx="1798320"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17984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1" name="Picture 10"/>
          <p:cNvPicPr>
            <a:picLocks noChangeAspect="1"/>
          </p:cNvPicPr>
          <p:nvPr/>
        </p:nvPicPr>
        <p:blipFill rotWithShape="1">
          <a:blip r:embed="rId2"/>
          <a:srcRect l="29322" t="59507" r="57483" b="7593"/>
          <a:stretch/>
        </p:blipFill>
        <p:spPr>
          <a:xfrm>
            <a:off x="3837432" y="4010919"/>
            <a:ext cx="1453896" cy="2039112"/>
          </a:xfrm>
          <a:prstGeom prst="rect">
            <a:avLst/>
          </a:prstGeom>
        </p:spPr>
      </p:pic>
      <p:grpSp>
        <p:nvGrpSpPr>
          <p:cNvPr id="4" name="Group 3"/>
          <p:cNvGrpSpPr/>
          <p:nvPr/>
        </p:nvGrpSpPr>
        <p:grpSpPr>
          <a:xfrm>
            <a:off x="600456" y="152400"/>
            <a:ext cx="11018520" cy="3742944"/>
            <a:chOff x="600456" y="152400"/>
            <a:chExt cx="11018520" cy="3742944"/>
          </a:xfrm>
        </p:grpSpPr>
        <p:pic>
          <p:nvPicPr>
            <p:cNvPr id="13" name="Picture 12"/>
            <p:cNvPicPr>
              <a:picLocks noChangeAspect="1"/>
            </p:cNvPicPr>
            <p:nvPr/>
          </p:nvPicPr>
          <p:blipFill rotWithShape="1">
            <a:blip r:embed="rId2"/>
            <a:srcRect b="40839"/>
            <a:stretch/>
          </p:blipFill>
          <p:spPr>
            <a:xfrm>
              <a:off x="600456" y="152400"/>
              <a:ext cx="11018520" cy="3666744"/>
            </a:xfrm>
            <a:prstGeom prst="rect">
              <a:avLst/>
            </a:prstGeom>
          </p:spPr>
        </p:pic>
        <p:sp>
          <p:nvSpPr>
            <p:cNvPr id="16" name="Rectangle 15"/>
            <p:cNvSpPr/>
            <p:nvPr/>
          </p:nvSpPr>
          <p:spPr>
            <a:xfrm>
              <a:off x="5687568" y="1967484"/>
              <a:ext cx="5931408"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600456" y="1967484"/>
              <a:ext cx="3060192"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85699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Picture 11"/>
          <p:cNvPicPr>
            <a:picLocks noChangeAspect="1"/>
          </p:cNvPicPr>
          <p:nvPr/>
        </p:nvPicPr>
        <p:blipFill rotWithShape="1">
          <a:blip r:embed="rId2"/>
          <a:srcRect l="46501" t="59506" r="40636" b="365"/>
          <a:stretch/>
        </p:blipFill>
        <p:spPr>
          <a:xfrm>
            <a:off x="5687568" y="3823467"/>
            <a:ext cx="1417320" cy="2487168"/>
          </a:xfrm>
          <a:prstGeom prst="rect">
            <a:avLst/>
          </a:prstGeom>
        </p:spPr>
      </p:pic>
      <p:grpSp>
        <p:nvGrpSpPr>
          <p:cNvPr id="4" name="Group 3"/>
          <p:cNvGrpSpPr/>
          <p:nvPr/>
        </p:nvGrpSpPr>
        <p:grpSpPr>
          <a:xfrm>
            <a:off x="600456" y="152400"/>
            <a:ext cx="11018520" cy="3742944"/>
            <a:chOff x="600456" y="152400"/>
            <a:chExt cx="11018520" cy="3742944"/>
          </a:xfrm>
        </p:grpSpPr>
        <p:pic>
          <p:nvPicPr>
            <p:cNvPr id="13" name="Picture 12"/>
            <p:cNvPicPr>
              <a:picLocks noChangeAspect="1"/>
            </p:cNvPicPr>
            <p:nvPr/>
          </p:nvPicPr>
          <p:blipFill rotWithShape="1">
            <a:blip r:embed="rId2"/>
            <a:srcRect b="40839"/>
            <a:stretch/>
          </p:blipFill>
          <p:spPr>
            <a:xfrm>
              <a:off x="600456" y="152400"/>
              <a:ext cx="11018520" cy="3666744"/>
            </a:xfrm>
            <a:prstGeom prst="rect">
              <a:avLst/>
            </a:prstGeom>
          </p:spPr>
        </p:pic>
        <p:sp>
          <p:nvSpPr>
            <p:cNvPr id="16" name="Rectangle 15"/>
            <p:cNvSpPr/>
            <p:nvPr/>
          </p:nvSpPr>
          <p:spPr>
            <a:xfrm>
              <a:off x="7232904" y="1967484"/>
              <a:ext cx="4386072"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600456" y="1967484"/>
              <a:ext cx="4959096"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2484271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4" name="Picture 13"/>
          <p:cNvPicPr>
            <a:picLocks noChangeAspect="1"/>
          </p:cNvPicPr>
          <p:nvPr/>
        </p:nvPicPr>
        <p:blipFill rotWithShape="1">
          <a:blip r:embed="rId2"/>
          <a:srcRect l="62794" t="59407" r="23762" b="612"/>
          <a:stretch/>
        </p:blipFill>
        <p:spPr>
          <a:xfrm>
            <a:off x="7525512" y="3927099"/>
            <a:ext cx="1481328" cy="2478024"/>
          </a:xfrm>
          <a:prstGeom prst="rect">
            <a:avLst/>
          </a:prstGeom>
        </p:spPr>
      </p:pic>
      <p:grpSp>
        <p:nvGrpSpPr>
          <p:cNvPr id="4" name="Group 3"/>
          <p:cNvGrpSpPr/>
          <p:nvPr/>
        </p:nvGrpSpPr>
        <p:grpSpPr>
          <a:xfrm>
            <a:off x="448056" y="0"/>
            <a:ext cx="11323320" cy="3941064"/>
            <a:chOff x="448056" y="0"/>
            <a:chExt cx="11323320" cy="3941064"/>
          </a:xfrm>
        </p:grpSpPr>
        <p:pic>
          <p:nvPicPr>
            <p:cNvPr id="3" name="Picture 2"/>
            <p:cNvPicPr>
              <a:picLocks noChangeAspect="1"/>
            </p:cNvPicPr>
            <p:nvPr/>
          </p:nvPicPr>
          <p:blipFill rotWithShape="1">
            <a:blip r:embed="rId2"/>
            <a:srcRect b="40839"/>
            <a:stretch/>
          </p:blipFill>
          <p:spPr>
            <a:xfrm>
              <a:off x="448056" y="0"/>
              <a:ext cx="11018520" cy="3666744"/>
            </a:xfrm>
            <a:prstGeom prst="rect">
              <a:avLst/>
            </a:prstGeom>
          </p:spPr>
        </p:pic>
        <p:pic>
          <p:nvPicPr>
            <p:cNvPr id="13" name="Picture 12"/>
            <p:cNvPicPr>
              <a:picLocks noChangeAspect="1"/>
            </p:cNvPicPr>
            <p:nvPr/>
          </p:nvPicPr>
          <p:blipFill rotWithShape="1">
            <a:blip r:embed="rId2"/>
            <a:srcRect b="40839"/>
            <a:stretch/>
          </p:blipFill>
          <p:spPr>
            <a:xfrm>
              <a:off x="600456" y="152400"/>
              <a:ext cx="11018520" cy="3666744"/>
            </a:xfrm>
            <a:prstGeom prst="rect">
              <a:avLst/>
            </a:prstGeom>
          </p:spPr>
        </p:pic>
        <p:sp>
          <p:nvSpPr>
            <p:cNvPr id="16" name="Rectangle 15"/>
            <p:cNvSpPr/>
            <p:nvPr/>
          </p:nvSpPr>
          <p:spPr>
            <a:xfrm>
              <a:off x="448056" y="1967484"/>
              <a:ext cx="6647688"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p:nvSpPr>
          <p:spPr>
            <a:xfrm>
              <a:off x="9875520" y="2013204"/>
              <a:ext cx="1895856"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39434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5" name="Picture 14"/>
          <p:cNvPicPr>
            <a:picLocks noChangeAspect="1"/>
          </p:cNvPicPr>
          <p:nvPr/>
        </p:nvPicPr>
        <p:blipFill rotWithShape="1">
          <a:blip r:embed="rId2"/>
          <a:srcRect l="85450" t="58964" r="691" b="2235"/>
          <a:stretch/>
        </p:blipFill>
        <p:spPr>
          <a:xfrm>
            <a:off x="10091928" y="3850899"/>
            <a:ext cx="1527048" cy="2404872"/>
          </a:xfrm>
          <a:prstGeom prst="rect">
            <a:avLst/>
          </a:prstGeom>
        </p:spPr>
      </p:pic>
      <p:grpSp>
        <p:nvGrpSpPr>
          <p:cNvPr id="4" name="Group 3"/>
          <p:cNvGrpSpPr/>
          <p:nvPr/>
        </p:nvGrpSpPr>
        <p:grpSpPr>
          <a:xfrm>
            <a:off x="448056" y="0"/>
            <a:ext cx="11170920" cy="3895344"/>
            <a:chOff x="448056" y="0"/>
            <a:chExt cx="11170920" cy="3895344"/>
          </a:xfrm>
        </p:grpSpPr>
        <p:pic>
          <p:nvPicPr>
            <p:cNvPr id="3" name="Picture 2"/>
            <p:cNvPicPr>
              <a:picLocks noChangeAspect="1"/>
            </p:cNvPicPr>
            <p:nvPr/>
          </p:nvPicPr>
          <p:blipFill rotWithShape="1">
            <a:blip r:embed="rId2"/>
            <a:srcRect b="40839"/>
            <a:stretch/>
          </p:blipFill>
          <p:spPr>
            <a:xfrm>
              <a:off x="448056" y="0"/>
              <a:ext cx="11018520" cy="3666744"/>
            </a:xfrm>
            <a:prstGeom prst="rect">
              <a:avLst/>
            </a:prstGeom>
          </p:spPr>
        </p:pic>
        <p:pic>
          <p:nvPicPr>
            <p:cNvPr id="13" name="Picture 12"/>
            <p:cNvPicPr>
              <a:picLocks noChangeAspect="1"/>
            </p:cNvPicPr>
            <p:nvPr/>
          </p:nvPicPr>
          <p:blipFill rotWithShape="1">
            <a:blip r:embed="rId2"/>
            <a:srcRect b="40839"/>
            <a:stretch/>
          </p:blipFill>
          <p:spPr>
            <a:xfrm>
              <a:off x="600456" y="152400"/>
              <a:ext cx="11018520" cy="3666744"/>
            </a:xfrm>
            <a:prstGeom prst="rect">
              <a:avLst/>
            </a:prstGeom>
          </p:spPr>
        </p:pic>
        <p:sp>
          <p:nvSpPr>
            <p:cNvPr id="16" name="Rectangle 15"/>
            <p:cNvSpPr/>
            <p:nvPr/>
          </p:nvSpPr>
          <p:spPr>
            <a:xfrm>
              <a:off x="448056" y="1967484"/>
              <a:ext cx="8668512" cy="192786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78864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Rectangle 3"/>
          <p:cNvSpPr/>
          <p:nvPr/>
        </p:nvSpPr>
        <p:spPr>
          <a:xfrm>
            <a:off x="228600" y="1357292"/>
            <a:ext cx="6096000" cy="2643801"/>
          </a:xfrm>
          <a:prstGeom prst="rect">
            <a:avLst/>
          </a:prstGeom>
        </p:spPr>
        <p:txBody>
          <a:bodyPr>
            <a:spAutoFit/>
          </a:bodyPr>
          <a:lstStyle/>
          <a:p>
            <a:pPr marL="609600" marR="0" lvl="0" indent="-609600" algn="l" defTabSz="914400" rtl="0" eaLnBrk="1" fontAlgn="base" latinLnBrk="0" hangingPunct="1">
              <a:lnSpc>
                <a:spcPct val="90000"/>
              </a:lnSpc>
              <a:spcBef>
                <a:spcPct val="20000"/>
              </a:spcBef>
              <a:spcAft>
                <a:spcPct val="0"/>
              </a:spcAft>
              <a:buClrTx/>
              <a:buSzTx/>
              <a:buFontTx/>
              <a:buAutoNum type="arabicPeriod"/>
              <a:tabLst/>
              <a:defRPr/>
            </a:pPr>
            <a:r>
              <a:rPr kumimoji="0" lang="en-US" altLang="en-US" sz="2200" b="0" i="0" u="none" strike="noStrike" kern="1200" cap="none" spc="0" normalizeH="0" baseline="0" noProof="0" dirty="0">
                <a:ln>
                  <a:noFill/>
                </a:ln>
                <a:solidFill>
                  <a:srgbClr val="000000"/>
                </a:solidFill>
                <a:effectLst/>
                <a:uLnTx/>
                <a:uFillTx/>
                <a:latin typeface="Arial"/>
                <a:ea typeface="+mn-ea"/>
                <a:cs typeface="+mn-cs"/>
              </a:rPr>
              <a:t>Astrocytes</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Star-shaped, abundant, and versatile</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Guide the migration of developing neurons</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Act as K+ and NT buffers</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Involved in the formation of the blood brain barrier</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Function in nutrient transfer</a:t>
            </a:r>
          </a:p>
        </p:txBody>
      </p:sp>
      <p:sp>
        <p:nvSpPr>
          <p:cNvPr id="5" name="Rectangle 2"/>
          <p:cNvSpPr>
            <a:spLocks noGrp="1" noChangeArrowheads="1"/>
          </p:cNvSpPr>
          <p:nvPr>
            <p:ph type="title"/>
          </p:nvPr>
        </p:nvSpPr>
        <p:spPr>
          <a:xfrm>
            <a:off x="0" y="0"/>
            <a:ext cx="6324600" cy="932688"/>
          </a:xfrm>
          <a:solidFill>
            <a:srgbClr val="33CC33"/>
          </a:solidFill>
          <a:ln>
            <a:solidFill>
              <a:srgbClr val="000000"/>
            </a:solidFill>
            <a:miter lim="800000"/>
            <a:headEnd/>
            <a:tailEnd/>
          </a:ln>
        </p:spPr>
        <p:txBody>
          <a:bodyPr/>
          <a:lstStyle/>
          <a:p>
            <a:r>
              <a:rPr lang="en-US" altLang="en-US" sz="3600" b="1">
                <a:effectLst>
                  <a:outerShdw blurRad="38100" dist="38100" dir="2700000" algn="tl">
                    <a:srgbClr val="000000">
                      <a:alpha val="43137"/>
                    </a:srgbClr>
                  </a:outerShdw>
                </a:effectLst>
              </a:rPr>
              <a:t>Neuroglia</a:t>
            </a:r>
          </a:p>
        </p:txBody>
      </p:sp>
      <p:pic>
        <p:nvPicPr>
          <p:cNvPr id="6" name="Picture 5"/>
          <p:cNvPicPr>
            <a:picLocks noChangeAspect="1"/>
          </p:cNvPicPr>
          <p:nvPr/>
        </p:nvPicPr>
        <p:blipFill rotWithShape="1">
          <a:blip r:embed="rId2"/>
          <a:srcRect b="7578"/>
          <a:stretch/>
        </p:blipFill>
        <p:spPr>
          <a:xfrm>
            <a:off x="7242799" y="1280160"/>
            <a:ext cx="4534673" cy="3610746"/>
          </a:xfrm>
          <a:prstGeom prst="rect">
            <a:avLst/>
          </a:prstGeom>
        </p:spPr>
      </p:pic>
    </p:spTree>
    <p:extLst>
      <p:ext uri="{BB962C8B-B14F-4D97-AF65-F5344CB8AC3E}">
        <p14:creationId xmlns:p14="http://schemas.microsoft.com/office/powerpoint/2010/main" val="337993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4" name="Picture 1" descr="8-33"/>
          <p:cNvPicPr>
            <a:picLocks noChangeAspect="1" noChangeArrowheads="1"/>
          </p:cNvPicPr>
          <p:nvPr/>
        </p:nvPicPr>
        <p:blipFill>
          <a:blip r:embed="rId2">
            <a:extLst>
              <a:ext uri="{28A0092B-C50C-407E-A947-70E740481C1C}">
                <a14:useLocalDpi xmlns:a14="http://schemas.microsoft.com/office/drawing/2010/main" val="0"/>
              </a:ext>
            </a:extLst>
          </a:blip>
          <a:srcRect l="21875" r="22917" b="9723"/>
          <a:stretch>
            <a:fillRect/>
          </a:stretch>
        </p:blipFill>
        <p:spPr bwMode="auto">
          <a:xfrm>
            <a:off x="9589008" y="-1"/>
            <a:ext cx="2602992" cy="31927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wp_images%5C194_ependyma"/>
          <p:cNvPicPr>
            <a:picLocks noChangeAspect="1" noChangeArrowheads="1"/>
          </p:cNvPicPr>
          <p:nvPr/>
        </p:nvPicPr>
        <p:blipFill>
          <a:blip r:embed="rId3">
            <a:extLst>
              <a:ext uri="{28A0092B-C50C-407E-A947-70E740481C1C}">
                <a14:useLocalDpi xmlns:a14="http://schemas.microsoft.com/office/drawing/2010/main" val="0"/>
              </a:ext>
            </a:extLst>
          </a:blip>
          <a:srcRect l="7928" r="30412"/>
          <a:stretch>
            <a:fillRect/>
          </a:stretch>
        </p:blipFill>
        <p:spPr bwMode="auto">
          <a:xfrm>
            <a:off x="9589008" y="3192766"/>
            <a:ext cx="2593848" cy="299389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txBox="1">
            <a:spLocks noChangeArrowheads="1"/>
          </p:cNvSpPr>
          <p:nvPr/>
        </p:nvSpPr>
        <p:spPr bwMode="auto">
          <a:xfrm>
            <a:off x="457200" y="1188720"/>
            <a:ext cx="8403336" cy="4937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marR="0" lvl="0" indent="-609600" algn="l" defTabSz="914400" rtl="0" eaLnBrk="1" fontAlgn="base" latinLnBrk="0" hangingPunct="1">
              <a:lnSpc>
                <a:spcPct val="90000"/>
              </a:lnSpc>
              <a:spcBef>
                <a:spcPct val="20000"/>
              </a:spcBef>
              <a:spcAft>
                <a:spcPct val="0"/>
              </a:spcAft>
              <a:buClrTx/>
              <a:buSzTx/>
              <a:buFontTx/>
              <a:buAutoNum type="arabicPeriod" startAt="2"/>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Microglia</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Specialized immune cells that act as the macrophages of the CNS</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Why is it important for the CNS to have its own army of immune cells?</a:t>
            </a:r>
          </a:p>
          <a:p>
            <a:pPr marL="609600" marR="0" lvl="0" indent="-609600" algn="l" defTabSz="914400" rtl="0" eaLnBrk="1" fontAlgn="base" latinLnBrk="0" hangingPunct="1">
              <a:lnSpc>
                <a:spcPct val="90000"/>
              </a:lnSpc>
              <a:spcBef>
                <a:spcPct val="20000"/>
              </a:spcBef>
              <a:spcAft>
                <a:spcPct val="0"/>
              </a:spcAft>
              <a:buClrTx/>
              <a:buSzTx/>
              <a:buFontTx/>
              <a:buAutoNum type="arabicPeriod" startAt="2"/>
              <a:tabLst/>
              <a:defRPr/>
            </a:pPr>
            <a:endParaRPr kumimoji="0" lang="en-US" altLang="en-US" sz="2800" b="0" i="0" u="none" strike="noStrike" kern="1200" cap="none" spc="0" normalizeH="0" baseline="0" noProof="0" dirty="0">
              <a:ln>
                <a:noFill/>
              </a:ln>
              <a:solidFill>
                <a:srgbClr val="000000"/>
              </a:solidFill>
              <a:effectLst/>
              <a:uLnTx/>
              <a:uFillTx/>
              <a:latin typeface="Arial"/>
              <a:ea typeface="+mn-ea"/>
              <a:cs typeface="+mn-cs"/>
            </a:endParaRPr>
          </a:p>
          <a:p>
            <a:pPr marL="609600" marR="0" lvl="0" indent="-609600" algn="l" defTabSz="914400" rtl="0" eaLnBrk="1" fontAlgn="base" latinLnBrk="0" hangingPunct="1">
              <a:lnSpc>
                <a:spcPct val="90000"/>
              </a:lnSpc>
              <a:spcBef>
                <a:spcPct val="20000"/>
              </a:spcBef>
              <a:spcAft>
                <a:spcPct val="0"/>
              </a:spcAft>
              <a:buClrTx/>
              <a:buSzTx/>
              <a:buFontTx/>
              <a:buAutoNum type="arabicPeriod" startAt="2"/>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Ependymal Cells</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Low columnar epithelial-</a:t>
            </a:r>
            <a:r>
              <a:rPr kumimoji="0" lang="en-US" altLang="en-US" sz="2000" b="0" i="0" u="none" strike="noStrike" kern="1200" cap="none" spc="0" normalizeH="0" baseline="0" noProof="0" dirty="0" err="1">
                <a:ln>
                  <a:noFill/>
                </a:ln>
                <a:solidFill>
                  <a:srgbClr val="000000"/>
                </a:solidFill>
                <a:effectLst/>
                <a:uLnTx/>
                <a:uFillTx/>
                <a:latin typeface="Arial"/>
                <a:ea typeface="+mn-ea"/>
                <a:cs typeface="+mn-cs"/>
              </a:rPr>
              <a:t>esque</a:t>
            </a: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 cells that line the ventricles of the brain and the central canal of the spinal cord</a:t>
            </a:r>
          </a:p>
          <a:p>
            <a:pPr marL="1371600" marR="0" lvl="2" indent="-45720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1200" cap="none" spc="0" normalizeH="0" baseline="0" noProof="0" dirty="0">
                <a:ln>
                  <a:noFill/>
                </a:ln>
                <a:solidFill>
                  <a:srgbClr val="000000"/>
                </a:solidFill>
                <a:effectLst/>
                <a:uLnTx/>
                <a:uFillTx/>
                <a:latin typeface="Arial"/>
                <a:ea typeface="+mn-ea"/>
                <a:cs typeface="+mn-cs"/>
              </a:rPr>
              <a:t>Some are ciliated which facilitates the movement of cerebrospinal fluid </a:t>
            </a:r>
          </a:p>
          <a:p>
            <a:pPr marL="609600" marR="0" lvl="0" indent="-609600" algn="l" defTabSz="914400" rtl="0" eaLnBrk="1" fontAlgn="base" latinLnBrk="0" hangingPunct="1">
              <a:lnSpc>
                <a:spcPct val="90000"/>
              </a:lnSpc>
              <a:spcBef>
                <a:spcPct val="20000"/>
              </a:spcBef>
              <a:spcAft>
                <a:spcPct val="0"/>
              </a:spcAft>
              <a:buClrTx/>
              <a:buSzTx/>
              <a:buFontTx/>
              <a:buAutoNum type="arabicPeriod" startAt="2"/>
              <a:tabLst/>
              <a:defRPr/>
            </a:pPr>
            <a:endParaRPr kumimoji="0" lang="en-US" altLang="en-US" sz="2800" b="0" i="0" u="none" strike="noStrike" kern="1200" cap="none" spc="0" normalizeH="0" baseline="0" noProof="0" dirty="0">
              <a:ln>
                <a:noFill/>
              </a:ln>
              <a:solidFill>
                <a:srgbClr val="000000"/>
              </a:solidFill>
              <a:effectLst/>
              <a:uLnTx/>
              <a:uFillTx/>
              <a:latin typeface="Arial"/>
              <a:ea typeface="+mn-ea"/>
              <a:cs typeface="+mn-cs"/>
            </a:endParaRPr>
          </a:p>
        </p:txBody>
      </p:sp>
      <p:sp>
        <p:nvSpPr>
          <p:cNvPr id="7" name="Rectangle 2"/>
          <p:cNvSpPr>
            <a:spLocks noGrp="1" noChangeArrowheads="1"/>
          </p:cNvSpPr>
          <p:nvPr>
            <p:ph type="title"/>
          </p:nvPr>
        </p:nvSpPr>
        <p:spPr>
          <a:xfrm>
            <a:off x="0" y="0"/>
            <a:ext cx="6324600" cy="932688"/>
          </a:xfrm>
          <a:solidFill>
            <a:srgbClr val="33CC33"/>
          </a:solidFill>
          <a:ln>
            <a:solidFill>
              <a:srgbClr val="000000"/>
            </a:solidFill>
            <a:miter lim="800000"/>
            <a:headEnd/>
            <a:tailEnd/>
          </a:ln>
        </p:spPr>
        <p:txBody>
          <a:bodyPr/>
          <a:lstStyle/>
          <a:p>
            <a:r>
              <a:rPr lang="en-US" altLang="en-US" sz="3600" b="1">
                <a:effectLst>
                  <a:outerShdw blurRad="38100" dist="38100" dir="2700000" algn="tl">
                    <a:srgbClr val="000000">
                      <a:alpha val="43137"/>
                    </a:srgbClr>
                  </a:outerShdw>
                </a:effectLst>
              </a:rPr>
              <a:t>Neuroglia</a:t>
            </a:r>
          </a:p>
        </p:txBody>
      </p:sp>
    </p:spTree>
    <p:extLst>
      <p:ext uri="{BB962C8B-B14F-4D97-AF65-F5344CB8AC3E}">
        <p14:creationId xmlns:p14="http://schemas.microsoft.com/office/powerpoint/2010/main" val="887234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Rectangle 2"/>
          <p:cNvSpPr>
            <a:spLocks noGrp="1" noChangeArrowheads="1"/>
          </p:cNvSpPr>
          <p:nvPr>
            <p:ph type="title"/>
          </p:nvPr>
        </p:nvSpPr>
        <p:spPr>
          <a:xfrm>
            <a:off x="0" y="0"/>
            <a:ext cx="6324600" cy="932688"/>
          </a:xfrm>
          <a:solidFill>
            <a:srgbClr val="33CC33"/>
          </a:solidFill>
          <a:ln>
            <a:solidFill>
              <a:srgbClr val="000000"/>
            </a:solidFill>
            <a:miter lim="800000"/>
            <a:headEnd/>
            <a:tailEnd/>
          </a:ln>
        </p:spPr>
        <p:txBody>
          <a:bodyPr/>
          <a:lstStyle/>
          <a:p>
            <a:r>
              <a:rPr lang="en-US" altLang="en-US" sz="3600" b="1">
                <a:effectLst>
                  <a:outerShdw blurRad="38100" dist="38100" dir="2700000" algn="tl">
                    <a:srgbClr val="000000">
                      <a:alpha val="43137"/>
                    </a:srgbClr>
                  </a:outerShdw>
                </a:effectLst>
              </a:rPr>
              <a:t>Neuroglia</a:t>
            </a:r>
          </a:p>
        </p:txBody>
      </p:sp>
      <p:pic>
        <p:nvPicPr>
          <p:cNvPr id="5" name="Picture 0" descr="myelination1"/>
          <p:cNvPicPr>
            <a:picLocks noChangeAspect="1" noChangeArrowheads="1"/>
          </p:cNvPicPr>
          <p:nvPr/>
        </p:nvPicPr>
        <p:blipFill>
          <a:blip r:embed="rId2">
            <a:extLst>
              <a:ext uri="{28A0092B-C50C-407E-A947-70E740481C1C}">
                <a14:useLocalDpi xmlns:a14="http://schemas.microsoft.com/office/drawing/2010/main" val="0"/>
              </a:ext>
            </a:extLst>
          </a:blip>
          <a:srcRect l="35565" t="6944" r="7434" b="5238"/>
          <a:stretch>
            <a:fillRect/>
          </a:stretch>
        </p:blipFill>
        <p:spPr bwMode="auto">
          <a:xfrm>
            <a:off x="6833616" y="0"/>
            <a:ext cx="5358384" cy="619101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txBox="1">
            <a:spLocks noChangeArrowheads="1"/>
          </p:cNvSpPr>
          <p:nvPr/>
        </p:nvSpPr>
        <p:spPr bwMode="auto">
          <a:xfrm>
            <a:off x="152400" y="1600200"/>
            <a:ext cx="5590032"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marR="0" lvl="0" indent="-609600" algn="l" defTabSz="914400" rtl="0" eaLnBrk="1" fontAlgn="base" latinLnBrk="0" hangingPunct="1">
              <a:lnSpc>
                <a:spcPct val="90000"/>
              </a:lnSpc>
              <a:spcBef>
                <a:spcPct val="20000"/>
              </a:spcBef>
              <a:spcAft>
                <a:spcPct val="0"/>
              </a:spcAft>
              <a:buClrTx/>
              <a:buSzTx/>
              <a:buFontTx/>
              <a:buNone/>
              <a:tabLst/>
              <a:defRPr/>
            </a:pPr>
            <a:r>
              <a:rPr kumimoji="0" lang="en-US" altLang="en-US" sz="2200" b="0" i="0" u="none" strike="noStrike" kern="1200" cap="none" spc="0" normalizeH="0" baseline="0" noProof="0" dirty="0">
                <a:ln>
                  <a:noFill/>
                </a:ln>
                <a:solidFill>
                  <a:srgbClr val="000000"/>
                </a:solidFill>
                <a:effectLst/>
                <a:uLnTx/>
                <a:uFillTx/>
                <a:latin typeface="Arial"/>
                <a:ea typeface="+mn-ea"/>
                <a:cs typeface="+mn-cs"/>
              </a:rPr>
              <a:t>4.  </a:t>
            </a:r>
            <a:r>
              <a:rPr kumimoji="0" lang="en-US" altLang="en-US" sz="3200" b="1" i="0" u="none" strike="noStrike" kern="1200" cap="none" spc="0" normalizeH="0" baseline="0" noProof="0" dirty="0">
                <a:ln>
                  <a:noFill/>
                </a:ln>
                <a:solidFill>
                  <a:srgbClr val="000000"/>
                </a:solidFill>
                <a:effectLst/>
                <a:uLnTx/>
                <a:uFillTx/>
                <a:latin typeface="Arial"/>
                <a:ea typeface="+mn-ea"/>
                <a:cs typeface="+mn-cs"/>
              </a:rPr>
              <a:t>Oligodendrocytes</a:t>
            </a:r>
          </a:p>
          <a:p>
            <a:pPr marL="609600" marR="0" lvl="0" indent="-609600" algn="l" defTabSz="914400" rtl="0" eaLnBrk="1" fontAlgn="base" latinLnBrk="0" hangingPunct="1">
              <a:lnSpc>
                <a:spcPct val="90000"/>
              </a:lnSpc>
              <a:spcBef>
                <a:spcPct val="20000"/>
              </a:spcBef>
              <a:spcAft>
                <a:spcPct val="0"/>
              </a:spcAft>
              <a:buClrTx/>
              <a:buSzTx/>
              <a:buFontTx/>
              <a:buChar char="•"/>
              <a:tabLst/>
              <a:defRPr/>
            </a:pPr>
            <a:endParaRPr kumimoji="0" lang="en-US" altLang="en-US" sz="2800" b="0" i="0" u="none" strike="noStrike" kern="1200" cap="none" spc="0" normalizeH="0" baseline="0" noProof="0" dirty="0">
              <a:ln>
                <a:noFill/>
              </a:ln>
              <a:solidFill>
                <a:srgbClr val="000000"/>
              </a:solidFill>
              <a:effectLst/>
              <a:uLnTx/>
              <a:uFillTx/>
              <a:latin typeface="Arial"/>
              <a:ea typeface="+mn-ea"/>
              <a:cs typeface="+mn-cs"/>
            </a:endParaRPr>
          </a:p>
          <a:p>
            <a:pPr marL="609600" marR="0" lvl="0" indent="-609600" algn="l" defTabSz="914400" rtl="0" eaLnBrk="1" fontAlgn="base" latinLnBrk="0" hangingPunct="1">
              <a:lnSpc>
                <a:spcPct val="90000"/>
              </a:lnSpc>
              <a:spcBef>
                <a:spcPct val="20000"/>
              </a:spcBef>
              <a:spcAft>
                <a:spcPct val="0"/>
              </a:spcAft>
              <a:buClrTx/>
              <a:buSzTx/>
              <a:buFontTx/>
              <a:buChar char="•"/>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Produce the </a:t>
            </a:r>
            <a:r>
              <a:rPr kumimoji="0" lang="en-US" altLang="en-US" sz="2800" b="1" i="0" u="none" strike="noStrike" kern="1200" cap="none" spc="0" normalizeH="0" baseline="0" noProof="0" dirty="0">
                <a:ln>
                  <a:noFill/>
                </a:ln>
                <a:solidFill>
                  <a:srgbClr val="000000"/>
                </a:solidFill>
                <a:effectLst/>
                <a:uLnTx/>
                <a:uFillTx/>
                <a:latin typeface="Arial"/>
                <a:ea typeface="+mn-ea"/>
                <a:cs typeface="+mn-cs"/>
              </a:rPr>
              <a:t>myelin sheath</a:t>
            </a: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 which provides the electrical insulation for certain neurons in the CNS</a:t>
            </a:r>
          </a:p>
          <a:p>
            <a:pPr marL="609600" marR="0" lvl="0" indent="-609600" algn="l" defTabSz="914400" rtl="0" eaLnBrk="1" fontAlgn="base" latinLnBrk="0" hangingPunct="1">
              <a:lnSpc>
                <a:spcPct val="90000"/>
              </a:lnSpc>
              <a:spcBef>
                <a:spcPct val="2000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Arial"/>
              <a:ea typeface="+mn-ea"/>
              <a:cs typeface="+mn-cs"/>
            </a:endParaRPr>
          </a:p>
          <a:p>
            <a:pPr marL="609600" marR="0" lvl="0" indent="-609600" algn="l" defTabSz="914400" rtl="0" eaLnBrk="1" fontAlgn="base" latinLnBrk="0" hangingPunct="1">
              <a:lnSpc>
                <a:spcPct val="90000"/>
              </a:lnSpc>
              <a:spcBef>
                <a:spcPct val="20000"/>
              </a:spcBef>
              <a:spcAft>
                <a:spcPct val="0"/>
              </a:spcAft>
              <a:buClrTx/>
              <a:buSzTx/>
              <a:buFontTx/>
              <a:buChar char="•"/>
              <a:tabLst/>
              <a:defRPr/>
            </a:pPr>
            <a:endParaRPr kumimoji="0" lang="en-US" altLang="en-US" sz="32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077081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4" name="Picture 9" descr="myelination1"/>
          <p:cNvPicPr>
            <a:picLocks noChangeAspect="1" noChangeArrowheads="1"/>
          </p:cNvPicPr>
          <p:nvPr/>
        </p:nvPicPr>
        <p:blipFill>
          <a:blip r:embed="rId2">
            <a:extLst>
              <a:ext uri="{28A0092B-C50C-407E-A947-70E740481C1C}">
                <a14:useLocalDpi xmlns:a14="http://schemas.microsoft.com/office/drawing/2010/main" val="0"/>
              </a:ext>
            </a:extLst>
          </a:blip>
          <a:srcRect l="5208" t="18890" r="65677" b="4167"/>
          <a:stretch>
            <a:fillRect/>
          </a:stretch>
        </p:blipFill>
        <p:spPr bwMode="auto">
          <a:xfrm>
            <a:off x="9097094" y="0"/>
            <a:ext cx="3119289" cy="618134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0"/>
          <p:cNvSpPr>
            <a:spLocks noChangeArrowheads="1"/>
          </p:cNvSpPr>
          <p:nvPr/>
        </p:nvSpPr>
        <p:spPr bwMode="auto">
          <a:xfrm>
            <a:off x="365760" y="1033272"/>
            <a:ext cx="7754112" cy="4882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a:solidFill>
                  <a:schemeClr val="tx1"/>
                </a:solidFill>
                <a:latin typeface="Arial" panose="020B0604020202020204" pitchFamily="34" charset="0"/>
              </a:defRPr>
            </a:lvl1pPr>
            <a:lvl2pPr marL="990600" indent="-5334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752600" indent="-381000">
              <a:defRPr>
                <a:solidFill>
                  <a:schemeClr val="tx1"/>
                </a:solidFill>
                <a:latin typeface="Arial" panose="020B0604020202020204" pitchFamily="34" charset="0"/>
              </a:defRPr>
            </a:lvl4pPr>
            <a:lvl5pPr marL="2209800" indent="-381000">
              <a:defRPr>
                <a:solidFill>
                  <a:schemeClr val="tx1"/>
                </a:solidFill>
                <a:latin typeface="Arial" panose="020B0604020202020204" pitchFamily="34" charset="0"/>
              </a:defRPr>
            </a:lvl5pPr>
            <a:lvl6pPr marL="2667000" indent="-381000" fontAlgn="base">
              <a:spcBef>
                <a:spcPct val="0"/>
              </a:spcBef>
              <a:spcAft>
                <a:spcPct val="0"/>
              </a:spcAft>
              <a:defRPr>
                <a:solidFill>
                  <a:schemeClr val="tx1"/>
                </a:solidFill>
                <a:latin typeface="Arial" panose="020B0604020202020204" pitchFamily="34" charset="0"/>
              </a:defRPr>
            </a:lvl6pPr>
            <a:lvl7pPr marL="3124200" indent="-381000" fontAlgn="base">
              <a:spcBef>
                <a:spcPct val="0"/>
              </a:spcBef>
              <a:spcAft>
                <a:spcPct val="0"/>
              </a:spcAft>
              <a:defRPr>
                <a:solidFill>
                  <a:schemeClr val="tx1"/>
                </a:solidFill>
                <a:latin typeface="Arial" panose="020B0604020202020204" pitchFamily="34" charset="0"/>
              </a:defRPr>
            </a:lvl7pPr>
            <a:lvl8pPr marL="3581400" indent="-381000" fontAlgn="base">
              <a:spcBef>
                <a:spcPct val="0"/>
              </a:spcBef>
              <a:spcAft>
                <a:spcPct val="0"/>
              </a:spcAft>
              <a:defRPr>
                <a:solidFill>
                  <a:schemeClr val="tx1"/>
                </a:solidFill>
                <a:latin typeface="Arial" panose="020B0604020202020204" pitchFamily="34" charset="0"/>
              </a:defRPr>
            </a:lvl8pPr>
            <a:lvl9pPr marL="4038600" indent="-381000" fontAlgn="base">
              <a:spcBef>
                <a:spcPct val="0"/>
              </a:spcBef>
              <a:spcAft>
                <a:spcPct val="0"/>
              </a:spcAft>
              <a:defRPr>
                <a:solidFill>
                  <a:schemeClr val="tx1"/>
                </a:solidFill>
                <a:latin typeface="Arial" panose="020B0604020202020204" pitchFamily="34" charset="0"/>
              </a:defRPr>
            </a:lvl9pPr>
          </a:lstStyle>
          <a:p>
            <a:pPr marL="609600" marR="0" lvl="0" indent="-609600" algn="l" defTabSz="914400" rtl="0" eaLnBrk="1" fontAlgn="base" latinLnBrk="0" hangingPunct="1">
              <a:lnSpc>
                <a:spcPct val="100000"/>
              </a:lnSpc>
              <a:spcBef>
                <a:spcPct val="20000"/>
              </a:spcBef>
              <a:spcAft>
                <a:spcPct val="0"/>
              </a:spcAft>
              <a:buClrTx/>
              <a:buSzTx/>
              <a:buFontTx/>
              <a:buChar char="•"/>
              <a:tabLst/>
              <a:defRPr/>
            </a:pPr>
            <a:r>
              <a:rPr kumimoji="0" lang="en-US" altLang="en-US" sz="28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2 types of glia in the PNS</a:t>
            </a:r>
          </a:p>
          <a:p>
            <a:pPr marL="609600" marR="0" lvl="0" indent="-609600" algn="l" defTabSz="914400" rtl="0" eaLnBrk="1" fontAlgn="base" latinLnBrk="0" hangingPunct="1">
              <a:lnSpc>
                <a:spcPct val="100000"/>
              </a:lnSpc>
              <a:spcBef>
                <a:spcPct val="20000"/>
              </a:spcBef>
              <a:spcAft>
                <a:spcPct val="0"/>
              </a:spcAft>
              <a:buClrTx/>
              <a:buSzTx/>
              <a:buFontTx/>
              <a:buChar char="•"/>
              <a:tabLst/>
              <a:defRPr/>
            </a:pPr>
            <a:endParaRPr kumimoji="0" lang="en-US" altLang="en-US" sz="2800" b="0" i="0" u="none" strike="noStrike" kern="0" cap="none" spc="0" normalizeH="0" baseline="0" noProof="0" dirty="0">
              <a:ln>
                <a:noFill/>
              </a:ln>
              <a:solidFill>
                <a:srgbClr val="000000"/>
              </a:solidFill>
              <a:effectLst/>
              <a:uLnTx/>
              <a:uFillTx/>
              <a:latin typeface="Arial" panose="020B0604020202020204" pitchFamily="34" charset="0"/>
              <a:ea typeface="+mn-ea"/>
              <a:cs typeface="+mn-cs"/>
            </a:endParaRPr>
          </a:p>
          <a:p>
            <a:pPr marL="609600" marR="0" lvl="0" indent="-609600" algn="l" defTabSz="914400" rtl="0" eaLnBrk="1" fontAlgn="base" latinLnBrk="0" hangingPunct="1">
              <a:lnSpc>
                <a:spcPct val="100000"/>
              </a:lnSpc>
              <a:spcBef>
                <a:spcPct val="20000"/>
              </a:spcBef>
              <a:spcAft>
                <a:spcPct val="0"/>
              </a:spcAft>
              <a:buClrTx/>
              <a:buSzTx/>
              <a:buFontTx/>
              <a:buAutoNum type="arabicPeriod"/>
              <a:tabLst/>
              <a:defRPr/>
            </a:pPr>
            <a:r>
              <a:rPr kumimoji="0" lang="en-US" altLang="en-US" sz="28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Satellite cells</a:t>
            </a:r>
          </a:p>
          <a:p>
            <a:pPr marL="1371600" marR="0" lvl="2" indent="-457200"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Surround clusters of neuronal cell bodies in the PNS</a:t>
            </a:r>
          </a:p>
          <a:p>
            <a:pPr marL="1371600" marR="0" lvl="2" indent="-457200"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Unknown function</a:t>
            </a:r>
          </a:p>
          <a:p>
            <a:pPr marL="1371600" marR="0" lvl="2" indent="-457200" algn="l" defTabSz="914400" rtl="0" eaLnBrk="1" fontAlgn="base" latinLnBrk="0" hangingPunct="1">
              <a:lnSpc>
                <a:spcPct val="100000"/>
              </a:lnSpc>
              <a:spcBef>
                <a:spcPct val="20000"/>
              </a:spcBef>
              <a:spcAft>
                <a:spcPct val="0"/>
              </a:spcAft>
              <a:buClrTx/>
              <a:buSzTx/>
              <a:buFontTx/>
              <a:buChar char="•"/>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endParaRPr>
          </a:p>
          <a:p>
            <a:pPr marL="609600" marR="0" lvl="0" indent="-609600" algn="l" defTabSz="914400" rtl="0" eaLnBrk="1" fontAlgn="base" latinLnBrk="0" hangingPunct="1">
              <a:lnSpc>
                <a:spcPct val="100000"/>
              </a:lnSpc>
              <a:spcBef>
                <a:spcPct val="20000"/>
              </a:spcBef>
              <a:spcAft>
                <a:spcPct val="0"/>
              </a:spcAft>
              <a:buClrTx/>
              <a:buSzTx/>
              <a:buFontTx/>
              <a:buAutoNum type="arabicPeriod"/>
              <a:tabLst/>
              <a:defRPr/>
            </a:pPr>
            <a:r>
              <a:rPr kumimoji="0" lang="en-US" altLang="en-US" sz="28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Schwann cells</a:t>
            </a:r>
          </a:p>
          <a:p>
            <a:pPr marL="1371600" marR="0" lvl="2" indent="-457200"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Form myelin sheaths around the larger nerve fibers in the PNS.</a:t>
            </a:r>
          </a:p>
          <a:p>
            <a:pPr marL="1371600" marR="0" lvl="2" indent="-457200"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Vital to neuronal regeneration</a:t>
            </a:r>
          </a:p>
          <a:p>
            <a:pPr marL="609600" marR="0" lvl="0" indent="-609600" algn="l" defTabSz="914400" rtl="0" eaLnBrk="1" fontAlgn="base" latinLnBrk="0" hangingPunct="1">
              <a:lnSpc>
                <a:spcPct val="100000"/>
              </a:lnSpc>
              <a:spcBef>
                <a:spcPct val="2000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Arial" panose="020B0604020202020204" pitchFamily="34" charset="0"/>
              <a:ea typeface="+mn-ea"/>
              <a:cs typeface="+mn-cs"/>
            </a:endParaRPr>
          </a:p>
          <a:p>
            <a:pPr marL="609600" marR="0" lvl="0" indent="-609600" algn="l" defTabSz="914400" rtl="0" eaLnBrk="1" fontAlgn="base" latinLnBrk="0" hangingPunct="1">
              <a:lnSpc>
                <a:spcPct val="100000"/>
              </a:lnSpc>
              <a:spcBef>
                <a:spcPct val="20000"/>
              </a:spcBef>
              <a:spcAft>
                <a:spcPct val="0"/>
              </a:spcAft>
              <a:buClrTx/>
              <a:buSzTx/>
              <a:buFontTx/>
              <a:buChar char="•"/>
              <a:tabLst/>
              <a:defRPr/>
            </a:pPr>
            <a:endParaRPr kumimoji="0" lang="en-US" altLang="en-US" sz="2800" b="0" i="0" u="none" strike="noStrike" kern="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6" name="Rectangle 2"/>
          <p:cNvSpPr>
            <a:spLocks noGrp="1" noChangeArrowheads="1"/>
          </p:cNvSpPr>
          <p:nvPr>
            <p:ph type="title"/>
          </p:nvPr>
        </p:nvSpPr>
        <p:spPr>
          <a:xfrm>
            <a:off x="0" y="0"/>
            <a:ext cx="6324600" cy="932688"/>
          </a:xfrm>
          <a:solidFill>
            <a:srgbClr val="33CC33"/>
          </a:solidFill>
          <a:ln>
            <a:solidFill>
              <a:srgbClr val="000000"/>
            </a:solidFill>
            <a:miter lim="800000"/>
            <a:headEnd/>
            <a:tailEnd/>
          </a:ln>
        </p:spPr>
        <p:txBody>
          <a:bodyPr/>
          <a:lstStyle/>
          <a:p>
            <a:r>
              <a:rPr lang="en-US" altLang="en-US" sz="3600" b="1">
                <a:effectLst>
                  <a:outerShdw blurRad="38100" dist="38100" dir="2700000" algn="tl">
                    <a:srgbClr val="000000">
                      <a:alpha val="43137"/>
                    </a:srgbClr>
                  </a:outerShdw>
                </a:effectLst>
              </a:rPr>
              <a:t>Neuroglia</a:t>
            </a:r>
          </a:p>
        </p:txBody>
      </p:sp>
    </p:spTree>
    <p:extLst>
      <p:ext uri="{BB962C8B-B14F-4D97-AF65-F5344CB8AC3E}">
        <p14:creationId xmlns:p14="http://schemas.microsoft.com/office/powerpoint/2010/main" val="3891029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3" name="Rectangle 1"/>
          <p:cNvSpPr>
            <a:spLocks noGrp="1" noChangeArrowheads="1"/>
          </p:cNvSpPr>
          <p:nvPr>
            <p:ph type="title"/>
          </p:nvPr>
        </p:nvSpPr>
        <p:spPr>
          <a:xfrm>
            <a:off x="685800" y="70104"/>
            <a:ext cx="7772400" cy="844296"/>
          </a:xfrm>
        </p:spPr>
        <p:txBody>
          <a:bodyP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4400" b="1" dirty="0">
                <a:solidFill>
                  <a:srgbClr val="21409A"/>
                </a:solidFill>
                <a:latin typeface="Arial" panose="020B0604020202020204" pitchFamily="34" charset="0"/>
              </a:rPr>
              <a:t>Neuroglia vs. Neurons</a:t>
            </a:r>
          </a:p>
        </p:txBody>
      </p:sp>
      <p:sp>
        <p:nvSpPr>
          <p:cNvPr id="5" name="Rectangle 2"/>
          <p:cNvSpPr>
            <a:spLocks noGrp="1" noChangeArrowheads="1"/>
          </p:cNvSpPr>
          <p:nvPr>
            <p:ph sz="half" idx="1"/>
          </p:nvPr>
        </p:nvSpPr>
        <p:spPr>
          <a:xfrm>
            <a:off x="685800" y="1100190"/>
            <a:ext cx="10716768" cy="4660530"/>
          </a:xfrm>
        </p:spPr>
        <p:txBody>
          <a:bodyPr>
            <a:normAutofit/>
          </a:bodyPr>
          <a:lstStyle/>
          <a:p>
            <a:pPr marL="336550" indent="-336550" eaLnBrk="1" hangingPunct="1">
              <a:buFont typeface="Times New Roman" panose="02020603050405020304" pitchFamily="18" charset="0"/>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altLang="en-US" sz="3600" dirty="0">
                <a:latin typeface="Arial" panose="020B0604020202020204" pitchFamily="34" charset="0"/>
              </a:rPr>
              <a:t>Neuroglia divide but Neurons do not.</a:t>
            </a:r>
          </a:p>
          <a:p>
            <a:pPr marL="336550" indent="-336550" eaLnBrk="1" hangingPunct="1">
              <a:buFont typeface="Times New Roman" panose="02020603050405020304" pitchFamily="18" charset="0"/>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altLang="en-US" sz="3600" dirty="0">
              <a:latin typeface="Arial" panose="020B0604020202020204" pitchFamily="34" charset="0"/>
            </a:endParaRPr>
          </a:p>
          <a:p>
            <a:pPr marL="336550" indent="-336550" eaLnBrk="1" hangingPunct="1">
              <a:buFont typeface="Times New Roman" panose="02020603050405020304" pitchFamily="18" charset="0"/>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altLang="en-US" sz="3600" dirty="0">
                <a:latin typeface="Arial" panose="020B0604020202020204" pitchFamily="34" charset="0"/>
              </a:rPr>
              <a:t>Most brain tumors are “gliomas.”</a:t>
            </a:r>
          </a:p>
          <a:p>
            <a:pPr marL="336550" indent="-336550" eaLnBrk="1" hangingPunct="1">
              <a:buFont typeface="Times New Roman" panose="02020603050405020304" pitchFamily="18" charset="0"/>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altLang="en-US" sz="3600" dirty="0">
              <a:latin typeface="Arial" panose="020B0604020202020204" pitchFamily="34" charset="0"/>
            </a:endParaRPr>
          </a:p>
          <a:p>
            <a:pPr marL="336550" indent="-336550" eaLnBrk="1" hangingPunct="1">
              <a:buFont typeface="Times New Roman" panose="02020603050405020304" pitchFamily="18" charset="0"/>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altLang="en-US" sz="3600" dirty="0">
                <a:latin typeface="Arial" panose="020B0604020202020204" pitchFamily="34" charset="0"/>
              </a:rPr>
              <a:t>Most brain tumors involve the neuroglia cells, not the neurons.</a:t>
            </a:r>
          </a:p>
        </p:txBody>
      </p:sp>
    </p:spTree>
    <p:extLst>
      <p:ext uri="{BB962C8B-B14F-4D97-AF65-F5344CB8AC3E}">
        <p14:creationId xmlns:p14="http://schemas.microsoft.com/office/powerpoint/2010/main" val="116695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Rectangle 2"/>
          <p:cNvSpPr txBox="1">
            <a:spLocks noChangeArrowheads="1"/>
          </p:cNvSpPr>
          <p:nvPr/>
        </p:nvSpPr>
        <p:spPr>
          <a:xfrm>
            <a:off x="0" y="0"/>
            <a:ext cx="3505200" cy="914400"/>
          </a:xfrm>
          <a:prstGeom prst="rect">
            <a:avLst/>
          </a:prstGeom>
          <a:solidFill>
            <a:srgbClr val="33CC33"/>
          </a:solidFill>
          <a:ln>
            <a:solidFill>
              <a:srgbClr val="000000"/>
            </a:solidFill>
            <a:miter lim="800000"/>
            <a:headEnd/>
            <a:tailEnd/>
          </a:ln>
        </p:spPr>
        <p:txBody>
          <a:bodyPr/>
          <a:lstStyle>
            <a:lvl1pPr algn="ctr" defTabSz="257175" rtl="0" eaLnBrk="1" latinLnBrk="0" hangingPunct="1">
              <a:spcBef>
                <a:spcPct val="0"/>
              </a:spcBef>
              <a:buNone/>
              <a:defRPr sz="2475" kern="1200">
                <a:solidFill>
                  <a:schemeClr val="tx1"/>
                </a:solidFill>
                <a:latin typeface="+mj-lt"/>
                <a:ea typeface="+mj-ea"/>
                <a:cs typeface="+mj-cs"/>
              </a:defRPr>
            </a:lvl1pPr>
          </a:lstStyle>
          <a:p>
            <a:pPr marL="0" marR="0" lvl="0" indent="0" algn="ctr" defTabSz="257175" rtl="0" eaLnBrk="1" fontAlgn="auto" latinLnBrk="0" hangingPunct="1">
              <a:lnSpc>
                <a:spcPct val="100000"/>
              </a:lnSpc>
              <a:spcBef>
                <a:spcPct val="0"/>
              </a:spcBef>
              <a:spcAft>
                <a:spcPts val="0"/>
              </a:spcAft>
              <a:buClrTx/>
              <a:buSzTx/>
              <a:buFontTx/>
              <a:buNone/>
              <a:tabLst/>
              <a:defRPr/>
            </a:pPr>
            <a:r>
              <a:rPr kumimoji="0" lang="en-US" altLang="en-US" sz="40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Calibri"/>
                <a:ea typeface="+mj-ea"/>
                <a:cs typeface="+mj-cs"/>
              </a:rPr>
              <a:t>Neurons</a:t>
            </a:r>
          </a:p>
        </p:txBody>
      </p:sp>
      <p:pic>
        <p:nvPicPr>
          <p:cNvPr id="5" name="Picture 0" descr="neuron"/>
          <p:cNvPicPr>
            <a:picLocks noChangeAspect="1" noChangeArrowheads="1"/>
          </p:cNvPicPr>
          <p:nvPr/>
        </p:nvPicPr>
        <p:blipFill>
          <a:blip r:embed="rId2">
            <a:extLst>
              <a:ext uri="{28A0092B-C50C-407E-A947-70E740481C1C}">
                <a14:useLocalDpi xmlns:a14="http://schemas.microsoft.com/office/drawing/2010/main" val="0"/>
              </a:ext>
            </a:extLst>
          </a:blip>
          <a:srcRect l="1988" t="25436" r="17500" b="4239"/>
          <a:stretch>
            <a:fillRect/>
          </a:stretch>
        </p:blipFill>
        <p:spPr bwMode="auto">
          <a:xfrm>
            <a:off x="6786450" y="192024"/>
            <a:ext cx="5320205" cy="258768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txBox="1">
            <a:spLocks noChangeArrowheads="1"/>
          </p:cNvSpPr>
          <p:nvPr/>
        </p:nvSpPr>
        <p:spPr bwMode="auto">
          <a:xfrm>
            <a:off x="0" y="970823"/>
            <a:ext cx="85344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2400" b="0" i="0" u="none" strike="noStrike" kern="1200" cap="none" spc="0" normalizeH="0" baseline="0" noProof="0" dirty="0">
                <a:ln>
                  <a:noFill/>
                </a:ln>
                <a:solidFill>
                  <a:srgbClr val="000000"/>
                </a:solidFill>
                <a:effectLst/>
                <a:uLnTx/>
                <a:uFillTx/>
                <a:latin typeface="Arial"/>
                <a:ea typeface="+mn-ea"/>
                <a:cs typeface="+mn-cs"/>
              </a:rPr>
              <a:t>The functional and structural unit                                            of the nervous system.</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altLang="en-US" sz="24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2400" b="0" i="0" u="none" strike="noStrike" kern="1200" cap="none" spc="0" normalizeH="0" baseline="0" noProof="0" dirty="0">
                <a:ln>
                  <a:noFill/>
                </a:ln>
                <a:solidFill>
                  <a:srgbClr val="000000"/>
                </a:solidFill>
                <a:effectLst/>
                <a:uLnTx/>
                <a:uFillTx/>
                <a:latin typeface="Arial"/>
                <a:ea typeface="+mn-ea"/>
                <a:cs typeface="+mn-cs"/>
              </a:rPr>
              <a:t>Specialized to conduct information from </a:t>
            </a:r>
          </a:p>
          <a:p>
            <a:pPr marL="347663" marR="0" lvl="0" indent="0" algn="l" defTabSz="914400" rtl="0" eaLnBrk="1" fontAlgn="base" latinLnBrk="0" hangingPunct="1">
              <a:lnSpc>
                <a:spcPct val="100000"/>
              </a:lnSpc>
              <a:spcBef>
                <a:spcPct val="2000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Arial"/>
                <a:ea typeface="+mn-ea"/>
                <a:cs typeface="+mn-cs"/>
              </a:rPr>
              <a:t>one part of the body to another.</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0" lang="en-US" altLang="en-US" sz="2400" b="0" i="0" u="none" strike="noStrike" kern="1200" cap="none" spc="0" normalizeH="0" baseline="0" noProof="0" dirty="0">
              <a:ln>
                <a:noFill/>
              </a:ln>
              <a:solidFill>
                <a:srgbClr val="000000"/>
              </a:solidFill>
              <a:effectLst/>
              <a:uLnTx/>
              <a:uFillTx/>
              <a:latin typeface="Arial"/>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2400" b="0" i="0" u="none" strike="noStrike" kern="1200" cap="none" spc="0" normalizeH="0" baseline="0" noProof="0" dirty="0">
                <a:ln>
                  <a:noFill/>
                </a:ln>
                <a:solidFill>
                  <a:srgbClr val="000000"/>
                </a:solidFill>
                <a:effectLst/>
                <a:uLnTx/>
                <a:uFillTx/>
                <a:latin typeface="Arial"/>
                <a:ea typeface="+mn-ea"/>
                <a:cs typeface="+mn-cs"/>
              </a:rPr>
              <a:t>There are many, many different types of neurons but most have certain structural and functional characteristics in common:</a:t>
            </a:r>
          </a:p>
        </p:txBody>
      </p:sp>
      <p:sp>
        <p:nvSpPr>
          <p:cNvPr id="7" name="Rectangle 1"/>
          <p:cNvSpPr>
            <a:spLocks noChangeArrowheads="1"/>
          </p:cNvSpPr>
          <p:nvPr/>
        </p:nvSpPr>
        <p:spPr bwMode="auto">
          <a:xfrm>
            <a:off x="1374648" y="4399823"/>
            <a:ext cx="6900672"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numCol="2"/>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Cell body (soma)</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One or more specialized, slender processes (axons/dendrites)</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endParaRP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An input region (dendrites/soma)</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A conducting component (axon)</a:t>
            </a:r>
          </a:p>
          <a:p>
            <a:pPr marL="742950" marR="0" lvl="1" indent="-285750" algn="l" defTabSz="914400" rtl="0" eaLnBrk="1" fontAlgn="base" latinLnBrk="0" hangingPunct="1">
              <a:lnSpc>
                <a:spcPct val="9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mn-ea"/>
                <a:cs typeface="+mn-cs"/>
              </a:rPr>
              <a:t>A secretory (output) region (axon terminal)</a:t>
            </a:r>
          </a:p>
        </p:txBody>
      </p:sp>
    </p:spTree>
    <p:extLst>
      <p:ext uri="{BB962C8B-B14F-4D97-AF65-F5344CB8AC3E}">
        <p14:creationId xmlns:p14="http://schemas.microsoft.com/office/powerpoint/2010/main" val="2102818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 calcmode="lin" valueType="num">
                                      <p:cBhvr additive="base">
                                        <p:cTn id="1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anim calcmode="lin" valueType="num">
                                      <p:cBhvr additive="base">
                                        <p:cTn id="23"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4" name="videoplayback">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982088" y="171576"/>
            <a:ext cx="7683119" cy="5762339"/>
          </a:xfrm>
          <a:prstGeom prst="rect">
            <a:avLst/>
          </a:prstGeom>
        </p:spPr>
      </p:pic>
    </p:spTree>
    <p:extLst>
      <p:ext uri="{BB962C8B-B14F-4D97-AF65-F5344CB8AC3E}">
        <p14:creationId xmlns:p14="http://schemas.microsoft.com/office/powerpoint/2010/main" val="12342187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min Question</a:t>
            </a:r>
          </a:p>
        </p:txBody>
      </p:sp>
      <p:sp>
        <p:nvSpPr>
          <p:cNvPr id="3" name="Content Placeholder 2"/>
          <p:cNvSpPr>
            <a:spLocks noGrp="1"/>
          </p:cNvSpPr>
          <p:nvPr>
            <p:ph sz="half" idx="1"/>
          </p:nvPr>
        </p:nvSpPr>
        <p:spPr>
          <a:xfrm>
            <a:off x="772888" y="945297"/>
            <a:ext cx="9024255" cy="5175827"/>
          </a:xfrm>
        </p:spPr>
        <p:txBody>
          <a:bodyPr/>
          <a:lstStyle/>
          <a:p>
            <a:pPr marL="0" indent="0">
              <a:buNone/>
            </a:pPr>
            <a:endParaRPr lang="en-US" dirty="0"/>
          </a:p>
          <a:p>
            <a:pPr marL="0" indent="0">
              <a:buNone/>
            </a:pPr>
            <a:r>
              <a:rPr lang="en-US" sz="3600" dirty="0"/>
              <a:t>Neurons connect directly with each other at the terminals.</a:t>
            </a:r>
          </a:p>
          <a:p>
            <a:endParaRPr lang="en-US" dirty="0"/>
          </a:p>
          <a:p>
            <a:pPr marL="0" indent="0">
              <a:lnSpc>
                <a:spcPct val="200000"/>
              </a:lnSpc>
              <a:buNone/>
            </a:pPr>
            <a:r>
              <a:rPr lang="en-US" dirty="0"/>
              <a:t>True</a:t>
            </a:r>
          </a:p>
          <a:p>
            <a:pPr marL="0" indent="0">
              <a:lnSpc>
                <a:spcPct val="200000"/>
              </a:lnSpc>
              <a:buNone/>
            </a:pPr>
            <a:r>
              <a:rPr lang="en-US" dirty="0"/>
              <a:t>False</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5" name="Rectangle 4"/>
          <p:cNvSpPr/>
          <p:nvPr/>
        </p:nvSpPr>
        <p:spPr>
          <a:xfrm>
            <a:off x="1926771" y="3566438"/>
            <a:ext cx="1567543" cy="511629"/>
          </a:xfrm>
          <a:prstGeom prst="rect">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Yellow</a:t>
            </a:r>
          </a:p>
        </p:txBody>
      </p:sp>
      <p:sp>
        <p:nvSpPr>
          <p:cNvPr id="6" name="Rectangle 5"/>
          <p:cNvSpPr/>
          <p:nvPr/>
        </p:nvSpPr>
        <p:spPr>
          <a:xfrm>
            <a:off x="1926770" y="4516653"/>
            <a:ext cx="1567543" cy="511629"/>
          </a:xfrm>
          <a:prstGeom prst="rect">
            <a:avLst/>
          </a:prstGeom>
          <a:solidFill>
            <a:srgbClr val="66FF33"/>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Green</a:t>
            </a:r>
          </a:p>
        </p:txBody>
      </p:sp>
    </p:spTree>
    <p:extLst>
      <p:ext uri="{BB962C8B-B14F-4D97-AF65-F5344CB8AC3E}">
        <p14:creationId xmlns:p14="http://schemas.microsoft.com/office/powerpoint/2010/main" val="1550846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min Question</a:t>
            </a:r>
          </a:p>
        </p:txBody>
      </p:sp>
      <p:sp>
        <p:nvSpPr>
          <p:cNvPr id="3" name="Content Placeholder 2"/>
          <p:cNvSpPr>
            <a:spLocks noGrp="1"/>
          </p:cNvSpPr>
          <p:nvPr>
            <p:ph sz="half" idx="1"/>
          </p:nvPr>
        </p:nvSpPr>
        <p:spPr>
          <a:xfrm>
            <a:off x="772888" y="945297"/>
            <a:ext cx="9024255" cy="5175827"/>
          </a:xfrm>
        </p:spPr>
        <p:txBody>
          <a:bodyPr/>
          <a:lstStyle/>
          <a:p>
            <a:pPr marL="0" indent="0">
              <a:buNone/>
            </a:pPr>
            <a:endParaRPr lang="en-US" dirty="0"/>
          </a:p>
          <a:p>
            <a:pPr marL="0" indent="0">
              <a:buNone/>
            </a:pPr>
            <a:r>
              <a:rPr lang="en-US" sz="3600" dirty="0"/>
              <a:t>Neurons connect directly with each other at the terminals.</a:t>
            </a:r>
          </a:p>
          <a:p>
            <a:endParaRPr lang="en-US" dirty="0"/>
          </a:p>
          <a:p>
            <a:pPr marL="0" indent="0">
              <a:lnSpc>
                <a:spcPct val="200000"/>
              </a:lnSpc>
              <a:buNone/>
            </a:pPr>
            <a:r>
              <a:rPr lang="en-US" dirty="0"/>
              <a:t>True</a:t>
            </a:r>
          </a:p>
          <a:p>
            <a:pPr marL="0" indent="0">
              <a:lnSpc>
                <a:spcPct val="200000"/>
              </a:lnSpc>
              <a:buNone/>
            </a:pPr>
            <a:r>
              <a:rPr lang="en-US" dirty="0"/>
              <a:t>False</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6" name="Rectangle 5"/>
          <p:cNvSpPr/>
          <p:nvPr/>
        </p:nvSpPr>
        <p:spPr>
          <a:xfrm>
            <a:off x="1926770" y="4516653"/>
            <a:ext cx="1567543" cy="511629"/>
          </a:xfrm>
          <a:prstGeom prst="rect">
            <a:avLst/>
          </a:prstGeom>
          <a:solidFill>
            <a:srgbClr val="66FF33"/>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Garamond" panose="02020404030301010803" pitchFamily="18" charset="0"/>
                <a:ea typeface="+mn-ea"/>
                <a:cs typeface="+mn-cs"/>
              </a:rPr>
              <a:t>Green</a:t>
            </a:r>
          </a:p>
        </p:txBody>
      </p:sp>
    </p:spTree>
    <p:extLst>
      <p:ext uri="{BB962C8B-B14F-4D97-AF65-F5344CB8AC3E}">
        <p14:creationId xmlns:p14="http://schemas.microsoft.com/office/powerpoint/2010/main" val="1734151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3" name="Rectangle 1">
            <a:extLst>
              <a:ext uri="{FF2B5EF4-FFF2-40B4-BE49-F238E27FC236}">
                <a16:creationId xmlns:a16="http://schemas.microsoft.com/office/drawing/2014/main" id="{50D9EA56-57E7-3C45-98A3-C2F6C9540225}"/>
              </a:ext>
            </a:extLst>
          </p:cNvPr>
          <p:cNvSpPr>
            <a:spLocks noChangeArrowheads="1"/>
          </p:cNvSpPr>
          <p:nvPr/>
        </p:nvSpPr>
        <p:spPr bwMode="auto">
          <a:xfrm>
            <a:off x="381000" y="103632"/>
            <a:ext cx="8382000"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3655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marL="342900" marR="0" lvl="0" indent="-336550" algn="ctr" defTabSz="457200" rtl="0" eaLnBrk="1" fontAlgn="auto" latinLnBrk="0" hangingPunct="1">
              <a:lnSpc>
                <a:spcPct val="100000"/>
              </a:lnSpc>
              <a:spcBef>
                <a:spcPts val="1025"/>
              </a:spcBef>
              <a:spcAft>
                <a:spcPts val="0"/>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LID33801" altLang="en-US" sz="41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Arial Unicode MS" panose="020B0604020202020204" pitchFamily="34" charset="-128"/>
              </a:rPr>
              <a:t>Axons and Nerve Impulses</a:t>
            </a:r>
          </a:p>
        </p:txBody>
      </p:sp>
      <p:sp>
        <p:nvSpPr>
          <p:cNvPr id="5" name="Text Box 4"/>
          <p:cNvSpPr txBox="1">
            <a:spLocks noChangeArrowheads="1"/>
          </p:cNvSpPr>
          <p:nvPr/>
        </p:nvSpPr>
        <p:spPr bwMode="auto">
          <a:xfrm>
            <a:off x="381000" y="1275556"/>
            <a:ext cx="11569262" cy="493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marL="336550" indent="-336550">
              <a:spcBef>
                <a:spcPts val="8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3200">
                <a:solidFill>
                  <a:srgbClr val="000000"/>
                </a:solidFill>
                <a:latin typeface="Times New Roman" panose="02020603050405020304" pitchFamily="18" charset="0"/>
                <a:ea typeface="Arial Unicode MS" charset="-128"/>
              </a:defRPr>
            </a:lvl1pPr>
            <a:lvl2pPr marL="685800" indent="-228600">
              <a:spcBef>
                <a:spcPts val="7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800">
                <a:solidFill>
                  <a:srgbClr val="000000"/>
                </a:solidFill>
                <a:latin typeface="Times New Roman" panose="02020603050405020304" pitchFamily="18" charset="0"/>
                <a:ea typeface="Arial Unicode MS" charset="-128"/>
              </a:defRPr>
            </a:lvl2pPr>
            <a:lvl3pPr>
              <a:spcBef>
                <a:spcPts val="6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400">
                <a:solidFill>
                  <a:srgbClr val="000000"/>
                </a:solidFill>
                <a:latin typeface="Times New Roman" panose="02020603050405020304" pitchFamily="18" charset="0"/>
                <a:ea typeface="Arial Unicode MS" charset="-128"/>
              </a:defRPr>
            </a:lvl3pPr>
            <a:lvl4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4pPr>
            <a:lvl5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9pPr>
          </a:lstStyle>
          <a:p>
            <a:pPr marL="336550" marR="0" lvl="0" indent="-336550" algn="l" defTabSz="457200" rtl="0" eaLnBrk="1" fontAlgn="auto" latinLnBrk="0" hangingPunct="1">
              <a:lnSpc>
                <a:spcPct val="8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Axons end in axonal terminals.</a:t>
            </a:r>
          </a:p>
          <a:p>
            <a:pPr marL="336550" marR="0" lvl="0" indent="-336550" algn="l" defTabSz="457200" rtl="0" eaLnBrk="1" fontAlgn="auto" latinLnBrk="0" hangingPunct="1">
              <a:lnSpc>
                <a:spcPct val="8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endParaRPr>
          </a:p>
          <a:p>
            <a:pPr marL="336550" marR="0" lvl="0" indent="-336550" algn="l" defTabSz="457200" rtl="0" eaLnBrk="1" fontAlgn="auto" latinLnBrk="0" hangingPunct="1">
              <a:lnSpc>
                <a:spcPct val="8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Axonal terminals contain vesicles with neurotransmitters.</a:t>
            </a:r>
          </a:p>
          <a:p>
            <a:pPr marL="336550" marR="0" lvl="0" indent="-336550" algn="l" defTabSz="457200" rtl="0" eaLnBrk="1" fontAlgn="auto" latinLnBrk="0" hangingPunct="1">
              <a:lnSpc>
                <a:spcPct val="8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endParaRPr>
          </a:p>
          <a:p>
            <a:pPr marL="336550" marR="0" lvl="0" indent="-336550" algn="l" defTabSz="457200" rtl="0" eaLnBrk="1" fontAlgn="auto" latinLnBrk="0" hangingPunct="1">
              <a:lnSpc>
                <a:spcPct val="8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Axonal terminals are separated from the next neuron by a gap</a:t>
            </a:r>
          </a:p>
          <a:p>
            <a:pPr marL="685800" marR="0" lvl="1" indent="-228600" algn="l" defTabSz="457200" rtl="0" eaLnBrk="1" fontAlgn="auto" latinLnBrk="0" hangingPunct="1">
              <a:lnSpc>
                <a:spcPct val="80000"/>
              </a:lnSpc>
              <a:spcBef>
                <a:spcPct val="0"/>
              </a:spcBef>
              <a:spcAft>
                <a:spcPts val="187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Synaptic cleft – the gap between adjacent neurons</a:t>
            </a:r>
          </a:p>
          <a:p>
            <a:pPr marL="685800" marR="0" lvl="1" indent="-228600" algn="l" defTabSz="457200" rtl="0" eaLnBrk="1" fontAlgn="auto" latinLnBrk="0" hangingPunct="1">
              <a:lnSpc>
                <a:spcPct val="80000"/>
              </a:lnSpc>
              <a:spcBef>
                <a:spcPct val="0"/>
              </a:spcBef>
              <a:spcAft>
                <a:spcPts val="187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Synapse – the junction between nerves</a:t>
            </a:r>
          </a:p>
        </p:txBody>
      </p:sp>
    </p:spTree>
    <p:extLst>
      <p:ext uri="{BB962C8B-B14F-4D97-AF65-F5344CB8AC3E}">
        <p14:creationId xmlns:p14="http://schemas.microsoft.com/office/powerpoint/2010/main" val="59831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afterEffect">
                                  <p:stCondLst>
                                    <p:cond delay="0"/>
                                  </p:stCondLst>
                                  <p:childTnLst>
                                    <p:set>
                                      <p:cBhvr additive="repl">
                                        <p:cTn id="6" dur="1" fill="hold">
                                          <p:stCondLst>
                                            <p:cond delay="0"/>
                                          </p:stCondLst>
                                        </p:cTn>
                                        <p:tgtEl>
                                          <p:spTgt spid="3">
                                            <p:txEl>
                                              <p:pRg st="0" end="0"/>
                                            </p:txEl>
                                          </p:spTgt>
                                        </p:tgtEl>
                                        <p:attrNameLst>
                                          <p:attrName>style.visibility</p:attrName>
                                        </p:attrNameLst>
                                      </p:cBhvr>
                                      <p:to>
                                        <p:strVal val="visible"/>
                                      </p:to>
                                    </p:set>
                                    <p:animEffect transition="in" filter="dissolve">
                                      <p:cBhvr additive="repl">
                                        <p:cTn id="7" dur="500"/>
                                        <p:tgtEl>
                                          <p:spTgt spid="3">
                                            <p:txEl>
                                              <p:pRg st="0" end="0"/>
                                            </p:txEl>
                                          </p:spTgt>
                                        </p:tgtEl>
                                      </p:cBhvr>
                                    </p:animEffect>
                                  </p:childTnLst>
                                </p:cTn>
                              </p:par>
                            </p:childTnLst>
                          </p:cTn>
                        </p:par>
                        <p:par>
                          <p:cTn id="8" fill="hold">
                            <p:stCondLst>
                              <p:cond delay="500"/>
                            </p:stCondLst>
                            <p:childTnLst>
                              <p:par>
                                <p:cTn id="9" presetID="9" presetClass="entr" fill="hold" nodeType="afterEffect">
                                  <p:stCondLst>
                                    <p:cond delay="0"/>
                                  </p:stCondLst>
                                  <p:childTnLst>
                                    <p:set>
                                      <p:cBhvr additive="repl">
                                        <p:cTn id="10" dur="1" fill="hold">
                                          <p:stCondLst>
                                            <p:cond delay="0"/>
                                          </p:stCondLst>
                                        </p:cTn>
                                        <p:tgtEl>
                                          <p:spTgt spid="5"/>
                                        </p:tgtEl>
                                        <p:attrNameLst>
                                          <p:attrName>style.visibility</p:attrName>
                                        </p:attrNameLst>
                                      </p:cBhvr>
                                      <p:to>
                                        <p:strVal val="visible"/>
                                      </p:to>
                                    </p:set>
                                    <p:animEffect transition="in" filter="dissolve">
                                      <p:cBhvr additive="repl">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 calcmode="lin" valueType="num">
                                      <p:cBhvr additive="base">
                                        <p:cTn id="16"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 calcmode="lin" valueType="num">
                                      <p:cBhvr additive="base">
                                        <p:cTn id="2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 calcmode="lin" valueType="num">
                                      <p:cBhvr additive="base">
                                        <p:cTn id="2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5">
                                            <p:txEl>
                                              <p:pRg st="5" end="5"/>
                                            </p:txEl>
                                          </p:spTgt>
                                        </p:tgtEl>
                                        <p:attrNameLst>
                                          <p:attrName>style.visibility</p:attrName>
                                        </p:attrNameLst>
                                      </p:cBhvr>
                                      <p:to>
                                        <p:strVal val="visible"/>
                                      </p:to>
                                    </p:set>
                                    <p:anim calcmode="lin" valueType="num">
                                      <p:cBhvr additive="base">
                                        <p:cTn id="34"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5">
                                            <p:txEl>
                                              <p:pRg st="6" end="6"/>
                                            </p:txEl>
                                          </p:spTgt>
                                        </p:tgtEl>
                                        <p:attrNameLst>
                                          <p:attrName>style.visibility</p:attrName>
                                        </p:attrNameLst>
                                      </p:cBhvr>
                                      <p:to>
                                        <p:strVal val="visible"/>
                                      </p:to>
                                    </p:set>
                                    <p:anim calcmode="lin" valueType="num">
                                      <p:cBhvr additive="base">
                                        <p:cTn id="40"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pic>
        <p:nvPicPr>
          <p:cNvPr id="2" name="Picture 1"/>
          <p:cNvPicPr>
            <a:picLocks noChangeAspect="1"/>
          </p:cNvPicPr>
          <p:nvPr/>
        </p:nvPicPr>
        <p:blipFill>
          <a:blip r:embed="rId2"/>
          <a:stretch>
            <a:fillRect/>
          </a:stretch>
        </p:blipFill>
        <p:spPr>
          <a:xfrm>
            <a:off x="1709928" y="155448"/>
            <a:ext cx="8537844" cy="6010121"/>
          </a:xfrm>
          <a:prstGeom prst="rect">
            <a:avLst/>
          </a:prstGeom>
        </p:spPr>
      </p:pic>
    </p:spTree>
    <p:extLst>
      <p:ext uri="{BB962C8B-B14F-4D97-AF65-F5344CB8AC3E}">
        <p14:creationId xmlns:p14="http://schemas.microsoft.com/office/powerpoint/2010/main" val="6133428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3" name="Rectangle 1">
            <a:extLst>
              <a:ext uri="{FF2B5EF4-FFF2-40B4-BE49-F238E27FC236}">
                <a16:creationId xmlns:a16="http://schemas.microsoft.com/office/drawing/2014/main" id="{C7717F28-A9F8-9640-82AE-ACC99D8E81D3}"/>
              </a:ext>
            </a:extLst>
          </p:cNvPr>
          <p:cNvSpPr>
            <a:spLocks noChangeArrowheads="1"/>
          </p:cNvSpPr>
          <p:nvPr/>
        </p:nvSpPr>
        <p:spPr bwMode="auto">
          <a:xfrm>
            <a:off x="198120" y="11441"/>
            <a:ext cx="8382000" cy="7716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3655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marL="342900" marR="0" lvl="0" indent="-336550" algn="ctr" defTabSz="457200" rtl="0" eaLnBrk="1" fontAlgn="auto" latinLnBrk="0" hangingPunct="1">
              <a:lnSpc>
                <a:spcPct val="100000"/>
              </a:lnSpc>
              <a:spcBef>
                <a:spcPts val="1025"/>
              </a:spcBef>
              <a:spcAft>
                <a:spcPts val="0"/>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LID33801" altLang="en-US" sz="44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Arial Unicode MS" panose="020B0604020202020204" pitchFamily="34" charset="-128"/>
              </a:rPr>
              <a:t>Nerve Fiber Coverings</a:t>
            </a:r>
          </a:p>
        </p:txBody>
      </p:sp>
      <p:sp>
        <p:nvSpPr>
          <p:cNvPr id="5" name="Text Box 6"/>
          <p:cNvSpPr txBox="1">
            <a:spLocks noChangeArrowheads="1"/>
          </p:cNvSpPr>
          <p:nvPr/>
        </p:nvSpPr>
        <p:spPr bwMode="auto">
          <a:xfrm>
            <a:off x="353568" y="1445260"/>
            <a:ext cx="7752842" cy="29876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marL="336550" indent="-336550">
              <a:spcBef>
                <a:spcPts val="8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3200">
                <a:solidFill>
                  <a:srgbClr val="000000"/>
                </a:solidFill>
                <a:latin typeface="Times New Roman" panose="02020603050405020304" pitchFamily="18" charset="0"/>
                <a:ea typeface="Arial Unicode MS" charset="-128"/>
              </a:defRPr>
            </a:lvl1pPr>
            <a:lvl2pPr>
              <a:spcBef>
                <a:spcPts val="7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800">
                <a:solidFill>
                  <a:srgbClr val="000000"/>
                </a:solidFill>
                <a:latin typeface="Times New Roman" panose="02020603050405020304" pitchFamily="18" charset="0"/>
                <a:ea typeface="Arial Unicode MS" charset="-128"/>
              </a:defRPr>
            </a:lvl2pPr>
            <a:lvl3pPr>
              <a:spcBef>
                <a:spcPts val="6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400">
                <a:solidFill>
                  <a:srgbClr val="000000"/>
                </a:solidFill>
                <a:latin typeface="Times New Roman" panose="02020603050405020304" pitchFamily="18" charset="0"/>
                <a:ea typeface="Arial Unicode MS" charset="-128"/>
              </a:defRPr>
            </a:lvl3pPr>
            <a:lvl4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4pPr>
            <a:lvl5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9pPr>
          </a:lstStyle>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Schwann cells – produce myelin sheaths in jelly-roll-like fashion</a:t>
            </a:r>
          </a:p>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endParaRPr>
          </a:p>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Nodes of Ranvier – gaps in myelin sheath along the axon</a:t>
            </a:r>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b="2919"/>
          <a:stretch>
            <a:fillRect/>
          </a:stretch>
        </p:blipFill>
        <p:spPr bwMode="auto">
          <a:xfrm>
            <a:off x="8106410" y="865632"/>
            <a:ext cx="3384550" cy="5334000"/>
          </a:xfrm>
          <a:prstGeom prst="rect">
            <a:avLst/>
          </a:prstGeom>
          <a:noFill/>
          <a:ln>
            <a:noFill/>
          </a:ln>
          <a:effectLst/>
          <a:extLst>
            <a:ext uri="{909E8E84-426E-40DD-AFC4-6F175D3DCCD1}">
              <a14:hiddenFill xmlns:a14="http://schemas.microsoft.com/office/drawing/2010/main">
                <a:blipFill dpi="0" rotWithShape="0">
                  <a:blip/>
                  <a:srcRect b="2919"/>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54421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afterEffect">
                                  <p:stCondLst>
                                    <p:cond delay="0"/>
                                  </p:stCondLst>
                                  <p:childTnLst>
                                    <p:set>
                                      <p:cBhvr additive="repl">
                                        <p:cTn id="6" dur="1" fill="hold">
                                          <p:stCondLst>
                                            <p:cond delay="0"/>
                                          </p:stCondLst>
                                        </p:cTn>
                                        <p:tgtEl>
                                          <p:spTgt spid="3">
                                            <p:txEl>
                                              <p:pRg st="0" end="0"/>
                                            </p:txEl>
                                          </p:spTgt>
                                        </p:tgtEl>
                                        <p:attrNameLst>
                                          <p:attrName>style.visibility</p:attrName>
                                        </p:attrNameLst>
                                      </p:cBhvr>
                                      <p:to>
                                        <p:strVal val="visible"/>
                                      </p:to>
                                    </p:set>
                                    <p:animEffect transition="in" filter="dissolve">
                                      <p:cBhvr additive="repl">
                                        <p:cTn id="7" dur="500"/>
                                        <p:tgtEl>
                                          <p:spTgt spid="3">
                                            <p:txEl>
                                              <p:pRg st="0" end="0"/>
                                            </p:txEl>
                                          </p:spTgt>
                                        </p:tgtEl>
                                      </p:cBhvr>
                                    </p:animEffect>
                                  </p:childTnLst>
                                </p:cTn>
                              </p:par>
                            </p:childTnLst>
                          </p:cTn>
                        </p:par>
                        <p:par>
                          <p:cTn id="8" fill="hold">
                            <p:stCondLst>
                              <p:cond delay="500"/>
                            </p:stCondLst>
                            <p:childTnLst>
                              <p:par>
                                <p:cTn id="9" presetID="9" presetClass="entr" fill="hold" nodeType="afterEffect">
                                  <p:stCondLst>
                                    <p:cond delay="0"/>
                                  </p:stCondLst>
                                  <p:childTnLst>
                                    <p:set>
                                      <p:cBhvr additive="repl">
                                        <p:cTn id="10" dur="1" fill="hold">
                                          <p:stCondLst>
                                            <p:cond delay="0"/>
                                          </p:stCondLst>
                                        </p:cTn>
                                        <p:tgtEl>
                                          <p:spTgt spid="5"/>
                                        </p:tgtEl>
                                        <p:attrNameLst>
                                          <p:attrName>style.visibility</p:attrName>
                                        </p:attrNameLst>
                                      </p:cBhvr>
                                      <p:to>
                                        <p:strVal val="visible"/>
                                      </p:to>
                                    </p:set>
                                    <p:animEffect transition="in" filter="dissolve">
                                      <p:cBhvr additive="repl">
                                        <p:cTn id="11" dur="500"/>
                                        <p:tgtEl>
                                          <p:spTgt spid="5"/>
                                        </p:tgtEl>
                                      </p:cBhvr>
                                    </p:animEffect>
                                  </p:childTnLst>
                                </p:cTn>
                              </p:par>
                            </p:childTnLst>
                          </p:cTn>
                        </p:par>
                        <p:par>
                          <p:cTn id="12" fill="hold">
                            <p:stCondLst>
                              <p:cond delay="1000"/>
                            </p:stCondLst>
                            <p:childTnLst>
                              <p:par>
                                <p:cTn id="13" presetID="9" presetClass="entr" fill="hold" nodeType="afterEffect">
                                  <p:stCondLst>
                                    <p:cond delay="0"/>
                                  </p:stCondLst>
                                  <p:childTnLst>
                                    <p:set>
                                      <p:cBhvr additive="repl">
                                        <p:cTn id="14" dur="1" fill="hold">
                                          <p:stCondLst>
                                            <p:cond delay="0"/>
                                          </p:stCondLst>
                                        </p:cTn>
                                        <p:tgtEl>
                                          <p:spTgt spid="6"/>
                                        </p:tgtEl>
                                        <p:attrNameLst>
                                          <p:attrName>style.visibility</p:attrName>
                                        </p:attrNameLst>
                                      </p:cBhvr>
                                      <p:to>
                                        <p:strVal val="visible"/>
                                      </p:to>
                                    </p:set>
                                    <p:animEffect transition="in" filter="dissolve">
                                      <p:cBhvr additive="repl">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267575" y="3256598"/>
            <a:ext cx="4924425" cy="2495550"/>
          </a:xfrm>
          <a:prstGeom prst="rect">
            <a:avLst/>
          </a:prstGeom>
        </p:spPr>
      </p:pic>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3" name="Rectangle 1">
            <a:extLst>
              <a:ext uri="{FF2B5EF4-FFF2-40B4-BE49-F238E27FC236}">
                <a16:creationId xmlns:a16="http://schemas.microsoft.com/office/drawing/2014/main" id="{18FCA4BA-C65C-8848-9705-795BD184DD9C}"/>
              </a:ext>
            </a:extLst>
          </p:cNvPr>
          <p:cNvSpPr>
            <a:spLocks noChangeArrowheads="1"/>
          </p:cNvSpPr>
          <p:nvPr/>
        </p:nvSpPr>
        <p:spPr bwMode="auto">
          <a:xfrm>
            <a:off x="381000" y="140208"/>
            <a:ext cx="8382000"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3655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marL="342900" marR="0" lvl="0" indent="-336550" algn="ctr" defTabSz="457200" rtl="0" eaLnBrk="1" fontAlgn="auto" latinLnBrk="0" hangingPunct="1">
              <a:lnSpc>
                <a:spcPct val="100000"/>
              </a:lnSpc>
              <a:spcBef>
                <a:spcPts val="1025"/>
              </a:spcBef>
              <a:spcAft>
                <a:spcPts val="0"/>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LID33801" altLang="en-US" sz="4100" b="1" i="0" u="none" strike="noStrike" kern="1200" cap="none" spc="0" normalizeH="0" baseline="0" noProof="0">
                <a:ln>
                  <a:noFill/>
                </a:ln>
                <a:solidFill>
                  <a:srgbClr val="000099"/>
                </a:solidFill>
                <a:effectLst>
                  <a:outerShdw blurRad="38100" dist="38100" dir="2700000" algn="tl">
                    <a:srgbClr val="C0C0C0"/>
                  </a:outerShdw>
                </a:effectLst>
                <a:uLnTx/>
                <a:uFillTx/>
                <a:latin typeface="Arial" panose="020B0604020202020204" pitchFamily="34" charset="0"/>
                <a:ea typeface="Arial Unicode MS" panose="020B0604020202020204" pitchFamily="34" charset="-128"/>
              </a:rPr>
              <a:t>Neuron Cell Body Location</a:t>
            </a:r>
          </a:p>
        </p:txBody>
      </p:sp>
      <p:sp>
        <p:nvSpPr>
          <p:cNvPr id="5" name="Text Box 6"/>
          <p:cNvSpPr txBox="1">
            <a:spLocks noChangeArrowheads="1"/>
          </p:cNvSpPr>
          <p:nvPr/>
        </p:nvSpPr>
        <p:spPr bwMode="auto">
          <a:xfrm>
            <a:off x="198120" y="922492"/>
            <a:ext cx="7409688" cy="5089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marL="336550" indent="-336550">
              <a:spcBef>
                <a:spcPts val="8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3200">
                <a:solidFill>
                  <a:srgbClr val="000000"/>
                </a:solidFill>
                <a:latin typeface="Times New Roman" panose="02020603050405020304" pitchFamily="18" charset="0"/>
                <a:ea typeface="Arial Unicode MS" charset="-128"/>
              </a:defRPr>
            </a:lvl1pPr>
            <a:lvl2pPr marL="685800" indent="-228600">
              <a:spcBef>
                <a:spcPts val="7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800">
                <a:solidFill>
                  <a:srgbClr val="000000"/>
                </a:solidFill>
                <a:latin typeface="Times New Roman" panose="02020603050405020304" pitchFamily="18" charset="0"/>
                <a:ea typeface="Arial Unicode MS" charset="-128"/>
              </a:defRPr>
            </a:lvl2pPr>
            <a:lvl3pPr>
              <a:spcBef>
                <a:spcPts val="6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400">
                <a:solidFill>
                  <a:srgbClr val="000000"/>
                </a:solidFill>
                <a:latin typeface="Times New Roman" panose="02020603050405020304" pitchFamily="18" charset="0"/>
                <a:ea typeface="Arial Unicode MS" charset="-128"/>
              </a:defRPr>
            </a:lvl3pPr>
            <a:lvl4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4pPr>
            <a:lvl5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9pPr>
          </a:lstStyle>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Most are found in the central nervous system</a:t>
            </a:r>
          </a:p>
          <a:p>
            <a:pPr marL="336550" marR="0" lvl="0" indent="-336550" algn="l" defTabSz="457200" rtl="0" eaLnBrk="1" fontAlgn="auto" latinLnBrk="0" hangingPunct="1">
              <a:lnSpc>
                <a:spcPct val="90000"/>
              </a:lnSpc>
              <a:spcBef>
                <a:spcPct val="0"/>
              </a:spcBef>
              <a:spcAft>
                <a:spcPts val="187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Gray matter – cell bodies and unmyelinated fibers</a:t>
            </a:r>
          </a:p>
          <a:p>
            <a:pPr marL="336550" marR="0" lvl="0" indent="-336550" algn="l" defTabSz="457200" rtl="0" eaLnBrk="1" fontAlgn="auto" latinLnBrk="0" hangingPunct="1">
              <a:lnSpc>
                <a:spcPct val="90000"/>
              </a:lnSpc>
              <a:spcBef>
                <a:spcPct val="0"/>
              </a:spcBef>
              <a:spcAft>
                <a:spcPts val="187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Nuclei – clusters of cell bodies within the white matter of the central nervous system</a:t>
            </a:r>
          </a:p>
          <a:p>
            <a:pPr marL="336550" marR="0" lvl="0" indent="-336550" algn="l" defTabSz="457200" rtl="0" eaLnBrk="1" fontAlgn="auto" latinLnBrk="0" hangingPunct="1">
              <a:lnSpc>
                <a:spcPct val="90000"/>
              </a:lnSpc>
              <a:spcBef>
                <a:spcPct val="0"/>
              </a:spcBef>
              <a:spcAft>
                <a:spcPts val="187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Ganglia – collections of cell bodies outside the central nervous system</a:t>
            </a:r>
          </a:p>
        </p:txBody>
      </p:sp>
      <p:pic>
        <p:nvPicPr>
          <p:cNvPr id="6" name="Picture 5"/>
          <p:cNvPicPr>
            <a:picLocks noChangeAspect="1"/>
          </p:cNvPicPr>
          <p:nvPr/>
        </p:nvPicPr>
        <p:blipFill>
          <a:blip r:embed="rId3"/>
          <a:stretch>
            <a:fillRect/>
          </a:stretch>
        </p:blipFill>
        <p:spPr>
          <a:xfrm>
            <a:off x="7396175" y="1052315"/>
            <a:ext cx="4750676" cy="1937385"/>
          </a:xfrm>
          <a:prstGeom prst="rect">
            <a:avLst/>
          </a:prstGeom>
        </p:spPr>
      </p:pic>
    </p:spTree>
    <p:extLst>
      <p:ext uri="{BB962C8B-B14F-4D97-AF65-F5344CB8AC3E}">
        <p14:creationId xmlns:p14="http://schemas.microsoft.com/office/powerpoint/2010/main" val="399083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afterEffect">
                                  <p:stCondLst>
                                    <p:cond delay="0"/>
                                  </p:stCondLst>
                                  <p:childTnLst>
                                    <p:set>
                                      <p:cBhvr additive="repl">
                                        <p:cTn id="6" dur="1" fill="hold">
                                          <p:stCondLst>
                                            <p:cond delay="0"/>
                                          </p:stCondLst>
                                        </p:cTn>
                                        <p:tgtEl>
                                          <p:spTgt spid="3">
                                            <p:txEl>
                                              <p:pRg st="0" end="0"/>
                                            </p:txEl>
                                          </p:spTgt>
                                        </p:tgtEl>
                                        <p:attrNameLst>
                                          <p:attrName>style.visibility</p:attrName>
                                        </p:attrNameLst>
                                      </p:cBhvr>
                                      <p:to>
                                        <p:strVal val="visible"/>
                                      </p:to>
                                    </p:set>
                                    <p:animEffect transition="in" filter="dissolve">
                                      <p:cBhvr additive="repl">
                                        <p:cTn id="7" dur="500"/>
                                        <p:tgtEl>
                                          <p:spTgt spid="3">
                                            <p:txEl>
                                              <p:pRg st="0" end="0"/>
                                            </p:txEl>
                                          </p:spTgt>
                                        </p:tgtEl>
                                      </p:cBhvr>
                                    </p:animEffect>
                                  </p:childTnLst>
                                </p:cTn>
                              </p:par>
                            </p:childTnLst>
                          </p:cTn>
                        </p:par>
                        <p:par>
                          <p:cTn id="8" fill="hold">
                            <p:stCondLst>
                              <p:cond delay="500"/>
                            </p:stCondLst>
                            <p:childTnLst>
                              <p:par>
                                <p:cTn id="9" presetID="9" presetClass="entr" fill="hold" nodeType="afterEffect">
                                  <p:stCondLst>
                                    <p:cond delay="0"/>
                                  </p:stCondLst>
                                  <p:childTnLst>
                                    <p:set>
                                      <p:cBhvr additive="repl">
                                        <p:cTn id="10" dur="1" fill="hold">
                                          <p:stCondLst>
                                            <p:cond delay="0"/>
                                          </p:stCondLst>
                                        </p:cTn>
                                        <p:tgtEl>
                                          <p:spTgt spid="5"/>
                                        </p:tgtEl>
                                        <p:attrNameLst>
                                          <p:attrName>style.visibility</p:attrName>
                                        </p:attrNameLst>
                                      </p:cBhvr>
                                      <p:to>
                                        <p:strVal val="visible"/>
                                      </p:to>
                                    </p:set>
                                    <p:animEffect transition="in" filter="dissolve">
                                      <p:cBhvr additive="repl">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 calcmode="lin" valueType="num">
                                      <p:cBhvr additive="base">
                                        <p:cTn id="16"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 calcmode="lin" valueType="num">
                                      <p:cBhvr additive="base">
                                        <p:cTn id="22"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5">
                                            <p:txEl>
                                              <p:pRg st="2" end="2"/>
                                            </p:txEl>
                                          </p:spTgt>
                                        </p:tgtEl>
                                        <p:attrNameLst>
                                          <p:attrName>style.visibility</p:attrName>
                                        </p:attrNameLst>
                                      </p:cBhvr>
                                      <p:to>
                                        <p:strVal val="visible"/>
                                      </p:to>
                                    </p:set>
                                    <p:anim calcmode="lin" valueType="num">
                                      <p:cBhvr additive="base">
                                        <p:cTn id="34"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5">
                                            <p:txEl>
                                              <p:pRg st="3" end="3"/>
                                            </p:txEl>
                                          </p:spTgt>
                                        </p:tgtEl>
                                        <p:attrNameLst>
                                          <p:attrName>style.visibility</p:attrName>
                                        </p:attrNameLst>
                                      </p:cBhvr>
                                      <p:to>
                                        <p:strVal val="visible"/>
                                      </p:to>
                                    </p:set>
                                    <p:anim calcmode="lin" valueType="num">
                                      <p:cBhvr additive="base">
                                        <p:cTn id="40"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3" name="Rectangle 1">
            <a:extLst>
              <a:ext uri="{FF2B5EF4-FFF2-40B4-BE49-F238E27FC236}">
                <a16:creationId xmlns:a16="http://schemas.microsoft.com/office/drawing/2014/main" id="{8405B069-30E3-7C45-A9A4-3F17CAB752EB}"/>
              </a:ext>
            </a:extLst>
          </p:cNvPr>
          <p:cNvSpPr>
            <a:spLocks noChangeArrowheads="1"/>
          </p:cNvSpPr>
          <p:nvPr/>
        </p:nvSpPr>
        <p:spPr bwMode="auto">
          <a:xfrm>
            <a:off x="306070" y="70041"/>
            <a:ext cx="83820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3655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marL="342900" marR="0" lvl="0" indent="-336550" algn="ctr" defTabSz="457200" rtl="0" eaLnBrk="1" fontAlgn="auto" latinLnBrk="0" hangingPunct="1">
              <a:lnSpc>
                <a:spcPct val="100000"/>
              </a:lnSpc>
              <a:spcBef>
                <a:spcPts val="1025"/>
              </a:spcBef>
              <a:spcAft>
                <a:spcPts val="0"/>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LID33801" altLang="en-US" sz="3800" b="0"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Arial Unicode MS" panose="020B0604020202020204" pitchFamily="34" charset="-128"/>
              </a:rPr>
              <a:t>Functional Classification of Neurons</a:t>
            </a:r>
          </a:p>
        </p:txBody>
      </p:sp>
      <p:sp>
        <p:nvSpPr>
          <p:cNvPr id="5" name="Text Box 6"/>
          <p:cNvSpPr txBox="1">
            <a:spLocks noChangeArrowheads="1"/>
          </p:cNvSpPr>
          <p:nvPr/>
        </p:nvSpPr>
        <p:spPr bwMode="auto">
          <a:xfrm>
            <a:off x="241300" y="1097570"/>
            <a:ext cx="9295892" cy="51810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marL="336550" indent="-336550">
              <a:spcBef>
                <a:spcPts val="8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3200">
                <a:solidFill>
                  <a:srgbClr val="000000"/>
                </a:solidFill>
                <a:latin typeface="Times New Roman" panose="02020603050405020304" pitchFamily="18" charset="0"/>
                <a:ea typeface="Arial Unicode MS" charset="-128"/>
              </a:defRPr>
            </a:lvl1pPr>
            <a:lvl2pPr marL="914400" indent="-457200">
              <a:spcBef>
                <a:spcPts val="7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800">
                <a:solidFill>
                  <a:srgbClr val="000000"/>
                </a:solidFill>
                <a:latin typeface="Times New Roman" panose="02020603050405020304" pitchFamily="18" charset="0"/>
                <a:ea typeface="Arial Unicode MS" charset="-128"/>
              </a:defRPr>
            </a:lvl2pPr>
            <a:lvl3pPr marL="1023938">
              <a:spcBef>
                <a:spcPts val="6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400">
                <a:solidFill>
                  <a:srgbClr val="000000"/>
                </a:solidFill>
                <a:latin typeface="Times New Roman" panose="02020603050405020304" pitchFamily="18" charset="0"/>
                <a:ea typeface="Arial Unicode MS" charset="-128"/>
              </a:defRPr>
            </a:lvl3pPr>
            <a:lvl4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4pPr>
            <a:lvl5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9pPr>
          </a:lstStyle>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6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Sensory (afferent) neurons</a:t>
            </a:r>
          </a:p>
          <a:p>
            <a:pPr marL="914400" marR="0" lvl="1" indent="-457200" algn="l" defTabSz="457200" rtl="0" eaLnBrk="1" fontAlgn="auto" latinLnBrk="0" hangingPunct="1">
              <a:lnSpc>
                <a:spcPct val="90000"/>
              </a:lnSpc>
              <a:spcBef>
                <a:spcPct val="0"/>
              </a:spcBef>
              <a:spcAft>
                <a:spcPts val="1875"/>
              </a:spcAft>
              <a:buClr>
                <a:srgbClr val="FF6600"/>
              </a:buClr>
              <a:buSzPct val="100000"/>
              <a:buFont typeface="Wingdings" panose="05000000000000000000" pitchFamily="2" charset="2"/>
              <a:buChar char="Ø"/>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Carry impulses from the sensory receptors</a:t>
            </a:r>
          </a:p>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6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Motor (efferent) neurons</a:t>
            </a:r>
          </a:p>
          <a:p>
            <a:pPr marL="914400" marR="0" lvl="1" indent="-457200" algn="l" defTabSz="457200" rtl="0" eaLnBrk="1" fontAlgn="auto" latinLnBrk="0" hangingPunct="1">
              <a:lnSpc>
                <a:spcPct val="90000"/>
              </a:lnSpc>
              <a:spcBef>
                <a:spcPct val="0"/>
              </a:spcBef>
              <a:spcAft>
                <a:spcPts val="1875"/>
              </a:spcAft>
              <a:buClr>
                <a:srgbClr val="FF6600"/>
              </a:buClr>
              <a:buSzPct val="100000"/>
              <a:buFont typeface="Wingdings" panose="05000000000000000000" pitchFamily="2" charset="2"/>
              <a:buChar char="Ø"/>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Carry impulses from the central nervous system</a:t>
            </a:r>
          </a:p>
          <a:p>
            <a:pPr marL="336550" marR="0" lvl="0" indent="-336550" algn="l" defTabSz="457200" rtl="0" eaLnBrk="1" fontAlgn="auto" latinLnBrk="0" hangingPunct="1">
              <a:lnSpc>
                <a:spcPct val="90000"/>
              </a:lnSpc>
              <a:spcBef>
                <a:spcPct val="0"/>
              </a:spcBef>
              <a:spcAft>
                <a:spcPts val="187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6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Interneurons (association neurons)</a:t>
            </a:r>
          </a:p>
          <a:p>
            <a:pPr marL="914400" marR="0" lvl="1" indent="-457200" algn="l" defTabSz="457200" rtl="0" eaLnBrk="1" fontAlgn="auto" latinLnBrk="0" hangingPunct="1">
              <a:lnSpc>
                <a:spcPct val="90000"/>
              </a:lnSpc>
              <a:spcBef>
                <a:spcPct val="0"/>
              </a:spcBef>
              <a:spcAft>
                <a:spcPts val="1875"/>
              </a:spcAft>
              <a:buClr>
                <a:srgbClr val="FF6600"/>
              </a:buClr>
              <a:buSzPct val="100000"/>
              <a:buFont typeface="Wingdings" panose="05000000000000000000" pitchFamily="2" charset="2"/>
              <a:buChar char="Ø"/>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Found in neural pathways in the central nervous system</a:t>
            </a:r>
          </a:p>
          <a:p>
            <a:pPr marL="914400" marR="0" lvl="1" indent="-457200" algn="l" defTabSz="457200" rtl="0" eaLnBrk="1" fontAlgn="auto" latinLnBrk="0" hangingPunct="1">
              <a:lnSpc>
                <a:spcPct val="90000"/>
              </a:lnSpc>
              <a:spcBef>
                <a:spcPct val="0"/>
              </a:spcBef>
              <a:spcAft>
                <a:spcPts val="1875"/>
              </a:spcAft>
              <a:buClr>
                <a:srgbClr val="FF6600"/>
              </a:buClr>
              <a:buSzPct val="100000"/>
              <a:buFont typeface="Wingdings" panose="05000000000000000000" pitchFamily="2" charset="2"/>
              <a:buChar char="Ø"/>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Connect sensory and motor neurons</a:t>
            </a:r>
          </a:p>
        </p:txBody>
      </p:sp>
    </p:spTree>
    <p:extLst>
      <p:ext uri="{BB962C8B-B14F-4D97-AF65-F5344CB8AC3E}">
        <p14:creationId xmlns:p14="http://schemas.microsoft.com/office/powerpoint/2010/main" val="174825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afterEffect">
                                  <p:stCondLst>
                                    <p:cond delay="0"/>
                                  </p:stCondLst>
                                  <p:childTnLst>
                                    <p:set>
                                      <p:cBhvr additive="repl">
                                        <p:cTn id="6" dur="1" fill="hold">
                                          <p:stCondLst>
                                            <p:cond delay="0"/>
                                          </p:stCondLst>
                                        </p:cTn>
                                        <p:tgtEl>
                                          <p:spTgt spid="3">
                                            <p:txEl>
                                              <p:pRg st="0" end="0"/>
                                            </p:txEl>
                                          </p:spTgt>
                                        </p:tgtEl>
                                        <p:attrNameLst>
                                          <p:attrName>style.visibility</p:attrName>
                                        </p:attrNameLst>
                                      </p:cBhvr>
                                      <p:to>
                                        <p:strVal val="visible"/>
                                      </p:to>
                                    </p:set>
                                    <p:animEffect transition="in" filter="dissolve">
                                      <p:cBhvr additive="repl">
                                        <p:cTn id="7" dur="500"/>
                                        <p:tgtEl>
                                          <p:spTgt spid="3">
                                            <p:txEl>
                                              <p:pRg st="0" end="0"/>
                                            </p:txEl>
                                          </p:spTgt>
                                        </p:tgtEl>
                                      </p:cBhvr>
                                    </p:animEffect>
                                  </p:childTnLst>
                                </p:cTn>
                              </p:par>
                            </p:childTnLst>
                          </p:cTn>
                        </p:par>
                        <p:par>
                          <p:cTn id="8" fill="hold">
                            <p:stCondLst>
                              <p:cond delay="500"/>
                            </p:stCondLst>
                            <p:childTnLst>
                              <p:par>
                                <p:cTn id="9" presetID="9" presetClass="entr" fill="hold" nodeType="afterEffect">
                                  <p:stCondLst>
                                    <p:cond delay="0"/>
                                  </p:stCondLst>
                                  <p:childTnLst>
                                    <p:set>
                                      <p:cBhvr additive="repl">
                                        <p:cTn id="10" dur="1" fill="hold">
                                          <p:stCondLst>
                                            <p:cond delay="0"/>
                                          </p:stCondLst>
                                        </p:cTn>
                                        <p:tgtEl>
                                          <p:spTgt spid="5"/>
                                        </p:tgtEl>
                                        <p:attrNameLst>
                                          <p:attrName>style.visibility</p:attrName>
                                        </p:attrNameLst>
                                      </p:cBhvr>
                                      <p:to>
                                        <p:strVal val="visible"/>
                                      </p:to>
                                    </p:set>
                                    <p:animEffect transition="in" filter="dissolve">
                                      <p:cBhvr additive="repl">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 calcmode="lin" valueType="num">
                                      <p:cBhvr additive="base">
                                        <p:cTn id="16"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 calcmode="lin" valueType="num">
                                      <p:cBhvr additive="base">
                                        <p:cTn id="22"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 calcmode="lin" valueType="num">
                                      <p:cBhvr additive="base">
                                        <p:cTn id="28"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5">
                                            <p:txEl>
                                              <p:pRg st="3" end="3"/>
                                            </p:txEl>
                                          </p:spTgt>
                                        </p:tgtEl>
                                        <p:attrNameLst>
                                          <p:attrName>style.visibility</p:attrName>
                                        </p:attrNameLst>
                                      </p:cBhvr>
                                      <p:to>
                                        <p:strVal val="visible"/>
                                      </p:to>
                                    </p:set>
                                    <p:anim calcmode="lin" valueType="num">
                                      <p:cBhvr additive="base">
                                        <p:cTn id="34"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5">
                                            <p:txEl>
                                              <p:pRg st="4" end="4"/>
                                            </p:txEl>
                                          </p:spTgt>
                                        </p:tgtEl>
                                        <p:attrNameLst>
                                          <p:attrName>style.visibility</p:attrName>
                                        </p:attrNameLst>
                                      </p:cBhvr>
                                      <p:to>
                                        <p:strVal val="visible"/>
                                      </p:to>
                                    </p:set>
                                    <p:anim calcmode="lin" valueType="num">
                                      <p:cBhvr additive="base">
                                        <p:cTn id="40"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5">
                                            <p:txEl>
                                              <p:pRg st="5" end="5"/>
                                            </p:txEl>
                                          </p:spTgt>
                                        </p:tgtEl>
                                        <p:attrNameLst>
                                          <p:attrName>style.visibility</p:attrName>
                                        </p:attrNameLst>
                                      </p:cBhvr>
                                      <p:to>
                                        <p:strVal val="visible"/>
                                      </p:to>
                                    </p:set>
                                    <p:anim calcmode="lin" valueType="num">
                                      <p:cBhvr additive="base">
                                        <p:cTn id="46"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5">
                                            <p:txEl>
                                              <p:pRg st="6" end="6"/>
                                            </p:txEl>
                                          </p:spTgt>
                                        </p:tgtEl>
                                        <p:attrNameLst>
                                          <p:attrName>style.visibility</p:attrName>
                                        </p:attrNameLst>
                                      </p:cBhvr>
                                      <p:to>
                                        <p:strVal val="visible"/>
                                      </p:to>
                                    </p:set>
                                    <p:anim calcmode="lin" valueType="num">
                                      <p:cBhvr additive="base">
                                        <p:cTn id="52"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pic>
        <p:nvPicPr>
          <p:cNvPr id="7" name="Content Placeholder 6"/>
          <p:cNvPicPr>
            <a:picLocks noGrp="1" noChangeAspect="1"/>
          </p:cNvPicPr>
          <p:nvPr>
            <p:ph sz="half" idx="1"/>
          </p:nvPr>
        </p:nvPicPr>
        <p:blipFill>
          <a:blip r:embed="rId2"/>
          <a:stretch>
            <a:fillRect/>
          </a:stretch>
        </p:blipFill>
        <p:spPr>
          <a:xfrm>
            <a:off x="2542032" y="172882"/>
            <a:ext cx="7498080" cy="6013435"/>
          </a:xfrm>
          <a:prstGeom prst="rect">
            <a:avLst/>
          </a:prstGeom>
        </p:spPr>
      </p:pic>
    </p:spTree>
    <p:extLst>
      <p:ext uri="{BB962C8B-B14F-4D97-AF65-F5344CB8AC3E}">
        <p14:creationId xmlns:p14="http://schemas.microsoft.com/office/powerpoint/2010/main" val="10418462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3" name="Rectangle 1">
            <a:extLst>
              <a:ext uri="{FF2B5EF4-FFF2-40B4-BE49-F238E27FC236}">
                <a16:creationId xmlns:a16="http://schemas.microsoft.com/office/drawing/2014/main" id="{3B9BF844-B009-CE4B-86B8-A7BF7EC222BA}"/>
              </a:ext>
            </a:extLst>
          </p:cNvPr>
          <p:cNvSpPr>
            <a:spLocks noChangeArrowheads="1"/>
          </p:cNvSpPr>
          <p:nvPr/>
        </p:nvSpPr>
        <p:spPr bwMode="auto">
          <a:xfrm>
            <a:off x="508000" y="140208"/>
            <a:ext cx="8382000"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3655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marL="342900" marR="0" lvl="0" indent="-336550" algn="l" defTabSz="457200" rtl="0" eaLnBrk="1" fontAlgn="auto" latinLnBrk="0" hangingPunct="1">
              <a:lnSpc>
                <a:spcPct val="100000"/>
              </a:lnSpc>
              <a:spcBef>
                <a:spcPts val="1025"/>
              </a:spcBef>
              <a:spcAft>
                <a:spcPts val="0"/>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LID33801" altLang="en-US" sz="41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Arial Unicode MS" panose="020B0604020202020204" pitchFamily="34" charset="-128"/>
              </a:rPr>
              <a:t>Neuron Classification</a:t>
            </a:r>
          </a:p>
        </p:txBody>
      </p:sp>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b="5130"/>
          <a:stretch>
            <a:fillRect/>
          </a:stretch>
        </p:blipFill>
        <p:spPr bwMode="auto">
          <a:xfrm>
            <a:off x="187960" y="990282"/>
            <a:ext cx="8128000" cy="4511675"/>
          </a:xfrm>
          <a:prstGeom prst="rect">
            <a:avLst/>
          </a:prstGeom>
          <a:noFill/>
          <a:ln>
            <a:noFill/>
          </a:ln>
          <a:effectLst/>
          <a:extLst>
            <a:ext uri="{909E8E84-426E-40DD-AFC4-6F175D3DCCD1}">
              <a14:hiddenFill xmlns:a14="http://schemas.microsoft.com/office/drawing/2010/main">
                <a:blipFill dpi="0" rotWithShape="0">
                  <a:blip/>
                  <a:srcRect b="5130"/>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13" name="Group 12"/>
          <p:cNvGrpSpPr/>
          <p:nvPr/>
        </p:nvGrpSpPr>
        <p:grpSpPr>
          <a:xfrm>
            <a:off x="8176768" y="4679495"/>
            <a:ext cx="3408680" cy="960721"/>
            <a:chOff x="8176768" y="4679495"/>
            <a:chExt cx="3408680" cy="960721"/>
          </a:xfrm>
        </p:grpSpPr>
        <p:cxnSp>
          <p:nvCxnSpPr>
            <p:cNvPr id="8" name="Straight Connector 7"/>
            <p:cNvCxnSpPr/>
            <p:nvPr/>
          </p:nvCxnSpPr>
          <p:spPr>
            <a:xfrm>
              <a:off x="8176768" y="4910328"/>
              <a:ext cx="1680464" cy="0"/>
            </a:xfrm>
            <a:prstGeom prst="line">
              <a:avLst/>
            </a:prstGeom>
            <a:ln w="76200">
              <a:solidFill>
                <a:srgbClr val="00B0F0"/>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8176768" y="5446776"/>
              <a:ext cx="1680464" cy="0"/>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857232" y="4679495"/>
              <a:ext cx="1728216"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Sensory</a:t>
              </a:r>
            </a:p>
          </p:txBody>
        </p:sp>
        <p:sp>
          <p:nvSpPr>
            <p:cNvPr id="12" name="TextBox 11"/>
            <p:cNvSpPr txBox="1"/>
            <p:nvPr/>
          </p:nvSpPr>
          <p:spPr>
            <a:xfrm>
              <a:off x="9857232" y="5178551"/>
              <a:ext cx="1728216"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Motor</a:t>
              </a:r>
            </a:p>
          </p:txBody>
        </p:sp>
      </p:grpSp>
      <p:sp>
        <p:nvSpPr>
          <p:cNvPr id="14" name="Oval 13"/>
          <p:cNvSpPr/>
          <p:nvPr/>
        </p:nvSpPr>
        <p:spPr>
          <a:xfrm>
            <a:off x="1801368" y="1746504"/>
            <a:ext cx="2121408" cy="603504"/>
          </a:xfrm>
          <a:prstGeom prst="ellipse">
            <a:avLst/>
          </a:prstGeom>
          <a:noFill/>
          <a:ln w="38100">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Oval 14"/>
          <p:cNvSpPr/>
          <p:nvPr/>
        </p:nvSpPr>
        <p:spPr>
          <a:xfrm>
            <a:off x="2459736" y="4691559"/>
            <a:ext cx="1722628" cy="603504"/>
          </a:xfrm>
          <a:prstGeom prst="ellipse">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Oval 15"/>
          <p:cNvSpPr/>
          <p:nvPr/>
        </p:nvSpPr>
        <p:spPr>
          <a:xfrm>
            <a:off x="3785616" y="3026664"/>
            <a:ext cx="1426464" cy="756222"/>
          </a:xfrm>
          <a:prstGeom prst="ellipse">
            <a:avLst/>
          </a:prstGeom>
          <a:noFill/>
          <a:ln w="3810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87654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afterEffect">
                                  <p:stCondLst>
                                    <p:cond delay="0"/>
                                  </p:stCondLst>
                                  <p:childTnLst>
                                    <p:set>
                                      <p:cBhvr additive="repl">
                                        <p:cTn id="6" dur="1" fill="hold">
                                          <p:stCondLst>
                                            <p:cond delay="0"/>
                                          </p:stCondLst>
                                        </p:cTn>
                                        <p:tgtEl>
                                          <p:spTgt spid="3">
                                            <p:txEl>
                                              <p:pRg st="0" end="0"/>
                                            </p:txEl>
                                          </p:spTgt>
                                        </p:tgtEl>
                                        <p:attrNameLst>
                                          <p:attrName>style.visibility</p:attrName>
                                        </p:attrNameLst>
                                      </p:cBhvr>
                                      <p:to>
                                        <p:strVal val="visible"/>
                                      </p:to>
                                    </p:set>
                                    <p:animEffect transition="in" filter="dissolve">
                                      <p:cBhvr additive="repl">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500" fill="hold"/>
                                        <p:tgtEl>
                                          <p:spTgt spid="13"/>
                                        </p:tgtEl>
                                        <p:attrNameLst>
                                          <p:attrName>ppt_x</p:attrName>
                                        </p:attrNameLst>
                                      </p:cBhvr>
                                      <p:tavLst>
                                        <p:tav tm="0">
                                          <p:val>
                                            <p:strVal val="#ppt_x"/>
                                          </p:val>
                                        </p:tav>
                                        <p:tav tm="100000">
                                          <p:val>
                                            <p:strVal val="#ppt_x"/>
                                          </p:val>
                                        </p:tav>
                                      </p:tavLst>
                                    </p:anim>
                                    <p:anim calcmode="lin" valueType="num">
                                      <p:cBhvr additive="base">
                                        <p:cTn id="1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3" name="Title 1">
            <a:extLst>
              <a:ext uri="{FF2B5EF4-FFF2-40B4-BE49-F238E27FC236}">
                <a16:creationId xmlns:a16="http://schemas.microsoft.com/office/drawing/2014/main" id="{E3A1214C-8B5C-6D4F-A118-CB79858B5EF7}"/>
              </a:ext>
            </a:extLst>
          </p:cNvPr>
          <p:cNvSpPr>
            <a:spLocks noGrp="1"/>
          </p:cNvSpPr>
          <p:nvPr>
            <p:ph type="title"/>
          </p:nvPr>
        </p:nvSpPr>
        <p:spPr>
          <a:xfrm>
            <a:off x="173736" y="147638"/>
            <a:ext cx="8750808" cy="714375"/>
          </a:xfrm>
        </p:spPr>
        <p:txBody>
          <a:bodyPr/>
          <a:lstStyle/>
          <a:p>
            <a:pPr>
              <a:defRPr/>
            </a:pPr>
            <a:r>
              <a:rPr lang="en-US" sz="3800" b="1" dirty="0">
                <a:solidFill>
                  <a:schemeClr val="accent6"/>
                </a:solidFill>
                <a:latin typeface="Arial" panose="020B0604020202020204" pitchFamily="34" charset="0"/>
                <a:cs typeface="Arial" panose="020B0604020202020204" pitchFamily="34" charset="0"/>
              </a:rPr>
              <a:t>Structural classification of neurons</a:t>
            </a:r>
          </a:p>
        </p:txBody>
      </p:sp>
      <p:sp>
        <p:nvSpPr>
          <p:cNvPr id="5" name="Content Placeholder 2"/>
          <p:cNvSpPr>
            <a:spLocks noGrp="1" noChangeArrowheads="1"/>
          </p:cNvSpPr>
          <p:nvPr>
            <p:ph sz="half" idx="1"/>
          </p:nvPr>
        </p:nvSpPr>
        <p:spPr>
          <a:xfrm>
            <a:off x="250825" y="1068388"/>
            <a:ext cx="6487636" cy="5789612"/>
          </a:xfrm>
        </p:spPr>
        <p:txBody>
          <a:bodyPr/>
          <a:lstStyle/>
          <a:p>
            <a:pPr marL="457200" indent="-457200">
              <a:buFont typeface="Arial" panose="020B0604020202020204" pitchFamily="34" charset="0"/>
              <a:buChar char="•"/>
            </a:pPr>
            <a:r>
              <a:rPr lang="en-US" altLang="en-US" sz="3000" b="1" dirty="0">
                <a:latin typeface="Arial" panose="020B0604020202020204" pitchFamily="34" charset="0"/>
              </a:rPr>
              <a:t>Multipolar neurons </a:t>
            </a:r>
            <a:r>
              <a:rPr lang="en-US" altLang="en-US" sz="3000" dirty="0">
                <a:latin typeface="Arial" panose="020B0604020202020204" pitchFamily="34" charset="0"/>
              </a:rPr>
              <a:t>– many extensions from the cell body</a:t>
            </a:r>
          </a:p>
          <a:p>
            <a:pPr marL="457200" indent="-457200">
              <a:buFont typeface="Arial" panose="020B0604020202020204" pitchFamily="34" charset="0"/>
              <a:buChar char="•"/>
            </a:pPr>
            <a:endParaRPr lang="en-US" altLang="en-US" sz="3000" b="1" dirty="0">
              <a:latin typeface="Arial" panose="020B0604020202020204" pitchFamily="34" charset="0"/>
            </a:endParaRPr>
          </a:p>
          <a:p>
            <a:pPr marL="457200" indent="-457200">
              <a:buFont typeface="Arial" panose="020B0604020202020204" pitchFamily="34" charset="0"/>
              <a:buChar char="•"/>
            </a:pPr>
            <a:r>
              <a:rPr lang="en-US" altLang="en-US" sz="3000" b="1" dirty="0">
                <a:latin typeface="Arial" panose="020B0604020202020204" pitchFamily="34" charset="0"/>
              </a:rPr>
              <a:t>Bipolar neurons</a:t>
            </a:r>
            <a:r>
              <a:rPr lang="en-US" altLang="en-US" sz="3000" dirty="0">
                <a:latin typeface="Arial" panose="020B0604020202020204" pitchFamily="34" charset="0"/>
              </a:rPr>
              <a:t> – one axon and one dendrite</a:t>
            </a:r>
          </a:p>
          <a:p>
            <a:pPr marL="457200" indent="-457200">
              <a:buFont typeface="Arial" panose="020B0604020202020204" pitchFamily="34" charset="0"/>
              <a:buChar char="•"/>
            </a:pPr>
            <a:endParaRPr lang="en-US" altLang="en-US" sz="3000" b="1" dirty="0">
              <a:latin typeface="Arial" panose="020B0604020202020204" pitchFamily="34" charset="0"/>
            </a:endParaRPr>
          </a:p>
          <a:p>
            <a:pPr marL="457200" indent="-457200">
              <a:buFont typeface="Arial" panose="020B0604020202020204" pitchFamily="34" charset="0"/>
              <a:buChar char="•"/>
            </a:pPr>
            <a:r>
              <a:rPr lang="en-US" altLang="en-US" sz="3000" b="1" dirty="0">
                <a:latin typeface="Arial" panose="020B0604020202020204" pitchFamily="34" charset="0"/>
              </a:rPr>
              <a:t>Unipolar neurons </a:t>
            </a:r>
            <a:r>
              <a:rPr lang="en-US" altLang="en-US" sz="3000" dirty="0">
                <a:latin typeface="Arial" panose="020B0604020202020204" pitchFamily="34" charset="0"/>
              </a:rPr>
              <a:t>– have a short single process leaving the cell body</a:t>
            </a:r>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b="69968"/>
          <a:stretch>
            <a:fillRect/>
          </a:stretch>
        </p:blipFill>
        <p:spPr>
          <a:xfrm>
            <a:off x="7432993" y="766805"/>
            <a:ext cx="3806825" cy="2009775"/>
          </a:xfrm>
          <a:prstGeom prst="rect">
            <a:avLst/>
          </a:prstGeom>
          <a:noFill/>
          <a:extLst>
            <a:ext uri="{909E8E84-426E-40DD-AFC4-6F175D3DCCD1}">
              <a14:hiddenFill xmlns:a14="http://schemas.microsoft.com/office/drawing/2010/main">
                <a:blipFill dpi="0" rotWithShape="0">
                  <a:blip/>
                  <a:srcRect b="69968"/>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t="38143" b="41905"/>
          <a:stretch/>
        </p:blipFill>
        <p:spPr bwMode="auto">
          <a:xfrm>
            <a:off x="7432993" y="2647664"/>
            <a:ext cx="4179887" cy="1496166"/>
          </a:xfrm>
          <a:prstGeom prst="rect">
            <a:avLst/>
          </a:prstGeom>
          <a:noFill/>
          <a:ln>
            <a:noFill/>
          </a:ln>
          <a:effectLst/>
          <a:extLst>
            <a:ext uri="{909E8E84-426E-40DD-AFC4-6F175D3DCCD1}">
              <a14:hiddenFill xmlns:a14="http://schemas.microsoft.com/office/drawing/2010/main">
                <a:blipFill dpi="0" rotWithShape="0">
                  <a:blip/>
                  <a:srcRect t="35062" b="41905"/>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t="65117" b="2834"/>
          <a:stretch>
            <a:fillRect/>
          </a:stretch>
        </p:blipFill>
        <p:spPr bwMode="auto">
          <a:xfrm>
            <a:off x="7111523" y="4318042"/>
            <a:ext cx="4822825" cy="2143125"/>
          </a:xfrm>
          <a:prstGeom prst="rect">
            <a:avLst/>
          </a:prstGeom>
          <a:noFill/>
          <a:ln>
            <a:noFill/>
          </a:ln>
          <a:effectLst/>
          <a:extLst>
            <a:ext uri="{909E8E84-426E-40DD-AFC4-6F175D3DCCD1}">
              <a14:hiddenFill xmlns:a14="http://schemas.microsoft.com/office/drawing/2010/main">
                <a:blipFill dpi="0" rotWithShape="0">
                  <a:blip/>
                  <a:srcRect t="65117" b="2834"/>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13909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801FD5-11B4-DE43-ACA2-E85EEB9A6F9C}" type="slidenum">
              <a:rPr kumimoji="0" lang="en-US" sz="2400" b="1" i="0" u="none" strike="noStrike" kern="1200" cap="none" spc="0" normalizeH="0" baseline="0" noProof="0" smtClean="0">
                <a:ln>
                  <a:noFill/>
                </a:ln>
                <a:solidFill>
                  <a:prstClr val="white"/>
                </a:solidFill>
                <a:effectLst/>
                <a:uLnTx/>
                <a:uFillTx/>
                <a:latin typeface="Garamond" panose="02020404030301010803" pitchFamily="18"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2400" b="1" i="0" u="none" strike="noStrike" kern="1200" cap="none" spc="0" normalizeH="0" baseline="0" noProof="0" dirty="0">
              <a:ln>
                <a:noFill/>
              </a:ln>
              <a:solidFill>
                <a:prstClr val="white"/>
              </a:solidFill>
              <a:effectLst/>
              <a:uLnTx/>
              <a:uFillTx/>
              <a:latin typeface="Garamond" panose="02020404030301010803" pitchFamily="18" charset="0"/>
              <a:ea typeface="+mn-ea"/>
              <a:cs typeface="+mn-cs"/>
            </a:endParaRPr>
          </a:p>
        </p:txBody>
      </p:sp>
      <p:sp>
        <p:nvSpPr>
          <p:cNvPr id="3" name="Rectangle 1">
            <a:extLst>
              <a:ext uri="{FF2B5EF4-FFF2-40B4-BE49-F238E27FC236}">
                <a16:creationId xmlns:a16="http://schemas.microsoft.com/office/drawing/2014/main" id="{C39E52FA-C6C2-1845-BC05-78BBD9B9B0EF}"/>
              </a:ext>
            </a:extLst>
          </p:cNvPr>
          <p:cNvSpPr>
            <a:spLocks noChangeArrowheads="1"/>
          </p:cNvSpPr>
          <p:nvPr/>
        </p:nvSpPr>
        <p:spPr bwMode="auto">
          <a:xfrm>
            <a:off x="381000" y="131064"/>
            <a:ext cx="8382000" cy="72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342900" indent="-33655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rgbClr val="000000"/>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marL="342900" marR="0" lvl="0" indent="-336550" algn="ctr" defTabSz="457200" rtl="0" eaLnBrk="1" fontAlgn="auto" latinLnBrk="0" hangingPunct="1">
              <a:lnSpc>
                <a:spcPct val="100000"/>
              </a:lnSpc>
              <a:spcBef>
                <a:spcPts val="1025"/>
              </a:spcBef>
              <a:spcAft>
                <a:spcPts val="0"/>
              </a:spcAft>
              <a:buClrTx/>
              <a:buSzPct val="10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pPr>
            <a:r>
              <a:rPr kumimoji="0" lang="LID33801" altLang="en-US" sz="4100" b="1" i="0" u="none" strike="noStrike" kern="1200" cap="none" spc="0" normalizeH="0" baseline="0" noProof="0" dirty="0">
                <a:ln>
                  <a:noFill/>
                </a:ln>
                <a:solidFill>
                  <a:srgbClr val="000099"/>
                </a:solidFill>
                <a:effectLst>
                  <a:outerShdw blurRad="38100" dist="38100" dir="2700000" algn="tl">
                    <a:srgbClr val="C0C0C0"/>
                  </a:outerShdw>
                </a:effectLst>
                <a:uLnTx/>
                <a:uFillTx/>
                <a:latin typeface="Arial" panose="020B0604020202020204" pitchFamily="34" charset="0"/>
                <a:ea typeface="Arial Unicode MS" panose="020B0604020202020204" pitchFamily="34" charset="-128"/>
              </a:rPr>
              <a:t>How Neurons Function </a:t>
            </a:r>
          </a:p>
        </p:txBody>
      </p:sp>
      <p:sp>
        <p:nvSpPr>
          <p:cNvPr id="5" name="Text Box 6"/>
          <p:cNvSpPr txBox="1">
            <a:spLocks noChangeArrowheads="1"/>
          </p:cNvSpPr>
          <p:nvPr/>
        </p:nvSpPr>
        <p:spPr bwMode="auto">
          <a:xfrm>
            <a:off x="381000" y="1401762"/>
            <a:ext cx="9997440" cy="46265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marL="336550" indent="-336550">
              <a:spcBef>
                <a:spcPts val="8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3200">
                <a:solidFill>
                  <a:srgbClr val="000000"/>
                </a:solidFill>
                <a:latin typeface="Times New Roman" panose="02020603050405020304" pitchFamily="18" charset="0"/>
                <a:ea typeface="Arial Unicode MS" charset="-128"/>
              </a:defRPr>
            </a:lvl1pPr>
            <a:lvl2pPr marL="685800" indent="-228600">
              <a:spcBef>
                <a:spcPts val="7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800">
                <a:solidFill>
                  <a:srgbClr val="000000"/>
                </a:solidFill>
                <a:latin typeface="Times New Roman" panose="02020603050405020304" pitchFamily="18" charset="0"/>
                <a:ea typeface="Arial Unicode MS" charset="-128"/>
              </a:defRPr>
            </a:lvl2pPr>
            <a:lvl3pPr>
              <a:spcBef>
                <a:spcPts val="6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400">
                <a:solidFill>
                  <a:srgbClr val="000000"/>
                </a:solidFill>
                <a:latin typeface="Times New Roman" panose="02020603050405020304" pitchFamily="18" charset="0"/>
                <a:ea typeface="Arial Unicode MS" charset="-128"/>
              </a:defRPr>
            </a:lvl3pPr>
            <a:lvl4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4pPr>
            <a:lvl5pPr>
              <a:spcBef>
                <a:spcPts val="500"/>
              </a:spcBef>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5pPr>
            <a:lvl6pPr marL="25146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6pPr>
            <a:lvl7pPr marL="29718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7pPr>
            <a:lvl8pPr marL="34290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8pPr>
            <a:lvl9pPr marL="3886200" indent="-228600" defTabSz="449263" eaLnBrk="0" fontAlgn="base" hangingPunct="0">
              <a:spcBef>
                <a:spcPts val="500"/>
              </a:spcBef>
              <a:spcAft>
                <a:spcPct val="0"/>
              </a:spcAft>
              <a:buClr>
                <a:srgbClr val="000000"/>
              </a:buClr>
              <a:buSzPct val="100000"/>
              <a:buFont typeface="Times New Roman" panose="02020603050405020304" pitchFamily="18" charset="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sz="2000">
                <a:solidFill>
                  <a:srgbClr val="000000"/>
                </a:solidFill>
                <a:latin typeface="Times New Roman" panose="02020603050405020304" pitchFamily="18" charset="0"/>
                <a:ea typeface="Arial Unicode MS" charset="-128"/>
              </a:defRPr>
            </a:lvl9pPr>
          </a:lstStyle>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Irritability – ability to respond to stimuli</a:t>
            </a:r>
          </a:p>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endParaRPr>
          </a:p>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Conductivity – ability to transmit an impulse</a:t>
            </a:r>
          </a:p>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endParaRPr>
          </a:p>
          <a:p>
            <a:pPr marL="336550" marR="0" lvl="0" indent="-336550" algn="l" defTabSz="457200" rtl="0" eaLnBrk="1" fontAlgn="auto" latinLnBrk="0" hangingPunct="1">
              <a:lnSpc>
                <a:spcPct val="90000"/>
              </a:lnSpc>
              <a:spcBef>
                <a:spcPct val="0"/>
              </a:spcBef>
              <a:spcAft>
                <a:spcPts val="212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4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The plasma membrane at rest is polarized</a:t>
            </a:r>
          </a:p>
          <a:p>
            <a:pPr marL="685800" marR="0" lvl="1" indent="-228600" algn="l" defTabSz="457200" rtl="0" eaLnBrk="1" fontAlgn="auto" latinLnBrk="0" hangingPunct="1">
              <a:lnSpc>
                <a:spcPct val="90000"/>
              </a:lnSpc>
              <a:spcBef>
                <a:spcPct val="0"/>
              </a:spcBef>
              <a:spcAft>
                <a:spcPts val="1875"/>
              </a:spcAft>
              <a:buClr>
                <a:srgbClr val="FF6600"/>
              </a:buClr>
              <a:buSzPct val="100000"/>
              <a:buFont typeface="Symbol" panose="05050102010706020507" pitchFamily="18"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kumimoji="0" lang="en-US" altLang="en-US" sz="3000" b="0" i="0" u="none" strike="noStrike" kern="1200" cap="none" spc="0" normalizeH="0" baseline="0" noProof="0" dirty="0">
                <a:ln>
                  <a:noFill/>
                </a:ln>
                <a:solidFill>
                  <a:srgbClr val="000000"/>
                </a:solidFill>
                <a:effectLst/>
                <a:uLnTx/>
                <a:uFillTx/>
                <a:latin typeface="Arial" panose="020B0604020202020204" pitchFamily="34" charset="0"/>
                <a:ea typeface="Arial Unicode MS" charset="-128"/>
                <a:cs typeface="+mn-cs"/>
              </a:rPr>
              <a:t>Fewer positive ions are inside the cell than outside the cell</a:t>
            </a:r>
          </a:p>
        </p:txBody>
      </p:sp>
    </p:spTree>
    <p:extLst>
      <p:ext uri="{BB962C8B-B14F-4D97-AF65-F5344CB8AC3E}">
        <p14:creationId xmlns:p14="http://schemas.microsoft.com/office/powerpoint/2010/main" val="352365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fill="hold" nodeType="afterEffect">
                                  <p:stCondLst>
                                    <p:cond delay="0"/>
                                  </p:stCondLst>
                                  <p:childTnLst>
                                    <p:set>
                                      <p:cBhvr additive="repl">
                                        <p:cTn id="6" dur="1" fill="hold">
                                          <p:stCondLst>
                                            <p:cond delay="0"/>
                                          </p:stCondLst>
                                        </p:cTn>
                                        <p:tgtEl>
                                          <p:spTgt spid="3">
                                            <p:txEl>
                                              <p:pRg st="0" end="0"/>
                                            </p:txEl>
                                          </p:spTgt>
                                        </p:tgtEl>
                                        <p:attrNameLst>
                                          <p:attrName>style.visibility</p:attrName>
                                        </p:attrNameLst>
                                      </p:cBhvr>
                                      <p:to>
                                        <p:strVal val="visible"/>
                                      </p:to>
                                    </p:set>
                                    <p:animEffect transition="in" filter="dissolve">
                                      <p:cBhvr additive="repl">
                                        <p:cTn id="7" dur="500"/>
                                        <p:tgtEl>
                                          <p:spTgt spid="3">
                                            <p:txEl>
                                              <p:pRg st="0" end="0"/>
                                            </p:txEl>
                                          </p:spTgt>
                                        </p:tgtEl>
                                      </p:cBhvr>
                                    </p:animEffect>
                                  </p:childTnLst>
                                </p:cTn>
                              </p:par>
                            </p:childTnLst>
                          </p:cTn>
                        </p:par>
                        <p:par>
                          <p:cTn id="8" fill="hold">
                            <p:stCondLst>
                              <p:cond delay="500"/>
                            </p:stCondLst>
                            <p:childTnLst>
                              <p:par>
                                <p:cTn id="9" presetID="9" presetClass="entr" fill="hold" nodeType="afterEffect">
                                  <p:stCondLst>
                                    <p:cond delay="0"/>
                                  </p:stCondLst>
                                  <p:childTnLst>
                                    <p:set>
                                      <p:cBhvr additive="repl">
                                        <p:cTn id="10" dur="1" fill="hold">
                                          <p:stCondLst>
                                            <p:cond delay="0"/>
                                          </p:stCondLst>
                                        </p:cTn>
                                        <p:tgtEl>
                                          <p:spTgt spid="5"/>
                                        </p:tgtEl>
                                        <p:attrNameLst>
                                          <p:attrName>style.visibility</p:attrName>
                                        </p:attrNameLst>
                                      </p:cBhvr>
                                      <p:to>
                                        <p:strVal val="visible"/>
                                      </p:to>
                                    </p:set>
                                    <p:animEffect transition="in" filter="dissolve">
                                      <p:cBhvr additive="repl">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 calcmode="lin" valueType="num">
                                      <p:cBhvr additive="base">
                                        <p:cTn id="16"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 calcmode="lin" valueType="num">
                                      <p:cBhvr additive="base">
                                        <p:cTn id="2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 calcmode="lin" valueType="num">
                                      <p:cBhvr additive="base">
                                        <p:cTn id="28"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5">
                                            <p:txEl>
                                              <p:pRg st="5" end="5"/>
                                            </p:txEl>
                                          </p:spTgt>
                                        </p:tgtEl>
                                        <p:attrNameLst>
                                          <p:attrName>style.visibility</p:attrName>
                                        </p:attrNameLst>
                                      </p:cBhvr>
                                      <p:to>
                                        <p:strVal val="visible"/>
                                      </p:to>
                                    </p:set>
                                    <p:anim calcmode="lin" valueType="num">
                                      <p:cBhvr additive="base">
                                        <p:cTn id="34"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194612"/>
          </a:xfrm>
          <a:prstGeom prst="rect">
            <a:avLst/>
          </a:prstGeom>
        </p:spPr>
      </p:pic>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TextBox 4"/>
          <p:cNvSpPr txBox="1"/>
          <p:nvPr/>
        </p:nvSpPr>
        <p:spPr>
          <a:xfrm>
            <a:off x="1524000" y="1776995"/>
            <a:ext cx="9144000" cy="120032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prstClr val="black"/>
                </a:solidFill>
                <a:effectLst/>
                <a:uLnTx/>
                <a:uFillTx/>
                <a:latin typeface="Calibri"/>
                <a:ea typeface="+mn-ea"/>
                <a:cs typeface="+mn-cs"/>
              </a:rPr>
              <a:t>Sensory Physiology</a:t>
            </a:r>
          </a:p>
        </p:txBody>
      </p:sp>
      <p:sp>
        <p:nvSpPr>
          <p:cNvPr id="3" name="Rectangle 2">
            <a:extLst>
              <a:ext uri="{FF2B5EF4-FFF2-40B4-BE49-F238E27FC236}">
                <a16:creationId xmlns:a16="http://schemas.microsoft.com/office/drawing/2014/main" id="{E7E9894E-0F62-9831-6C68-11E2AA08B5E8}"/>
              </a:ext>
            </a:extLst>
          </p:cNvPr>
          <p:cNvSpPr/>
          <p:nvPr/>
        </p:nvSpPr>
        <p:spPr>
          <a:xfrm>
            <a:off x="5087007" y="2977324"/>
            <a:ext cx="5580993" cy="1381921"/>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lumMod val="95000"/>
                    <a:lumOff val="5000"/>
                  </a:prstClr>
                </a:solidFill>
                <a:effectLst>
                  <a:outerShdw blurRad="38100" dist="38100" dir="2700000" algn="tl">
                    <a:srgbClr val="000000">
                      <a:alpha val="43137"/>
                    </a:srgbClr>
                  </a:outerShdw>
                </a:effectLst>
                <a:uLnTx/>
                <a:uFillTx/>
                <a:latin typeface="Calibri"/>
                <a:ea typeface="+mn-ea"/>
                <a:cs typeface="+mn-cs"/>
              </a:rPr>
              <a:t>Michael Ntim, Ph.D.</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lumMod val="95000"/>
                    <a:lumOff val="5000"/>
                  </a:prstClr>
                </a:solidFill>
                <a:effectLst>
                  <a:outerShdw blurRad="38100" dist="38100" dir="2700000" algn="tl">
                    <a:srgbClr val="000000">
                      <a:alpha val="43137"/>
                    </a:srgbClr>
                  </a:outerShdw>
                </a:effectLst>
                <a:uLnTx/>
                <a:uFillTx/>
                <a:latin typeface="Calibri"/>
                <a:ea typeface="+mn-ea"/>
                <a:cs typeface="+mn-cs"/>
                <a:hlinkClick r:id="rId3">
                  <a:extLst>
                    <a:ext uri="{A12FA001-AC4F-418D-AE19-62706E023703}">
                      <ahyp:hlinkClr xmlns:ahyp="http://schemas.microsoft.com/office/drawing/2018/hyperlinkcolor" val="tx"/>
                    </a:ext>
                  </a:extLst>
                </a:hlinkClick>
              </a:rPr>
              <a:t>archangelmntim@yahoo.co.uk</a:t>
            </a:r>
            <a:endParaRPr kumimoji="0" lang="en-US" sz="3200" b="1" i="0" u="none" strike="noStrike" kern="1200" cap="none" spc="0" normalizeH="0" baseline="0" noProof="0" dirty="0">
              <a:ln>
                <a:noFill/>
              </a:ln>
              <a:solidFill>
                <a:prstClr val="black">
                  <a:lumMod val="95000"/>
                  <a:lumOff val="5000"/>
                </a:prstClr>
              </a:solidFill>
              <a:effectLst>
                <a:outerShdw blurRad="38100" dist="38100" dir="2700000" algn="tl">
                  <a:srgbClr val="000000">
                    <a:alpha val="43137"/>
                  </a:srgbClr>
                </a:outerShdw>
              </a:effectLst>
              <a:uLnTx/>
              <a:uFillTx/>
              <a:latin typeface="Calibri"/>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lumMod val="95000"/>
                    <a:lumOff val="5000"/>
                  </a:prstClr>
                </a:solidFill>
                <a:effectLst>
                  <a:outerShdw blurRad="38100" dist="38100" dir="2700000" algn="tl">
                    <a:srgbClr val="000000">
                      <a:alpha val="43137"/>
                    </a:srgbClr>
                  </a:outerShdw>
                </a:effectLst>
                <a:uLnTx/>
                <a:uFillTx/>
                <a:latin typeface="Calibri"/>
                <a:ea typeface="+mn-ea"/>
                <a:cs typeface="+mn-cs"/>
              </a:rPr>
              <a:t>Tel: 0507497320</a:t>
            </a:r>
          </a:p>
        </p:txBody>
      </p:sp>
    </p:spTree>
    <p:extLst>
      <p:ext uri="{BB962C8B-B14F-4D97-AF65-F5344CB8AC3E}">
        <p14:creationId xmlns:p14="http://schemas.microsoft.com/office/powerpoint/2010/main" val="21751338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itle 2"/>
          <p:cNvSpPr>
            <a:spLocks noGrp="1"/>
          </p:cNvSpPr>
          <p:nvPr>
            <p:ph type="title"/>
          </p:nvPr>
        </p:nvSpPr>
        <p:spPr>
          <a:xfrm>
            <a:off x="0" y="0"/>
            <a:ext cx="10972800" cy="941832"/>
          </a:xfrm>
          <a:solidFill>
            <a:srgbClr val="00B050"/>
          </a:solidFill>
        </p:spPr>
        <p:txBody>
          <a:bodyPr/>
          <a:lstStyle/>
          <a:p>
            <a:pPr algn="l"/>
            <a:r>
              <a:rPr lang="en-US" sz="4800" b="1" dirty="0"/>
              <a:t>Outline of Topics</a:t>
            </a:r>
          </a:p>
        </p:txBody>
      </p:sp>
      <p:sp>
        <p:nvSpPr>
          <p:cNvPr id="4" name="TextBox 3"/>
          <p:cNvSpPr txBox="1"/>
          <p:nvPr/>
        </p:nvSpPr>
        <p:spPr>
          <a:xfrm>
            <a:off x="609600" y="1545336"/>
            <a:ext cx="9915144" cy="3690241"/>
          </a:xfrm>
          <a:prstGeom prst="rect">
            <a:avLst/>
          </a:prstGeom>
          <a:noFill/>
        </p:spPr>
        <p:txBody>
          <a:bodyPr wrap="square" rtlCol="0">
            <a:spAutoFit/>
          </a:bodyPr>
          <a:lstStyle/>
          <a:p>
            <a:pPr marL="844550" marR="0" lvl="1" indent="-742950" algn="l" defTabSz="914400" rtl="0" eaLnBrk="1" fontAlgn="auto" latinLnBrk="0" hangingPunct="1">
              <a:lnSpc>
                <a:spcPct val="150000"/>
              </a:lnSpc>
              <a:spcBef>
                <a:spcPts val="0"/>
              </a:spcBef>
              <a:spcAft>
                <a:spcPts val="0"/>
              </a:spcAft>
              <a:buClr>
                <a:srgbClr val="FFC000"/>
              </a:buClr>
              <a:buSzPct val="100000"/>
              <a:buFont typeface="+mj-lt"/>
              <a:buAutoNum type="arabicPeriod"/>
              <a:tabLst/>
              <a:defRPr/>
            </a:pPr>
            <a:r>
              <a:rPr kumimoji="0" lang="en-US" sz="4000" b="0" i="0" u="none" strike="noStrike" kern="1200" cap="none" spc="0" normalizeH="0" baseline="0" noProof="0" dirty="0">
                <a:ln>
                  <a:noFill/>
                </a:ln>
                <a:solidFill>
                  <a:prstClr val="black"/>
                </a:solidFill>
                <a:effectLst/>
                <a:uLnTx/>
                <a:uFillTx/>
                <a:latin typeface="Calibri"/>
                <a:ea typeface="+mn-ea"/>
                <a:cs typeface="+mn-cs"/>
              </a:rPr>
              <a:t>Classification of Receptors</a:t>
            </a:r>
          </a:p>
          <a:p>
            <a:pPr marL="844550" marR="0" lvl="1" indent="-742950" algn="l" defTabSz="914400" rtl="0" eaLnBrk="1" fontAlgn="auto" latinLnBrk="0" hangingPunct="1">
              <a:lnSpc>
                <a:spcPct val="150000"/>
              </a:lnSpc>
              <a:spcBef>
                <a:spcPts val="0"/>
              </a:spcBef>
              <a:spcAft>
                <a:spcPts val="0"/>
              </a:spcAft>
              <a:buClr>
                <a:srgbClr val="FFC000"/>
              </a:buClr>
              <a:buSzPct val="100000"/>
              <a:buFont typeface="+mj-lt"/>
              <a:buAutoNum type="arabicPeriod"/>
              <a:tabLst/>
              <a:defRPr/>
            </a:pPr>
            <a:r>
              <a:rPr kumimoji="0" lang="en-US" sz="4000" b="0" i="0" u="none" strike="noStrike" kern="1200" cap="none" spc="0" normalizeH="0" baseline="0" noProof="0" dirty="0">
                <a:ln>
                  <a:noFill/>
                </a:ln>
                <a:solidFill>
                  <a:prstClr val="black"/>
                </a:solidFill>
                <a:effectLst/>
                <a:uLnTx/>
                <a:uFillTx/>
                <a:latin typeface="Calibri"/>
                <a:ea typeface="+mn-ea"/>
                <a:cs typeface="+mn-cs"/>
              </a:rPr>
              <a:t>General Properties of Sensory Receptors.</a:t>
            </a:r>
          </a:p>
          <a:p>
            <a:pPr marL="844550" marR="0" lvl="1" indent="-742950" algn="l" defTabSz="914400" rtl="0" eaLnBrk="1" fontAlgn="auto" latinLnBrk="0" hangingPunct="1">
              <a:lnSpc>
                <a:spcPct val="150000"/>
              </a:lnSpc>
              <a:spcBef>
                <a:spcPts val="0"/>
              </a:spcBef>
              <a:spcAft>
                <a:spcPts val="0"/>
              </a:spcAft>
              <a:buClr>
                <a:srgbClr val="FFC000"/>
              </a:buClr>
              <a:buSzPct val="100000"/>
              <a:buFont typeface="+mj-lt"/>
              <a:buAutoNum type="arabicPeriod"/>
              <a:tabLst/>
              <a:defRPr/>
            </a:pPr>
            <a:r>
              <a:rPr kumimoji="0" lang="en-US" sz="4000" b="0" i="0" u="none" strike="noStrike" kern="1200" cap="none" spc="0" normalizeH="0" baseline="0" noProof="0" dirty="0">
                <a:ln>
                  <a:noFill/>
                </a:ln>
                <a:solidFill>
                  <a:prstClr val="black"/>
                </a:solidFill>
                <a:effectLst/>
                <a:uLnTx/>
                <a:uFillTx/>
                <a:latin typeface="Calibri"/>
                <a:ea typeface="+mn-ea"/>
                <a:cs typeface="+mn-cs"/>
              </a:rPr>
              <a:t>Sensory Transduction</a:t>
            </a:r>
          </a:p>
          <a:p>
            <a:pPr marL="844550" marR="0" lvl="1" indent="-742950" algn="l" defTabSz="914400" rtl="0" eaLnBrk="1" fontAlgn="auto" latinLnBrk="0" hangingPunct="1">
              <a:lnSpc>
                <a:spcPct val="150000"/>
              </a:lnSpc>
              <a:spcBef>
                <a:spcPts val="0"/>
              </a:spcBef>
              <a:spcAft>
                <a:spcPts val="0"/>
              </a:spcAft>
              <a:buClr>
                <a:srgbClr val="FFC000"/>
              </a:buClr>
              <a:buSzPct val="100000"/>
              <a:buFont typeface="+mj-lt"/>
              <a:buAutoNum type="arabicPeriod"/>
              <a:tabLst/>
              <a:defRPr/>
            </a:pPr>
            <a:r>
              <a:rPr kumimoji="0" lang="en-US" sz="4000" b="0" i="0" u="none" strike="noStrike" kern="1200" cap="none" spc="0" normalizeH="0" baseline="0" noProof="0" dirty="0">
                <a:ln>
                  <a:noFill/>
                </a:ln>
                <a:solidFill>
                  <a:prstClr val="black"/>
                </a:solidFill>
                <a:effectLst/>
                <a:uLnTx/>
                <a:uFillTx/>
                <a:latin typeface="Calibri"/>
                <a:ea typeface="+mn-ea"/>
                <a:cs typeface="+mn-cs"/>
              </a:rPr>
              <a:t>Sensation and Perception</a:t>
            </a:r>
          </a:p>
        </p:txBody>
      </p:sp>
    </p:spTree>
    <p:extLst>
      <p:ext uri="{BB962C8B-B14F-4D97-AF65-F5344CB8AC3E}">
        <p14:creationId xmlns:p14="http://schemas.microsoft.com/office/powerpoint/2010/main" val="2386596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itle 2"/>
          <p:cNvSpPr>
            <a:spLocks noGrp="1"/>
          </p:cNvSpPr>
          <p:nvPr>
            <p:ph type="title"/>
          </p:nvPr>
        </p:nvSpPr>
        <p:spPr>
          <a:xfrm>
            <a:off x="609600" y="139174"/>
            <a:ext cx="10972800" cy="792162"/>
          </a:xfrm>
        </p:spPr>
        <p:txBody>
          <a:bodyPr/>
          <a:lstStyle/>
          <a:p>
            <a:pPr algn="l"/>
            <a:r>
              <a:rPr lang="en-US" sz="3600" b="1" dirty="0"/>
              <a:t>Introduction</a:t>
            </a:r>
          </a:p>
        </p:txBody>
      </p:sp>
      <p:sp>
        <p:nvSpPr>
          <p:cNvPr id="4" name="Text Placeholder 8"/>
          <p:cNvSpPr txBox="1">
            <a:spLocks/>
          </p:cNvSpPr>
          <p:nvPr/>
        </p:nvSpPr>
        <p:spPr>
          <a:xfrm>
            <a:off x="304800" y="746894"/>
            <a:ext cx="11887200" cy="5179777"/>
          </a:xfrm>
          <a:prstGeom prst="rect">
            <a:avLst/>
          </a:prstGeom>
        </p:spPr>
        <p:txBody>
          <a:bodyPr>
            <a:noAutofit/>
          </a:bodyPr>
          <a:lstStyle>
            <a:lvl1pPr marL="192881" indent="-192881" algn="l" defTabSz="257175" rtl="0" eaLnBrk="1" latinLnBrk="0" hangingPunct="1">
              <a:spcBef>
                <a:spcPct val="20000"/>
              </a:spcBef>
              <a:buFont typeface="Arial"/>
              <a:buChar char="•"/>
              <a:defRPr sz="1800" kern="1200">
                <a:solidFill>
                  <a:schemeClr val="tx1"/>
                </a:solidFill>
                <a:latin typeface="+mn-lt"/>
                <a:ea typeface="+mn-ea"/>
                <a:cs typeface="+mn-cs"/>
              </a:defRPr>
            </a:lvl1pPr>
            <a:lvl2pPr marL="417910" indent="-160735" algn="l" defTabSz="257175" rtl="0" eaLnBrk="1" latinLnBrk="0" hangingPunct="1">
              <a:spcBef>
                <a:spcPct val="20000"/>
              </a:spcBef>
              <a:buFont typeface="Arial"/>
              <a:buChar char="–"/>
              <a:defRPr sz="1575" kern="1200">
                <a:solidFill>
                  <a:schemeClr val="tx1"/>
                </a:solidFill>
                <a:latin typeface="+mn-lt"/>
                <a:ea typeface="+mn-ea"/>
                <a:cs typeface="+mn-cs"/>
              </a:defRPr>
            </a:lvl2pPr>
            <a:lvl3pPr marL="642938" indent="-128588" algn="l" defTabSz="257175" rtl="0" eaLnBrk="1" latinLnBrk="0" hangingPunct="1">
              <a:spcBef>
                <a:spcPct val="20000"/>
              </a:spcBef>
              <a:buFont typeface="Arial"/>
              <a:buChar char="•"/>
              <a:defRPr sz="1350" kern="1200">
                <a:solidFill>
                  <a:schemeClr val="tx1"/>
                </a:solidFill>
                <a:latin typeface="+mn-lt"/>
                <a:ea typeface="+mn-ea"/>
                <a:cs typeface="+mn-cs"/>
              </a:defRPr>
            </a:lvl3pPr>
            <a:lvl4pPr marL="900113" indent="-128588" algn="l" defTabSz="257175" rtl="0" eaLnBrk="1" latinLnBrk="0" hangingPunct="1">
              <a:spcBef>
                <a:spcPct val="20000"/>
              </a:spcBef>
              <a:buFont typeface="Arial"/>
              <a:buChar char="–"/>
              <a:defRPr sz="1125" kern="1200">
                <a:solidFill>
                  <a:schemeClr val="tx1"/>
                </a:solidFill>
                <a:latin typeface="+mn-lt"/>
                <a:ea typeface="+mn-ea"/>
                <a:cs typeface="+mn-cs"/>
              </a:defRPr>
            </a:lvl4pPr>
            <a:lvl5pPr marL="1157288" indent="-128588" algn="l" defTabSz="257175" rtl="0" eaLnBrk="1" latinLnBrk="0" hangingPunct="1">
              <a:spcBef>
                <a:spcPct val="20000"/>
              </a:spcBef>
              <a:buFont typeface="Arial"/>
              <a:buChar char="»"/>
              <a:defRPr sz="1125" kern="1200">
                <a:solidFill>
                  <a:schemeClr val="tx1"/>
                </a:solidFill>
                <a:latin typeface="+mn-lt"/>
                <a:ea typeface="+mn-ea"/>
                <a:cs typeface="+mn-cs"/>
              </a:defRPr>
            </a:lvl5pPr>
            <a:lvl6pPr marL="1414463" indent="-128588" algn="l" defTabSz="257175" rtl="0" eaLnBrk="1" latinLnBrk="0" hangingPunct="1">
              <a:spcBef>
                <a:spcPct val="20000"/>
              </a:spcBef>
              <a:buFont typeface="Arial"/>
              <a:buChar char="•"/>
              <a:defRPr sz="1125" kern="1200">
                <a:solidFill>
                  <a:schemeClr val="tx1"/>
                </a:solidFill>
                <a:latin typeface="+mn-lt"/>
                <a:ea typeface="+mn-ea"/>
                <a:cs typeface="+mn-cs"/>
              </a:defRPr>
            </a:lvl6pPr>
            <a:lvl7pPr marL="1671638" indent="-128588" algn="l" defTabSz="257175" rtl="0" eaLnBrk="1" latinLnBrk="0" hangingPunct="1">
              <a:spcBef>
                <a:spcPct val="20000"/>
              </a:spcBef>
              <a:buFont typeface="Arial"/>
              <a:buChar char="•"/>
              <a:defRPr sz="1125" kern="1200">
                <a:solidFill>
                  <a:schemeClr val="tx1"/>
                </a:solidFill>
                <a:latin typeface="+mn-lt"/>
                <a:ea typeface="+mn-ea"/>
                <a:cs typeface="+mn-cs"/>
              </a:defRPr>
            </a:lvl7pPr>
            <a:lvl8pPr marL="1928813" indent="-128588" algn="l" defTabSz="257175" rtl="0" eaLnBrk="1" latinLnBrk="0" hangingPunct="1">
              <a:spcBef>
                <a:spcPct val="20000"/>
              </a:spcBef>
              <a:buFont typeface="Arial"/>
              <a:buChar char="•"/>
              <a:defRPr sz="1125" kern="1200">
                <a:solidFill>
                  <a:schemeClr val="tx1"/>
                </a:solidFill>
                <a:latin typeface="+mn-lt"/>
                <a:ea typeface="+mn-ea"/>
                <a:cs typeface="+mn-cs"/>
              </a:defRPr>
            </a:lvl8pPr>
            <a:lvl9pPr marL="2185988" indent="-128588" algn="l" defTabSz="257175" rtl="0" eaLnBrk="1" latinLnBrk="0" hangingPunct="1">
              <a:spcBef>
                <a:spcPct val="20000"/>
              </a:spcBef>
              <a:buFont typeface="Arial"/>
              <a:buChar char="•"/>
              <a:defRPr sz="1125" kern="1200">
                <a:solidFill>
                  <a:schemeClr val="tx1"/>
                </a:solidFill>
                <a:latin typeface="+mn-lt"/>
                <a:ea typeface="+mn-ea"/>
                <a:cs typeface="+mn-cs"/>
              </a:defRPr>
            </a:lvl9pPr>
          </a:lstStyle>
          <a:p>
            <a:pPr marL="361950" marR="0" lvl="0" indent="-361950" algn="l" defTabSz="2170176" rtl="0" eaLnBrk="1" fontAlgn="auto" latinLnBrk="0" hangingPunct="1">
              <a:lnSpc>
                <a:spcPct val="100000"/>
              </a:lnSpc>
              <a:spcBef>
                <a:spcPts val="1400"/>
              </a:spcBef>
              <a:spcAft>
                <a:spcPts val="0"/>
              </a:spcAft>
              <a:buClrTx/>
              <a:buSzPts val="5100"/>
              <a:buFont typeface="Arial"/>
              <a:buChar char="•"/>
              <a:tabLst/>
              <a:defRPr sz="5162"/>
            </a:pPr>
            <a:r>
              <a:rPr kumimoji="0" lang="en-US" sz="3000" b="0" i="0" u="none" strike="noStrike" kern="1200" cap="none" spc="0" normalizeH="0" baseline="0" noProof="0" dirty="0">
                <a:ln>
                  <a:noFill/>
                </a:ln>
                <a:solidFill>
                  <a:srgbClr val="FF0000"/>
                </a:solidFill>
                <a:effectLst/>
                <a:uLnTx/>
                <a:uFillTx/>
                <a:latin typeface="Calibri"/>
                <a:ea typeface="+mn-ea"/>
                <a:cs typeface="+mn-cs"/>
              </a:rPr>
              <a:t>Sensory receptors</a:t>
            </a:r>
            <a:r>
              <a:rPr kumimoji="0" lang="en-US" sz="3000" b="0" i="0" u="none" strike="noStrike" kern="1200" cap="none" spc="0" normalizeH="0" baseline="0" noProof="0" dirty="0">
                <a:ln>
                  <a:noFill/>
                </a:ln>
                <a:solidFill>
                  <a:prstClr val="black"/>
                </a:solidFill>
                <a:effectLst/>
                <a:uLnTx/>
                <a:uFillTx/>
                <a:latin typeface="Calibri"/>
                <a:ea typeface="+mn-ea"/>
                <a:cs typeface="+mn-cs"/>
              </a:rPr>
              <a:t> are specialized epithelial cells or neuronal proteins that physically interact with a force, energy, or chemical and transduce the energy of the stimuli into a change in membrane potential.</a:t>
            </a:r>
          </a:p>
          <a:p>
            <a:pPr marL="361950" marR="0" lvl="0" indent="-361950" algn="l" defTabSz="2170176" rtl="0" eaLnBrk="1" fontAlgn="auto" latinLnBrk="0" hangingPunct="1">
              <a:lnSpc>
                <a:spcPct val="100000"/>
              </a:lnSpc>
              <a:spcBef>
                <a:spcPts val="1400"/>
              </a:spcBef>
              <a:spcAft>
                <a:spcPts val="0"/>
              </a:spcAft>
              <a:buClrTx/>
              <a:buSzPts val="5100"/>
              <a:buFont typeface="Arial"/>
              <a:buChar char="•"/>
              <a:tabLst/>
              <a:defRPr sz="5162"/>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61950" marR="0" lvl="0" indent="-361950" algn="l" defTabSz="2170176" rtl="0" eaLnBrk="1" fontAlgn="auto" latinLnBrk="0" hangingPunct="1">
              <a:lnSpc>
                <a:spcPct val="100000"/>
              </a:lnSpc>
              <a:spcBef>
                <a:spcPts val="1400"/>
              </a:spcBef>
              <a:spcAft>
                <a:spcPts val="0"/>
              </a:spcAft>
              <a:buClrTx/>
              <a:buSzPts val="5100"/>
              <a:buFont typeface="Arial"/>
              <a:buChar char="•"/>
              <a:tabLst/>
              <a:defRPr sz="5162"/>
            </a:pPr>
            <a:r>
              <a:rPr kumimoji="0" lang="en-US" sz="3000" b="0" i="0" u="none" strike="noStrike" kern="1200" cap="none" spc="0" normalizeH="0" baseline="0" noProof="0" dirty="0">
                <a:ln>
                  <a:noFill/>
                </a:ln>
                <a:solidFill>
                  <a:prstClr val="black"/>
                </a:solidFill>
                <a:effectLst/>
                <a:uLnTx/>
                <a:uFillTx/>
                <a:latin typeface="Calibri"/>
                <a:ea typeface="+mn-ea"/>
                <a:cs typeface="+mn-cs"/>
              </a:rPr>
              <a:t>Sensory receptors vary in classifications but generally initiate the same process of registering stimuli and creating nerve signals to be transmitted to the brain for interpretation.</a:t>
            </a:r>
          </a:p>
          <a:p>
            <a:pPr marL="361950" marR="0" lvl="0" indent="-361950" algn="l" defTabSz="2170176" rtl="0" eaLnBrk="1" fontAlgn="auto" latinLnBrk="0" hangingPunct="1">
              <a:lnSpc>
                <a:spcPct val="100000"/>
              </a:lnSpc>
              <a:spcBef>
                <a:spcPts val="1400"/>
              </a:spcBef>
              <a:spcAft>
                <a:spcPts val="0"/>
              </a:spcAft>
              <a:buClrTx/>
              <a:buSzPts val="5100"/>
              <a:buFont typeface="Arial"/>
              <a:buChar char="•"/>
              <a:tabLst/>
              <a:defRPr sz="5162"/>
            </a:pP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marL="361950" marR="0" lvl="0" indent="-361950" algn="l" defTabSz="2170176" rtl="0" eaLnBrk="1" fontAlgn="auto" latinLnBrk="0" hangingPunct="1">
              <a:lnSpc>
                <a:spcPct val="100000"/>
              </a:lnSpc>
              <a:spcBef>
                <a:spcPts val="1400"/>
              </a:spcBef>
              <a:spcAft>
                <a:spcPts val="0"/>
              </a:spcAft>
              <a:buClrTx/>
              <a:buSzPts val="5100"/>
              <a:buFont typeface="Arial"/>
              <a:buChar char="•"/>
              <a:tabLst/>
              <a:defRPr sz="5162"/>
            </a:pPr>
            <a:r>
              <a:rPr kumimoji="0" lang="en-US" sz="3000" b="0" i="0" u="none" strike="noStrike" kern="1200" cap="none" spc="0" normalizeH="0" baseline="0" noProof="0" dirty="0">
                <a:ln>
                  <a:noFill/>
                </a:ln>
                <a:solidFill>
                  <a:prstClr val="black"/>
                </a:solidFill>
                <a:effectLst/>
                <a:uLnTx/>
                <a:uFillTx/>
                <a:latin typeface="Calibri"/>
                <a:ea typeface="+mn-ea"/>
                <a:cs typeface="+mn-cs"/>
              </a:rPr>
              <a:t>With the information from the sensory receptors, the brain creates an internal representation of the external environment and alters organ function to maintain homeostasis.</a:t>
            </a:r>
          </a:p>
        </p:txBody>
      </p:sp>
    </p:spTree>
    <p:extLst>
      <p:ext uri="{BB962C8B-B14F-4D97-AF65-F5344CB8AC3E}">
        <p14:creationId xmlns:p14="http://schemas.microsoft.com/office/powerpoint/2010/main" val="25852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p:tmAbs val="0"/>
                                  </p:iterate>
                                  <p:childTnLst>
                                    <p:set>
                                      <p:cBhvr>
                                        <p:cTn id="6" fill="hold"/>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grpId="0" nodeType="clickEffect">
                                  <p:stCondLst>
                                    <p:cond delay="0"/>
                                  </p:stCondLst>
                                  <p:iterate>
                                    <p:tmAbs val="0"/>
                                  </p:iterate>
                                  <p:childTnLst>
                                    <p:set>
                                      <p:cBhvr>
                                        <p:cTn id="11" fill="hold"/>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grpId="0" nodeType="clickEffect">
                                  <p:stCondLst>
                                    <p:cond delay="0"/>
                                  </p:stCondLst>
                                  <p:iterate>
                                    <p:tmAbs val="0"/>
                                  </p:iterate>
                                  <p:childTnLst>
                                    <p:set>
                                      <p:cBhvr>
                                        <p:cTn id="16" fill="hold"/>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dvAuto="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Title 7"/>
          <p:cNvSpPr txBox="1">
            <a:spLocks/>
          </p:cNvSpPr>
          <p:nvPr/>
        </p:nvSpPr>
        <p:spPr>
          <a:xfrm>
            <a:off x="0" y="0"/>
            <a:ext cx="8150455" cy="948267"/>
          </a:xfrm>
          <a:prstGeom prst="rect">
            <a:avLst/>
          </a:prstGeom>
        </p:spPr>
        <p:txBody>
          <a:bodyPr>
            <a:normAutofit fontScale="97500"/>
          </a:bodyPr>
          <a:lstStyle>
            <a:lvl1pPr algn="ctr" defTabSz="2292095" rtl="0" eaLnBrk="1" latinLnBrk="0" hangingPunct="1">
              <a:spcBef>
                <a:spcPct val="0"/>
              </a:spcBef>
              <a:buNone/>
              <a:defRPr sz="7519" b="1" kern="1200">
                <a:solidFill>
                  <a:schemeClr val="tx1"/>
                </a:solidFill>
                <a:latin typeface="+mj-lt"/>
                <a:ea typeface="+mj-ea"/>
                <a:cs typeface="+mj-cs"/>
              </a:defRPr>
            </a:lvl1pPr>
          </a:lstStyle>
          <a:p>
            <a:pPr marL="0" marR="0" lvl="0" indent="0" algn="l" defTabSz="2292095"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a:ea typeface="+mj-ea"/>
                <a:cs typeface="+mj-cs"/>
              </a:rPr>
              <a:t>Introduction</a:t>
            </a:r>
            <a:endParaRPr kumimoji="0" lang="en-US" sz="3600" b="1" i="0" u="none" strike="noStrike" kern="1200" cap="none" spc="0" normalizeH="0" baseline="0" noProof="0" dirty="0">
              <a:ln>
                <a:noFill/>
              </a:ln>
              <a:solidFill>
                <a:prstClr val="black"/>
              </a:solidFill>
              <a:effectLst/>
              <a:uLnTx/>
              <a:uFillTx/>
              <a:latin typeface="Calibri"/>
              <a:ea typeface="+mj-ea"/>
              <a:cs typeface="+mj-cs"/>
            </a:endParaRPr>
          </a:p>
        </p:txBody>
      </p:sp>
      <p:sp>
        <p:nvSpPr>
          <p:cNvPr id="5" name="Text Placeholder 8"/>
          <p:cNvSpPr txBox="1">
            <a:spLocks/>
          </p:cNvSpPr>
          <p:nvPr/>
        </p:nvSpPr>
        <p:spPr>
          <a:xfrm>
            <a:off x="170200" y="754222"/>
            <a:ext cx="11598467" cy="5602133"/>
          </a:xfrm>
          <a:prstGeom prst="rect">
            <a:avLst/>
          </a:prstGeom>
        </p:spPr>
        <p:txBody>
          <a:bodyPr/>
          <a:lstStyle>
            <a:lvl1pPr marL="192881" indent="-192881" algn="l" defTabSz="257175" rtl="0" eaLnBrk="1" latinLnBrk="0" hangingPunct="1">
              <a:spcBef>
                <a:spcPct val="20000"/>
              </a:spcBef>
              <a:buFont typeface="Arial"/>
              <a:buChar char="•"/>
              <a:defRPr sz="1800" kern="1200">
                <a:solidFill>
                  <a:schemeClr val="tx1"/>
                </a:solidFill>
                <a:latin typeface="+mn-lt"/>
                <a:ea typeface="+mn-ea"/>
                <a:cs typeface="+mn-cs"/>
              </a:defRPr>
            </a:lvl1pPr>
            <a:lvl2pPr marL="417910" indent="-160735" algn="l" defTabSz="257175" rtl="0" eaLnBrk="1" latinLnBrk="0" hangingPunct="1">
              <a:spcBef>
                <a:spcPct val="20000"/>
              </a:spcBef>
              <a:buFont typeface="Arial"/>
              <a:buChar char="–"/>
              <a:defRPr sz="1575" kern="1200">
                <a:solidFill>
                  <a:schemeClr val="tx1"/>
                </a:solidFill>
                <a:latin typeface="+mn-lt"/>
                <a:ea typeface="+mn-ea"/>
                <a:cs typeface="+mn-cs"/>
              </a:defRPr>
            </a:lvl2pPr>
            <a:lvl3pPr marL="642938" indent="-128588" algn="l" defTabSz="257175" rtl="0" eaLnBrk="1" latinLnBrk="0" hangingPunct="1">
              <a:spcBef>
                <a:spcPct val="20000"/>
              </a:spcBef>
              <a:buFont typeface="Arial"/>
              <a:buChar char="•"/>
              <a:defRPr sz="1350" kern="1200">
                <a:solidFill>
                  <a:schemeClr val="tx1"/>
                </a:solidFill>
                <a:latin typeface="+mn-lt"/>
                <a:ea typeface="+mn-ea"/>
                <a:cs typeface="+mn-cs"/>
              </a:defRPr>
            </a:lvl3pPr>
            <a:lvl4pPr marL="900113" indent="-128588" algn="l" defTabSz="257175" rtl="0" eaLnBrk="1" latinLnBrk="0" hangingPunct="1">
              <a:spcBef>
                <a:spcPct val="20000"/>
              </a:spcBef>
              <a:buFont typeface="Arial"/>
              <a:buChar char="–"/>
              <a:defRPr sz="1125" kern="1200">
                <a:solidFill>
                  <a:schemeClr val="tx1"/>
                </a:solidFill>
                <a:latin typeface="+mn-lt"/>
                <a:ea typeface="+mn-ea"/>
                <a:cs typeface="+mn-cs"/>
              </a:defRPr>
            </a:lvl4pPr>
            <a:lvl5pPr marL="1157288" indent="-128588" algn="l" defTabSz="257175" rtl="0" eaLnBrk="1" latinLnBrk="0" hangingPunct="1">
              <a:spcBef>
                <a:spcPct val="20000"/>
              </a:spcBef>
              <a:buFont typeface="Arial"/>
              <a:buChar char="»"/>
              <a:defRPr sz="1125" kern="1200">
                <a:solidFill>
                  <a:schemeClr val="tx1"/>
                </a:solidFill>
                <a:latin typeface="+mn-lt"/>
                <a:ea typeface="+mn-ea"/>
                <a:cs typeface="+mn-cs"/>
              </a:defRPr>
            </a:lvl5pPr>
            <a:lvl6pPr marL="1414463" indent="-128588" algn="l" defTabSz="257175" rtl="0" eaLnBrk="1" latinLnBrk="0" hangingPunct="1">
              <a:spcBef>
                <a:spcPct val="20000"/>
              </a:spcBef>
              <a:buFont typeface="Arial"/>
              <a:buChar char="•"/>
              <a:defRPr sz="1125" kern="1200">
                <a:solidFill>
                  <a:schemeClr val="tx1"/>
                </a:solidFill>
                <a:latin typeface="+mn-lt"/>
                <a:ea typeface="+mn-ea"/>
                <a:cs typeface="+mn-cs"/>
              </a:defRPr>
            </a:lvl6pPr>
            <a:lvl7pPr marL="1671638" indent="-128588" algn="l" defTabSz="257175" rtl="0" eaLnBrk="1" latinLnBrk="0" hangingPunct="1">
              <a:spcBef>
                <a:spcPct val="20000"/>
              </a:spcBef>
              <a:buFont typeface="Arial"/>
              <a:buChar char="•"/>
              <a:defRPr sz="1125" kern="1200">
                <a:solidFill>
                  <a:schemeClr val="tx1"/>
                </a:solidFill>
                <a:latin typeface="+mn-lt"/>
                <a:ea typeface="+mn-ea"/>
                <a:cs typeface="+mn-cs"/>
              </a:defRPr>
            </a:lvl7pPr>
            <a:lvl8pPr marL="1928813" indent="-128588" algn="l" defTabSz="257175" rtl="0" eaLnBrk="1" latinLnBrk="0" hangingPunct="1">
              <a:spcBef>
                <a:spcPct val="20000"/>
              </a:spcBef>
              <a:buFont typeface="Arial"/>
              <a:buChar char="•"/>
              <a:defRPr sz="1125" kern="1200">
                <a:solidFill>
                  <a:schemeClr val="tx1"/>
                </a:solidFill>
                <a:latin typeface="+mn-lt"/>
                <a:ea typeface="+mn-ea"/>
                <a:cs typeface="+mn-cs"/>
              </a:defRPr>
            </a:lvl8pPr>
            <a:lvl9pPr marL="2185988" indent="-128588" algn="l" defTabSz="257175" rtl="0" eaLnBrk="1" latinLnBrk="0" hangingPunct="1">
              <a:spcBef>
                <a:spcPct val="20000"/>
              </a:spcBef>
              <a:buFont typeface="Arial"/>
              <a:buChar char="•"/>
              <a:defRPr sz="1125" kern="1200">
                <a:solidFill>
                  <a:schemeClr val="tx1"/>
                </a:solidFill>
                <a:latin typeface="+mn-lt"/>
                <a:ea typeface="+mn-ea"/>
                <a:cs typeface="+mn-cs"/>
              </a:defRPr>
            </a:lvl9pPr>
          </a:lstStyle>
          <a:p>
            <a:pPr marL="627063" marR="0" lvl="0" indent="-452438" algn="l" defTabSz="257175" rtl="0" eaLnBrk="1" fontAlgn="auto" latinLnBrk="0" hangingPunct="1">
              <a:lnSpc>
                <a:spcPct val="90000"/>
              </a:lnSpc>
              <a:spcBef>
                <a:spcPct val="20000"/>
              </a:spcBef>
              <a:spcAft>
                <a:spcPts val="0"/>
              </a:spcAft>
              <a:buClrTx/>
              <a:buSzPts val="5800"/>
              <a:buFont typeface="Arial"/>
              <a:buChar char="•"/>
              <a:tabLst/>
              <a:defRPr sz="5800"/>
            </a:pPr>
            <a:r>
              <a:rPr kumimoji="0" lang="en-US" sz="3600" b="0" i="0" u="none" strike="noStrike" kern="1200" cap="none" spc="0" normalizeH="0" baseline="0" noProof="0" dirty="0">
                <a:ln>
                  <a:noFill/>
                </a:ln>
                <a:solidFill>
                  <a:prstClr val="black"/>
                </a:solidFill>
                <a:effectLst/>
                <a:uLnTx/>
                <a:uFillTx/>
                <a:latin typeface="Calibri"/>
                <a:ea typeface="+mn-ea"/>
                <a:cs typeface="+mn-cs"/>
              </a:rPr>
              <a:t>In a sensory system, sensory receptors serve as the front-liners because they are in contact with the stimulus.</a:t>
            </a:r>
          </a:p>
          <a:p>
            <a:pPr marL="627063" marR="0" lvl="0" indent="-452438" algn="l" defTabSz="257175" rtl="0" eaLnBrk="1" fontAlgn="auto" latinLnBrk="0" hangingPunct="1">
              <a:lnSpc>
                <a:spcPct val="90000"/>
              </a:lnSpc>
              <a:spcBef>
                <a:spcPct val="20000"/>
              </a:spcBef>
              <a:spcAft>
                <a:spcPts val="0"/>
              </a:spcAft>
              <a:buClrTx/>
              <a:buSzPts val="5800"/>
              <a:buFont typeface="Arial"/>
              <a:buChar char="•"/>
              <a:tabLst/>
              <a:defRPr sz="5800"/>
            </a:pPr>
            <a:endParaRPr kumimoji="0" lang="en-US" sz="3600" b="0" i="0" u="none" strike="noStrike" kern="1200" cap="none" spc="0" normalizeH="0" baseline="0" noProof="0" dirty="0">
              <a:ln>
                <a:noFill/>
              </a:ln>
              <a:solidFill>
                <a:prstClr val="black"/>
              </a:solidFill>
              <a:effectLst/>
              <a:uLnTx/>
              <a:uFillTx/>
              <a:latin typeface="Calibri"/>
              <a:ea typeface="+mn-ea"/>
              <a:cs typeface="+mn-cs"/>
            </a:endParaRPr>
          </a:p>
          <a:p>
            <a:pPr marL="627063" marR="0" lvl="0" indent="-452438" algn="l" defTabSz="257175" rtl="0" eaLnBrk="1" fontAlgn="auto" latinLnBrk="0" hangingPunct="1">
              <a:lnSpc>
                <a:spcPct val="90000"/>
              </a:lnSpc>
              <a:spcBef>
                <a:spcPct val="20000"/>
              </a:spcBef>
              <a:spcAft>
                <a:spcPts val="0"/>
              </a:spcAft>
              <a:buClrTx/>
              <a:buSzPts val="5800"/>
              <a:buFont typeface="Arial"/>
              <a:buChar char="•"/>
              <a:tabLst/>
              <a:defRPr sz="5800"/>
            </a:pPr>
            <a:r>
              <a:rPr kumimoji="0" lang="en-US" sz="3600" b="0" i="0" u="none" strike="noStrike" kern="1200" cap="none" spc="0" normalizeH="0" baseline="0" noProof="0" dirty="0">
                <a:ln>
                  <a:noFill/>
                </a:ln>
                <a:solidFill>
                  <a:prstClr val="black"/>
                </a:solidFill>
                <a:effectLst/>
                <a:uLnTx/>
                <a:uFillTx/>
                <a:latin typeface="Calibri"/>
                <a:ea typeface="+mn-ea"/>
                <a:cs typeface="+mn-cs"/>
              </a:rPr>
              <a:t>By discovering sensory receptors and investigating their mechanisms, we can understand the pathophysiology of various disorders.</a:t>
            </a:r>
          </a:p>
          <a:p>
            <a:pPr marL="627063" marR="0" lvl="0" indent="-452438" algn="l" defTabSz="257175" rtl="0" eaLnBrk="1" fontAlgn="auto" latinLnBrk="0" hangingPunct="1">
              <a:lnSpc>
                <a:spcPct val="90000"/>
              </a:lnSpc>
              <a:spcBef>
                <a:spcPct val="20000"/>
              </a:spcBef>
              <a:spcAft>
                <a:spcPts val="0"/>
              </a:spcAft>
              <a:buClrTx/>
              <a:buSzPts val="5800"/>
              <a:buFont typeface="Arial"/>
              <a:buChar char="•"/>
              <a:tabLst/>
              <a:defRPr sz="5800"/>
            </a:pPr>
            <a:endParaRPr kumimoji="0" lang="en-US" sz="3600" b="0" i="0" u="none" strike="noStrike" kern="1200" cap="none" spc="0" normalizeH="0" baseline="0" noProof="0" dirty="0">
              <a:ln>
                <a:noFill/>
              </a:ln>
              <a:solidFill>
                <a:prstClr val="black"/>
              </a:solidFill>
              <a:effectLst/>
              <a:uLnTx/>
              <a:uFillTx/>
              <a:latin typeface="Calibri"/>
              <a:ea typeface="+mn-ea"/>
              <a:cs typeface="+mn-cs"/>
            </a:endParaRPr>
          </a:p>
          <a:p>
            <a:pPr marL="627063" marR="0" lvl="0" indent="-452438" algn="l" defTabSz="257175" rtl="0" eaLnBrk="1" fontAlgn="auto" latinLnBrk="0" hangingPunct="1">
              <a:lnSpc>
                <a:spcPct val="90000"/>
              </a:lnSpc>
              <a:spcBef>
                <a:spcPct val="20000"/>
              </a:spcBef>
              <a:spcAft>
                <a:spcPts val="0"/>
              </a:spcAft>
              <a:buClrTx/>
              <a:buSzPts val="5800"/>
              <a:buFont typeface="Arial"/>
              <a:buChar char="•"/>
              <a:tabLst/>
              <a:defRPr sz="5800"/>
            </a:pPr>
            <a:r>
              <a:rPr kumimoji="0" lang="en-US" sz="3600" b="0" i="0" u="none" strike="noStrike" kern="1200" cap="none" spc="0" normalizeH="0" baseline="0" noProof="0" dirty="0">
                <a:ln>
                  <a:noFill/>
                </a:ln>
                <a:solidFill>
                  <a:prstClr val="black"/>
                </a:solidFill>
                <a:effectLst/>
                <a:uLnTx/>
                <a:uFillTx/>
                <a:latin typeface="Calibri"/>
                <a:ea typeface="+mn-ea"/>
                <a:cs typeface="+mn-cs"/>
              </a:rPr>
              <a:t>For example, understanding nociceptors is vital in designing new pharmaceutical solutions and treatment plans for chronic pain syndrome.</a:t>
            </a:r>
          </a:p>
        </p:txBody>
      </p:sp>
    </p:spTree>
    <p:extLst>
      <p:ext uri="{BB962C8B-B14F-4D97-AF65-F5344CB8AC3E}">
        <p14:creationId xmlns:p14="http://schemas.microsoft.com/office/powerpoint/2010/main" val="35902969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Title 1"/>
          <p:cNvSpPr txBox="1">
            <a:spLocks noGrp="1"/>
          </p:cNvSpPr>
          <p:nvPr>
            <p:ph type="title"/>
          </p:nvPr>
        </p:nvSpPr>
        <p:spPr>
          <a:xfrm>
            <a:off x="50799" y="16933"/>
            <a:ext cx="10507647" cy="709785"/>
          </a:xfrm>
          <a:prstGeom prst="rect">
            <a:avLst/>
          </a:prstGeom>
        </p:spPr>
        <p:txBody>
          <a:bodyPr anchor="ctr">
            <a:noAutofit/>
          </a:bodyPr>
          <a:lstStyle>
            <a:lvl1pPr defTabSz="2170176">
              <a:defRPr sz="7476" b="1"/>
            </a:lvl1pPr>
          </a:lstStyle>
          <a:p>
            <a:pPr algn="l"/>
            <a:r>
              <a:rPr sz="3600" dirty="0"/>
              <a:t>Classification of Sensory Receptors</a:t>
            </a:r>
          </a:p>
        </p:txBody>
      </p:sp>
      <p:sp>
        <p:nvSpPr>
          <p:cNvPr id="5" name="Text Placeholder 2"/>
          <p:cNvSpPr txBox="1">
            <a:spLocks/>
          </p:cNvSpPr>
          <p:nvPr/>
        </p:nvSpPr>
        <p:spPr>
          <a:xfrm>
            <a:off x="217679" y="951067"/>
            <a:ext cx="10585788" cy="4975600"/>
          </a:xfrm>
          <a:prstGeom prst="rect">
            <a:avLst/>
          </a:prstGeom>
        </p:spPr>
        <p:txBody>
          <a:bodyPr lIns="241300" tIns="241300" rIns="241300" bIns="241300"/>
          <a:lstStyle>
            <a:lvl1pPr marL="192881" indent="-192881" algn="l" defTabSz="257175" rtl="0" eaLnBrk="1" latinLnBrk="0" hangingPunct="1">
              <a:spcBef>
                <a:spcPct val="20000"/>
              </a:spcBef>
              <a:buFont typeface="Arial"/>
              <a:buChar char="•"/>
              <a:defRPr sz="1800" kern="1200">
                <a:solidFill>
                  <a:schemeClr val="tx1"/>
                </a:solidFill>
                <a:latin typeface="+mn-lt"/>
                <a:ea typeface="+mn-ea"/>
                <a:cs typeface="+mn-cs"/>
              </a:defRPr>
            </a:lvl1pPr>
            <a:lvl2pPr marL="417910" indent="-160735" algn="l" defTabSz="257175" rtl="0" eaLnBrk="1" latinLnBrk="0" hangingPunct="1">
              <a:spcBef>
                <a:spcPct val="20000"/>
              </a:spcBef>
              <a:buFont typeface="Arial"/>
              <a:buChar char="–"/>
              <a:defRPr sz="1575" kern="1200">
                <a:solidFill>
                  <a:schemeClr val="tx1"/>
                </a:solidFill>
                <a:latin typeface="+mn-lt"/>
                <a:ea typeface="+mn-ea"/>
                <a:cs typeface="+mn-cs"/>
              </a:defRPr>
            </a:lvl2pPr>
            <a:lvl3pPr marL="642938" indent="-128588" algn="l" defTabSz="257175" rtl="0" eaLnBrk="1" latinLnBrk="0" hangingPunct="1">
              <a:spcBef>
                <a:spcPct val="20000"/>
              </a:spcBef>
              <a:buFont typeface="Arial"/>
              <a:buChar char="•"/>
              <a:defRPr sz="1350" kern="1200">
                <a:solidFill>
                  <a:schemeClr val="tx1"/>
                </a:solidFill>
                <a:latin typeface="+mn-lt"/>
                <a:ea typeface="+mn-ea"/>
                <a:cs typeface="+mn-cs"/>
              </a:defRPr>
            </a:lvl3pPr>
            <a:lvl4pPr marL="900113" indent="-128588" algn="l" defTabSz="257175" rtl="0" eaLnBrk="1" latinLnBrk="0" hangingPunct="1">
              <a:spcBef>
                <a:spcPct val="20000"/>
              </a:spcBef>
              <a:buFont typeface="Arial"/>
              <a:buChar char="–"/>
              <a:defRPr sz="1125" kern="1200">
                <a:solidFill>
                  <a:schemeClr val="tx1"/>
                </a:solidFill>
                <a:latin typeface="+mn-lt"/>
                <a:ea typeface="+mn-ea"/>
                <a:cs typeface="+mn-cs"/>
              </a:defRPr>
            </a:lvl4pPr>
            <a:lvl5pPr marL="1157288" indent="-128588" algn="l" defTabSz="257175" rtl="0" eaLnBrk="1" latinLnBrk="0" hangingPunct="1">
              <a:spcBef>
                <a:spcPct val="20000"/>
              </a:spcBef>
              <a:buFont typeface="Arial"/>
              <a:buChar char="»"/>
              <a:defRPr sz="1125" kern="1200">
                <a:solidFill>
                  <a:schemeClr val="tx1"/>
                </a:solidFill>
                <a:latin typeface="+mn-lt"/>
                <a:ea typeface="+mn-ea"/>
                <a:cs typeface="+mn-cs"/>
              </a:defRPr>
            </a:lvl5pPr>
            <a:lvl6pPr marL="1414463" indent="-128588" algn="l" defTabSz="257175" rtl="0" eaLnBrk="1" latinLnBrk="0" hangingPunct="1">
              <a:spcBef>
                <a:spcPct val="20000"/>
              </a:spcBef>
              <a:buFont typeface="Arial"/>
              <a:buChar char="•"/>
              <a:defRPr sz="1125" kern="1200">
                <a:solidFill>
                  <a:schemeClr val="tx1"/>
                </a:solidFill>
                <a:latin typeface="+mn-lt"/>
                <a:ea typeface="+mn-ea"/>
                <a:cs typeface="+mn-cs"/>
              </a:defRPr>
            </a:lvl6pPr>
            <a:lvl7pPr marL="1671638" indent="-128588" algn="l" defTabSz="257175" rtl="0" eaLnBrk="1" latinLnBrk="0" hangingPunct="1">
              <a:spcBef>
                <a:spcPct val="20000"/>
              </a:spcBef>
              <a:buFont typeface="Arial"/>
              <a:buChar char="•"/>
              <a:defRPr sz="1125" kern="1200">
                <a:solidFill>
                  <a:schemeClr val="tx1"/>
                </a:solidFill>
                <a:latin typeface="+mn-lt"/>
                <a:ea typeface="+mn-ea"/>
                <a:cs typeface="+mn-cs"/>
              </a:defRPr>
            </a:lvl7pPr>
            <a:lvl8pPr marL="1928813" indent="-128588" algn="l" defTabSz="257175" rtl="0" eaLnBrk="1" latinLnBrk="0" hangingPunct="1">
              <a:spcBef>
                <a:spcPct val="20000"/>
              </a:spcBef>
              <a:buFont typeface="Arial"/>
              <a:buChar char="•"/>
              <a:defRPr sz="1125" kern="1200">
                <a:solidFill>
                  <a:schemeClr val="tx1"/>
                </a:solidFill>
                <a:latin typeface="+mn-lt"/>
                <a:ea typeface="+mn-ea"/>
                <a:cs typeface="+mn-cs"/>
              </a:defRPr>
            </a:lvl8pPr>
            <a:lvl9pPr marL="2185988" indent="-128588" algn="l" defTabSz="257175" rtl="0" eaLnBrk="1" latinLnBrk="0" hangingPunct="1">
              <a:spcBef>
                <a:spcPct val="20000"/>
              </a:spcBef>
              <a:buFont typeface="Arial"/>
              <a:buChar char="•"/>
              <a:defRPr sz="1125" kern="1200">
                <a:solidFill>
                  <a:schemeClr val="tx1"/>
                </a:solidFill>
                <a:latin typeface="+mn-lt"/>
                <a:ea typeface="+mn-ea"/>
                <a:cs typeface="+mn-cs"/>
              </a:defRPr>
            </a:lvl9pPr>
          </a:lstStyle>
          <a:p>
            <a:pPr marL="0" marR="0" lvl="0" indent="76200" algn="l" defTabSz="257175" rtl="0" eaLnBrk="1" fontAlgn="auto" latinLnBrk="0" hangingPunct="1">
              <a:lnSpc>
                <a:spcPct val="100000"/>
              </a:lnSpc>
              <a:spcBef>
                <a:spcPct val="20000"/>
              </a:spcBef>
              <a:spcAft>
                <a:spcPts val="0"/>
              </a:spcAft>
              <a:buClrTx/>
              <a:buSzTx/>
              <a:buFont typeface="Arial"/>
              <a:buNone/>
              <a:tabLst/>
              <a:defRPr/>
            </a:pPr>
            <a:r>
              <a:rPr kumimoji="0" lang="en-US" sz="3600" b="0" i="0" u="none" strike="noStrike" kern="1200" cap="none" spc="0" normalizeH="0" baseline="0" noProof="0" dirty="0">
                <a:ln>
                  <a:noFill/>
                </a:ln>
                <a:solidFill>
                  <a:prstClr val="black"/>
                </a:solidFill>
                <a:effectLst/>
                <a:uLnTx/>
                <a:uFillTx/>
                <a:latin typeface="Calibri"/>
                <a:ea typeface="+mn-ea"/>
                <a:cs typeface="+mn-cs"/>
              </a:rPr>
              <a:t>Receptors can be classified based on;</a:t>
            </a:r>
          </a:p>
          <a:p>
            <a:pPr marL="1066800" marR="0" lvl="0" indent="-990600" algn="l" defTabSz="257175" rtl="0" eaLnBrk="1" fontAlgn="auto" latinLnBrk="0" hangingPunct="1">
              <a:lnSpc>
                <a:spcPct val="100000"/>
              </a:lnSpc>
              <a:spcBef>
                <a:spcPct val="20000"/>
              </a:spcBef>
              <a:spcAft>
                <a:spcPts val="0"/>
              </a:spcAft>
              <a:buClrTx/>
              <a:buSzTx/>
              <a:buFontTx/>
              <a:buAutoNum type="arabicPeriod"/>
              <a:tabLst/>
              <a:defRPr/>
            </a:pPr>
            <a:r>
              <a:rPr kumimoji="0" lang="en-US" sz="3600" b="0" i="0" u="none" strike="noStrike" kern="1200" cap="none" spc="0" normalizeH="0" baseline="0" noProof="0" dirty="0">
                <a:ln>
                  <a:noFill/>
                </a:ln>
                <a:solidFill>
                  <a:prstClr val="black"/>
                </a:solidFill>
                <a:effectLst/>
                <a:uLnTx/>
                <a:uFillTx/>
                <a:latin typeface="Calibri"/>
                <a:ea typeface="+mn-ea"/>
                <a:cs typeface="+mn-cs"/>
              </a:rPr>
              <a:t>Distribution;</a:t>
            </a:r>
          </a:p>
          <a:p>
            <a:pPr marL="1066800" marR="0" lvl="0" indent="-990600" algn="l" defTabSz="257175" rtl="0" eaLnBrk="1" fontAlgn="auto" latinLnBrk="0" hangingPunct="1">
              <a:lnSpc>
                <a:spcPct val="100000"/>
              </a:lnSpc>
              <a:spcBef>
                <a:spcPct val="20000"/>
              </a:spcBef>
              <a:spcAft>
                <a:spcPts val="0"/>
              </a:spcAft>
              <a:buClrTx/>
              <a:buSzTx/>
              <a:buFontTx/>
              <a:buAutoNum type="arabicPeriod"/>
              <a:tabLst/>
              <a:defRPr/>
            </a:pPr>
            <a:r>
              <a:rPr kumimoji="0" lang="en-US" sz="3600" b="0" i="0" u="none" strike="noStrike" kern="1200" cap="none" spc="0" normalizeH="0" baseline="0" noProof="0" dirty="0">
                <a:ln>
                  <a:noFill/>
                </a:ln>
                <a:solidFill>
                  <a:prstClr val="black"/>
                </a:solidFill>
                <a:effectLst/>
                <a:uLnTx/>
                <a:uFillTx/>
                <a:latin typeface="Calibri"/>
                <a:ea typeface="+mn-ea"/>
                <a:cs typeface="+mn-cs"/>
              </a:rPr>
              <a:t>Location of stimuli;</a:t>
            </a:r>
          </a:p>
          <a:p>
            <a:pPr marL="1066800" marR="0" lvl="0" indent="-990600" algn="l" defTabSz="257175" rtl="0" eaLnBrk="1" fontAlgn="auto" latinLnBrk="0" hangingPunct="1">
              <a:lnSpc>
                <a:spcPct val="100000"/>
              </a:lnSpc>
              <a:spcBef>
                <a:spcPct val="20000"/>
              </a:spcBef>
              <a:spcAft>
                <a:spcPts val="0"/>
              </a:spcAft>
              <a:buClrTx/>
              <a:buSzTx/>
              <a:buFontTx/>
              <a:buAutoNum type="arabicPeriod"/>
              <a:tabLst/>
              <a:defRPr/>
            </a:pPr>
            <a:r>
              <a:rPr kumimoji="0" lang="en-US" sz="3600" b="0" i="0" u="none" strike="noStrike" kern="1200" cap="none" spc="0" normalizeH="0" baseline="0" noProof="0" dirty="0">
                <a:ln>
                  <a:noFill/>
                </a:ln>
                <a:solidFill>
                  <a:prstClr val="black"/>
                </a:solidFill>
                <a:effectLst/>
                <a:uLnTx/>
                <a:uFillTx/>
                <a:latin typeface="Calibri"/>
                <a:ea typeface="+mn-ea"/>
                <a:cs typeface="+mn-cs"/>
              </a:rPr>
              <a:t>Morphology;</a:t>
            </a:r>
          </a:p>
          <a:p>
            <a:pPr marL="1066800" marR="0" lvl="0" indent="-990600" algn="l" defTabSz="257175" rtl="0" eaLnBrk="1" fontAlgn="auto" latinLnBrk="0" hangingPunct="1">
              <a:lnSpc>
                <a:spcPct val="100000"/>
              </a:lnSpc>
              <a:spcBef>
                <a:spcPct val="20000"/>
              </a:spcBef>
              <a:spcAft>
                <a:spcPts val="0"/>
              </a:spcAft>
              <a:buClrTx/>
              <a:buSzTx/>
              <a:buFontTx/>
              <a:buAutoNum type="arabicPeriod"/>
              <a:tabLst/>
              <a:defRPr/>
            </a:pPr>
            <a:r>
              <a:rPr kumimoji="0" lang="en-US" sz="3600" b="0" i="0" u="none" strike="noStrike" kern="1200" cap="none" spc="0" normalizeH="0" baseline="0" noProof="0" dirty="0">
                <a:ln>
                  <a:noFill/>
                </a:ln>
                <a:solidFill>
                  <a:prstClr val="black"/>
                </a:solidFill>
                <a:effectLst/>
                <a:uLnTx/>
                <a:uFillTx/>
                <a:latin typeface="Calibri"/>
                <a:ea typeface="+mn-ea"/>
                <a:cs typeface="+mn-cs"/>
              </a:rPr>
              <a:t>The type of stimulus to which they respond; and </a:t>
            </a:r>
          </a:p>
          <a:p>
            <a:pPr marL="1066800" marR="0" lvl="0" indent="-990600" algn="l" defTabSz="257175" rtl="0" eaLnBrk="1" fontAlgn="auto" latinLnBrk="0" hangingPunct="1">
              <a:lnSpc>
                <a:spcPct val="100000"/>
              </a:lnSpc>
              <a:spcBef>
                <a:spcPct val="20000"/>
              </a:spcBef>
              <a:spcAft>
                <a:spcPts val="0"/>
              </a:spcAft>
              <a:buClrTx/>
              <a:buSzTx/>
              <a:buFontTx/>
              <a:buAutoNum type="arabicPeriod"/>
              <a:tabLst/>
              <a:defRPr/>
            </a:pPr>
            <a:r>
              <a:rPr kumimoji="0" lang="en-US" sz="3600" b="0" i="0" u="none" strike="noStrike" kern="1200" cap="none" spc="0" normalizeH="0" baseline="0" noProof="0" dirty="0">
                <a:ln>
                  <a:noFill/>
                </a:ln>
                <a:solidFill>
                  <a:prstClr val="black"/>
                </a:solidFill>
                <a:effectLst/>
                <a:uLnTx/>
                <a:uFillTx/>
                <a:latin typeface="Calibri"/>
                <a:ea typeface="+mn-ea"/>
                <a:cs typeface="+mn-cs"/>
              </a:rPr>
              <a:t>Adaptation to stimulus</a:t>
            </a:r>
          </a:p>
        </p:txBody>
      </p:sp>
    </p:spTree>
    <p:extLst>
      <p:ext uri="{BB962C8B-B14F-4D97-AF65-F5344CB8AC3E}">
        <p14:creationId xmlns:p14="http://schemas.microsoft.com/office/powerpoint/2010/main" val="28381372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4" name="Picture 3"/>
          <p:cNvPicPr>
            <a:picLocks noChangeAspect="1"/>
          </p:cNvPicPr>
          <p:nvPr/>
        </p:nvPicPr>
        <p:blipFill>
          <a:blip r:embed="rId2"/>
          <a:stretch>
            <a:fillRect/>
          </a:stretch>
        </p:blipFill>
        <p:spPr>
          <a:xfrm>
            <a:off x="478972" y="1281567"/>
            <a:ext cx="10787899" cy="4934861"/>
          </a:xfrm>
          <a:prstGeom prst="rect">
            <a:avLst/>
          </a:prstGeom>
        </p:spPr>
      </p:pic>
      <p:sp>
        <p:nvSpPr>
          <p:cNvPr id="5" name="Title 1"/>
          <p:cNvSpPr txBox="1"/>
          <p:nvPr/>
        </p:nvSpPr>
        <p:spPr>
          <a:xfrm>
            <a:off x="177647" y="0"/>
            <a:ext cx="10819774" cy="861772"/>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1919" tIns="121919" rIns="121919" bIns="121919">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8400" b="1">
                <a:solidFill>
                  <a:srgbClr val="FFFFFF"/>
                </a:solidFill>
              </a:defRPr>
            </a:pPr>
            <a:r>
              <a:rPr kumimoji="0" sz="4000" b="1" i="0" u="none" strike="noStrike" kern="1200" cap="none" spc="0" normalizeH="0" baseline="0" noProof="0" dirty="0">
                <a:ln>
                  <a:noFill/>
                </a:ln>
                <a:solidFill>
                  <a:prstClr val="black">
                    <a:lumMod val="50000"/>
                    <a:lumOff val="50000"/>
                  </a:prstClr>
                </a:solidFill>
                <a:effectLst/>
                <a:uLnTx/>
                <a:uFillTx/>
                <a:latin typeface="Calibri"/>
                <a:ea typeface="+mn-ea"/>
                <a:cs typeface="+mn-cs"/>
              </a:rPr>
              <a:t>Classification of Receptors - </a:t>
            </a:r>
            <a:r>
              <a:rPr kumimoji="0" sz="4000" b="1" i="0" u="none" strike="noStrike" kern="1200" cap="none" spc="0" normalizeH="0" baseline="0" noProof="0" dirty="0">
                <a:ln>
                  <a:noFill/>
                </a:ln>
                <a:solidFill>
                  <a:srgbClr val="FF0000"/>
                </a:solidFill>
                <a:effectLst/>
                <a:uLnTx/>
                <a:uFillTx/>
                <a:latin typeface="Calibri"/>
                <a:ea typeface="+mn-ea"/>
                <a:cs typeface="+mn-cs"/>
              </a:rPr>
              <a:t>By distribution</a:t>
            </a:r>
          </a:p>
        </p:txBody>
      </p:sp>
    </p:spTree>
    <p:extLst>
      <p:ext uri="{BB962C8B-B14F-4D97-AF65-F5344CB8AC3E}">
        <p14:creationId xmlns:p14="http://schemas.microsoft.com/office/powerpoint/2010/main" val="3711098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Title 1"/>
          <p:cNvSpPr txBox="1">
            <a:spLocks noGrp="1"/>
          </p:cNvSpPr>
          <p:nvPr>
            <p:ph type="title"/>
          </p:nvPr>
        </p:nvSpPr>
        <p:spPr>
          <a:xfrm>
            <a:off x="-1" y="80536"/>
            <a:ext cx="11775233" cy="787211"/>
          </a:xfrm>
          <a:prstGeom prst="rect">
            <a:avLst/>
          </a:prstGeom>
        </p:spPr>
        <p:txBody>
          <a:bodyPr anchor="ctr"/>
          <a:lstStyle/>
          <a:p>
            <a:pPr algn="l" defTabSz="2097023">
              <a:lnSpc>
                <a:spcPct val="80000"/>
              </a:lnSpc>
              <a:defRPr sz="6364" b="1"/>
            </a:pPr>
            <a:r>
              <a:rPr sz="3200" dirty="0"/>
              <a:t>Classification of Sensory Receptors -</a:t>
            </a:r>
            <a:r>
              <a:rPr sz="3200" dirty="0">
                <a:solidFill>
                  <a:srgbClr val="FF0000"/>
                </a:solidFill>
              </a:rPr>
              <a:t>By Location of stimuli</a:t>
            </a:r>
          </a:p>
        </p:txBody>
      </p:sp>
      <p:graphicFrame>
        <p:nvGraphicFramePr>
          <p:cNvPr id="5" name="Table 18"/>
          <p:cNvGraphicFramePr/>
          <p:nvPr/>
        </p:nvGraphicFramePr>
        <p:xfrm>
          <a:off x="254531" y="1464906"/>
          <a:ext cx="11520701" cy="1188720"/>
        </p:xfrm>
        <a:graphic>
          <a:graphicData uri="http://schemas.openxmlformats.org/drawingml/2006/table">
            <a:tbl>
              <a:tblPr/>
              <a:tblGrid>
                <a:gridCol w="5587503">
                  <a:extLst>
                    <a:ext uri="{9D8B030D-6E8A-4147-A177-3AD203B41FA5}">
                      <a16:colId xmlns:a16="http://schemas.microsoft.com/office/drawing/2014/main" val="20000"/>
                    </a:ext>
                  </a:extLst>
                </a:gridCol>
                <a:gridCol w="5933198">
                  <a:extLst>
                    <a:ext uri="{9D8B030D-6E8A-4147-A177-3AD203B41FA5}">
                      <a16:colId xmlns:a16="http://schemas.microsoft.com/office/drawing/2014/main" val="20001"/>
                    </a:ext>
                  </a:extLst>
                </a:gridCol>
              </a:tblGrid>
              <a:tr h="1006173">
                <a:tc>
                  <a:txBody>
                    <a:bodyPr/>
                    <a:lstStyle/>
                    <a:p>
                      <a:pPr algn="l">
                        <a:defRPr sz="1800"/>
                      </a:pPr>
                      <a:r>
                        <a:rPr sz="2400" dirty="0">
                          <a:solidFill>
                            <a:schemeClr val="tx1"/>
                          </a:solidFill>
                        </a:rPr>
                        <a:t>The three sensory receptors that are directly classified according to stimulus location include</a:t>
                      </a:r>
                    </a:p>
                  </a:txBody>
                  <a:tcPr marL="45720" marR="45720" horzOverflow="overflow">
                    <a:lnL w="25400">
                      <a:miter lim="400000"/>
                    </a:lnL>
                    <a:lnR w="101600">
                      <a:solidFill>
                        <a:srgbClr val="FFC000"/>
                      </a:solidFill>
                    </a:lnR>
                    <a:lnT w="25400">
                      <a:miter lim="400000"/>
                    </a:lnT>
                    <a:lnB w="25400">
                      <a:miter lim="400000"/>
                    </a:lnB>
                  </a:tcPr>
                </a:tc>
                <a:tc>
                  <a:txBody>
                    <a:bodyPr/>
                    <a:lstStyle/>
                    <a:p>
                      <a:pPr algn="l">
                        <a:buClr>
                          <a:srgbClr val="FFC000"/>
                        </a:buClr>
                        <a:buSzPct val="100000"/>
                        <a:buAutoNum type="arabicPeriod"/>
                        <a:defRPr sz="5200">
                          <a:solidFill>
                            <a:srgbClr val="FFC000"/>
                          </a:solidFill>
                        </a:defRPr>
                      </a:pPr>
                      <a:r>
                        <a:rPr sz="2400" dirty="0" err="1"/>
                        <a:t>Exteroceptors</a:t>
                      </a:r>
                      <a:endParaRPr sz="2400" dirty="0"/>
                    </a:p>
                    <a:p>
                      <a:pPr algn="l">
                        <a:buClr>
                          <a:srgbClr val="FFC000"/>
                        </a:buClr>
                        <a:buSzPct val="100000"/>
                        <a:buAutoNum type="arabicPeriod"/>
                        <a:defRPr sz="5200">
                          <a:solidFill>
                            <a:srgbClr val="FFC000"/>
                          </a:solidFill>
                        </a:defRPr>
                      </a:pPr>
                      <a:r>
                        <a:rPr sz="2400" dirty="0"/>
                        <a:t>Proprioceptors</a:t>
                      </a:r>
                    </a:p>
                    <a:p>
                      <a:pPr algn="l">
                        <a:buClr>
                          <a:srgbClr val="FFC000"/>
                        </a:buClr>
                        <a:buSzPct val="100000"/>
                        <a:buAutoNum type="arabicPeriod"/>
                        <a:defRPr sz="5200">
                          <a:solidFill>
                            <a:srgbClr val="FFC000"/>
                          </a:solidFill>
                        </a:defRPr>
                      </a:pPr>
                      <a:r>
                        <a:rPr sz="2400" dirty="0" err="1"/>
                        <a:t>Interoceptors</a:t>
                      </a:r>
                      <a:r>
                        <a:rPr sz="2400" dirty="0"/>
                        <a:t> or </a:t>
                      </a:r>
                      <a:r>
                        <a:rPr sz="2400" dirty="0" err="1"/>
                        <a:t>Visceroceptors</a:t>
                      </a:r>
                      <a:endParaRPr sz="2400" dirty="0"/>
                    </a:p>
                  </a:txBody>
                  <a:tcPr marL="45720" marR="45720" horzOverflow="overflow">
                    <a:lnL w="101600">
                      <a:solidFill>
                        <a:srgbClr val="FFC000"/>
                      </a:solidFill>
                    </a:lnL>
                    <a:lnR w="25400">
                      <a:miter lim="400000"/>
                    </a:lnR>
                    <a:lnT w="25400">
                      <a:miter lim="400000"/>
                    </a:lnT>
                    <a:lnB w="25400">
                      <a:miter lim="400000"/>
                    </a:lnB>
                  </a:tcPr>
                </a:tc>
                <a:extLst>
                  <a:ext uri="{0D108BD9-81ED-4DB2-BD59-A6C34878D82A}">
                    <a16:rowId xmlns:a16="http://schemas.microsoft.com/office/drawing/2014/main" val="10000"/>
                  </a:ext>
                </a:extLst>
              </a:tr>
            </a:tbl>
          </a:graphicData>
        </a:graphic>
      </p:graphicFrame>
      <p:graphicFrame>
        <p:nvGraphicFramePr>
          <p:cNvPr id="6" name="Table 18"/>
          <p:cNvGraphicFramePr/>
          <p:nvPr/>
        </p:nvGraphicFramePr>
        <p:xfrm>
          <a:off x="254531" y="3753705"/>
          <a:ext cx="11737110" cy="1798320"/>
        </p:xfrm>
        <a:graphic>
          <a:graphicData uri="http://schemas.openxmlformats.org/drawingml/2006/table">
            <a:tbl>
              <a:tblPr/>
              <a:tblGrid>
                <a:gridCol w="3621541">
                  <a:extLst>
                    <a:ext uri="{9D8B030D-6E8A-4147-A177-3AD203B41FA5}">
                      <a16:colId xmlns:a16="http://schemas.microsoft.com/office/drawing/2014/main" val="20000"/>
                    </a:ext>
                  </a:extLst>
                </a:gridCol>
                <a:gridCol w="8115569">
                  <a:extLst>
                    <a:ext uri="{9D8B030D-6E8A-4147-A177-3AD203B41FA5}">
                      <a16:colId xmlns:a16="http://schemas.microsoft.com/office/drawing/2014/main" val="20001"/>
                    </a:ext>
                  </a:extLst>
                </a:gridCol>
              </a:tblGrid>
              <a:tr h="981617">
                <a:tc>
                  <a:txBody>
                    <a:bodyPr/>
                    <a:lstStyle/>
                    <a:p>
                      <a:pPr algn="l">
                        <a:defRPr sz="5200" b="1">
                          <a:solidFill>
                            <a:srgbClr val="FFFF00"/>
                          </a:solidFill>
                        </a:defRPr>
                      </a:pPr>
                      <a:r>
                        <a:rPr sz="2800" dirty="0" err="1">
                          <a:solidFill>
                            <a:schemeClr val="tx1"/>
                          </a:solidFill>
                        </a:rPr>
                        <a:t>Exteroceptors</a:t>
                      </a:r>
                      <a:r>
                        <a:rPr sz="2800" dirty="0">
                          <a:solidFill>
                            <a:schemeClr val="tx1"/>
                          </a:solidFill>
                        </a:rPr>
                        <a:t>: </a:t>
                      </a:r>
                      <a:r>
                        <a:rPr sz="2800" b="0" dirty="0">
                          <a:solidFill>
                            <a:schemeClr val="tx1"/>
                          </a:solidFill>
                        </a:rPr>
                        <a:t>Any receptor that receives stimuli from the external environment</a:t>
                      </a:r>
                    </a:p>
                  </a:txBody>
                  <a:tcPr marL="45720" marR="45720" horzOverflow="overflow">
                    <a:lnL w="25400">
                      <a:miter lim="400000"/>
                    </a:lnL>
                    <a:lnR w="101600">
                      <a:solidFill>
                        <a:srgbClr val="FFC000"/>
                      </a:solidFill>
                    </a:lnR>
                    <a:lnT w="25400">
                      <a:miter lim="400000"/>
                    </a:lnT>
                    <a:lnB w="25400">
                      <a:miter lim="400000"/>
                    </a:lnB>
                  </a:tcPr>
                </a:tc>
                <a:tc>
                  <a:txBody>
                    <a:bodyPr/>
                    <a:lstStyle/>
                    <a:p>
                      <a:pPr algn="l">
                        <a:defRPr sz="5200">
                          <a:solidFill>
                            <a:srgbClr val="FFFFFF"/>
                          </a:solidFill>
                        </a:defRPr>
                      </a:pPr>
                      <a:r>
                        <a:rPr sz="2800" dirty="0">
                          <a:solidFill>
                            <a:schemeClr val="tx1"/>
                          </a:solidFill>
                        </a:rPr>
                        <a:t>They react to pressure, touch, pain, and temperature in the skin, and also include most receptors of the special senses (hearing, vision, smell, and taste)</a:t>
                      </a:r>
                    </a:p>
                  </a:txBody>
                  <a:tcPr marL="45720" marR="45720" horzOverflow="overflow">
                    <a:lnL w="101600">
                      <a:solidFill>
                        <a:srgbClr val="FFC000"/>
                      </a:solidFill>
                    </a:lnL>
                    <a:lnR w="25400">
                      <a:miter lim="400000"/>
                    </a:lnR>
                    <a:lnT w="25400">
                      <a:miter lim="400000"/>
                    </a:lnT>
                    <a:lnB w="25400">
                      <a:miter lim="400000"/>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554028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dvAuto="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Title 1"/>
          <p:cNvSpPr txBox="1">
            <a:spLocks noGrp="1"/>
          </p:cNvSpPr>
          <p:nvPr>
            <p:ph type="title"/>
          </p:nvPr>
        </p:nvSpPr>
        <p:spPr>
          <a:xfrm>
            <a:off x="82421" y="100584"/>
            <a:ext cx="11461103" cy="566928"/>
          </a:xfrm>
          <a:prstGeom prst="rect">
            <a:avLst/>
          </a:prstGeom>
        </p:spPr>
        <p:txBody>
          <a:bodyPr anchor="ctr"/>
          <a:lstStyle/>
          <a:p>
            <a:pPr algn="l" defTabSz="2097023">
              <a:lnSpc>
                <a:spcPct val="80000"/>
              </a:lnSpc>
              <a:defRPr sz="6364" b="1"/>
            </a:pPr>
            <a:r>
              <a:rPr sz="3200" dirty="0">
                <a:latin typeface="Cambria" panose="02040503050406030204" pitchFamily="18" charset="0"/>
                <a:ea typeface="Cambria" panose="02040503050406030204" pitchFamily="18" charset="0"/>
              </a:rPr>
              <a:t>Classification of Sensory Receptors -</a:t>
            </a:r>
            <a:r>
              <a:rPr sz="3200" dirty="0">
                <a:solidFill>
                  <a:srgbClr val="FF0000"/>
                </a:solidFill>
                <a:latin typeface="Cambria" panose="02040503050406030204" pitchFamily="18" charset="0"/>
                <a:ea typeface="Cambria" panose="02040503050406030204" pitchFamily="18" charset="0"/>
              </a:rPr>
              <a:t>By Location of stimuli</a:t>
            </a:r>
          </a:p>
        </p:txBody>
      </p:sp>
      <p:graphicFrame>
        <p:nvGraphicFramePr>
          <p:cNvPr id="5" name="Table 18"/>
          <p:cNvGraphicFramePr/>
          <p:nvPr/>
        </p:nvGraphicFramePr>
        <p:xfrm>
          <a:off x="261259" y="1056126"/>
          <a:ext cx="11103428" cy="1919277"/>
        </p:xfrm>
        <a:graphic>
          <a:graphicData uri="http://schemas.openxmlformats.org/drawingml/2006/table">
            <a:tbl>
              <a:tblPr/>
              <a:tblGrid>
                <a:gridCol w="3426015">
                  <a:extLst>
                    <a:ext uri="{9D8B030D-6E8A-4147-A177-3AD203B41FA5}">
                      <a16:colId xmlns:a16="http://schemas.microsoft.com/office/drawing/2014/main" val="20000"/>
                    </a:ext>
                  </a:extLst>
                </a:gridCol>
                <a:gridCol w="7677413">
                  <a:extLst>
                    <a:ext uri="{9D8B030D-6E8A-4147-A177-3AD203B41FA5}">
                      <a16:colId xmlns:a16="http://schemas.microsoft.com/office/drawing/2014/main" val="20001"/>
                    </a:ext>
                  </a:extLst>
                </a:gridCol>
              </a:tblGrid>
              <a:tr h="1919277">
                <a:tc>
                  <a:txBody>
                    <a:bodyPr/>
                    <a:lstStyle>
                      <a:lvl1pPr marL="0" algn="l" defTabSz="257175" rtl="0" eaLnBrk="1" latinLnBrk="0" hangingPunct="1">
                        <a:defRPr sz="1013" kern="1200">
                          <a:solidFill>
                            <a:schemeClr val="tx1"/>
                          </a:solidFill>
                          <a:latin typeface="Cambria"/>
                          <a:ea typeface="Cambria"/>
                          <a:cs typeface="Cambria"/>
                        </a:defRPr>
                      </a:lvl1pPr>
                      <a:lvl2pPr marL="257175" algn="l" defTabSz="257175" rtl="0" eaLnBrk="1" latinLnBrk="0" hangingPunct="1">
                        <a:defRPr sz="1013" kern="1200">
                          <a:solidFill>
                            <a:schemeClr val="tx1"/>
                          </a:solidFill>
                          <a:latin typeface="Cambria"/>
                          <a:ea typeface="Cambria"/>
                          <a:cs typeface="Cambria"/>
                        </a:defRPr>
                      </a:lvl2pPr>
                      <a:lvl3pPr marL="514350" algn="l" defTabSz="257175" rtl="0" eaLnBrk="1" latinLnBrk="0" hangingPunct="1">
                        <a:defRPr sz="1013" kern="1200">
                          <a:solidFill>
                            <a:schemeClr val="tx1"/>
                          </a:solidFill>
                          <a:latin typeface="Cambria"/>
                          <a:ea typeface="Cambria"/>
                          <a:cs typeface="Cambria"/>
                        </a:defRPr>
                      </a:lvl3pPr>
                      <a:lvl4pPr marL="771525" algn="l" defTabSz="257175" rtl="0" eaLnBrk="1" latinLnBrk="0" hangingPunct="1">
                        <a:defRPr sz="1013" kern="1200">
                          <a:solidFill>
                            <a:schemeClr val="tx1"/>
                          </a:solidFill>
                          <a:latin typeface="Cambria"/>
                          <a:ea typeface="Cambria"/>
                          <a:cs typeface="Cambria"/>
                        </a:defRPr>
                      </a:lvl4pPr>
                      <a:lvl5pPr marL="1028700" algn="l" defTabSz="257175" rtl="0" eaLnBrk="1" latinLnBrk="0" hangingPunct="1">
                        <a:defRPr sz="1013" kern="1200">
                          <a:solidFill>
                            <a:schemeClr val="tx1"/>
                          </a:solidFill>
                          <a:latin typeface="Cambria"/>
                          <a:ea typeface="Cambria"/>
                          <a:cs typeface="Cambria"/>
                        </a:defRPr>
                      </a:lvl5pPr>
                      <a:lvl6pPr marL="1285875" algn="l" defTabSz="257175" rtl="0" eaLnBrk="1" latinLnBrk="0" hangingPunct="1">
                        <a:defRPr sz="1013" kern="1200">
                          <a:solidFill>
                            <a:schemeClr val="tx1"/>
                          </a:solidFill>
                          <a:latin typeface="Cambria"/>
                          <a:ea typeface="Cambria"/>
                          <a:cs typeface="Cambria"/>
                        </a:defRPr>
                      </a:lvl6pPr>
                      <a:lvl7pPr marL="1543050" algn="l" defTabSz="257175" rtl="0" eaLnBrk="1" latinLnBrk="0" hangingPunct="1">
                        <a:defRPr sz="1013" kern="1200">
                          <a:solidFill>
                            <a:schemeClr val="tx1"/>
                          </a:solidFill>
                          <a:latin typeface="Cambria"/>
                          <a:ea typeface="Cambria"/>
                          <a:cs typeface="Cambria"/>
                        </a:defRPr>
                      </a:lvl7pPr>
                      <a:lvl8pPr marL="1800225" algn="l" defTabSz="257175" rtl="0" eaLnBrk="1" latinLnBrk="0" hangingPunct="1">
                        <a:defRPr sz="1013" kern="1200">
                          <a:solidFill>
                            <a:schemeClr val="tx1"/>
                          </a:solidFill>
                          <a:latin typeface="Cambria"/>
                          <a:ea typeface="Cambria"/>
                          <a:cs typeface="Cambria"/>
                        </a:defRPr>
                      </a:lvl8pPr>
                      <a:lvl9pPr marL="2057400" algn="l" defTabSz="257175" rtl="0" eaLnBrk="1" latinLnBrk="0" hangingPunct="1">
                        <a:defRPr sz="1013" kern="1200">
                          <a:solidFill>
                            <a:schemeClr val="tx1"/>
                          </a:solidFill>
                          <a:latin typeface="Cambria"/>
                          <a:ea typeface="Cambria"/>
                          <a:cs typeface="Cambria"/>
                        </a:defRPr>
                      </a:lvl9pPr>
                    </a:lstStyle>
                    <a:p>
                      <a:pPr algn="ctr">
                        <a:defRPr sz="1800"/>
                      </a:pPr>
                      <a:r>
                        <a:rPr sz="2800" b="1" dirty="0" err="1">
                          <a:solidFill>
                            <a:srgbClr val="FFC000"/>
                          </a:solidFill>
                        </a:rPr>
                        <a:t>Interoceptors</a:t>
                      </a:r>
                      <a:r>
                        <a:rPr sz="2800" b="1" dirty="0">
                          <a:solidFill>
                            <a:srgbClr val="FFC000"/>
                          </a:solidFill>
                        </a:rPr>
                        <a:t> or </a:t>
                      </a:r>
                      <a:r>
                        <a:rPr sz="2800" b="1" dirty="0" err="1">
                          <a:solidFill>
                            <a:srgbClr val="FFC000"/>
                          </a:solidFill>
                        </a:rPr>
                        <a:t>Visceroceptors</a:t>
                      </a:r>
                      <a:r>
                        <a:rPr sz="2800" b="1" dirty="0">
                          <a:solidFill>
                            <a:srgbClr val="FFC000"/>
                          </a:solidFill>
                        </a:rPr>
                        <a:t> </a:t>
                      </a:r>
                    </a:p>
                  </a:txBody>
                  <a:tcPr marL="45720" marR="45720" anchor="ctr" horzOverflow="overflow">
                    <a:lnL w="25400">
                      <a:miter lim="400000"/>
                    </a:lnL>
                    <a:lnR w="101600">
                      <a:solidFill>
                        <a:srgbClr val="FFC000"/>
                      </a:solidFill>
                    </a:lnR>
                    <a:lnT w="25400">
                      <a:miter lim="400000"/>
                    </a:lnT>
                    <a:lnB w="25400">
                      <a:miter lim="400000"/>
                    </a:lnB>
                    <a:lnTlToBr w="12700" cmpd="sng">
                      <a:noFill/>
                      <a:prstDash val="solid"/>
                    </a:lnTlToBr>
                    <a:lnBlToTr w="12700" cmpd="sng">
                      <a:noFill/>
                      <a:prstDash val="solid"/>
                    </a:lnBlToTr>
                    <a:noFill/>
                  </a:tcPr>
                </a:tc>
                <a:tc>
                  <a:txBody>
                    <a:bodyPr/>
                    <a:lstStyle>
                      <a:lvl1pPr marL="0" algn="l" defTabSz="257175" rtl="0" eaLnBrk="1" latinLnBrk="0" hangingPunct="1">
                        <a:defRPr sz="1013" kern="1200">
                          <a:solidFill>
                            <a:schemeClr val="tx1"/>
                          </a:solidFill>
                          <a:latin typeface="Cambria"/>
                          <a:ea typeface="Cambria"/>
                          <a:cs typeface="Cambria"/>
                        </a:defRPr>
                      </a:lvl1pPr>
                      <a:lvl2pPr marL="257175" algn="l" defTabSz="257175" rtl="0" eaLnBrk="1" latinLnBrk="0" hangingPunct="1">
                        <a:defRPr sz="1013" kern="1200">
                          <a:solidFill>
                            <a:schemeClr val="tx1"/>
                          </a:solidFill>
                          <a:latin typeface="Cambria"/>
                          <a:ea typeface="Cambria"/>
                          <a:cs typeface="Cambria"/>
                        </a:defRPr>
                      </a:lvl2pPr>
                      <a:lvl3pPr marL="514350" algn="l" defTabSz="257175" rtl="0" eaLnBrk="1" latinLnBrk="0" hangingPunct="1">
                        <a:defRPr sz="1013" kern="1200">
                          <a:solidFill>
                            <a:schemeClr val="tx1"/>
                          </a:solidFill>
                          <a:latin typeface="Cambria"/>
                          <a:ea typeface="Cambria"/>
                          <a:cs typeface="Cambria"/>
                        </a:defRPr>
                      </a:lvl3pPr>
                      <a:lvl4pPr marL="771525" algn="l" defTabSz="257175" rtl="0" eaLnBrk="1" latinLnBrk="0" hangingPunct="1">
                        <a:defRPr sz="1013" kern="1200">
                          <a:solidFill>
                            <a:schemeClr val="tx1"/>
                          </a:solidFill>
                          <a:latin typeface="Cambria"/>
                          <a:ea typeface="Cambria"/>
                          <a:cs typeface="Cambria"/>
                        </a:defRPr>
                      </a:lvl4pPr>
                      <a:lvl5pPr marL="1028700" algn="l" defTabSz="257175" rtl="0" eaLnBrk="1" latinLnBrk="0" hangingPunct="1">
                        <a:defRPr sz="1013" kern="1200">
                          <a:solidFill>
                            <a:schemeClr val="tx1"/>
                          </a:solidFill>
                          <a:latin typeface="Cambria"/>
                          <a:ea typeface="Cambria"/>
                          <a:cs typeface="Cambria"/>
                        </a:defRPr>
                      </a:lvl5pPr>
                      <a:lvl6pPr marL="1285875" algn="l" defTabSz="257175" rtl="0" eaLnBrk="1" latinLnBrk="0" hangingPunct="1">
                        <a:defRPr sz="1013" kern="1200">
                          <a:solidFill>
                            <a:schemeClr val="tx1"/>
                          </a:solidFill>
                          <a:latin typeface="Cambria"/>
                          <a:ea typeface="Cambria"/>
                          <a:cs typeface="Cambria"/>
                        </a:defRPr>
                      </a:lvl6pPr>
                      <a:lvl7pPr marL="1543050" algn="l" defTabSz="257175" rtl="0" eaLnBrk="1" latinLnBrk="0" hangingPunct="1">
                        <a:defRPr sz="1013" kern="1200">
                          <a:solidFill>
                            <a:schemeClr val="tx1"/>
                          </a:solidFill>
                          <a:latin typeface="Cambria"/>
                          <a:ea typeface="Cambria"/>
                          <a:cs typeface="Cambria"/>
                        </a:defRPr>
                      </a:lvl7pPr>
                      <a:lvl8pPr marL="1800225" algn="l" defTabSz="257175" rtl="0" eaLnBrk="1" latinLnBrk="0" hangingPunct="1">
                        <a:defRPr sz="1013" kern="1200">
                          <a:solidFill>
                            <a:schemeClr val="tx1"/>
                          </a:solidFill>
                          <a:latin typeface="Cambria"/>
                          <a:ea typeface="Cambria"/>
                          <a:cs typeface="Cambria"/>
                        </a:defRPr>
                      </a:lvl8pPr>
                      <a:lvl9pPr marL="2057400" algn="l" defTabSz="257175" rtl="0" eaLnBrk="1" latinLnBrk="0" hangingPunct="1">
                        <a:defRPr sz="1013" kern="1200">
                          <a:solidFill>
                            <a:schemeClr val="tx1"/>
                          </a:solidFill>
                          <a:latin typeface="Cambria"/>
                          <a:ea typeface="Cambria"/>
                          <a:cs typeface="Cambria"/>
                        </a:defRPr>
                      </a:lvl9pPr>
                    </a:lstStyle>
                    <a:p>
                      <a:pPr algn="l">
                        <a:defRPr sz="1800"/>
                      </a:pPr>
                      <a:r>
                        <a:rPr sz="2800" dirty="0">
                          <a:solidFill>
                            <a:schemeClr val="tx1"/>
                          </a:solidFill>
                        </a:rPr>
                        <a:t>Any receptor that detects stimuli (chemical changes, temperature, and tissue stretching) from the internal environment (blood vessels, bladder, stomach, uterus </a:t>
                      </a:r>
                      <a:r>
                        <a:rPr sz="2800" dirty="0" err="1">
                          <a:solidFill>
                            <a:schemeClr val="tx1"/>
                          </a:solidFill>
                        </a:rPr>
                        <a:t>etc</a:t>
                      </a:r>
                      <a:r>
                        <a:rPr sz="2800" dirty="0">
                          <a:solidFill>
                            <a:schemeClr val="tx1"/>
                          </a:solidFill>
                        </a:rPr>
                        <a:t>)</a:t>
                      </a:r>
                    </a:p>
                  </a:txBody>
                  <a:tcPr marL="45720" marR="45720" horzOverflow="overflow">
                    <a:lnL w="101600">
                      <a:solidFill>
                        <a:srgbClr val="FFC000"/>
                      </a:solidFill>
                    </a:lnL>
                    <a:lnR w="25400">
                      <a:miter lim="400000"/>
                    </a:lnR>
                    <a:lnT w="25400">
                      <a:miter lim="400000"/>
                    </a:lnT>
                    <a:lnB w="25400">
                      <a:miter lim="400000"/>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6" name="Table 18"/>
          <p:cNvGraphicFramePr/>
          <p:nvPr/>
        </p:nvGraphicFramePr>
        <p:xfrm>
          <a:off x="121297" y="3553359"/>
          <a:ext cx="11738471" cy="2225040"/>
        </p:xfrm>
        <a:graphic>
          <a:graphicData uri="http://schemas.openxmlformats.org/drawingml/2006/table">
            <a:tbl>
              <a:tblPr/>
              <a:tblGrid>
                <a:gridCol w="5775775">
                  <a:extLst>
                    <a:ext uri="{9D8B030D-6E8A-4147-A177-3AD203B41FA5}">
                      <a16:colId xmlns:a16="http://schemas.microsoft.com/office/drawing/2014/main" val="20000"/>
                    </a:ext>
                  </a:extLst>
                </a:gridCol>
                <a:gridCol w="5962696">
                  <a:extLst>
                    <a:ext uri="{9D8B030D-6E8A-4147-A177-3AD203B41FA5}">
                      <a16:colId xmlns:a16="http://schemas.microsoft.com/office/drawing/2014/main" val="20001"/>
                    </a:ext>
                  </a:extLst>
                </a:gridCol>
              </a:tblGrid>
              <a:tr h="1819087">
                <a:tc>
                  <a:txBody>
                    <a:bodyPr/>
                    <a:lstStyle>
                      <a:lvl1pPr marL="0" algn="l" defTabSz="257175" rtl="0" eaLnBrk="1" latinLnBrk="0" hangingPunct="1">
                        <a:defRPr sz="1013" kern="1200">
                          <a:solidFill>
                            <a:schemeClr val="tx1"/>
                          </a:solidFill>
                          <a:latin typeface="Cambria"/>
                          <a:ea typeface="Cambria"/>
                          <a:cs typeface="Cambria"/>
                        </a:defRPr>
                      </a:lvl1pPr>
                      <a:lvl2pPr marL="257175" algn="l" defTabSz="257175" rtl="0" eaLnBrk="1" latinLnBrk="0" hangingPunct="1">
                        <a:defRPr sz="1013" kern="1200">
                          <a:solidFill>
                            <a:schemeClr val="tx1"/>
                          </a:solidFill>
                          <a:latin typeface="Cambria"/>
                          <a:ea typeface="Cambria"/>
                          <a:cs typeface="Cambria"/>
                        </a:defRPr>
                      </a:lvl2pPr>
                      <a:lvl3pPr marL="514350" algn="l" defTabSz="257175" rtl="0" eaLnBrk="1" latinLnBrk="0" hangingPunct="1">
                        <a:defRPr sz="1013" kern="1200">
                          <a:solidFill>
                            <a:schemeClr val="tx1"/>
                          </a:solidFill>
                          <a:latin typeface="Cambria"/>
                          <a:ea typeface="Cambria"/>
                          <a:cs typeface="Cambria"/>
                        </a:defRPr>
                      </a:lvl3pPr>
                      <a:lvl4pPr marL="771525" algn="l" defTabSz="257175" rtl="0" eaLnBrk="1" latinLnBrk="0" hangingPunct="1">
                        <a:defRPr sz="1013" kern="1200">
                          <a:solidFill>
                            <a:schemeClr val="tx1"/>
                          </a:solidFill>
                          <a:latin typeface="Cambria"/>
                          <a:ea typeface="Cambria"/>
                          <a:cs typeface="Cambria"/>
                        </a:defRPr>
                      </a:lvl4pPr>
                      <a:lvl5pPr marL="1028700" algn="l" defTabSz="257175" rtl="0" eaLnBrk="1" latinLnBrk="0" hangingPunct="1">
                        <a:defRPr sz="1013" kern="1200">
                          <a:solidFill>
                            <a:schemeClr val="tx1"/>
                          </a:solidFill>
                          <a:latin typeface="Cambria"/>
                          <a:ea typeface="Cambria"/>
                          <a:cs typeface="Cambria"/>
                        </a:defRPr>
                      </a:lvl5pPr>
                      <a:lvl6pPr marL="1285875" algn="l" defTabSz="257175" rtl="0" eaLnBrk="1" latinLnBrk="0" hangingPunct="1">
                        <a:defRPr sz="1013" kern="1200">
                          <a:solidFill>
                            <a:schemeClr val="tx1"/>
                          </a:solidFill>
                          <a:latin typeface="Cambria"/>
                          <a:ea typeface="Cambria"/>
                          <a:cs typeface="Cambria"/>
                        </a:defRPr>
                      </a:lvl6pPr>
                      <a:lvl7pPr marL="1543050" algn="l" defTabSz="257175" rtl="0" eaLnBrk="1" latinLnBrk="0" hangingPunct="1">
                        <a:defRPr sz="1013" kern="1200">
                          <a:solidFill>
                            <a:schemeClr val="tx1"/>
                          </a:solidFill>
                          <a:latin typeface="Cambria"/>
                          <a:ea typeface="Cambria"/>
                          <a:cs typeface="Cambria"/>
                        </a:defRPr>
                      </a:lvl7pPr>
                      <a:lvl8pPr marL="1800225" algn="l" defTabSz="257175" rtl="0" eaLnBrk="1" latinLnBrk="0" hangingPunct="1">
                        <a:defRPr sz="1013" kern="1200">
                          <a:solidFill>
                            <a:schemeClr val="tx1"/>
                          </a:solidFill>
                          <a:latin typeface="Cambria"/>
                          <a:ea typeface="Cambria"/>
                          <a:cs typeface="Cambria"/>
                        </a:defRPr>
                      </a:lvl8pPr>
                      <a:lvl9pPr marL="2057400" algn="l" defTabSz="257175" rtl="0" eaLnBrk="1" latinLnBrk="0" hangingPunct="1">
                        <a:defRPr sz="1013" kern="1200">
                          <a:solidFill>
                            <a:schemeClr val="tx1"/>
                          </a:solidFill>
                          <a:latin typeface="Cambria"/>
                          <a:ea typeface="Cambria"/>
                          <a:cs typeface="Cambria"/>
                        </a:defRPr>
                      </a:lvl9pPr>
                    </a:lstStyle>
                    <a:p>
                      <a:pPr algn="l">
                        <a:defRPr sz="5200" b="1">
                          <a:solidFill>
                            <a:srgbClr val="FFFF00"/>
                          </a:solidFill>
                        </a:defRPr>
                      </a:pPr>
                      <a:r>
                        <a:rPr sz="2800" dirty="0">
                          <a:solidFill>
                            <a:srgbClr val="FF0000"/>
                          </a:solidFill>
                        </a:rPr>
                        <a:t>Proprioceptors</a:t>
                      </a:r>
                      <a:r>
                        <a:rPr sz="2800" dirty="0"/>
                        <a:t> </a:t>
                      </a:r>
                      <a:r>
                        <a:rPr sz="2800" dirty="0">
                          <a:solidFill>
                            <a:schemeClr val="tx1"/>
                          </a:solidFill>
                        </a:rPr>
                        <a:t>are </a:t>
                      </a:r>
                      <a:r>
                        <a:rPr sz="2800" b="0" dirty="0">
                          <a:solidFill>
                            <a:schemeClr val="tx1"/>
                          </a:solidFill>
                        </a:rPr>
                        <a:t>located within connective tissue coverings of bones and muscles, and muscles spindles, joints capsules, tendons and inner ear</a:t>
                      </a:r>
                    </a:p>
                  </a:txBody>
                  <a:tcPr marL="45720" marR="45720" horzOverflow="overflow">
                    <a:lnL w="25400">
                      <a:miter lim="400000"/>
                    </a:lnL>
                    <a:lnR w="101600">
                      <a:solidFill>
                        <a:srgbClr val="FFC000"/>
                      </a:solidFill>
                    </a:lnR>
                    <a:lnT w="25400">
                      <a:miter lim="400000"/>
                    </a:lnT>
                    <a:lnB w="25400">
                      <a:miter lim="400000"/>
                    </a:lnB>
                    <a:lnTlToBr w="12700" cmpd="sng">
                      <a:noFill/>
                      <a:prstDash val="solid"/>
                    </a:lnTlToBr>
                    <a:lnBlToTr w="12700" cmpd="sng">
                      <a:noFill/>
                      <a:prstDash val="solid"/>
                    </a:lnBlToTr>
                    <a:noFill/>
                  </a:tcPr>
                </a:tc>
                <a:tc>
                  <a:txBody>
                    <a:bodyPr/>
                    <a:lstStyle>
                      <a:lvl1pPr marL="0" algn="l" defTabSz="257175" rtl="0" eaLnBrk="1" latinLnBrk="0" hangingPunct="1">
                        <a:defRPr sz="1013" kern="1200">
                          <a:solidFill>
                            <a:schemeClr val="tx1"/>
                          </a:solidFill>
                          <a:latin typeface="Cambria"/>
                          <a:ea typeface="Cambria"/>
                          <a:cs typeface="Cambria"/>
                        </a:defRPr>
                      </a:lvl1pPr>
                      <a:lvl2pPr marL="257175" algn="l" defTabSz="257175" rtl="0" eaLnBrk="1" latinLnBrk="0" hangingPunct="1">
                        <a:defRPr sz="1013" kern="1200">
                          <a:solidFill>
                            <a:schemeClr val="tx1"/>
                          </a:solidFill>
                          <a:latin typeface="Cambria"/>
                          <a:ea typeface="Cambria"/>
                          <a:cs typeface="Cambria"/>
                        </a:defRPr>
                      </a:lvl2pPr>
                      <a:lvl3pPr marL="514350" algn="l" defTabSz="257175" rtl="0" eaLnBrk="1" latinLnBrk="0" hangingPunct="1">
                        <a:defRPr sz="1013" kern="1200">
                          <a:solidFill>
                            <a:schemeClr val="tx1"/>
                          </a:solidFill>
                          <a:latin typeface="Cambria"/>
                          <a:ea typeface="Cambria"/>
                          <a:cs typeface="Cambria"/>
                        </a:defRPr>
                      </a:lvl3pPr>
                      <a:lvl4pPr marL="771525" algn="l" defTabSz="257175" rtl="0" eaLnBrk="1" latinLnBrk="0" hangingPunct="1">
                        <a:defRPr sz="1013" kern="1200">
                          <a:solidFill>
                            <a:schemeClr val="tx1"/>
                          </a:solidFill>
                          <a:latin typeface="Cambria"/>
                          <a:ea typeface="Cambria"/>
                          <a:cs typeface="Cambria"/>
                        </a:defRPr>
                      </a:lvl4pPr>
                      <a:lvl5pPr marL="1028700" algn="l" defTabSz="257175" rtl="0" eaLnBrk="1" latinLnBrk="0" hangingPunct="1">
                        <a:defRPr sz="1013" kern="1200">
                          <a:solidFill>
                            <a:schemeClr val="tx1"/>
                          </a:solidFill>
                          <a:latin typeface="Cambria"/>
                          <a:ea typeface="Cambria"/>
                          <a:cs typeface="Cambria"/>
                        </a:defRPr>
                      </a:lvl5pPr>
                      <a:lvl6pPr marL="1285875" algn="l" defTabSz="257175" rtl="0" eaLnBrk="1" latinLnBrk="0" hangingPunct="1">
                        <a:defRPr sz="1013" kern="1200">
                          <a:solidFill>
                            <a:schemeClr val="tx1"/>
                          </a:solidFill>
                          <a:latin typeface="Cambria"/>
                          <a:ea typeface="Cambria"/>
                          <a:cs typeface="Cambria"/>
                        </a:defRPr>
                      </a:lvl6pPr>
                      <a:lvl7pPr marL="1543050" algn="l" defTabSz="257175" rtl="0" eaLnBrk="1" latinLnBrk="0" hangingPunct="1">
                        <a:defRPr sz="1013" kern="1200">
                          <a:solidFill>
                            <a:schemeClr val="tx1"/>
                          </a:solidFill>
                          <a:latin typeface="Cambria"/>
                          <a:ea typeface="Cambria"/>
                          <a:cs typeface="Cambria"/>
                        </a:defRPr>
                      </a:lvl7pPr>
                      <a:lvl8pPr marL="1800225" algn="l" defTabSz="257175" rtl="0" eaLnBrk="1" latinLnBrk="0" hangingPunct="1">
                        <a:defRPr sz="1013" kern="1200">
                          <a:solidFill>
                            <a:schemeClr val="tx1"/>
                          </a:solidFill>
                          <a:latin typeface="Cambria"/>
                          <a:ea typeface="Cambria"/>
                          <a:cs typeface="Cambria"/>
                        </a:defRPr>
                      </a:lvl8pPr>
                      <a:lvl9pPr marL="2057400" algn="l" defTabSz="257175" rtl="0" eaLnBrk="1" latinLnBrk="0" hangingPunct="1">
                        <a:defRPr sz="1013" kern="1200">
                          <a:solidFill>
                            <a:schemeClr val="tx1"/>
                          </a:solidFill>
                          <a:latin typeface="Cambria"/>
                          <a:ea typeface="Cambria"/>
                          <a:cs typeface="Cambria"/>
                        </a:defRPr>
                      </a:lvl9pPr>
                    </a:lstStyle>
                    <a:p>
                      <a:pPr algn="l">
                        <a:defRPr sz="1800"/>
                      </a:pPr>
                      <a:r>
                        <a:rPr sz="2800" dirty="0">
                          <a:solidFill>
                            <a:schemeClr val="tx1"/>
                          </a:solidFill>
                        </a:rPr>
                        <a:t>provide information about the position of body segments relative to each other and the position of body and head in space and movement.</a:t>
                      </a:r>
                    </a:p>
                  </a:txBody>
                  <a:tcPr marL="45720" marR="45720" horzOverflow="overflow">
                    <a:lnL w="101600">
                      <a:solidFill>
                        <a:srgbClr val="FFC000"/>
                      </a:solidFill>
                    </a:lnL>
                    <a:lnR w="25400">
                      <a:miter lim="400000"/>
                    </a:lnR>
                    <a:lnT w="25400">
                      <a:miter lim="400000"/>
                    </a:lnT>
                    <a:lnB w="25400">
                      <a:miter lim="400000"/>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3630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dvAuto="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Text Placeholder 5"/>
          <p:cNvSpPr txBox="1">
            <a:spLocks/>
          </p:cNvSpPr>
          <p:nvPr/>
        </p:nvSpPr>
        <p:spPr>
          <a:xfrm>
            <a:off x="320039" y="711179"/>
            <a:ext cx="6803137" cy="5296429"/>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43799" tIns="243799" rIns="243799" bIns="243799">
            <a:normAutofit lnSpcReduction="10000"/>
          </a:bodyPr>
          <a:lstStyle>
            <a:lvl1pPr marL="1028700" marR="0" indent="-914400" algn="l" defTabSz="2438400" rtl="0" latinLnBrk="0">
              <a:lnSpc>
                <a:spcPct val="100000"/>
              </a:lnSpc>
              <a:spcBef>
                <a:spcPts val="1600"/>
              </a:spcBef>
              <a:spcAft>
                <a:spcPts val="0"/>
              </a:spcAft>
              <a:buClr>
                <a:srgbClr val="FFFFFF"/>
              </a:buClr>
              <a:buSzPts val="4800"/>
              <a:buFont typeface="Cambria"/>
              <a:buChar char="▪"/>
              <a:tabLst/>
              <a:defRPr sz="4800" b="0" i="0" u="none" strike="noStrike" cap="none" spc="0" baseline="0">
                <a:solidFill>
                  <a:srgbClr val="FFFFFF"/>
                </a:solidFill>
                <a:uFillTx/>
                <a:latin typeface="+mn-lt"/>
                <a:ea typeface="+mn-ea"/>
                <a:cs typeface="+mn-cs"/>
                <a:sym typeface="Cambria"/>
              </a:defRPr>
            </a:lvl1pPr>
            <a:lvl2pPr marL="1485900" marR="0" indent="-914400" algn="l" defTabSz="2438400" rtl="0" latinLnBrk="0">
              <a:lnSpc>
                <a:spcPct val="100000"/>
              </a:lnSpc>
              <a:spcBef>
                <a:spcPts val="1600"/>
              </a:spcBef>
              <a:spcAft>
                <a:spcPts val="0"/>
              </a:spcAft>
              <a:buClr>
                <a:srgbClr val="FFFFFF"/>
              </a:buClr>
              <a:buSzPts val="4800"/>
              <a:buFont typeface="Cambria"/>
              <a:buChar char="▫"/>
              <a:tabLst/>
              <a:defRPr sz="4800" b="0" i="0" u="none" strike="noStrike" cap="none" spc="0" baseline="0">
                <a:solidFill>
                  <a:srgbClr val="FFFFFF"/>
                </a:solidFill>
                <a:uFillTx/>
                <a:latin typeface="+mn-lt"/>
                <a:ea typeface="+mn-ea"/>
                <a:cs typeface="+mn-cs"/>
                <a:sym typeface="Cambria"/>
              </a:defRPr>
            </a:lvl2pPr>
            <a:lvl3pPr marL="1943100" marR="0" indent="-914400" algn="l" defTabSz="2438400" rtl="0" latinLnBrk="0">
              <a:lnSpc>
                <a:spcPct val="100000"/>
              </a:lnSpc>
              <a:spcBef>
                <a:spcPts val="1600"/>
              </a:spcBef>
              <a:spcAft>
                <a:spcPts val="0"/>
              </a:spcAft>
              <a:buClr>
                <a:srgbClr val="FFFFFF"/>
              </a:buClr>
              <a:buSzPts val="4800"/>
              <a:buFont typeface="Cambria"/>
              <a:buChar char="■"/>
              <a:tabLst/>
              <a:defRPr sz="4800" b="0" i="0" u="none" strike="noStrike" cap="none" spc="0" baseline="0">
                <a:solidFill>
                  <a:srgbClr val="FFFFFF"/>
                </a:solidFill>
                <a:uFillTx/>
                <a:latin typeface="+mn-lt"/>
                <a:ea typeface="+mn-ea"/>
                <a:cs typeface="+mn-cs"/>
                <a:sym typeface="Cambria"/>
              </a:defRPr>
            </a:lvl3pPr>
            <a:lvl4pPr marL="2400300" marR="0" indent="-914400" algn="l" defTabSz="2438400" rtl="0" latinLnBrk="0">
              <a:lnSpc>
                <a:spcPct val="100000"/>
              </a:lnSpc>
              <a:spcBef>
                <a:spcPts val="1600"/>
              </a:spcBef>
              <a:spcAft>
                <a:spcPts val="0"/>
              </a:spcAft>
              <a:buClr>
                <a:srgbClr val="FFFFFF"/>
              </a:buClr>
              <a:buSzPts val="4800"/>
              <a:buFont typeface="Cambria"/>
              <a:buChar char="●"/>
              <a:tabLst/>
              <a:defRPr sz="4800" b="0" i="0" u="none" strike="noStrike" cap="none" spc="0" baseline="0">
                <a:solidFill>
                  <a:srgbClr val="FFFFFF"/>
                </a:solidFill>
                <a:uFillTx/>
                <a:latin typeface="+mn-lt"/>
                <a:ea typeface="+mn-ea"/>
                <a:cs typeface="+mn-cs"/>
                <a:sym typeface="Cambria"/>
              </a:defRPr>
            </a:lvl4pPr>
            <a:lvl5pPr marL="2857500" marR="0" indent="-914400" algn="l" defTabSz="2438400" rtl="0" latinLnBrk="0">
              <a:lnSpc>
                <a:spcPct val="100000"/>
              </a:lnSpc>
              <a:spcBef>
                <a:spcPts val="1600"/>
              </a:spcBef>
              <a:spcAft>
                <a:spcPts val="0"/>
              </a:spcAft>
              <a:buClr>
                <a:srgbClr val="FFFFFF"/>
              </a:buClr>
              <a:buSzPts val="4800"/>
              <a:buFont typeface="Cambria"/>
              <a:buChar char="○"/>
              <a:tabLst/>
              <a:defRPr sz="4800" b="0" i="0" u="none" strike="noStrike" cap="none" spc="0" baseline="0">
                <a:solidFill>
                  <a:srgbClr val="FFFFFF"/>
                </a:solidFill>
                <a:uFillTx/>
                <a:latin typeface="+mn-lt"/>
                <a:ea typeface="+mn-ea"/>
                <a:cs typeface="+mn-cs"/>
                <a:sym typeface="Cambria"/>
              </a:defRPr>
            </a:lvl5pPr>
            <a:lvl6pPr marL="31877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6pPr>
            <a:lvl7pPr marL="36449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7pPr>
            <a:lvl8pPr marL="41021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8pPr>
            <a:lvl9pPr marL="45593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9pPr>
          </a:lstStyle>
          <a:p>
            <a:pPr marL="114300" marR="0" lvl="0" indent="0" algn="l" defTabSz="2438400" rtl="0" eaLnBrk="1" fontAlgn="auto" latinLnBrk="0" hangingPunct="1">
              <a:lnSpc>
                <a:spcPct val="72000"/>
              </a:lnSpc>
              <a:spcBef>
                <a:spcPts val="1600"/>
              </a:spcBef>
              <a:spcAft>
                <a:spcPts val="0"/>
              </a:spcAft>
              <a:buClr>
                <a:srgbClr val="FFC000"/>
              </a:buClr>
              <a:buSzPts val="4800"/>
              <a:buFont typeface="Cambria"/>
              <a:buNone/>
              <a:tabLst/>
              <a:defRPr b="1">
                <a:solidFill>
                  <a:srgbClr val="FFC000"/>
                </a:solidFill>
              </a:defRPr>
            </a:pPr>
            <a:r>
              <a:rPr kumimoji="0" lang="en-US" sz="2400" b="1" i="0" u="none" strike="noStrike" kern="0" cap="none" spc="0" normalizeH="0" baseline="0" noProof="0" dirty="0">
                <a:ln>
                  <a:noFill/>
                </a:ln>
                <a:solidFill>
                  <a:srgbClr val="FFC000"/>
                </a:solidFill>
                <a:effectLst/>
                <a:uLnTx/>
                <a:uFillTx/>
                <a:latin typeface="Cambria"/>
                <a:ea typeface="Cambria"/>
                <a:cs typeface="+mn-cs"/>
                <a:sym typeface="Cambria"/>
              </a:rPr>
              <a:t>A. Free nerve endings</a:t>
            </a:r>
            <a:endParaRPr kumimoji="0" lang="en-US" sz="2000" b="1" i="0" u="none" strike="noStrike" kern="0" cap="none" spc="0" normalizeH="0" baseline="0" noProof="0" dirty="0">
              <a:ln>
                <a:noFill/>
              </a:ln>
              <a:solidFill>
                <a:srgbClr val="FFC000"/>
              </a:solidFill>
              <a:effectLst/>
              <a:uLnTx/>
              <a:uFillTx/>
              <a:latin typeface="Cambria"/>
              <a:ea typeface="Cambria"/>
              <a:cs typeface="+mn-cs"/>
              <a:sym typeface="Cambria"/>
            </a:endParaRPr>
          </a:p>
          <a:p>
            <a:pPr marL="1485900" marR="0" lvl="1" indent="-914400" algn="l" defTabSz="2438400" rtl="0" eaLnBrk="1" fontAlgn="auto" latinLnBrk="0" hangingPunct="1">
              <a:lnSpc>
                <a:spcPct val="72000"/>
              </a:lnSpc>
              <a:spcBef>
                <a:spcPts val="1600"/>
              </a:spcBef>
              <a:spcAft>
                <a:spcPts val="0"/>
              </a:spcAft>
              <a:buClr>
                <a:srgbClr val="FFC000"/>
              </a:buClr>
              <a:buSzPts val="4800"/>
              <a:buFont typeface="Cambria"/>
              <a:buChar char="▫"/>
              <a:tabLst/>
              <a:defRPr/>
            </a:pPr>
            <a:r>
              <a:rPr kumimoji="0" lang="en-US" sz="2400" b="0" i="0" u="none" strike="noStrike" kern="0" cap="none" spc="0" normalizeH="0" baseline="0" noProof="0" dirty="0">
                <a:ln>
                  <a:noFill/>
                </a:ln>
                <a:solidFill>
                  <a:prstClr val="black"/>
                </a:solidFill>
                <a:effectLst/>
                <a:uLnTx/>
                <a:uFillTx/>
                <a:latin typeface="Cambria"/>
                <a:ea typeface="Cambria"/>
                <a:cs typeface="+mn-cs"/>
                <a:sym typeface="Cambria"/>
              </a:rPr>
              <a:t>bare dendrites</a:t>
            </a:r>
            <a:endParaRPr kumimoji="0" lang="en-US" sz="2000" b="0" i="0" u="none" strike="noStrike" kern="0" cap="none" spc="0" normalizeH="0" baseline="0" noProof="0" dirty="0">
              <a:ln>
                <a:noFill/>
              </a:ln>
              <a:solidFill>
                <a:prstClr val="black"/>
              </a:solidFill>
              <a:effectLst/>
              <a:uLnTx/>
              <a:uFillTx/>
              <a:latin typeface="Cambria"/>
              <a:ea typeface="Cambria"/>
              <a:cs typeface="+mn-cs"/>
              <a:sym typeface="Cambria"/>
            </a:endParaRPr>
          </a:p>
          <a:p>
            <a:pPr marL="1485900" marR="0" lvl="1" indent="-914400" algn="l" defTabSz="2438400" rtl="0" eaLnBrk="1" fontAlgn="auto" latinLnBrk="0" hangingPunct="1">
              <a:lnSpc>
                <a:spcPct val="72000"/>
              </a:lnSpc>
              <a:spcBef>
                <a:spcPts val="1600"/>
              </a:spcBef>
              <a:spcAft>
                <a:spcPts val="0"/>
              </a:spcAft>
              <a:buClr>
                <a:srgbClr val="FFC000"/>
              </a:buClr>
              <a:buSzPts val="4800"/>
              <a:buFont typeface="Cambria"/>
              <a:buChar char="▫"/>
              <a:tabLst/>
              <a:defRPr/>
            </a:pPr>
            <a:r>
              <a:rPr kumimoji="0" lang="en-US" sz="2400" b="0" i="0" u="none" strike="noStrike" kern="0" cap="none" spc="0" normalizeH="0" baseline="0" noProof="0" dirty="0">
                <a:ln>
                  <a:noFill/>
                </a:ln>
                <a:solidFill>
                  <a:prstClr val="black"/>
                </a:solidFill>
                <a:effectLst/>
                <a:uLnTx/>
                <a:uFillTx/>
                <a:latin typeface="Cambria"/>
                <a:ea typeface="Cambria"/>
                <a:cs typeface="+mn-cs"/>
                <a:sym typeface="Cambria"/>
              </a:rPr>
              <a:t>pain, temperature, tickle, itch and light touch</a:t>
            </a:r>
            <a:endParaRPr kumimoji="0" lang="en-US" sz="2000" b="0" i="0" u="none" strike="noStrike" kern="0" cap="none" spc="0" normalizeH="0" baseline="0" noProof="0" dirty="0">
              <a:ln>
                <a:noFill/>
              </a:ln>
              <a:solidFill>
                <a:prstClr val="black"/>
              </a:solidFill>
              <a:effectLst/>
              <a:uLnTx/>
              <a:uFillTx/>
              <a:latin typeface="Cambria"/>
              <a:ea typeface="Cambria"/>
              <a:cs typeface="+mn-cs"/>
              <a:sym typeface="Cambria"/>
            </a:endParaRPr>
          </a:p>
          <a:p>
            <a:pPr marL="114300" marR="0" lvl="0" indent="0" algn="l" defTabSz="2438400" rtl="0" eaLnBrk="1" fontAlgn="auto" latinLnBrk="0" hangingPunct="1">
              <a:lnSpc>
                <a:spcPct val="72000"/>
              </a:lnSpc>
              <a:spcBef>
                <a:spcPts val="3200"/>
              </a:spcBef>
              <a:spcAft>
                <a:spcPts val="0"/>
              </a:spcAft>
              <a:buClr>
                <a:srgbClr val="FFC000"/>
              </a:buClr>
              <a:buSzPts val="4800"/>
              <a:buFont typeface="Cambria"/>
              <a:buNone/>
              <a:tabLst/>
              <a:defRPr b="1">
                <a:solidFill>
                  <a:srgbClr val="FFC000"/>
                </a:solidFill>
              </a:defRPr>
            </a:pPr>
            <a:r>
              <a:rPr kumimoji="0" lang="en-US" sz="2400" b="1" i="0" u="none" strike="noStrike" kern="0" cap="none" spc="0" normalizeH="0" baseline="0" noProof="0" dirty="0">
                <a:ln>
                  <a:noFill/>
                </a:ln>
                <a:solidFill>
                  <a:srgbClr val="FFC000"/>
                </a:solidFill>
                <a:effectLst/>
                <a:uLnTx/>
                <a:uFillTx/>
                <a:latin typeface="Cambria"/>
                <a:ea typeface="Cambria"/>
                <a:cs typeface="+mn-cs"/>
                <a:sym typeface="Cambria"/>
              </a:rPr>
              <a:t>B. Encapsulated nerve endings</a:t>
            </a:r>
            <a:endParaRPr kumimoji="0" lang="en-US" sz="2000" b="1" i="0" u="none" strike="noStrike" kern="0" cap="none" spc="0" normalizeH="0" baseline="0" noProof="0" dirty="0">
              <a:ln>
                <a:noFill/>
              </a:ln>
              <a:solidFill>
                <a:srgbClr val="FFC000"/>
              </a:solidFill>
              <a:effectLst/>
              <a:uLnTx/>
              <a:uFillTx/>
              <a:latin typeface="Cambria"/>
              <a:ea typeface="Cambria"/>
              <a:cs typeface="+mn-cs"/>
              <a:sym typeface="Cambria"/>
            </a:endParaRPr>
          </a:p>
          <a:p>
            <a:pPr marL="1485900" marR="0" lvl="1" indent="-914400" algn="l" defTabSz="2438400" rtl="0" eaLnBrk="1" fontAlgn="auto" latinLnBrk="0" hangingPunct="1">
              <a:lnSpc>
                <a:spcPct val="72000"/>
              </a:lnSpc>
              <a:spcBef>
                <a:spcPts val="1600"/>
              </a:spcBef>
              <a:spcAft>
                <a:spcPts val="0"/>
              </a:spcAft>
              <a:buClr>
                <a:srgbClr val="FFC000"/>
              </a:buClr>
              <a:buSzPts val="4800"/>
              <a:buFont typeface="Cambria"/>
              <a:buChar char="▫"/>
              <a:tabLst/>
              <a:defRPr/>
            </a:pPr>
            <a:r>
              <a:rPr kumimoji="0" lang="en-US" sz="2400" b="0" i="0" u="none" strike="noStrike" kern="0" cap="none" spc="0" normalizeH="0" baseline="0" noProof="0" dirty="0">
                <a:ln>
                  <a:noFill/>
                </a:ln>
                <a:solidFill>
                  <a:prstClr val="black"/>
                </a:solidFill>
                <a:effectLst/>
                <a:uLnTx/>
                <a:uFillTx/>
                <a:latin typeface="Cambria"/>
                <a:ea typeface="Cambria"/>
                <a:cs typeface="+mn-cs"/>
                <a:sym typeface="Cambria"/>
              </a:rPr>
              <a:t>Dendrites enclosed in connective tissue capsule</a:t>
            </a:r>
            <a:endParaRPr kumimoji="0" lang="en-US" sz="2000" b="0" i="0" u="none" strike="noStrike" kern="0" cap="none" spc="0" normalizeH="0" baseline="0" noProof="0" dirty="0">
              <a:ln>
                <a:noFill/>
              </a:ln>
              <a:solidFill>
                <a:prstClr val="black"/>
              </a:solidFill>
              <a:effectLst/>
              <a:uLnTx/>
              <a:uFillTx/>
              <a:latin typeface="Cambria"/>
              <a:ea typeface="Cambria"/>
              <a:cs typeface="+mn-cs"/>
              <a:sym typeface="Cambria"/>
            </a:endParaRPr>
          </a:p>
          <a:p>
            <a:pPr marL="1485900" marR="0" lvl="1" indent="-914400" algn="l" defTabSz="2438400" rtl="0" eaLnBrk="1" fontAlgn="auto" latinLnBrk="0" hangingPunct="1">
              <a:lnSpc>
                <a:spcPct val="72000"/>
              </a:lnSpc>
              <a:spcBef>
                <a:spcPts val="1600"/>
              </a:spcBef>
              <a:spcAft>
                <a:spcPts val="0"/>
              </a:spcAft>
              <a:buClr>
                <a:srgbClr val="FFC000"/>
              </a:buClr>
              <a:buSzPts val="4800"/>
              <a:buFont typeface="Cambria"/>
              <a:buChar char="▫"/>
              <a:tabLst/>
              <a:defRPr/>
            </a:pPr>
            <a:r>
              <a:rPr kumimoji="0" lang="en-US" sz="2400" b="0" i="0" u="none" strike="noStrike" kern="0" cap="none" spc="0" normalizeH="0" baseline="0" noProof="0" dirty="0">
                <a:ln>
                  <a:noFill/>
                </a:ln>
                <a:solidFill>
                  <a:prstClr val="black"/>
                </a:solidFill>
                <a:effectLst/>
                <a:uLnTx/>
                <a:uFillTx/>
                <a:latin typeface="Cambria"/>
                <a:ea typeface="Cambria"/>
                <a:cs typeface="+mn-cs"/>
                <a:sym typeface="Cambria"/>
              </a:rPr>
              <a:t>Pressure, vibration and deep touch</a:t>
            </a:r>
            <a:endParaRPr kumimoji="0" lang="en-US" sz="2000" b="0" i="0" u="none" strike="noStrike" kern="0" cap="none" spc="0" normalizeH="0" baseline="0" noProof="0" dirty="0">
              <a:ln>
                <a:noFill/>
              </a:ln>
              <a:solidFill>
                <a:prstClr val="black"/>
              </a:solidFill>
              <a:effectLst/>
              <a:uLnTx/>
              <a:uFillTx/>
              <a:latin typeface="Cambria"/>
              <a:ea typeface="Cambria"/>
              <a:cs typeface="+mn-cs"/>
              <a:sym typeface="Cambria"/>
            </a:endParaRPr>
          </a:p>
          <a:p>
            <a:pPr marL="114300" marR="0" lvl="0" indent="0" algn="l" defTabSz="2438400" rtl="0" eaLnBrk="1" fontAlgn="auto" latinLnBrk="0" hangingPunct="1">
              <a:lnSpc>
                <a:spcPct val="72000"/>
              </a:lnSpc>
              <a:spcBef>
                <a:spcPts val="3200"/>
              </a:spcBef>
              <a:spcAft>
                <a:spcPts val="0"/>
              </a:spcAft>
              <a:buClr>
                <a:srgbClr val="FFC000"/>
              </a:buClr>
              <a:buSzPts val="4800"/>
              <a:buFont typeface="Cambria"/>
              <a:buNone/>
              <a:tabLst/>
              <a:defRPr b="1">
                <a:solidFill>
                  <a:srgbClr val="FFC000"/>
                </a:solidFill>
              </a:defRPr>
            </a:pPr>
            <a:r>
              <a:rPr kumimoji="0" lang="en-US" sz="2400" b="1" i="0" u="none" strike="noStrike" kern="0" cap="none" spc="0" normalizeH="0" baseline="0" noProof="0" dirty="0">
                <a:ln>
                  <a:noFill/>
                </a:ln>
                <a:solidFill>
                  <a:srgbClr val="FFC000"/>
                </a:solidFill>
                <a:effectLst/>
                <a:uLnTx/>
                <a:uFillTx/>
                <a:latin typeface="Cambria"/>
                <a:ea typeface="Cambria"/>
                <a:cs typeface="+mn-cs"/>
                <a:sym typeface="Cambria"/>
              </a:rPr>
              <a:t>C. Separate Sensory cells</a:t>
            </a:r>
            <a:endParaRPr kumimoji="0" lang="en-US" sz="2000" b="1" i="0" u="none" strike="noStrike" kern="0" cap="none" spc="0" normalizeH="0" baseline="0" noProof="0" dirty="0">
              <a:ln>
                <a:noFill/>
              </a:ln>
              <a:solidFill>
                <a:srgbClr val="FFC000"/>
              </a:solidFill>
              <a:effectLst/>
              <a:uLnTx/>
              <a:uFillTx/>
              <a:latin typeface="Cambria"/>
              <a:ea typeface="Cambria"/>
              <a:cs typeface="+mn-cs"/>
              <a:sym typeface="Cambria"/>
            </a:endParaRPr>
          </a:p>
          <a:p>
            <a:pPr marL="1485900" marR="0" lvl="1" indent="-914400" algn="l" defTabSz="2438400" rtl="0" eaLnBrk="1" fontAlgn="auto" latinLnBrk="0" hangingPunct="1">
              <a:lnSpc>
                <a:spcPct val="72000"/>
              </a:lnSpc>
              <a:spcBef>
                <a:spcPts val="1600"/>
              </a:spcBef>
              <a:spcAft>
                <a:spcPts val="0"/>
              </a:spcAft>
              <a:buClr>
                <a:srgbClr val="FFC000"/>
              </a:buClr>
              <a:buSzPts val="4800"/>
              <a:buFont typeface="Cambria"/>
              <a:buChar char="▫"/>
              <a:tabLst/>
              <a:defRPr/>
            </a:pPr>
            <a:r>
              <a:rPr kumimoji="0" lang="en-US" sz="2400" b="0" i="0" u="none" strike="noStrike" kern="0" cap="none" spc="0" normalizeH="0" baseline="0" noProof="0" dirty="0">
                <a:ln>
                  <a:noFill/>
                </a:ln>
                <a:solidFill>
                  <a:prstClr val="black"/>
                </a:solidFill>
                <a:effectLst/>
                <a:uLnTx/>
                <a:uFillTx/>
                <a:latin typeface="Cambria"/>
                <a:ea typeface="Cambria"/>
                <a:cs typeface="+mn-cs"/>
                <a:sym typeface="Cambria"/>
              </a:rPr>
              <a:t>Specialize cells that respond to stimuli</a:t>
            </a:r>
            <a:endParaRPr kumimoji="0" lang="en-US" sz="2000" b="0" i="0" u="none" strike="noStrike" kern="0" cap="none" spc="0" normalizeH="0" baseline="0" noProof="0" dirty="0">
              <a:ln>
                <a:noFill/>
              </a:ln>
              <a:solidFill>
                <a:prstClr val="black"/>
              </a:solidFill>
              <a:effectLst/>
              <a:uLnTx/>
              <a:uFillTx/>
              <a:latin typeface="Cambria"/>
              <a:ea typeface="Cambria"/>
              <a:cs typeface="+mn-cs"/>
              <a:sym typeface="Cambria"/>
            </a:endParaRPr>
          </a:p>
          <a:p>
            <a:pPr marL="1485900" marR="0" lvl="1" indent="-914400" algn="l" defTabSz="2438400" rtl="0" eaLnBrk="1" fontAlgn="auto" latinLnBrk="0" hangingPunct="1">
              <a:lnSpc>
                <a:spcPct val="72000"/>
              </a:lnSpc>
              <a:spcBef>
                <a:spcPts val="1600"/>
              </a:spcBef>
              <a:spcAft>
                <a:spcPts val="0"/>
              </a:spcAft>
              <a:buClr>
                <a:srgbClr val="FFC000"/>
              </a:buClr>
              <a:buSzPts val="4800"/>
              <a:buFont typeface="Cambria"/>
              <a:buChar char="▫"/>
              <a:tabLst/>
              <a:defRPr/>
            </a:pPr>
            <a:r>
              <a:rPr kumimoji="0" lang="en-US" sz="2400" b="0" i="0" u="none" strike="noStrike" kern="0" cap="none" spc="0" normalizeH="0" baseline="0" noProof="0" dirty="0">
                <a:ln>
                  <a:noFill/>
                </a:ln>
                <a:solidFill>
                  <a:prstClr val="black"/>
                </a:solidFill>
                <a:effectLst/>
                <a:uLnTx/>
                <a:uFillTx/>
                <a:latin typeface="Cambria"/>
                <a:ea typeface="Cambria"/>
                <a:cs typeface="+mn-cs"/>
                <a:sym typeface="Cambria"/>
              </a:rPr>
              <a:t>Vision, taste, hearing, balance</a:t>
            </a:r>
          </a:p>
        </p:txBody>
      </p:sp>
      <p:sp>
        <p:nvSpPr>
          <p:cNvPr id="5" name="Title 1"/>
          <p:cNvSpPr txBox="1">
            <a:spLocks/>
          </p:cNvSpPr>
          <p:nvPr/>
        </p:nvSpPr>
        <p:spPr>
          <a:xfrm>
            <a:off x="0" y="0"/>
            <a:ext cx="10607040" cy="711179"/>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43799" tIns="243799" rIns="243799" bIns="243799">
            <a:noAutofit/>
          </a:bodyPr>
          <a:lstStyle>
            <a:lvl1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1pPr>
            <a:lvl2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2pPr>
            <a:lvl3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3pPr>
            <a:lvl4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4pPr>
            <a:lvl5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5pPr>
            <a:lvl6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6pPr>
            <a:lvl7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7pPr>
            <a:lvl8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8pPr>
            <a:lvl9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9pPr>
          </a:lstStyle>
          <a:p>
            <a:pPr marL="0" marR="0" lvl="0" indent="0" algn="l" defTabSz="1950720" rtl="0" eaLnBrk="1" fontAlgn="auto" latinLnBrk="0" hangingPunct="1">
              <a:lnSpc>
                <a:spcPct val="100000"/>
              </a:lnSpc>
              <a:spcBef>
                <a:spcPts val="0"/>
              </a:spcBef>
              <a:spcAft>
                <a:spcPts val="0"/>
              </a:spcAft>
              <a:buClrTx/>
              <a:buSzTx/>
              <a:buFontTx/>
              <a:buNone/>
              <a:tabLst/>
              <a:defRPr sz="5920" b="1"/>
            </a:pPr>
            <a:r>
              <a:rPr kumimoji="0" lang="en-US" sz="2800" b="1" i="0" u="none" strike="noStrike" kern="0" cap="none" spc="0" normalizeH="0" baseline="0" noProof="0" dirty="0">
                <a:ln>
                  <a:noFill/>
                </a:ln>
                <a:solidFill>
                  <a:prstClr val="black"/>
                </a:solidFill>
                <a:effectLst/>
                <a:uLnTx/>
                <a:uFillTx/>
                <a:latin typeface="Cambria"/>
                <a:ea typeface="Cambria"/>
                <a:cs typeface="+mn-cs"/>
                <a:sym typeface="Cambria"/>
              </a:rPr>
              <a:t>Classification of Receptors </a:t>
            </a:r>
            <a:r>
              <a:rPr kumimoji="0" lang="en-US" sz="2800" b="1" i="0" u="none" strike="noStrike" kern="0" cap="none" spc="0" normalizeH="0" baseline="0" noProof="0" dirty="0">
                <a:ln>
                  <a:noFill/>
                </a:ln>
                <a:solidFill>
                  <a:srgbClr val="FF0000"/>
                </a:solidFill>
                <a:effectLst/>
                <a:uLnTx/>
                <a:uFillTx/>
                <a:latin typeface="Cambria"/>
                <a:ea typeface="Cambria"/>
                <a:cs typeface="+mn-cs"/>
                <a:sym typeface="Cambria"/>
              </a:rPr>
              <a:t>- By Morphology</a:t>
            </a:r>
          </a:p>
        </p:txBody>
      </p:sp>
      <p:pic>
        <p:nvPicPr>
          <p:cNvPr id="6" name="Picture 5"/>
          <p:cNvPicPr>
            <a:picLocks noChangeAspect="1"/>
          </p:cNvPicPr>
          <p:nvPr/>
        </p:nvPicPr>
        <p:blipFill>
          <a:blip r:embed="rId2"/>
          <a:stretch>
            <a:fillRect/>
          </a:stretch>
        </p:blipFill>
        <p:spPr>
          <a:xfrm>
            <a:off x="6732736" y="738357"/>
            <a:ext cx="5386112" cy="5242071"/>
          </a:xfrm>
          <a:prstGeom prst="rect">
            <a:avLst/>
          </a:prstGeom>
        </p:spPr>
      </p:pic>
    </p:spTree>
    <p:extLst>
      <p:ext uri="{BB962C8B-B14F-4D97-AF65-F5344CB8AC3E}">
        <p14:creationId xmlns:p14="http://schemas.microsoft.com/office/powerpoint/2010/main" val="29953571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Text Placeholder 9"/>
          <p:cNvSpPr txBox="1">
            <a:spLocks/>
          </p:cNvSpPr>
          <p:nvPr/>
        </p:nvSpPr>
        <p:spPr>
          <a:xfrm>
            <a:off x="461865" y="1217378"/>
            <a:ext cx="10562253" cy="4423244"/>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43799" tIns="243799" rIns="243799" bIns="243799">
            <a:normAutofit/>
          </a:bodyPr>
          <a:lstStyle>
            <a:lvl1pPr marL="9017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1pPr>
            <a:lvl2pPr marL="13589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2pPr>
            <a:lvl3pPr marL="18161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3pPr>
            <a:lvl4pPr marL="22733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4pPr>
            <a:lvl5pPr marL="27305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5pPr>
            <a:lvl6pPr marL="31877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6pPr>
            <a:lvl7pPr marL="36449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7pPr>
            <a:lvl8pPr marL="41021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8pPr>
            <a:lvl9pPr marL="45593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9pPr>
          </a:lstStyle>
          <a:p>
            <a:pPr marL="533400" marR="0" lvl="0" indent="-457200" algn="l" defTabSz="2389629" rtl="0" eaLnBrk="1" fontAlgn="auto" latinLnBrk="0" hangingPunct="1">
              <a:lnSpc>
                <a:spcPct val="80000"/>
              </a:lnSpc>
              <a:spcBef>
                <a:spcPts val="8000"/>
              </a:spcBef>
              <a:spcAft>
                <a:spcPts val="0"/>
              </a:spcAft>
              <a:buClrTx/>
              <a:buSzPct val="100000"/>
              <a:buFont typeface="+mj-lt"/>
              <a:buAutoNum type="arabicPeriod"/>
              <a:tabLst/>
              <a:defRPr/>
            </a:pPr>
            <a:r>
              <a:rPr kumimoji="0" lang="en-US" sz="2400" b="0" i="0" u="none" strike="noStrike" kern="0" cap="none" spc="0" normalizeH="0" baseline="0" noProof="0" dirty="0">
                <a:ln>
                  <a:noFill/>
                </a:ln>
                <a:solidFill>
                  <a:prstClr val="black"/>
                </a:solidFill>
                <a:effectLst/>
                <a:uLnTx/>
                <a:uFillTx/>
                <a:latin typeface="Cambria"/>
                <a:ea typeface="Cambria"/>
                <a:cs typeface="+mn-cs"/>
                <a:sym typeface="Cambria"/>
              </a:rPr>
              <a:t>Stimulus modality is defined by the type of energy to which the sensory receptor reacts e.g., light, sound, taste, temperature, smell, pressure, etc.</a:t>
            </a:r>
          </a:p>
          <a:p>
            <a:pPr marL="533400" marR="0" lvl="0" indent="-457200" algn="l" defTabSz="2389629" rtl="0" eaLnBrk="1" fontAlgn="auto" latinLnBrk="0" hangingPunct="1">
              <a:lnSpc>
                <a:spcPct val="80000"/>
              </a:lnSpc>
              <a:spcBef>
                <a:spcPts val="8000"/>
              </a:spcBef>
              <a:spcAft>
                <a:spcPts val="0"/>
              </a:spcAft>
              <a:buClrTx/>
              <a:buSzPct val="100000"/>
              <a:buFont typeface="+mj-lt"/>
              <a:buAutoNum type="arabicPeriod"/>
              <a:tabLst/>
              <a:defRPr/>
            </a:pPr>
            <a:r>
              <a:rPr kumimoji="0" lang="en-US" sz="2400" b="0" i="0" u="none" strike="noStrike" kern="0" cap="none" spc="0" normalizeH="0" baseline="0" noProof="0" dirty="0">
                <a:ln>
                  <a:noFill/>
                </a:ln>
                <a:solidFill>
                  <a:prstClr val="black"/>
                </a:solidFill>
                <a:effectLst/>
                <a:uLnTx/>
                <a:uFillTx/>
                <a:latin typeface="Cambria"/>
                <a:ea typeface="Cambria"/>
                <a:cs typeface="+mn-cs"/>
                <a:sym typeface="Cambria"/>
              </a:rPr>
              <a:t>Adequate stimulus is the ability of a sensory receptor to determine the stimulus modality.</a:t>
            </a:r>
          </a:p>
          <a:p>
            <a:pPr marL="533400" marR="0" lvl="0" indent="-457200" algn="l" defTabSz="2389629" rtl="0" eaLnBrk="1" fontAlgn="auto" latinLnBrk="0" hangingPunct="1">
              <a:lnSpc>
                <a:spcPct val="80000"/>
              </a:lnSpc>
              <a:spcBef>
                <a:spcPts val="8000"/>
              </a:spcBef>
              <a:spcAft>
                <a:spcPts val="0"/>
              </a:spcAft>
              <a:buClrTx/>
              <a:buSzPct val="100000"/>
              <a:buFont typeface="+mj-lt"/>
              <a:buAutoNum type="arabicPeriod"/>
              <a:tabLst/>
              <a:defRPr/>
            </a:pPr>
            <a:r>
              <a:rPr kumimoji="0" lang="en-US" sz="2400" b="0" i="0" u="none" strike="noStrike" kern="0" cap="none" spc="0" normalizeH="0" baseline="0" noProof="0" dirty="0">
                <a:ln>
                  <a:noFill/>
                </a:ln>
                <a:solidFill>
                  <a:prstClr val="black"/>
                </a:solidFill>
                <a:effectLst/>
                <a:uLnTx/>
                <a:uFillTx/>
                <a:latin typeface="Cambria"/>
                <a:ea typeface="Cambria"/>
                <a:cs typeface="+mn-cs"/>
                <a:sym typeface="Cambria"/>
              </a:rPr>
              <a:t>Sensory receptors that are classified according to their adequate stimulus include the following:</a:t>
            </a:r>
          </a:p>
        </p:txBody>
      </p:sp>
      <p:sp>
        <p:nvSpPr>
          <p:cNvPr id="5" name="Title 1"/>
          <p:cNvSpPr txBox="1">
            <a:spLocks/>
          </p:cNvSpPr>
          <p:nvPr/>
        </p:nvSpPr>
        <p:spPr>
          <a:xfrm>
            <a:off x="0" y="4293"/>
            <a:ext cx="11206065" cy="947429"/>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43799" tIns="243799" rIns="243799" bIns="243799">
            <a:normAutofit fontScale="97500" lnSpcReduction="10000"/>
          </a:bodyPr>
          <a:lstStyle>
            <a:lvl1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1pPr>
            <a:lvl2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2pPr>
            <a:lvl3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3pPr>
            <a:lvl4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4pPr>
            <a:lvl5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5pPr>
            <a:lvl6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6pPr>
            <a:lvl7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7pPr>
            <a:lvl8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8pPr>
            <a:lvl9pPr marL="0" marR="0" indent="0" algn="l" defTabSz="2438400" rtl="0" latinLnBrk="0">
              <a:lnSpc>
                <a:spcPct val="100000"/>
              </a:lnSpc>
              <a:spcBef>
                <a:spcPts val="0"/>
              </a:spcBef>
              <a:spcAft>
                <a:spcPts val="0"/>
              </a:spcAft>
              <a:buClrTx/>
              <a:buSzTx/>
              <a:buFontTx/>
              <a:buNone/>
              <a:tabLst/>
              <a:defRPr sz="8000" b="0" i="0" u="none" strike="noStrike" cap="none" spc="0" baseline="0">
                <a:solidFill>
                  <a:srgbClr val="FFFFFF"/>
                </a:solidFill>
                <a:uFillTx/>
                <a:latin typeface="+mn-lt"/>
                <a:ea typeface="+mn-ea"/>
                <a:cs typeface="+mn-cs"/>
                <a:sym typeface="Cambria"/>
              </a:defRPr>
            </a:lvl9pPr>
          </a:lstStyle>
          <a:p>
            <a:pPr marL="0" marR="0" lvl="0" indent="0" algn="l" defTabSz="1780032" rtl="0" eaLnBrk="1" fontAlgn="auto" latinLnBrk="0" hangingPunct="1">
              <a:lnSpc>
                <a:spcPct val="100000"/>
              </a:lnSpc>
              <a:spcBef>
                <a:spcPts val="0"/>
              </a:spcBef>
              <a:spcAft>
                <a:spcPts val="0"/>
              </a:spcAft>
              <a:buClrTx/>
              <a:buSzTx/>
              <a:buFontTx/>
              <a:buNone/>
              <a:tabLst/>
              <a:defRPr sz="6132" b="1"/>
            </a:pPr>
            <a:r>
              <a:rPr kumimoji="0" lang="en-US" sz="3200" b="1" i="0" u="none" strike="noStrike" kern="0" cap="none" spc="0" normalizeH="0" baseline="0" noProof="0" dirty="0">
                <a:ln>
                  <a:noFill/>
                </a:ln>
                <a:solidFill>
                  <a:prstClr val="black"/>
                </a:solidFill>
                <a:effectLst/>
                <a:uLnTx/>
                <a:uFillTx/>
                <a:latin typeface="Cambria"/>
                <a:ea typeface="Cambria"/>
                <a:cs typeface="+mn-cs"/>
                <a:sym typeface="Cambria"/>
              </a:rPr>
              <a:t>Classification of Receptors - </a:t>
            </a:r>
            <a:r>
              <a:rPr kumimoji="0" lang="en-US" sz="3200" b="1" i="0" u="none" strike="noStrike" kern="0" cap="none" spc="0" normalizeH="0" baseline="0" noProof="0" dirty="0">
                <a:ln>
                  <a:noFill/>
                </a:ln>
                <a:solidFill>
                  <a:srgbClr val="FF0000"/>
                </a:solidFill>
                <a:effectLst/>
                <a:uLnTx/>
                <a:uFillTx/>
                <a:latin typeface="Cambria"/>
                <a:ea typeface="Cambria"/>
                <a:cs typeface="+mn-cs"/>
                <a:sym typeface="Cambria"/>
              </a:rPr>
              <a:t>By Modality</a:t>
            </a:r>
          </a:p>
        </p:txBody>
      </p:sp>
    </p:spTree>
    <p:extLst>
      <p:ext uri="{BB962C8B-B14F-4D97-AF65-F5344CB8AC3E}">
        <p14:creationId xmlns:p14="http://schemas.microsoft.com/office/powerpoint/2010/main" val="680741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Text Placeholder 2"/>
          <p:cNvSpPr txBox="1">
            <a:spLocks/>
          </p:cNvSpPr>
          <p:nvPr/>
        </p:nvSpPr>
        <p:spPr>
          <a:xfrm>
            <a:off x="88700" y="867887"/>
            <a:ext cx="5507428" cy="4984273"/>
          </a:xfrm>
          <a:prstGeom prst="rect">
            <a:avLst/>
          </a:prstGeom>
        </p:spPr>
        <p:txBody>
          <a:bodyPr/>
          <a:lstStyle>
            <a:lvl1pPr marL="192881" indent="-192881" algn="l" defTabSz="257175" rtl="0" eaLnBrk="1" latinLnBrk="0" hangingPunct="1">
              <a:spcBef>
                <a:spcPct val="20000"/>
              </a:spcBef>
              <a:buFont typeface="Arial"/>
              <a:buChar char="•"/>
              <a:defRPr sz="1800" kern="1200">
                <a:solidFill>
                  <a:schemeClr val="tx1"/>
                </a:solidFill>
                <a:latin typeface="+mn-lt"/>
                <a:ea typeface="+mn-ea"/>
                <a:cs typeface="+mn-cs"/>
              </a:defRPr>
            </a:lvl1pPr>
            <a:lvl2pPr marL="417910" indent="-160735" algn="l" defTabSz="257175" rtl="0" eaLnBrk="1" latinLnBrk="0" hangingPunct="1">
              <a:spcBef>
                <a:spcPct val="20000"/>
              </a:spcBef>
              <a:buFont typeface="Arial"/>
              <a:buChar char="–"/>
              <a:defRPr sz="1575" kern="1200">
                <a:solidFill>
                  <a:schemeClr val="tx1"/>
                </a:solidFill>
                <a:latin typeface="+mn-lt"/>
                <a:ea typeface="+mn-ea"/>
                <a:cs typeface="+mn-cs"/>
              </a:defRPr>
            </a:lvl2pPr>
            <a:lvl3pPr marL="642938" indent="-128588" algn="l" defTabSz="257175" rtl="0" eaLnBrk="1" latinLnBrk="0" hangingPunct="1">
              <a:spcBef>
                <a:spcPct val="20000"/>
              </a:spcBef>
              <a:buFont typeface="Arial"/>
              <a:buChar char="•"/>
              <a:defRPr sz="1350" kern="1200">
                <a:solidFill>
                  <a:schemeClr val="tx1"/>
                </a:solidFill>
                <a:latin typeface="+mn-lt"/>
                <a:ea typeface="+mn-ea"/>
                <a:cs typeface="+mn-cs"/>
              </a:defRPr>
            </a:lvl3pPr>
            <a:lvl4pPr marL="900113" indent="-128588" algn="l" defTabSz="257175" rtl="0" eaLnBrk="1" latinLnBrk="0" hangingPunct="1">
              <a:spcBef>
                <a:spcPct val="20000"/>
              </a:spcBef>
              <a:buFont typeface="Arial"/>
              <a:buChar char="–"/>
              <a:defRPr sz="1125" kern="1200">
                <a:solidFill>
                  <a:schemeClr val="tx1"/>
                </a:solidFill>
                <a:latin typeface="+mn-lt"/>
                <a:ea typeface="+mn-ea"/>
                <a:cs typeface="+mn-cs"/>
              </a:defRPr>
            </a:lvl4pPr>
            <a:lvl5pPr marL="1157288" indent="-128588" algn="l" defTabSz="257175" rtl="0" eaLnBrk="1" latinLnBrk="0" hangingPunct="1">
              <a:spcBef>
                <a:spcPct val="20000"/>
              </a:spcBef>
              <a:buFont typeface="Arial"/>
              <a:buChar char="»"/>
              <a:defRPr sz="1125" kern="1200">
                <a:solidFill>
                  <a:schemeClr val="tx1"/>
                </a:solidFill>
                <a:latin typeface="+mn-lt"/>
                <a:ea typeface="+mn-ea"/>
                <a:cs typeface="+mn-cs"/>
              </a:defRPr>
            </a:lvl5pPr>
            <a:lvl6pPr marL="1414463" indent="-128588" algn="l" defTabSz="257175" rtl="0" eaLnBrk="1" latinLnBrk="0" hangingPunct="1">
              <a:spcBef>
                <a:spcPct val="20000"/>
              </a:spcBef>
              <a:buFont typeface="Arial"/>
              <a:buChar char="•"/>
              <a:defRPr sz="1125" kern="1200">
                <a:solidFill>
                  <a:schemeClr val="tx1"/>
                </a:solidFill>
                <a:latin typeface="+mn-lt"/>
                <a:ea typeface="+mn-ea"/>
                <a:cs typeface="+mn-cs"/>
              </a:defRPr>
            </a:lvl6pPr>
            <a:lvl7pPr marL="1671638" indent="-128588" algn="l" defTabSz="257175" rtl="0" eaLnBrk="1" latinLnBrk="0" hangingPunct="1">
              <a:spcBef>
                <a:spcPct val="20000"/>
              </a:spcBef>
              <a:buFont typeface="Arial"/>
              <a:buChar char="•"/>
              <a:defRPr sz="1125" kern="1200">
                <a:solidFill>
                  <a:schemeClr val="tx1"/>
                </a:solidFill>
                <a:latin typeface="+mn-lt"/>
                <a:ea typeface="+mn-ea"/>
                <a:cs typeface="+mn-cs"/>
              </a:defRPr>
            </a:lvl7pPr>
            <a:lvl8pPr marL="1928813" indent="-128588" algn="l" defTabSz="257175" rtl="0" eaLnBrk="1" latinLnBrk="0" hangingPunct="1">
              <a:spcBef>
                <a:spcPct val="20000"/>
              </a:spcBef>
              <a:buFont typeface="Arial"/>
              <a:buChar char="•"/>
              <a:defRPr sz="1125" kern="1200">
                <a:solidFill>
                  <a:schemeClr val="tx1"/>
                </a:solidFill>
                <a:latin typeface="+mn-lt"/>
                <a:ea typeface="+mn-ea"/>
                <a:cs typeface="+mn-cs"/>
              </a:defRPr>
            </a:lvl8pPr>
            <a:lvl9pPr marL="2185988" indent="-128588" algn="l" defTabSz="257175" rtl="0" eaLnBrk="1" latinLnBrk="0" hangingPunct="1">
              <a:spcBef>
                <a:spcPct val="20000"/>
              </a:spcBef>
              <a:buFont typeface="Arial"/>
              <a:buChar char="•"/>
              <a:defRPr sz="1125" kern="1200">
                <a:solidFill>
                  <a:schemeClr val="tx1"/>
                </a:solidFill>
                <a:latin typeface="+mn-lt"/>
                <a:ea typeface="+mn-ea"/>
                <a:cs typeface="+mn-cs"/>
              </a:defRPr>
            </a:lvl9pPr>
          </a:lstStyle>
          <a:p>
            <a:pPr marL="512763" marR="0" lvl="0" indent="-339725" algn="l" defTabSz="257175" rtl="0" eaLnBrk="1" fontAlgn="auto" latinLnBrk="0" hangingPunct="1">
              <a:lnSpc>
                <a:spcPct val="80000"/>
              </a:lnSpc>
              <a:spcBef>
                <a:spcPts val="4800"/>
              </a:spcBef>
              <a:spcAft>
                <a:spcPts val="0"/>
              </a:spcAft>
              <a:buClrTx/>
              <a:buSzPct val="80000"/>
              <a:buFontTx/>
              <a:buAutoNum type="arabicPeriod"/>
              <a:tabLst/>
              <a:defRPr sz="5200" b="1">
                <a:solidFill>
                  <a:srgbClr val="FFC000"/>
                </a:solidFill>
              </a:defRPr>
            </a:pPr>
            <a:r>
              <a:rPr kumimoji="0" lang="en-US" sz="2800" b="1" i="0" u="none" strike="noStrike" kern="1200" cap="none" spc="0" normalizeH="0" baseline="0" noProof="0" dirty="0" err="1">
                <a:ln>
                  <a:noFill/>
                </a:ln>
                <a:solidFill>
                  <a:srgbClr val="FFC000"/>
                </a:solidFill>
                <a:effectLst/>
                <a:uLnTx/>
                <a:uFillTx/>
                <a:latin typeface="Calibri"/>
                <a:ea typeface="+mn-ea"/>
                <a:cs typeface="+mn-cs"/>
              </a:rPr>
              <a:t>Thermoreceptors</a:t>
            </a:r>
            <a:r>
              <a:rPr kumimoji="0" lang="en-US" sz="28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 respond to temperature changes</a:t>
            </a:r>
          </a:p>
          <a:p>
            <a:pPr marL="512763" marR="0" lvl="0" indent="-339725" algn="l" defTabSz="257175" rtl="0" eaLnBrk="1" fontAlgn="auto" latinLnBrk="0" hangingPunct="1">
              <a:lnSpc>
                <a:spcPct val="80000"/>
              </a:lnSpc>
              <a:spcBef>
                <a:spcPts val="4800"/>
              </a:spcBef>
              <a:spcAft>
                <a:spcPts val="0"/>
              </a:spcAft>
              <a:buClrTx/>
              <a:buSzPct val="80000"/>
              <a:buFontTx/>
              <a:buAutoNum type="arabicPeriod"/>
              <a:tabLst/>
              <a:defRPr sz="5200" b="1">
                <a:solidFill>
                  <a:srgbClr val="FFC000"/>
                </a:solidFill>
              </a:defRPr>
            </a:pPr>
            <a:r>
              <a:rPr kumimoji="0" lang="en-US" sz="2800" b="1" i="0" u="none" strike="noStrike" kern="1200" cap="none" spc="0" normalizeH="0" baseline="0" noProof="0" dirty="0">
                <a:ln>
                  <a:noFill/>
                </a:ln>
                <a:solidFill>
                  <a:srgbClr val="FFC000"/>
                </a:solidFill>
                <a:effectLst/>
                <a:uLnTx/>
                <a:uFillTx/>
                <a:latin typeface="Calibri"/>
                <a:ea typeface="+mn-ea"/>
                <a:cs typeface="+mn-cs"/>
              </a:rPr>
              <a:t>Photoreceptors</a:t>
            </a:r>
            <a:r>
              <a:rPr kumimoji="0" lang="en-US" sz="28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 react to light, including the receptors in the retinas of the eyes.</a:t>
            </a:r>
          </a:p>
          <a:p>
            <a:pPr marL="512763" marR="0" lvl="0" indent="-339725" algn="l" defTabSz="257175" rtl="0" eaLnBrk="1" fontAlgn="auto" latinLnBrk="0" hangingPunct="1">
              <a:lnSpc>
                <a:spcPct val="80000"/>
              </a:lnSpc>
              <a:spcBef>
                <a:spcPts val="4800"/>
              </a:spcBef>
              <a:spcAft>
                <a:spcPts val="0"/>
              </a:spcAft>
              <a:buClrTx/>
              <a:buSzPct val="80000"/>
              <a:buFontTx/>
              <a:buAutoNum type="arabicPeriod"/>
              <a:tabLst/>
              <a:defRPr sz="5200" b="1">
                <a:solidFill>
                  <a:srgbClr val="FFC000"/>
                </a:solidFill>
              </a:defRPr>
            </a:pPr>
            <a:r>
              <a:rPr kumimoji="0" lang="en-US" sz="2800" b="1" i="0" u="none" strike="noStrike" kern="1200" cap="none" spc="0" normalizeH="0" baseline="0" noProof="0" dirty="0">
                <a:ln>
                  <a:noFill/>
                </a:ln>
                <a:solidFill>
                  <a:srgbClr val="FFC000"/>
                </a:solidFill>
                <a:effectLst/>
                <a:uLnTx/>
                <a:uFillTx/>
                <a:latin typeface="Calibri"/>
                <a:ea typeface="+mn-ea"/>
                <a:cs typeface="+mn-cs"/>
              </a:rPr>
              <a:t>Nociceptors</a:t>
            </a:r>
            <a:r>
              <a:rPr kumimoji="0" lang="en-US" sz="28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 respond to damaging stimuli, resulting in pain, which include extreme cold or heat, excessive pressure, and inflammatory chemicals</a:t>
            </a:r>
          </a:p>
        </p:txBody>
      </p:sp>
      <p:sp>
        <p:nvSpPr>
          <p:cNvPr id="7" name="Text Placeholder 4"/>
          <p:cNvSpPr txBox="1">
            <a:spLocks/>
          </p:cNvSpPr>
          <p:nvPr/>
        </p:nvSpPr>
        <p:spPr>
          <a:xfrm>
            <a:off x="5683608" y="867887"/>
            <a:ext cx="5898792" cy="49202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marL="192881" indent="-192881" algn="l" defTabSz="257175" rtl="0" eaLnBrk="1" latinLnBrk="0" hangingPunct="1">
              <a:spcBef>
                <a:spcPct val="20000"/>
              </a:spcBef>
              <a:buFont typeface="Arial"/>
              <a:buChar char="•"/>
              <a:defRPr sz="1800" kern="1200">
                <a:solidFill>
                  <a:schemeClr val="tx1"/>
                </a:solidFill>
                <a:latin typeface="+mn-lt"/>
                <a:ea typeface="+mn-ea"/>
                <a:cs typeface="+mn-cs"/>
              </a:defRPr>
            </a:lvl1pPr>
            <a:lvl2pPr marL="417910" indent="-160735" algn="l" defTabSz="257175" rtl="0" eaLnBrk="1" latinLnBrk="0" hangingPunct="1">
              <a:spcBef>
                <a:spcPct val="20000"/>
              </a:spcBef>
              <a:buFont typeface="Arial"/>
              <a:buChar char="–"/>
              <a:defRPr sz="1575" kern="1200">
                <a:solidFill>
                  <a:schemeClr val="tx1"/>
                </a:solidFill>
                <a:latin typeface="+mn-lt"/>
                <a:ea typeface="+mn-ea"/>
                <a:cs typeface="+mn-cs"/>
              </a:defRPr>
            </a:lvl2pPr>
            <a:lvl3pPr marL="642938" indent="-128588" algn="l" defTabSz="257175" rtl="0" eaLnBrk="1" latinLnBrk="0" hangingPunct="1">
              <a:spcBef>
                <a:spcPct val="20000"/>
              </a:spcBef>
              <a:buFont typeface="Arial"/>
              <a:buChar char="•"/>
              <a:defRPr sz="1350" kern="1200">
                <a:solidFill>
                  <a:schemeClr val="tx1"/>
                </a:solidFill>
                <a:latin typeface="+mn-lt"/>
                <a:ea typeface="+mn-ea"/>
                <a:cs typeface="+mn-cs"/>
              </a:defRPr>
            </a:lvl3pPr>
            <a:lvl4pPr marL="900113" indent="-128588" algn="l" defTabSz="257175" rtl="0" eaLnBrk="1" latinLnBrk="0" hangingPunct="1">
              <a:spcBef>
                <a:spcPct val="20000"/>
              </a:spcBef>
              <a:buFont typeface="Arial"/>
              <a:buChar char="–"/>
              <a:defRPr sz="1125" kern="1200">
                <a:solidFill>
                  <a:schemeClr val="tx1"/>
                </a:solidFill>
                <a:latin typeface="+mn-lt"/>
                <a:ea typeface="+mn-ea"/>
                <a:cs typeface="+mn-cs"/>
              </a:defRPr>
            </a:lvl4pPr>
            <a:lvl5pPr marL="1157288" indent="-128588" algn="l" defTabSz="257175" rtl="0" eaLnBrk="1" latinLnBrk="0" hangingPunct="1">
              <a:spcBef>
                <a:spcPct val="20000"/>
              </a:spcBef>
              <a:buFont typeface="Arial"/>
              <a:buChar char="»"/>
              <a:defRPr sz="1125" kern="1200">
                <a:solidFill>
                  <a:schemeClr val="tx1"/>
                </a:solidFill>
                <a:latin typeface="+mn-lt"/>
                <a:ea typeface="+mn-ea"/>
                <a:cs typeface="+mn-cs"/>
              </a:defRPr>
            </a:lvl5pPr>
            <a:lvl6pPr marL="1414463" indent="-128588" algn="l" defTabSz="257175" rtl="0" eaLnBrk="1" latinLnBrk="0" hangingPunct="1">
              <a:spcBef>
                <a:spcPct val="20000"/>
              </a:spcBef>
              <a:buFont typeface="Arial"/>
              <a:buChar char="•"/>
              <a:defRPr sz="1125" kern="1200">
                <a:solidFill>
                  <a:schemeClr val="tx1"/>
                </a:solidFill>
                <a:latin typeface="+mn-lt"/>
                <a:ea typeface="+mn-ea"/>
                <a:cs typeface="+mn-cs"/>
              </a:defRPr>
            </a:lvl6pPr>
            <a:lvl7pPr marL="1671638" indent="-128588" algn="l" defTabSz="257175" rtl="0" eaLnBrk="1" latinLnBrk="0" hangingPunct="1">
              <a:spcBef>
                <a:spcPct val="20000"/>
              </a:spcBef>
              <a:buFont typeface="Arial"/>
              <a:buChar char="•"/>
              <a:defRPr sz="1125" kern="1200">
                <a:solidFill>
                  <a:schemeClr val="tx1"/>
                </a:solidFill>
                <a:latin typeface="+mn-lt"/>
                <a:ea typeface="+mn-ea"/>
                <a:cs typeface="+mn-cs"/>
              </a:defRPr>
            </a:lvl7pPr>
            <a:lvl8pPr marL="1928813" indent="-128588" algn="l" defTabSz="257175" rtl="0" eaLnBrk="1" latinLnBrk="0" hangingPunct="1">
              <a:spcBef>
                <a:spcPct val="20000"/>
              </a:spcBef>
              <a:buFont typeface="Arial"/>
              <a:buChar char="•"/>
              <a:defRPr sz="1125" kern="1200">
                <a:solidFill>
                  <a:schemeClr val="tx1"/>
                </a:solidFill>
                <a:latin typeface="+mn-lt"/>
                <a:ea typeface="+mn-ea"/>
                <a:cs typeface="+mn-cs"/>
              </a:defRPr>
            </a:lvl8pPr>
            <a:lvl9pPr marL="2185988" indent="-128588" algn="l" defTabSz="257175" rtl="0" eaLnBrk="1" latinLnBrk="0" hangingPunct="1">
              <a:spcBef>
                <a:spcPct val="20000"/>
              </a:spcBef>
              <a:buFont typeface="Arial"/>
              <a:buChar char="•"/>
              <a:defRPr sz="1125" kern="1200">
                <a:solidFill>
                  <a:schemeClr val="tx1"/>
                </a:solidFill>
                <a:latin typeface="+mn-lt"/>
                <a:ea typeface="+mn-ea"/>
                <a:cs typeface="+mn-cs"/>
              </a:defRPr>
            </a:lvl9pPr>
          </a:lstStyle>
          <a:p>
            <a:pPr marL="1004888" marR="0" lvl="0" indent="-428625" algn="l" defTabSz="2438400" rtl="0" eaLnBrk="1" fontAlgn="auto" latinLnBrk="0" hangingPunct="1">
              <a:lnSpc>
                <a:spcPct val="100000"/>
              </a:lnSpc>
              <a:spcBef>
                <a:spcPts val="1600"/>
              </a:spcBef>
              <a:spcAft>
                <a:spcPts val="0"/>
              </a:spcAft>
              <a:buClrTx/>
              <a:buSzTx/>
              <a:buFontTx/>
              <a:buAutoNum type="arabicPeriod" startAt="4"/>
              <a:tabLst/>
              <a:defRPr b="1">
                <a:solidFill>
                  <a:srgbClr val="FFC000"/>
                </a:solidFill>
              </a:defRPr>
            </a:pPr>
            <a:r>
              <a:rPr kumimoji="0" lang="en-US" sz="2800" b="1" i="0" u="none" strike="noStrike" kern="1200" cap="none" spc="0" normalizeH="0" baseline="0" noProof="0" dirty="0">
                <a:ln>
                  <a:noFill/>
                </a:ln>
                <a:solidFill>
                  <a:srgbClr val="FFC000"/>
                </a:solidFill>
                <a:effectLst/>
                <a:uLnTx/>
                <a:uFillTx/>
                <a:latin typeface="Calibri"/>
                <a:ea typeface="+mn-ea"/>
                <a:cs typeface="+mn-cs"/>
              </a:rPr>
              <a:t>Chemoreceptors</a:t>
            </a:r>
            <a:r>
              <a:rPr kumimoji="0" lang="en-US" sz="2800" b="1" i="0" u="none" strike="noStrike" kern="1200" cap="none" spc="0" normalizeH="0" baseline="0" noProof="0" dirty="0">
                <a:ln>
                  <a:noFill/>
                </a:ln>
                <a:solidFill>
                  <a:srgbClr val="FFFFFF"/>
                </a:solidFill>
                <a:effectLst/>
                <a:uLnTx/>
                <a:uFillTx/>
                <a:latin typeface="Calibri"/>
                <a:ea typeface="+mn-ea"/>
                <a:cs typeface="+mn-cs"/>
              </a:rPr>
              <a:t>: </a:t>
            </a:r>
            <a:r>
              <a:rPr kumimoji="0" lang="en-US" sz="28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respond to chemicals in a solution, such as molecules that are tasted or smelled, or any changes in chemistries of blood or interstitial fluid</a:t>
            </a:r>
          </a:p>
          <a:p>
            <a:pPr marL="1004888" marR="0" lvl="0" indent="-428625" algn="l" defTabSz="2438400" rtl="0" eaLnBrk="1" fontAlgn="auto" latinLnBrk="0" hangingPunct="1">
              <a:lnSpc>
                <a:spcPct val="100000"/>
              </a:lnSpc>
              <a:spcBef>
                <a:spcPts val="1600"/>
              </a:spcBef>
              <a:spcAft>
                <a:spcPts val="0"/>
              </a:spcAft>
              <a:buClrTx/>
              <a:buSzTx/>
              <a:buFontTx/>
              <a:buAutoNum type="arabicPeriod" startAt="4"/>
              <a:tabLst/>
              <a:defRPr b="1">
                <a:solidFill>
                  <a:srgbClr val="FFC000"/>
                </a:solidFill>
              </a:defRPr>
            </a:pPr>
            <a:r>
              <a:rPr kumimoji="0" lang="en-US" sz="2800" b="1" i="0" u="none" strike="noStrike" kern="1200" cap="none" spc="0" normalizeH="0" baseline="0" noProof="0" dirty="0">
                <a:ln>
                  <a:noFill/>
                </a:ln>
                <a:solidFill>
                  <a:srgbClr val="FFC000"/>
                </a:solidFill>
                <a:effectLst/>
                <a:uLnTx/>
                <a:uFillTx/>
                <a:latin typeface="Calibri"/>
                <a:ea typeface="+mn-ea"/>
                <a:cs typeface="+mn-cs"/>
              </a:rPr>
              <a:t>Mechanoreceptors</a:t>
            </a:r>
            <a:r>
              <a:rPr kumimoji="0" lang="en-US" sz="2800" b="1" i="0" u="none" strike="noStrike" kern="1200" cap="none" spc="0" normalizeH="0" baseline="0" noProof="0" dirty="0">
                <a:ln>
                  <a:noFill/>
                </a:ln>
                <a:solidFill>
                  <a:srgbClr val="FFFFFF"/>
                </a:solidFill>
                <a:effectLst/>
                <a:uLnTx/>
                <a:uFillTx/>
                <a:latin typeface="Calibri"/>
                <a:ea typeface="+mn-ea"/>
                <a:cs typeface="+mn-cs"/>
              </a:rPr>
              <a:t>: </a:t>
            </a:r>
            <a:r>
              <a:rPr kumimoji="0" lang="en-US" sz="28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react to mechanical forces, including BP, other types of pressure, touch, stretching, and vibrations</a:t>
            </a:r>
          </a:p>
        </p:txBody>
      </p:sp>
    </p:spTree>
    <p:extLst>
      <p:ext uri="{BB962C8B-B14F-4D97-AF65-F5344CB8AC3E}">
        <p14:creationId xmlns:p14="http://schemas.microsoft.com/office/powerpoint/2010/main" val="677658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F4EC6C-B2D9-447D-B7D7-F8AF27CB0183}" type="slidenum">
              <a:rPr kumimoji="0" lang="en-US" sz="1013"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013"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Text Placeholder 7"/>
          <p:cNvSpPr txBox="1">
            <a:spLocks/>
          </p:cNvSpPr>
          <p:nvPr/>
        </p:nvSpPr>
        <p:spPr>
          <a:xfrm>
            <a:off x="178885" y="965197"/>
            <a:ext cx="10857634" cy="4927605"/>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43799" tIns="243799" rIns="243799" bIns="243799">
            <a:noAutofit/>
          </a:bodyPr>
          <a:lstStyle>
            <a:lvl1pPr marL="9017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1pPr>
            <a:lvl2pPr marL="13589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2pPr>
            <a:lvl3pPr marL="18161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3pPr>
            <a:lvl4pPr marL="22733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4pPr>
            <a:lvl5pPr marL="27305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5pPr>
            <a:lvl6pPr marL="31877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6pPr>
            <a:lvl7pPr marL="36449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7pPr>
            <a:lvl8pPr marL="41021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8pPr>
            <a:lvl9pPr marL="4559300" marR="0" indent="-825500" algn="just" defTabSz="2389629" rtl="0" latinLnBrk="0">
              <a:lnSpc>
                <a:spcPct val="80000"/>
              </a:lnSpc>
              <a:spcBef>
                <a:spcPts val="8000"/>
              </a:spcBef>
              <a:spcAft>
                <a:spcPts val="0"/>
              </a:spcAft>
              <a:buClr>
                <a:srgbClr val="FFFFFF"/>
              </a:buClr>
              <a:buSzPts val="5200"/>
              <a:buFont typeface="Cambria"/>
              <a:buChar char="■"/>
              <a:tabLst/>
              <a:defRPr sz="5200" b="0" i="0" u="none" strike="noStrike" cap="none" spc="0" baseline="0">
                <a:solidFill>
                  <a:srgbClr val="FFFFFF"/>
                </a:solidFill>
                <a:uFillTx/>
                <a:latin typeface="+mn-lt"/>
                <a:ea typeface="+mn-ea"/>
                <a:cs typeface="+mn-cs"/>
                <a:sym typeface="Cambria"/>
              </a:defRPr>
            </a:lvl9pPr>
          </a:lstStyle>
          <a:p>
            <a:pPr marL="0" marR="0" lvl="0" indent="76200" algn="just" defTabSz="2389629" rtl="0" eaLnBrk="1" fontAlgn="auto" latinLnBrk="0" hangingPunct="1">
              <a:lnSpc>
                <a:spcPct val="80000"/>
              </a:lnSpc>
              <a:spcBef>
                <a:spcPts val="1000"/>
              </a:spcBef>
              <a:spcAft>
                <a:spcPts val="0"/>
              </a:spcAft>
              <a:buClr>
                <a:srgbClr val="FFFFFF"/>
              </a:buClr>
              <a:buSzTx/>
              <a:buFont typeface="Cambria"/>
              <a:buNone/>
              <a:tabLst/>
              <a:defRPr/>
            </a:pPr>
            <a:r>
              <a:rPr kumimoji="0" lang="en-US" sz="3200" b="0" i="0" u="none" strike="noStrike" kern="0" cap="none" spc="0" normalizeH="0" baseline="0" noProof="0" dirty="0">
                <a:ln>
                  <a:noFill/>
                </a:ln>
                <a:solidFill>
                  <a:prstClr val="black">
                    <a:lumMod val="75000"/>
                    <a:lumOff val="25000"/>
                  </a:prstClr>
                </a:solidFill>
                <a:effectLst/>
                <a:uLnTx/>
                <a:uFillTx/>
                <a:latin typeface="Cambria"/>
                <a:ea typeface="Cambria"/>
                <a:cs typeface="+mn-cs"/>
                <a:sym typeface="Cambria"/>
              </a:rPr>
              <a:t>There are four classes of mechanoreceptors</a:t>
            </a:r>
          </a:p>
          <a:p>
            <a:pPr marL="514350" marR="0" lvl="0" indent="-514350" algn="just" defTabSz="2389629" rtl="0" eaLnBrk="1" fontAlgn="auto" latinLnBrk="0" hangingPunct="1">
              <a:lnSpc>
                <a:spcPct val="150000"/>
              </a:lnSpc>
              <a:spcBef>
                <a:spcPts val="1000"/>
              </a:spcBef>
              <a:spcAft>
                <a:spcPts val="0"/>
              </a:spcAft>
              <a:buClrTx/>
              <a:buSzTx/>
              <a:buFont typeface="+mj-lt"/>
              <a:buAutoNum type="arabicPeriod"/>
              <a:tabLst/>
              <a:defRPr/>
            </a:pPr>
            <a:r>
              <a:rPr kumimoji="0" lang="en-US" sz="3200" b="0" i="0" u="none" strike="noStrike" kern="0" cap="none" spc="0" normalizeH="0" baseline="0" noProof="0" dirty="0">
                <a:ln>
                  <a:noFill/>
                </a:ln>
                <a:solidFill>
                  <a:prstClr val="black">
                    <a:lumMod val="75000"/>
                    <a:lumOff val="25000"/>
                  </a:prstClr>
                </a:solidFill>
                <a:effectLst/>
                <a:uLnTx/>
                <a:uFillTx/>
                <a:latin typeface="Cambria"/>
                <a:ea typeface="Cambria"/>
                <a:cs typeface="+mn-cs"/>
                <a:sym typeface="Cambria"/>
              </a:rPr>
              <a:t>Tactile receptors</a:t>
            </a:r>
          </a:p>
          <a:p>
            <a:pPr marL="514350" marR="0" lvl="0" indent="-514350" algn="just" defTabSz="2389629" rtl="0" eaLnBrk="1" fontAlgn="auto" latinLnBrk="0" hangingPunct="1">
              <a:lnSpc>
                <a:spcPct val="150000"/>
              </a:lnSpc>
              <a:spcBef>
                <a:spcPts val="1000"/>
              </a:spcBef>
              <a:spcAft>
                <a:spcPts val="0"/>
              </a:spcAft>
              <a:buClrTx/>
              <a:buSzTx/>
              <a:buFont typeface="+mj-lt"/>
              <a:buAutoNum type="arabicPeriod"/>
              <a:tabLst/>
              <a:defRPr/>
            </a:pPr>
            <a:r>
              <a:rPr kumimoji="0" lang="en-US" sz="3200" b="0" i="0" u="none" strike="noStrike" kern="0" cap="none" spc="0" normalizeH="0" baseline="0" noProof="0" dirty="0">
                <a:ln>
                  <a:noFill/>
                </a:ln>
                <a:solidFill>
                  <a:prstClr val="black">
                    <a:lumMod val="75000"/>
                    <a:lumOff val="25000"/>
                  </a:prstClr>
                </a:solidFill>
                <a:effectLst/>
                <a:uLnTx/>
                <a:uFillTx/>
                <a:latin typeface="Cambria"/>
                <a:ea typeface="Cambria"/>
                <a:cs typeface="+mn-cs"/>
                <a:sym typeface="Cambria"/>
              </a:rPr>
              <a:t>Proprioceptors</a:t>
            </a:r>
          </a:p>
          <a:p>
            <a:pPr marL="514350" marR="0" lvl="0" indent="-514350" algn="just" defTabSz="2389629" rtl="0" eaLnBrk="1" fontAlgn="auto" latinLnBrk="0" hangingPunct="1">
              <a:lnSpc>
                <a:spcPct val="150000"/>
              </a:lnSpc>
              <a:spcBef>
                <a:spcPts val="1000"/>
              </a:spcBef>
              <a:spcAft>
                <a:spcPts val="0"/>
              </a:spcAft>
              <a:buClrTx/>
              <a:buSzTx/>
              <a:buFont typeface="+mj-lt"/>
              <a:buAutoNum type="arabicPeriod"/>
              <a:tabLst/>
              <a:defRPr/>
            </a:pPr>
            <a:r>
              <a:rPr kumimoji="0" lang="en-US" sz="3200" b="0" i="0" u="none" strike="noStrike" kern="0" cap="none" spc="0" normalizeH="0" baseline="0" noProof="0" dirty="0">
                <a:ln>
                  <a:noFill/>
                </a:ln>
                <a:solidFill>
                  <a:prstClr val="black">
                    <a:lumMod val="75000"/>
                    <a:lumOff val="25000"/>
                  </a:prstClr>
                </a:solidFill>
                <a:effectLst/>
                <a:uLnTx/>
                <a:uFillTx/>
                <a:latin typeface="Cambria"/>
                <a:ea typeface="Cambria"/>
                <a:cs typeface="+mn-cs"/>
                <a:sym typeface="Cambria"/>
              </a:rPr>
              <a:t>Baroreceptors</a:t>
            </a:r>
          </a:p>
          <a:p>
            <a:pPr marL="514350" marR="0" lvl="0" indent="-514350" algn="just" defTabSz="2389629" rtl="0" eaLnBrk="1" fontAlgn="auto" latinLnBrk="0" hangingPunct="1">
              <a:lnSpc>
                <a:spcPct val="150000"/>
              </a:lnSpc>
              <a:spcBef>
                <a:spcPts val="1000"/>
              </a:spcBef>
              <a:spcAft>
                <a:spcPts val="0"/>
              </a:spcAft>
              <a:buClrTx/>
              <a:buSzTx/>
              <a:buFont typeface="+mj-lt"/>
              <a:buAutoNum type="arabicPeriod"/>
              <a:tabLst/>
              <a:defRPr/>
            </a:pPr>
            <a:r>
              <a:rPr kumimoji="0" lang="en-US" sz="3200" b="0" i="0" u="none" strike="noStrike" kern="0" cap="none" spc="0" normalizeH="0" baseline="0" noProof="0" dirty="0">
                <a:ln>
                  <a:noFill/>
                </a:ln>
                <a:solidFill>
                  <a:prstClr val="black">
                    <a:lumMod val="75000"/>
                    <a:lumOff val="25000"/>
                  </a:prstClr>
                </a:solidFill>
                <a:effectLst/>
                <a:uLnTx/>
                <a:uFillTx/>
                <a:latin typeface="Cambria"/>
                <a:ea typeface="Cambria"/>
                <a:cs typeface="+mn-cs"/>
                <a:sym typeface="Cambria"/>
              </a:rPr>
              <a:t>Organ of </a:t>
            </a:r>
            <a:r>
              <a:rPr kumimoji="0" lang="en-US" sz="3200" b="0" i="0" u="none" strike="noStrike" kern="0" cap="none" spc="0" normalizeH="0" baseline="0" noProof="0" dirty="0" err="1">
                <a:ln>
                  <a:noFill/>
                </a:ln>
                <a:solidFill>
                  <a:prstClr val="black">
                    <a:lumMod val="75000"/>
                    <a:lumOff val="25000"/>
                  </a:prstClr>
                </a:solidFill>
                <a:effectLst/>
                <a:uLnTx/>
                <a:uFillTx/>
                <a:latin typeface="Cambria"/>
                <a:ea typeface="Cambria"/>
                <a:cs typeface="+mn-cs"/>
                <a:sym typeface="Cambria"/>
              </a:rPr>
              <a:t>Corti</a:t>
            </a:r>
            <a:r>
              <a:rPr kumimoji="0" lang="en-US" sz="3200" b="0" i="0" u="none" strike="noStrike" kern="0" cap="none" spc="0" normalizeH="0" baseline="0" noProof="0" dirty="0">
                <a:ln>
                  <a:noFill/>
                </a:ln>
                <a:solidFill>
                  <a:prstClr val="black">
                    <a:lumMod val="75000"/>
                    <a:lumOff val="25000"/>
                  </a:prstClr>
                </a:solidFill>
                <a:effectLst/>
                <a:uLnTx/>
                <a:uFillTx/>
                <a:latin typeface="Cambria"/>
                <a:ea typeface="Cambria"/>
                <a:cs typeface="+mn-cs"/>
                <a:sym typeface="Cambria"/>
              </a:rPr>
              <a:t> and vestibular system hair cells.</a:t>
            </a:r>
          </a:p>
        </p:txBody>
      </p:sp>
    </p:spTree>
    <p:extLst>
      <p:ext uri="{BB962C8B-B14F-4D97-AF65-F5344CB8AC3E}">
        <p14:creationId xmlns:p14="http://schemas.microsoft.com/office/powerpoint/2010/main" val="21311550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ext Placeholder 4"/>
          <p:cNvSpPr txBox="1">
            <a:spLocks noGrp="1"/>
          </p:cNvSpPr>
          <p:nvPr>
            <p:ph type="body" sz="quarter" idx="1"/>
          </p:nvPr>
        </p:nvSpPr>
        <p:spPr>
          <a:xfrm>
            <a:off x="324553" y="253316"/>
            <a:ext cx="4566314" cy="812982"/>
          </a:xfrm>
          <a:prstGeom prst="rect">
            <a:avLst/>
          </a:prstGeom>
        </p:spPr>
        <p:txBody>
          <a:bodyPr anchor="ctr">
            <a:normAutofit fontScale="55000" lnSpcReduction="20000"/>
          </a:bodyPr>
          <a:lstStyle>
            <a:lvl1pPr marL="0" indent="0">
              <a:lnSpc>
                <a:spcPct val="90000"/>
              </a:lnSpc>
              <a:spcBef>
                <a:spcPts val="5300"/>
              </a:spcBef>
              <a:buSzTx/>
              <a:buNone/>
              <a:defRPr sz="7400" b="1">
                <a:solidFill>
                  <a:srgbClr val="FFC000"/>
                </a:solidFill>
              </a:defRPr>
            </a:lvl1pPr>
          </a:lstStyle>
          <a:p>
            <a:r>
              <a:rPr dirty="0">
                <a:solidFill>
                  <a:schemeClr val="tx1">
                    <a:lumMod val="75000"/>
                    <a:lumOff val="25000"/>
                  </a:schemeClr>
                </a:solidFill>
              </a:rPr>
              <a:t>Mechanoreceptors</a:t>
            </a:r>
          </a:p>
        </p:txBody>
      </p:sp>
      <p:pic>
        <p:nvPicPr>
          <p:cNvPr id="202" name="Picture 3" descr="Picture 3"/>
          <p:cNvPicPr>
            <a:picLocks noChangeAspect="1"/>
          </p:cNvPicPr>
          <p:nvPr/>
        </p:nvPicPr>
        <p:blipFill>
          <a:blip r:embed="rId3"/>
          <a:stretch>
            <a:fillRect/>
          </a:stretch>
        </p:blipFill>
        <p:spPr>
          <a:xfrm>
            <a:off x="5284762" y="2253588"/>
            <a:ext cx="6843353" cy="4122379"/>
          </a:xfrm>
          <a:prstGeom prst="rect">
            <a:avLst/>
          </a:prstGeom>
          <a:ln w="12700">
            <a:miter lim="400000"/>
          </a:ln>
        </p:spPr>
      </p:pic>
      <p:sp>
        <p:nvSpPr>
          <p:cNvPr id="203" name="TextBox 34"/>
          <p:cNvSpPr txBox="1"/>
          <p:nvPr/>
        </p:nvSpPr>
        <p:spPr>
          <a:xfrm>
            <a:off x="324553" y="2253588"/>
            <a:ext cx="4960210" cy="324704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p>
            <a:pPr marL="452005" marR="0" lvl="0" indent="-452005" algn="l" defTabSz="914400" rtl="0" eaLnBrk="1" fontAlgn="auto" latinLnBrk="0" hangingPunct="1">
              <a:lnSpc>
                <a:spcPct val="100000"/>
              </a:lnSpc>
              <a:spcBef>
                <a:spcPts val="0"/>
              </a:spcBef>
              <a:spcAft>
                <a:spcPts val="0"/>
              </a:spcAft>
              <a:buClrTx/>
              <a:buSzPct val="100000"/>
              <a:buFontTx/>
              <a:buAutoNum type="alphaUcPeriod"/>
              <a:tabLst/>
              <a:defRPr sz="5800">
                <a:solidFill>
                  <a:srgbClr val="FFFFFF"/>
                </a:solidFill>
              </a:defRPr>
            </a:pPr>
            <a:r>
              <a:rPr kumimoji="0" sz="29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Meissner’s corpus</a:t>
            </a:r>
          </a:p>
          <a:p>
            <a:pPr marL="452005" marR="0" lvl="0" indent="-452005" algn="l" defTabSz="914400" rtl="0" eaLnBrk="1" fontAlgn="auto" latinLnBrk="0" hangingPunct="1">
              <a:lnSpc>
                <a:spcPct val="100000"/>
              </a:lnSpc>
              <a:spcBef>
                <a:spcPts val="0"/>
              </a:spcBef>
              <a:spcAft>
                <a:spcPts val="0"/>
              </a:spcAft>
              <a:buClrTx/>
              <a:buSzPct val="100000"/>
              <a:buFontTx/>
              <a:buAutoNum type="alphaUcPeriod"/>
              <a:tabLst/>
              <a:defRPr sz="5800">
                <a:solidFill>
                  <a:srgbClr val="FFFFFF"/>
                </a:solidFill>
              </a:defRPr>
            </a:pPr>
            <a:r>
              <a:rPr kumimoji="0" sz="29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Merkel’s disks</a:t>
            </a:r>
          </a:p>
          <a:p>
            <a:pPr marL="452005" marR="0" lvl="0" indent="-452005" algn="l" defTabSz="914400" rtl="0" eaLnBrk="1" fontAlgn="auto" latinLnBrk="0" hangingPunct="1">
              <a:lnSpc>
                <a:spcPct val="100000"/>
              </a:lnSpc>
              <a:spcBef>
                <a:spcPts val="0"/>
              </a:spcBef>
              <a:spcAft>
                <a:spcPts val="0"/>
              </a:spcAft>
              <a:buClrTx/>
              <a:buSzPct val="100000"/>
              <a:buFontTx/>
              <a:buAutoNum type="alphaUcPeriod"/>
              <a:tabLst/>
              <a:defRPr sz="5800">
                <a:solidFill>
                  <a:srgbClr val="FFFFFF"/>
                </a:solidFill>
              </a:defRPr>
            </a:pPr>
            <a:r>
              <a:rPr kumimoji="0" sz="29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Free nerve endings</a:t>
            </a:r>
          </a:p>
          <a:p>
            <a:pPr marL="452005" marR="0" lvl="0" indent="-452005" algn="l" defTabSz="914400" rtl="0" eaLnBrk="1" fontAlgn="auto" latinLnBrk="0" hangingPunct="1">
              <a:lnSpc>
                <a:spcPct val="100000"/>
              </a:lnSpc>
              <a:spcBef>
                <a:spcPts val="0"/>
              </a:spcBef>
              <a:spcAft>
                <a:spcPts val="0"/>
              </a:spcAft>
              <a:buClrTx/>
              <a:buSzPct val="100000"/>
              <a:buFontTx/>
              <a:buAutoNum type="alphaUcPeriod"/>
              <a:tabLst/>
              <a:defRPr sz="5800">
                <a:solidFill>
                  <a:srgbClr val="FFFFFF"/>
                </a:solidFill>
              </a:defRPr>
            </a:pPr>
            <a:r>
              <a:rPr kumimoji="0" sz="29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Pacinian corpuscles</a:t>
            </a:r>
          </a:p>
          <a:p>
            <a:pPr marL="452005" marR="0" lvl="0" indent="-452005" algn="l" defTabSz="914400" rtl="0" eaLnBrk="1" fontAlgn="auto" latinLnBrk="0" hangingPunct="1">
              <a:lnSpc>
                <a:spcPct val="100000"/>
              </a:lnSpc>
              <a:spcBef>
                <a:spcPts val="0"/>
              </a:spcBef>
              <a:spcAft>
                <a:spcPts val="0"/>
              </a:spcAft>
              <a:buClrTx/>
              <a:buSzPct val="100000"/>
              <a:buFontTx/>
              <a:buAutoNum type="alphaUcPeriod"/>
              <a:tabLst/>
              <a:defRPr sz="5800">
                <a:solidFill>
                  <a:srgbClr val="FFFFFF"/>
                </a:solidFill>
              </a:defRPr>
            </a:pPr>
            <a:r>
              <a:rPr kumimoji="0" sz="2900" b="0" i="0" u="none" strike="noStrike" kern="1200" cap="none" spc="0" normalizeH="0" baseline="0" noProof="0" dirty="0" err="1">
                <a:ln>
                  <a:noFill/>
                </a:ln>
                <a:solidFill>
                  <a:prstClr val="black">
                    <a:lumMod val="75000"/>
                    <a:lumOff val="25000"/>
                  </a:prstClr>
                </a:solidFill>
                <a:effectLst/>
                <a:uLnTx/>
                <a:uFillTx/>
                <a:latin typeface="Calibri"/>
                <a:ea typeface="+mn-ea"/>
                <a:cs typeface="+mn-cs"/>
              </a:rPr>
              <a:t>Ruffini</a:t>
            </a:r>
            <a:r>
              <a:rPr kumimoji="0" sz="29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 corpuscles</a:t>
            </a:r>
          </a:p>
          <a:p>
            <a:pPr marL="452005" marR="0" lvl="0" indent="-452005" algn="l" defTabSz="914400" rtl="0" eaLnBrk="1" fontAlgn="auto" latinLnBrk="0" hangingPunct="1">
              <a:lnSpc>
                <a:spcPct val="100000"/>
              </a:lnSpc>
              <a:spcBef>
                <a:spcPts val="0"/>
              </a:spcBef>
              <a:spcAft>
                <a:spcPts val="0"/>
              </a:spcAft>
              <a:buClrTx/>
              <a:buSzPct val="100000"/>
              <a:buFontTx/>
              <a:buAutoNum type="alphaUcPeriod"/>
              <a:tabLst/>
              <a:defRPr sz="5800">
                <a:solidFill>
                  <a:srgbClr val="FFFFFF"/>
                </a:solidFill>
              </a:defRPr>
            </a:pPr>
            <a:r>
              <a:rPr kumimoji="0" sz="29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and C-fiber LTM (low threshold mechanoreceptors</a:t>
            </a:r>
          </a:p>
        </p:txBody>
      </p:sp>
      <p:sp>
        <p:nvSpPr>
          <p:cNvPr id="204" name="Content Placeholder 2"/>
          <p:cNvSpPr txBox="1"/>
          <p:nvPr/>
        </p:nvSpPr>
        <p:spPr>
          <a:xfrm>
            <a:off x="4595382" y="659807"/>
            <a:ext cx="6038329" cy="95465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900" tIns="121900" rIns="121900" bIns="121900" anchor="ctr">
            <a:normAutofit/>
          </a:bodyPr>
          <a:lstStyle>
            <a:lvl1pPr algn="just">
              <a:spcBef>
                <a:spcPts val="4800"/>
              </a:spcBef>
              <a:defRPr sz="7400" b="1" u="sng">
                <a:solidFill>
                  <a:srgbClr val="FFFFFF"/>
                </a:solidFill>
              </a:defRPr>
            </a:lvl1pPr>
          </a:lstStyle>
          <a:p>
            <a:pPr marL="0" marR="0" lvl="0" indent="0" algn="just" defTabSz="914400" rtl="0" eaLnBrk="1" fontAlgn="auto" latinLnBrk="0" hangingPunct="1">
              <a:lnSpc>
                <a:spcPct val="100000"/>
              </a:lnSpc>
              <a:spcBef>
                <a:spcPts val="4800"/>
              </a:spcBef>
              <a:spcAft>
                <a:spcPts val="0"/>
              </a:spcAft>
              <a:buClrTx/>
              <a:buSzTx/>
              <a:buFontTx/>
              <a:buNone/>
              <a:tabLst/>
              <a:defRPr/>
            </a:pPr>
            <a:r>
              <a:rPr kumimoji="0" sz="3700" b="1" i="0" u="sng" strike="noStrike" kern="1200" cap="none" spc="0" normalizeH="0" baseline="0" noProof="0">
                <a:ln>
                  <a:noFill/>
                </a:ln>
                <a:solidFill>
                  <a:srgbClr val="FFFFFF"/>
                </a:solidFill>
                <a:effectLst/>
                <a:uLnTx/>
                <a:uFillTx/>
                <a:latin typeface="Calibri"/>
                <a:ea typeface="+mn-ea"/>
                <a:cs typeface="+mn-cs"/>
              </a:rPr>
              <a:t>Tactile Receptors</a:t>
            </a:r>
          </a:p>
        </p:txBody>
      </p:sp>
      <p:sp>
        <p:nvSpPr>
          <p:cNvPr id="205" name="TextBox 2"/>
          <p:cNvSpPr txBox="1"/>
          <p:nvPr/>
        </p:nvSpPr>
        <p:spPr>
          <a:xfrm>
            <a:off x="507926" y="892446"/>
            <a:ext cx="10788724" cy="92333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0960" tIns="60960" rIns="60960" bIns="60960">
            <a:spAutoFit/>
          </a:bodyPr>
          <a:lstStyle>
            <a:lvl1pPr>
              <a:defRPr sz="5200">
                <a:solidFill>
                  <a:srgbClr val="FFFFFF"/>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6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There are six different types of mechanoreceptors detecting innocuous stimuli in the skin: </a:t>
            </a:r>
          </a:p>
        </p:txBody>
      </p:sp>
    </p:spTree>
    <p:extLst>
      <p:ext uri="{BB962C8B-B14F-4D97-AF65-F5344CB8AC3E}">
        <p14:creationId xmlns:p14="http://schemas.microsoft.com/office/powerpoint/2010/main" val="237407006"/>
      </p:ext>
    </p:extLst>
  </p:cSld>
  <p:clrMapOvr>
    <a:masterClrMapping/>
  </p:clrMapOvr>
  <mc:AlternateContent xmlns:mc="http://schemas.openxmlformats.org/markup-compatibility/2006" xmlns:p14="http://schemas.microsoft.com/office/powerpoint/2010/main">
    <mc:Choice Requires="p14">
      <p:transition spd="slow">
        <p:fade/>
      </p:transition>
    </mc:Choice>
    <mc:Fallback xmlns="" xmlns:m="http://schemas.openxmlformats.org/officeDocument/2006/math" xmlns:a14="http://schemas.microsoft.com/office/drawing/2010/main">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Text Placeholder 4"/>
          <p:cNvSpPr txBox="1">
            <a:spLocks noGrp="1"/>
          </p:cNvSpPr>
          <p:nvPr>
            <p:ph type="body" sz="quarter" idx="1"/>
          </p:nvPr>
        </p:nvSpPr>
        <p:spPr>
          <a:xfrm>
            <a:off x="404269" y="220532"/>
            <a:ext cx="5691731" cy="812982"/>
          </a:xfrm>
          <a:prstGeom prst="rect">
            <a:avLst/>
          </a:prstGeom>
        </p:spPr>
        <p:txBody>
          <a:bodyPr anchor="ctr">
            <a:normAutofit fontScale="70000" lnSpcReduction="20000"/>
          </a:bodyPr>
          <a:lstStyle>
            <a:lvl1pPr marL="0" indent="0">
              <a:lnSpc>
                <a:spcPct val="90000"/>
              </a:lnSpc>
              <a:spcBef>
                <a:spcPts val="5300"/>
              </a:spcBef>
              <a:buSzTx/>
              <a:buNone/>
              <a:defRPr sz="7400" b="1">
                <a:solidFill>
                  <a:srgbClr val="FFC000"/>
                </a:solidFill>
              </a:defRPr>
            </a:lvl1pPr>
          </a:lstStyle>
          <a:p>
            <a:r>
              <a:rPr dirty="0">
                <a:solidFill>
                  <a:schemeClr val="tx1">
                    <a:lumMod val="75000"/>
                    <a:lumOff val="25000"/>
                  </a:schemeClr>
                </a:solidFill>
              </a:rPr>
              <a:t>Mechanoreceptors</a:t>
            </a:r>
          </a:p>
        </p:txBody>
      </p:sp>
      <p:sp>
        <p:nvSpPr>
          <p:cNvPr id="210" name="TextBox 34"/>
          <p:cNvSpPr txBox="1"/>
          <p:nvPr/>
        </p:nvSpPr>
        <p:spPr>
          <a:xfrm>
            <a:off x="465230" y="1488795"/>
            <a:ext cx="7902293" cy="20928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Proprioceptors are specialized mechanoreceptors that are usually present within </a:t>
            </a:r>
            <a:r>
              <a:rPr kumimoji="0" sz="32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muscle spindles</a:t>
            </a: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 </a:t>
            </a:r>
            <a:r>
              <a:rPr kumimoji="0" sz="32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Golgi tendons</a:t>
            </a: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 and </a:t>
            </a:r>
            <a:r>
              <a:rPr kumimoji="0" sz="32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joints</a:t>
            </a:r>
          </a:p>
        </p:txBody>
      </p:sp>
      <p:sp>
        <p:nvSpPr>
          <p:cNvPr id="211" name="Content Placeholder 2"/>
          <p:cNvSpPr txBox="1"/>
          <p:nvPr/>
        </p:nvSpPr>
        <p:spPr>
          <a:xfrm>
            <a:off x="4814133" y="858519"/>
            <a:ext cx="6038329" cy="81556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900" tIns="121900" rIns="121900" bIns="121900">
            <a:spAutoFit/>
          </a:bodyPr>
          <a:lstStyle>
            <a:lvl1pPr algn="just">
              <a:spcBef>
                <a:spcPts val="4800"/>
              </a:spcBef>
              <a:defRPr sz="7400" b="1" u="sng">
                <a:solidFill>
                  <a:srgbClr val="FFFFFF"/>
                </a:solidFill>
              </a:defRPr>
            </a:lvl1pPr>
          </a:lstStyle>
          <a:p>
            <a:pPr marL="0" marR="0" lvl="0" indent="0" algn="just" defTabSz="914400" rtl="0" eaLnBrk="1" fontAlgn="auto" latinLnBrk="0" hangingPunct="1">
              <a:lnSpc>
                <a:spcPct val="100000"/>
              </a:lnSpc>
              <a:spcBef>
                <a:spcPts val="4800"/>
              </a:spcBef>
              <a:spcAft>
                <a:spcPts val="0"/>
              </a:spcAft>
              <a:buClrTx/>
              <a:buSzTx/>
              <a:buFontTx/>
              <a:buNone/>
              <a:tabLst/>
              <a:defRPr/>
            </a:pPr>
            <a:r>
              <a:rPr kumimoji="0" sz="3700" b="1" i="0" u="sng" strike="noStrike" kern="1200" cap="none" spc="0" normalizeH="0" baseline="0" noProof="0">
                <a:ln>
                  <a:noFill/>
                </a:ln>
                <a:solidFill>
                  <a:srgbClr val="FFFFFF"/>
                </a:solidFill>
                <a:effectLst/>
                <a:uLnTx/>
                <a:uFillTx/>
                <a:latin typeface="Calibri"/>
                <a:ea typeface="+mn-ea"/>
                <a:cs typeface="+mn-cs"/>
              </a:rPr>
              <a:t>Proprioceptors</a:t>
            </a:r>
          </a:p>
        </p:txBody>
      </p:sp>
      <p:pic>
        <p:nvPicPr>
          <p:cNvPr id="212" name="Picture 2" descr="Picture 2"/>
          <p:cNvPicPr>
            <a:picLocks noChangeAspect="1"/>
          </p:cNvPicPr>
          <p:nvPr/>
        </p:nvPicPr>
        <p:blipFill>
          <a:blip r:embed="rId2"/>
          <a:stretch>
            <a:fillRect/>
          </a:stretch>
        </p:blipFill>
        <p:spPr>
          <a:xfrm>
            <a:off x="7957457" y="583050"/>
            <a:ext cx="3830273" cy="6187363"/>
          </a:xfrm>
          <a:prstGeom prst="rect">
            <a:avLst/>
          </a:prstGeom>
          <a:ln w="12700">
            <a:miter lim="400000"/>
          </a:ln>
        </p:spPr>
      </p:pic>
      <p:sp>
        <p:nvSpPr>
          <p:cNvPr id="213" name="TextBox 7"/>
          <p:cNvSpPr txBox="1"/>
          <p:nvPr/>
        </p:nvSpPr>
        <p:spPr>
          <a:xfrm>
            <a:off x="465230" y="3962659"/>
            <a:ext cx="7902293" cy="20928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a:solidFill>
                  <a:srgbClr val="FFFFFF"/>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Proprioceptors report muscle length and movement information critical for motor control, limb position and position (proprioception).</a:t>
            </a:r>
          </a:p>
        </p:txBody>
      </p:sp>
    </p:spTree>
    <p:extLst>
      <p:ext uri="{BB962C8B-B14F-4D97-AF65-F5344CB8AC3E}">
        <p14:creationId xmlns:p14="http://schemas.microsoft.com/office/powerpoint/2010/main" val="3191611219"/>
      </p:ext>
    </p:extLst>
  </p:cSld>
  <p:clrMapOvr>
    <a:masterClrMapping/>
  </p:clrMapOvr>
  <mc:AlternateContent xmlns:mc="http://schemas.openxmlformats.org/markup-compatibility/2006" xmlns:p14="http://schemas.microsoft.com/office/powerpoint/2010/main">
    <mc:Choice Requires="p14">
      <p:transition spd="slow">
        <p:fade/>
      </p:transition>
    </mc:Choice>
    <mc:Fallback xmlns="" xmlns:m="http://schemas.openxmlformats.org/officeDocument/2006/math" xmlns:a14="http://schemas.microsoft.com/office/drawing/2010/main">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Text Placeholder 4"/>
          <p:cNvSpPr txBox="1">
            <a:spLocks noGrp="1"/>
          </p:cNvSpPr>
          <p:nvPr>
            <p:ph type="body" sz="quarter" idx="1"/>
          </p:nvPr>
        </p:nvSpPr>
        <p:spPr>
          <a:xfrm>
            <a:off x="404269" y="383263"/>
            <a:ext cx="5691731" cy="812982"/>
          </a:xfrm>
          <a:prstGeom prst="rect">
            <a:avLst/>
          </a:prstGeom>
        </p:spPr>
        <p:txBody>
          <a:bodyPr anchor="ctr">
            <a:normAutofit fontScale="70000" lnSpcReduction="20000"/>
          </a:bodyPr>
          <a:lstStyle>
            <a:lvl1pPr marL="0" indent="0">
              <a:lnSpc>
                <a:spcPct val="90000"/>
              </a:lnSpc>
              <a:spcBef>
                <a:spcPts val="5300"/>
              </a:spcBef>
              <a:buSzTx/>
              <a:buNone/>
              <a:defRPr sz="7400" b="1">
                <a:solidFill>
                  <a:srgbClr val="FFC000"/>
                </a:solidFill>
              </a:defRPr>
            </a:lvl1pPr>
          </a:lstStyle>
          <a:p>
            <a:r>
              <a:rPr>
                <a:solidFill>
                  <a:schemeClr val="tx1">
                    <a:lumMod val="75000"/>
                    <a:lumOff val="25000"/>
                  </a:schemeClr>
                </a:solidFill>
              </a:rPr>
              <a:t>Mechanoreceptors</a:t>
            </a:r>
          </a:p>
        </p:txBody>
      </p:sp>
      <p:sp>
        <p:nvSpPr>
          <p:cNvPr id="216" name="TextBox 34"/>
          <p:cNvSpPr txBox="1"/>
          <p:nvPr/>
        </p:nvSpPr>
        <p:spPr>
          <a:xfrm>
            <a:off x="404269" y="1501643"/>
            <a:ext cx="7629272" cy="357020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Baroreceptors detect pressure</a:t>
            </a:r>
          </a:p>
          <a:p>
            <a:pPr marL="0" marR="0" lvl="0" indent="0" algn="l" defTabSz="914400" rtl="0" eaLnBrk="1" fontAlgn="auto" latinLnBrk="0" hangingPunct="1">
              <a:lnSpc>
                <a:spcPct val="100000"/>
              </a:lnSpc>
              <a:spcBef>
                <a:spcPts val="0"/>
              </a:spcBef>
              <a:spcAft>
                <a:spcPts val="0"/>
              </a:spcAft>
              <a:buClrTx/>
              <a:buSzTx/>
              <a:buFontTx/>
              <a:buNone/>
              <a:tabLst/>
              <a:defRPr sz="6400">
                <a:solidFill>
                  <a:srgbClr val="FFFFFF"/>
                </a:solidFill>
              </a:defRPr>
            </a:pPr>
            <a:endPar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sz="6400" b="1">
                <a:solidFill>
                  <a:srgbClr val="FFFF00"/>
                </a:solidFill>
              </a:defRPr>
            </a:pPr>
            <a:r>
              <a:rPr kumimoji="0" sz="32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Types</a:t>
            </a:r>
          </a:p>
          <a:p>
            <a:pPr marL="457200" marR="0" lvl="0" indent="-457200" algn="l" defTabSz="914400" rtl="0" eaLnBrk="1" fontAlgn="auto" latinLnBrk="0" hangingPunct="1">
              <a:lnSpc>
                <a:spcPct val="100000"/>
              </a:lnSpc>
              <a:spcBef>
                <a:spcPts val="0"/>
              </a:spcBef>
              <a:spcAft>
                <a:spcPts val="0"/>
              </a:spcAft>
              <a:buClr>
                <a:srgbClr val="FFC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Carotid sinus &amp; aortic </a:t>
            </a:r>
            <a:r>
              <a:rPr kumimoji="0" sz="3200" b="0" i="0" u="none" strike="noStrike" kern="1200" cap="none" spc="0" normalizeH="0" baseline="0" noProof="0" dirty="0" err="1">
                <a:ln>
                  <a:noFill/>
                </a:ln>
                <a:solidFill>
                  <a:prstClr val="black">
                    <a:lumMod val="75000"/>
                    <a:lumOff val="25000"/>
                  </a:prstClr>
                </a:solidFill>
                <a:effectLst/>
                <a:uLnTx/>
                <a:uFillTx/>
                <a:latin typeface="Calibri"/>
                <a:ea typeface="+mn-ea"/>
                <a:cs typeface="+mn-cs"/>
              </a:rPr>
              <a:t>baroceptors</a:t>
            </a:r>
            <a:endPar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
                <a:srgbClr val="FFC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alveolar stretch receptors</a:t>
            </a:r>
          </a:p>
          <a:p>
            <a:pPr marL="457200" marR="0" lvl="0" indent="-457200" algn="l" defTabSz="914400" rtl="0" eaLnBrk="1" fontAlgn="auto" latinLnBrk="0" hangingPunct="1">
              <a:lnSpc>
                <a:spcPct val="100000"/>
              </a:lnSpc>
              <a:spcBef>
                <a:spcPts val="0"/>
              </a:spcBef>
              <a:spcAft>
                <a:spcPts val="0"/>
              </a:spcAft>
              <a:buClr>
                <a:srgbClr val="FFC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GI stretch receptors</a:t>
            </a:r>
          </a:p>
          <a:p>
            <a:pPr marL="457200" marR="0" lvl="0" indent="-457200" algn="l" defTabSz="914400" rtl="0" eaLnBrk="1" fontAlgn="auto" latinLnBrk="0" hangingPunct="1">
              <a:lnSpc>
                <a:spcPct val="100000"/>
              </a:lnSpc>
              <a:spcBef>
                <a:spcPts val="0"/>
              </a:spcBef>
              <a:spcAft>
                <a:spcPts val="0"/>
              </a:spcAft>
              <a:buClr>
                <a:srgbClr val="FFC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urinary bladder stretch receptors</a:t>
            </a:r>
          </a:p>
        </p:txBody>
      </p:sp>
      <p:pic>
        <p:nvPicPr>
          <p:cNvPr id="217" name="Picture 1" descr="Picture 1"/>
          <p:cNvPicPr>
            <a:picLocks noChangeAspect="1"/>
          </p:cNvPicPr>
          <p:nvPr/>
        </p:nvPicPr>
        <p:blipFill>
          <a:blip r:embed="rId2"/>
          <a:stretch>
            <a:fillRect/>
          </a:stretch>
        </p:blipFill>
        <p:spPr>
          <a:xfrm>
            <a:off x="7358164" y="952667"/>
            <a:ext cx="4636128" cy="4952665"/>
          </a:xfrm>
          <a:prstGeom prst="rect">
            <a:avLst/>
          </a:prstGeom>
          <a:ln w="12700">
            <a:miter lim="400000"/>
          </a:ln>
        </p:spPr>
      </p:pic>
      <p:sp>
        <p:nvSpPr>
          <p:cNvPr id="218" name="Content Placeholder 2"/>
          <p:cNvSpPr txBox="1"/>
          <p:nvPr/>
        </p:nvSpPr>
        <p:spPr>
          <a:xfrm>
            <a:off x="4814133" y="858519"/>
            <a:ext cx="6038329" cy="81556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900" tIns="121900" rIns="121900" bIns="121900">
            <a:spAutoFit/>
          </a:bodyPr>
          <a:lstStyle>
            <a:lvl1pPr algn="just">
              <a:spcBef>
                <a:spcPts val="4800"/>
              </a:spcBef>
              <a:defRPr sz="7400" b="1" u="sng">
                <a:solidFill>
                  <a:srgbClr val="FFFFFF"/>
                </a:solidFill>
              </a:defRPr>
            </a:lvl1pPr>
          </a:lstStyle>
          <a:p>
            <a:pPr marL="0" marR="0" lvl="0" indent="0" algn="just" defTabSz="914400" rtl="0" eaLnBrk="1" fontAlgn="auto" latinLnBrk="0" hangingPunct="1">
              <a:lnSpc>
                <a:spcPct val="100000"/>
              </a:lnSpc>
              <a:spcBef>
                <a:spcPts val="4800"/>
              </a:spcBef>
              <a:spcAft>
                <a:spcPts val="0"/>
              </a:spcAft>
              <a:buClrTx/>
              <a:buSzTx/>
              <a:buFontTx/>
              <a:buNone/>
              <a:tabLst/>
              <a:defRPr/>
            </a:pPr>
            <a:r>
              <a:rPr kumimoji="0" sz="3700" b="1" i="0" u="sng" strike="noStrike" kern="1200" cap="none" spc="0" normalizeH="0" baseline="0" noProof="0">
                <a:ln>
                  <a:noFill/>
                </a:ln>
                <a:solidFill>
                  <a:srgbClr val="FFFFFF"/>
                </a:solidFill>
                <a:effectLst/>
                <a:uLnTx/>
                <a:uFillTx/>
                <a:latin typeface="Calibri"/>
                <a:ea typeface="+mn-ea"/>
                <a:cs typeface="+mn-cs"/>
              </a:rPr>
              <a:t>Baroreceptors</a:t>
            </a:r>
          </a:p>
        </p:txBody>
      </p:sp>
    </p:spTree>
    <p:extLst>
      <p:ext uri="{BB962C8B-B14F-4D97-AF65-F5344CB8AC3E}">
        <p14:creationId xmlns:p14="http://schemas.microsoft.com/office/powerpoint/2010/main" val="1153526360"/>
      </p:ext>
    </p:extLst>
  </p:cSld>
  <p:clrMapOvr>
    <a:masterClrMapping/>
  </p:clrMapOvr>
  <mc:AlternateContent xmlns:mc="http://schemas.openxmlformats.org/markup-compatibility/2006" xmlns:p14="http://schemas.microsoft.com/office/powerpoint/2010/main">
    <mc:Choice Requires="p14">
      <p:transition spd="slow">
        <p:fade/>
      </p:transition>
    </mc:Choice>
    <mc:Fallback xmlns="" xmlns:m="http://schemas.openxmlformats.org/officeDocument/2006/math" xmlns:a14="http://schemas.microsoft.com/office/drawing/2010/main">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217"/>
                                        </p:tgtEl>
                                        <p:attrNameLst>
                                          <p:attrName>style.visibility</p:attrName>
                                        </p:attrNameLst>
                                      </p:cBhvr>
                                      <p:to>
                                        <p:strVal val="visible"/>
                                      </p:to>
                                    </p:set>
                                    <p:animEffect transition="in" filter="fade">
                                      <p:cBhvr>
                                        <p:cTn id="7" dur="5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 grpId="0" animBg="1" advAuto="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Text Placeholder 4"/>
          <p:cNvSpPr txBox="1">
            <a:spLocks noGrp="1"/>
          </p:cNvSpPr>
          <p:nvPr>
            <p:ph type="body" sz="quarter" idx="1"/>
          </p:nvPr>
        </p:nvSpPr>
        <p:spPr>
          <a:xfrm>
            <a:off x="404269" y="301861"/>
            <a:ext cx="5691731" cy="812982"/>
          </a:xfrm>
          <a:prstGeom prst="rect">
            <a:avLst/>
          </a:prstGeom>
        </p:spPr>
        <p:txBody>
          <a:bodyPr anchor="ctr">
            <a:normAutofit fontScale="70000" lnSpcReduction="20000"/>
          </a:bodyPr>
          <a:lstStyle>
            <a:lvl1pPr marL="0" indent="0">
              <a:lnSpc>
                <a:spcPct val="90000"/>
              </a:lnSpc>
              <a:spcBef>
                <a:spcPts val="5300"/>
              </a:spcBef>
              <a:buSzTx/>
              <a:buNone/>
              <a:defRPr sz="7400" b="1">
                <a:solidFill>
                  <a:srgbClr val="FFC000"/>
                </a:solidFill>
              </a:defRPr>
            </a:lvl1pPr>
          </a:lstStyle>
          <a:p>
            <a:r>
              <a:rPr dirty="0">
                <a:solidFill>
                  <a:schemeClr val="tx1">
                    <a:lumMod val="75000"/>
                    <a:lumOff val="25000"/>
                  </a:schemeClr>
                </a:solidFill>
              </a:rPr>
              <a:t>Mechanoreceptors</a:t>
            </a:r>
          </a:p>
        </p:txBody>
      </p:sp>
      <p:sp>
        <p:nvSpPr>
          <p:cNvPr id="221" name="Content Placeholder 2"/>
          <p:cNvSpPr txBox="1"/>
          <p:nvPr/>
        </p:nvSpPr>
        <p:spPr>
          <a:xfrm>
            <a:off x="5548778" y="945049"/>
            <a:ext cx="6643222" cy="64629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21900" tIns="121900" rIns="121900" bIns="121900">
            <a:spAutoFit/>
          </a:bodyPr>
          <a:lstStyle>
            <a:lvl1pPr algn="just">
              <a:spcBef>
                <a:spcPts val="4800"/>
              </a:spcBef>
              <a:defRPr sz="5200" b="1" u="sng">
                <a:solidFill>
                  <a:srgbClr val="FFFFFF"/>
                </a:solidFill>
              </a:defRPr>
            </a:lvl1pPr>
          </a:lstStyle>
          <a:p>
            <a:pPr marL="0" marR="0" lvl="0" indent="0" algn="just" defTabSz="914400" rtl="0" eaLnBrk="1" fontAlgn="auto" latinLnBrk="0" hangingPunct="1">
              <a:lnSpc>
                <a:spcPct val="100000"/>
              </a:lnSpc>
              <a:spcBef>
                <a:spcPts val="4800"/>
              </a:spcBef>
              <a:spcAft>
                <a:spcPts val="0"/>
              </a:spcAft>
              <a:buClrTx/>
              <a:buSzTx/>
              <a:buFontTx/>
              <a:buNone/>
              <a:tabLst/>
              <a:defRPr/>
            </a:pPr>
            <a:r>
              <a:rPr kumimoji="0" sz="2600" b="1" i="0" u="sng" strike="noStrike" kern="1200" cap="none" spc="0" normalizeH="0" baseline="0" noProof="0" dirty="0">
                <a:ln>
                  <a:noFill/>
                </a:ln>
                <a:solidFill>
                  <a:prstClr val="black">
                    <a:lumMod val="75000"/>
                    <a:lumOff val="25000"/>
                  </a:prstClr>
                </a:solidFill>
                <a:effectLst/>
                <a:uLnTx/>
                <a:uFillTx/>
                <a:latin typeface="Calibri"/>
                <a:ea typeface="+mn-ea"/>
                <a:cs typeface="+mn-cs"/>
              </a:rPr>
              <a:t>Organ of </a:t>
            </a:r>
            <a:r>
              <a:rPr kumimoji="0" sz="2600" b="1" i="0" u="sng" strike="noStrike" kern="1200" cap="none" spc="0" normalizeH="0" baseline="0" noProof="0" dirty="0" err="1">
                <a:ln>
                  <a:noFill/>
                </a:ln>
                <a:solidFill>
                  <a:prstClr val="black">
                    <a:lumMod val="75000"/>
                    <a:lumOff val="25000"/>
                  </a:prstClr>
                </a:solidFill>
                <a:effectLst/>
                <a:uLnTx/>
                <a:uFillTx/>
                <a:latin typeface="Calibri"/>
                <a:ea typeface="+mn-ea"/>
                <a:cs typeface="+mn-cs"/>
              </a:rPr>
              <a:t>Corti</a:t>
            </a:r>
            <a:r>
              <a:rPr kumimoji="0" sz="2600" b="1" i="0" u="sng" strike="noStrike" kern="1200" cap="none" spc="0" normalizeH="0" baseline="0" noProof="0" dirty="0">
                <a:ln>
                  <a:noFill/>
                </a:ln>
                <a:solidFill>
                  <a:prstClr val="black">
                    <a:lumMod val="75000"/>
                    <a:lumOff val="25000"/>
                  </a:prstClr>
                </a:solidFill>
                <a:effectLst/>
                <a:uLnTx/>
                <a:uFillTx/>
                <a:latin typeface="Calibri"/>
                <a:ea typeface="+mn-ea"/>
                <a:cs typeface="+mn-cs"/>
              </a:rPr>
              <a:t> and vestibular system hair cells </a:t>
            </a:r>
          </a:p>
        </p:txBody>
      </p:sp>
      <p:pic>
        <p:nvPicPr>
          <p:cNvPr id="222" name="Picture 2" descr="Picture 2"/>
          <p:cNvPicPr>
            <a:picLocks noChangeAspect="1"/>
          </p:cNvPicPr>
          <p:nvPr/>
        </p:nvPicPr>
        <p:blipFill>
          <a:blip r:embed="rId2"/>
          <a:stretch>
            <a:fillRect/>
          </a:stretch>
        </p:blipFill>
        <p:spPr>
          <a:xfrm>
            <a:off x="6096000" y="1962396"/>
            <a:ext cx="5695225" cy="4037085"/>
          </a:xfrm>
          <a:prstGeom prst="rect">
            <a:avLst/>
          </a:prstGeom>
          <a:ln w="12700">
            <a:miter lim="400000"/>
          </a:ln>
        </p:spPr>
      </p:pic>
      <p:sp>
        <p:nvSpPr>
          <p:cNvPr id="223" name="TextBox 10"/>
          <p:cNvSpPr txBox="1"/>
          <p:nvPr/>
        </p:nvSpPr>
        <p:spPr>
          <a:xfrm>
            <a:off x="214086" y="2234527"/>
            <a:ext cx="5569810" cy="2880789"/>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p>
            <a:pPr marL="0" marR="0" lvl="0" indent="0" algn="l" defTabSz="914400" rtl="0" eaLnBrk="1" fontAlgn="auto" latinLnBrk="0" hangingPunct="1">
              <a:lnSpc>
                <a:spcPct val="80000"/>
              </a:lnSpc>
              <a:spcBef>
                <a:spcPts val="0"/>
              </a:spcBef>
              <a:spcAft>
                <a:spcPts val="0"/>
              </a:spcAft>
              <a:buClrTx/>
              <a:buSzTx/>
              <a:buFontTx/>
              <a:buNone/>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Hair cells of the inner ear are specialized </a:t>
            </a:r>
            <a:r>
              <a:rPr kumimoji="0" sz="3200" b="0" i="0" u="none" strike="noStrike" kern="1200" cap="none" spc="0" normalizeH="0" baseline="0" noProof="0" dirty="0" err="1">
                <a:ln>
                  <a:noFill/>
                </a:ln>
                <a:solidFill>
                  <a:prstClr val="black">
                    <a:lumMod val="75000"/>
                    <a:lumOff val="25000"/>
                  </a:prstClr>
                </a:solidFill>
                <a:effectLst/>
                <a:uLnTx/>
                <a:uFillTx/>
                <a:latin typeface="Calibri"/>
                <a:ea typeface="+mn-ea"/>
                <a:cs typeface="+mn-cs"/>
              </a:rPr>
              <a:t>mechanosensory</a:t>
            </a: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 cells, which convert mechanical stimuli provided by sound waves (</a:t>
            </a:r>
            <a:r>
              <a:rPr kumimoji="0" sz="32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cochlea</a:t>
            </a: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 or head movement (</a:t>
            </a:r>
            <a:r>
              <a:rPr kumimoji="0" sz="32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vestibular system</a:t>
            </a: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 into electrical signals.</a:t>
            </a:r>
          </a:p>
        </p:txBody>
      </p:sp>
    </p:spTree>
    <p:extLst>
      <p:ext uri="{BB962C8B-B14F-4D97-AF65-F5344CB8AC3E}">
        <p14:creationId xmlns:p14="http://schemas.microsoft.com/office/powerpoint/2010/main" val="4021488915"/>
      </p:ext>
    </p:extLst>
  </p:cSld>
  <p:clrMapOvr>
    <a:masterClrMapping/>
  </p:clrMapOvr>
  <mc:AlternateContent xmlns:mc="http://schemas.openxmlformats.org/markup-compatibility/2006" xmlns:p14="http://schemas.microsoft.com/office/powerpoint/2010/main">
    <mc:Choice Requires="p14">
      <p:transition spd="slow">
        <p:fade/>
      </p:transition>
    </mc:Choice>
    <mc:Fallback xmlns="" xmlns:m="http://schemas.openxmlformats.org/officeDocument/2006/math" xmlns:a14="http://schemas.microsoft.com/office/drawing/2010/main">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 Placeholder 2"/>
          <p:cNvSpPr txBox="1">
            <a:spLocks noGrp="1"/>
          </p:cNvSpPr>
          <p:nvPr>
            <p:ph type="body" idx="1"/>
          </p:nvPr>
        </p:nvSpPr>
        <p:spPr>
          <a:xfrm>
            <a:off x="457632" y="1500000"/>
            <a:ext cx="11327968" cy="4852000"/>
          </a:xfrm>
          <a:prstGeom prst="rect">
            <a:avLst/>
          </a:prstGeom>
        </p:spPr>
        <p:txBody>
          <a:bodyPr>
            <a:noAutofit/>
          </a:bodyPr>
          <a:lstStyle/>
          <a:p>
            <a:pPr marL="0" indent="38100">
              <a:buSzTx/>
              <a:buNone/>
              <a:defRPr sz="5800" b="1">
                <a:solidFill>
                  <a:srgbClr val="FFC000"/>
                </a:solidFill>
              </a:defRPr>
            </a:pPr>
            <a:r>
              <a:rPr sz="3600" dirty="0"/>
              <a:t>Sensory Adaptation:</a:t>
            </a:r>
          </a:p>
          <a:p>
            <a:pPr marL="768927" lvl="1" indent="-502227">
              <a:buSzPts val="5800"/>
              <a:buChar char="▪"/>
              <a:defRPr sz="5800"/>
            </a:pPr>
            <a:r>
              <a:rPr sz="3600" dirty="0"/>
              <a:t>When applied stimulus acts for a prolonged duration, some receptors may stop responding in the course of time. So there will not be production of action potential in nerve fiber.</a:t>
            </a:r>
          </a:p>
          <a:p>
            <a:pPr marL="768927" lvl="1" indent="-502227">
              <a:buSzPts val="5800"/>
              <a:buChar char="▪"/>
              <a:defRPr sz="5800"/>
            </a:pPr>
            <a:endParaRPr lang="en-US" sz="3600" dirty="0"/>
          </a:p>
          <a:p>
            <a:pPr marL="768927" lvl="1" indent="-502227">
              <a:buSzPts val="5800"/>
              <a:buChar char="▪"/>
              <a:defRPr sz="5800"/>
            </a:pPr>
            <a:r>
              <a:rPr sz="3600" dirty="0"/>
              <a:t>There are two (2) types of sensory receptor adaptations. </a:t>
            </a:r>
          </a:p>
        </p:txBody>
      </p:sp>
      <p:sp>
        <p:nvSpPr>
          <p:cNvPr id="226" name="Slide Number Placeholder 3"/>
          <p:cNvSpPr txBox="1">
            <a:spLocks noGrp="1"/>
          </p:cNvSpPr>
          <p:nvPr>
            <p:ph type="sldNum" sz="quarter" idx="2"/>
          </p:nvPr>
        </p:nvSpPr>
        <p:spPr>
          <a:xfrm>
            <a:off x="11546025" y="6188756"/>
            <a:ext cx="432986" cy="44065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sz="675"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675"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27" name="Title 1"/>
          <p:cNvSpPr txBox="1">
            <a:spLocks noGrp="1"/>
          </p:cNvSpPr>
          <p:nvPr>
            <p:ph type="title"/>
          </p:nvPr>
        </p:nvSpPr>
        <p:spPr>
          <a:xfrm>
            <a:off x="299532" y="201200"/>
            <a:ext cx="11246493" cy="703644"/>
          </a:xfrm>
          <a:prstGeom prst="rect">
            <a:avLst/>
          </a:prstGeom>
        </p:spPr>
        <p:txBody>
          <a:bodyPr>
            <a:noAutofit/>
          </a:bodyPr>
          <a:lstStyle/>
          <a:p>
            <a:pPr algn="l" defTabSz="890016">
              <a:defRPr sz="6132" b="1"/>
            </a:pPr>
            <a:r>
              <a:rPr sz="4000" dirty="0"/>
              <a:t>Classification of Receptors - </a:t>
            </a:r>
            <a:r>
              <a:rPr sz="4000" dirty="0">
                <a:solidFill>
                  <a:srgbClr val="FF0000"/>
                </a:solidFill>
              </a:rPr>
              <a:t>By Adaptation</a:t>
            </a:r>
          </a:p>
        </p:txBody>
      </p:sp>
    </p:spTree>
    <p:extLst>
      <p:ext uri="{BB962C8B-B14F-4D97-AF65-F5344CB8AC3E}">
        <p14:creationId xmlns:p14="http://schemas.microsoft.com/office/powerpoint/2010/main" val="1621639910"/>
      </p:ext>
    </p:extLst>
  </p:cSld>
  <p:clrMapOvr>
    <a:masterClrMapping/>
  </p:clrMapOvr>
  <mc:AlternateContent xmlns:mc="http://schemas.openxmlformats.org/markup-compatibility/2006" xmlns:p14="http://schemas.microsoft.com/office/powerpoint/2010/main">
    <mc:Choice Requires="p14">
      <p:transition spd="slow">
        <p:fade/>
      </p:transition>
    </mc:Choice>
    <mc:Fallback xmlns="" xmlns:m="http://schemas.openxmlformats.org/officeDocument/2006/math" xmlns:a14="http://schemas.microsoft.com/office/drawing/2010/main">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 name="Picture 2" descr="Picture 2"/>
          <p:cNvPicPr>
            <a:picLocks noChangeAspect="1"/>
          </p:cNvPicPr>
          <p:nvPr/>
        </p:nvPicPr>
        <p:blipFill>
          <a:blip r:embed="rId3"/>
          <a:stretch>
            <a:fillRect/>
          </a:stretch>
        </p:blipFill>
        <p:spPr>
          <a:xfrm>
            <a:off x="247650" y="340800"/>
            <a:ext cx="7048837" cy="3912743"/>
          </a:xfrm>
          <a:prstGeom prst="rect">
            <a:avLst/>
          </a:prstGeom>
          <a:ln w="12700">
            <a:miter lim="400000"/>
          </a:ln>
        </p:spPr>
      </p:pic>
      <p:sp>
        <p:nvSpPr>
          <p:cNvPr id="230" name="TextBox 5"/>
          <p:cNvSpPr txBox="1"/>
          <p:nvPr/>
        </p:nvSpPr>
        <p:spPr>
          <a:xfrm>
            <a:off x="7472618" y="176617"/>
            <a:ext cx="4154918" cy="4124206"/>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p>
            <a:pPr marL="632460" marR="0" lvl="0" indent="-594360" algn="just" defTabSz="914400" rtl="0" eaLnBrk="1" fontAlgn="auto" latinLnBrk="0" hangingPunct="1">
              <a:lnSpc>
                <a:spcPct val="100000"/>
              </a:lnSpc>
              <a:spcBef>
                <a:spcPts val="1600"/>
              </a:spcBef>
              <a:spcAft>
                <a:spcPts val="0"/>
              </a:spcAft>
              <a:buClr>
                <a:srgbClr val="000000"/>
              </a:buClr>
              <a:buSzPct val="80000"/>
              <a:buFont typeface="Wingdings" panose="05000000000000000000" pitchFamily="2" charset="2"/>
              <a:buChar char="Ø"/>
              <a:tabLst/>
              <a:defRPr sz="5200" b="1">
                <a:solidFill>
                  <a:srgbClr val="FFC000"/>
                </a:solidFill>
              </a:defRPr>
            </a:pPr>
            <a:r>
              <a:rPr kumimoji="0"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Tonic receptors —adapt slowly: generate nerve signals more steadily throughout </a:t>
            </a:r>
            <a:r>
              <a:rPr kumimoji="0" lang="en-US"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the </a:t>
            </a:r>
            <a:r>
              <a:rPr kumimoji="0"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presence of </a:t>
            </a:r>
            <a:r>
              <a:rPr kumimoji="0" lang="en-US"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the </a:t>
            </a:r>
            <a:r>
              <a:rPr kumimoji="0"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stimulus. e.g., Receptors that monitor body position, muscle tension, and joint motion.</a:t>
            </a:r>
          </a:p>
        </p:txBody>
      </p:sp>
      <p:sp>
        <p:nvSpPr>
          <p:cNvPr id="231" name="TextBox 7"/>
          <p:cNvSpPr txBox="1"/>
          <p:nvPr/>
        </p:nvSpPr>
        <p:spPr>
          <a:xfrm>
            <a:off x="416037" y="4503432"/>
            <a:ext cx="9263416" cy="1723549"/>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p>
            <a:pPr marL="457200" marR="0" lvl="0" indent="-457200" algn="just" defTabSz="914400" rtl="0" eaLnBrk="1" fontAlgn="auto" latinLnBrk="0" hangingPunct="1">
              <a:lnSpc>
                <a:spcPct val="100000"/>
              </a:lnSpc>
              <a:spcBef>
                <a:spcPts val="1600"/>
              </a:spcBef>
              <a:spcAft>
                <a:spcPts val="0"/>
              </a:spcAft>
              <a:buClrTx/>
              <a:buSzTx/>
              <a:buFont typeface="Wingdings" panose="05000000000000000000" pitchFamily="2" charset="2"/>
              <a:buChar char="Ø"/>
              <a:tabLst/>
              <a:defRPr sz="5200" b="1">
                <a:solidFill>
                  <a:srgbClr val="FFC000"/>
                </a:solidFill>
              </a:defRPr>
            </a:pPr>
            <a:r>
              <a:rPr kumimoji="0"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Phasic receptors —adapt rapidly: generate a burst of action potentials when first stimulated, then quickly reduce or stop signaling even though the stimulus continues. e.g.</a:t>
            </a:r>
            <a:r>
              <a:rPr kumimoji="0" lang="en-US"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a:t>
            </a:r>
            <a:r>
              <a:rPr kumimoji="0"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 olfactory receptors and touch receptors in </a:t>
            </a:r>
            <a:r>
              <a:rPr kumimoji="0" lang="en-US"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the </a:t>
            </a:r>
            <a:r>
              <a:rPr kumimoji="0" sz="26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skin.</a:t>
            </a:r>
          </a:p>
        </p:txBody>
      </p:sp>
    </p:spTree>
    <p:extLst>
      <p:ext uri="{BB962C8B-B14F-4D97-AF65-F5344CB8AC3E}">
        <p14:creationId xmlns:p14="http://schemas.microsoft.com/office/powerpoint/2010/main" val="1576696180"/>
      </p:ext>
    </p:extLst>
  </p:cSld>
  <p:clrMapOvr>
    <a:masterClrMapping/>
  </p:clrMapOvr>
  <mc:AlternateContent xmlns:mc="http://schemas.openxmlformats.org/markup-compatibility/2006" xmlns:p14="http://schemas.microsoft.com/office/powerpoint/2010/main">
    <mc:Choice Requires="p14">
      <p:transition spd="slow">
        <p:fade/>
      </p:transition>
    </mc:Choice>
    <mc:Fallback xmlns="" xmlns:m="http://schemas.openxmlformats.org/officeDocument/2006/math" xmlns:a14="http://schemas.microsoft.com/office/drawing/2010/main">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Sensory receptors in the skin have a different structure than sensory receptors in the eye. The most reasonable explanation for the difference in the structure of these receptors is that"/>
          <p:cNvSpPr txBox="1">
            <a:spLocks noGrp="1"/>
          </p:cNvSpPr>
          <p:nvPr>
            <p:ph type="title"/>
          </p:nvPr>
        </p:nvSpPr>
        <p:spPr>
          <a:xfrm>
            <a:off x="498433" y="970481"/>
            <a:ext cx="10972801" cy="1729680"/>
          </a:xfrm>
          <a:prstGeom prst="rect">
            <a:avLst/>
          </a:prstGeom>
        </p:spPr>
        <p:txBody>
          <a:bodyPr/>
          <a:lstStyle>
            <a:lvl1pPr algn="just" defTabSz="1755648">
              <a:defRPr sz="6336"/>
            </a:lvl1pPr>
          </a:lstStyle>
          <a:p>
            <a:r>
              <a:rPr sz="3200" b="1" dirty="0"/>
              <a:t>Sensory receptors in the skin have a different structure than sensory receptors in the eye. The most reasonable explanation for the difference in the structure of these receptors is that </a:t>
            </a:r>
          </a:p>
        </p:txBody>
      </p:sp>
      <p:sp>
        <p:nvSpPr>
          <p:cNvPr id="236" name="receptors in the skin are connected to nerve cells, but receptors in the eye are not.…"/>
          <p:cNvSpPr txBox="1">
            <a:spLocks noGrp="1"/>
          </p:cNvSpPr>
          <p:nvPr>
            <p:ph type="body" idx="1"/>
          </p:nvPr>
        </p:nvSpPr>
        <p:spPr>
          <a:xfrm>
            <a:off x="278428" y="2961434"/>
            <a:ext cx="7994716" cy="3577483"/>
          </a:xfrm>
          <a:prstGeom prst="rect">
            <a:avLst/>
          </a:prstGeom>
        </p:spPr>
        <p:txBody>
          <a:bodyPr>
            <a:noAutofit/>
          </a:bodyPr>
          <a:lstStyle/>
          <a:p>
            <a:pPr marL="781050" indent="-742950">
              <a:buSzPct val="100000"/>
              <a:buFont typeface="+mj-lt"/>
              <a:buAutoNum type="alphaUcPeriod"/>
              <a:defRPr sz="7700">
                <a:solidFill>
                  <a:srgbClr val="FFFB00"/>
                </a:solidFill>
              </a:defRPr>
            </a:pPr>
            <a:r>
              <a:rPr sz="3000" dirty="0">
                <a:effectLst>
                  <a:outerShdw blurRad="38100" dist="38100" dir="2700000" algn="tl">
                    <a:srgbClr val="000000">
                      <a:alpha val="43137"/>
                    </a:srgbClr>
                  </a:outerShdw>
                </a:effectLst>
              </a:rPr>
              <a:t>receptors in the skin are connected to nerve cells, but receptors in the eye are not.</a:t>
            </a:r>
          </a:p>
          <a:p>
            <a:pPr marL="781050" indent="-742950">
              <a:buSzPct val="100000"/>
              <a:buFont typeface="+mj-lt"/>
              <a:buAutoNum type="alphaUcPeriod"/>
              <a:defRPr sz="7700">
                <a:solidFill>
                  <a:srgbClr val="FF9300"/>
                </a:solidFill>
              </a:defRPr>
            </a:pPr>
            <a:r>
              <a:rPr sz="3000" dirty="0">
                <a:effectLst>
                  <a:outerShdw blurRad="38100" dist="38100" dir="2700000" algn="tl">
                    <a:srgbClr val="000000">
                      <a:alpha val="43137"/>
                    </a:srgbClr>
                  </a:outerShdw>
                </a:effectLst>
              </a:rPr>
              <a:t>receptors in the eye respond to a different type of input than receptors in the skin.</a:t>
            </a:r>
          </a:p>
          <a:p>
            <a:pPr marL="781050" indent="-742950">
              <a:buSzPct val="100000"/>
              <a:buFont typeface="+mj-lt"/>
              <a:buAutoNum type="alphaUcPeriod"/>
              <a:defRPr sz="7700">
                <a:solidFill>
                  <a:srgbClr val="00F900"/>
                </a:solidFill>
              </a:defRPr>
            </a:pPr>
            <a:r>
              <a:rPr sz="3000" dirty="0">
                <a:effectLst>
                  <a:outerShdw blurRad="38100" dist="38100" dir="2700000" algn="tl">
                    <a:srgbClr val="000000">
                      <a:alpha val="43137"/>
                    </a:srgbClr>
                  </a:outerShdw>
                </a:effectLst>
              </a:rPr>
              <a:t>there are many more sensory receptors in the skin than receptors in the eye.</a:t>
            </a:r>
          </a:p>
        </p:txBody>
      </p:sp>
      <p:sp>
        <p:nvSpPr>
          <p:cNvPr id="23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sz="675"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sz="675"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38" name="Content Placeholder 2"/>
          <p:cNvSpPr txBox="1"/>
          <p:nvPr/>
        </p:nvSpPr>
        <p:spPr>
          <a:xfrm>
            <a:off x="530273" y="174729"/>
            <a:ext cx="5411996" cy="67403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20" tIns="45720" rIns="45720" bIns="45720" anchor="b">
            <a:spAutoFit/>
          </a:bodyPr>
          <a:lstStyle>
            <a:lvl1pPr algn="just">
              <a:lnSpc>
                <a:spcPct val="90000"/>
              </a:lnSpc>
              <a:spcBef>
                <a:spcPts val="4000"/>
              </a:spcBef>
              <a:defRPr sz="8400" b="1">
                <a:solidFill>
                  <a:srgbClr val="FFC000"/>
                </a:solidFill>
              </a:defRPr>
            </a:lvl1pPr>
          </a:lstStyle>
          <a:p>
            <a:pPr marL="0" marR="0" lvl="0" indent="0" algn="just" defTabSz="914400" rtl="0" eaLnBrk="1" fontAlgn="auto" latinLnBrk="0" hangingPunct="1">
              <a:lnSpc>
                <a:spcPct val="90000"/>
              </a:lnSpc>
              <a:spcBef>
                <a:spcPts val="4000"/>
              </a:spcBef>
              <a:spcAft>
                <a:spcPts val="0"/>
              </a:spcAft>
              <a:buClrTx/>
              <a:buSzTx/>
              <a:buFontTx/>
              <a:buNone/>
              <a:tabLst/>
              <a:defRPr/>
            </a:pPr>
            <a:r>
              <a:rPr kumimoji="0" sz="4200" b="1" i="0" u="none" strike="noStrike" kern="1200" cap="none" spc="0" normalizeH="0" baseline="0" noProof="0" dirty="0">
                <a:ln>
                  <a:noFill/>
                </a:ln>
                <a:solidFill>
                  <a:srgbClr val="F79646">
                    <a:lumMod val="75000"/>
                  </a:srgbClr>
                </a:solidFill>
                <a:effectLst>
                  <a:outerShdw blurRad="38100" dist="38100" dir="2700000" algn="tl">
                    <a:srgbClr val="000000">
                      <a:alpha val="43137"/>
                    </a:srgbClr>
                  </a:outerShdw>
                </a:effectLst>
                <a:uLnTx/>
                <a:uFillTx/>
                <a:latin typeface="Calibri"/>
                <a:ea typeface="+mn-ea"/>
                <a:cs typeface="+mn-cs"/>
              </a:rPr>
              <a:t>Checkpoint</a:t>
            </a:r>
          </a:p>
        </p:txBody>
      </p:sp>
      <p:sp>
        <p:nvSpPr>
          <p:cNvPr id="7" name="TextBox 33"/>
          <p:cNvSpPr txBox="1">
            <a:spLocks noChangeArrowheads="1"/>
          </p:cNvSpPr>
          <p:nvPr/>
        </p:nvSpPr>
        <p:spPr bwMode="auto">
          <a:xfrm>
            <a:off x="9415737" y="3178701"/>
            <a:ext cx="1669256" cy="40011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Verdana" pitchFamily="34" charset="0"/>
              </a:defRPr>
            </a:lvl1pPr>
            <a:lvl2pPr marL="742950" indent="-285750" eaLnBrk="0" hangingPunct="0">
              <a:defRPr sz="2400">
                <a:solidFill>
                  <a:schemeClr val="tx1"/>
                </a:solidFill>
                <a:latin typeface="Verdana" pitchFamily="34" charset="0"/>
              </a:defRPr>
            </a:lvl2pPr>
            <a:lvl3pPr marL="1143000" indent="-228600" eaLnBrk="0" hangingPunct="0">
              <a:defRPr sz="2400">
                <a:solidFill>
                  <a:schemeClr val="tx1"/>
                </a:solidFill>
                <a:latin typeface="Verdana" pitchFamily="34" charset="0"/>
              </a:defRPr>
            </a:lvl3pPr>
            <a:lvl4pPr marL="1600200" indent="-228600" eaLnBrk="0" hangingPunct="0">
              <a:defRPr sz="2400">
                <a:solidFill>
                  <a:schemeClr val="tx1"/>
                </a:solidFill>
                <a:latin typeface="Verdana" pitchFamily="34" charset="0"/>
              </a:defRPr>
            </a:lvl4pPr>
            <a:lvl5pPr marL="2057400" indent="-228600" eaLnBrk="0" hangingPunct="0">
              <a:defRPr sz="2400">
                <a:solidFill>
                  <a:schemeClr val="tx1"/>
                </a:solidFill>
                <a:latin typeface="Verdana" pitchFamily="34" charset="0"/>
              </a:defRPr>
            </a:lvl5pPr>
            <a:lvl6pPr marL="2514600" indent="-228600" eaLnBrk="0" fontAlgn="base" hangingPunct="0">
              <a:spcBef>
                <a:spcPct val="0"/>
              </a:spcBef>
              <a:spcAft>
                <a:spcPct val="0"/>
              </a:spcAft>
              <a:defRPr sz="2400">
                <a:solidFill>
                  <a:schemeClr val="tx1"/>
                </a:solidFill>
                <a:latin typeface="Verdana" pitchFamily="34" charset="0"/>
              </a:defRPr>
            </a:lvl6pPr>
            <a:lvl7pPr marL="2971800" indent="-228600" eaLnBrk="0" fontAlgn="base" hangingPunct="0">
              <a:spcBef>
                <a:spcPct val="0"/>
              </a:spcBef>
              <a:spcAft>
                <a:spcPct val="0"/>
              </a:spcAft>
              <a:defRPr sz="2400">
                <a:solidFill>
                  <a:schemeClr val="tx1"/>
                </a:solidFill>
                <a:latin typeface="Verdana" pitchFamily="34" charset="0"/>
              </a:defRPr>
            </a:lvl7pPr>
            <a:lvl8pPr marL="3429000" indent="-228600" eaLnBrk="0" fontAlgn="base" hangingPunct="0">
              <a:spcBef>
                <a:spcPct val="0"/>
              </a:spcBef>
              <a:spcAft>
                <a:spcPct val="0"/>
              </a:spcAft>
              <a:defRPr sz="2400">
                <a:solidFill>
                  <a:schemeClr val="tx1"/>
                </a:solidFill>
                <a:latin typeface="Verdana" pitchFamily="34" charset="0"/>
              </a:defRPr>
            </a:lvl8pPr>
            <a:lvl9pPr marL="3886200" indent="-228600" eaLnBrk="0" fontAlgn="base" hangingPunct="0">
              <a:spcBef>
                <a:spcPct val="0"/>
              </a:spcBef>
              <a:spcAft>
                <a:spcPct val="0"/>
              </a:spcAft>
              <a:defRPr sz="24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Verdana" pitchFamily="34" charset="0"/>
                <a:ea typeface="+mn-ea"/>
                <a:cs typeface="+mn-cs"/>
              </a:rPr>
              <a:t>yellow</a:t>
            </a:r>
          </a:p>
        </p:txBody>
      </p:sp>
      <p:sp>
        <p:nvSpPr>
          <p:cNvPr id="8" name="TextBox 35"/>
          <p:cNvSpPr txBox="1">
            <a:spLocks noChangeArrowheads="1"/>
          </p:cNvSpPr>
          <p:nvPr/>
        </p:nvSpPr>
        <p:spPr bwMode="auto">
          <a:xfrm>
            <a:off x="9415737" y="4328203"/>
            <a:ext cx="1669256" cy="40011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Verdana" pitchFamily="34" charset="0"/>
              </a:defRPr>
            </a:lvl1pPr>
            <a:lvl2pPr marL="742950" indent="-285750" eaLnBrk="0" hangingPunct="0">
              <a:defRPr sz="2400">
                <a:solidFill>
                  <a:schemeClr val="tx1"/>
                </a:solidFill>
                <a:latin typeface="Verdana" pitchFamily="34" charset="0"/>
              </a:defRPr>
            </a:lvl2pPr>
            <a:lvl3pPr marL="1143000" indent="-228600" eaLnBrk="0" hangingPunct="0">
              <a:defRPr sz="2400">
                <a:solidFill>
                  <a:schemeClr val="tx1"/>
                </a:solidFill>
                <a:latin typeface="Verdana" pitchFamily="34" charset="0"/>
              </a:defRPr>
            </a:lvl3pPr>
            <a:lvl4pPr marL="1600200" indent="-228600" eaLnBrk="0" hangingPunct="0">
              <a:defRPr sz="2400">
                <a:solidFill>
                  <a:schemeClr val="tx1"/>
                </a:solidFill>
                <a:latin typeface="Verdana" pitchFamily="34" charset="0"/>
              </a:defRPr>
            </a:lvl4pPr>
            <a:lvl5pPr marL="2057400" indent="-228600" eaLnBrk="0" hangingPunct="0">
              <a:defRPr sz="2400">
                <a:solidFill>
                  <a:schemeClr val="tx1"/>
                </a:solidFill>
                <a:latin typeface="Verdana" pitchFamily="34" charset="0"/>
              </a:defRPr>
            </a:lvl5pPr>
            <a:lvl6pPr marL="2514600" indent="-228600" eaLnBrk="0" fontAlgn="base" hangingPunct="0">
              <a:spcBef>
                <a:spcPct val="0"/>
              </a:spcBef>
              <a:spcAft>
                <a:spcPct val="0"/>
              </a:spcAft>
              <a:defRPr sz="2400">
                <a:solidFill>
                  <a:schemeClr val="tx1"/>
                </a:solidFill>
                <a:latin typeface="Verdana" pitchFamily="34" charset="0"/>
              </a:defRPr>
            </a:lvl6pPr>
            <a:lvl7pPr marL="2971800" indent="-228600" eaLnBrk="0" fontAlgn="base" hangingPunct="0">
              <a:spcBef>
                <a:spcPct val="0"/>
              </a:spcBef>
              <a:spcAft>
                <a:spcPct val="0"/>
              </a:spcAft>
              <a:defRPr sz="2400">
                <a:solidFill>
                  <a:schemeClr val="tx1"/>
                </a:solidFill>
                <a:latin typeface="Verdana" pitchFamily="34" charset="0"/>
              </a:defRPr>
            </a:lvl7pPr>
            <a:lvl8pPr marL="3429000" indent="-228600" eaLnBrk="0" fontAlgn="base" hangingPunct="0">
              <a:spcBef>
                <a:spcPct val="0"/>
              </a:spcBef>
              <a:spcAft>
                <a:spcPct val="0"/>
              </a:spcAft>
              <a:defRPr sz="2400">
                <a:solidFill>
                  <a:schemeClr val="tx1"/>
                </a:solidFill>
                <a:latin typeface="Verdana" pitchFamily="34" charset="0"/>
              </a:defRPr>
            </a:lvl8pPr>
            <a:lvl9pPr marL="3886200" indent="-228600" eaLnBrk="0" fontAlgn="base" hangingPunct="0">
              <a:spcBef>
                <a:spcPct val="0"/>
              </a:spcBef>
              <a:spcAft>
                <a:spcPct val="0"/>
              </a:spcAft>
              <a:defRPr sz="24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Verdana" pitchFamily="34" charset="0"/>
                <a:ea typeface="+mn-ea"/>
                <a:cs typeface="+mn-cs"/>
              </a:rPr>
              <a:t>orange</a:t>
            </a:r>
          </a:p>
        </p:txBody>
      </p:sp>
      <p:sp>
        <p:nvSpPr>
          <p:cNvPr id="9" name="TextBox 34"/>
          <p:cNvSpPr txBox="1">
            <a:spLocks noChangeArrowheads="1"/>
          </p:cNvSpPr>
          <p:nvPr/>
        </p:nvSpPr>
        <p:spPr bwMode="auto">
          <a:xfrm>
            <a:off x="9415737" y="5477705"/>
            <a:ext cx="1669256" cy="400110"/>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pitchFamily="34" charset="0"/>
              </a:defRPr>
            </a:lvl1pPr>
            <a:lvl2pPr marL="742950" indent="-285750" eaLnBrk="0" hangingPunct="0">
              <a:defRPr sz="2400">
                <a:solidFill>
                  <a:schemeClr val="tx1"/>
                </a:solidFill>
                <a:latin typeface="Verdana" pitchFamily="34" charset="0"/>
              </a:defRPr>
            </a:lvl2pPr>
            <a:lvl3pPr marL="1143000" indent="-228600" eaLnBrk="0" hangingPunct="0">
              <a:defRPr sz="2400">
                <a:solidFill>
                  <a:schemeClr val="tx1"/>
                </a:solidFill>
                <a:latin typeface="Verdana" pitchFamily="34" charset="0"/>
              </a:defRPr>
            </a:lvl3pPr>
            <a:lvl4pPr marL="1600200" indent="-228600" eaLnBrk="0" hangingPunct="0">
              <a:defRPr sz="2400">
                <a:solidFill>
                  <a:schemeClr val="tx1"/>
                </a:solidFill>
                <a:latin typeface="Verdana" pitchFamily="34" charset="0"/>
              </a:defRPr>
            </a:lvl4pPr>
            <a:lvl5pPr marL="2057400" indent="-228600" eaLnBrk="0" hangingPunct="0">
              <a:defRPr sz="2400">
                <a:solidFill>
                  <a:schemeClr val="tx1"/>
                </a:solidFill>
                <a:latin typeface="Verdana" pitchFamily="34" charset="0"/>
              </a:defRPr>
            </a:lvl5pPr>
            <a:lvl6pPr marL="2514600" indent="-228600" eaLnBrk="0" fontAlgn="base" hangingPunct="0">
              <a:spcBef>
                <a:spcPct val="0"/>
              </a:spcBef>
              <a:spcAft>
                <a:spcPct val="0"/>
              </a:spcAft>
              <a:defRPr sz="2400">
                <a:solidFill>
                  <a:schemeClr val="tx1"/>
                </a:solidFill>
                <a:latin typeface="Verdana" pitchFamily="34" charset="0"/>
              </a:defRPr>
            </a:lvl6pPr>
            <a:lvl7pPr marL="2971800" indent="-228600" eaLnBrk="0" fontAlgn="base" hangingPunct="0">
              <a:spcBef>
                <a:spcPct val="0"/>
              </a:spcBef>
              <a:spcAft>
                <a:spcPct val="0"/>
              </a:spcAft>
              <a:defRPr sz="2400">
                <a:solidFill>
                  <a:schemeClr val="tx1"/>
                </a:solidFill>
                <a:latin typeface="Verdana" pitchFamily="34" charset="0"/>
              </a:defRPr>
            </a:lvl7pPr>
            <a:lvl8pPr marL="3429000" indent="-228600" eaLnBrk="0" fontAlgn="base" hangingPunct="0">
              <a:spcBef>
                <a:spcPct val="0"/>
              </a:spcBef>
              <a:spcAft>
                <a:spcPct val="0"/>
              </a:spcAft>
              <a:defRPr sz="2400">
                <a:solidFill>
                  <a:schemeClr val="tx1"/>
                </a:solidFill>
                <a:latin typeface="Verdana" pitchFamily="34" charset="0"/>
              </a:defRPr>
            </a:lvl8pPr>
            <a:lvl9pPr marL="3886200" indent="-228600" eaLnBrk="0" fontAlgn="base" hangingPunct="0">
              <a:spcBef>
                <a:spcPct val="0"/>
              </a:spcBef>
              <a:spcAft>
                <a:spcPct val="0"/>
              </a:spcAft>
              <a:defRPr sz="24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Verdana" pitchFamily="34" charset="0"/>
                <a:ea typeface="+mn-ea"/>
                <a:cs typeface="+mn-cs"/>
              </a:rPr>
              <a:t>green</a:t>
            </a:r>
          </a:p>
        </p:txBody>
      </p:sp>
    </p:spTree>
    <p:extLst>
      <p:ext uri="{BB962C8B-B14F-4D97-AF65-F5344CB8AC3E}">
        <p14:creationId xmlns:p14="http://schemas.microsoft.com/office/powerpoint/2010/main" val="3689973384"/>
      </p:ext>
    </p:extLst>
  </p:cSld>
  <p:clrMapOvr>
    <a:masterClrMapping/>
  </p:clrMapOvr>
  <mc:AlternateContent xmlns:mc="http://schemas.openxmlformats.org/markup-compatibility/2006" xmlns:p14="http://schemas.microsoft.com/office/powerpoint/2010/main">
    <mc:Choice Requires="p14">
      <p:transition spd="slow">
        <p:fade/>
      </p:transition>
    </mc:Choice>
    <mc:Fallback xmlns="" xmlns:m="http://schemas.openxmlformats.org/officeDocument/2006/math" xmlns:a14="http://schemas.microsoft.com/office/drawing/2010/main">
      <p:transition spd="med">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type="lt">
                                    <p:tmAbs val="0"/>
                                  </p:iterate>
                                  <p:childTnLst>
                                    <p:set>
                                      <p:cBhvr>
                                        <p:cTn id="6" fill="hold"/>
                                        <p:tgtEl>
                                          <p:spTgt spid="236"/>
                                        </p:tgtEl>
                                        <p:attrNameLst>
                                          <p:attrName>style.visibility</p:attrName>
                                        </p:attrNameLst>
                                      </p:cBhvr>
                                      <p:to>
                                        <p:strVal val="visible"/>
                                      </p:to>
                                    </p:set>
                                    <p:anim calcmode="lin" valueType="num">
                                      <p:cBhvr>
                                        <p:cTn id="7" dur="1000" fill="hold"/>
                                        <p:tgtEl>
                                          <p:spTgt spid="236"/>
                                        </p:tgtEl>
                                        <p:attrNameLst>
                                          <p:attrName>ppt_x</p:attrName>
                                        </p:attrNameLst>
                                      </p:cBhvr>
                                      <p:tavLst>
                                        <p:tav tm="0">
                                          <p:val>
                                            <p:strVal val="0-#ppt_w/2"/>
                                          </p:val>
                                        </p:tav>
                                        <p:tav tm="100000">
                                          <p:val>
                                            <p:strVal val="#ppt_x"/>
                                          </p:val>
                                        </p:tav>
                                      </p:tavLst>
                                    </p:anim>
                                    <p:anim calcmode="lin" valueType="num">
                                      <p:cBhvr>
                                        <p:cTn id="8" dur="1000" fill="hold"/>
                                        <p:tgtEl>
                                          <p:spTgt spid="2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 grpId="0" advAuto="0"/>
      <p:bldP spid="7"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Rectangle 2"/>
          <p:cNvSpPr txBox="1"/>
          <p:nvPr/>
        </p:nvSpPr>
        <p:spPr>
          <a:xfrm>
            <a:off x="413925" y="827238"/>
            <a:ext cx="10663312" cy="984885"/>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5600">
                <a:solidFill>
                  <a:srgbClr val="FFFFFF"/>
                </a:solidFill>
              </a:defRPr>
            </a:pPr>
            <a:r>
              <a:rPr kumimoji="0" sz="28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Group the following senses according to whether they use </a:t>
            </a:r>
            <a:r>
              <a:rPr kumimoji="0" sz="28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chemical</a:t>
            </a:r>
            <a:r>
              <a:rPr kumimoji="0" sz="28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 or </a:t>
            </a:r>
            <a:r>
              <a:rPr kumimoji="0" sz="28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mechanical</a:t>
            </a:r>
            <a:r>
              <a:rPr kumimoji="0" sz="28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 receptors</a:t>
            </a:r>
          </a:p>
        </p:txBody>
      </p:sp>
      <p:sp>
        <p:nvSpPr>
          <p:cNvPr id="241" name="TextBox 5"/>
          <p:cNvSpPr txBox="1"/>
          <p:nvPr/>
        </p:nvSpPr>
        <p:spPr>
          <a:xfrm>
            <a:off x="451675" y="1854653"/>
            <a:ext cx="9216193" cy="61555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a:solidFill>
                  <a:srgbClr val="FFC0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prstClr val="black">
                    <a:lumMod val="75000"/>
                    <a:lumOff val="25000"/>
                  </a:prstClr>
                </a:solidFill>
                <a:effectLst/>
                <a:uLnTx/>
                <a:uFillTx/>
                <a:latin typeface="Calibri"/>
                <a:ea typeface="+mn-ea"/>
                <a:cs typeface="+mn-cs"/>
              </a:rPr>
              <a:t>Which one can be both and which one is neither?</a:t>
            </a:r>
          </a:p>
        </p:txBody>
      </p:sp>
      <p:sp>
        <p:nvSpPr>
          <p:cNvPr id="242" name="Rectangle 2"/>
          <p:cNvSpPr txBox="1"/>
          <p:nvPr/>
        </p:nvSpPr>
        <p:spPr>
          <a:xfrm>
            <a:off x="545513" y="2687919"/>
            <a:ext cx="10663312" cy="406265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0960" tIns="60960" rIns="60960" bIns="60960">
            <a:spAutoFit/>
          </a:bodyPr>
          <a:lstStyle/>
          <a:p>
            <a:pPr marL="457200" marR="0" lvl="0" indent="-457200" algn="l" defTabSz="914400" rtl="0" eaLnBrk="1" fontAlgn="auto" latinLnBrk="0" hangingPunct="1">
              <a:lnSpc>
                <a:spcPct val="100000"/>
              </a:lnSpc>
              <a:spcBef>
                <a:spcPts val="0"/>
              </a:spcBef>
              <a:spcAft>
                <a:spcPts val="0"/>
              </a:spcAft>
              <a:buClr>
                <a:srgbClr val="000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taste (gustation) </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pain (nociception)</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smell (olfaction)</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Touch</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Vibration</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Vision</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oxygen levels </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Cambria"/>
              <a:buChar char="▪"/>
              <a:tabLst/>
              <a:defRPr sz="6400">
                <a:solidFill>
                  <a:srgbClr val="FFFFFF"/>
                </a:solidFill>
              </a:defRPr>
            </a:pP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pressure (</a:t>
            </a:r>
            <a:r>
              <a:rPr kumimoji="0" sz="3200" b="0" i="0" u="none" strike="noStrike" kern="1200" cap="none" spc="0" normalizeH="0" baseline="0" noProof="0" dirty="0" err="1">
                <a:ln>
                  <a:noFill/>
                </a:ln>
                <a:solidFill>
                  <a:prstClr val="black">
                    <a:lumMod val="75000"/>
                    <a:lumOff val="25000"/>
                  </a:prstClr>
                </a:solidFill>
                <a:effectLst/>
                <a:uLnTx/>
                <a:uFillTx/>
                <a:latin typeface="Calibri"/>
                <a:ea typeface="+mn-ea"/>
                <a:cs typeface="+mn-cs"/>
              </a:rPr>
              <a:t>baroreception</a:t>
            </a:r>
            <a:r>
              <a:rPr kumimoji="0" sz="3200" b="0" i="0" u="none" strike="noStrike" kern="1200" cap="none" spc="0" normalizeH="0" baseline="0" noProof="0" dirty="0">
                <a:ln>
                  <a:noFill/>
                </a:ln>
                <a:solidFill>
                  <a:prstClr val="black">
                    <a:lumMod val="75000"/>
                    <a:lumOff val="25000"/>
                  </a:prstClr>
                </a:solidFill>
                <a:effectLst/>
                <a:uLnTx/>
                <a:uFillTx/>
                <a:latin typeface="Calibri"/>
                <a:ea typeface="+mn-ea"/>
                <a:cs typeface="+mn-cs"/>
              </a:rPr>
              <a:t>)</a:t>
            </a:r>
          </a:p>
        </p:txBody>
      </p:sp>
      <p:sp>
        <p:nvSpPr>
          <p:cNvPr id="243" name="Text Box 3"/>
          <p:cNvSpPr txBox="1"/>
          <p:nvPr/>
        </p:nvSpPr>
        <p:spPr>
          <a:xfrm>
            <a:off x="4265444" y="2653253"/>
            <a:ext cx="3615780" cy="61555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b="1">
                <a:solidFill>
                  <a:srgbClr val="FFFF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rPr>
              <a:t>- </a:t>
            </a:r>
            <a:r>
              <a:rPr kumimoji="0" sz="3200" b="1" i="0" u="none" strike="noStrike" kern="1200" cap="none" spc="0" normalizeH="0" baseline="0" noProof="0" dirty="0" err="1">
                <a:ln>
                  <a:noFill/>
                </a:ln>
                <a:solidFill>
                  <a:srgbClr val="FFFF00"/>
                </a:solidFill>
                <a:effectLst>
                  <a:outerShdw blurRad="38100" dist="38100" dir="2700000" algn="tl">
                    <a:srgbClr val="000000">
                      <a:alpha val="43137"/>
                    </a:srgbClr>
                  </a:outerShdw>
                </a:effectLst>
                <a:uLnTx/>
                <a:uFillTx/>
                <a:latin typeface="Calibri"/>
                <a:ea typeface="+mn-ea"/>
                <a:cs typeface="+mn-cs"/>
              </a:rPr>
              <a:t>chemoreptors</a:t>
            </a:r>
            <a:endPar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endParaRPr>
          </a:p>
        </p:txBody>
      </p:sp>
      <p:sp>
        <p:nvSpPr>
          <p:cNvPr id="244" name="Text Box 3"/>
          <p:cNvSpPr txBox="1"/>
          <p:nvPr/>
        </p:nvSpPr>
        <p:spPr>
          <a:xfrm>
            <a:off x="4353872" y="3161344"/>
            <a:ext cx="7618326" cy="61555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b="1">
                <a:solidFill>
                  <a:srgbClr val="FFFF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rPr>
              <a:t>- chemoreceptors and </a:t>
            </a:r>
            <a:r>
              <a:rPr kumimoji="0" sz="3200" b="1" i="0" u="none" strike="noStrike" kern="1200" cap="none" spc="0" normalizeH="0" baseline="0" noProof="0" dirty="0" err="1">
                <a:ln>
                  <a:noFill/>
                </a:ln>
                <a:solidFill>
                  <a:srgbClr val="FFFF00"/>
                </a:solidFill>
                <a:effectLst>
                  <a:outerShdw blurRad="38100" dist="38100" dir="2700000" algn="tl">
                    <a:srgbClr val="000000">
                      <a:alpha val="43137"/>
                    </a:srgbClr>
                  </a:outerShdw>
                </a:effectLst>
                <a:uLnTx/>
                <a:uFillTx/>
                <a:latin typeface="Calibri"/>
                <a:ea typeface="+mn-ea"/>
                <a:cs typeface="+mn-cs"/>
              </a:rPr>
              <a:t>mechanorecptors</a:t>
            </a:r>
            <a:endPar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endParaRPr>
          </a:p>
        </p:txBody>
      </p:sp>
      <p:sp>
        <p:nvSpPr>
          <p:cNvPr id="245" name="Text Box 3"/>
          <p:cNvSpPr txBox="1"/>
          <p:nvPr/>
        </p:nvSpPr>
        <p:spPr>
          <a:xfrm>
            <a:off x="5511779" y="6099394"/>
            <a:ext cx="5122806" cy="61555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b="1">
                <a:solidFill>
                  <a:srgbClr val="FFFF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rPr>
              <a:t>- mechanoreceptors</a:t>
            </a:r>
          </a:p>
        </p:txBody>
      </p:sp>
      <p:sp>
        <p:nvSpPr>
          <p:cNvPr id="246" name="Text Box 3"/>
          <p:cNvSpPr txBox="1"/>
          <p:nvPr/>
        </p:nvSpPr>
        <p:spPr>
          <a:xfrm>
            <a:off x="3967671" y="3652167"/>
            <a:ext cx="4572902" cy="61555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b="1">
                <a:solidFill>
                  <a:srgbClr val="FFFF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rPr>
              <a:t>- </a:t>
            </a:r>
            <a:r>
              <a:rPr kumimoji="0" sz="3200" b="1" i="0" u="none" strike="noStrike" kern="1200" cap="none" spc="0" normalizeH="0" baseline="0" noProof="0" dirty="0" err="1">
                <a:ln>
                  <a:noFill/>
                </a:ln>
                <a:solidFill>
                  <a:srgbClr val="FFFF00"/>
                </a:solidFill>
                <a:effectLst>
                  <a:outerShdw blurRad="38100" dist="38100" dir="2700000" algn="tl">
                    <a:srgbClr val="000000">
                      <a:alpha val="43137"/>
                    </a:srgbClr>
                  </a:outerShdw>
                </a:effectLst>
                <a:uLnTx/>
                <a:uFillTx/>
                <a:latin typeface="Calibri"/>
                <a:ea typeface="+mn-ea"/>
                <a:cs typeface="+mn-cs"/>
              </a:rPr>
              <a:t>chemorecptors</a:t>
            </a:r>
            <a:endPar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endParaRPr>
          </a:p>
        </p:txBody>
      </p:sp>
      <p:sp>
        <p:nvSpPr>
          <p:cNvPr id="247" name="Text Box 3"/>
          <p:cNvSpPr txBox="1"/>
          <p:nvPr/>
        </p:nvSpPr>
        <p:spPr>
          <a:xfrm>
            <a:off x="2192508" y="4142991"/>
            <a:ext cx="4572902" cy="61555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b="1">
                <a:solidFill>
                  <a:srgbClr val="FFFF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rPr>
              <a:t>- mechanoreceptors</a:t>
            </a:r>
          </a:p>
        </p:txBody>
      </p:sp>
      <p:sp>
        <p:nvSpPr>
          <p:cNvPr id="248" name="Text Box 3"/>
          <p:cNvSpPr txBox="1"/>
          <p:nvPr/>
        </p:nvSpPr>
        <p:spPr>
          <a:xfrm>
            <a:off x="2755266" y="4610760"/>
            <a:ext cx="4609012" cy="61555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b="1">
                <a:solidFill>
                  <a:srgbClr val="FFFF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rPr>
              <a:t>- </a:t>
            </a:r>
            <a:r>
              <a:rPr kumimoji="0" sz="3200" b="1" i="0" u="none" strike="noStrike" kern="1200" cap="none" spc="0" normalizeH="0" baseline="0" noProof="0" dirty="0" err="1">
                <a:ln>
                  <a:noFill/>
                </a:ln>
                <a:solidFill>
                  <a:srgbClr val="FFFF00"/>
                </a:solidFill>
                <a:effectLst>
                  <a:outerShdw blurRad="38100" dist="38100" dir="2700000" algn="tl">
                    <a:srgbClr val="000000">
                      <a:alpha val="43137"/>
                    </a:srgbClr>
                  </a:outerShdw>
                </a:effectLst>
                <a:uLnTx/>
                <a:uFillTx/>
                <a:latin typeface="Calibri"/>
                <a:ea typeface="+mn-ea"/>
                <a:cs typeface="+mn-cs"/>
              </a:rPr>
              <a:t>mechanorecptors</a:t>
            </a:r>
            <a:endPar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endParaRPr>
          </a:p>
        </p:txBody>
      </p:sp>
      <p:sp>
        <p:nvSpPr>
          <p:cNvPr id="249" name="Text Box 3"/>
          <p:cNvSpPr txBox="1"/>
          <p:nvPr/>
        </p:nvSpPr>
        <p:spPr>
          <a:xfrm>
            <a:off x="2273431" y="5083015"/>
            <a:ext cx="3362930" cy="61555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b="1">
                <a:solidFill>
                  <a:srgbClr val="FFFF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rPr>
              <a:t>- neither</a:t>
            </a:r>
          </a:p>
        </p:txBody>
      </p:sp>
      <p:sp>
        <p:nvSpPr>
          <p:cNvPr id="250" name="Text Box 3"/>
          <p:cNvSpPr txBox="1"/>
          <p:nvPr/>
        </p:nvSpPr>
        <p:spPr>
          <a:xfrm>
            <a:off x="3417768" y="5564267"/>
            <a:ext cx="5122806" cy="61555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0960" tIns="60960" rIns="60960" bIns="60960">
            <a:spAutoFit/>
          </a:bodyPr>
          <a:lstStyle>
            <a:lvl1pPr>
              <a:defRPr sz="6400" b="1">
                <a:solidFill>
                  <a:srgbClr val="FFFF0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a:ea typeface="+mn-ea"/>
                <a:cs typeface="+mn-cs"/>
              </a:rPr>
              <a:t>- chemoreceptors</a:t>
            </a:r>
          </a:p>
        </p:txBody>
      </p:sp>
      <p:sp>
        <p:nvSpPr>
          <p:cNvPr id="251" name="Content Placeholder 2"/>
          <p:cNvSpPr txBox="1"/>
          <p:nvPr/>
        </p:nvSpPr>
        <p:spPr>
          <a:xfrm>
            <a:off x="413925" y="110523"/>
            <a:ext cx="5411996" cy="67403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20" tIns="45720" rIns="45720" bIns="45720" anchor="b">
            <a:spAutoFit/>
          </a:bodyPr>
          <a:lstStyle>
            <a:lvl1pPr algn="just">
              <a:lnSpc>
                <a:spcPct val="90000"/>
              </a:lnSpc>
              <a:spcBef>
                <a:spcPts val="4000"/>
              </a:spcBef>
              <a:defRPr sz="8400" b="1">
                <a:solidFill>
                  <a:srgbClr val="FFC000"/>
                </a:solidFill>
              </a:defRPr>
            </a:lvl1pPr>
          </a:lstStyle>
          <a:p>
            <a:pPr marL="0" marR="0" lvl="0" indent="0" algn="just" defTabSz="914400" rtl="0" eaLnBrk="1" fontAlgn="auto" latinLnBrk="0" hangingPunct="1">
              <a:lnSpc>
                <a:spcPct val="90000"/>
              </a:lnSpc>
              <a:spcBef>
                <a:spcPts val="4000"/>
              </a:spcBef>
              <a:spcAft>
                <a:spcPts val="0"/>
              </a:spcAft>
              <a:buClrTx/>
              <a:buSzTx/>
              <a:buFontTx/>
              <a:buNone/>
              <a:tabLst/>
              <a:defRPr/>
            </a:pPr>
            <a:r>
              <a:rPr kumimoji="0" sz="4200" b="1" i="0" u="none" strike="noStrike" kern="1200" cap="none" spc="0" normalizeH="0" baseline="0" noProof="0" dirty="0">
                <a:ln>
                  <a:noFill/>
                </a:ln>
                <a:solidFill>
                  <a:srgbClr val="F79646">
                    <a:lumMod val="75000"/>
                  </a:srgbClr>
                </a:solidFill>
                <a:effectLst>
                  <a:outerShdw blurRad="38100" dist="38100" dir="2700000" algn="tl">
                    <a:srgbClr val="000000">
                      <a:alpha val="43137"/>
                    </a:srgbClr>
                  </a:outerShdw>
                </a:effectLst>
                <a:uLnTx/>
                <a:uFillTx/>
                <a:latin typeface="Calibri"/>
                <a:ea typeface="+mn-ea"/>
                <a:cs typeface="+mn-cs"/>
              </a:rPr>
              <a:t>Checkpoint</a:t>
            </a:r>
          </a:p>
        </p:txBody>
      </p:sp>
    </p:spTree>
    <p:extLst>
      <p:ext uri="{BB962C8B-B14F-4D97-AF65-F5344CB8AC3E}">
        <p14:creationId xmlns:p14="http://schemas.microsoft.com/office/powerpoint/2010/main" val="1322145696"/>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4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iterate>
                                    <p:tmAbs val="0"/>
                                  </p:iterate>
                                  <p:childTnLst>
                                    <p:set>
                                      <p:cBhvr>
                                        <p:cTn id="9" fill="hold"/>
                                        <p:tgtEl>
                                          <p:spTgt spid="244"/>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iterate>
                                    <p:tmAbs val="0"/>
                                  </p:iterate>
                                  <p:childTnLst>
                                    <p:set>
                                      <p:cBhvr>
                                        <p:cTn id="12" fill="hold"/>
                                        <p:tgtEl>
                                          <p:spTgt spid="246"/>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iterate>
                                    <p:tmAbs val="0"/>
                                  </p:iterate>
                                  <p:childTnLst>
                                    <p:set>
                                      <p:cBhvr>
                                        <p:cTn id="15" fill="hold"/>
                                        <p:tgtEl>
                                          <p:spTgt spid="247"/>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iterate>
                                    <p:tmAbs val="0"/>
                                  </p:iterate>
                                  <p:childTnLst>
                                    <p:set>
                                      <p:cBhvr>
                                        <p:cTn id="18" fill="hold"/>
                                        <p:tgtEl>
                                          <p:spTgt spid="248"/>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iterate>
                                    <p:tmAbs val="0"/>
                                  </p:iterate>
                                  <p:childTnLst>
                                    <p:set>
                                      <p:cBhvr>
                                        <p:cTn id="21" fill="hold"/>
                                        <p:tgtEl>
                                          <p:spTgt spid="249"/>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iterate>
                                    <p:tmAbs val="0"/>
                                  </p:iterate>
                                  <p:childTnLst>
                                    <p:set>
                                      <p:cBhvr>
                                        <p:cTn id="24" fill="hold"/>
                                        <p:tgtEl>
                                          <p:spTgt spid="250"/>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iterate>
                                    <p:tmAbs val="0"/>
                                  </p:iterate>
                                  <p:childTnLst>
                                    <p:set>
                                      <p:cBhvr>
                                        <p:cTn id="27" fill="hold"/>
                                        <p:tgtEl>
                                          <p:spTgt spid="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animBg="1" advAuto="0"/>
      <p:bldP spid="244" grpId="0" animBg="1" advAuto="0"/>
      <p:bldP spid="245" grpId="0" animBg="1" advAuto="0"/>
      <p:bldP spid="246" grpId="0" animBg="1" advAuto="0"/>
      <p:bldP spid="247" grpId="0" animBg="1" advAuto="0"/>
      <p:bldP spid="248" grpId="0" animBg="1" advAuto="0"/>
      <p:bldP spid="249" grpId="0" animBg="1" advAuto="0"/>
      <p:bldP spid="250" grpId="0" animBg="1" advAuto="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nus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knust" id="{FF09696D-8338-496B-886D-354B4FA60607}" vid="{010F80F5-7E33-40D0-B213-0A0807583599}"/>
    </a:ext>
  </a:extLst>
</a:theme>
</file>

<file path=ppt/theme/theme3.xml><?xml version="1.0" encoding="utf-8"?>
<a:theme xmlns:a="http://schemas.openxmlformats.org/drawingml/2006/main" name="1_KNUS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KNUST" id="{B5085C51-CCAF-46C2-B22E-6BFDB795A056}" vid="{A3209CAF-4634-47ED-8E5B-CE68572CD5B7}"/>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2_KNUS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KNUST" id="{B5085C51-CCAF-46C2-B22E-6BFDB795A056}" vid="{A3209CAF-4634-47ED-8E5B-CE68572CD5B7}"/>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1162</TotalTime>
  <Words>2129</Words>
  <Application>Microsoft Office PowerPoint</Application>
  <PresentationFormat>Widescreen</PresentationFormat>
  <Paragraphs>343</Paragraphs>
  <Slides>55</Slides>
  <Notes>2</Notes>
  <HiddenSlides>0</HiddenSlides>
  <MMClips>1</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55</vt:i4>
      </vt:variant>
    </vt:vector>
  </HeadingPairs>
  <TitlesOfParts>
    <vt:vector size="71" baseType="lpstr">
      <vt:lpstr>Aptos</vt:lpstr>
      <vt:lpstr>Aptos Display</vt:lpstr>
      <vt:lpstr>Arial</vt:lpstr>
      <vt:lpstr>Calibri</vt:lpstr>
      <vt:lpstr>Cambria</vt:lpstr>
      <vt:lpstr>Garamond</vt:lpstr>
      <vt:lpstr>Helvetica</vt:lpstr>
      <vt:lpstr>Symbol</vt:lpstr>
      <vt:lpstr>Times New Roman</vt:lpstr>
      <vt:lpstr>Verdana</vt:lpstr>
      <vt:lpstr>Wingdings</vt:lpstr>
      <vt:lpstr>Office Theme</vt:lpstr>
      <vt:lpstr>knust</vt:lpstr>
      <vt:lpstr>1_KNUST</vt:lpstr>
      <vt:lpstr>1_Office Theme</vt:lpstr>
      <vt:lpstr>2_KNUST</vt:lpstr>
      <vt:lpstr>The Nervous System</vt:lpstr>
      <vt:lpstr>PowerPoint Presentation</vt:lpstr>
      <vt:lpstr>The Nervous System</vt:lpstr>
      <vt:lpstr>PowerPoint Presentation</vt:lpstr>
      <vt:lpstr>PowerPoint Presentation</vt:lpstr>
      <vt:lpstr>Nervous vs. Endocrine System</vt:lpstr>
      <vt:lpstr>PowerPoint Presentation</vt:lpstr>
      <vt:lpstr>Peripheral Nervous System</vt:lpstr>
      <vt:lpstr>PowerPoint Presentation</vt:lpstr>
      <vt:lpstr>Nervous Tissue</vt:lpstr>
      <vt:lpstr>Neuroglia</vt:lpstr>
      <vt:lpstr>PowerPoint Presentation</vt:lpstr>
      <vt:lpstr>PowerPoint Presentation</vt:lpstr>
      <vt:lpstr>PowerPoint Presentation</vt:lpstr>
      <vt:lpstr>PowerPoint Presentation</vt:lpstr>
      <vt:lpstr>PowerPoint Presentation</vt:lpstr>
      <vt:lpstr>PowerPoint Presentation</vt:lpstr>
      <vt:lpstr>Neuroglia</vt:lpstr>
      <vt:lpstr>Neuroglia</vt:lpstr>
      <vt:lpstr>Neuroglia</vt:lpstr>
      <vt:lpstr>Neuroglia</vt:lpstr>
      <vt:lpstr>Neuroglia vs. Neurons</vt:lpstr>
      <vt:lpstr>PowerPoint Presentation</vt:lpstr>
      <vt:lpstr>PowerPoint Presentation</vt:lpstr>
      <vt:lpstr>1 min Question</vt:lpstr>
      <vt:lpstr>1 min Question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Structural classification of neurons</vt:lpstr>
      <vt:lpstr>PowerPoint Presentation</vt:lpstr>
      <vt:lpstr>PowerPoint Presentation</vt:lpstr>
      <vt:lpstr>Outline of Topics</vt:lpstr>
      <vt:lpstr>Introduction</vt:lpstr>
      <vt:lpstr>PowerPoint Presentation</vt:lpstr>
      <vt:lpstr>Classification of Sensory Receptors</vt:lpstr>
      <vt:lpstr>PowerPoint Presentation</vt:lpstr>
      <vt:lpstr>Classification of Sensory Receptors -By Location of stimuli</vt:lpstr>
      <vt:lpstr>Classification of Sensory Receptors -By Location of stimuli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Classification of Receptors - By Adaptation</vt:lpstr>
      <vt:lpstr>PowerPoint Presentation</vt:lpstr>
      <vt:lpstr>Sensory receptors in the skin have a different structure than sensory receptors in the eye. The most reasonable explanation for the difference in the structure of these receptors is that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NTIM</dc:creator>
  <cp:lastModifiedBy>MICHAEL NTIM</cp:lastModifiedBy>
  <cp:revision>1</cp:revision>
  <dcterms:created xsi:type="dcterms:W3CDTF">2026-05-05T14:54:31Z</dcterms:created>
  <dcterms:modified xsi:type="dcterms:W3CDTF">2026-05-06T10:16:40Z</dcterms:modified>
</cp:coreProperties>
</file>