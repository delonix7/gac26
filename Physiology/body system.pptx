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3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63444-5FB7-4A3C-981D-28F343992EDC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28C33-11D6-449B-A681-7B45CEF344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99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72025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This is also called hierarchy of life!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EC6923-4091-4CE4-BA14-F4F6A971DD4C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046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These systems are grouped into 4 main Groups. Group 1 works in relation to the blood stream. Their function is to maintain homeostasis of the blood!</a:t>
            </a: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57F040-172C-4B7F-BDEE-34DC79AA8F9D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314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Muscle and skeletal systems function in external voluntary movement. Any injury to any of them leads to impairment in voluntary movement. 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B51496-294D-4C8D-8216-289E67D16F31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213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These systems are not essential for our day-to-day life. In fact, they do not function at all time. They are never like the other systems spoken about earlier.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F471C0-2114-4476-9EFF-0DFD73AA748C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046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Control of other systems</a:t>
            </a: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F6FEFD-D5D5-4085-A583-4FCE4B379C4E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12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698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4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55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71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32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00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59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57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8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96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6CC96-CB50-4678-9734-28D64FFE87C5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0E773-9930-46B8-9E64-615587BDB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401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Overview of body systems </a:t>
            </a:r>
            <a:r>
              <a:rPr lang="en-US" altLang="en-US" b="1" smtClean="0"/>
              <a:t>that ensures </a:t>
            </a:r>
            <a:r>
              <a:rPr lang="en-US" altLang="en-US" b="1" dirty="0" smtClean="0"/>
              <a:t>homeostasis</a:t>
            </a:r>
            <a:endParaRPr lang="en-US" altLang="en-US" b="1" dirty="0" smtClean="0"/>
          </a:p>
        </p:txBody>
      </p:sp>
      <p:sp>
        <p:nvSpPr>
          <p:cNvPr id="32771" name="Conten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7620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 smtClean="0"/>
              <a:t>Y.A. MENSAH-BONSU</a:t>
            </a:r>
          </a:p>
          <a:p>
            <a:pPr eaLnBrk="1" hangingPunct="1"/>
            <a:r>
              <a:rPr lang="en-US" altLang="en-US" dirty="0" smtClean="0"/>
              <a:t>MBCHB, MPH, MPHIL, WACS… GCPS…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5661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Recommended Books</a:t>
            </a:r>
          </a:p>
        </p:txBody>
      </p:sp>
      <p:sp>
        <p:nvSpPr>
          <p:cNvPr id="348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en-US" smtClean="0"/>
              <a:t>Review of Medical Physiology- </a:t>
            </a:r>
            <a:r>
              <a:rPr lang="en-US" altLang="en-US" i="1" smtClean="0"/>
              <a:t>Ganong</a:t>
            </a:r>
          </a:p>
          <a:p>
            <a:pPr eaLnBrk="1" hangingPunct="1"/>
            <a:r>
              <a:rPr lang="en-US" altLang="en-US" smtClean="0"/>
              <a:t>Textbook of Medical Physiology- </a:t>
            </a:r>
            <a:r>
              <a:rPr lang="en-US" altLang="en-US" i="1" smtClean="0"/>
              <a:t>Guyton &amp; Hall</a:t>
            </a:r>
          </a:p>
          <a:p>
            <a:pPr eaLnBrk="1" hangingPunct="1"/>
            <a:r>
              <a:rPr lang="en-US" altLang="en-US" smtClean="0"/>
              <a:t>Physiology- </a:t>
            </a:r>
            <a:r>
              <a:rPr lang="en-US" altLang="en-US" i="1" smtClean="0"/>
              <a:t>Berne et al</a:t>
            </a:r>
          </a:p>
          <a:p>
            <a:pPr eaLnBrk="1" hangingPunct="1"/>
            <a:r>
              <a:rPr lang="en-US" altLang="en-US" smtClean="0"/>
              <a:t>Human Physiology- </a:t>
            </a:r>
            <a:r>
              <a:rPr lang="en-US" altLang="en-US" i="1" smtClean="0"/>
              <a:t>Sherwood</a:t>
            </a:r>
          </a:p>
          <a:p>
            <a:pPr eaLnBrk="1" hangingPunct="1"/>
            <a:r>
              <a:rPr lang="en-US" altLang="en-US" smtClean="0"/>
              <a:t>Human Physiology- </a:t>
            </a:r>
            <a:r>
              <a:rPr lang="en-US" altLang="en-US" i="1" smtClean="0"/>
              <a:t>Vander et al</a:t>
            </a:r>
          </a:p>
        </p:txBody>
      </p:sp>
    </p:spTree>
    <p:extLst>
      <p:ext uri="{BB962C8B-B14F-4D97-AF65-F5344CB8AC3E}">
        <p14:creationId xmlns:p14="http://schemas.microsoft.com/office/powerpoint/2010/main" val="3921951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622426"/>
            <a:ext cx="5715000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Tit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Levels of organization in the Human Body</a:t>
            </a:r>
          </a:p>
        </p:txBody>
      </p:sp>
    </p:spTree>
    <p:extLst>
      <p:ext uri="{BB962C8B-B14F-4D97-AF65-F5344CB8AC3E}">
        <p14:creationId xmlns:p14="http://schemas.microsoft.com/office/powerpoint/2010/main" val="389821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57201"/>
            <a:ext cx="8763000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6"/>
          <p:cNvSpPr txBox="1">
            <a:spLocks/>
          </p:cNvSpPr>
          <p:nvPr/>
        </p:nvSpPr>
        <p:spPr>
          <a:xfrm>
            <a:off x="2286000" y="6111875"/>
            <a:ext cx="8229600" cy="8461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Organ Systems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16019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0"/>
          <a:stretch>
            <a:fillRect/>
          </a:stretch>
        </p:blipFill>
        <p:spPr bwMode="auto">
          <a:xfrm>
            <a:off x="2286000" y="849313"/>
            <a:ext cx="7975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6"/>
          <p:cNvSpPr txBox="1">
            <a:spLocks/>
          </p:cNvSpPr>
          <p:nvPr/>
        </p:nvSpPr>
        <p:spPr>
          <a:xfrm>
            <a:off x="1828800" y="76200"/>
            <a:ext cx="8229600" cy="8461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Organ Systems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70005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15"/>
          <a:stretch>
            <a:fillRect/>
          </a:stretch>
        </p:blipFill>
        <p:spPr bwMode="auto">
          <a:xfrm>
            <a:off x="1533525" y="1295400"/>
            <a:ext cx="3581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6"/>
          <p:cNvSpPr txBox="1">
            <a:spLocks/>
          </p:cNvSpPr>
          <p:nvPr/>
        </p:nvSpPr>
        <p:spPr>
          <a:xfrm>
            <a:off x="1752600" y="122238"/>
            <a:ext cx="8229600" cy="8318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Cardiovascular System G1a</a:t>
            </a:r>
            <a:endParaRPr lang="en-US" sz="3200" kern="0" dirty="0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5715000" y="1706564"/>
            <a:ext cx="45720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NewRomanPS-BoldMT"/>
              </a:rPr>
              <a:t>The heart and the vessels that carry blood or blood constituents (lymph) through the body.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NewRomanPS-BoldMT"/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NewRomanPS-BoldMT"/>
              </a:rPr>
              <a:t>Transports respiratory gases,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NewRomanPS-BoldMT"/>
              </a:rPr>
              <a:t>nutrients, wastes, and hormones;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NewRomanPS-BoldMT"/>
              </a:rPr>
              <a:t>protects against disease and fluid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NewRomanPS-BoldMT"/>
              </a:rPr>
              <a:t>loss; helps regulate body temperature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NewRomanPS-BoldMT"/>
              </a:rPr>
              <a:t>and acid–base balance.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4834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55"/>
          <a:stretch>
            <a:fillRect/>
          </a:stretch>
        </p:blipFill>
        <p:spPr bwMode="auto">
          <a:xfrm>
            <a:off x="1752600" y="1263650"/>
            <a:ext cx="373380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5715000" y="1295401"/>
            <a:ext cx="457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The body organs concerned with movement of respiratory gases (O</a:t>
            </a:r>
            <a:r>
              <a:rPr lang="en-US" altLang="en-US" sz="2000" baseline="-25000">
                <a:solidFill>
                  <a:srgbClr val="000000"/>
                </a:solidFill>
                <a:latin typeface="TimesNewRomanPS-BoldMT"/>
              </a:rPr>
              <a:t>2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 and CO</a:t>
            </a:r>
            <a:r>
              <a:rPr lang="en-US" altLang="en-US" sz="2000" baseline="-25000">
                <a:solidFill>
                  <a:srgbClr val="000000"/>
                </a:solidFill>
                <a:latin typeface="TimesNewRomanPS-BoldMT"/>
              </a:rPr>
              <a:t>2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) to and from the pulmonary blood (the blood within the lungs).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Supplies oxygen to the blood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eliminates carbon dioxide;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also helps to regulate acid–base balance.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NewRomanPS-BoldMT"/>
              </a:rPr>
              <a:t>Pharynx is part of digestive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NewRomanPS-BoldMT"/>
              </a:rPr>
              <a:t>respiratory system</a:t>
            </a:r>
            <a:endParaRPr lang="en-US" altLang="en-US" sz="1800"/>
          </a:p>
        </p:txBody>
      </p:sp>
      <p:sp>
        <p:nvSpPr>
          <p:cNvPr id="4" name="Title 6"/>
          <p:cNvSpPr txBox="1">
            <a:spLocks/>
          </p:cNvSpPr>
          <p:nvPr/>
        </p:nvSpPr>
        <p:spPr>
          <a:xfrm>
            <a:off x="2057400" y="0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Respiratory System G1b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268676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2"/>
          <a:stretch>
            <a:fillRect/>
          </a:stretch>
        </p:blipFill>
        <p:spPr bwMode="auto">
          <a:xfrm>
            <a:off x="1676400" y="1295401"/>
            <a:ext cx="3657600" cy="4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5562600" y="2154239"/>
            <a:ext cx="4572000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The body organs that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render ingested foods absorbable.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Mechanically and chemically breaks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down foods for cellular use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eliminates undigested wastes.</a:t>
            </a:r>
            <a:endParaRPr lang="en-US" altLang="en-US" sz="1800"/>
          </a:p>
        </p:txBody>
      </p:sp>
      <p:sp>
        <p:nvSpPr>
          <p:cNvPr id="4" name="Title 6"/>
          <p:cNvSpPr txBox="1">
            <a:spLocks/>
          </p:cNvSpPr>
          <p:nvPr/>
        </p:nvSpPr>
        <p:spPr>
          <a:xfrm>
            <a:off x="2057400" y="228600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Digestive System G1c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5978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7"/>
          <a:stretch>
            <a:fillRect/>
          </a:stretch>
        </p:blipFill>
        <p:spPr bwMode="auto">
          <a:xfrm>
            <a:off x="1716088" y="1268413"/>
            <a:ext cx="38100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2"/>
          <p:cNvSpPr>
            <a:spLocks noChangeArrowheads="1"/>
          </p:cNvSpPr>
          <p:nvPr/>
        </p:nvSpPr>
        <p:spPr bwMode="auto">
          <a:xfrm>
            <a:off x="5943600" y="1600201"/>
            <a:ext cx="45720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The organs that operate to remove wastes from the blood and 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eliminate urine from the body.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Removes various wastes from the blood; regulates the chemical composition, volume, and electrolyte balance of the blood; helps maintain the acid–base balance of the body.</a:t>
            </a:r>
            <a:endParaRPr lang="en-US" altLang="en-US" sz="1800"/>
          </a:p>
        </p:txBody>
      </p:sp>
      <p:sp>
        <p:nvSpPr>
          <p:cNvPr id="5" name="Title 6"/>
          <p:cNvSpPr txBox="1">
            <a:spLocks/>
          </p:cNvSpPr>
          <p:nvPr/>
        </p:nvSpPr>
        <p:spPr>
          <a:xfrm>
            <a:off x="1752600" y="122238"/>
            <a:ext cx="8229600" cy="8318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Urinary System G1d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208771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90"/>
          <a:stretch>
            <a:fillRect/>
          </a:stretch>
        </p:blipFill>
        <p:spPr bwMode="auto">
          <a:xfrm>
            <a:off x="1676401" y="1219200"/>
            <a:ext cx="35798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5"/>
          <p:cNvSpPr>
            <a:spLocks noChangeArrowheads="1"/>
          </p:cNvSpPr>
          <p:nvPr/>
        </p:nvSpPr>
        <p:spPr bwMode="auto">
          <a:xfrm>
            <a:off x="5480050" y="1630363"/>
            <a:ext cx="4730750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DEFINITION: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The integument (skin) and structures derived from it (hair, nails, and oil sweat glands).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Protects the body,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regulates body temperature,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eliminates wastes,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receives certain stimuli (tactile,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temperature, and pain).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8132" name="Title 6"/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8229600" cy="844550"/>
          </a:xfrm>
        </p:spPr>
        <p:txBody>
          <a:bodyPr/>
          <a:lstStyle/>
          <a:p>
            <a:r>
              <a:rPr lang="en-US" altLang="en-US" sz="3200" b="1"/>
              <a:t>Integumentary System G1e</a:t>
            </a: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223444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8"/>
          <a:stretch>
            <a:fillRect/>
          </a:stretch>
        </p:blipFill>
        <p:spPr bwMode="auto">
          <a:xfrm>
            <a:off x="1676400" y="1219200"/>
            <a:ext cx="3856038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Rectangle 2"/>
          <p:cNvSpPr>
            <a:spLocks noChangeArrowheads="1"/>
          </p:cNvSpPr>
          <p:nvPr/>
        </p:nvSpPr>
        <p:spPr bwMode="auto">
          <a:xfrm>
            <a:off x="5867400" y="1524000"/>
            <a:ext cx="4572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Consists of the lymphatic vessels, lymph nodes, and other lymphatic organs.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Removes foreign substances from the blood and lymph, combats disease, maintains tissue fluid balance, and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70C0"/>
                </a:solidFill>
                <a:latin typeface="TimesNewRomanPS-BoldMT"/>
              </a:rPr>
              <a:t>absorbs dietary fats from the digestive tract.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NewRomanPS-BoldMT"/>
              </a:rPr>
              <a:t>Returns tissue fluids to the heart</a:t>
            </a:r>
            <a:endParaRPr lang="en-US" altLang="en-US" sz="1800"/>
          </a:p>
        </p:txBody>
      </p:sp>
      <p:sp>
        <p:nvSpPr>
          <p:cNvPr id="4" name="Title 6"/>
          <p:cNvSpPr txBox="1">
            <a:spLocks/>
          </p:cNvSpPr>
          <p:nvPr/>
        </p:nvSpPr>
        <p:spPr>
          <a:xfrm>
            <a:off x="2057400" y="0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Lymphatic and Immune System G1f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224019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46"/>
          <a:stretch>
            <a:fillRect/>
          </a:stretch>
        </p:blipFill>
        <p:spPr bwMode="auto">
          <a:xfrm>
            <a:off x="1752600" y="1295400"/>
            <a:ext cx="3810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5791200" y="1524001"/>
            <a:ext cx="4572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Bones, cartilage, and ligaments (which steady the bones at the joints).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Provides body support and protection, permits movement and leverage, produces blood cells (hematopoiesis), and stores minerals.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5" name="Title 6"/>
          <p:cNvSpPr txBox="1">
            <a:spLocks/>
          </p:cNvSpPr>
          <p:nvPr/>
        </p:nvSpPr>
        <p:spPr>
          <a:xfrm>
            <a:off x="2133600" y="152400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>
                <a:solidFill>
                  <a:srgbClr val="000000"/>
                </a:solidFill>
              </a:rPr>
              <a:t>Skeletal System G2a</a:t>
            </a:r>
            <a:endParaRPr lang="en-US" sz="32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32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96"/>
          <a:stretch>
            <a:fillRect/>
          </a:stretch>
        </p:blipFill>
        <p:spPr bwMode="auto">
          <a:xfrm>
            <a:off x="1676400" y="1447800"/>
            <a:ext cx="3733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5943600" y="1981201"/>
            <a:ext cx="4548188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Skeletal muscles of the body and their tendinous attachments.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Effects body movements, maintains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posture, and produces body heat.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" name="Title 6"/>
          <p:cNvSpPr txBox="1">
            <a:spLocks/>
          </p:cNvSpPr>
          <p:nvPr/>
        </p:nvSpPr>
        <p:spPr>
          <a:xfrm>
            <a:off x="1646238" y="381000"/>
            <a:ext cx="8229600" cy="8318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>
                <a:solidFill>
                  <a:srgbClr val="000000"/>
                </a:solidFill>
              </a:rPr>
              <a:t>Muscular System G2b</a:t>
            </a:r>
            <a:endParaRPr lang="en-US" sz="32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30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812800"/>
            <a:ext cx="4519612" cy="596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6"/>
          <p:cNvSpPr txBox="1">
            <a:spLocks/>
          </p:cNvSpPr>
          <p:nvPr/>
        </p:nvSpPr>
        <p:spPr>
          <a:xfrm>
            <a:off x="1905000" y="152400"/>
            <a:ext cx="8229600" cy="8318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>
                <a:solidFill>
                  <a:srgbClr val="000000"/>
                </a:solidFill>
              </a:rPr>
              <a:t>=Musculoskeletal System G2a-b</a:t>
            </a:r>
            <a:endParaRPr lang="en-US" sz="32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98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27" b="7545"/>
          <a:stretch>
            <a:fillRect/>
          </a:stretch>
        </p:blipFill>
        <p:spPr bwMode="auto">
          <a:xfrm>
            <a:off x="2560639" y="957264"/>
            <a:ext cx="6613525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Rectangle 2"/>
          <p:cNvSpPr>
            <a:spLocks noChangeArrowheads="1"/>
          </p:cNvSpPr>
          <p:nvPr/>
        </p:nvSpPr>
        <p:spPr bwMode="auto">
          <a:xfrm>
            <a:off x="2362200" y="4919664"/>
            <a:ext cx="85344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The body organs that produce, store, and transport reproductive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cells (gametes, or sperm and ova).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FUNCTIONS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Reproduce the organism, produce sex hormones.</a:t>
            </a:r>
            <a:endParaRPr lang="en-US" altLang="en-US" sz="1800"/>
          </a:p>
        </p:txBody>
      </p:sp>
      <p:sp>
        <p:nvSpPr>
          <p:cNvPr id="4" name="Title 6"/>
          <p:cNvSpPr txBox="1">
            <a:spLocks/>
          </p:cNvSpPr>
          <p:nvPr/>
        </p:nvSpPr>
        <p:spPr>
          <a:xfrm>
            <a:off x="1752600" y="122238"/>
            <a:ext cx="8229600" cy="8318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Reproductive Systems G3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90718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49"/>
          <a:stretch>
            <a:fillRect/>
          </a:stretch>
        </p:blipFill>
        <p:spPr bwMode="auto">
          <a:xfrm>
            <a:off x="1676400" y="1295400"/>
            <a:ext cx="3429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86400" y="1524001"/>
            <a:ext cx="45720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b="1" dirty="0">
                <a:latin typeface="+mj-lt"/>
              </a:rPr>
              <a:t>DEFINITION </a:t>
            </a:r>
          </a:p>
          <a:p>
            <a:pPr eaLnBrk="1" hangingPunct="1">
              <a:defRPr/>
            </a:pPr>
            <a:r>
              <a:rPr lang="en-US" sz="2000" dirty="0">
                <a:latin typeface="+mj-lt"/>
              </a:rPr>
              <a:t>Brain, spinal cord, nerves, and sensory organs such as the eye and the ear.</a:t>
            </a:r>
          </a:p>
          <a:p>
            <a:pPr eaLnBrk="1" hangingPunct="1">
              <a:defRPr/>
            </a:pPr>
            <a:endParaRPr lang="en-US" sz="2000" b="1" dirty="0">
              <a:latin typeface="+mj-lt"/>
            </a:endParaRPr>
          </a:p>
          <a:p>
            <a:pPr eaLnBrk="1" hangingPunct="1">
              <a:defRPr/>
            </a:pPr>
            <a:r>
              <a:rPr lang="en-US" sz="2000" b="1" dirty="0">
                <a:latin typeface="+mj-lt"/>
              </a:rPr>
              <a:t>FUNCTIONS</a:t>
            </a:r>
          </a:p>
          <a:p>
            <a:pPr eaLnBrk="1" hangingPunct="1">
              <a:defRPr/>
            </a:pPr>
            <a:r>
              <a:rPr lang="en-US" sz="2000" dirty="0">
                <a:latin typeface="+mj-lt"/>
              </a:rPr>
              <a:t>Detects and responds to changes in</a:t>
            </a:r>
          </a:p>
          <a:p>
            <a:pPr eaLnBrk="1" hangingPunct="1">
              <a:defRPr/>
            </a:pPr>
            <a:r>
              <a:rPr lang="en-US" sz="2000" dirty="0">
                <a:latin typeface="+mj-lt"/>
              </a:rPr>
              <a:t>internal and external environments,</a:t>
            </a:r>
          </a:p>
          <a:p>
            <a:pPr eaLnBrk="1" hangingPunct="1">
              <a:defRPr/>
            </a:pPr>
            <a:r>
              <a:rPr lang="en-US" sz="2000" dirty="0">
                <a:latin typeface="+mj-lt"/>
              </a:rPr>
              <a:t>enables reasoning and memory, and</a:t>
            </a:r>
          </a:p>
          <a:p>
            <a:pPr eaLnBrk="1" hangingPunct="1">
              <a:defRPr/>
            </a:pPr>
            <a:r>
              <a:rPr lang="en-US" sz="2000" dirty="0">
                <a:latin typeface="+mj-lt"/>
              </a:rPr>
              <a:t>regulates body activities.</a:t>
            </a:r>
            <a:endParaRPr lang="en-US" dirty="0">
              <a:latin typeface="+mj-lt"/>
            </a:endParaRPr>
          </a:p>
        </p:txBody>
      </p:sp>
      <p:sp>
        <p:nvSpPr>
          <p:cNvPr id="4" name="Title 6"/>
          <p:cNvSpPr txBox="1">
            <a:spLocks/>
          </p:cNvSpPr>
          <p:nvPr/>
        </p:nvSpPr>
        <p:spPr>
          <a:xfrm>
            <a:off x="1981200" y="317500"/>
            <a:ext cx="8229600" cy="8255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Nervous System G4a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08458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11"/>
          <a:stretch>
            <a:fillRect/>
          </a:stretch>
        </p:blipFill>
        <p:spPr bwMode="auto">
          <a:xfrm>
            <a:off x="1920876" y="1371600"/>
            <a:ext cx="35655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Rectangle 2"/>
          <p:cNvSpPr>
            <a:spLocks noChangeArrowheads="1"/>
          </p:cNvSpPr>
          <p:nvPr/>
        </p:nvSpPr>
        <p:spPr bwMode="auto">
          <a:xfrm>
            <a:off x="5486400" y="990601"/>
            <a:ext cx="45720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DEFINITION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The hormone producing glands.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Hypothalamus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Pineal gland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Pituitary gland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Thyroid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Parathyroid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Thymus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Adrenal gland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Pancreas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Ovaries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MT"/>
              </a:rPr>
              <a:t>•</a:t>
            </a:r>
            <a:r>
              <a:rPr lang="en-US" altLang="en-US" sz="2000">
                <a:solidFill>
                  <a:srgbClr val="000000"/>
                </a:solidFill>
                <a:latin typeface="TimesNewRomanPS-BoldMT"/>
              </a:rPr>
              <a:t>Testes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963735"/>
              </a:solidFill>
              <a:latin typeface="TimesNewRomanPS-BoldM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NewRomanPS-BoldMT"/>
              </a:rPr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Controls and integrates body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functions via hormones secreted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NewRomanPS-BoldMT"/>
              </a:rPr>
              <a:t>into the bloodstream.</a:t>
            </a:r>
            <a:endParaRPr lang="en-US" altLang="en-US" sz="1800"/>
          </a:p>
        </p:txBody>
      </p:sp>
      <p:sp>
        <p:nvSpPr>
          <p:cNvPr id="4" name="Title 6"/>
          <p:cNvSpPr txBox="1">
            <a:spLocks/>
          </p:cNvSpPr>
          <p:nvPr/>
        </p:nvSpPr>
        <p:spPr>
          <a:xfrm>
            <a:off x="1939925" y="152400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Endocrine System G4b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71142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2971800" y="762000"/>
            <a:ext cx="62055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6"/>
          <p:cNvSpPr txBox="1">
            <a:spLocks/>
          </p:cNvSpPr>
          <p:nvPr/>
        </p:nvSpPr>
        <p:spPr>
          <a:xfrm>
            <a:off x="1939925" y="152400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/>
              <a:t>Neuro-endocrine System G4a-b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57692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644</Words>
  <Application>Microsoft Office PowerPoint</Application>
  <PresentationFormat>Widescreen</PresentationFormat>
  <Paragraphs>125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ArialMT</vt:lpstr>
      <vt:lpstr>Calibri</vt:lpstr>
      <vt:lpstr>Calibri Light</vt:lpstr>
      <vt:lpstr>TimesNewRomanPS-BoldMT</vt:lpstr>
      <vt:lpstr>Office Theme</vt:lpstr>
      <vt:lpstr>Overview of body systems that ensures homeostasis</vt:lpstr>
      <vt:lpstr>Recommended Books</vt:lpstr>
      <vt:lpstr>Levels of organization in the Human Body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Integumentary System G1e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Physiology</dc:title>
  <dc:creator>yaw adjei mensah-bonsu</dc:creator>
  <cp:lastModifiedBy>yaw adjei mensah-bonsu</cp:lastModifiedBy>
  <cp:revision>3</cp:revision>
  <dcterms:created xsi:type="dcterms:W3CDTF">2026-05-04T15:08:01Z</dcterms:created>
  <dcterms:modified xsi:type="dcterms:W3CDTF">2026-05-04T15:23:32Z</dcterms:modified>
</cp:coreProperties>
</file>