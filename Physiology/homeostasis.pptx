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2"/>
  </p:notesMasterIdLst>
  <p:sldIdLst>
    <p:sldId id="573" r:id="rId2"/>
    <p:sldId id="256" r:id="rId3"/>
    <p:sldId id="567" r:id="rId4"/>
    <p:sldId id="572" r:id="rId5"/>
    <p:sldId id="562" r:id="rId6"/>
    <p:sldId id="564" r:id="rId7"/>
    <p:sldId id="565" r:id="rId8"/>
    <p:sldId id="270" r:id="rId9"/>
    <p:sldId id="268" r:id="rId10"/>
    <p:sldId id="297" r:id="rId11"/>
    <p:sldId id="295" r:id="rId12"/>
    <p:sldId id="298" r:id="rId13"/>
    <p:sldId id="569" r:id="rId14"/>
    <p:sldId id="348" r:id="rId15"/>
    <p:sldId id="557" r:id="rId16"/>
    <p:sldId id="336" r:id="rId17"/>
    <p:sldId id="337" r:id="rId18"/>
    <p:sldId id="570" r:id="rId19"/>
    <p:sldId id="346" r:id="rId20"/>
    <p:sldId id="349" r:id="rId21"/>
    <p:sldId id="351" r:id="rId22"/>
    <p:sldId id="274" r:id="rId23"/>
    <p:sldId id="278" r:id="rId24"/>
    <p:sldId id="574" r:id="rId25"/>
    <p:sldId id="352" r:id="rId26"/>
    <p:sldId id="575" r:id="rId27"/>
    <p:sldId id="338" r:id="rId28"/>
    <p:sldId id="366" r:id="rId29"/>
    <p:sldId id="571" r:id="rId30"/>
    <p:sldId id="576"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7" autoAdjust="0"/>
    <p:restoredTop sz="80929" autoAdjust="0"/>
  </p:normalViewPr>
  <p:slideViewPr>
    <p:cSldViewPr snapToGrid="0">
      <p:cViewPr varScale="1">
        <p:scale>
          <a:sx n="45" d="100"/>
          <a:sy n="45" d="100"/>
        </p:scale>
        <p:origin x="930"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AE1B74-5856-4C7C-B94D-CC827C60E329}" type="datetimeFigureOut">
              <a:rPr lang="en-US" smtClean="0"/>
              <a:t>4/30/2026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9948D5-E3AD-45A1-AEF6-103820EFE438}" type="slidenum">
              <a:rPr lang="en-US" smtClean="0"/>
              <a:t>‹#›</a:t>
            </a:fld>
            <a:endParaRPr lang="en-US"/>
          </a:p>
        </p:txBody>
      </p:sp>
    </p:spTree>
    <p:extLst>
      <p:ext uri="{BB962C8B-B14F-4D97-AF65-F5344CB8AC3E}">
        <p14:creationId xmlns:p14="http://schemas.microsoft.com/office/powerpoint/2010/main" val="41267488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GB" dirty="0" smtClean="0"/>
              <a:t>The liver stores a starchy</a:t>
            </a:r>
            <a:r>
              <a:rPr lang="en-GB" baseline="0" dirty="0" smtClean="0"/>
              <a:t> substance (glycogen)- to maintain blood sugar levels even in fasting- a self-regulatory mechanism</a:t>
            </a:r>
          </a:p>
          <a:p>
            <a:pPr marL="228600" indent="-228600">
              <a:buAutoNum type="arabicPeriod"/>
            </a:pPr>
            <a:r>
              <a:rPr lang="en-GB" baseline="0" dirty="0" smtClean="0"/>
              <a:t>Cutting certain nerves caused vasodilation and increased heat in that part of the body and stimulating such nerves caused the opposite effect. Realizing those nerves controlled blood flow to regulate body temperature</a:t>
            </a:r>
          </a:p>
          <a:p>
            <a:pPr marL="228600" indent="-228600">
              <a:buAutoNum type="arabicPeriod"/>
            </a:pPr>
            <a:r>
              <a:rPr lang="en-GB" baseline="0" dirty="0" smtClean="0"/>
              <a:t>Injuring the fourth ventricle of the brain cause an immediate increase in blood sugar and in the urine demonstrating neural link in regulating sugar levels</a:t>
            </a:r>
          </a:p>
          <a:p>
            <a:pPr marL="228600" indent="-228600">
              <a:buAutoNum type="arabicPeriod"/>
            </a:pPr>
            <a:r>
              <a:rPr lang="en-GB" baseline="0" dirty="0" smtClean="0"/>
              <a:t>The blood and lymph circulate chemical materials, maintain heat and sugar levels regardless the external environment.</a:t>
            </a:r>
            <a:endParaRPr lang="en-GB" dirty="0"/>
          </a:p>
        </p:txBody>
      </p:sp>
      <p:sp>
        <p:nvSpPr>
          <p:cNvPr id="4" name="Slide Number Placeholder 3"/>
          <p:cNvSpPr>
            <a:spLocks noGrp="1"/>
          </p:cNvSpPr>
          <p:nvPr>
            <p:ph type="sldNum" sz="quarter" idx="10"/>
          </p:nvPr>
        </p:nvSpPr>
        <p:spPr/>
        <p:txBody>
          <a:bodyPr/>
          <a:lstStyle/>
          <a:p>
            <a:fld id="{689948D5-E3AD-45A1-AEF6-103820EFE438}" type="slidenum">
              <a:rPr lang="en-US" smtClean="0"/>
              <a:t>4</a:t>
            </a:fld>
            <a:endParaRPr lang="en-US"/>
          </a:p>
        </p:txBody>
      </p:sp>
    </p:spTree>
    <p:extLst>
      <p:ext uri="{BB962C8B-B14F-4D97-AF65-F5344CB8AC3E}">
        <p14:creationId xmlns:p14="http://schemas.microsoft.com/office/powerpoint/2010/main" val="8212649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fld id="{A69A9FDC-08DF-4311-8E12-8D50C2D1C21A}" type="slidenum">
              <a:rPr lang="en-US" smtClean="0"/>
              <a:pPr/>
              <a:t>5</a:t>
            </a:fld>
            <a:endParaRPr lang="en-US"/>
          </a:p>
        </p:txBody>
      </p:sp>
    </p:spTree>
    <p:extLst>
      <p:ext uri="{BB962C8B-B14F-4D97-AF65-F5344CB8AC3E}">
        <p14:creationId xmlns:p14="http://schemas.microsoft.com/office/powerpoint/2010/main" val="35094319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fld id="{A69A9FDC-08DF-4311-8E12-8D50C2D1C21A}" type="slidenum">
              <a:rPr lang="en-US" smtClean="0"/>
              <a:pPr/>
              <a:t>6</a:t>
            </a:fld>
            <a:endParaRPr lang="en-US"/>
          </a:p>
        </p:txBody>
      </p:sp>
    </p:spTree>
    <p:extLst>
      <p:ext uri="{BB962C8B-B14F-4D97-AF65-F5344CB8AC3E}">
        <p14:creationId xmlns:p14="http://schemas.microsoft.com/office/powerpoint/2010/main" val="39110726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fld id="{A69A9FDC-08DF-4311-8E12-8D50C2D1C21A}" type="slidenum">
              <a:rPr lang="en-US" smtClean="0"/>
              <a:pPr/>
              <a:t>7</a:t>
            </a:fld>
            <a:endParaRPr lang="en-US"/>
          </a:p>
        </p:txBody>
      </p:sp>
    </p:spTree>
    <p:extLst>
      <p:ext uri="{BB962C8B-B14F-4D97-AF65-F5344CB8AC3E}">
        <p14:creationId xmlns:p14="http://schemas.microsoft.com/office/powerpoint/2010/main" val="2480007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fld id="{A69A9FDC-08DF-4311-8E12-8D50C2D1C21A}" type="slidenum">
              <a:rPr lang="en-US" smtClean="0"/>
              <a:pPr/>
              <a:t>13</a:t>
            </a:fld>
            <a:endParaRPr lang="en-US"/>
          </a:p>
        </p:txBody>
      </p:sp>
    </p:spTree>
    <p:extLst>
      <p:ext uri="{BB962C8B-B14F-4D97-AF65-F5344CB8AC3E}">
        <p14:creationId xmlns:p14="http://schemas.microsoft.com/office/powerpoint/2010/main" val="17218579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fld id="{A69A9FDC-08DF-4311-8E12-8D50C2D1C21A}" type="slidenum">
              <a:rPr lang="en-US" smtClean="0"/>
              <a:pPr/>
              <a:t>15</a:t>
            </a:fld>
            <a:endParaRPr lang="en-US"/>
          </a:p>
        </p:txBody>
      </p:sp>
    </p:spTree>
    <p:extLst>
      <p:ext uri="{BB962C8B-B14F-4D97-AF65-F5344CB8AC3E}">
        <p14:creationId xmlns:p14="http://schemas.microsoft.com/office/powerpoint/2010/main" val="38041171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fld id="{A69A9FDC-08DF-4311-8E12-8D50C2D1C21A}" type="slidenum">
              <a:rPr lang="en-US" smtClean="0"/>
              <a:pPr/>
              <a:t>16</a:t>
            </a:fld>
            <a:endParaRPr lang="en-US"/>
          </a:p>
        </p:txBody>
      </p:sp>
    </p:spTree>
    <p:extLst>
      <p:ext uri="{BB962C8B-B14F-4D97-AF65-F5344CB8AC3E}">
        <p14:creationId xmlns:p14="http://schemas.microsoft.com/office/powerpoint/2010/main" val="26847285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fld id="{A69A9FDC-08DF-4311-8E12-8D50C2D1C21A}" type="slidenum">
              <a:rPr lang="en-US" smtClean="0"/>
              <a:pPr/>
              <a:t>17</a:t>
            </a:fld>
            <a:endParaRPr lang="en-US"/>
          </a:p>
        </p:txBody>
      </p:sp>
    </p:spTree>
    <p:extLst>
      <p:ext uri="{BB962C8B-B14F-4D97-AF65-F5344CB8AC3E}">
        <p14:creationId xmlns:p14="http://schemas.microsoft.com/office/powerpoint/2010/main" val="792404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fld id="{A69A9FDC-08DF-4311-8E12-8D50C2D1C21A}" type="slidenum">
              <a:rPr lang="en-US" smtClean="0"/>
              <a:pPr/>
              <a:t>20</a:t>
            </a:fld>
            <a:endParaRPr lang="en-US"/>
          </a:p>
        </p:txBody>
      </p:sp>
    </p:spTree>
    <p:extLst>
      <p:ext uri="{BB962C8B-B14F-4D97-AF65-F5344CB8AC3E}">
        <p14:creationId xmlns:p14="http://schemas.microsoft.com/office/powerpoint/2010/main" val="9520729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err="1" smtClean="0"/>
              <a:t>Throboxane</a:t>
            </a:r>
            <a:r>
              <a:rPr lang="en-GB" dirty="0" smtClean="0"/>
              <a:t> A2 and ADP are</a:t>
            </a:r>
            <a:r>
              <a:rPr lang="en-GB" baseline="0" dirty="0" smtClean="0"/>
              <a:t> </a:t>
            </a:r>
            <a:r>
              <a:rPr lang="en-GB" baseline="0" dirty="0" err="1" smtClean="0"/>
              <a:t>hemostatic</a:t>
            </a:r>
            <a:r>
              <a:rPr lang="en-GB" baseline="0" dirty="0" smtClean="0"/>
              <a:t> mediator (mediators)</a:t>
            </a:r>
            <a:endParaRPr lang="en-GB" dirty="0"/>
          </a:p>
        </p:txBody>
      </p:sp>
      <p:sp>
        <p:nvSpPr>
          <p:cNvPr id="4" name="Slide Number Placeholder 3"/>
          <p:cNvSpPr>
            <a:spLocks noGrp="1"/>
          </p:cNvSpPr>
          <p:nvPr>
            <p:ph type="sldNum" sz="quarter" idx="10"/>
          </p:nvPr>
        </p:nvSpPr>
        <p:spPr/>
        <p:txBody>
          <a:bodyPr/>
          <a:lstStyle/>
          <a:p>
            <a:fld id="{689948D5-E3AD-45A1-AEF6-103820EFE438}" type="slidenum">
              <a:rPr lang="en-US" smtClean="0"/>
              <a:t>26</a:t>
            </a:fld>
            <a:endParaRPr lang="en-US"/>
          </a:p>
        </p:txBody>
      </p:sp>
    </p:spTree>
    <p:extLst>
      <p:ext uri="{BB962C8B-B14F-4D97-AF65-F5344CB8AC3E}">
        <p14:creationId xmlns:p14="http://schemas.microsoft.com/office/powerpoint/2010/main" val="20667360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fld id="{A69A9FDC-08DF-4311-8E12-8D50C2D1C21A}" type="slidenum">
              <a:rPr lang="en-US" smtClean="0"/>
              <a:pPr/>
              <a:t>27</a:t>
            </a:fld>
            <a:endParaRPr lang="en-US"/>
          </a:p>
        </p:txBody>
      </p:sp>
    </p:spTree>
    <p:extLst>
      <p:ext uri="{BB962C8B-B14F-4D97-AF65-F5344CB8AC3E}">
        <p14:creationId xmlns:p14="http://schemas.microsoft.com/office/powerpoint/2010/main" val="13202470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9633BD-EB4B-4F09-A6AD-F0CB49CA7E9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D0A4224-AF08-4284-8200-EB1B9524234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1E1C722-6E7F-4667-AC5B-FF3761684B43}"/>
              </a:ext>
            </a:extLst>
          </p:cNvPr>
          <p:cNvSpPr>
            <a:spLocks noGrp="1"/>
          </p:cNvSpPr>
          <p:nvPr>
            <p:ph type="dt" sz="half" idx="10"/>
          </p:nvPr>
        </p:nvSpPr>
        <p:spPr/>
        <p:txBody>
          <a:bodyPr/>
          <a:lstStyle/>
          <a:p>
            <a:fld id="{133EC921-6976-4263-96D5-BFAC80D18D52}" type="datetimeFigureOut">
              <a:rPr lang="en-US" smtClean="0"/>
              <a:t>4/30/2026</a:t>
            </a:fld>
            <a:endParaRPr lang="en-US"/>
          </a:p>
        </p:txBody>
      </p:sp>
      <p:sp>
        <p:nvSpPr>
          <p:cNvPr id="5" name="Footer Placeholder 4">
            <a:extLst>
              <a:ext uri="{FF2B5EF4-FFF2-40B4-BE49-F238E27FC236}">
                <a16:creationId xmlns:a16="http://schemas.microsoft.com/office/drawing/2014/main" id="{78B81214-11EC-4A20-8CDE-29A4735063D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A03C2AC-B574-420A-B1A2-D9BFCD102942}"/>
              </a:ext>
            </a:extLst>
          </p:cNvPr>
          <p:cNvSpPr>
            <a:spLocks noGrp="1"/>
          </p:cNvSpPr>
          <p:nvPr>
            <p:ph type="sldNum" sz="quarter" idx="12"/>
          </p:nvPr>
        </p:nvSpPr>
        <p:spPr/>
        <p:txBody>
          <a:bodyPr/>
          <a:lstStyle/>
          <a:p>
            <a:fld id="{853CFCF6-AC1E-4B82-A10F-E4FC0F667171}" type="slidenum">
              <a:rPr lang="en-US" smtClean="0"/>
              <a:t>‹#›</a:t>
            </a:fld>
            <a:endParaRPr lang="en-US"/>
          </a:p>
        </p:txBody>
      </p:sp>
    </p:spTree>
    <p:extLst>
      <p:ext uri="{BB962C8B-B14F-4D97-AF65-F5344CB8AC3E}">
        <p14:creationId xmlns:p14="http://schemas.microsoft.com/office/powerpoint/2010/main" val="26400930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5CD8CD-E0B9-4398-9623-2274D2DB02E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63731D1-34EC-4E47-B2C8-190D2B5578D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31E649-65D2-4C4C-B5F6-59F3D99E30F0}"/>
              </a:ext>
            </a:extLst>
          </p:cNvPr>
          <p:cNvSpPr>
            <a:spLocks noGrp="1"/>
          </p:cNvSpPr>
          <p:nvPr>
            <p:ph type="dt" sz="half" idx="10"/>
          </p:nvPr>
        </p:nvSpPr>
        <p:spPr/>
        <p:txBody>
          <a:bodyPr/>
          <a:lstStyle/>
          <a:p>
            <a:fld id="{133EC921-6976-4263-96D5-BFAC80D18D52}" type="datetimeFigureOut">
              <a:rPr lang="en-US" smtClean="0"/>
              <a:t>4/30/2026</a:t>
            </a:fld>
            <a:endParaRPr lang="en-US"/>
          </a:p>
        </p:txBody>
      </p:sp>
      <p:sp>
        <p:nvSpPr>
          <p:cNvPr id="5" name="Footer Placeholder 4">
            <a:extLst>
              <a:ext uri="{FF2B5EF4-FFF2-40B4-BE49-F238E27FC236}">
                <a16:creationId xmlns:a16="http://schemas.microsoft.com/office/drawing/2014/main" id="{B78180EC-E923-488E-9304-D0C8CE542EE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37A1FBD-9A14-4183-97CD-639A11058513}"/>
              </a:ext>
            </a:extLst>
          </p:cNvPr>
          <p:cNvSpPr>
            <a:spLocks noGrp="1"/>
          </p:cNvSpPr>
          <p:nvPr>
            <p:ph type="sldNum" sz="quarter" idx="12"/>
          </p:nvPr>
        </p:nvSpPr>
        <p:spPr/>
        <p:txBody>
          <a:bodyPr/>
          <a:lstStyle/>
          <a:p>
            <a:fld id="{853CFCF6-AC1E-4B82-A10F-E4FC0F667171}" type="slidenum">
              <a:rPr lang="en-US" smtClean="0"/>
              <a:t>‹#›</a:t>
            </a:fld>
            <a:endParaRPr lang="en-US"/>
          </a:p>
        </p:txBody>
      </p:sp>
    </p:spTree>
    <p:extLst>
      <p:ext uri="{BB962C8B-B14F-4D97-AF65-F5344CB8AC3E}">
        <p14:creationId xmlns:p14="http://schemas.microsoft.com/office/powerpoint/2010/main" val="20345042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CDA3AF-7C23-4ECC-A943-177406BCD97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9629F86-1E56-4871-ACDC-2DDD504C606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2C13468-09E7-4BD4-9B69-CC38C28963F2}"/>
              </a:ext>
            </a:extLst>
          </p:cNvPr>
          <p:cNvSpPr>
            <a:spLocks noGrp="1"/>
          </p:cNvSpPr>
          <p:nvPr>
            <p:ph type="dt" sz="half" idx="10"/>
          </p:nvPr>
        </p:nvSpPr>
        <p:spPr/>
        <p:txBody>
          <a:bodyPr/>
          <a:lstStyle/>
          <a:p>
            <a:fld id="{133EC921-6976-4263-96D5-BFAC80D18D52}" type="datetimeFigureOut">
              <a:rPr lang="en-US" smtClean="0"/>
              <a:t>4/30/2026</a:t>
            </a:fld>
            <a:endParaRPr lang="en-US"/>
          </a:p>
        </p:txBody>
      </p:sp>
      <p:sp>
        <p:nvSpPr>
          <p:cNvPr id="5" name="Footer Placeholder 4">
            <a:extLst>
              <a:ext uri="{FF2B5EF4-FFF2-40B4-BE49-F238E27FC236}">
                <a16:creationId xmlns:a16="http://schemas.microsoft.com/office/drawing/2014/main" id="{7C4A506B-320D-44C1-86F8-486A3FF0CFF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3BF28EB-5204-47AD-8344-25C8932A1EC7}"/>
              </a:ext>
            </a:extLst>
          </p:cNvPr>
          <p:cNvSpPr>
            <a:spLocks noGrp="1"/>
          </p:cNvSpPr>
          <p:nvPr>
            <p:ph type="sldNum" sz="quarter" idx="12"/>
          </p:nvPr>
        </p:nvSpPr>
        <p:spPr/>
        <p:txBody>
          <a:bodyPr/>
          <a:lstStyle/>
          <a:p>
            <a:fld id="{853CFCF6-AC1E-4B82-A10F-E4FC0F667171}" type="slidenum">
              <a:rPr lang="en-US" smtClean="0"/>
              <a:t>‹#›</a:t>
            </a:fld>
            <a:endParaRPr lang="en-US"/>
          </a:p>
        </p:txBody>
      </p:sp>
    </p:spTree>
    <p:extLst>
      <p:ext uri="{BB962C8B-B14F-4D97-AF65-F5344CB8AC3E}">
        <p14:creationId xmlns:p14="http://schemas.microsoft.com/office/powerpoint/2010/main" val="38414008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484ADF-DAB3-4FA2-B39F-40856D01D0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8A0E8A7-28C2-4C3B-B0CE-AB4B9E1D09B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02BB802-0BFB-4DD0-8D75-0FC1C34702D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80415A7-BBC2-44F3-8188-C1FFFB3116EA}"/>
              </a:ext>
            </a:extLst>
          </p:cNvPr>
          <p:cNvSpPr>
            <a:spLocks noGrp="1"/>
          </p:cNvSpPr>
          <p:nvPr>
            <p:ph type="dt" sz="half" idx="10"/>
          </p:nvPr>
        </p:nvSpPr>
        <p:spPr/>
        <p:txBody>
          <a:bodyPr/>
          <a:lstStyle/>
          <a:p>
            <a:fld id="{133EC921-6976-4263-96D5-BFAC80D18D52}" type="datetimeFigureOut">
              <a:rPr lang="en-US" smtClean="0"/>
              <a:t>4/30/2026</a:t>
            </a:fld>
            <a:endParaRPr lang="en-US"/>
          </a:p>
        </p:txBody>
      </p:sp>
      <p:sp>
        <p:nvSpPr>
          <p:cNvPr id="6" name="Footer Placeholder 5">
            <a:extLst>
              <a:ext uri="{FF2B5EF4-FFF2-40B4-BE49-F238E27FC236}">
                <a16:creationId xmlns:a16="http://schemas.microsoft.com/office/drawing/2014/main" id="{2CEFF749-8341-4368-8600-C73D53D75B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19AA8C8-0753-4E04-B525-5FDB3F032AC1}"/>
              </a:ext>
            </a:extLst>
          </p:cNvPr>
          <p:cNvSpPr>
            <a:spLocks noGrp="1"/>
          </p:cNvSpPr>
          <p:nvPr>
            <p:ph type="sldNum" sz="quarter" idx="12"/>
          </p:nvPr>
        </p:nvSpPr>
        <p:spPr/>
        <p:txBody>
          <a:bodyPr/>
          <a:lstStyle/>
          <a:p>
            <a:fld id="{853CFCF6-AC1E-4B82-A10F-E4FC0F667171}" type="slidenum">
              <a:rPr lang="en-US" smtClean="0"/>
              <a:t>‹#›</a:t>
            </a:fld>
            <a:endParaRPr lang="en-US"/>
          </a:p>
        </p:txBody>
      </p:sp>
    </p:spTree>
    <p:extLst>
      <p:ext uri="{BB962C8B-B14F-4D97-AF65-F5344CB8AC3E}">
        <p14:creationId xmlns:p14="http://schemas.microsoft.com/office/powerpoint/2010/main" val="35439670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7DC066-7C4D-401F-A056-C53AA0AB2E6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12C5509-2E4B-40FA-9A0A-FA5F5254DE4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952CAB4-25CC-4045-A932-FC6657D5BFB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CA2A1BB-189C-43FC-8957-2B526FF2DEE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4C4AE1C-B308-4CD9-A502-79051768BF9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A63CD2A-0AE3-41FD-A7D6-3A3775F3DB08}"/>
              </a:ext>
            </a:extLst>
          </p:cNvPr>
          <p:cNvSpPr>
            <a:spLocks noGrp="1"/>
          </p:cNvSpPr>
          <p:nvPr>
            <p:ph type="dt" sz="half" idx="10"/>
          </p:nvPr>
        </p:nvSpPr>
        <p:spPr/>
        <p:txBody>
          <a:bodyPr/>
          <a:lstStyle/>
          <a:p>
            <a:fld id="{133EC921-6976-4263-96D5-BFAC80D18D52}" type="datetimeFigureOut">
              <a:rPr lang="en-US" smtClean="0"/>
              <a:t>4/30/2026</a:t>
            </a:fld>
            <a:endParaRPr lang="en-US"/>
          </a:p>
        </p:txBody>
      </p:sp>
      <p:sp>
        <p:nvSpPr>
          <p:cNvPr id="8" name="Footer Placeholder 7">
            <a:extLst>
              <a:ext uri="{FF2B5EF4-FFF2-40B4-BE49-F238E27FC236}">
                <a16:creationId xmlns:a16="http://schemas.microsoft.com/office/drawing/2014/main" id="{996F7D17-B1D7-4CD0-B79C-6756C798779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937B0BB-10D8-423A-B103-1FFE6DECC3B2}"/>
              </a:ext>
            </a:extLst>
          </p:cNvPr>
          <p:cNvSpPr>
            <a:spLocks noGrp="1"/>
          </p:cNvSpPr>
          <p:nvPr>
            <p:ph type="sldNum" sz="quarter" idx="12"/>
          </p:nvPr>
        </p:nvSpPr>
        <p:spPr/>
        <p:txBody>
          <a:bodyPr/>
          <a:lstStyle/>
          <a:p>
            <a:fld id="{853CFCF6-AC1E-4B82-A10F-E4FC0F667171}" type="slidenum">
              <a:rPr lang="en-US" smtClean="0"/>
              <a:t>‹#›</a:t>
            </a:fld>
            <a:endParaRPr lang="en-US"/>
          </a:p>
        </p:txBody>
      </p:sp>
    </p:spTree>
    <p:extLst>
      <p:ext uri="{BB962C8B-B14F-4D97-AF65-F5344CB8AC3E}">
        <p14:creationId xmlns:p14="http://schemas.microsoft.com/office/powerpoint/2010/main" val="30655911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A909DD-1FE8-4323-A425-06DF59C6D2E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D1079E6-16CF-4D15-93DD-796088583AB7}"/>
              </a:ext>
            </a:extLst>
          </p:cNvPr>
          <p:cNvSpPr>
            <a:spLocks noGrp="1"/>
          </p:cNvSpPr>
          <p:nvPr>
            <p:ph type="dt" sz="half" idx="10"/>
          </p:nvPr>
        </p:nvSpPr>
        <p:spPr/>
        <p:txBody>
          <a:bodyPr/>
          <a:lstStyle/>
          <a:p>
            <a:fld id="{133EC921-6976-4263-96D5-BFAC80D18D52}" type="datetimeFigureOut">
              <a:rPr lang="en-US" smtClean="0"/>
              <a:t>4/30/2026</a:t>
            </a:fld>
            <a:endParaRPr lang="en-US"/>
          </a:p>
        </p:txBody>
      </p:sp>
      <p:sp>
        <p:nvSpPr>
          <p:cNvPr id="4" name="Footer Placeholder 3">
            <a:extLst>
              <a:ext uri="{FF2B5EF4-FFF2-40B4-BE49-F238E27FC236}">
                <a16:creationId xmlns:a16="http://schemas.microsoft.com/office/drawing/2014/main" id="{C14BFEB8-416B-4C6C-BAF4-FE5A48628DD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D7C2C54-64A7-45CD-B67F-AD876761BFFC}"/>
              </a:ext>
            </a:extLst>
          </p:cNvPr>
          <p:cNvSpPr>
            <a:spLocks noGrp="1"/>
          </p:cNvSpPr>
          <p:nvPr>
            <p:ph type="sldNum" sz="quarter" idx="12"/>
          </p:nvPr>
        </p:nvSpPr>
        <p:spPr/>
        <p:txBody>
          <a:bodyPr/>
          <a:lstStyle/>
          <a:p>
            <a:fld id="{853CFCF6-AC1E-4B82-A10F-E4FC0F667171}" type="slidenum">
              <a:rPr lang="en-US" smtClean="0"/>
              <a:t>‹#›</a:t>
            </a:fld>
            <a:endParaRPr lang="en-US"/>
          </a:p>
        </p:txBody>
      </p:sp>
    </p:spTree>
    <p:extLst>
      <p:ext uri="{BB962C8B-B14F-4D97-AF65-F5344CB8AC3E}">
        <p14:creationId xmlns:p14="http://schemas.microsoft.com/office/powerpoint/2010/main" val="17878571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A647E28-91EF-49A3-BB51-60B58B36DD5F}"/>
              </a:ext>
            </a:extLst>
          </p:cNvPr>
          <p:cNvSpPr>
            <a:spLocks noGrp="1"/>
          </p:cNvSpPr>
          <p:nvPr>
            <p:ph type="dt" sz="half" idx="10"/>
          </p:nvPr>
        </p:nvSpPr>
        <p:spPr/>
        <p:txBody>
          <a:bodyPr/>
          <a:lstStyle/>
          <a:p>
            <a:fld id="{133EC921-6976-4263-96D5-BFAC80D18D52}" type="datetimeFigureOut">
              <a:rPr lang="en-US" smtClean="0"/>
              <a:t>4/30/2026</a:t>
            </a:fld>
            <a:endParaRPr lang="en-US"/>
          </a:p>
        </p:txBody>
      </p:sp>
      <p:sp>
        <p:nvSpPr>
          <p:cNvPr id="3" name="Footer Placeholder 2">
            <a:extLst>
              <a:ext uri="{FF2B5EF4-FFF2-40B4-BE49-F238E27FC236}">
                <a16:creationId xmlns:a16="http://schemas.microsoft.com/office/drawing/2014/main" id="{97255194-86EC-4A32-823E-457F0CF1FC1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F0AD185-CF92-4A32-A434-8355CE110D72}"/>
              </a:ext>
            </a:extLst>
          </p:cNvPr>
          <p:cNvSpPr>
            <a:spLocks noGrp="1"/>
          </p:cNvSpPr>
          <p:nvPr>
            <p:ph type="sldNum" sz="quarter" idx="12"/>
          </p:nvPr>
        </p:nvSpPr>
        <p:spPr/>
        <p:txBody>
          <a:bodyPr/>
          <a:lstStyle/>
          <a:p>
            <a:fld id="{853CFCF6-AC1E-4B82-A10F-E4FC0F667171}" type="slidenum">
              <a:rPr lang="en-US" smtClean="0"/>
              <a:t>‹#›</a:t>
            </a:fld>
            <a:endParaRPr lang="en-US"/>
          </a:p>
        </p:txBody>
      </p:sp>
    </p:spTree>
    <p:extLst>
      <p:ext uri="{BB962C8B-B14F-4D97-AF65-F5344CB8AC3E}">
        <p14:creationId xmlns:p14="http://schemas.microsoft.com/office/powerpoint/2010/main" val="8145285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FC9F96-03D7-4C96-B510-19B39BC7A10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ED15CA3-B7BC-4334-AAD6-65BB234CA70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1F38C69-24B1-4206-81B6-12E92B53ACC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627CBAC-3063-4641-AE49-81E2FBDEC7B4}"/>
              </a:ext>
            </a:extLst>
          </p:cNvPr>
          <p:cNvSpPr>
            <a:spLocks noGrp="1"/>
          </p:cNvSpPr>
          <p:nvPr>
            <p:ph type="dt" sz="half" idx="10"/>
          </p:nvPr>
        </p:nvSpPr>
        <p:spPr/>
        <p:txBody>
          <a:bodyPr/>
          <a:lstStyle/>
          <a:p>
            <a:fld id="{133EC921-6976-4263-96D5-BFAC80D18D52}" type="datetimeFigureOut">
              <a:rPr lang="en-US" smtClean="0"/>
              <a:t>4/30/2026</a:t>
            </a:fld>
            <a:endParaRPr lang="en-US"/>
          </a:p>
        </p:txBody>
      </p:sp>
      <p:sp>
        <p:nvSpPr>
          <p:cNvPr id="6" name="Footer Placeholder 5">
            <a:extLst>
              <a:ext uri="{FF2B5EF4-FFF2-40B4-BE49-F238E27FC236}">
                <a16:creationId xmlns:a16="http://schemas.microsoft.com/office/drawing/2014/main" id="{3E6C7616-06AE-4064-9459-A47B4BAFAF9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FDCB645-A22A-4C66-BEBA-AF98982BAF74}"/>
              </a:ext>
            </a:extLst>
          </p:cNvPr>
          <p:cNvSpPr>
            <a:spLocks noGrp="1"/>
          </p:cNvSpPr>
          <p:nvPr>
            <p:ph type="sldNum" sz="quarter" idx="12"/>
          </p:nvPr>
        </p:nvSpPr>
        <p:spPr/>
        <p:txBody>
          <a:bodyPr/>
          <a:lstStyle/>
          <a:p>
            <a:fld id="{853CFCF6-AC1E-4B82-A10F-E4FC0F667171}" type="slidenum">
              <a:rPr lang="en-US" smtClean="0"/>
              <a:t>‹#›</a:t>
            </a:fld>
            <a:endParaRPr lang="en-US"/>
          </a:p>
        </p:txBody>
      </p:sp>
    </p:spTree>
    <p:extLst>
      <p:ext uri="{BB962C8B-B14F-4D97-AF65-F5344CB8AC3E}">
        <p14:creationId xmlns:p14="http://schemas.microsoft.com/office/powerpoint/2010/main" val="19626940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A2FC34-C50F-4026-A65A-B0B2F451999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236E359-0A3D-4A29-96A2-D8FC37DA463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A2FE067-4D4A-4A25-BB80-9D52C24F2D2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F233175-0D9E-4C74-8D29-B6687FC2E1E9}"/>
              </a:ext>
            </a:extLst>
          </p:cNvPr>
          <p:cNvSpPr>
            <a:spLocks noGrp="1"/>
          </p:cNvSpPr>
          <p:nvPr>
            <p:ph type="dt" sz="half" idx="10"/>
          </p:nvPr>
        </p:nvSpPr>
        <p:spPr/>
        <p:txBody>
          <a:bodyPr/>
          <a:lstStyle/>
          <a:p>
            <a:fld id="{133EC921-6976-4263-96D5-BFAC80D18D52}" type="datetimeFigureOut">
              <a:rPr lang="en-US" smtClean="0"/>
              <a:t>4/30/2026</a:t>
            </a:fld>
            <a:endParaRPr lang="en-US"/>
          </a:p>
        </p:txBody>
      </p:sp>
      <p:sp>
        <p:nvSpPr>
          <p:cNvPr id="6" name="Footer Placeholder 5">
            <a:extLst>
              <a:ext uri="{FF2B5EF4-FFF2-40B4-BE49-F238E27FC236}">
                <a16:creationId xmlns:a16="http://schemas.microsoft.com/office/drawing/2014/main" id="{6D173129-08A5-45EB-B7EC-B65FE5AC7A2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6ABCC33-3D91-4BD8-B250-098443B7EC08}"/>
              </a:ext>
            </a:extLst>
          </p:cNvPr>
          <p:cNvSpPr>
            <a:spLocks noGrp="1"/>
          </p:cNvSpPr>
          <p:nvPr>
            <p:ph type="sldNum" sz="quarter" idx="12"/>
          </p:nvPr>
        </p:nvSpPr>
        <p:spPr/>
        <p:txBody>
          <a:bodyPr/>
          <a:lstStyle/>
          <a:p>
            <a:fld id="{853CFCF6-AC1E-4B82-A10F-E4FC0F667171}" type="slidenum">
              <a:rPr lang="en-US" smtClean="0"/>
              <a:t>‹#›</a:t>
            </a:fld>
            <a:endParaRPr lang="en-US"/>
          </a:p>
        </p:txBody>
      </p:sp>
    </p:spTree>
    <p:extLst>
      <p:ext uri="{BB962C8B-B14F-4D97-AF65-F5344CB8AC3E}">
        <p14:creationId xmlns:p14="http://schemas.microsoft.com/office/powerpoint/2010/main" val="29122621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F4B10D-EBD3-48E9-BD51-AD36DBF6385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7E58E4F-5D6C-4BC9-8B0E-64B783DBE32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347A71-43FF-41C6-9023-D40A4AF78B36}"/>
              </a:ext>
            </a:extLst>
          </p:cNvPr>
          <p:cNvSpPr>
            <a:spLocks noGrp="1"/>
          </p:cNvSpPr>
          <p:nvPr>
            <p:ph type="dt" sz="half" idx="10"/>
          </p:nvPr>
        </p:nvSpPr>
        <p:spPr/>
        <p:txBody>
          <a:bodyPr/>
          <a:lstStyle/>
          <a:p>
            <a:fld id="{133EC921-6976-4263-96D5-BFAC80D18D52}" type="datetimeFigureOut">
              <a:rPr lang="en-US" smtClean="0"/>
              <a:t>4/30/2026</a:t>
            </a:fld>
            <a:endParaRPr lang="en-US"/>
          </a:p>
        </p:txBody>
      </p:sp>
      <p:sp>
        <p:nvSpPr>
          <p:cNvPr id="5" name="Footer Placeholder 4">
            <a:extLst>
              <a:ext uri="{FF2B5EF4-FFF2-40B4-BE49-F238E27FC236}">
                <a16:creationId xmlns:a16="http://schemas.microsoft.com/office/drawing/2014/main" id="{EA2F64DC-032C-4534-AD67-F665BFC5CBA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8C5C50C-333A-4991-AFFD-169D0B4FBB21}"/>
              </a:ext>
            </a:extLst>
          </p:cNvPr>
          <p:cNvSpPr>
            <a:spLocks noGrp="1"/>
          </p:cNvSpPr>
          <p:nvPr>
            <p:ph type="sldNum" sz="quarter" idx="12"/>
          </p:nvPr>
        </p:nvSpPr>
        <p:spPr/>
        <p:txBody>
          <a:bodyPr/>
          <a:lstStyle/>
          <a:p>
            <a:fld id="{853CFCF6-AC1E-4B82-A10F-E4FC0F667171}" type="slidenum">
              <a:rPr lang="en-US" smtClean="0"/>
              <a:t>‹#›</a:t>
            </a:fld>
            <a:endParaRPr lang="en-US"/>
          </a:p>
        </p:txBody>
      </p:sp>
    </p:spTree>
    <p:extLst>
      <p:ext uri="{BB962C8B-B14F-4D97-AF65-F5344CB8AC3E}">
        <p14:creationId xmlns:p14="http://schemas.microsoft.com/office/powerpoint/2010/main" val="4773308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70AA11D-D9BB-4D58-8605-A1A43421186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22BD365-0FB4-4080-A422-F41DDAD42FE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C461CE-D3E1-4663-AC76-4A13AE7BBCD2}"/>
              </a:ext>
            </a:extLst>
          </p:cNvPr>
          <p:cNvSpPr>
            <a:spLocks noGrp="1"/>
          </p:cNvSpPr>
          <p:nvPr>
            <p:ph type="dt" sz="half" idx="10"/>
          </p:nvPr>
        </p:nvSpPr>
        <p:spPr/>
        <p:txBody>
          <a:bodyPr/>
          <a:lstStyle/>
          <a:p>
            <a:fld id="{133EC921-6976-4263-96D5-BFAC80D18D52}" type="datetimeFigureOut">
              <a:rPr lang="en-US" smtClean="0"/>
              <a:t>4/30/2026</a:t>
            </a:fld>
            <a:endParaRPr lang="en-US"/>
          </a:p>
        </p:txBody>
      </p:sp>
      <p:sp>
        <p:nvSpPr>
          <p:cNvPr id="5" name="Footer Placeholder 4">
            <a:extLst>
              <a:ext uri="{FF2B5EF4-FFF2-40B4-BE49-F238E27FC236}">
                <a16:creationId xmlns:a16="http://schemas.microsoft.com/office/drawing/2014/main" id="{EA30CEB7-C6EC-49FE-AD7E-7247EC9F521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A3B67E7-046D-4F12-9140-921D75C4FBF5}"/>
              </a:ext>
            </a:extLst>
          </p:cNvPr>
          <p:cNvSpPr>
            <a:spLocks noGrp="1"/>
          </p:cNvSpPr>
          <p:nvPr>
            <p:ph type="sldNum" sz="quarter" idx="12"/>
          </p:nvPr>
        </p:nvSpPr>
        <p:spPr/>
        <p:txBody>
          <a:bodyPr/>
          <a:lstStyle/>
          <a:p>
            <a:fld id="{853CFCF6-AC1E-4B82-A10F-E4FC0F667171}" type="slidenum">
              <a:rPr lang="en-US" smtClean="0"/>
              <a:t>‹#›</a:t>
            </a:fld>
            <a:endParaRPr lang="en-US"/>
          </a:p>
        </p:txBody>
      </p:sp>
    </p:spTree>
    <p:extLst>
      <p:ext uri="{BB962C8B-B14F-4D97-AF65-F5344CB8AC3E}">
        <p14:creationId xmlns:p14="http://schemas.microsoft.com/office/powerpoint/2010/main" val="36110695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1ACC51D-1A05-4E38-909A-22D02BF5CFF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5B79045-144C-4F3A-AEB8-C050AB3CDE2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9E74386-8496-4D76-9731-1D9DFE3BCED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33EC921-6976-4263-96D5-BFAC80D18D52}" type="datetimeFigureOut">
              <a:rPr lang="en-US" smtClean="0"/>
              <a:t>4/30/2026</a:t>
            </a:fld>
            <a:endParaRPr lang="en-US"/>
          </a:p>
        </p:txBody>
      </p:sp>
      <p:sp>
        <p:nvSpPr>
          <p:cNvPr id="5" name="Footer Placeholder 4">
            <a:extLst>
              <a:ext uri="{FF2B5EF4-FFF2-40B4-BE49-F238E27FC236}">
                <a16:creationId xmlns:a16="http://schemas.microsoft.com/office/drawing/2014/main" id="{0B967900-2984-4736-9B79-A881009D25B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DDBB219-1F35-4F71-A4B2-670D72C5828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53CFCF6-AC1E-4B82-A10F-E4FC0F667171}" type="slidenum">
              <a:rPr lang="en-US" smtClean="0"/>
              <a:t>‹#›</a:t>
            </a:fld>
            <a:endParaRPr lang="en-US"/>
          </a:p>
        </p:txBody>
      </p:sp>
    </p:spTree>
    <p:extLst>
      <p:ext uri="{BB962C8B-B14F-4D97-AF65-F5344CB8AC3E}">
        <p14:creationId xmlns:p14="http://schemas.microsoft.com/office/powerpoint/2010/main" val="10298978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7174" y="0"/>
            <a:ext cx="11630025" cy="3071813"/>
          </a:xfrm>
        </p:spPr>
        <p:txBody>
          <a:bodyPr>
            <a:normAutofit/>
          </a:bodyPr>
          <a:lstStyle/>
          <a:p>
            <a:pPr algn="ctr"/>
            <a:r>
              <a:rPr lang="en-GB" sz="8000" b="1" dirty="0" smtClean="0"/>
              <a:t>FUNDAMENTALS OF PHYSIOLOGY</a:t>
            </a:r>
            <a:r>
              <a:rPr lang="en-GB" sz="6000" b="1" dirty="0" smtClean="0"/>
              <a:t/>
            </a:r>
            <a:br>
              <a:rPr lang="en-GB" sz="6000" b="1" dirty="0" smtClean="0"/>
            </a:br>
            <a:r>
              <a:rPr lang="en-GB" sz="1800" b="1" dirty="0" smtClean="0"/>
              <a:t>  </a:t>
            </a:r>
            <a:r>
              <a:rPr lang="en-GB" sz="6000" b="1" dirty="0" smtClean="0"/>
              <a:t/>
            </a:r>
            <a:br>
              <a:rPr lang="en-GB" sz="6000" b="1" dirty="0" smtClean="0"/>
            </a:br>
            <a:r>
              <a:rPr lang="en-GB" sz="3200" b="1" dirty="0" smtClean="0"/>
              <a:t>(GAC 183)</a:t>
            </a:r>
            <a:endParaRPr lang="en-GB" sz="6000" b="1" dirty="0"/>
          </a:p>
        </p:txBody>
      </p:sp>
      <p:sp>
        <p:nvSpPr>
          <p:cNvPr id="3" name="Content Placeholder 2"/>
          <p:cNvSpPr>
            <a:spLocks noGrp="1"/>
          </p:cNvSpPr>
          <p:nvPr>
            <p:ph idx="1"/>
          </p:nvPr>
        </p:nvSpPr>
        <p:spPr>
          <a:xfrm>
            <a:off x="838200" y="3500437"/>
            <a:ext cx="10515600" cy="3076575"/>
          </a:xfrm>
        </p:spPr>
        <p:txBody>
          <a:bodyPr/>
          <a:lstStyle/>
          <a:p>
            <a:pPr marL="0" indent="0" algn="ctr">
              <a:buNone/>
            </a:pPr>
            <a:endParaRPr lang="en-GB" dirty="0" smtClean="0"/>
          </a:p>
          <a:p>
            <a:pPr marL="0" indent="0" algn="ctr">
              <a:buNone/>
            </a:pPr>
            <a:endParaRPr lang="en-GB" dirty="0"/>
          </a:p>
          <a:p>
            <a:pPr marL="0" indent="0" algn="ctr">
              <a:buNone/>
            </a:pPr>
            <a:r>
              <a:rPr lang="en-GB" sz="3200" b="1" dirty="0" smtClean="0"/>
              <a:t>B. SEREBOUR, </a:t>
            </a:r>
          </a:p>
          <a:p>
            <a:pPr marL="0" indent="0" algn="ctr">
              <a:buNone/>
            </a:pPr>
            <a:r>
              <a:rPr lang="en-GB" sz="3200" b="1" dirty="0" err="1" smtClean="0"/>
              <a:t>Dept</a:t>
            </a:r>
            <a:r>
              <a:rPr lang="en-GB" sz="3200" b="1" dirty="0" smtClean="0"/>
              <a:t> of Physiology, SMS</a:t>
            </a:r>
            <a:endParaRPr lang="en-GB" sz="3200" b="1" dirty="0"/>
          </a:p>
        </p:txBody>
      </p:sp>
    </p:spTree>
    <p:extLst>
      <p:ext uri="{BB962C8B-B14F-4D97-AF65-F5344CB8AC3E}">
        <p14:creationId xmlns:p14="http://schemas.microsoft.com/office/powerpoint/2010/main" val="78082625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17EAC0-CC32-4E94-B50A-8A3802794D49}"/>
              </a:ext>
            </a:extLst>
          </p:cNvPr>
          <p:cNvSpPr>
            <a:spLocks noGrp="1"/>
          </p:cNvSpPr>
          <p:nvPr>
            <p:ph type="ctrTitle"/>
          </p:nvPr>
        </p:nvSpPr>
        <p:spPr>
          <a:xfrm>
            <a:off x="1028701" y="1514474"/>
            <a:ext cx="9625012" cy="2085975"/>
          </a:xfrm>
        </p:spPr>
        <p:txBody>
          <a:bodyPr>
            <a:normAutofit/>
          </a:bodyPr>
          <a:lstStyle/>
          <a:p>
            <a:r>
              <a:rPr lang="en-US" dirty="0" smtClean="0">
                <a:latin typeface="Times" panose="02020603050405020304" pitchFamily="18" charset="0"/>
                <a:cs typeface="Times" panose="02020603050405020304" pitchFamily="18" charset="0"/>
              </a:rPr>
              <a:t>Homeostasis And Homeostatic Control Systems</a:t>
            </a:r>
            <a:endParaRPr lang="en-US" dirty="0">
              <a:latin typeface="Times" panose="02020603050405020304" pitchFamily="18" charset="0"/>
              <a:cs typeface="Times" panose="02020603050405020304" pitchFamily="18" charset="0"/>
            </a:endParaRPr>
          </a:p>
        </p:txBody>
      </p:sp>
    </p:spTree>
    <p:extLst>
      <p:ext uri="{BB962C8B-B14F-4D97-AF65-F5344CB8AC3E}">
        <p14:creationId xmlns:p14="http://schemas.microsoft.com/office/powerpoint/2010/main" val="331563344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CC5073-8452-43DC-8A0C-234F7EAE5485}"/>
              </a:ext>
            </a:extLst>
          </p:cNvPr>
          <p:cNvSpPr>
            <a:spLocks noGrp="1"/>
          </p:cNvSpPr>
          <p:nvPr>
            <p:ph type="title"/>
          </p:nvPr>
        </p:nvSpPr>
        <p:spPr>
          <a:xfrm>
            <a:off x="752681" y="75652"/>
            <a:ext cx="10515600" cy="674265"/>
          </a:xfrm>
        </p:spPr>
        <p:txBody>
          <a:bodyPr>
            <a:normAutofit fontScale="90000"/>
          </a:bodyPr>
          <a:lstStyle/>
          <a:p>
            <a:pPr algn="ctr"/>
            <a:r>
              <a:rPr lang="en-US" b="1" dirty="0">
                <a:latin typeface="Arial Black" panose="020B0A04020102020204" pitchFamily="34" charset="0"/>
              </a:rPr>
              <a:t>Homeostasis</a:t>
            </a:r>
          </a:p>
        </p:txBody>
      </p:sp>
      <p:sp>
        <p:nvSpPr>
          <p:cNvPr id="3" name="Content Placeholder 2">
            <a:extLst>
              <a:ext uri="{FF2B5EF4-FFF2-40B4-BE49-F238E27FC236}">
                <a16:creationId xmlns:a16="http://schemas.microsoft.com/office/drawing/2014/main" id="{802A3A6B-7183-4A15-B1BC-8ABBD7C45F8A}"/>
              </a:ext>
            </a:extLst>
          </p:cNvPr>
          <p:cNvSpPr>
            <a:spLocks noGrp="1"/>
          </p:cNvSpPr>
          <p:nvPr>
            <p:ph idx="1"/>
          </p:nvPr>
        </p:nvSpPr>
        <p:spPr>
          <a:xfrm>
            <a:off x="228291" y="1372255"/>
            <a:ext cx="11706842" cy="4128434"/>
          </a:xfrm>
        </p:spPr>
        <p:txBody>
          <a:bodyPr>
            <a:normAutofit/>
          </a:bodyPr>
          <a:lstStyle/>
          <a:p>
            <a:pPr>
              <a:buFont typeface="Arial" pitchFamily="34" charset="0"/>
              <a:buChar char="•"/>
            </a:pPr>
            <a:r>
              <a:rPr lang="en-US" sz="3200" dirty="0">
                <a:latin typeface="Times" panose="02020603050405020304" pitchFamily="18" charset="0"/>
                <a:cs typeface="Times" panose="02020603050405020304" pitchFamily="18" charset="0"/>
              </a:rPr>
              <a:t>The term </a:t>
            </a:r>
            <a:r>
              <a:rPr lang="en-US" sz="3200" dirty="0" smtClean="0">
                <a:latin typeface="Times" panose="02020603050405020304" pitchFamily="18" charset="0"/>
                <a:cs typeface="Times" panose="02020603050405020304" pitchFamily="18" charset="0"/>
              </a:rPr>
              <a:t>‘homeostasis’ </a:t>
            </a:r>
            <a:r>
              <a:rPr lang="en-US" sz="3200" dirty="0">
                <a:latin typeface="Times" panose="02020603050405020304" pitchFamily="18" charset="0"/>
                <a:cs typeface="Times" panose="02020603050405020304" pitchFamily="18" charset="0"/>
              </a:rPr>
              <a:t>was coined in 1932 by Walter Cannon from the Greek words </a:t>
            </a:r>
            <a:r>
              <a:rPr lang="en-US" sz="3200" i="1" dirty="0" err="1">
                <a:latin typeface="Times" panose="02020603050405020304" pitchFamily="18" charset="0"/>
                <a:cs typeface="Times" panose="02020603050405020304" pitchFamily="18" charset="0"/>
              </a:rPr>
              <a:t>homeo</a:t>
            </a:r>
            <a:r>
              <a:rPr lang="en-US" sz="3200" dirty="0">
                <a:latin typeface="Times" panose="02020603050405020304" pitchFamily="18" charset="0"/>
                <a:cs typeface="Times" panose="02020603050405020304" pitchFamily="18" charset="0"/>
              </a:rPr>
              <a:t> (same, like, resembling, similar) and </a:t>
            </a:r>
            <a:r>
              <a:rPr lang="en-US" sz="3200" i="1" dirty="0">
                <a:latin typeface="Times" panose="02020603050405020304" pitchFamily="18" charset="0"/>
                <a:cs typeface="Times" panose="02020603050405020304" pitchFamily="18" charset="0"/>
              </a:rPr>
              <a:t>stasis</a:t>
            </a:r>
            <a:r>
              <a:rPr lang="en-US" sz="3200" dirty="0">
                <a:latin typeface="Times" panose="02020603050405020304" pitchFamily="18" charset="0"/>
                <a:cs typeface="Times" panose="02020603050405020304" pitchFamily="18" charset="0"/>
              </a:rPr>
              <a:t> (to stand, posture, stillness, changeless).</a:t>
            </a:r>
          </a:p>
          <a:p>
            <a:pPr marL="0" indent="0">
              <a:buNone/>
            </a:pPr>
            <a:endParaRPr lang="en-US" sz="3200" dirty="0">
              <a:latin typeface="Times" panose="02020603050405020304" pitchFamily="18" charset="0"/>
              <a:cs typeface="Times"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 typeface="Arial" pitchFamily="34" charset="0"/>
              <a:buChar char="•"/>
              <a:tabLst/>
              <a:defRPr/>
            </a:pPr>
            <a:r>
              <a:rPr kumimoji="0" lang="en-US" sz="3200" b="0" i="0" u="none" strike="noStrike" kern="1200" cap="none" spc="0" normalizeH="0" baseline="0" noProof="0" dirty="0">
                <a:ln>
                  <a:noFill/>
                </a:ln>
                <a:solidFill>
                  <a:prstClr val="black"/>
                </a:solidFill>
                <a:effectLst/>
                <a:uLnTx/>
                <a:uFillTx/>
                <a:latin typeface="Times" panose="02020603050405020304" pitchFamily="18" charset="0"/>
                <a:cs typeface="Times" panose="02020603050405020304" pitchFamily="18" charset="0"/>
              </a:rPr>
              <a:t>This concept was created by Claude Bernard who proposed the principle of the constancy of the milieu interieur in 1878. </a:t>
            </a:r>
            <a:endParaRPr kumimoji="0" lang="en-US" sz="3200" b="0" i="0" u="none" strike="noStrike" kern="1200" cap="none" spc="0" normalizeH="0" baseline="0" noProof="0" dirty="0" smtClean="0">
              <a:ln>
                <a:noFill/>
              </a:ln>
              <a:solidFill>
                <a:prstClr val="black"/>
              </a:solidFill>
              <a:effectLst/>
              <a:uLnTx/>
              <a:uFillTx/>
              <a:latin typeface="Times" panose="02020603050405020304" pitchFamily="18" charset="0"/>
              <a:cs typeface="Times"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None/>
              <a:tabLst/>
              <a:defRPr/>
            </a:pPr>
            <a:endParaRPr kumimoji="0" lang="en-US" sz="3200" b="0" i="0" u="none" strike="noStrike" kern="1200" cap="none" spc="0" normalizeH="0" baseline="0" noProof="0" dirty="0">
              <a:ln>
                <a:noFill/>
              </a:ln>
              <a:solidFill>
                <a:prstClr val="black"/>
              </a:solidFill>
              <a:effectLst/>
              <a:uLnTx/>
              <a:uFillTx/>
              <a:latin typeface="Times" panose="02020603050405020304" pitchFamily="18" charset="0"/>
              <a:cs typeface="Times" panose="02020603050405020304" pitchFamily="18" charset="0"/>
            </a:endParaRPr>
          </a:p>
          <a:p>
            <a:pPr algn="just">
              <a:lnSpc>
                <a:spcPct val="100000"/>
              </a:lnSpc>
              <a:spcBef>
                <a:spcPts val="0"/>
              </a:spcBef>
              <a:defRPr/>
            </a:pPr>
            <a:r>
              <a:rPr kumimoji="0" lang="en-US" sz="3200" b="0" i="0" u="none" strike="noStrike" kern="1200" cap="none" spc="0" normalizeH="0" baseline="0" noProof="0" dirty="0" smtClean="0">
                <a:ln>
                  <a:noFill/>
                </a:ln>
                <a:solidFill>
                  <a:prstClr val="black"/>
                </a:solidFill>
                <a:effectLst/>
                <a:uLnTx/>
                <a:uFillTx/>
                <a:latin typeface="Times" panose="02020603050405020304" pitchFamily="18" charset="0"/>
                <a:cs typeface="Times" panose="02020603050405020304" pitchFamily="18" charset="0"/>
              </a:rPr>
              <a:t>The ECF is considered the internal environment.</a:t>
            </a:r>
            <a:r>
              <a:rPr kumimoji="0" lang="en-US" sz="3200" b="0" i="0" u="none" strike="noStrike" kern="1200" cap="none" spc="0" normalizeH="0" noProof="0" dirty="0" smtClean="0">
                <a:ln>
                  <a:noFill/>
                </a:ln>
                <a:solidFill>
                  <a:prstClr val="black"/>
                </a:solidFill>
                <a:effectLst/>
                <a:uLnTx/>
                <a:uFillTx/>
                <a:latin typeface="Times" panose="02020603050405020304" pitchFamily="18" charset="0"/>
                <a:cs typeface="Times" panose="02020603050405020304" pitchFamily="18" charset="0"/>
              </a:rPr>
              <a:t> </a:t>
            </a:r>
            <a:endParaRPr kumimoji="0" lang="en-US" sz="3200" b="0" i="0" u="none" strike="noStrike" kern="1200" cap="none" spc="0" normalizeH="0" baseline="0" noProof="0" dirty="0">
              <a:ln>
                <a:noFill/>
              </a:ln>
              <a:solidFill>
                <a:prstClr val="black"/>
              </a:solidFill>
              <a:effectLst/>
              <a:uLnTx/>
              <a:uFillTx/>
              <a:latin typeface="Times" panose="02020603050405020304" pitchFamily="18" charset="0"/>
              <a:cs typeface="Times" panose="02020603050405020304" pitchFamily="18" charset="0"/>
            </a:endParaRPr>
          </a:p>
          <a:p>
            <a:endParaRPr lang="en-US" dirty="0">
              <a:latin typeface="Times" panose="02020603050405020304" pitchFamily="18" charset="0"/>
              <a:cs typeface="Times" panose="02020603050405020304" pitchFamily="18" charset="0"/>
            </a:endParaRPr>
          </a:p>
        </p:txBody>
      </p:sp>
    </p:spTree>
    <p:extLst>
      <p:ext uri="{BB962C8B-B14F-4D97-AF65-F5344CB8AC3E}">
        <p14:creationId xmlns:p14="http://schemas.microsoft.com/office/powerpoint/2010/main" val="117021660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BF6FA3E-2F97-4280-8840-0E519A5B50E1}"/>
              </a:ext>
            </a:extLst>
          </p:cNvPr>
          <p:cNvSpPr>
            <a:spLocks noGrp="1"/>
          </p:cNvSpPr>
          <p:nvPr>
            <p:ph idx="1"/>
          </p:nvPr>
        </p:nvSpPr>
        <p:spPr>
          <a:xfrm>
            <a:off x="530588" y="289497"/>
            <a:ext cx="11341621" cy="6381126"/>
          </a:xfrm>
        </p:spPr>
        <p:txBody>
          <a:bodyPr>
            <a:noAutofit/>
          </a:bodyPr>
          <a:lstStyle/>
          <a:p>
            <a:pPr marL="0" indent="0" algn="just">
              <a:lnSpc>
                <a:spcPct val="160000"/>
              </a:lnSpc>
              <a:spcBef>
                <a:spcPts val="0"/>
              </a:spcBef>
              <a:buNone/>
              <a:defRPr/>
            </a:pPr>
            <a:r>
              <a:rPr kumimoji="0" lang="en-US" sz="3200" b="1" i="0" u="none" strike="noStrike" kern="1200" cap="none" spc="0" normalizeH="0" baseline="0" noProof="0" dirty="0" smtClean="0">
                <a:ln>
                  <a:noFill/>
                </a:ln>
                <a:solidFill>
                  <a:prstClr val="black"/>
                </a:solidFill>
                <a:effectLst/>
                <a:uLnTx/>
                <a:uFillTx/>
                <a:latin typeface="Times" panose="02020603050405020304" pitchFamily="18" charset="0"/>
                <a:cs typeface="Times" panose="02020603050405020304" pitchFamily="18" charset="0"/>
              </a:rPr>
              <a:t>Key observations</a:t>
            </a:r>
          </a:p>
          <a:p>
            <a:pPr algn="just">
              <a:lnSpc>
                <a:spcPct val="160000"/>
              </a:lnSpc>
              <a:spcBef>
                <a:spcPts val="0"/>
              </a:spcBef>
              <a:buFont typeface="Wingdings" panose="05000000000000000000" pitchFamily="2" charset="2"/>
              <a:buChar char="Ø"/>
              <a:defRPr/>
            </a:pPr>
            <a:r>
              <a:rPr lang="en-US" sz="3200" dirty="0" smtClean="0">
                <a:solidFill>
                  <a:prstClr val="black"/>
                </a:solidFill>
                <a:latin typeface="Times" panose="02020603050405020304" pitchFamily="18" charset="0"/>
                <a:cs typeface="Times" panose="02020603050405020304" pitchFamily="18" charset="0"/>
              </a:rPr>
              <a:t>Highlights</a:t>
            </a:r>
            <a:r>
              <a:rPr lang="en-US" sz="3200" b="1" dirty="0" smtClean="0">
                <a:solidFill>
                  <a:prstClr val="black"/>
                </a:solidFill>
                <a:latin typeface="Times" panose="02020603050405020304" pitchFamily="18" charset="0"/>
                <a:cs typeface="Times" panose="02020603050405020304" pitchFamily="18" charset="0"/>
              </a:rPr>
              <a:t> </a:t>
            </a:r>
            <a:r>
              <a:rPr lang="en-US" sz="3200" dirty="0" smtClean="0">
                <a:solidFill>
                  <a:prstClr val="black"/>
                </a:solidFill>
                <a:latin typeface="Times" panose="02020603050405020304" pitchFamily="18" charset="0"/>
                <a:cs typeface="Times" panose="02020603050405020304" pitchFamily="18" charset="0"/>
              </a:rPr>
              <a:t>the body’s ability to regulate its own internal conditions despite the external changes</a:t>
            </a:r>
          </a:p>
          <a:p>
            <a:pPr lvl="1" algn="just">
              <a:lnSpc>
                <a:spcPct val="160000"/>
              </a:lnSpc>
              <a:spcBef>
                <a:spcPts val="0"/>
              </a:spcBef>
              <a:defRPr/>
            </a:pPr>
            <a:r>
              <a:rPr lang="en-US" sz="3200" dirty="0" smtClean="0">
                <a:solidFill>
                  <a:prstClr val="black"/>
                </a:solidFill>
                <a:latin typeface="Times" panose="02020603050405020304" pitchFamily="18" charset="0"/>
                <a:cs typeface="Times" panose="02020603050405020304" pitchFamily="18" charset="0"/>
              </a:rPr>
              <a:t>The glycogenic function of the liver and the concept of ‘internal secretion’</a:t>
            </a:r>
          </a:p>
          <a:p>
            <a:pPr lvl="1" algn="just">
              <a:lnSpc>
                <a:spcPct val="160000"/>
              </a:lnSpc>
              <a:spcBef>
                <a:spcPts val="0"/>
              </a:spcBef>
              <a:defRPr/>
            </a:pPr>
            <a:r>
              <a:rPr lang="en-US" sz="3200" dirty="0" smtClean="0">
                <a:solidFill>
                  <a:prstClr val="black"/>
                </a:solidFill>
                <a:latin typeface="Times" panose="02020603050405020304" pitchFamily="18" charset="0"/>
                <a:cs typeface="Times" panose="02020603050405020304" pitchFamily="18" charset="0"/>
              </a:rPr>
              <a:t>Vasomotor nerves and temperature</a:t>
            </a:r>
          </a:p>
          <a:p>
            <a:pPr lvl="1" algn="just">
              <a:lnSpc>
                <a:spcPct val="160000"/>
              </a:lnSpc>
              <a:spcBef>
                <a:spcPts val="0"/>
              </a:spcBef>
              <a:defRPr/>
            </a:pPr>
            <a:r>
              <a:rPr lang="en-US" sz="3200" dirty="0" smtClean="0">
                <a:solidFill>
                  <a:prstClr val="black"/>
                </a:solidFill>
                <a:latin typeface="Times" panose="02020603050405020304" pitchFamily="18" charset="0"/>
                <a:cs typeface="Times" panose="02020603050405020304" pitchFamily="18" charset="0"/>
              </a:rPr>
              <a:t>The puncture experiment- artificial diabetes</a:t>
            </a:r>
          </a:p>
          <a:p>
            <a:pPr lvl="1" algn="just">
              <a:lnSpc>
                <a:spcPct val="160000"/>
              </a:lnSpc>
              <a:spcBef>
                <a:spcPts val="0"/>
              </a:spcBef>
              <a:defRPr/>
            </a:pPr>
            <a:r>
              <a:rPr lang="en-US" sz="3200" dirty="0" smtClean="0">
                <a:solidFill>
                  <a:prstClr val="black"/>
                </a:solidFill>
                <a:latin typeface="Times" panose="02020603050405020304" pitchFamily="18" charset="0"/>
                <a:cs typeface="Times" panose="02020603050405020304" pitchFamily="18" charset="0"/>
              </a:rPr>
              <a:t>The stability of body fluids</a:t>
            </a:r>
          </a:p>
          <a:p>
            <a:pPr lvl="1" algn="just">
              <a:lnSpc>
                <a:spcPct val="160000"/>
              </a:lnSpc>
              <a:spcBef>
                <a:spcPts val="0"/>
              </a:spcBef>
              <a:defRPr/>
            </a:pPr>
            <a:endParaRPr lang="en-US" sz="3200" dirty="0" smtClean="0">
              <a:solidFill>
                <a:prstClr val="black"/>
              </a:solidFill>
              <a:latin typeface="Times" panose="02020603050405020304" pitchFamily="18" charset="0"/>
              <a:cs typeface="Times" panose="02020603050405020304" pitchFamily="18" charset="0"/>
            </a:endParaRPr>
          </a:p>
          <a:p>
            <a:pPr marL="457200" lvl="1" indent="0" algn="just">
              <a:lnSpc>
                <a:spcPct val="160000"/>
              </a:lnSpc>
              <a:spcBef>
                <a:spcPts val="0"/>
              </a:spcBef>
              <a:buNone/>
              <a:defRPr/>
            </a:pPr>
            <a:endParaRPr kumimoji="0" lang="en-US" sz="3200" i="0" u="none" strike="noStrike" kern="1200" cap="none" spc="0" normalizeH="0" baseline="0" noProof="0" dirty="0" smtClean="0">
              <a:ln>
                <a:noFill/>
              </a:ln>
              <a:solidFill>
                <a:prstClr val="black"/>
              </a:solidFill>
              <a:effectLst/>
              <a:uLnTx/>
              <a:uFillTx/>
              <a:latin typeface="Times" panose="02020603050405020304" pitchFamily="18" charset="0"/>
              <a:cs typeface="Times" panose="02020603050405020304" pitchFamily="18" charset="0"/>
            </a:endParaRPr>
          </a:p>
          <a:p>
            <a:pPr marL="0" marR="0" lvl="0" indent="0" algn="just" defTabSz="914400" rtl="0" eaLnBrk="1" fontAlgn="auto" latinLnBrk="0" hangingPunct="1">
              <a:lnSpc>
                <a:spcPct val="160000"/>
              </a:lnSpc>
              <a:spcBef>
                <a:spcPts val="0"/>
              </a:spcBef>
              <a:spcAft>
                <a:spcPts val="0"/>
              </a:spcAft>
              <a:buClrTx/>
              <a:buSzTx/>
              <a:buFont typeface="Arial" panose="020B0604020202020204" pitchFamily="34" charset="0"/>
              <a:buNone/>
              <a:tabLst/>
              <a:defRPr/>
            </a:pPr>
            <a:r>
              <a:rPr kumimoji="0" lang="en-US" sz="3200" b="0" i="0" u="none" strike="noStrike" kern="1200" cap="none" spc="0" normalizeH="0" baseline="0" noProof="0" dirty="0" smtClean="0">
                <a:ln>
                  <a:noFill/>
                </a:ln>
                <a:solidFill>
                  <a:prstClr val="black"/>
                </a:solidFill>
                <a:effectLst/>
                <a:uLnTx/>
                <a:uFillTx/>
                <a:latin typeface="Times" panose="02020603050405020304" pitchFamily="18" charset="0"/>
                <a:cs typeface="Times" panose="02020603050405020304" pitchFamily="18" charset="0"/>
              </a:rPr>
              <a:t> </a:t>
            </a:r>
            <a:endParaRPr lang="en-US" sz="3200" dirty="0">
              <a:latin typeface="Times" panose="02020603050405020304" pitchFamily="18" charset="0"/>
              <a:cs typeface="Times" panose="02020603050405020304" pitchFamily="18" charset="0"/>
            </a:endParaRPr>
          </a:p>
        </p:txBody>
      </p:sp>
    </p:spTree>
    <p:extLst>
      <p:ext uri="{BB962C8B-B14F-4D97-AF65-F5344CB8AC3E}">
        <p14:creationId xmlns:p14="http://schemas.microsoft.com/office/powerpoint/2010/main" val="47603443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08341" y="496221"/>
            <a:ext cx="11558938" cy="5693866"/>
          </a:xfrm>
          <a:prstGeom prst="rect">
            <a:avLst/>
          </a:prstGeom>
          <a:noFill/>
        </p:spPr>
        <p:txBody>
          <a:bodyPr wrap="square" rtlCol="0">
            <a:spAutoFit/>
          </a:bodyPr>
          <a:lstStyle/>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Homeostasis is the maintenance of a constant/relatively stable internal environment </a:t>
            </a:r>
            <a:r>
              <a:rPr lang="en-AU" sz="2800" dirty="0">
                <a:latin typeface="Times New Roman" panose="02020603050405020304" pitchFamily="18" charset="0"/>
                <a:cs typeface="Times New Roman" panose="02020603050405020304" pitchFamily="18" charset="0"/>
              </a:rPr>
              <a:t>in the face of changing external </a:t>
            </a:r>
            <a:r>
              <a:rPr lang="en-AU" sz="2800" dirty="0" smtClean="0">
                <a:latin typeface="Times New Roman" panose="02020603050405020304" pitchFamily="18" charset="0"/>
                <a:cs typeface="Times New Roman" panose="02020603050405020304" pitchFamily="18" charset="0"/>
              </a:rPr>
              <a:t>environment. </a:t>
            </a:r>
          </a:p>
          <a:p>
            <a:pPr algn="just"/>
            <a:endParaRPr lang="en-US" sz="2800" dirty="0">
              <a:latin typeface="Times New Roman" panose="02020603050405020304" pitchFamily="18" charset="0"/>
              <a:cs typeface="Times New Roman" panose="02020603050405020304" pitchFamily="18" charset="0"/>
            </a:endParaRPr>
          </a:p>
          <a:p>
            <a:pPr>
              <a:buFont typeface="Arial" pitchFamily="34" charset="0"/>
              <a:buChar char="•"/>
            </a:pPr>
            <a:r>
              <a:rPr lang="en-US" sz="2800" dirty="0">
                <a:latin typeface="Times New Roman" panose="02020603050405020304" pitchFamily="18" charset="0"/>
                <a:cs typeface="Times New Roman" panose="02020603050405020304" pitchFamily="18" charset="0"/>
              </a:rPr>
              <a:t> Homeostasis is continually disturbed by </a:t>
            </a:r>
            <a:r>
              <a:rPr lang="en-US" sz="2800" dirty="0" smtClean="0">
                <a:latin typeface="Times New Roman" panose="02020603050405020304" pitchFamily="18" charset="0"/>
                <a:cs typeface="Times New Roman" panose="02020603050405020304" pitchFamily="18" charset="0"/>
              </a:rPr>
              <a:t>stress</a:t>
            </a:r>
          </a:p>
          <a:p>
            <a:endParaRPr lang="en-US" sz="2800" dirty="0">
              <a:latin typeface="Times New Roman" panose="02020603050405020304" pitchFamily="18" charset="0"/>
              <a:cs typeface="Times New Roman" panose="02020603050405020304" pitchFamily="18" charset="0"/>
            </a:endParaRPr>
          </a:p>
          <a:p>
            <a:pPr>
              <a:buFont typeface="Arial" pitchFamily="34" charset="0"/>
              <a:buChar char="•"/>
            </a:pPr>
            <a:r>
              <a:rPr lang="en-US" sz="2800" dirty="0">
                <a:latin typeface="Times New Roman" panose="02020603050405020304" pitchFamily="18" charset="0"/>
                <a:cs typeface="Times New Roman" panose="02020603050405020304" pitchFamily="18" charset="0"/>
              </a:rPr>
              <a:t> </a:t>
            </a:r>
            <a:r>
              <a:rPr lang="en-US" sz="2800" dirty="0" smtClean="0">
                <a:latin typeface="Times New Roman" panose="02020603050405020304" pitchFamily="18" charset="0"/>
                <a:cs typeface="Times New Roman" panose="02020603050405020304" pitchFamily="18" charset="0"/>
              </a:rPr>
              <a:t>Most diseases </a:t>
            </a:r>
            <a:r>
              <a:rPr lang="en-US" sz="2800" dirty="0">
                <a:latin typeface="Times New Roman" panose="02020603050405020304" pitchFamily="18" charset="0"/>
                <a:cs typeface="Times New Roman" panose="02020603050405020304" pitchFamily="18" charset="0"/>
              </a:rPr>
              <a:t>results from </a:t>
            </a:r>
            <a:r>
              <a:rPr lang="en-US" sz="2800" dirty="0" smtClean="0">
                <a:latin typeface="Times New Roman" panose="02020603050405020304" pitchFamily="18" charset="0"/>
                <a:cs typeface="Times New Roman" panose="02020603050405020304" pitchFamily="18" charset="0"/>
              </a:rPr>
              <a:t>disruption </a:t>
            </a:r>
            <a:r>
              <a:rPr lang="en-US" sz="2800" dirty="0">
                <a:latin typeface="Times New Roman" panose="02020603050405020304" pitchFamily="18" charset="0"/>
                <a:cs typeface="Times New Roman" panose="02020603050405020304" pitchFamily="18" charset="0"/>
              </a:rPr>
              <a:t>of </a:t>
            </a:r>
            <a:r>
              <a:rPr lang="en-US" sz="2800" dirty="0" smtClean="0">
                <a:latin typeface="Times New Roman" panose="02020603050405020304" pitchFamily="18" charset="0"/>
                <a:cs typeface="Times New Roman" panose="02020603050405020304" pitchFamily="18" charset="0"/>
              </a:rPr>
              <a:t> homeostasis</a:t>
            </a:r>
            <a:r>
              <a:rPr lang="en-US" sz="2800" dirty="0">
                <a:latin typeface="Times New Roman" panose="02020603050405020304" pitchFamily="18" charset="0"/>
                <a:cs typeface="Times New Roman" panose="02020603050405020304" pitchFamily="18" charset="0"/>
              </a:rPr>
              <a:t>, a condition known as </a:t>
            </a:r>
            <a:r>
              <a:rPr lang="en-US" sz="2800" dirty="0" smtClean="0">
                <a:latin typeface="Times New Roman" panose="02020603050405020304" pitchFamily="18" charset="0"/>
                <a:cs typeface="Times New Roman" panose="02020603050405020304" pitchFamily="18" charset="0"/>
              </a:rPr>
              <a:t>homeostatic imbalance</a:t>
            </a:r>
          </a:p>
          <a:p>
            <a:endParaRPr lang="en-US" sz="2800" dirty="0" smtClean="0">
              <a:latin typeface="Times New Roman" panose="02020603050405020304" pitchFamily="18" charset="0"/>
              <a:cs typeface="Times New Roman" panose="02020603050405020304" pitchFamily="18" charset="0"/>
            </a:endParaRPr>
          </a:p>
          <a:p>
            <a:pPr>
              <a:buFont typeface="Arial" pitchFamily="34" charset="0"/>
              <a:buChar char="•"/>
            </a:pPr>
            <a:r>
              <a:rPr lang="en-US" sz="2800" dirty="0" smtClean="0">
                <a:latin typeface="Times New Roman" panose="02020603050405020304" pitchFamily="18" charset="0"/>
                <a:cs typeface="Times New Roman" panose="02020603050405020304" pitchFamily="18" charset="0"/>
              </a:rPr>
              <a:t>Understanding </a:t>
            </a:r>
            <a:r>
              <a:rPr lang="en-US" sz="2800" dirty="0">
                <a:latin typeface="Times New Roman" panose="02020603050405020304" pitchFamily="18" charset="0"/>
                <a:cs typeface="Times New Roman" panose="02020603050405020304" pitchFamily="18" charset="0"/>
              </a:rPr>
              <a:t>the concept of homeostasis form the basis for clinical diagnostic </a:t>
            </a:r>
            <a:r>
              <a:rPr lang="en-US" sz="2800" dirty="0" smtClean="0">
                <a:latin typeface="Times New Roman" panose="02020603050405020304" pitchFamily="18" charset="0"/>
                <a:cs typeface="Times New Roman" panose="02020603050405020304" pitchFamily="18" charset="0"/>
              </a:rPr>
              <a:t>procedures</a:t>
            </a:r>
          </a:p>
          <a:p>
            <a:endParaRPr lang="en-US" sz="2800" dirty="0" smtClean="0">
              <a:latin typeface="Times New Roman" panose="02020603050405020304" pitchFamily="18" charset="0"/>
              <a:cs typeface="Times New Roman" panose="02020603050405020304" pitchFamily="18" charset="0"/>
            </a:endParaRPr>
          </a:p>
          <a:p>
            <a:pPr>
              <a:buFont typeface="Arial" pitchFamily="34" charset="0"/>
              <a:buChar char="•"/>
            </a:pPr>
            <a:r>
              <a:rPr lang="en-US" sz="2800" dirty="0" smtClean="0">
                <a:latin typeface="Times New Roman" panose="02020603050405020304" pitchFamily="18" charset="0"/>
                <a:cs typeface="Times New Roman" panose="02020603050405020304" pitchFamily="18" charset="0"/>
              </a:rPr>
              <a:t>Homeostasis </a:t>
            </a:r>
            <a:r>
              <a:rPr lang="en-AU" sz="2800" dirty="0">
                <a:latin typeface="Times New Roman" panose="02020603050405020304" pitchFamily="18" charset="0"/>
                <a:cs typeface="Times New Roman" panose="02020603050405020304" pitchFamily="18" charset="0"/>
              </a:rPr>
              <a:t>allows humans to live </a:t>
            </a:r>
            <a:r>
              <a:rPr lang="en-AU" sz="2800" dirty="0" smtClean="0">
                <a:latin typeface="Times New Roman" panose="02020603050405020304" pitchFamily="18" charset="0"/>
                <a:cs typeface="Times New Roman" panose="02020603050405020304" pitchFamily="18" charset="0"/>
              </a:rPr>
              <a:t>and adapt in </a:t>
            </a:r>
            <a:r>
              <a:rPr lang="en-AU" sz="2800" dirty="0">
                <a:latin typeface="Times New Roman" panose="02020603050405020304" pitchFamily="18" charset="0"/>
                <a:cs typeface="Times New Roman" panose="02020603050405020304" pitchFamily="18" charset="0"/>
              </a:rPr>
              <a:t>many  habitats</a:t>
            </a:r>
            <a:endParaRPr lang="en-US" sz="2800" dirty="0">
              <a:latin typeface="Times New Roman" panose="02020603050405020304" pitchFamily="18" charset="0"/>
              <a:cs typeface="Times New Roman" panose="02020603050405020304" pitchFamily="18" charset="0"/>
            </a:endParaRPr>
          </a:p>
          <a:p>
            <a:pPr>
              <a:buFont typeface="Arial" pitchFamily="34" charset="0"/>
              <a:buChar char="•"/>
            </a:pPr>
            <a:endParaRPr lang="en-US" sz="28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28883" y="867373"/>
            <a:ext cx="11435483" cy="5016758"/>
          </a:xfrm>
          <a:prstGeom prst="rect">
            <a:avLst/>
          </a:prstGeom>
        </p:spPr>
        <p:txBody>
          <a:bodyPr wrap="square">
            <a:spAutoFit/>
          </a:bodyPr>
          <a:lstStyle/>
          <a:p>
            <a:pPr algn="just">
              <a:buFont typeface="Arial" pitchFamily="34" charset="0"/>
              <a:buChar char="•"/>
            </a:pPr>
            <a:r>
              <a:rPr lang="en-US" sz="3200" dirty="0">
                <a:latin typeface="Times New Roman" panose="02020603050405020304" pitchFamily="18" charset="0"/>
                <a:cs typeface="Times New Roman" panose="02020603050405020304" pitchFamily="18" charset="0"/>
              </a:rPr>
              <a:t> The essential variables of the internal environment that are maintained within limits</a:t>
            </a:r>
          </a:p>
          <a:p>
            <a:pPr algn="just"/>
            <a:r>
              <a:rPr lang="en-US" sz="3200" dirty="0">
                <a:latin typeface="Times New Roman" panose="02020603050405020304" pitchFamily="18" charset="0"/>
                <a:cs typeface="Times New Roman" panose="02020603050405020304" pitchFamily="18" charset="0"/>
              </a:rPr>
              <a:t>  acceptable are:</a:t>
            </a:r>
          </a:p>
          <a:p>
            <a:pPr lvl="1" algn="just">
              <a:buFont typeface="Wingdings" pitchFamily="2" charset="2"/>
              <a:buChar char="Ø"/>
            </a:pPr>
            <a:r>
              <a:rPr lang="en-US" sz="3200" dirty="0">
                <a:latin typeface="Times New Roman" panose="02020603050405020304" pitchFamily="18" charset="0"/>
                <a:cs typeface="Times New Roman" panose="02020603050405020304" pitchFamily="18" charset="0"/>
              </a:rPr>
              <a:t> Concentration of oxygen and carbon dioxide</a:t>
            </a:r>
          </a:p>
          <a:p>
            <a:pPr lvl="1" algn="just">
              <a:buFont typeface="Wingdings" pitchFamily="2" charset="2"/>
              <a:buChar char="Ø"/>
            </a:pPr>
            <a:r>
              <a:rPr lang="en-US" sz="3200" dirty="0">
                <a:latin typeface="Times New Roman" panose="02020603050405020304" pitchFamily="18" charset="0"/>
                <a:cs typeface="Times New Roman" panose="02020603050405020304" pitchFamily="18" charset="0"/>
              </a:rPr>
              <a:t> pH of the internal environment </a:t>
            </a:r>
          </a:p>
          <a:p>
            <a:pPr lvl="1" algn="just">
              <a:buFont typeface="Wingdings" pitchFamily="2" charset="2"/>
              <a:buChar char="Ø"/>
            </a:pPr>
            <a:r>
              <a:rPr lang="en-US" sz="3200" dirty="0">
                <a:latin typeface="Times New Roman" panose="02020603050405020304" pitchFamily="18" charset="0"/>
                <a:cs typeface="Times New Roman" panose="02020603050405020304" pitchFamily="18" charset="0"/>
              </a:rPr>
              <a:t> Concentration of nutrients and waste products </a:t>
            </a:r>
          </a:p>
          <a:p>
            <a:pPr lvl="1" algn="just">
              <a:buFont typeface="Wingdings" pitchFamily="2" charset="2"/>
              <a:buChar char="Ø"/>
            </a:pPr>
            <a:r>
              <a:rPr lang="en-US" sz="3200" dirty="0">
                <a:latin typeface="Times New Roman" panose="02020603050405020304" pitchFamily="18" charset="0"/>
                <a:cs typeface="Times New Roman" panose="02020603050405020304" pitchFamily="18" charset="0"/>
              </a:rPr>
              <a:t> Concentration of salt and other electrolytes </a:t>
            </a:r>
          </a:p>
          <a:p>
            <a:pPr lvl="1" algn="just">
              <a:buFont typeface="Wingdings" pitchFamily="2" charset="2"/>
              <a:buChar char="Ø"/>
            </a:pPr>
            <a:r>
              <a:rPr lang="en-US" sz="3200" dirty="0">
                <a:latin typeface="Times New Roman" panose="02020603050405020304" pitchFamily="18" charset="0"/>
                <a:cs typeface="Times New Roman" panose="02020603050405020304" pitchFamily="18" charset="0"/>
              </a:rPr>
              <a:t> Volume and pressure of extracellular fluid</a:t>
            </a:r>
          </a:p>
          <a:p>
            <a:pPr lvl="1" algn="just">
              <a:buFont typeface="Wingdings" pitchFamily="2" charset="2"/>
              <a:buChar char="Ø"/>
            </a:pPr>
            <a:r>
              <a:rPr lang="en-US" sz="3200" dirty="0">
                <a:latin typeface="Times New Roman" panose="02020603050405020304" pitchFamily="18" charset="0"/>
                <a:cs typeface="Times New Roman" panose="02020603050405020304" pitchFamily="18" charset="0"/>
              </a:rPr>
              <a:t> temperature</a:t>
            </a:r>
          </a:p>
          <a:p>
            <a:pPr algn="just"/>
            <a:endParaRPr lang="en-US" sz="3200"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66198" y="223666"/>
            <a:ext cx="11619678" cy="1815882"/>
          </a:xfrm>
          <a:prstGeom prst="rect">
            <a:avLst/>
          </a:prstGeom>
        </p:spPr>
        <p:txBody>
          <a:bodyPr wrap="square">
            <a:spAutoFit/>
          </a:bodyPr>
          <a:lstStyle/>
          <a:p>
            <a:pPr marL="457200" indent="-457200" algn="just">
              <a:buFont typeface="Arial" panose="020B0604020202020204" pitchFamily="34" charset="0"/>
              <a:buChar char="•"/>
            </a:pPr>
            <a:r>
              <a:rPr lang="en-US" sz="2800" dirty="0" smtClean="0">
                <a:latin typeface="Times New Roman" panose="02020603050405020304" pitchFamily="18" charset="0"/>
                <a:cs typeface="Times New Roman" panose="02020603050405020304" pitchFamily="18" charset="0"/>
              </a:rPr>
              <a:t>Homeostasis </a:t>
            </a:r>
            <a:r>
              <a:rPr lang="en-US" sz="2800" dirty="0">
                <a:latin typeface="Times New Roman" panose="02020603050405020304" pitchFamily="18" charset="0"/>
                <a:cs typeface="Times New Roman" panose="02020603050405020304" pitchFamily="18" charset="0"/>
              </a:rPr>
              <a:t>depends on the action and interaction of a number of body systems to maintain a range of conditions within which the body can best operate.</a:t>
            </a:r>
          </a:p>
          <a:p>
            <a:pPr algn="just"/>
            <a:r>
              <a:rPr lang="en-US" sz="2800" dirty="0">
                <a:latin typeface="Times New Roman" panose="02020603050405020304" pitchFamily="18" charset="0"/>
                <a:cs typeface="Times New Roman" panose="02020603050405020304" pitchFamily="18" charset="0"/>
              </a:rPr>
              <a:t>  </a:t>
            </a:r>
          </a:p>
        </p:txBody>
      </p:sp>
      <p:sp>
        <p:nvSpPr>
          <p:cNvPr id="3" name="Content Placeholder 2">
            <a:extLst>
              <a:ext uri="{FF2B5EF4-FFF2-40B4-BE49-F238E27FC236}">
                <a16:creationId xmlns:a16="http://schemas.microsoft.com/office/drawing/2014/main" id="{E176BEE6-7616-4731-83AB-D2DA62BA6F48}"/>
              </a:ext>
            </a:extLst>
          </p:cNvPr>
          <p:cNvSpPr txBox="1">
            <a:spLocks/>
          </p:cNvSpPr>
          <p:nvPr/>
        </p:nvSpPr>
        <p:spPr>
          <a:xfrm>
            <a:off x="425160" y="2056555"/>
            <a:ext cx="5181600" cy="329493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buFont typeface="Wingdings" pitchFamily="2" charset="2"/>
              <a:buChar char="Ø"/>
            </a:pPr>
            <a:r>
              <a:rPr lang="en-US" sz="2800" dirty="0" smtClean="0">
                <a:latin typeface="Times" panose="02020603050405020304" pitchFamily="18" charset="0"/>
                <a:cs typeface="Times" panose="02020603050405020304" pitchFamily="18" charset="0"/>
              </a:rPr>
              <a:t>circulatory system</a:t>
            </a:r>
          </a:p>
          <a:p>
            <a:pPr lvl="1">
              <a:buFont typeface="Wingdings" pitchFamily="2" charset="2"/>
              <a:buChar char="Ø"/>
            </a:pPr>
            <a:r>
              <a:rPr lang="en-US" sz="2800" dirty="0" smtClean="0">
                <a:latin typeface="Times" panose="02020603050405020304" pitchFamily="18" charset="0"/>
                <a:cs typeface="Times" panose="02020603050405020304" pitchFamily="18" charset="0"/>
              </a:rPr>
              <a:t> lymphatic system and immunity</a:t>
            </a:r>
          </a:p>
          <a:p>
            <a:pPr lvl="1">
              <a:buFont typeface="Wingdings" pitchFamily="2" charset="2"/>
              <a:buChar char="Ø"/>
            </a:pPr>
            <a:r>
              <a:rPr lang="en-US" sz="2800" dirty="0" smtClean="0">
                <a:latin typeface="Times" panose="02020603050405020304" pitchFamily="18" charset="0"/>
                <a:cs typeface="Times" panose="02020603050405020304" pitchFamily="18" charset="0"/>
              </a:rPr>
              <a:t> digestive system</a:t>
            </a:r>
          </a:p>
          <a:p>
            <a:pPr lvl="1">
              <a:buFont typeface="Wingdings" pitchFamily="2" charset="2"/>
              <a:buChar char="Ø"/>
            </a:pPr>
            <a:r>
              <a:rPr lang="en-US" sz="2800" dirty="0" smtClean="0">
                <a:latin typeface="Times" panose="02020603050405020304" pitchFamily="18" charset="0"/>
                <a:cs typeface="Times" panose="02020603050405020304" pitchFamily="18" charset="0"/>
              </a:rPr>
              <a:t> nervous system </a:t>
            </a:r>
          </a:p>
          <a:p>
            <a:pPr lvl="1">
              <a:buFont typeface="Wingdings" pitchFamily="2" charset="2"/>
              <a:buChar char="Ø"/>
            </a:pPr>
            <a:r>
              <a:rPr lang="en-US" sz="2800" dirty="0" smtClean="0">
                <a:latin typeface="Times" panose="02020603050405020304" pitchFamily="18" charset="0"/>
                <a:cs typeface="Times" panose="02020603050405020304" pitchFamily="18" charset="0"/>
              </a:rPr>
              <a:t> endocrine system</a:t>
            </a:r>
          </a:p>
          <a:p>
            <a:endParaRPr lang="en-US" dirty="0">
              <a:latin typeface="Times" panose="02020603050405020304" pitchFamily="18" charset="0"/>
              <a:cs typeface="Times" panose="02020603050405020304" pitchFamily="18" charset="0"/>
            </a:endParaRPr>
          </a:p>
        </p:txBody>
      </p:sp>
      <p:sp>
        <p:nvSpPr>
          <p:cNvPr id="4" name="Content Placeholder 3">
            <a:extLst>
              <a:ext uri="{FF2B5EF4-FFF2-40B4-BE49-F238E27FC236}">
                <a16:creationId xmlns:a16="http://schemas.microsoft.com/office/drawing/2014/main" id="{79955A7B-98C3-4A2D-A383-D3912CC94D52}"/>
              </a:ext>
            </a:extLst>
          </p:cNvPr>
          <p:cNvSpPr txBox="1">
            <a:spLocks/>
          </p:cNvSpPr>
          <p:nvPr/>
        </p:nvSpPr>
        <p:spPr>
          <a:xfrm>
            <a:off x="5974829" y="2131506"/>
            <a:ext cx="5181600" cy="292017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buFont typeface="Wingdings" pitchFamily="2" charset="2"/>
              <a:buChar char="Ø"/>
            </a:pPr>
            <a:r>
              <a:rPr lang="en-US" sz="2800" dirty="0" smtClean="0">
                <a:latin typeface="Times" panose="02020603050405020304" pitchFamily="18" charset="0"/>
                <a:cs typeface="Times" panose="02020603050405020304" pitchFamily="18" charset="0"/>
              </a:rPr>
              <a:t>integumentary system</a:t>
            </a:r>
          </a:p>
          <a:p>
            <a:pPr lvl="1">
              <a:buFont typeface="Wingdings" pitchFamily="2" charset="2"/>
              <a:buChar char="Ø"/>
            </a:pPr>
            <a:r>
              <a:rPr lang="en-US" sz="2800" dirty="0" smtClean="0">
                <a:latin typeface="Times" panose="02020603050405020304" pitchFamily="18" charset="0"/>
                <a:cs typeface="Times" panose="02020603050405020304" pitchFamily="18" charset="0"/>
              </a:rPr>
              <a:t>reproductive system </a:t>
            </a:r>
          </a:p>
          <a:p>
            <a:pPr lvl="1">
              <a:buFont typeface="Wingdings" pitchFamily="2" charset="2"/>
              <a:buChar char="Ø"/>
            </a:pPr>
            <a:r>
              <a:rPr lang="en-US" sz="2800" dirty="0" smtClean="0">
                <a:latin typeface="Times" panose="02020603050405020304" pitchFamily="18" charset="0"/>
                <a:cs typeface="Times" panose="02020603050405020304" pitchFamily="18" charset="0"/>
              </a:rPr>
              <a:t> muscular </a:t>
            </a:r>
          </a:p>
          <a:p>
            <a:pPr lvl="1">
              <a:buFont typeface="Wingdings" pitchFamily="2" charset="2"/>
              <a:buChar char="Ø"/>
            </a:pPr>
            <a:r>
              <a:rPr lang="en-US" sz="2800" dirty="0" smtClean="0">
                <a:latin typeface="Times" panose="02020603050405020304" pitchFamily="18" charset="0"/>
                <a:cs typeface="Times" panose="02020603050405020304" pitchFamily="18" charset="0"/>
              </a:rPr>
              <a:t> skeletal system</a:t>
            </a:r>
          </a:p>
          <a:p>
            <a:pPr lvl="1">
              <a:buFont typeface="Wingdings" pitchFamily="2" charset="2"/>
              <a:buChar char="Ø"/>
            </a:pPr>
            <a:r>
              <a:rPr lang="en-US" sz="2800" dirty="0" smtClean="0">
                <a:latin typeface="Times" panose="02020603050405020304" pitchFamily="18" charset="0"/>
                <a:cs typeface="Times" panose="02020603050405020304" pitchFamily="18" charset="0"/>
              </a:rPr>
              <a:t> respiratory system</a:t>
            </a:r>
          </a:p>
          <a:p>
            <a:pPr lvl="1">
              <a:buFont typeface="Wingdings" pitchFamily="2" charset="2"/>
              <a:buChar char="Ø"/>
            </a:pPr>
            <a:r>
              <a:rPr lang="en-US" sz="2800" dirty="0" smtClean="0">
                <a:latin typeface="Times" panose="02020603050405020304" pitchFamily="18" charset="0"/>
                <a:cs typeface="Times" panose="02020603050405020304" pitchFamily="18" charset="0"/>
              </a:rPr>
              <a:t> excretory system</a:t>
            </a:r>
          </a:p>
          <a:p>
            <a:endParaRPr lang="en-US" dirty="0">
              <a:latin typeface="Times" panose="02020603050405020304" pitchFamily="18" charset="0"/>
              <a:cs typeface="Times" panose="02020603050405020304" pitchFamily="18" charset="0"/>
            </a:endParaRPr>
          </a:p>
        </p:txBody>
      </p:sp>
      <p:sp>
        <p:nvSpPr>
          <p:cNvPr id="5" name="TextBox 4">
            <a:extLst>
              <a:ext uri="{FF2B5EF4-FFF2-40B4-BE49-F238E27FC236}">
                <a16:creationId xmlns:a16="http://schemas.microsoft.com/office/drawing/2014/main" id="{4C6E101E-7DD5-4235-92D0-A45EFBB18DA5}"/>
              </a:ext>
            </a:extLst>
          </p:cNvPr>
          <p:cNvSpPr txBox="1"/>
          <p:nvPr/>
        </p:nvSpPr>
        <p:spPr>
          <a:xfrm>
            <a:off x="707980" y="5599594"/>
            <a:ext cx="10793627" cy="954107"/>
          </a:xfrm>
          <a:prstGeom prst="rect">
            <a:avLst/>
          </a:prstGeom>
          <a:noFill/>
        </p:spPr>
        <p:txBody>
          <a:bodyPr wrap="square">
            <a:spAutoFit/>
          </a:bodyPr>
          <a:lstStyle/>
          <a:p>
            <a:pPr marL="285750" indent="-285750" algn="just">
              <a:buFont typeface="Arial" panose="020B0604020202020204" pitchFamily="34" charset="0"/>
              <a:buChar char="•"/>
            </a:pPr>
            <a:r>
              <a:rPr lang="en-AU" sz="2800" dirty="0">
                <a:latin typeface="Times New Roman" panose="02020603050405020304" pitchFamily="18" charset="0"/>
                <a:cs typeface="Times New Roman" panose="02020603050405020304" pitchFamily="18" charset="0"/>
              </a:rPr>
              <a:t>the nervous system and to some degree the endocrine system are the main control systems </a:t>
            </a:r>
            <a:r>
              <a:rPr lang="en-US" sz="2800" dirty="0">
                <a:latin typeface="Times New Roman" panose="02020603050405020304" pitchFamily="18" charset="0"/>
                <a:cs typeface="Times New Roman" panose="02020603050405020304" pitchFamily="18" charset="0"/>
              </a:rPr>
              <a:t>of </a:t>
            </a:r>
            <a:r>
              <a:rPr lang="en-US" sz="2800" dirty="0" smtClean="0">
                <a:latin typeface="Times New Roman" panose="02020603050405020304" pitchFamily="18" charset="0"/>
                <a:cs typeface="Times New Roman" panose="02020603050405020304" pitchFamily="18" charset="0"/>
              </a:rPr>
              <a:t>homeostasis</a:t>
            </a:r>
            <a:endParaRPr lang="en-US" sz="28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3">
            <a:extLst>
              <a:ext uri="{FF2B5EF4-FFF2-40B4-BE49-F238E27FC236}">
                <a16:creationId xmlns:a16="http://schemas.microsoft.com/office/drawing/2014/main" id="{CED58746-3B8C-482C-A373-7E40C13F1E58}"/>
              </a:ext>
            </a:extLst>
          </p:cNvPr>
          <p:cNvSpPr>
            <a:spLocks noGrp="1"/>
          </p:cNvSpPr>
          <p:nvPr>
            <p:ph type="sldNum" sz="quarter" idx="12"/>
          </p:nvPr>
        </p:nvSpPr>
        <p:spPr/>
        <p:txBody>
          <a:bodyPr/>
          <a:lstStyle/>
          <a:p>
            <a:fld id="{5C809278-A034-4180-9F7F-4099AB247A5A}" type="slidenum">
              <a:rPr lang="en-US" altLang="zh-CN"/>
              <a:pPr/>
              <a:t>8</a:t>
            </a:fld>
            <a:endParaRPr lang="en-US" altLang="zh-CN"/>
          </a:p>
        </p:txBody>
      </p:sp>
      <p:pic>
        <p:nvPicPr>
          <p:cNvPr id="16386" name="Picture 2">
            <a:extLst>
              <a:ext uri="{FF2B5EF4-FFF2-40B4-BE49-F238E27FC236}">
                <a16:creationId xmlns:a16="http://schemas.microsoft.com/office/drawing/2014/main" id="{EB4EAE4F-43D9-45D8-A17D-B1BE73C84C3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37591" y="225591"/>
            <a:ext cx="4008437" cy="5402263"/>
          </a:xfrm>
          <a:prstGeom prst="rect">
            <a:avLst/>
          </a:prstGeom>
          <a:noFill/>
          <a:extLst>
            <a:ext uri="{909E8E84-426E-40DD-AFC4-6F175D3DCCD1}">
              <a14:hiddenFill xmlns:a14="http://schemas.microsoft.com/office/drawing/2010/main">
                <a:solidFill>
                  <a:srgbClr val="FFFFFF"/>
                </a:solidFill>
              </a14:hiddenFill>
            </a:ext>
          </a:extLst>
        </p:spPr>
      </p:pic>
      <p:sp>
        <p:nvSpPr>
          <p:cNvPr id="16388" name="Rectangle 4">
            <a:extLst>
              <a:ext uri="{FF2B5EF4-FFF2-40B4-BE49-F238E27FC236}">
                <a16:creationId xmlns:a16="http://schemas.microsoft.com/office/drawing/2014/main" id="{B92CE6D7-201E-42DD-BBD1-2FF63EF8081E}"/>
              </a:ext>
            </a:extLst>
          </p:cNvPr>
          <p:cNvSpPr>
            <a:spLocks noChangeArrowheads="1"/>
          </p:cNvSpPr>
          <p:nvPr/>
        </p:nvSpPr>
        <p:spPr bwMode="auto">
          <a:xfrm>
            <a:off x="134911" y="492210"/>
            <a:ext cx="6685614" cy="53922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90000"/>
              </a:lnSpc>
              <a:spcBef>
                <a:spcPct val="50000"/>
              </a:spcBef>
              <a:buClr>
                <a:schemeClr val="accent2"/>
              </a:buClr>
              <a:buFont typeface="Times New Roman" panose="02020603050405020304" pitchFamily="18" charset="0"/>
              <a:buChar char="•"/>
            </a:pPr>
            <a:r>
              <a:rPr lang="en-US" altLang="zh-CN" sz="2800" dirty="0">
                <a:latin typeface="Times New Roman" panose="02020603050405020304" pitchFamily="18" charset="0"/>
                <a:cs typeface="Times New Roman" panose="02020603050405020304" pitchFamily="18" charset="0"/>
              </a:rPr>
              <a:t>Successful compensation</a:t>
            </a:r>
          </a:p>
          <a:p>
            <a:pPr marL="914400" lvl="1" indent="-457200">
              <a:lnSpc>
                <a:spcPct val="90000"/>
              </a:lnSpc>
              <a:spcBef>
                <a:spcPct val="50000"/>
              </a:spcBef>
              <a:buClr>
                <a:schemeClr val="accent2"/>
              </a:buClr>
              <a:buFont typeface="Wingdings" panose="05000000000000000000" pitchFamily="2" charset="2"/>
              <a:buChar char="Ø"/>
            </a:pPr>
            <a:r>
              <a:rPr lang="en-US" altLang="zh-CN" sz="2800" dirty="0">
                <a:latin typeface="Times New Roman" panose="02020603050405020304" pitchFamily="18" charset="0"/>
                <a:cs typeface="Times New Roman" panose="02020603050405020304" pitchFamily="18" charset="0"/>
              </a:rPr>
              <a:t>Homeostasis reestablished</a:t>
            </a:r>
          </a:p>
          <a:p>
            <a:pPr>
              <a:lnSpc>
                <a:spcPct val="90000"/>
              </a:lnSpc>
              <a:spcBef>
                <a:spcPct val="50000"/>
              </a:spcBef>
              <a:buClr>
                <a:schemeClr val="accent2"/>
              </a:buClr>
              <a:buFont typeface="Times New Roman" panose="02020603050405020304" pitchFamily="18" charset="0"/>
              <a:buChar char="•"/>
            </a:pPr>
            <a:r>
              <a:rPr lang="en-US" altLang="zh-CN" sz="2800" dirty="0">
                <a:latin typeface="Times New Roman" panose="02020603050405020304" pitchFamily="18" charset="0"/>
                <a:cs typeface="Times New Roman" panose="02020603050405020304" pitchFamily="18" charset="0"/>
              </a:rPr>
              <a:t>Failure to compensate</a:t>
            </a:r>
          </a:p>
          <a:p>
            <a:pPr marL="914400" lvl="1" indent="-457200">
              <a:lnSpc>
                <a:spcPct val="90000"/>
              </a:lnSpc>
              <a:spcBef>
                <a:spcPct val="50000"/>
              </a:spcBef>
              <a:buClr>
                <a:schemeClr val="accent2"/>
              </a:buClr>
              <a:buFont typeface="Wingdings" panose="05000000000000000000" pitchFamily="2" charset="2"/>
              <a:buChar char="Ø"/>
            </a:pPr>
            <a:r>
              <a:rPr lang="en-US" altLang="zh-CN" sz="2800" dirty="0">
                <a:latin typeface="Times New Roman" panose="02020603050405020304" pitchFamily="18" charset="0"/>
                <a:cs typeface="Times New Roman" panose="02020603050405020304" pitchFamily="18" charset="0"/>
              </a:rPr>
              <a:t>Pathophysiology </a:t>
            </a:r>
          </a:p>
          <a:p>
            <a:pPr marL="1371600" lvl="2" indent="-457200">
              <a:lnSpc>
                <a:spcPct val="90000"/>
              </a:lnSpc>
              <a:spcBef>
                <a:spcPct val="50000"/>
              </a:spcBef>
              <a:buClr>
                <a:schemeClr val="accent2"/>
              </a:buClr>
              <a:buFont typeface="Wingdings" panose="05000000000000000000" pitchFamily="2" charset="2"/>
              <a:buChar char="§"/>
            </a:pPr>
            <a:r>
              <a:rPr lang="en-US" altLang="zh-CN" sz="2800" dirty="0">
                <a:latin typeface="Times New Roman" panose="02020603050405020304" pitchFamily="18" charset="0"/>
                <a:cs typeface="Times New Roman" panose="02020603050405020304" pitchFamily="18" charset="0"/>
              </a:rPr>
              <a:t>Illness</a:t>
            </a:r>
          </a:p>
          <a:p>
            <a:pPr marL="1371600" lvl="2" indent="-457200">
              <a:lnSpc>
                <a:spcPct val="90000"/>
              </a:lnSpc>
              <a:spcBef>
                <a:spcPct val="50000"/>
              </a:spcBef>
              <a:buClr>
                <a:schemeClr val="accent2"/>
              </a:buClr>
              <a:buFont typeface="Wingdings" panose="05000000000000000000" pitchFamily="2" charset="2"/>
              <a:buChar char="§"/>
            </a:pPr>
            <a:r>
              <a:rPr lang="en-US" altLang="zh-CN" sz="2800" dirty="0" smtClean="0">
                <a:latin typeface="Times New Roman" panose="02020603050405020304" pitchFamily="18" charset="0"/>
                <a:cs typeface="Times New Roman" panose="02020603050405020304" pitchFamily="18" charset="0"/>
              </a:rPr>
              <a:t>Death</a:t>
            </a:r>
          </a:p>
          <a:p>
            <a:pPr lvl="2">
              <a:lnSpc>
                <a:spcPct val="90000"/>
              </a:lnSpc>
              <a:spcBef>
                <a:spcPct val="50000"/>
              </a:spcBef>
              <a:buClr>
                <a:schemeClr val="accent2"/>
              </a:buClr>
            </a:pPr>
            <a:endParaRPr lang="en-US" altLang="zh-CN" sz="2800" dirty="0">
              <a:latin typeface="Times New Roman" panose="02020603050405020304" pitchFamily="18" charset="0"/>
              <a:cs typeface="Times New Roman" panose="02020603050405020304" pitchFamily="18" charset="0"/>
            </a:endParaRPr>
          </a:p>
          <a:p>
            <a:r>
              <a:rPr lang="en-US" sz="2800" b="1" dirty="0">
                <a:latin typeface="Times New Roman" panose="02020603050405020304" pitchFamily="18" charset="0"/>
                <a:cs typeface="Times New Roman" panose="02020603050405020304" pitchFamily="18" charset="0"/>
              </a:rPr>
              <a:t>When a homeostatic disruption becomes so severe that it is no longer compatible with survival, death results.</a:t>
            </a:r>
            <a:endParaRPr lang="en-US" altLang="zh-CN" sz="28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388">
                                            <p:txEl>
                                              <p:pRg st="0" end="0"/>
                                            </p:txEl>
                                          </p:spTgt>
                                        </p:tgtEl>
                                        <p:attrNameLst>
                                          <p:attrName>style.visibility</p:attrName>
                                        </p:attrNameLst>
                                      </p:cBhvr>
                                      <p:to>
                                        <p:strVal val="visible"/>
                                      </p:to>
                                    </p:set>
                                    <p:animEffect transition="in" filter="fade">
                                      <p:cBhvr>
                                        <p:cTn id="7" dur="500"/>
                                        <p:tgtEl>
                                          <p:spTgt spid="16388">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6388">
                                            <p:txEl>
                                              <p:pRg st="1" end="1"/>
                                            </p:txEl>
                                          </p:spTgt>
                                        </p:tgtEl>
                                        <p:attrNameLst>
                                          <p:attrName>style.visibility</p:attrName>
                                        </p:attrNameLst>
                                      </p:cBhvr>
                                      <p:to>
                                        <p:strVal val="visible"/>
                                      </p:to>
                                    </p:set>
                                    <p:animEffect transition="in" filter="fade">
                                      <p:cBhvr>
                                        <p:cTn id="10" dur="500"/>
                                        <p:tgtEl>
                                          <p:spTgt spid="16388">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16388">
                                            <p:txEl>
                                              <p:pRg st="2" end="2"/>
                                            </p:txEl>
                                          </p:spTgt>
                                        </p:tgtEl>
                                        <p:attrNameLst>
                                          <p:attrName>style.visibility</p:attrName>
                                        </p:attrNameLst>
                                      </p:cBhvr>
                                      <p:to>
                                        <p:strVal val="visible"/>
                                      </p:to>
                                    </p:set>
                                    <p:animEffect transition="in" filter="fade">
                                      <p:cBhvr>
                                        <p:cTn id="13" dur="500"/>
                                        <p:tgtEl>
                                          <p:spTgt spid="16388">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16388">
                                            <p:txEl>
                                              <p:pRg st="3" end="3"/>
                                            </p:txEl>
                                          </p:spTgt>
                                        </p:tgtEl>
                                        <p:attrNameLst>
                                          <p:attrName>style.visibility</p:attrName>
                                        </p:attrNameLst>
                                      </p:cBhvr>
                                      <p:to>
                                        <p:strVal val="visible"/>
                                      </p:to>
                                    </p:set>
                                    <p:animEffect transition="in" filter="fade">
                                      <p:cBhvr>
                                        <p:cTn id="16" dur="500"/>
                                        <p:tgtEl>
                                          <p:spTgt spid="16388">
                                            <p:txEl>
                                              <p:pRg st="3" end="3"/>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16388">
                                            <p:txEl>
                                              <p:pRg st="4" end="4"/>
                                            </p:txEl>
                                          </p:spTgt>
                                        </p:tgtEl>
                                        <p:attrNameLst>
                                          <p:attrName>style.visibility</p:attrName>
                                        </p:attrNameLst>
                                      </p:cBhvr>
                                      <p:to>
                                        <p:strVal val="visible"/>
                                      </p:to>
                                    </p:set>
                                    <p:animEffect transition="in" filter="fade">
                                      <p:cBhvr>
                                        <p:cTn id="19" dur="500"/>
                                        <p:tgtEl>
                                          <p:spTgt spid="16388">
                                            <p:txEl>
                                              <p:pRg st="4" end="4"/>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16388">
                                            <p:txEl>
                                              <p:pRg st="5" end="5"/>
                                            </p:txEl>
                                          </p:spTgt>
                                        </p:tgtEl>
                                        <p:attrNameLst>
                                          <p:attrName>style.visibility</p:attrName>
                                        </p:attrNameLst>
                                      </p:cBhvr>
                                      <p:to>
                                        <p:strVal val="visible"/>
                                      </p:to>
                                    </p:set>
                                    <p:animEffect transition="in" filter="fade">
                                      <p:cBhvr>
                                        <p:cTn id="22" dur="500"/>
                                        <p:tgtEl>
                                          <p:spTgt spid="16388">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6388">
                                            <p:txEl>
                                              <p:pRg st="7" end="7"/>
                                            </p:txEl>
                                          </p:spTgt>
                                        </p:tgtEl>
                                        <p:attrNameLst>
                                          <p:attrName>style.visibility</p:attrName>
                                        </p:attrNameLst>
                                      </p:cBhvr>
                                      <p:to>
                                        <p:strVal val="visible"/>
                                      </p:to>
                                    </p:set>
                                    <p:animEffect transition="in" filter="fade">
                                      <p:cBhvr>
                                        <p:cTn id="27" dur="500"/>
                                        <p:tgtEl>
                                          <p:spTgt spid="16388">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6628" name="Rectangle 1028">
            <a:extLst>
              <a:ext uri="{FF2B5EF4-FFF2-40B4-BE49-F238E27FC236}">
                <a16:creationId xmlns:a16="http://schemas.microsoft.com/office/drawing/2014/main" id="{2482D0D5-8C2C-4CEC-ABCE-6164BE5A3D74}"/>
              </a:ext>
            </a:extLst>
          </p:cNvPr>
          <p:cNvSpPr>
            <a:spLocks noGrp="1" noChangeArrowheads="1"/>
          </p:cNvSpPr>
          <p:nvPr>
            <p:ph type="title"/>
          </p:nvPr>
        </p:nvSpPr>
        <p:spPr>
          <a:xfrm>
            <a:off x="838200" y="188913"/>
            <a:ext cx="10515600" cy="694596"/>
          </a:xfrm>
        </p:spPr>
        <p:txBody>
          <a:bodyPr>
            <a:normAutofit/>
          </a:bodyPr>
          <a:lstStyle/>
          <a:p>
            <a:pPr algn="ctr"/>
            <a:r>
              <a:rPr kumimoji="1" lang="en-US" altLang="zh-CN" sz="3200" dirty="0">
                <a:latin typeface="Arial Black" panose="020B0A04020102020204" pitchFamily="34" charset="0"/>
              </a:rPr>
              <a:t>Regulation of the Body Functions</a:t>
            </a:r>
          </a:p>
        </p:txBody>
      </p:sp>
      <p:sp>
        <p:nvSpPr>
          <p:cNvPr id="26629" name="Rectangle 1029">
            <a:extLst>
              <a:ext uri="{FF2B5EF4-FFF2-40B4-BE49-F238E27FC236}">
                <a16:creationId xmlns:a16="http://schemas.microsoft.com/office/drawing/2014/main" id="{FB7034B9-5D9A-4089-98A3-A12C74C97249}"/>
              </a:ext>
            </a:extLst>
          </p:cNvPr>
          <p:cNvSpPr>
            <a:spLocks noGrp="1" noChangeArrowheads="1"/>
          </p:cNvSpPr>
          <p:nvPr>
            <p:ph idx="1"/>
          </p:nvPr>
        </p:nvSpPr>
        <p:spPr>
          <a:xfrm>
            <a:off x="146438" y="883509"/>
            <a:ext cx="11808724" cy="4955059"/>
          </a:xfrm>
        </p:spPr>
        <p:txBody>
          <a:bodyPr>
            <a:normAutofit/>
          </a:bodyPr>
          <a:lstStyle/>
          <a:p>
            <a:pPr algn="just"/>
            <a:r>
              <a:rPr kumimoji="1" lang="en-US" altLang="zh-CN" sz="3200" dirty="0">
                <a:latin typeface="Georgia" panose="02040502050405020303" pitchFamily="18" charset="0"/>
              </a:rPr>
              <a:t>Regulation- the ability of an organism to maintain a stable internal conditions in a constantly changing environment</a:t>
            </a:r>
          </a:p>
          <a:p>
            <a:pPr lvl="1" algn="just"/>
            <a:r>
              <a:rPr kumimoji="1" lang="en-US" altLang="zh-CN" sz="3200" dirty="0">
                <a:latin typeface="Georgia" panose="02040502050405020303" pitchFamily="18" charset="0"/>
              </a:rPr>
              <a:t>Three types:</a:t>
            </a:r>
          </a:p>
          <a:p>
            <a:pPr lvl="2" algn="just"/>
            <a:r>
              <a:rPr kumimoji="1" lang="en-US" altLang="zh-CN" sz="3200" dirty="0">
                <a:latin typeface="Georgia" panose="02040502050405020303" pitchFamily="18" charset="0"/>
              </a:rPr>
              <a:t>1.  Chemical (hormonal) Regulation</a:t>
            </a:r>
          </a:p>
          <a:p>
            <a:pPr lvl="2" algn="just"/>
            <a:r>
              <a:rPr kumimoji="1" lang="en-US" altLang="zh-CN" sz="3200" dirty="0">
                <a:latin typeface="Georgia" panose="02040502050405020303" pitchFamily="18" charset="0"/>
              </a:rPr>
              <a:t>2.  Nervous Regulation</a:t>
            </a:r>
          </a:p>
          <a:p>
            <a:pPr lvl="2" algn="just"/>
            <a:r>
              <a:rPr kumimoji="1" lang="en-US" altLang="zh-CN" sz="3200" dirty="0">
                <a:latin typeface="Georgia" panose="02040502050405020303" pitchFamily="18" charset="0"/>
              </a:rPr>
              <a:t>3.  Autoregulation</a:t>
            </a:r>
          </a:p>
        </p:txBody>
      </p:sp>
      <p:sp>
        <p:nvSpPr>
          <p:cNvPr id="5" name="Slide Number Placeholder 5">
            <a:extLst>
              <a:ext uri="{FF2B5EF4-FFF2-40B4-BE49-F238E27FC236}">
                <a16:creationId xmlns:a16="http://schemas.microsoft.com/office/drawing/2014/main" id="{EB61F864-9CA2-4837-BA1D-A8406D2EEB72}"/>
              </a:ext>
            </a:extLst>
          </p:cNvPr>
          <p:cNvSpPr>
            <a:spLocks noGrp="1"/>
          </p:cNvSpPr>
          <p:nvPr>
            <p:ph type="sldNum" sz="quarter" idx="12"/>
          </p:nvPr>
        </p:nvSpPr>
        <p:spPr/>
        <p:txBody>
          <a:bodyPr/>
          <a:lstStyle/>
          <a:p>
            <a:fld id="{25454D53-5DA6-47A7-9BD8-4FE49F341897}" type="slidenum">
              <a:rPr lang="en-US" altLang="zh-CN"/>
              <a:pPr/>
              <a:t>9</a:t>
            </a:fld>
            <a:endParaRPr lang="en-US" altLang="zh-CN"/>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26629">
                                            <p:txEl>
                                              <p:pRg st="0" end="0"/>
                                            </p:txEl>
                                          </p:spTgt>
                                        </p:tgtEl>
                                        <p:attrNameLst>
                                          <p:attrName>style.visibility</p:attrName>
                                        </p:attrNameLst>
                                      </p:cBhvr>
                                      <p:to>
                                        <p:strVal val="visible"/>
                                      </p:to>
                                    </p:set>
                                    <p:animEffect transition="in" filter="box(in)">
                                      <p:cBhvr>
                                        <p:cTn id="7" dur="500"/>
                                        <p:tgtEl>
                                          <p:spTgt spid="2662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26629">
                                            <p:txEl>
                                              <p:pRg st="1" end="1"/>
                                            </p:txEl>
                                          </p:spTgt>
                                        </p:tgtEl>
                                        <p:attrNameLst>
                                          <p:attrName>style.visibility</p:attrName>
                                        </p:attrNameLst>
                                      </p:cBhvr>
                                      <p:to>
                                        <p:strVal val="visible"/>
                                      </p:to>
                                    </p:set>
                                    <p:animEffect transition="in" filter="box(in)">
                                      <p:cBhvr>
                                        <p:cTn id="12" dur="500"/>
                                        <p:tgtEl>
                                          <p:spTgt spid="2662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26629">
                                            <p:txEl>
                                              <p:pRg st="2" end="2"/>
                                            </p:txEl>
                                          </p:spTgt>
                                        </p:tgtEl>
                                        <p:attrNameLst>
                                          <p:attrName>style.visibility</p:attrName>
                                        </p:attrNameLst>
                                      </p:cBhvr>
                                      <p:to>
                                        <p:strVal val="visible"/>
                                      </p:to>
                                    </p:set>
                                    <p:animEffect transition="in" filter="box(in)">
                                      <p:cBhvr>
                                        <p:cTn id="17" dur="500"/>
                                        <p:tgtEl>
                                          <p:spTgt spid="26629">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26629">
                                            <p:txEl>
                                              <p:pRg st="3" end="3"/>
                                            </p:txEl>
                                          </p:spTgt>
                                        </p:tgtEl>
                                        <p:attrNameLst>
                                          <p:attrName>style.visibility</p:attrName>
                                        </p:attrNameLst>
                                      </p:cBhvr>
                                      <p:to>
                                        <p:strVal val="visible"/>
                                      </p:to>
                                    </p:set>
                                    <p:animEffect transition="in" filter="box(in)">
                                      <p:cBhvr>
                                        <p:cTn id="22" dur="500"/>
                                        <p:tgtEl>
                                          <p:spTgt spid="26629">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nodeType="clickEffect">
                                  <p:stCondLst>
                                    <p:cond delay="0"/>
                                  </p:stCondLst>
                                  <p:childTnLst>
                                    <p:set>
                                      <p:cBhvr>
                                        <p:cTn id="26" dur="1" fill="hold">
                                          <p:stCondLst>
                                            <p:cond delay="0"/>
                                          </p:stCondLst>
                                        </p:cTn>
                                        <p:tgtEl>
                                          <p:spTgt spid="26629">
                                            <p:txEl>
                                              <p:pRg st="4" end="4"/>
                                            </p:txEl>
                                          </p:spTgt>
                                        </p:tgtEl>
                                        <p:attrNameLst>
                                          <p:attrName>style.visibility</p:attrName>
                                        </p:attrNameLst>
                                      </p:cBhvr>
                                      <p:to>
                                        <p:strVal val="visible"/>
                                      </p:to>
                                    </p:set>
                                    <p:animEffect transition="in" filter="box(in)">
                                      <p:cBhvr>
                                        <p:cTn id="27" dur="500"/>
                                        <p:tgtEl>
                                          <p:spTgt spid="2662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7826" name="Rectangle 2">
            <a:extLst>
              <a:ext uri="{FF2B5EF4-FFF2-40B4-BE49-F238E27FC236}">
                <a16:creationId xmlns:a16="http://schemas.microsoft.com/office/drawing/2014/main" id="{EF574E93-F5A7-4E81-A748-287D4BB973FB}"/>
              </a:ext>
            </a:extLst>
          </p:cNvPr>
          <p:cNvSpPr>
            <a:spLocks noGrp="1" noChangeArrowheads="1"/>
          </p:cNvSpPr>
          <p:nvPr>
            <p:ph type="title"/>
          </p:nvPr>
        </p:nvSpPr>
        <p:spPr>
          <a:xfrm>
            <a:off x="770238" y="229201"/>
            <a:ext cx="10515600" cy="685199"/>
          </a:xfrm>
        </p:spPr>
        <p:txBody>
          <a:bodyPr>
            <a:normAutofit/>
          </a:bodyPr>
          <a:lstStyle/>
          <a:p>
            <a:pPr algn="ctr"/>
            <a:r>
              <a:rPr kumimoji="1" lang="en-US" altLang="zh-CN" sz="3200" dirty="0">
                <a:latin typeface="Arial Black" panose="020B0A04020102020204" pitchFamily="34" charset="0"/>
              </a:rPr>
              <a:t>Chemical (hormonal) Regulation</a:t>
            </a:r>
          </a:p>
        </p:txBody>
      </p:sp>
      <p:sp>
        <p:nvSpPr>
          <p:cNvPr id="77827" name="Rectangle 3">
            <a:extLst>
              <a:ext uri="{FF2B5EF4-FFF2-40B4-BE49-F238E27FC236}">
                <a16:creationId xmlns:a16="http://schemas.microsoft.com/office/drawing/2014/main" id="{0D4C147E-1D83-4DEE-AB08-3952BF635E40}"/>
              </a:ext>
            </a:extLst>
          </p:cNvPr>
          <p:cNvSpPr>
            <a:spLocks noGrp="1" noChangeArrowheads="1"/>
          </p:cNvSpPr>
          <p:nvPr>
            <p:ph idx="1"/>
          </p:nvPr>
        </p:nvSpPr>
        <p:spPr>
          <a:xfrm>
            <a:off x="257433" y="1075424"/>
            <a:ext cx="8071021" cy="2786061"/>
          </a:xfrm>
        </p:spPr>
        <p:txBody>
          <a:bodyPr/>
          <a:lstStyle/>
          <a:p>
            <a:pPr algn="just">
              <a:lnSpc>
                <a:spcPct val="80000"/>
              </a:lnSpc>
            </a:pPr>
            <a:r>
              <a:rPr kumimoji="1" lang="en-US" altLang="zh-CN" sz="3200" dirty="0">
                <a:latin typeface="Georgia" panose="02040502050405020303" pitchFamily="18" charset="0"/>
              </a:rPr>
              <a:t>a regulatory process performed by </a:t>
            </a:r>
            <a:r>
              <a:rPr kumimoji="1" lang="en-US" altLang="zh-CN" sz="3200" b="1" dirty="0">
                <a:latin typeface="Georgia" panose="02040502050405020303" pitchFamily="18" charset="0"/>
              </a:rPr>
              <a:t>hormone </a:t>
            </a:r>
            <a:r>
              <a:rPr kumimoji="1" lang="en-US" altLang="zh-CN" sz="3200" dirty="0">
                <a:latin typeface="Georgia" panose="02040502050405020303" pitchFamily="18" charset="0"/>
              </a:rPr>
              <a:t>or</a:t>
            </a:r>
            <a:r>
              <a:rPr kumimoji="1" lang="en-US" altLang="zh-CN" sz="3200" b="1" dirty="0">
                <a:latin typeface="Georgia" panose="02040502050405020303" pitchFamily="18" charset="0"/>
              </a:rPr>
              <a:t> active chemical substance</a:t>
            </a:r>
            <a:r>
              <a:rPr kumimoji="1" lang="en-US" altLang="zh-CN" sz="3200" dirty="0">
                <a:latin typeface="Georgia" panose="02040502050405020303" pitchFamily="18" charset="0"/>
              </a:rPr>
              <a:t> in blood or tissue. </a:t>
            </a:r>
          </a:p>
          <a:p>
            <a:pPr lvl="1" algn="just">
              <a:lnSpc>
                <a:spcPct val="80000"/>
              </a:lnSpc>
            </a:pPr>
            <a:r>
              <a:rPr kumimoji="1" lang="en-US" altLang="zh-CN" sz="3200" dirty="0">
                <a:latin typeface="Georgia" panose="02040502050405020303" pitchFamily="18" charset="0"/>
              </a:rPr>
              <a:t> response slowly</a:t>
            </a:r>
          </a:p>
          <a:p>
            <a:pPr lvl="1" algn="just">
              <a:lnSpc>
                <a:spcPct val="80000"/>
              </a:lnSpc>
            </a:pPr>
            <a:r>
              <a:rPr kumimoji="1" lang="en-US" altLang="zh-CN" sz="3200" dirty="0">
                <a:latin typeface="Georgia" panose="02040502050405020303" pitchFamily="18" charset="0"/>
              </a:rPr>
              <a:t>acts extensively</a:t>
            </a:r>
          </a:p>
          <a:p>
            <a:pPr lvl="1" algn="just">
              <a:lnSpc>
                <a:spcPct val="80000"/>
              </a:lnSpc>
            </a:pPr>
            <a:r>
              <a:rPr kumimoji="1" lang="en-US" altLang="zh-CN" sz="3200" dirty="0">
                <a:latin typeface="Georgia" panose="02040502050405020303" pitchFamily="18" charset="0"/>
              </a:rPr>
              <a:t>lasts for a long time.</a:t>
            </a:r>
          </a:p>
          <a:p>
            <a:pPr>
              <a:lnSpc>
                <a:spcPct val="80000"/>
              </a:lnSpc>
            </a:pPr>
            <a:endParaRPr lang="en-US" altLang="zh-CN" dirty="0"/>
          </a:p>
        </p:txBody>
      </p:sp>
      <p:sp>
        <p:nvSpPr>
          <p:cNvPr id="7" name="Slide Number Placeholder 5">
            <a:extLst>
              <a:ext uri="{FF2B5EF4-FFF2-40B4-BE49-F238E27FC236}">
                <a16:creationId xmlns:a16="http://schemas.microsoft.com/office/drawing/2014/main" id="{9EFA5A39-F1A6-4DDD-A8DA-BC13F0E14D57}"/>
              </a:ext>
            </a:extLst>
          </p:cNvPr>
          <p:cNvSpPr>
            <a:spLocks noGrp="1"/>
          </p:cNvSpPr>
          <p:nvPr>
            <p:ph type="sldNum" sz="quarter" idx="12"/>
          </p:nvPr>
        </p:nvSpPr>
        <p:spPr/>
        <p:txBody>
          <a:bodyPr/>
          <a:lstStyle/>
          <a:p>
            <a:fld id="{C2785F43-ACC6-4864-879F-F35E694731FE}" type="slidenum">
              <a:rPr lang="en-US" altLang="zh-CN"/>
              <a:pPr/>
              <a:t>10</a:t>
            </a:fld>
            <a:endParaRPr lang="en-US" altLang="zh-CN"/>
          </a:p>
        </p:txBody>
      </p:sp>
      <p:pic>
        <p:nvPicPr>
          <p:cNvPr id="77828" name="Picture 4">
            <a:extLst>
              <a:ext uri="{FF2B5EF4-FFF2-40B4-BE49-F238E27FC236}">
                <a16:creationId xmlns:a16="http://schemas.microsoft.com/office/drawing/2014/main" id="{B5C3B98C-ECBB-41C9-B9B2-1F62BDA1B52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0238" y="3991962"/>
            <a:ext cx="7239000" cy="2636837"/>
          </a:xfrm>
          <a:prstGeom prst="rect">
            <a:avLst/>
          </a:prstGeom>
          <a:noFill/>
          <a:extLst>
            <a:ext uri="{909E8E84-426E-40DD-AFC4-6F175D3DCCD1}">
              <a14:hiddenFill xmlns:a14="http://schemas.microsoft.com/office/drawing/2010/main">
                <a:solidFill>
                  <a:srgbClr val="FFFFFF"/>
                </a:solidFill>
              </a14:hiddenFill>
            </a:ext>
          </a:extLst>
        </p:spPr>
      </p:pic>
      <p:pic>
        <p:nvPicPr>
          <p:cNvPr id="77829" name="Picture 5">
            <a:extLst>
              <a:ext uri="{FF2B5EF4-FFF2-40B4-BE49-F238E27FC236}">
                <a16:creationId xmlns:a16="http://schemas.microsoft.com/office/drawing/2014/main" id="{69E92898-0270-485F-948A-9A3B1EAB6EC3}"/>
              </a:ext>
            </a:extLst>
          </p:cNvPr>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9240838" y="1700214"/>
            <a:ext cx="1427162" cy="515778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8" presetClass="entr" presetSubtype="16" fill="hold" nodeType="clickEffect">
                                  <p:stCondLst>
                                    <p:cond delay="0"/>
                                  </p:stCondLst>
                                  <p:childTnLst>
                                    <p:set>
                                      <p:cBhvr>
                                        <p:cTn id="6" dur="1" fill="hold">
                                          <p:stCondLst>
                                            <p:cond delay="0"/>
                                          </p:stCondLst>
                                        </p:cTn>
                                        <p:tgtEl>
                                          <p:spTgt spid="77827">
                                            <p:txEl>
                                              <p:pRg st="0" end="0"/>
                                            </p:txEl>
                                          </p:spTgt>
                                        </p:tgtEl>
                                        <p:attrNameLst>
                                          <p:attrName>style.visibility</p:attrName>
                                        </p:attrNameLst>
                                      </p:cBhvr>
                                      <p:to>
                                        <p:strVal val="visible"/>
                                      </p:to>
                                    </p:set>
                                    <p:animEffect transition="in" filter="diamond(in)">
                                      <p:cBhvr>
                                        <p:cTn id="7" dur="500"/>
                                        <p:tgtEl>
                                          <p:spTgt spid="7782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8" presetClass="entr" presetSubtype="16" fill="hold" nodeType="clickEffect">
                                  <p:stCondLst>
                                    <p:cond delay="0"/>
                                  </p:stCondLst>
                                  <p:childTnLst>
                                    <p:set>
                                      <p:cBhvr>
                                        <p:cTn id="11" dur="1" fill="hold">
                                          <p:stCondLst>
                                            <p:cond delay="0"/>
                                          </p:stCondLst>
                                        </p:cTn>
                                        <p:tgtEl>
                                          <p:spTgt spid="77827">
                                            <p:txEl>
                                              <p:pRg st="1" end="1"/>
                                            </p:txEl>
                                          </p:spTgt>
                                        </p:tgtEl>
                                        <p:attrNameLst>
                                          <p:attrName>style.visibility</p:attrName>
                                        </p:attrNameLst>
                                      </p:cBhvr>
                                      <p:to>
                                        <p:strVal val="visible"/>
                                      </p:to>
                                    </p:set>
                                    <p:animEffect transition="in" filter="diamond(in)">
                                      <p:cBhvr>
                                        <p:cTn id="12" dur="500"/>
                                        <p:tgtEl>
                                          <p:spTgt spid="7782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8" presetClass="entr" presetSubtype="16" fill="hold" nodeType="clickEffect">
                                  <p:stCondLst>
                                    <p:cond delay="0"/>
                                  </p:stCondLst>
                                  <p:childTnLst>
                                    <p:set>
                                      <p:cBhvr>
                                        <p:cTn id="16" dur="1" fill="hold">
                                          <p:stCondLst>
                                            <p:cond delay="0"/>
                                          </p:stCondLst>
                                        </p:cTn>
                                        <p:tgtEl>
                                          <p:spTgt spid="77827">
                                            <p:txEl>
                                              <p:pRg st="2" end="2"/>
                                            </p:txEl>
                                          </p:spTgt>
                                        </p:tgtEl>
                                        <p:attrNameLst>
                                          <p:attrName>style.visibility</p:attrName>
                                        </p:attrNameLst>
                                      </p:cBhvr>
                                      <p:to>
                                        <p:strVal val="visible"/>
                                      </p:to>
                                    </p:set>
                                    <p:animEffect transition="in" filter="diamond(in)">
                                      <p:cBhvr>
                                        <p:cTn id="17" dur="500"/>
                                        <p:tgtEl>
                                          <p:spTgt spid="7782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8" presetClass="entr" presetSubtype="16" fill="hold" nodeType="clickEffect">
                                  <p:stCondLst>
                                    <p:cond delay="0"/>
                                  </p:stCondLst>
                                  <p:childTnLst>
                                    <p:set>
                                      <p:cBhvr>
                                        <p:cTn id="21" dur="1" fill="hold">
                                          <p:stCondLst>
                                            <p:cond delay="0"/>
                                          </p:stCondLst>
                                        </p:cTn>
                                        <p:tgtEl>
                                          <p:spTgt spid="77827">
                                            <p:txEl>
                                              <p:pRg st="3" end="3"/>
                                            </p:txEl>
                                          </p:spTgt>
                                        </p:tgtEl>
                                        <p:attrNameLst>
                                          <p:attrName>style.visibility</p:attrName>
                                        </p:attrNameLst>
                                      </p:cBhvr>
                                      <p:to>
                                        <p:strVal val="visible"/>
                                      </p:to>
                                    </p:set>
                                    <p:animEffect transition="in" filter="diamond(in)">
                                      <p:cBhvr>
                                        <p:cTn id="22" dur="500"/>
                                        <p:tgtEl>
                                          <p:spTgt spid="7782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4754" name="Rectangle 2">
            <a:extLst>
              <a:ext uri="{FF2B5EF4-FFF2-40B4-BE49-F238E27FC236}">
                <a16:creationId xmlns:a16="http://schemas.microsoft.com/office/drawing/2014/main" id="{EA42F37F-7C88-4483-A6D8-E77A131EDB72}"/>
              </a:ext>
            </a:extLst>
          </p:cNvPr>
          <p:cNvSpPr>
            <a:spLocks noGrp="1" noChangeArrowheads="1"/>
          </p:cNvSpPr>
          <p:nvPr>
            <p:ph type="title"/>
          </p:nvPr>
        </p:nvSpPr>
        <p:spPr>
          <a:xfrm>
            <a:off x="751703" y="187325"/>
            <a:ext cx="10515600" cy="623416"/>
          </a:xfrm>
        </p:spPr>
        <p:txBody>
          <a:bodyPr>
            <a:normAutofit/>
          </a:bodyPr>
          <a:lstStyle/>
          <a:p>
            <a:pPr algn="ctr"/>
            <a:r>
              <a:rPr kumimoji="1" lang="en-US" altLang="zh-CN" sz="3200" dirty="0">
                <a:latin typeface="Arial Black" panose="020B0A04020102020204" pitchFamily="34" charset="0"/>
              </a:rPr>
              <a:t>Nervous Regulation</a:t>
            </a:r>
          </a:p>
        </p:txBody>
      </p:sp>
      <p:sp>
        <p:nvSpPr>
          <p:cNvPr id="74755" name="Rectangle 3">
            <a:extLst>
              <a:ext uri="{FF2B5EF4-FFF2-40B4-BE49-F238E27FC236}">
                <a16:creationId xmlns:a16="http://schemas.microsoft.com/office/drawing/2014/main" id="{977D19B2-ADFF-42D8-B3D8-CDC59CBB0D52}"/>
              </a:ext>
            </a:extLst>
          </p:cNvPr>
          <p:cNvSpPr>
            <a:spLocks noGrp="1" noChangeArrowheads="1"/>
          </p:cNvSpPr>
          <p:nvPr>
            <p:ph idx="1"/>
          </p:nvPr>
        </p:nvSpPr>
        <p:spPr>
          <a:xfrm>
            <a:off x="448964" y="954644"/>
            <a:ext cx="8318155" cy="5483225"/>
          </a:xfrm>
        </p:spPr>
        <p:txBody>
          <a:bodyPr>
            <a:normAutofit/>
          </a:bodyPr>
          <a:lstStyle/>
          <a:p>
            <a:pPr algn="just"/>
            <a:r>
              <a:rPr kumimoji="1" lang="en-US" altLang="zh-CN" sz="3200" dirty="0">
                <a:latin typeface="Georgia" panose="02040502050405020303" pitchFamily="18" charset="0"/>
              </a:rPr>
              <a:t>a process in which body functions are controlled by nerve system</a:t>
            </a:r>
          </a:p>
          <a:p>
            <a:pPr lvl="2" algn="just"/>
            <a:r>
              <a:rPr kumimoji="1" lang="en-US" altLang="zh-CN" sz="3200" dirty="0">
                <a:latin typeface="Georgia" panose="02040502050405020303" pitchFamily="18" charset="0"/>
              </a:rPr>
              <a:t>Pathway: nerve reflex</a:t>
            </a:r>
          </a:p>
          <a:p>
            <a:pPr lvl="2" algn="just"/>
            <a:r>
              <a:rPr kumimoji="1" lang="en-US" altLang="zh-CN" sz="3200" dirty="0">
                <a:latin typeface="Georgia" panose="02040502050405020303" pitchFamily="18" charset="0"/>
              </a:rPr>
              <a:t> Types: unconditioned reflex and conditioned reflex</a:t>
            </a:r>
          </a:p>
          <a:p>
            <a:pPr lvl="2" algn="just"/>
            <a:r>
              <a:rPr kumimoji="1" lang="en-US" altLang="zh-CN" sz="3200" dirty="0">
                <a:latin typeface="Georgia" panose="02040502050405020303" pitchFamily="18" charset="0"/>
              </a:rPr>
              <a:t> Example: baroreceptor reflex of arterial blood pressure</a:t>
            </a:r>
          </a:p>
          <a:p>
            <a:pPr lvl="1" algn="just"/>
            <a:r>
              <a:rPr kumimoji="1" lang="en-US" altLang="zh-CN" sz="3200" dirty="0">
                <a:latin typeface="Georgia" panose="02040502050405020303" pitchFamily="18" charset="0"/>
              </a:rPr>
              <a:t>Characteristics: </a:t>
            </a:r>
          </a:p>
          <a:p>
            <a:pPr lvl="2" algn="just"/>
            <a:r>
              <a:rPr kumimoji="1" lang="en-US" altLang="zh-CN" sz="3200" dirty="0">
                <a:latin typeface="Georgia" panose="02040502050405020303" pitchFamily="18" charset="0"/>
              </a:rPr>
              <a:t>response fast</a:t>
            </a:r>
          </a:p>
          <a:p>
            <a:pPr lvl="2" algn="just"/>
            <a:r>
              <a:rPr kumimoji="1" lang="en-US" altLang="zh-CN" sz="3200" dirty="0">
                <a:latin typeface="Georgia" panose="02040502050405020303" pitchFamily="18" charset="0"/>
              </a:rPr>
              <a:t>acts exactly or locally </a:t>
            </a:r>
          </a:p>
          <a:p>
            <a:pPr lvl="2" algn="just"/>
            <a:r>
              <a:rPr kumimoji="1" lang="en-US" altLang="zh-CN" sz="3200" dirty="0">
                <a:latin typeface="Georgia" panose="02040502050405020303" pitchFamily="18" charset="0"/>
              </a:rPr>
              <a:t>last for a short time</a:t>
            </a:r>
          </a:p>
          <a:p>
            <a:endParaRPr lang="en-US" altLang="zh-CN" dirty="0"/>
          </a:p>
        </p:txBody>
      </p:sp>
      <p:sp>
        <p:nvSpPr>
          <p:cNvPr id="6" name="Slide Number Placeholder 5">
            <a:extLst>
              <a:ext uri="{FF2B5EF4-FFF2-40B4-BE49-F238E27FC236}">
                <a16:creationId xmlns:a16="http://schemas.microsoft.com/office/drawing/2014/main" id="{BAC70970-5BCC-4F83-9C88-1ABB9D65B7C3}"/>
              </a:ext>
            </a:extLst>
          </p:cNvPr>
          <p:cNvSpPr>
            <a:spLocks noGrp="1"/>
          </p:cNvSpPr>
          <p:nvPr>
            <p:ph type="sldNum" sz="quarter" idx="12"/>
          </p:nvPr>
        </p:nvSpPr>
        <p:spPr/>
        <p:txBody>
          <a:bodyPr/>
          <a:lstStyle/>
          <a:p>
            <a:fld id="{B1CBEFE1-C251-4949-AE7B-7D210DB84AA0}" type="slidenum">
              <a:rPr lang="en-US" altLang="zh-CN"/>
              <a:pPr/>
              <a:t>11</a:t>
            </a:fld>
            <a:endParaRPr lang="en-US" altLang="zh-CN"/>
          </a:p>
        </p:txBody>
      </p:sp>
      <p:pic>
        <p:nvPicPr>
          <p:cNvPr id="74756" name="Picture 4">
            <a:extLst>
              <a:ext uri="{FF2B5EF4-FFF2-40B4-BE49-F238E27FC236}">
                <a16:creationId xmlns:a16="http://schemas.microsoft.com/office/drawing/2014/main" id="{244CE28C-0873-4917-A7B5-916EF09A57E0}"/>
              </a:ext>
            </a:extLst>
          </p:cNvPr>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10118124" y="1297545"/>
            <a:ext cx="1371600" cy="4572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74755">
                                            <p:txEl>
                                              <p:pRg st="0" end="0"/>
                                            </p:txEl>
                                          </p:spTgt>
                                        </p:tgtEl>
                                        <p:attrNameLst>
                                          <p:attrName>style.visibility</p:attrName>
                                        </p:attrNameLst>
                                      </p:cBhvr>
                                      <p:to>
                                        <p:strVal val="visible"/>
                                      </p:to>
                                    </p:set>
                                    <p:animEffect transition="in" filter="checkerboard(across)">
                                      <p:cBhvr>
                                        <p:cTn id="7" dur="500"/>
                                        <p:tgtEl>
                                          <p:spTgt spid="7475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74755">
                                            <p:txEl>
                                              <p:pRg st="1" end="1"/>
                                            </p:txEl>
                                          </p:spTgt>
                                        </p:tgtEl>
                                        <p:attrNameLst>
                                          <p:attrName>style.visibility</p:attrName>
                                        </p:attrNameLst>
                                      </p:cBhvr>
                                      <p:to>
                                        <p:strVal val="visible"/>
                                      </p:to>
                                    </p:set>
                                    <p:animEffect transition="in" filter="checkerboard(across)">
                                      <p:cBhvr>
                                        <p:cTn id="12" dur="500"/>
                                        <p:tgtEl>
                                          <p:spTgt spid="7475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nodeType="clickEffect">
                                  <p:stCondLst>
                                    <p:cond delay="0"/>
                                  </p:stCondLst>
                                  <p:childTnLst>
                                    <p:set>
                                      <p:cBhvr>
                                        <p:cTn id="16" dur="1" fill="hold">
                                          <p:stCondLst>
                                            <p:cond delay="0"/>
                                          </p:stCondLst>
                                        </p:cTn>
                                        <p:tgtEl>
                                          <p:spTgt spid="74755">
                                            <p:txEl>
                                              <p:pRg st="2" end="2"/>
                                            </p:txEl>
                                          </p:spTgt>
                                        </p:tgtEl>
                                        <p:attrNameLst>
                                          <p:attrName>style.visibility</p:attrName>
                                        </p:attrNameLst>
                                      </p:cBhvr>
                                      <p:to>
                                        <p:strVal val="visible"/>
                                      </p:to>
                                    </p:set>
                                    <p:animEffect transition="in" filter="checkerboard(across)">
                                      <p:cBhvr>
                                        <p:cTn id="17" dur="500"/>
                                        <p:tgtEl>
                                          <p:spTgt spid="7475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nodeType="clickEffect">
                                  <p:stCondLst>
                                    <p:cond delay="0"/>
                                  </p:stCondLst>
                                  <p:childTnLst>
                                    <p:set>
                                      <p:cBhvr>
                                        <p:cTn id="21" dur="1" fill="hold">
                                          <p:stCondLst>
                                            <p:cond delay="0"/>
                                          </p:stCondLst>
                                        </p:cTn>
                                        <p:tgtEl>
                                          <p:spTgt spid="74755">
                                            <p:txEl>
                                              <p:pRg st="3" end="3"/>
                                            </p:txEl>
                                          </p:spTgt>
                                        </p:tgtEl>
                                        <p:attrNameLst>
                                          <p:attrName>style.visibility</p:attrName>
                                        </p:attrNameLst>
                                      </p:cBhvr>
                                      <p:to>
                                        <p:strVal val="visible"/>
                                      </p:to>
                                    </p:set>
                                    <p:animEffect transition="in" filter="checkerboard(across)">
                                      <p:cBhvr>
                                        <p:cTn id="22" dur="500"/>
                                        <p:tgtEl>
                                          <p:spTgt spid="74755">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5" presetClass="entr" presetSubtype="10" fill="hold" nodeType="clickEffect">
                                  <p:stCondLst>
                                    <p:cond delay="0"/>
                                  </p:stCondLst>
                                  <p:childTnLst>
                                    <p:set>
                                      <p:cBhvr>
                                        <p:cTn id="26" dur="1" fill="hold">
                                          <p:stCondLst>
                                            <p:cond delay="0"/>
                                          </p:stCondLst>
                                        </p:cTn>
                                        <p:tgtEl>
                                          <p:spTgt spid="74755">
                                            <p:txEl>
                                              <p:pRg st="4" end="4"/>
                                            </p:txEl>
                                          </p:spTgt>
                                        </p:tgtEl>
                                        <p:attrNameLst>
                                          <p:attrName>style.visibility</p:attrName>
                                        </p:attrNameLst>
                                      </p:cBhvr>
                                      <p:to>
                                        <p:strVal val="visible"/>
                                      </p:to>
                                    </p:set>
                                    <p:animEffect transition="in" filter="checkerboard(across)">
                                      <p:cBhvr>
                                        <p:cTn id="27" dur="500"/>
                                        <p:tgtEl>
                                          <p:spTgt spid="74755">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5" presetClass="entr" presetSubtype="10" fill="hold" nodeType="clickEffect">
                                  <p:stCondLst>
                                    <p:cond delay="0"/>
                                  </p:stCondLst>
                                  <p:childTnLst>
                                    <p:set>
                                      <p:cBhvr>
                                        <p:cTn id="31" dur="1" fill="hold">
                                          <p:stCondLst>
                                            <p:cond delay="0"/>
                                          </p:stCondLst>
                                        </p:cTn>
                                        <p:tgtEl>
                                          <p:spTgt spid="74755">
                                            <p:txEl>
                                              <p:pRg st="5" end="5"/>
                                            </p:txEl>
                                          </p:spTgt>
                                        </p:tgtEl>
                                        <p:attrNameLst>
                                          <p:attrName>style.visibility</p:attrName>
                                        </p:attrNameLst>
                                      </p:cBhvr>
                                      <p:to>
                                        <p:strVal val="visible"/>
                                      </p:to>
                                    </p:set>
                                    <p:animEffect transition="in" filter="checkerboard(across)">
                                      <p:cBhvr>
                                        <p:cTn id="32" dur="500"/>
                                        <p:tgtEl>
                                          <p:spTgt spid="74755">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5" presetClass="entr" presetSubtype="10" fill="hold" nodeType="clickEffect">
                                  <p:stCondLst>
                                    <p:cond delay="0"/>
                                  </p:stCondLst>
                                  <p:childTnLst>
                                    <p:set>
                                      <p:cBhvr>
                                        <p:cTn id="36" dur="1" fill="hold">
                                          <p:stCondLst>
                                            <p:cond delay="0"/>
                                          </p:stCondLst>
                                        </p:cTn>
                                        <p:tgtEl>
                                          <p:spTgt spid="74755">
                                            <p:txEl>
                                              <p:pRg st="6" end="6"/>
                                            </p:txEl>
                                          </p:spTgt>
                                        </p:tgtEl>
                                        <p:attrNameLst>
                                          <p:attrName>style.visibility</p:attrName>
                                        </p:attrNameLst>
                                      </p:cBhvr>
                                      <p:to>
                                        <p:strVal val="visible"/>
                                      </p:to>
                                    </p:set>
                                    <p:animEffect transition="in" filter="checkerboard(across)">
                                      <p:cBhvr>
                                        <p:cTn id="37" dur="500"/>
                                        <p:tgtEl>
                                          <p:spTgt spid="74755">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5" presetClass="entr" presetSubtype="10" fill="hold" nodeType="clickEffect">
                                  <p:stCondLst>
                                    <p:cond delay="0"/>
                                  </p:stCondLst>
                                  <p:childTnLst>
                                    <p:set>
                                      <p:cBhvr>
                                        <p:cTn id="41" dur="1" fill="hold">
                                          <p:stCondLst>
                                            <p:cond delay="0"/>
                                          </p:stCondLst>
                                        </p:cTn>
                                        <p:tgtEl>
                                          <p:spTgt spid="74755">
                                            <p:txEl>
                                              <p:pRg st="7" end="7"/>
                                            </p:txEl>
                                          </p:spTgt>
                                        </p:tgtEl>
                                        <p:attrNameLst>
                                          <p:attrName>style.visibility</p:attrName>
                                        </p:attrNameLst>
                                      </p:cBhvr>
                                      <p:to>
                                        <p:strVal val="visible"/>
                                      </p:to>
                                    </p:set>
                                    <p:animEffect transition="in" filter="checkerboard(across)">
                                      <p:cBhvr>
                                        <p:cTn id="42" dur="500"/>
                                        <p:tgtEl>
                                          <p:spTgt spid="7475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8850" name="Rectangle 2">
            <a:extLst>
              <a:ext uri="{FF2B5EF4-FFF2-40B4-BE49-F238E27FC236}">
                <a16:creationId xmlns:a16="http://schemas.microsoft.com/office/drawing/2014/main" id="{5973C34E-3714-4226-9AC8-5D96301C3018}"/>
              </a:ext>
            </a:extLst>
          </p:cNvPr>
          <p:cNvSpPr>
            <a:spLocks noGrp="1" noChangeArrowheads="1"/>
          </p:cNvSpPr>
          <p:nvPr>
            <p:ph type="title"/>
          </p:nvPr>
        </p:nvSpPr>
        <p:spPr>
          <a:xfrm>
            <a:off x="781050" y="136525"/>
            <a:ext cx="10515600" cy="898525"/>
          </a:xfrm>
        </p:spPr>
        <p:txBody>
          <a:bodyPr>
            <a:normAutofit/>
          </a:bodyPr>
          <a:lstStyle/>
          <a:p>
            <a:pPr algn="ctr"/>
            <a:r>
              <a:rPr kumimoji="1" lang="en-US" altLang="zh-CN" sz="3200" dirty="0">
                <a:latin typeface="Arial Black" panose="020B0A04020102020204" pitchFamily="34" charset="0"/>
              </a:rPr>
              <a:t>Autoregulation</a:t>
            </a:r>
            <a:endParaRPr lang="en-US" altLang="zh-CN" sz="3200" dirty="0">
              <a:latin typeface="Arial Black" panose="020B0A04020102020204" pitchFamily="34" charset="0"/>
            </a:endParaRPr>
          </a:p>
        </p:txBody>
      </p:sp>
      <p:sp>
        <p:nvSpPr>
          <p:cNvPr id="78851" name="Rectangle 3">
            <a:extLst>
              <a:ext uri="{FF2B5EF4-FFF2-40B4-BE49-F238E27FC236}">
                <a16:creationId xmlns:a16="http://schemas.microsoft.com/office/drawing/2014/main" id="{4D5E0FE1-7454-4E71-A027-50E4BD1DE924}"/>
              </a:ext>
            </a:extLst>
          </p:cNvPr>
          <p:cNvSpPr>
            <a:spLocks noGrp="1" noChangeArrowheads="1"/>
          </p:cNvSpPr>
          <p:nvPr>
            <p:ph idx="1"/>
          </p:nvPr>
        </p:nvSpPr>
        <p:spPr>
          <a:xfrm>
            <a:off x="520700" y="1149351"/>
            <a:ext cx="11353800" cy="5454649"/>
          </a:xfrm>
        </p:spPr>
        <p:txBody>
          <a:bodyPr>
            <a:noAutofit/>
          </a:bodyPr>
          <a:lstStyle/>
          <a:p>
            <a:pPr algn="just"/>
            <a:r>
              <a:rPr kumimoji="1" lang="en-US" altLang="zh-CN" sz="3200" dirty="0">
                <a:latin typeface="Georgia" panose="02040502050405020303" pitchFamily="18" charset="0"/>
              </a:rPr>
              <a:t>a tissue or an organ can directly respond to environmental changes </a:t>
            </a:r>
          </a:p>
          <a:p>
            <a:pPr lvl="1" algn="just"/>
            <a:r>
              <a:rPr kumimoji="1" lang="en-US" altLang="zh-CN" sz="3200" dirty="0">
                <a:latin typeface="Georgia" panose="02040502050405020303" pitchFamily="18" charset="0"/>
              </a:rPr>
              <a:t>independent of nervous and hormonal control</a:t>
            </a:r>
          </a:p>
          <a:p>
            <a:pPr lvl="1" algn="just"/>
            <a:r>
              <a:rPr kumimoji="1" lang="en-US" altLang="zh-CN" sz="3200" dirty="0">
                <a:latin typeface="Georgia" panose="02040502050405020303" pitchFamily="18" charset="0"/>
              </a:rPr>
              <a:t>Characteristics</a:t>
            </a:r>
            <a:r>
              <a:rPr kumimoji="1" lang="zh-CN" altLang="en-GB" sz="3200" dirty="0">
                <a:latin typeface="Georgia" panose="02040502050405020303" pitchFamily="18" charset="0"/>
              </a:rPr>
              <a:t>：</a:t>
            </a:r>
          </a:p>
          <a:p>
            <a:pPr lvl="2" algn="just"/>
            <a:r>
              <a:rPr kumimoji="1" lang="en-US" altLang="zh-CN" sz="3200" dirty="0">
                <a:latin typeface="Georgia" panose="02040502050405020303" pitchFamily="18" charset="0"/>
              </a:rPr>
              <a:t>Amplitude of the regulation is smaller than other two types. </a:t>
            </a:r>
          </a:p>
          <a:p>
            <a:pPr lvl="2" algn="just"/>
            <a:r>
              <a:rPr kumimoji="1" lang="en-US" altLang="zh-CN" sz="3200" dirty="0">
                <a:latin typeface="Georgia" panose="02040502050405020303" pitchFamily="18" charset="0"/>
              </a:rPr>
              <a:t>Extension of the effects is smaller than other two types.</a:t>
            </a:r>
          </a:p>
          <a:p>
            <a:pPr algn="just"/>
            <a:endParaRPr kumimoji="1" lang="en-US" altLang="zh-CN" sz="3200" dirty="0">
              <a:latin typeface="Georgia" panose="02040502050405020303" pitchFamily="18" charset="0"/>
            </a:endParaRPr>
          </a:p>
          <a:p>
            <a:pPr algn="just"/>
            <a:r>
              <a:rPr kumimoji="1" lang="en-US" altLang="zh-CN" sz="3200" dirty="0">
                <a:latin typeface="Georgia" panose="02040502050405020303" pitchFamily="18" charset="0"/>
              </a:rPr>
              <a:t>The three regulations have coordinated and acts as one system, “feedback control system”.</a:t>
            </a:r>
            <a:endParaRPr lang="en-US" altLang="zh-CN" sz="3200" dirty="0">
              <a:latin typeface="Georgia" panose="02040502050405020303" pitchFamily="18" charset="0"/>
            </a:endParaRPr>
          </a:p>
          <a:p>
            <a:pPr algn="just"/>
            <a:endParaRPr lang="en-US" altLang="zh-CN" sz="4000" dirty="0">
              <a:latin typeface="Georgia" panose="02040502050405020303" pitchFamily="18" charset="0"/>
            </a:endParaRPr>
          </a:p>
        </p:txBody>
      </p:sp>
      <p:sp>
        <p:nvSpPr>
          <p:cNvPr id="5" name="Slide Number Placeholder 5">
            <a:extLst>
              <a:ext uri="{FF2B5EF4-FFF2-40B4-BE49-F238E27FC236}">
                <a16:creationId xmlns:a16="http://schemas.microsoft.com/office/drawing/2014/main" id="{45D74616-63BE-422D-80BD-EB0BBC93E0C3}"/>
              </a:ext>
            </a:extLst>
          </p:cNvPr>
          <p:cNvSpPr>
            <a:spLocks noGrp="1"/>
          </p:cNvSpPr>
          <p:nvPr>
            <p:ph type="sldNum" sz="quarter" idx="12"/>
          </p:nvPr>
        </p:nvSpPr>
        <p:spPr/>
        <p:txBody>
          <a:bodyPr/>
          <a:lstStyle/>
          <a:p>
            <a:fld id="{2798B92D-6D38-47F0-9E3F-74C43CA941F5}" type="slidenum">
              <a:rPr lang="en-US" altLang="zh-CN"/>
              <a:pPr/>
              <a:t>12</a:t>
            </a:fld>
            <a:endParaRPr lang="en-US" altLang="zh-CN"/>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78851">
                                            <p:txEl>
                                              <p:pRg st="0" end="0"/>
                                            </p:txEl>
                                          </p:spTgt>
                                        </p:tgtEl>
                                        <p:attrNameLst>
                                          <p:attrName>style.visibility</p:attrName>
                                        </p:attrNameLst>
                                      </p:cBhvr>
                                      <p:to>
                                        <p:strVal val="visible"/>
                                      </p:to>
                                    </p:set>
                                    <p:animEffect transition="in" filter="blinds(horizontal)">
                                      <p:cBhvr>
                                        <p:cTn id="7" dur="500"/>
                                        <p:tgtEl>
                                          <p:spTgt spid="7885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78851">
                                            <p:txEl>
                                              <p:pRg st="1" end="1"/>
                                            </p:txEl>
                                          </p:spTgt>
                                        </p:tgtEl>
                                        <p:attrNameLst>
                                          <p:attrName>style.visibility</p:attrName>
                                        </p:attrNameLst>
                                      </p:cBhvr>
                                      <p:to>
                                        <p:strVal val="visible"/>
                                      </p:to>
                                    </p:set>
                                    <p:animEffect transition="in" filter="blinds(horizontal)">
                                      <p:cBhvr>
                                        <p:cTn id="12" dur="500"/>
                                        <p:tgtEl>
                                          <p:spTgt spid="7885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78851">
                                            <p:txEl>
                                              <p:pRg st="2" end="2"/>
                                            </p:txEl>
                                          </p:spTgt>
                                        </p:tgtEl>
                                        <p:attrNameLst>
                                          <p:attrName>style.visibility</p:attrName>
                                        </p:attrNameLst>
                                      </p:cBhvr>
                                      <p:to>
                                        <p:strVal val="visible"/>
                                      </p:to>
                                    </p:set>
                                    <p:animEffect transition="in" filter="blinds(horizontal)">
                                      <p:cBhvr>
                                        <p:cTn id="17" dur="500"/>
                                        <p:tgtEl>
                                          <p:spTgt spid="78851">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78851">
                                            <p:txEl>
                                              <p:pRg st="3" end="3"/>
                                            </p:txEl>
                                          </p:spTgt>
                                        </p:tgtEl>
                                        <p:attrNameLst>
                                          <p:attrName>style.visibility</p:attrName>
                                        </p:attrNameLst>
                                      </p:cBhvr>
                                      <p:to>
                                        <p:strVal val="visible"/>
                                      </p:to>
                                    </p:set>
                                    <p:animEffect transition="in" filter="blinds(horizontal)">
                                      <p:cBhvr>
                                        <p:cTn id="22" dur="500"/>
                                        <p:tgtEl>
                                          <p:spTgt spid="78851">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78851">
                                            <p:txEl>
                                              <p:pRg st="4" end="4"/>
                                            </p:txEl>
                                          </p:spTgt>
                                        </p:tgtEl>
                                        <p:attrNameLst>
                                          <p:attrName>style.visibility</p:attrName>
                                        </p:attrNameLst>
                                      </p:cBhvr>
                                      <p:to>
                                        <p:strVal val="visible"/>
                                      </p:to>
                                    </p:set>
                                    <p:animEffect transition="in" filter="blinds(horizontal)">
                                      <p:cBhvr>
                                        <p:cTn id="27" dur="500"/>
                                        <p:tgtEl>
                                          <p:spTgt spid="78851">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78851">
                                            <p:txEl>
                                              <p:pRg st="6" end="6"/>
                                            </p:txEl>
                                          </p:spTgt>
                                        </p:tgtEl>
                                        <p:attrNameLst>
                                          <p:attrName>style.visibility</p:attrName>
                                        </p:attrNameLst>
                                      </p:cBhvr>
                                      <p:to>
                                        <p:strVal val="visible"/>
                                      </p:to>
                                    </p:set>
                                    <p:animEffect transition="in" filter="blinds(horizontal)">
                                      <p:cBhvr>
                                        <p:cTn id="32" dur="500"/>
                                        <p:tgtEl>
                                          <p:spTgt spid="78851">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27050" y="301050"/>
            <a:ext cx="11195050" cy="6001643"/>
          </a:xfrm>
          <a:prstGeom prst="rect">
            <a:avLst/>
          </a:prstGeom>
          <a:noFill/>
        </p:spPr>
        <p:txBody>
          <a:bodyPr wrap="square" rtlCol="0">
            <a:spAutoFit/>
          </a:bodyPr>
          <a:lstStyle/>
          <a:p>
            <a:pPr algn="ctr"/>
            <a:r>
              <a:rPr lang="en-US" sz="3200" b="1" dirty="0">
                <a:latin typeface="Georgia" panose="02040502050405020303" pitchFamily="18" charset="0"/>
              </a:rPr>
              <a:t>Homeostatic Control Systems</a:t>
            </a:r>
          </a:p>
          <a:p>
            <a:pPr algn="ctr"/>
            <a:endParaRPr lang="en-US" sz="3200" b="1" dirty="0">
              <a:latin typeface="Georgia" panose="02040502050405020303" pitchFamily="18" charset="0"/>
            </a:endParaRPr>
          </a:p>
          <a:p>
            <a:pPr algn="just"/>
            <a:r>
              <a:rPr lang="en-US" sz="3200" dirty="0">
                <a:latin typeface="Times New Roman" panose="02020603050405020304" pitchFamily="18" charset="0"/>
                <a:cs typeface="Times New Roman" panose="02020603050405020304" pitchFamily="18" charset="0"/>
              </a:rPr>
              <a:t>Homeostatic control systems are body components that generate compensatory regulatory responses to maintain relatively stable conditions of the internal environment</a:t>
            </a:r>
          </a:p>
          <a:p>
            <a:pPr algn="just">
              <a:buFont typeface="Arial" pitchFamily="34" charset="0"/>
              <a:buChar char="•"/>
            </a:pPr>
            <a:r>
              <a:rPr lang="en-US" sz="3200" dirty="0">
                <a:latin typeface="Times New Roman" panose="02020603050405020304" pitchFamily="18" charset="0"/>
                <a:cs typeface="Times New Roman" panose="02020603050405020304" pitchFamily="18" charset="0"/>
              </a:rPr>
              <a:t> they are subject to nervous and endocrine</a:t>
            </a:r>
          </a:p>
          <a:p>
            <a:pPr algn="just"/>
            <a:r>
              <a:rPr lang="en-US" sz="3200" dirty="0">
                <a:latin typeface="Times New Roman" panose="02020603050405020304" pitchFamily="18" charset="0"/>
                <a:cs typeface="Times New Roman" panose="02020603050405020304" pitchFamily="18" charset="0"/>
              </a:rPr>
              <a:t>  control</a:t>
            </a:r>
          </a:p>
          <a:p>
            <a:pPr algn="just">
              <a:buFont typeface="Arial" pitchFamily="34" charset="0"/>
              <a:buChar char="•"/>
            </a:pPr>
            <a:r>
              <a:rPr lang="en-US" sz="3200" dirty="0">
                <a:latin typeface="Times New Roman" panose="02020603050405020304" pitchFamily="18" charset="0"/>
                <a:cs typeface="Times New Roman" panose="02020603050405020304" pitchFamily="18" charset="0"/>
              </a:rPr>
              <a:t> homeostatic control systems have three</a:t>
            </a:r>
          </a:p>
          <a:p>
            <a:pPr algn="just"/>
            <a:r>
              <a:rPr lang="en-US" sz="3200" dirty="0">
                <a:latin typeface="Times New Roman" panose="02020603050405020304" pitchFamily="18" charset="0"/>
                <a:cs typeface="Times New Roman" panose="02020603050405020304" pitchFamily="18" charset="0"/>
              </a:rPr>
              <a:t>  components. These are:</a:t>
            </a:r>
          </a:p>
          <a:p>
            <a:pPr lvl="1" algn="just">
              <a:buFont typeface="Courier New" pitchFamily="49" charset="0"/>
              <a:buChar char="o"/>
            </a:pPr>
            <a:r>
              <a:rPr lang="en-US" sz="3200" dirty="0">
                <a:latin typeface="Times New Roman" panose="02020603050405020304" pitchFamily="18" charset="0"/>
                <a:cs typeface="Times New Roman" panose="02020603050405020304" pitchFamily="18" charset="0"/>
              </a:rPr>
              <a:t> detectors/sensors</a:t>
            </a:r>
          </a:p>
          <a:p>
            <a:pPr lvl="1" algn="just">
              <a:buFont typeface="Courier New" pitchFamily="49" charset="0"/>
              <a:buChar char="o"/>
            </a:pPr>
            <a:r>
              <a:rPr lang="en-US" sz="3200" dirty="0">
                <a:latin typeface="Times New Roman" panose="02020603050405020304" pitchFamily="18" charset="0"/>
                <a:cs typeface="Times New Roman" panose="02020603050405020304" pitchFamily="18" charset="0"/>
              </a:rPr>
              <a:t> integrating/control center</a:t>
            </a:r>
          </a:p>
          <a:p>
            <a:pPr lvl="1" algn="just">
              <a:buFont typeface="Courier New" pitchFamily="49" charset="0"/>
              <a:buChar char="o"/>
            </a:pPr>
            <a:r>
              <a:rPr lang="en-US" sz="3200" dirty="0">
                <a:latin typeface="Times New Roman" panose="02020603050405020304" pitchFamily="18" charset="0"/>
                <a:cs typeface="Times New Roman" panose="02020603050405020304" pitchFamily="18" charset="0"/>
              </a:rPr>
              <a:t> effectors</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srcRect t="-2" b="21523"/>
          <a:stretch/>
        </p:blipFill>
        <p:spPr>
          <a:xfrm>
            <a:off x="2895600" y="533400"/>
            <a:ext cx="6324600" cy="6096000"/>
          </a:xfrm>
          <a:prstGeom prst="rect">
            <a:avLst/>
          </a:prstGeom>
        </p:spPr>
      </p:pic>
    </p:spTree>
    <p:extLst>
      <p:ext uri="{BB962C8B-B14F-4D97-AF65-F5344CB8AC3E}">
        <p14:creationId xmlns:p14="http://schemas.microsoft.com/office/powerpoint/2010/main" val="409545115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 descr="01_06"/>
          <p:cNvPicPr>
            <a:picLocks noChangeAspect="1" noChangeArrowheads="1"/>
          </p:cNvPicPr>
          <p:nvPr/>
        </p:nvPicPr>
        <p:blipFill>
          <a:blip r:embed="rId3"/>
          <a:srcRect/>
          <a:stretch>
            <a:fillRect/>
          </a:stretch>
        </p:blipFill>
        <p:spPr bwMode="auto">
          <a:xfrm>
            <a:off x="1538288" y="854075"/>
            <a:ext cx="9117012" cy="5151438"/>
          </a:xfrm>
          <a:prstGeom prst="rect">
            <a:avLst/>
          </a:prstGeom>
          <a:noFill/>
          <a:ln w="9525">
            <a:noFill/>
            <a:miter lim="800000"/>
            <a:headEnd/>
            <a:tailEnd/>
          </a:ln>
          <a:effectLst/>
        </p:spPr>
      </p:pic>
    </p:spTree>
    <p:extLst>
      <p:ext uri="{BB962C8B-B14F-4D97-AF65-F5344CB8AC3E}">
        <p14:creationId xmlns:p14="http://schemas.microsoft.com/office/powerpoint/2010/main" val="409020442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09550" y="120651"/>
            <a:ext cx="11690350" cy="6494085"/>
          </a:xfrm>
          <a:prstGeom prst="rect">
            <a:avLst/>
          </a:prstGeom>
          <a:noFill/>
        </p:spPr>
        <p:txBody>
          <a:bodyPr wrap="square" rtlCol="0">
            <a:spAutoFit/>
          </a:bodyPr>
          <a:lstStyle/>
          <a:p>
            <a:pPr algn="just">
              <a:buFont typeface="Arial" pitchFamily="34" charset="0"/>
              <a:buChar char="•"/>
            </a:pPr>
            <a:r>
              <a:rPr lang="en-US" sz="3200" dirty="0">
                <a:latin typeface="Times New Roman" panose="02020603050405020304" pitchFamily="18" charset="0"/>
                <a:cs typeface="Times New Roman" panose="02020603050405020304" pitchFamily="18" charset="0"/>
              </a:rPr>
              <a:t> Two basic strategies are used by the body to maintain homeostasis. These are:</a:t>
            </a:r>
          </a:p>
          <a:p>
            <a:pPr lvl="1" algn="just">
              <a:buFont typeface="Wingdings" pitchFamily="2" charset="2"/>
              <a:buChar char="§"/>
            </a:pPr>
            <a:r>
              <a:rPr lang="en-US" sz="3200" dirty="0">
                <a:latin typeface="Times New Roman" panose="02020603050405020304" pitchFamily="18" charset="0"/>
                <a:cs typeface="Times New Roman" panose="02020603050405020304" pitchFamily="18" charset="0"/>
              </a:rPr>
              <a:t> Feedback</a:t>
            </a:r>
          </a:p>
          <a:p>
            <a:pPr lvl="1" algn="just">
              <a:buFont typeface="Wingdings" pitchFamily="2" charset="2"/>
              <a:buChar char="§"/>
            </a:pP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Feedforward</a:t>
            </a:r>
            <a:endParaRPr lang="en-US" sz="32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endParaRPr lang="en-US" sz="3200" dirty="0">
              <a:latin typeface="Times New Roman" panose="02020603050405020304" pitchFamily="18" charset="0"/>
              <a:cs typeface="Times New Roman" panose="02020603050405020304" pitchFamily="18" charset="0"/>
            </a:endParaRPr>
          </a:p>
          <a:p>
            <a:pPr marL="457200" indent="-457200" algn="ctr">
              <a:buFont typeface="Arial" panose="020B0604020202020204" pitchFamily="34" charset="0"/>
              <a:buChar char="•"/>
            </a:pPr>
            <a:r>
              <a:rPr lang="en-US" sz="3200" b="1" dirty="0">
                <a:latin typeface="Times New Roman" panose="02020603050405020304" pitchFamily="18" charset="0"/>
                <a:cs typeface="Times New Roman" panose="02020603050405020304" pitchFamily="18" charset="0"/>
              </a:rPr>
              <a:t>Feedback Control</a:t>
            </a:r>
          </a:p>
          <a:p>
            <a:pPr marL="457200" indent="-457200">
              <a:buFont typeface="Arial" panose="020B0604020202020204" pitchFamily="34" charset="0"/>
              <a:buChar char="•"/>
            </a:pPr>
            <a:r>
              <a:rPr lang="en-US" sz="3200" b="0" i="0" u="none" strike="noStrike" baseline="0" dirty="0">
                <a:latin typeface="Times New Roman" panose="02020603050405020304" pitchFamily="18" charset="0"/>
                <a:cs typeface="Times New Roman" panose="02020603050405020304" pitchFamily="18" charset="0"/>
              </a:rPr>
              <a:t>The term </a:t>
            </a:r>
            <a:r>
              <a:rPr lang="en-US" sz="3200" b="1" i="0" u="none" strike="noStrike" baseline="0" dirty="0">
                <a:latin typeface="Times New Roman" panose="02020603050405020304" pitchFamily="18" charset="0"/>
                <a:cs typeface="Times New Roman" panose="02020603050405020304" pitchFamily="18" charset="0"/>
              </a:rPr>
              <a:t>Feedback </a:t>
            </a:r>
            <a:r>
              <a:rPr lang="en-US" sz="3200" b="0" i="0" u="none" strike="noStrike" baseline="0" dirty="0">
                <a:latin typeface="Times New Roman" panose="02020603050405020304" pitchFamily="18" charset="0"/>
                <a:cs typeface="Times New Roman" panose="02020603050405020304" pitchFamily="18" charset="0"/>
              </a:rPr>
              <a:t>refers to responses made after a change has been detected</a:t>
            </a:r>
            <a:endParaRPr lang="en-US" sz="3200" b="1"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The course of a reaction is controlled by the activity of some of the products of the reaction </a:t>
            </a:r>
            <a:r>
              <a:rPr lang="en-US" sz="3200" dirty="0" err="1">
                <a:latin typeface="Times New Roman" panose="02020603050405020304" pitchFamily="18" charset="0"/>
                <a:cs typeface="Times New Roman" panose="02020603050405020304" pitchFamily="18" charset="0"/>
              </a:rPr>
              <a:t>ie</a:t>
            </a:r>
            <a:r>
              <a:rPr lang="en-US" sz="3200" dirty="0">
                <a:latin typeface="Times New Roman" panose="02020603050405020304" pitchFamily="18" charset="0"/>
                <a:cs typeface="Times New Roman" panose="02020603050405020304" pitchFamily="18" charset="0"/>
              </a:rPr>
              <a:t> a mechanism by which the products of a process can act as regulators of that process. </a:t>
            </a:r>
          </a:p>
          <a:p>
            <a:endParaRPr lang="en-US" sz="32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 Feedback control can be either negative or positive  </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92100" y="177800"/>
            <a:ext cx="11614150" cy="5509200"/>
          </a:xfrm>
          <a:prstGeom prst="rect">
            <a:avLst/>
          </a:prstGeom>
          <a:noFill/>
        </p:spPr>
        <p:txBody>
          <a:bodyPr wrap="square" rtlCol="0">
            <a:spAutoFit/>
          </a:bodyPr>
          <a:lstStyle/>
          <a:p>
            <a:pPr algn="just">
              <a:buFont typeface="Wingdings" pitchFamily="2" charset="2"/>
              <a:buChar char="§"/>
            </a:pPr>
            <a:r>
              <a:rPr lang="en-US" sz="3200" dirty="0">
                <a:latin typeface="Times New Roman" panose="02020603050405020304" pitchFamily="18" charset="0"/>
                <a:cs typeface="Times New Roman" panose="02020603050405020304" pitchFamily="18" charset="0"/>
              </a:rPr>
              <a:t> </a:t>
            </a:r>
            <a:r>
              <a:rPr lang="en-US" sz="3200" b="1" dirty="0">
                <a:latin typeface="Times New Roman" panose="02020603050405020304" pitchFamily="18" charset="0"/>
                <a:cs typeface="Times New Roman" panose="02020603050405020304" pitchFamily="18" charset="0"/>
              </a:rPr>
              <a:t>Negative Feedback</a:t>
            </a:r>
          </a:p>
          <a:p>
            <a:pPr algn="just"/>
            <a:r>
              <a:rPr lang="en-US" sz="3200" dirty="0">
                <a:latin typeface="Times New Roman" panose="02020603050405020304" pitchFamily="18" charset="0"/>
                <a:cs typeface="Times New Roman" panose="02020603050405020304" pitchFamily="18" charset="0"/>
              </a:rPr>
              <a:t>This occurs when a change in a controlled variable triggers a response that opposes the change</a:t>
            </a:r>
          </a:p>
          <a:p>
            <a:pPr algn="just"/>
            <a:endParaRPr lang="en-US" sz="3200" dirty="0">
              <a:latin typeface="Times New Roman" panose="02020603050405020304" pitchFamily="18" charset="0"/>
              <a:cs typeface="Times New Roman" panose="02020603050405020304" pitchFamily="18" charset="0"/>
            </a:endParaRPr>
          </a:p>
          <a:p>
            <a:pPr algn="just">
              <a:buFont typeface="Arial" pitchFamily="34" charset="0"/>
              <a:buChar char="•"/>
            </a:pPr>
            <a:r>
              <a:rPr lang="en-US" sz="3200" dirty="0">
                <a:latin typeface="Times New Roman" panose="02020603050405020304" pitchFamily="18" charset="0"/>
                <a:cs typeface="Times New Roman" panose="02020603050405020304" pitchFamily="18" charset="0"/>
              </a:rPr>
              <a:t> Homeostasis primarily operates on this principle</a:t>
            </a:r>
          </a:p>
          <a:p>
            <a:pPr algn="just"/>
            <a:endParaRPr lang="en-US" sz="3200" dirty="0">
              <a:latin typeface="Times New Roman" panose="02020603050405020304" pitchFamily="18" charset="0"/>
              <a:cs typeface="Times New Roman" panose="02020603050405020304" pitchFamily="18" charset="0"/>
            </a:endParaRPr>
          </a:p>
          <a:p>
            <a:pPr algn="just">
              <a:buFont typeface="Arial"/>
              <a:buChar char="•"/>
            </a:pPr>
            <a:r>
              <a:rPr lang="en-US" sz="3200" dirty="0">
                <a:latin typeface="Times New Roman" panose="02020603050405020304" pitchFamily="18" charset="0"/>
                <a:cs typeface="Times New Roman" panose="02020603050405020304" pitchFamily="18" charset="0"/>
              </a:rPr>
              <a:t> They are inhibitory</a:t>
            </a:r>
          </a:p>
          <a:p>
            <a:pPr algn="just"/>
            <a:endParaRPr lang="en-US" sz="3200" dirty="0">
              <a:latin typeface="Times New Roman" panose="02020603050405020304" pitchFamily="18" charset="0"/>
              <a:cs typeface="Times New Roman" panose="02020603050405020304" pitchFamily="18" charset="0"/>
            </a:endParaRPr>
          </a:p>
          <a:p>
            <a:pPr algn="just">
              <a:buFont typeface="Arial" pitchFamily="34" charset="0"/>
              <a:buChar char="•"/>
            </a:pPr>
            <a:r>
              <a:rPr lang="en-US" sz="3200" dirty="0">
                <a:latin typeface="Times New Roman" panose="02020603050405020304" pitchFamily="18" charset="0"/>
                <a:cs typeface="Times New Roman" panose="02020603050405020304" pitchFamily="18" charset="0"/>
              </a:rPr>
              <a:t> Negative feedback helps to maintain equilibrium</a:t>
            </a:r>
          </a:p>
          <a:p>
            <a:pPr algn="just"/>
            <a:endParaRPr lang="en-US" sz="3200" dirty="0">
              <a:latin typeface="Times New Roman" panose="02020603050405020304" pitchFamily="18" charset="0"/>
              <a:cs typeface="Times New Roman" panose="02020603050405020304" pitchFamily="18" charset="0"/>
            </a:endParaRPr>
          </a:p>
          <a:p>
            <a:pPr algn="just">
              <a:buFont typeface="Arial" pitchFamily="34" charset="0"/>
              <a:buChar char="•"/>
            </a:pPr>
            <a:r>
              <a:rPr lang="en-US" sz="3200" dirty="0">
                <a:latin typeface="Times New Roman" panose="02020603050405020304" pitchFamily="18" charset="0"/>
                <a:cs typeface="Times New Roman" panose="02020603050405020304" pitchFamily="18" charset="0"/>
              </a:rPr>
              <a:t> Disruption of negative feedback can lead to undesirable results</a:t>
            </a: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3">
            <a:extLst>
              <a:ext uri="{FF2B5EF4-FFF2-40B4-BE49-F238E27FC236}">
                <a16:creationId xmlns:a16="http://schemas.microsoft.com/office/drawing/2014/main" id="{CA0DC7E8-B933-4B5D-8AE7-D9D62D3F027E}"/>
              </a:ext>
            </a:extLst>
          </p:cNvPr>
          <p:cNvSpPr>
            <a:spLocks noGrp="1"/>
          </p:cNvSpPr>
          <p:nvPr>
            <p:ph type="sldNum" sz="quarter" idx="12"/>
          </p:nvPr>
        </p:nvSpPr>
        <p:spPr/>
        <p:txBody>
          <a:bodyPr/>
          <a:lstStyle/>
          <a:p>
            <a:fld id="{ABA3D2D8-D24D-45FF-A21D-561B65EB8B6B}" type="slidenum">
              <a:rPr lang="en-US" altLang="zh-CN"/>
              <a:pPr/>
              <a:t>18</a:t>
            </a:fld>
            <a:endParaRPr lang="en-US" altLang="zh-CN"/>
          </a:p>
        </p:txBody>
      </p:sp>
      <p:sp>
        <p:nvSpPr>
          <p:cNvPr id="23554" name="Text Box 2">
            <a:extLst>
              <a:ext uri="{FF2B5EF4-FFF2-40B4-BE49-F238E27FC236}">
                <a16:creationId xmlns:a16="http://schemas.microsoft.com/office/drawing/2014/main" id="{3EAA704F-77B8-4C6B-9D44-82D7C712E7D7}"/>
              </a:ext>
            </a:extLst>
          </p:cNvPr>
          <p:cNvSpPr txBox="1">
            <a:spLocks noChangeArrowheads="1"/>
          </p:cNvSpPr>
          <p:nvPr/>
        </p:nvSpPr>
        <p:spPr bwMode="auto">
          <a:xfrm>
            <a:off x="2362200" y="838200"/>
            <a:ext cx="7162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endParaRPr lang="en-US" altLang="en-US" sz="2400">
              <a:latin typeface="Times New Roman" panose="02020603050405020304" pitchFamily="18" charset="0"/>
              <a:cs typeface="Times New Roman" panose="02020603050405020304" pitchFamily="18" charset="0"/>
            </a:endParaRPr>
          </a:p>
        </p:txBody>
      </p:sp>
      <p:sp>
        <p:nvSpPr>
          <p:cNvPr id="23557" name="Text Box 5">
            <a:extLst>
              <a:ext uri="{FF2B5EF4-FFF2-40B4-BE49-F238E27FC236}">
                <a16:creationId xmlns:a16="http://schemas.microsoft.com/office/drawing/2014/main" id="{77C8B343-54A6-4DF4-9C45-68E62B52648E}"/>
              </a:ext>
            </a:extLst>
          </p:cNvPr>
          <p:cNvSpPr txBox="1">
            <a:spLocks noChangeArrowheads="1"/>
          </p:cNvSpPr>
          <p:nvPr/>
        </p:nvSpPr>
        <p:spPr bwMode="auto">
          <a:xfrm>
            <a:off x="203200" y="34918"/>
            <a:ext cx="11836400" cy="30592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457200" indent="-457200">
              <a:spcBef>
                <a:spcPct val="10000"/>
              </a:spcBef>
              <a:buFont typeface="Arial" panose="020B0604020202020204" pitchFamily="34" charset="0"/>
              <a:buChar char="•"/>
            </a:pPr>
            <a:r>
              <a:rPr lang="en-US" altLang="en-US" sz="3200" dirty="0">
                <a:latin typeface="Times New Roman" panose="02020603050405020304" pitchFamily="18" charset="0"/>
                <a:cs typeface="Times New Roman" panose="02020603050405020304" pitchFamily="18" charset="0"/>
              </a:rPr>
              <a:t>Stimulus triggers response to counteract further change in the same direction. </a:t>
            </a:r>
          </a:p>
          <a:p>
            <a:pPr marL="457200" indent="-457200">
              <a:spcBef>
                <a:spcPct val="10000"/>
              </a:spcBef>
              <a:buFont typeface="Arial" panose="020B0604020202020204" pitchFamily="34" charset="0"/>
              <a:buChar char="•"/>
            </a:pPr>
            <a:r>
              <a:rPr lang="en-US" altLang="en-US" sz="3200" dirty="0">
                <a:latin typeface="Times New Roman" panose="02020603050405020304" pitchFamily="18" charset="0"/>
                <a:cs typeface="Times New Roman" panose="02020603050405020304" pitchFamily="18" charset="0"/>
              </a:rPr>
              <a:t>Negative-feedback mechanisms prevent small changes from becoming too large</a:t>
            </a:r>
            <a:r>
              <a:rPr lang="en-US" altLang="en-US" sz="2800" dirty="0" smtClean="0">
                <a:latin typeface="Times New Roman" panose="02020603050405020304" pitchFamily="18" charset="0"/>
                <a:cs typeface="Times New Roman" panose="02020603050405020304" pitchFamily="18" charset="0"/>
              </a:rPr>
              <a:t>.</a:t>
            </a:r>
          </a:p>
          <a:p>
            <a:pPr>
              <a:spcBef>
                <a:spcPct val="10000"/>
              </a:spcBef>
            </a:pPr>
            <a:endParaRPr lang="en-US" altLang="en-US" sz="2800" dirty="0" smtClean="0">
              <a:latin typeface="Times New Roman" panose="02020603050405020304" pitchFamily="18" charset="0"/>
              <a:cs typeface="Times New Roman" panose="02020603050405020304" pitchFamily="18" charset="0"/>
            </a:endParaRPr>
          </a:p>
          <a:p>
            <a:pPr marL="457200" indent="-457200">
              <a:spcBef>
                <a:spcPct val="10000"/>
              </a:spcBef>
              <a:buFont typeface="Arial" panose="020B0604020202020204" pitchFamily="34" charset="0"/>
              <a:buChar char="•"/>
            </a:pPr>
            <a:r>
              <a:rPr lang="en-US" altLang="zh-CN" sz="2800" dirty="0" smtClean="0">
                <a:solidFill>
                  <a:srgbClr val="FF0000"/>
                </a:solidFill>
                <a:latin typeface="Times New Roman" panose="02020603050405020304" pitchFamily="18" charset="0"/>
                <a:cs typeface="Times New Roman" panose="02020603050405020304" pitchFamily="18" charset="0"/>
              </a:rPr>
              <a:t>Examples?</a:t>
            </a:r>
            <a:endParaRPr lang="en-US" altLang="zh-CN" sz="2800"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4423214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057400" y="381000"/>
            <a:ext cx="8077200" cy="6172200"/>
          </a:xfrm>
          <a:prstGeom prst="rect">
            <a:avLst/>
          </a:prstGeom>
        </p:spPr>
      </p:pic>
    </p:spTree>
    <p:extLst>
      <p:ext uri="{BB962C8B-B14F-4D97-AF65-F5344CB8AC3E}">
        <p14:creationId xmlns:p14="http://schemas.microsoft.com/office/powerpoint/2010/main" val="359290427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 descr="01_08"/>
          <p:cNvPicPr>
            <a:picLocks noChangeAspect="1" noChangeArrowheads="1"/>
          </p:cNvPicPr>
          <p:nvPr/>
        </p:nvPicPr>
        <p:blipFill>
          <a:blip r:embed="rId3" cstate="print"/>
          <a:srcRect/>
          <a:stretch>
            <a:fillRect/>
          </a:stretch>
        </p:blipFill>
        <p:spPr bwMode="auto">
          <a:xfrm>
            <a:off x="1905000" y="11113"/>
            <a:ext cx="8534400" cy="6837362"/>
          </a:xfrm>
          <a:prstGeom prst="rect">
            <a:avLst/>
          </a:prstGeom>
          <a:noFill/>
          <a:ln w="9525">
            <a:noFill/>
            <a:miter lim="800000"/>
            <a:headEnd/>
            <a:tailEnd/>
          </a:ln>
          <a:effectLst/>
        </p:spPr>
      </p:pic>
    </p:spTree>
    <p:extLst>
      <p:ext uri="{BB962C8B-B14F-4D97-AF65-F5344CB8AC3E}">
        <p14:creationId xmlns:p14="http://schemas.microsoft.com/office/powerpoint/2010/main" val="168926780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04409" y="284844"/>
            <a:ext cx="11813420" cy="6494085"/>
          </a:xfrm>
          <a:prstGeom prst="rect">
            <a:avLst/>
          </a:prstGeom>
        </p:spPr>
        <p:txBody>
          <a:bodyPr wrap="square">
            <a:spAutoFit/>
          </a:bodyPr>
          <a:lstStyle/>
          <a:p>
            <a:pPr algn="ctr"/>
            <a:r>
              <a:rPr lang="en-US" sz="3200" b="1" dirty="0">
                <a:latin typeface="Times New Roman" panose="02020603050405020304" pitchFamily="18" charset="0"/>
                <a:cs typeface="Times New Roman" panose="02020603050405020304" pitchFamily="18" charset="0"/>
              </a:rPr>
              <a:t>Positive Feedback</a:t>
            </a:r>
          </a:p>
          <a:p>
            <a:pPr algn="just"/>
            <a:r>
              <a:rPr lang="en-US" sz="3200" dirty="0">
                <a:latin typeface="Times New Roman" panose="02020603050405020304" pitchFamily="18" charset="0"/>
                <a:cs typeface="Times New Roman" panose="02020603050405020304" pitchFamily="18" charset="0"/>
              </a:rPr>
              <a:t>This occurs when a change in a controlled variable triggers a response that amplifies the change </a:t>
            </a:r>
          </a:p>
          <a:p>
            <a:pPr algn="just">
              <a:buFont typeface="Arial"/>
              <a:buChar char="•"/>
            </a:pPr>
            <a:r>
              <a:rPr lang="en-US" sz="3200" dirty="0">
                <a:latin typeface="Times New Roman" panose="02020603050405020304" pitchFamily="18" charset="0"/>
                <a:cs typeface="Times New Roman" panose="02020603050405020304" pitchFamily="18" charset="0"/>
              </a:rPr>
              <a:t> It is stimulatory</a:t>
            </a:r>
          </a:p>
          <a:p>
            <a:pPr algn="just"/>
            <a:endParaRPr lang="en-US" sz="3200" dirty="0">
              <a:latin typeface="Times New Roman" panose="02020603050405020304" pitchFamily="18" charset="0"/>
              <a:cs typeface="Times New Roman" panose="02020603050405020304" pitchFamily="18" charset="0"/>
            </a:endParaRPr>
          </a:p>
          <a:p>
            <a:pPr algn="just">
              <a:buFont typeface="Arial"/>
              <a:buChar char="•"/>
            </a:pPr>
            <a:r>
              <a:rPr lang="en-US" sz="3200" dirty="0">
                <a:latin typeface="Times New Roman" panose="02020603050405020304" pitchFamily="18" charset="0"/>
                <a:cs typeface="Times New Roman" panose="02020603050405020304" pitchFamily="18" charset="0"/>
              </a:rPr>
              <a:t> moves the controlled variable further away from the set point</a:t>
            </a:r>
          </a:p>
          <a:p>
            <a:pPr algn="just"/>
            <a:endParaRPr lang="en-US" sz="3200" dirty="0">
              <a:latin typeface="Times New Roman" panose="02020603050405020304" pitchFamily="18" charset="0"/>
              <a:cs typeface="Times New Roman" panose="02020603050405020304" pitchFamily="18" charset="0"/>
            </a:endParaRPr>
          </a:p>
          <a:p>
            <a:pPr algn="just">
              <a:buFont typeface="Arial" pitchFamily="34" charset="0"/>
              <a:buChar char="•"/>
            </a:pPr>
            <a:r>
              <a:rPr lang="en-US" sz="3200" dirty="0">
                <a:latin typeface="Times New Roman" panose="02020603050405020304" pitchFamily="18" charset="0"/>
                <a:cs typeface="Times New Roman" panose="02020603050405020304" pitchFamily="18" charset="0"/>
              </a:rPr>
              <a:t> Brings about disequilibrium</a:t>
            </a:r>
          </a:p>
          <a:p>
            <a:pPr algn="just"/>
            <a:endParaRPr lang="en-US" sz="3200" dirty="0">
              <a:latin typeface="Times New Roman" panose="02020603050405020304" pitchFamily="18" charset="0"/>
              <a:cs typeface="Times New Roman" panose="02020603050405020304" pitchFamily="18" charset="0"/>
            </a:endParaRPr>
          </a:p>
          <a:p>
            <a:pPr algn="just">
              <a:buFont typeface="Arial" pitchFamily="34" charset="0"/>
              <a:buChar char="•"/>
            </a:pPr>
            <a:r>
              <a:rPr lang="en-US" sz="3200" dirty="0">
                <a:latin typeface="Times New Roman" panose="02020603050405020304" pitchFamily="18" charset="0"/>
                <a:cs typeface="Times New Roman" panose="02020603050405020304" pitchFamily="18" charset="0"/>
              </a:rPr>
              <a:t> Not involved in homeostasis</a:t>
            </a:r>
          </a:p>
          <a:p>
            <a:pPr algn="just"/>
            <a:endParaRPr lang="en-US" sz="3200" dirty="0">
              <a:latin typeface="Times New Roman" panose="02020603050405020304" pitchFamily="18" charset="0"/>
              <a:cs typeface="Times New Roman" panose="02020603050405020304" pitchFamily="18" charset="0"/>
            </a:endParaRPr>
          </a:p>
          <a:p>
            <a:pPr algn="just">
              <a:buFont typeface="Arial" pitchFamily="34" charset="0"/>
              <a:buChar char="•"/>
            </a:pPr>
            <a:r>
              <a:rPr lang="en-US" sz="3200" dirty="0">
                <a:latin typeface="Times New Roman" panose="02020603050405020304" pitchFamily="18" charset="0"/>
                <a:cs typeface="Times New Roman" panose="02020603050405020304" pitchFamily="18" charset="0"/>
              </a:rPr>
              <a:t> At times makes negative feedback more efficient</a:t>
            </a:r>
          </a:p>
          <a:p>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4749599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3">
            <a:extLst>
              <a:ext uri="{FF2B5EF4-FFF2-40B4-BE49-F238E27FC236}">
                <a16:creationId xmlns:a16="http://schemas.microsoft.com/office/drawing/2014/main" id="{C9702C82-0245-412D-81D7-336308A1982D}"/>
              </a:ext>
            </a:extLst>
          </p:cNvPr>
          <p:cNvSpPr>
            <a:spLocks noGrp="1"/>
          </p:cNvSpPr>
          <p:nvPr>
            <p:ph type="sldNum" sz="quarter" idx="12"/>
          </p:nvPr>
        </p:nvSpPr>
        <p:spPr/>
        <p:txBody>
          <a:bodyPr/>
          <a:lstStyle/>
          <a:p>
            <a:fld id="{1216935E-C630-44F8-AD02-05ACC7BD141F}" type="slidenum">
              <a:rPr lang="en-US" altLang="zh-CN"/>
              <a:pPr/>
              <a:t>22</a:t>
            </a:fld>
            <a:endParaRPr lang="en-US" altLang="zh-CN"/>
          </a:p>
        </p:txBody>
      </p:sp>
      <p:sp>
        <p:nvSpPr>
          <p:cNvPr id="20483" name="Rectangle 3">
            <a:extLst>
              <a:ext uri="{FF2B5EF4-FFF2-40B4-BE49-F238E27FC236}">
                <a16:creationId xmlns:a16="http://schemas.microsoft.com/office/drawing/2014/main" id="{E24F9078-2447-4084-A155-9A8E4EC2592F}"/>
              </a:ext>
            </a:extLst>
          </p:cNvPr>
          <p:cNvSpPr>
            <a:spLocks noChangeArrowheads="1"/>
          </p:cNvSpPr>
          <p:nvPr/>
        </p:nvSpPr>
        <p:spPr bwMode="auto">
          <a:xfrm>
            <a:off x="139700" y="66675"/>
            <a:ext cx="11620500" cy="6617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kumimoji="1" sz="2400">
                <a:solidFill>
                  <a:schemeClr val="tx1"/>
                </a:solidFill>
                <a:latin typeface="Times New Roman" panose="02020603050405020304" pitchFamily="18" charset="0"/>
                <a:ea typeface="宋体" panose="02010600030101010101" pitchFamily="2" charset="-122"/>
              </a:defRPr>
            </a:lvl1pPr>
            <a:lvl2pPr marL="914400" indent="-457200">
              <a:defRPr kumimoji="1" sz="2400">
                <a:solidFill>
                  <a:schemeClr val="tx1"/>
                </a:solidFill>
                <a:latin typeface="Times New Roman" panose="02020603050405020304" pitchFamily="18" charset="0"/>
                <a:ea typeface="宋体" panose="02010600030101010101" pitchFamily="2" charset="-122"/>
              </a:defRPr>
            </a:lvl2pPr>
            <a:lvl3pPr marL="1371600" indent="-457200">
              <a:defRPr kumimoji="1" sz="2400">
                <a:solidFill>
                  <a:schemeClr val="tx1"/>
                </a:solidFill>
                <a:latin typeface="Times New Roman" panose="02020603050405020304" pitchFamily="18" charset="0"/>
                <a:ea typeface="宋体" panose="02010600030101010101" pitchFamily="2" charset="-122"/>
              </a:defRPr>
            </a:lvl3pPr>
            <a:lvl4pPr marL="1828800" indent="-457200">
              <a:defRPr kumimoji="1" sz="2400">
                <a:solidFill>
                  <a:schemeClr val="tx1"/>
                </a:solidFill>
                <a:latin typeface="Times New Roman" panose="02020603050405020304" pitchFamily="18" charset="0"/>
                <a:ea typeface="宋体" panose="02010600030101010101" pitchFamily="2" charset="-122"/>
              </a:defRPr>
            </a:lvl4pPr>
            <a:lvl5pPr marL="2286000" indent="-457200">
              <a:defRPr kumimoji="1" sz="2400">
                <a:solidFill>
                  <a:schemeClr val="tx1"/>
                </a:solidFill>
                <a:latin typeface="Times New Roman" panose="02020603050405020304" pitchFamily="18" charset="0"/>
                <a:ea typeface="宋体" panose="02010600030101010101" pitchFamily="2" charset="-122"/>
              </a:defRPr>
            </a:lvl5pPr>
            <a:lvl6pPr marL="27432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0" hangingPunct="0">
              <a:buClr>
                <a:schemeClr val="folHlink"/>
              </a:buClr>
              <a:buSzPct val="75000"/>
              <a:buFont typeface="Wingdings" panose="05000000000000000000" pitchFamily="2" charset="2"/>
              <a:buChar char="Ø"/>
            </a:pPr>
            <a:r>
              <a:rPr lang="en-US" altLang="en-US" sz="3200" dirty="0">
                <a:cs typeface="Times New Roman" panose="02020603050405020304" pitchFamily="18" charset="0"/>
              </a:rPr>
              <a:t>The feedback signal or output from the controlled system increases the action of the control system</a:t>
            </a:r>
          </a:p>
          <a:p>
            <a:pPr marL="0" indent="0" algn="just" eaLnBrk="0" hangingPunct="0">
              <a:buClr>
                <a:schemeClr val="folHlink"/>
              </a:buClr>
              <a:buSzPct val="75000"/>
            </a:pPr>
            <a:endParaRPr lang="en-US" altLang="en-US" sz="3200" dirty="0">
              <a:cs typeface="Times New Roman" panose="02020603050405020304" pitchFamily="18" charset="0"/>
            </a:endParaRPr>
          </a:p>
          <a:p>
            <a:pPr algn="just" eaLnBrk="0" hangingPunct="0">
              <a:buClr>
                <a:schemeClr val="folHlink"/>
              </a:buClr>
              <a:buSzPct val="75000"/>
              <a:buFont typeface="Wingdings" panose="05000000000000000000" pitchFamily="2" charset="2"/>
              <a:buChar char="Ø"/>
            </a:pPr>
            <a:r>
              <a:rPr lang="en-US" altLang="en-US" sz="3200" dirty="0">
                <a:cs typeface="Times New Roman" panose="02020603050405020304" pitchFamily="18" charset="0"/>
              </a:rPr>
              <a:t>Examples: </a:t>
            </a:r>
            <a:endParaRPr lang="en-US" altLang="zh-CN" sz="3200" dirty="0">
              <a:cs typeface="Times New Roman" panose="02020603050405020304" pitchFamily="18" charset="0"/>
            </a:endParaRPr>
          </a:p>
          <a:p>
            <a:pPr lvl="1" algn="just" eaLnBrk="0" hangingPunct="0">
              <a:buClr>
                <a:schemeClr val="folHlink"/>
              </a:buClr>
              <a:buSzPct val="75000"/>
              <a:buFont typeface="Wingdings" panose="05000000000000000000" pitchFamily="2" charset="2"/>
              <a:buChar char="Ø"/>
            </a:pPr>
            <a:r>
              <a:rPr lang="en-US" altLang="en-US" sz="3200" dirty="0">
                <a:cs typeface="Times New Roman" panose="02020603050405020304" pitchFamily="18" charset="0"/>
              </a:rPr>
              <a:t>Blood clotting</a:t>
            </a:r>
            <a:endParaRPr lang="en-US" altLang="zh-CN" sz="3200" dirty="0">
              <a:cs typeface="Times New Roman" panose="02020603050405020304" pitchFamily="18" charset="0"/>
            </a:endParaRPr>
          </a:p>
          <a:p>
            <a:pPr lvl="1" algn="just" eaLnBrk="0" hangingPunct="0">
              <a:buClr>
                <a:schemeClr val="folHlink"/>
              </a:buClr>
              <a:buSzPct val="75000"/>
              <a:buFont typeface="Wingdings" panose="05000000000000000000" pitchFamily="2" charset="2"/>
              <a:buChar char="Ø"/>
            </a:pPr>
            <a:r>
              <a:rPr lang="en-US" altLang="en-US" sz="3200" dirty="0">
                <a:cs typeface="Times New Roman" panose="02020603050405020304" pitchFamily="18" charset="0"/>
              </a:rPr>
              <a:t>Micturition</a:t>
            </a:r>
            <a:r>
              <a:rPr lang="en-US" altLang="zh-CN" sz="3200" dirty="0">
                <a:cs typeface="Times New Roman" panose="02020603050405020304" pitchFamily="18" charset="0"/>
              </a:rPr>
              <a:t> </a:t>
            </a:r>
            <a:endParaRPr lang="zh-CN" altLang="en-US" sz="3200" dirty="0">
              <a:cs typeface="Times New Roman" panose="02020603050405020304" pitchFamily="18" charset="0"/>
            </a:endParaRPr>
          </a:p>
          <a:p>
            <a:pPr lvl="1" algn="just" eaLnBrk="0" hangingPunct="0">
              <a:buClr>
                <a:schemeClr val="folHlink"/>
              </a:buClr>
              <a:buSzPct val="75000"/>
              <a:buFont typeface="Wingdings" panose="05000000000000000000" pitchFamily="2" charset="2"/>
              <a:buChar char="Ø"/>
            </a:pPr>
            <a:r>
              <a:rPr lang="en-US" altLang="en-US" sz="3200" dirty="0">
                <a:cs typeface="Times New Roman" panose="02020603050405020304" pitchFamily="18" charset="0"/>
              </a:rPr>
              <a:t>Na</a:t>
            </a:r>
            <a:r>
              <a:rPr lang="en-US" altLang="en-US" sz="3200" baseline="30000" dirty="0">
                <a:cs typeface="Times New Roman" panose="02020603050405020304" pitchFamily="18" charset="0"/>
              </a:rPr>
              <a:t>+</a:t>
            </a:r>
            <a:r>
              <a:rPr lang="en-US" altLang="en-US" sz="3200" dirty="0">
                <a:cs typeface="Times New Roman" panose="02020603050405020304" pitchFamily="18" charset="0"/>
              </a:rPr>
              <a:t> inflow in genesis of nerve signals</a:t>
            </a:r>
            <a:endParaRPr lang="en-US" altLang="zh-CN" sz="3200" dirty="0">
              <a:cs typeface="Times New Roman" panose="02020603050405020304" pitchFamily="18" charset="0"/>
            </a:endParaRPr>
          </a:p>
          <a:p>
            <a:pPr lvl="1" algn="just" eaLnBrk="0" hangingPunct="0">
              <a:buClr>
                <a:schemeClr val="folHlink"/>
              </a:buClr>
              <a:buSzPct val="75000"/>
              <a:buFont typeface="Wingdings" panose="05000000000000000000" pitchFamily="2" charset="2"/>
              <a:buChar char="Ø"/>
            </a:pPr>
            <a:r>
              <a:rPr lang="en-US" altLang="en-US" sz="3200" dirty="0">
                <a:cs typeface="Times New Roman" panose="02020603050405020304" pitchFamily="18" charset="0"/>
              </a:rPr>
              <a:t>Contraction of the uterus during childbirth (parturition)</a:t>
            </a:r>
          </a:p>
          <a:p>
            <a:pPr marL="457200" lvl="1" indent="0" algn="just" eaLnBrk="0" hangingPunct="0">
              <a:buClr>
                <a:schemeClr val="folHlink"/>
              </a:buClr>
              <a:buSzPct val="75000"/>
            </a:pPr>
            <a:endParaRPr lang="en-US" altLang="en-US" sz="3200" dirty="0">
              <a:effectLst>
                <a:outerShdw blurRad="38100" dist="38100" dir="2700000" algn="tl">
                  <a:srgbClr val="000000"/>
                </a:outerShdw>
              </a:effectLst>
              <a:cs typeface="Times New Roman" panose="02020603050405020304" pitchFamily="18" charset="0"/>
            </a:endParaRPr>
          </a:p>
          <a:p>
            <a:pPr marL="571500" indent="-571500">
              <a:buFont typeface="Wingdings" panose="05000000000000000000" pitchFamily="2" charset="2"/>
              <a:buChar char="Ø"/>
            </a:pPr>
            <a:r>
              <a:rPr lang="en-US" altLang="zh-CN" sz="3600" dirty="0">
                <a:cs typeface="Times New Roman" panose="02020603050405020304" pitchFamily="18" charset="0"/>
              </a:rPr>
              <a:t>Enhances the action of original stimulus or amplify or reinforce change</a:t>
            </a:r>
          </a:p>
          <a:p>
            <a:pPr lvl="3">
              <a:buFont typeface="Arial" panose="020B0604020202020204" pitchFamily="34" charset="0"/>
              <a:buChar char="•"/>
            </a:pPr>
            <a:r>
              <a:rPr lang="en-US" altLang="zh-CN" sz="3200" dirty="0">
                <a:cs typeface="Times New Roman" panose="02020603050405020304" pitchFamily="18" charset="0"/>
              </a:rPr>
              <a:t>promote an activity to finish</a:t>
            </a:r>
          </a:p>
          <a:p>
            <a:pPr marL="0" indent="0" algn="just" eaLnBrk="0" hangingPunct="0">
              <a:buClr>
                <a:schemeClr val="folHlink"/>
              </a:buClr>
              <a:buSzPct val="75000"/>
            </a:pPr>
            <a:r>
              <a:rPr lang="en-US" altLang="zh-CN" sz="3200" dirty="0">
                <a:effectLst>
                  <a:outerShdw blurRad="38100" dist="38100" dir="2700000" algn="tl">
                    <a:srgbClr val="000000"/>
                  </a:outerShdw>
                </a:effectLst>
                <a:cs typeface="Times New Roman" panose="02020603050405020304" pitchFamily="18" charset="0"/>
              </a:rPr>
              <a:t> </a:t>
            </a:r>
            <a:endParaRPr lang="zh-CN" altLang="th-TH" sz="3200" dirty="0">
              <a:effectLst>
                <a:outerShdw blurRad="38100" dist="38100" dir="2700000" algn="tl">
                  <a:srgbClr val="000000"/>
                </a:outerShdw>
              </a:effectLst>
              <a:cs typeface="Times New Roman" panose="02020603050405020304" pitchFamily="18" charset="0"/>
            </a:endParaRPr>
          </a:p>
        </p:txBody>
      </p:sp>
    </p:spTree>
    <p:extLst>
      <p:ext uri="{BB962C8B-B14F-4D97-AF65-F5344CB8AC3E}">
        <p14:creationId xmlns:p14="http://schemas.microsoft.com/office/powerpoint/2010/main" val="35643114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483">
                                            <p:txEl>
                                              <p:pRg st="3" end="3"/>
                                            </p:txEl>
                                          </p:spTgt>
                                        </p:tgtEl>
                                        <p:attrNameLst>
                                          <p:attrName>style.visibility</p:attrName>
                                        </p:attrNameLst>
                                      </p:cBhvr>
                                      <p:to>
                                        <p:strVal val="visible"/>
                                      </p:to>
                                    </p:set>
                                    <p:animEffect transition="in" filter="fade">
                                      <p:cBhvr>
                                        <p:cTn id="7" dur="500"/>
                                        <p:tgtEl>
                                          <p:spTgt spid="20483">
                                            <p:txEl>
                                              <p:pRg st="3" end="3"/>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0483">
                                            <p:txEl>
                                              <p:pRg st="4" end="4"/>
                                            </p:txEl>
                                          </p:spTgt>
                                        </p:tgtEl>
                                        <p:attrNameLst>
                                          <p:attrName>style.visibility</p:attrName>
                                        </p:attrNameLst>
                                      </p:cBhvr>
                                      <p:to>
                                        <p:strVal val="visible"/>
                                      </p:to>
                                    </p:set>
                                    <p:animEffect transition="in" filter="fade">
                                      <p:cBhvr>
                                        <p:cTn id="10" dur="500"/>
                                        <p:tgtEl>
                                          <p:spTgt spid="20483">
                                            <p:txEl>
                                              <p:pRg st="4" end="4"/>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20483">
                                            <p:txEl>
                                              <p:pRg st="5" end="5"/>
                                            </p:txEl>
                                          </p:spTgt>
                                        </p:tgtEl>
                                        <p:attrNameLst>
                                          <p:attrName>style.visibility</p:attrName>
                                        </p:attrNameLst>
                                      </p:cBhvr>
                                      <p:to>
                                        <p:strVal val="visible"/>
                                      </p:to>
                                    </p:set>
                                    <p:animEffect transition="in" filter="fade">
                                      <p:cBhvr>
                                        <p:cTn id="13" dur="500"/>
                                        <p:tgtEl>
                                          <p:spTgt spid="20483">
                                            <p:txEl>
                                              <p:pRg st="5" end="5"/>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20483">
                                            <p:txEl>
                                              <p:pRg st="6" end="6"/>
                                            </p:txEl>
                                          </p:spTgt>
                                        </p:tgtEl>
                                        <p:attrNameLst>
                                          <p:attrName>style.visibility</p:attrName>
                                        </p:attrNameLst>
                                      </p:cBhvr>
                                      <p:to>
                                        <p:strVal val="visible"/>
                                      </p:to>
                                    </p:set>
                                    <p:animEffect transition="in" filter="fade">
                                      <p:cBhvr>
                                        <p:cTn id="16" dur="500"/>
                                        <p:tgtEl>
                                          <p:spTgt spid="2048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3">
            <a:extLst>
              <a:ext uri="{FF2B5EF4-FFF2-40B4-BE49-F238E27FC236}">
                <a16:creationId xmlns:a16="http://schemas.microsoft.com/office/drawing/2014/main" id="{B4835895-4DE1-487D-8064-0E60347AB3C3}"/>
              </a:ext>
            </a:extLst>
          </p:cNvPr>
          <p:cNvSpPr>
            <a:spLocks noGrp="1"/>
          </p:cNvSpPr>
          <p:nvPr>
            <p:ph type="sldNum" sz="quarter" idx="12"/>
          </p:nvPr>
        </p:nvSpPr>
        <p:spPr/>
        <p:txBody>
          <a:bodyPr/>
          <a:lstStyle/>
          <a:p>
            <a:fld id="{9E33B409-1BD4-496E-888B-3CB8EB89574D}" type="slidenum">
              <a:rPr lang="en-US" altLang="zh-CN"/>
              <a:pPr/>
              <a:t>23</a:t>
            </a:fld>
            <a:endParaRPr lang="en-US" altLang="zh-CN"/>
          </a:p>
        </p:txBody>
      </p:sp>
      <p:pic>
        <p:nvPicPr>
          <p:cNvPr id="24578" name="Picture 2">
            <a:extLst>
              <a:ext uri="{FF2B5EF4-FFF2-40B4-BE49-F238E27FC236}">
                <a16:creationId xmlns:a16="http://schemas.microsoft.com/office/drawing/2014/main" id="{DCB0358D-5694-4E49-BA34-2830B259D7A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152401"/>
            <a:ext cx="9144000" cy="6530975"/>
          </a:xfrm>
          <a:prstGeom prst="rect">
            <a:avLst/>
          </a:prstGeom>
          <a:noFill/>
          <a:extLst>
            <a:ext uri="{909E8E84-426E-40DD-AFC4-6F175D3DCCD1}">
              <a14:hiddenFill xmlns:a14="http://schemas.microsoft.com/office/drawing/2010/main">
                <a:solidFill>
                  <a:srgbClr val="FFFFFF"/>
                </a:solidFill>
              </a14:hiddenFill>
            </a:ext>
          </a:extLst>
        </p:spPr>
      </p:pic>
      <p:sp>
        <p:nvSpPr>
          <p:cNvPr id="24579" name="Text Box 3">
            <a:extLst>
              <a:ext uri="{FF2B5EF4-FFF2-40B4-BE49-F238E27FC236}">
                <a16:creationId xmlns:a16="http://schemas.microsoft.com/office/drawing/2014/main" id="{41AE643E-C8B2-4848-82F3-6903FB0DF6F9}"/>
              </a:ext>
            </a:extLst>
          </p:cNvPr>
          <p:cNvSpPr txBox="1">
            <a:spLocks noChangeArrowheads="1"/>
          </p:cNvSpPr>
          <p:nvPr/>
        </p:nvSpPr>
        <p:spPr bwMode="auto">
          <a:xfrm>
            <a:off x="5410200" y="228600"/>
            <a:ext cx="5257800" cy="10695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85000"/>
              </a:lnSpc>
              <a:spcBef>
                <a:spcPct val="20000"/>
              </a:spcBef>
            </a:pPr>
            <a:r>
              <a:rPr lang="en-US" altLang="en-US" sz="2800" b="1">
                <a:solidFill>
                  <a:schemeClr val="bg2"/>
                </a:solidFill>
                <a:latin typeface="Times" panose="02020603050405020304" pitchFamily="18" charset="0"/>
                <a:cs typeface="Times New Roman" panose="02020603050405020304" pitchFamily="18" charset="0"/>
              </a:rPr>
              <a:t>Positive Feedback:</a:t>
            </a:r>
            <a:r>
              <a:rPr lang="en-US" altLang="en-US" sz="3000" b="1">
                <a:solidFill>
                  <a:schemeClr val="bg2"/>
                </a:solidFill>
                <a:latin typeface="Times" panose="02020603050405020304" pitchFamily="18" charset="0"/>
                <a:cs typeface="Times New Roman" panose="02020603050405020304" pitchFamily="18" charset="0"/>
              </a:rPr>
              <a:t> Stimulatory.</a:t>
            </a:r>
          </a:p>
          <a:p>
            <a:pPr>
              <a:lnSpc>
                <a:spcPct val="85000"/>
              </a:lnSpc>
              <a:spcBef>
                <a:spcPct val="20000"/>
              </a:spcBef>
            </a:pPr>
            <a:r>
              <a:rPr lang="en-US" altLang="en-US" sz="2000">
                <a:solidFill>
                  <a:schemeClr val="bg2"/>
                </a:solidFill>
                <a:latin typeface="Times" panose="02020603050405020304" pitchFamily="18" charset="0"/>
                <a:cs typeface="Times New Roman" panose="02020603050405020304" pitchFamily="18" charset="0"/>
              </a:rPr>
              <a:t>Stimulus trigger mechanisms that amplify the response and reinforces the stimulus.</a:t>
            </a:r>
            <a:endParaRPr lang="en-US" altLang="zh-CN" sz="2000">
              <a:solidFill>
                <a:schemeClr val="bg2"/>
              </a:solidFill>
              <a:latin typeface="Times" panose="02020603050405020304" pitchFamily="18" charset="0"/>
            </a:endParaRPr>
          </a:p>
        </p:txBody>
      </p:sp>
    </p:spTree>
    <p:extLst>
      <p:ext uri="{BB962C8B-B14F-4D97-AF65-F5344CB8AC3E}">
        <p14:creationId xmlns:p14="http://schemas.microsoft.com/office/powerpoint/2010/main" val="2271774508"/>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218608" y="200888"/>
            <a:ext cx="7754784" cy="6456224"/>
          </a:xfrm>
          <a:prstGeom prst="rect">
            <a:avLst/>
          </a:prstGeom>
        </p:spPr>
      </p:pic>
    </p:spTree>
    <p:extLst>
      <p:ext uri="{BB962C8B-B14F-4D97-AF65-F5344CB8AC3E}">
        <p14:creationId xmlns:p14="http://schemas.microsoft.com/office/powerpoint/2010/main" val="255291083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514600" y="990600"/>
            <a:ext cx="7162800" cy="5105400"/>
          </a:xfrm>
          <a:prstGeom prst="rect">
            <a:avLst/>
          </a:prstGeom>
        </p:spPr>
      </p:pic>
    </p:spTree>
    <p:extLst>
      <p:ext uri="{BB962C8B-B14F-4D97-AF65-F5344CB8AC3E}">
        <p14:creationId xmlns:p14="http://schemas.microsoft.com/office/powerpoint/2010/main" val="180762784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7"/>
          <p:cNvPicPr>
            <a:picLocks noChangeAspect="1" noChangeArrowheads="1"/>
          </p:cNvPicPr>
          <p:nvPr/>
        </p:nvPicPr>
        <p:blipFill>
          <a:blip r:embed="rId3">
            <a:extLst>
              <a:ext uri="{28A0092B-C50C-407E-A947-70E740481C1C}">
                <a14:useLocalDpi xmlns:a14="http://schemas.microsoft.com/office/drawing/2010/main" val="0"/>
              </a:ext>
            </a:extLst>
          </a:blip>
          <a:srcRect l="1979" t="2353" r="2457" b="6439"/>
          <a:stretch>
            <a:fillRect/>
          </a:stretch>
        </p:blipFill>
        <p:spPr bwMode="auto">
          <a:xfrm>
            <a:off x="1562307" y="213115"/>
            <a:ext cx="8346191" cy="63900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17447953"/>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79400" y="181957"/>
            <a:ext cx="11684000" cy="6001643"/>
          </a:xfrm>
          <a:prstGeom prst="rect">
            <a:avLst/>
          </a:prstGeom>
          <a:noFill/>
        </p:spPr>
        <p:txBody>
          <a:bodyPr wrap="square" rtlCol="0">
            <a:spAutoFit/>
          </a:bodyPr>
          <a:lstStyle/>
          <a:p>
            <a:pPr algn="ctr"/>
            <a:r>
              <a:rPr lang="en-US" sz="3200" b="1" dirty="0">
                <a:latin typeface="Times New Roman" panose="02020603050405020304" pitchFamily="18" charset="0"/>
                <a:cs typeface="Times New Roman" panose="02020603050405020304" pitchFamily="18" charset="0"/>
              </a:rPr>
              <a:t>Feedforward Control </a:t>
            </a:r>
            <a:endParaRPr lang="en-US" sz="3200" b="1" dirty="0" smtClean="0">
              <a:latin typeface="Times New Roman" panose="02020603050405020304" pitchFamily="18" charset="0"/>
              <a:cs typeface="Times New Roman" panose="02020603050405020304" pitchFamily="18" charset="0"/>
            </a:endParaRPr>
          </a:p>
          <a:p>
            <a:pPr algn="ctr"/>
            <a:endParaRPr lang="en-US" sz="3200" b="1"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This is a response in anticipation of a change in a controlled variable. The disturbance is suppressed before it has the chance to affect the system's essential variables </a:t>
            </a:r>
            <a:endParaRPr lang="en-US" sz="3200" dirty="0" smtClean="0">
              <a:latin typeface="Times New Roman" panose="02020603050405020304" pitchFamily="18" charset="0"/>
              <a:cs typeface="Times New Roman" panose="02020603050405020304" pitchFamily="18" charset="0"/>
            </a:endParaRPr>
          </a:p>
          <a:p>
            <a:pPr algn="just"/>
            <a:endParaRPr lang="en-US" sz="3200" dirty="0">
              <a:latin typeface="Times New Roman" panose="02020603050405020304" pitchFamily="18" charset="0"/>
              <a:cs typeface="Times New Roman" panose="02020603050405020304" pitchFamily="18" charset="0"/>
            </a:endParaRPr>
          </a:p>
          <a:p>
            <a:pPr algn="just">
              <a:buFont typeface="Arial" pitchFamily="34" charset="0"/>
              <a:buChar char="•"/>
            </a:pPr>
            <a:r>
              <a:rPr lang="en-US" sz="3200" dirty="0">
                <a:latin typeface="Times New Roman" panose="02020603050405020304" pitchFamily="18" charset="0"/>
                <a:cs typeface="Times New Roman" panose="02020603050405020304" pitchFamily="18" charset="0"/>
              </a:rPr>
              <a:t> It is not </a:t>
            </a:r>
            <a:r>
              <a:rPr lang="en-US" sz="3200" dirty="0" smtClean="0">
                <a:latin typeface="Times New Roman" panose="02020603050405020304" pitchFamily="18" charset="0"/>
                <a:cs typeface="Times New Roman" panose="02020603050405020304" pitchFamily="18" charset="0"/>
              </a:rPr>
              <a:t>error based</a:t>
            </a:r>
            <a:endParaRPr lang="en-US" sz="3200" dirty="0">
              <a:latin typeface="Times New Roman" panose="02020603050405020304" pitchFamily="18" charset="0"/>
              <a:cs typeface="Times New Roman" panose="02020603050405020304" pitchFamily="18" charset="0"/>
            </a:endParaRPr>
          </a:p>
          <a:p>
            <a:pPr algn="just">
              <a:buFont typeface="Arial" pitchFamily="34" charset="0"/>
              <a:buChar char="•"/>
            </a:pPr>
            <a:r>
              <a:rPr lang="en-US" sz="3200" dirty="0">
                <a:latin typeface="Times New Roman" panose="02020603050405020304" pitchFamily="18" charset="0"/>
                <a:cs typeface="Times New Roman" panose="02020603050405020304" pitchFamily="18" charset="0"/>
              </a:rPr>
              <a:t> prepares the body for a change</a:t>
            </a:r>
          </a:p>
          <a:p>
            <a:pPr algn="just">
              <a:buFont typeface="Arial" pitchFamily="34" charset="0"/>
              <a:buChar char="•"/>
            </a:pPr>
            <a:r>
              <a:rPr lang="en-US" sz="3200" dirty="0">
                <a:latin typeface="Times New Roman" panose="02020603050405020304" pitchFamily="18" charset="0"/>
                <a:cs typeface="Times New Roman" panose="02020603050405020304" pitchFamily="18" charset="0"/>
              </a:rPr>
              <a:t> improves the speed of the body’s homeostatic responses</a:t>
            </a:r>
          </a:p>
          <a:p>
            <a:pPr algn="just">
              <a:buFont typeface="Arial" pitchFamily="34" charset="0"/>
              <a:buChar char="•"/>
            </a:pPr>
            <a:r>
              <a:rPr lang="en-US" sz="3200" dirty="0">
                <a:latin typeface="Times New Roman" panose="02020603050405020304" pitchFamily="18" charset="0"/>
                <a:cs typeface="Times New Roman" panose="02020603050405020304" pitchFamily="18" charset="0"/>
              </a:rPr>
              <a:t> minimizes fluctuations in the level of variable being regulated</a:t>
            </a:r>
          </a:p>
          <a:p>
            <a:pPr algn="just">
              <a:buFont typeface="Arial" pitchFamily="34" charset="0"/>
              <a:buChar char="•"/>
            </a:pPr>
            <a:r>
              <a:rPr lang="en-US" sz="3200" dirty="0">
                <a:latin typeface="Times New Roman" panose="02020603050405020304" pitchFamily="18" charset="0"/>
                <a:cs typeface="Times New Roman" panose="02020603050405020304" pitchFamily="18" charset="0"/>
              </a:rPr>
              <a:t> such regulation use external detectors or learning</a:t>
            </a:r>
          </a:p>
          <a:p>
            <a:endParaRPr lang="en-US" sz="32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59212" y="190501"/>
            <a:ext cx="11627988" cy="5078313"/>
          </a:xfrm>
          <a:prstGeom prst="rect">
            <a:avLst/>
          </a:prstGeom>
        </p:spPr>
        <p:txBody>
          <a:bodyPr wrap="square">
            <a:spAutoFit/>
          </a:bodyPr>
          <a:lstStyle/>
          <a:p>
            <a:pPr marL="457200" indent="-457200">
              <a:buFont typeface="Arial" panose="020B0604020202020204" pitchFamily="34" charset="0"/>
              <a:buChar char="•"/>
            </a:pPr>
            <a:r>
              <a:rPr kumimoji="1" lang="en-US" altLang="zh-CN" sz="3600" b="1" dirty="0">
                <a:latin typeface="Times New Roman" panose="02020603050405020304" pitchFamily="18" charset="0"/>
                <a:cs typeface="Times New Roman" panose="02020603050405020304" pitchFamily="18" charset="0"/>
              </a:rPr>
              <a:t>Concept</a:t>
            </a:r>
            <a:r>
              <a:rPr kumimoji="1" lang="en-US" altLang="zh-CN" sz="3600" dirty="0">
                <a:latin typeface="Times New Roman" panose="02020603050405020304" pitchFamily="18" charset="0"/>
                <a:cs typeface="Times New Roman" panose="02020603050405020304" pitchFamily="18" charset="0"/>
              </a:rPr>
              <a:t>: Direct effect of stimulus on the control system </a:t>
            </a:r>
            <a:r>
              <a:rPr kumimoji="1" lang="en-US" altLang="zh-CN" sz="3600" b="1" dirty="0">
                <a:latin typeface="Times New Roman" panose="02020603050405020304" pitchFamily="18" charset="0"/>
                <a:cs typeface="Times New Roman" panose="02020603050405020304" pitchFamily="18" charset="0"/>
              </a:rPr>
              <a:t>before</a:t>
            </a:r>
            <a:r>
              <a:rPr kumimoji="1" lang="en-US" altLang="zh-CN" sz="3600" dirty="0">
                <a:latin typeface="Times New Roman" panose="02020603050405020304" pitchFamily="18" charset="0"/>
                <a:cs typeface="Times New Roman" panose="02020603050405020304" pitchFamily="18" charset="0"/>
              </a:rPr>
              <a:t> the action of feedback signal occurs.</a:t>
            </a:r>
          </a:p>
          <a:p>
            <a:endParaRPr lang="en-US" sz="3600" dirty="0">
              <a:latin typeface="Times New Roman" panose="02020603050405020304" pitchFamily="18" charset="0"/>
              <a:cs typeface="Times New Roman" panose="02020603050405020304" pitchFamily="18" charset="0"/>
            </a:endParaRPr>
          </a:p>
          <a:p>
            <a:pPr>
              <a:buFont typeface="Arial" pitchFamily="34" charset="0"/>
              <a:buChar char="•"/>
            </a:pPr>
            <a:r>
              <a:rPr lang="en-US" sz="3600" dirty="0">
                <a:latin typeface="Times New Roman" panose="02020603050405020304" pitchFamily="18" charset="0"/>
                <a:cs typeface="Times New Roman" panose="02020603050405020304" pitchFamily="18" charset="0"/>
              </a:rPr>
              <a:t>Examples</a:t>
            </a:r>
          </a:p>
          <a:p>
            <a:pPr marL="914400" lvl="1" indent="-457200">
              <a:buFont typeface="Wingdings" panose="05000000000000000000" pitchFamily="2" charset="2"/>
              <a:buChar char="ü"/>
            </a:pPr>
            <a:r>
              <a:rPr lang="en-US" sz="3600" dirty="0">
                <a:latin typeface="Times New Roman" panose="02020603050405020304" pitchFamily="18" charset="0"/>
                <a:cs typeface="Times New Roman" panose="02020603050405020304" pitchFamily="18" charset="0"/>
              </a:rPr>
              <a:t>salivation reflex</a:t>
            </a:r>
          </a:p>
          <a:p>
            <a:pPr marL="914400" lvl="1" indent="-457200">
              <a:buFont typeface="Wingdings" panose="05000000000000000000" pitchFamily="2" charset="2"/>
              <a:buChar char="ü"/>
            </a:pPr>
            <a:r>
              <a:rPr lang="en-US" sz="3600" dirty="0">
                <a:latin typeface="Times New Roman" panose="02020603050405020304" pitchFamily="18" charset="0"/>
                <a:cs typeface="Times New Roman" panose="02020603050405020304" pitchFamily="18" charset="0"/>
              </a:rPr>
              <a:t>insulin secretion triggered by food in the gut</a:t>
            </a:r>
          </a:p>
          <a:p>
            <a:pPr marL="914400" lvl="1" indent="-457200">
              <a:buFont typeface="Wingdings" panose="05000000000000000000" pitchFamily="2" charset="2"/>
              <a:buChar char="ü"/>
            </a:pPr>
            <a:r>
              <a:rPr lang="en-US" sz="3600" dirty="0">
                <a:latin typeface="Times New Roman" panose="02020603050405020304" pitchFamily="18" charset="0"/>
                <a:cs typeface="Times New Roman" panose="02020603050405020304" pitchFamily="18" charset="0"/>
              </a:rPr>
              <a:t>penile erection in human males (visual or tactile stimuli)</a:t>
            </a:r>
          </a:p>
          <a:p>
            <a:pPr marL="914400" lvl="1" indent="-457200">
              <a:buFont typeface="Wingdings" panose="05000000000000000000" pitchFamily="2" charset="2"/>
              <a:buChar char="ü"/>
            </a:pPr>
            <a:r>
              <a:rPr lang="en-US" sz="3600" dirty="0">
                <a:latin typeface="Times New Roman" panose="02020603050405020304" pitchFamily="18" charset="0"/>
                <a:cs typeface="Times New Roman" panose="02020603050405020304" pitchFamily="18" charset="0"/>
              </a:rPr>
              <a:t>shivering before dipping in cold water</a:t>
            </a:r>
          </a:p>
          <a:p>
            <a:pPr marL="914400" lvl="1" indent="-457200">
              <a:buFont typeface="Wingdings" panose="05000000000000000000" pitchFamily="2" charset="2"/>
              <a:buChar char="ü"/>
            </a:pPr>
            <a:r>
              <a:rPr lang="en-US" sz="3600" dirty="0">
                <a:latin typeface="Times New Roman" panose="02020603050405020304" pitchFamily="18" charset="0"/>
                <a:cs typeface="Times New Roman" panose="02020603050405020304" pitchFamily="18" charset="0"/>
              </a:rPr>
              <a:t>increase in heart and respiratory rate before an event</a:t>
            </a:r>
          </a:p>
        </p:txBody>
      </p:sp>
    </p:spTree>
    <p:extLst>
      <p:ext uri="{BB962C8B-B14F-4D97-AF65-F5344CB8AC3E}">
        <p14:creationId xmlns:p14="http://schemas.microsoft.com/office/powerpoint/2010/main" val="2035654076"/>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5625429-2C8C-4162-A5BE-FDB3A4A8F73A}"/>
              </a:ext>
            </a:extLst>
          </p:cNvPr>
          <p:cNvSpPr txBox="1"/>
          <p:nvPr/>
        </p:nvSpPr>
        <p:spPr>
          <a:xfrm>
            <a:off x="184150" y="626636"/>
            <a:ext cx="11537950" cy="3970318"/>
          </a:xfrm>
          <a:prstGeom prst="rect">
            <a:avLst/>
          </a:prstGeom>
          <a:noFill/>
        </p:spPr>
        <p:txBody>
          <a:bodyPr wrap="square">
            <a:spAutoFit/>
          </a:bodyPr>
          <a:lstStyle/>
          <a:p>
            <a:r>
              <a:rPr kumimoji="1" lang="en-US" altLang="zh-CN" sz="3600" dirty="0">
                <a:latin typeface="Times New Roman" panose="02020603050405020304" pitchFamily="18" charset="0"/>
                <a:cs typeface="Times New Roman" panose="02020603050405020304" pitchFamily="18" charset="0"/>
              </a:rPr>
              <a:t>Significance of </a:t>
            </a:r>
            <a:r>
              <a:rPr kumimoji="1" lang="en-US" altLang="zh-CN" sz="3600" b="1" dirty="0">
                <a:latin typeface="Times New Roman" panose="02020603050405020304" pitchFamily="18" charset="0"/>
                <a:cs typeface="Times New Roman" panose="02020603050405020304" pitchFamily="18" charset="0"/>
              </a:rPr>
              <a:t>Feedback-forward</a:t>
            </a:r>
            <a:r>
              <a:rPr kumimoji="1" lang="en-US" altLang="zh-CN" sz="3600" dirty="0">
                <a:latin typeface="Times New Roman" panose="02020603050405020304" pitchFamily="18" charset="0"/>
                <a:cs typeface="Times New Roman" panose="02020603050405020304" pitchFamily="18" charset="0"/>
              </a:rPr>
              <a:t> </a:t>
            </a:r>
          </a:p>
          <a:p>
            <a:pPr marL="1028700" lvl="1" indent="-571500">
              <a:buFont typeface="Arial" panose="020B0604020202020204" pitchFamily="34" charset="0"/>
              <a:buChar char="•"/>
            </a:pPr>
            <a:r>
              <a:rPr kumimoji="1" lang="en-US" altLang="zh-CN" sz="3600" dirty="0">
                <a:latin typeface="Times New Roman" panose="02020603050405020304" pitchFamily="18" charset="0"/>
                <a:cs typeface="Times New Roman" panose="02020603050405020304" pitchFamily="18" charset="0"/>
              </a:rPr>
              <a:t>adaptive feedback control. </a:t>
            </a:r>
          </a:p>
          <a:p>
            <a:pPr lvl="1"/>
            <a:endParaRPr kumimoji="1" lang="en-US" altLang="zh-CN" sz="3600" dirty="0">
              <a:latin typeface="Times New Roman" panose="02020603050405020304" pitchFamily="18" charset="0"/>
              <a:cs typeface="Times New Roman" panose="02020603050405020304" pitchFamily="18" charset="0"/>
            </a:endParaRPr>
          </a:p>
          <a:p>
            <a:pPr marL="1028700" lvl="1" indent="-571500">
              <a:buFont typeface="Arial" panose="020B0604020202020204" pitchFamily="34" charset="0"/>
              <a:buChar char="•"/>
            </a:pPr>
            <a:r>
              <a:rPr kumimoji="1" lang="en-US" altLang="zh-CN" sz="3600" dirty="0">
                <a:latin typeface="Times New Roman" panose="02020603050405020304" pitchFamily="18" charset="0"/>
                <a:cs typeface="Times New Roman" panose="02020603050405020304" pitchFamily="18" charset="0"/>
              </a:rPr>
              <a:t>makes the human body to </a:t>
            </a:r>
            <a:r>
              <a:rPr kumimoji="1" lang="en-US" altLang="zh-CN" sz="3600" b="1" dirty="0">
                <a:latin typeface="Times New Roman" panose="02020603050405020304" pitchFamily="18" charset="0"/>
                <a:cs typeface="Times New Roman" panose="02020603050405020304" pitchFamily="18" charset="0"/>
              </a:rPr>
              <a:t>foresee</a:t>
            </a:r>
            <a:r>
              <a:rPr kumimoji="1" lang="en-US" altLang="zh-CN" sz="3600" dirty="0">
                <a:latin typeface="Times New Roman" panose="02020603050405020304" pitchFamily="18" charset="0"/>
                <a:cs typeface="Times New Roman" panose="02020603050405020304" pitchFamily="18" charset="0"/>
              </a:rPr>
              <a:t> and </a:t>
            </a:r>
            <a:r>
              <a:rPr kumimoji="1" lang="en-US" altLang="zh-CN" sz="3600" b="1" dirty="0">
                <a:latin typeface="Times New Roman" panose="02020603050405020304" pitchFamily="18" charset="0"/>
                <a:cs typeface="Times New Roman" panose="02020603050405020304" pitchFamily="18" charset="0"/>
              </a:rPr>
              <a:t>adapt</a:t>
            </a:r>
            <a:r>
              <a:rPr kumimoji="1" lang="en-US" altLang="zh-CN" sz="3600" dirty="0">
                <a:latin typeface="Times New Roman" panose="02020603050405020304" pitchFamily="18" charset="0"/>
                <a:cs typeface="Times New Roman" panose="02020603050405020304" pitchFamily="18" charset="0"/>
              </a:rPr>
              <a:t> the environment promptly and exactly </a:t>
            </a:r>
          </a:p>
          <a:p>
            <a:pPr lvl="1"/>
            <a:endParaRPr kumimoji="1" lang="en-US" altLang="zh-CN" sz="3600" dirty="0">
              <a:latin typeface="Times New Roman" panose="02020603050405020304" pitchFamily="18" charset="0"/>
              <a:cs typeface="Times New Roman" panose="02020603050405020304" pitchFamily="18" charset="0"/>
            </a:endParaRPr>
          </a:p>
          <a:p>
            <a:pPr marL="1943100" lvl="3" indent="-571500">
              <a:buFont typeface="Arial" panose="020B0604020202020204" pitchFamily="34" charset="0"/>
              <a:buChar char="•"/>
            </a:pPr>
            <a:r>
              <a:rPr kumimoji="1" lang="en-US" altLang="zh-CN" sz="3600" dirty="0">
                <a:latin typeface="Times New Roman" panose="02020603050405020304" pitchFamily="18" charset="0"/>
                <a:cs typeface="Times New Roman" panose="02020603050405020304" pitchFamily="18" charset="0"/>
              </a:rPr>
              <a:t>(prepare the body for the change).</a:t>
            </a:r>
            <a:endParaRPr lang="en-US" altLang="zh-CN"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97696929"/>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5625429-2C8C-4162-A5BE-FDB3A4A8F73A}"/>
              </a:ext>
            </a:extLst>
          </p:cNvPr>
          <p:cNvSpPr txBox="1"/>
          <p:nvPr/>
        </p:nvSpPr>
        <p:spPr>
          <a:xfrm>
            <a:off x="5557340" y="3060743"/>
            <a:ext cx="1274163" cy="646331"/>
          </a:xfrm>
          <a:prstGeom prst="rect">
            <a:avLst/>
          </a:prstGeom>
          <a:noFill/>
        </p:spPr>
        <p:txBody>
          <a:bodyPr wrap="square">
            <a:spAutoFit/>
          </a:bodyPr>
          <a:lstStyle/>
          <a:p>
            <a:r>
              <a:rPr kumimoji="1" lang="en-US" altLang="zh-CN" sz="3600" dirty="0" smtClean="0">
                <a:latin typeface="Times New Roman" panose="02020603050405020304" pitchFamily="18" charset="0"/>
                <a:cs typeface="Times New Roman" panose="02020603050405020304" pitchFamily="18" charset="0"/>
              </a:rPr>
              <a:t>END</a:t>
            </a:r>
            <a:endParaRPr lang="en-US" altLang="zh-CN"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5385840"/>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540</TotalTime>
  <Words>1130</Words>
  <Application>Microsoft Office PowerPoint</Application>
  <PresentationFormat>Widescreen</PresentationFormat>
  <Paragraphs>193</Paragraphs>
  <Slides>30</Slides>
  <Notes>11</Notes>
  <HiddenSlides>4</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30</vt:i4>
      </vt:variant>
    </vt:vector>
  </HeadingPairs>
  <TitlesOfParts>
    <vt:vector size="43" baseType="lpstr">
      <vt:lpstr>SimSun</vt:lpstr>
      <vt:lpstr>Arial</vt:lpstr>
      <vt:lpstr>Arial Black</vt:lpstr>
      <vt:lpstr>Calibri</vt:lpstr>
      <vt:lpstr>Calibri Light</vt:lpstr>
      <vt:lpstr>Courier New</vt:lpstr>
      <vt:lpstr>等线</vt:lpstr>
      <vt:lpstr>等线 Light</vt:lpstr>
      <vt:lpstr>Georgia</vt:lpstr>
      <vt:lpstr>Times</vt:lpstr>
      <vt:lpstr>Times New Roman</vt:lpstr>
      <vt:lpstr>Wingdings</vt:lpstr>
      <vt:lpstr>Office Theme</vt:lpstr>
      <vt:lpstr>FUNDAMENTALS OF PHYSIOLOGY    (GAC 183)</vt:lpstr>
      <vt:lpstr>Homeostasis And Homeostatic Control Systems</vt:lpstr>
      <vt:lpstr>Homeostasis</vt:lpstr>
      <vt:lpstr>PowerPoint Presentation</vt:lpstr>
      <vt:lpstr>PowerPoint Presentation</vt:lpstr>
      <vt:lpstr>PowerPoint Presentation</vt:lpstr>
      <vt:lpstr>PowerPoint Presentation</vt:lpstr>
      <vt:lpstr>PowerPoint Presentation</vt:lpstr>
      <vt:lpstr>Regulation of the Body Functions</vt:lpstr>
      <vt:lpstr>Chemical (hormonal) Regulation</vt:lpstr>
      <vt:lpstr>Nervous Regulation</vt:lpstr>
      <vt:lpstr>Autoregulation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evans</dc:creator>
  <cp:lastModifiedBy>bernard Serebour</cp:lastModifiedBy>
  <cp:revision>19</cp:revision>
  <dcterms:created xsi:type="dcterms:W3CDTF">2021-10-06T12:07:03Z</dcterms:created>
  <dcterms:modified xsi:type="dcterms:W3CDTF">2026-04-30T11:38:15Z</dcterms:modified>
</cp:coreProperties>
</file>